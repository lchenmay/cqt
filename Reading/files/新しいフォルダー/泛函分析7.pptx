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0"/>
  </p:notesMasterIdLst>
  <p:handoutMasterIdLst>
    <p:handoutMasterId r:id="rId61"/>
  </p:handoutMasterIdLst>
  <p:sldIdLst>
    <p:sldId id="257" r:id="rId2"/>
    <p:sldId id="512" r:id="rId3"/>
    <p:sldId id="641" r:id="rId4"/>
    <p:sldId id="640" r:id="rId5"/>
    <p:sldId id="597" r:id="rId6"/>
    <p:sldId id="596" r:id="rId7"/>
    <p:sldId id="600" r:id="rId8"/>
    <p:sldId id="601" r:id="rId9"/>
    <p:sldId id="642" r:id="rId10"/>
    <p:sldId id="643" r:id="rId11"/>
    <p:sldId id="550" r:id="rId12"/>
    <p:sldId id="551" r:id="rId13"/>
    <p:sldId id="552" r:id="rId14"/>
    <p:sldId id="602" r:id="rId15"/>
    <p:sldId id="604" r:id="rId16"/>
    <p:sldId id="605" r:id="rId17"/>
    <p:sldId id="606" r:id="rId18"/>
    <p:sldId id="607" r:id="rId19"/>
    <p:sldId id="608" r:id="rId20"/>
    <p:sldId id="609" r:id="rId21"/>
    <p:sldId id="610" r:id="rId22"/>
    <p:sldId id="611" r:id="rId23"/>
    <p:sldId id="612" r:id="rId24"/>
    <p:sldId id="613" r:id="rId25"/>
    <p:sldId id="615" r:id="rId26"/>
    <p:sldId id="614" r:id="rId27"/>
    <p:sldId id="616" r:id="rId28"/>
    <p:sldId id="617" r:id="rId29"/>
    <p:sldId id="618" r:id="rId30"/>
    <p:sldId id="619" r:id="rId31"/>
    <p:sldId id="623" r:id="rId32"/>
    <p:sldId id="622" r:id="rId33"/>
    <p:sldId id="639" r:id="rId34"/>
    <p:sldId id="625" r:id="rId35"/>
    <p:sldId id="627" r:id="rId36"/>
    <p:sldId id="644" r:id="rId37"/>
    <p:sldId id="626" r:id="rId38"/>
    <p:sldId id="645" r:id="rId39"/>
    <p:sldId id="628" r:id="rId40"/>
    <p:sldId id="629" r:id="rId41"/>
    <p:sldId id="646" r:id="rId42"/>
    <p:sldId id="630" r:id="rId43"/>
    <p:sldId id="631" r:id="rId44"/>
    <p:sldId id="648" r:id="rId45"/>
    <p:sldId id="649" r:id="rId46"/>
    <p:sldId id="650" r:id="rId47"/>
    <p:sldId id="647" r:id="rId48"/>
    <p:sldId id="632" r:id="rId49"/>
    <p:sldId id="633" r:id="rId50"/>
    <p:sldId id="653" r:id="rId51"/>
    <p:sldId id="654" r:id="rId52"/>
    <p:sldId id="651" r:id="rId53"/>
    <p:sldId id="634" r:id="rId54"/>
    <p:sldId id="635" r:id="rId55"/>
    <p:sldId id="636" r:id="rId56"/>
    <p:sldId id="638" r:id="rId57"/>
    <p:sldId id="637" r:id="rId58"/>
    <p:sldId id="503" r:id="rId59"/>
  </p:sldIdLst>
  <p:sldSz cx="12192000" cy="6858000"/>
  <p:notesSz cx="6669088" cy="9926638"/>
  <p:defaultTextStyle>
    <a:defPPr>
      <a:defRPr lang="en-US"/>
    </a:defPPr>
    <a:lvl1pPr algn="l" rtl="0" eaLnBrk="0" fontAlgn="base" hangingPunct="0">
      <a:spcBef>
        <a:spcPct val="0"/>
      </a:spcBef>
      <a:spcAft>
        <a:spcPct val="0"/>
      </a:spcAft>
      <a:defRPr sz="2000" kern="1200">
        <a:solidFill>
          <a:schemeClr val="tx1"/>
        </a:solidFill>
        <a:latin typeface="Comic Sans MS" panose="030F0902030302020204" pitchFamily="66" charset="0"/>
        <a:ea typeface="ＭＳ Ｐゴシック" panose="020B0600070205080204" pitchFamily="34" charset="-128"/>
        <a:cs typeface="+mn-cs"/>
      </a:defRPr>
    </a:lvl1pPr>
    <a:lvl2pPr marL="457200" algn="l" rtl="0" eaLnBrk="0" fontAlgn="base" hangingPunct="0">
      <a:spcBef>
        <a:spcPct val="0"/>
      </a:spcBef>
      <a:spcAft>
        <a:spcPct val="0"/>
      </a:spcAft>
      <a:defRPr sz="2000" kern="1200">
        <a:solidFill>
          <a:schemeClr val="tx1"/>
        </a:solidFill>
        <a:latin typeface="Comic Sans MS" panose="030F0902030302020204" pitchFamily="66" charset="0"/>
        <a:ea typeface="ＭＳ Ｐゴシック" panose="020B0600070205080204" pitchFamily="34" charset="-128"/>
        <a:cs typeface="+mn-cs"/>
      </a:defRPr>
    </a:lvl2pPr>
    <a:lvl3pPr marL="914400" algn="l" rtl="0" eaLnBrk="0" fontAlgn="base" hangingPunct="0">
      <a:spcBef>
        <a:spcPct val="0"/>
      </a:spcBef>
      <a:spcAft>
        <a:spcPct val="0"/>
      </a:spcAft>
      <a:defRPr sz="2000" kern="1200">
        <a:solidFill>
          <a:schemeClr val="tx1"/>
        </a:solidFill>
        <a:latin typeface="Comic Sans MS" panose="030F0902030302020204" pitchFamily="66" charset="0"/>
        <a:ea typeface="ＭＳ Ｐゴシック" panose="020B0600070205080204" pitchFamily="34" charset="-128"/>
        <a:cs typeface="+mn-cs"/>
      </a:defRPr>
    </a:lvl3pPr>
    <a:lvl4pPr marL="1371600" algn="l" rtl="0" eaLnBrk="0" fontAlgn="base" hangingPunct="0">
      <a:spcBef>
        <a:spcPct val="0"/>
      </a:spcBef>
      <a:spcAft>
        <a:spcPct val="0"/>
      </a:spcAft>
      <a:defRPr sz="2000" kern="1200">
        <a:solidFill>
          <a:schemeClr val="tx1"/>
        </a:solidFill>
        <a:latin typeface="Comic Sans MS" panose="030F0902030302020204" pitchFamily="66" charset="0"/>
        <a:ea typeface="ＭＳ Ｐゴシック" panose="020B0600070205080204" pitchFamily="34" charset="-128"/>
        <a:cs typeface="+mn-cs"/>
      </a:defRPr>
    </a:lvl4pPr>
    <a:lvl5pPr marL="1828800" algn="l" rtl="0" eaLnBrk="0" fontAlgn="base" hangingPunct="0">
      <a:spcBef>
        <a:spcPct val="0"/>
      </a:spcBef>
      <a:spcAft>
        <a:spcPct val="0"/>
      </a:spcAft>
      <a:defRPr sz="2000" kern="1200">
        <a:solidFill>
          <a:schemeClr val="tx1"/>
        </a:solidFill>
        <a:latin typeface="Comic Sans MS" panose="030F0902030302020204" pitchFamily="66" charset="0"/>
        <a:ea typeface="ＭＳ Ｐゴシック" panose="020B0600070205080204" pitchFamily="34" charset="-128"/>
        <a:cs typeface="+mn-cs"/>
      </a:defRPr>
    </a:lvl5pPr>
    <a:lvl6pPr marL="2286000" algn="l" defTabSz="914400" rtl="0" eaLnBrk="1" latinLnBrk="0" hangingPunct="1">
      <a:defRPr sz="2000" kern="1200">
        <a:solidFill>
          <a:schemeClr val="tx1"/>
        </a:solidFill>
        <a:latin typeface="Comic Sans MS" panose="030F0902030302020204" pitchFamily="66" charset="0"/>
        <a:ea typeface="ＭＳ Ｐゴシック" panose="020B0600070205080204" pitchFamily="34" charset="-128"/>
        <a:cs typeface="+mn-cs"/>
      </a:defRPr>
    </a:lvl6pPr>
    <a:lvl7pPr marL="2743200" algn="l" defTabSz="914400" rtl="0" eaLnBrk="1" latinLnBrk="0" hangingPunct="1">
      <a:defRPr sz="2000" kern="1200">
        <a:solidFill>
          <a:schemeClr val="tx1"/>
        </a:solidFill>
        <a:latin typeface="Comic Sans MS" panose="030F0902030302020204" pitchFamily="66" charset="0"/>
        <a:ea typeface="ＭＳ Ｐゴシック" panose="020B0600070205080204" pitchFamily="34" charset="-128"/>
        <a:cs typeface="+mn-cs"/>
      </a:defRPr>
    </a:lvl7pPr>
    <a:lvl8pPr marL="3200400" algn="l" defTabSz="914400" rtl="0" eaLnBrk="1" latinLnBrk="0" hangingPunct="1">
      <a:defRPr sz="2000" kern="1200">
        <a:solidFill>
          <a:schemeClr val="tx1"/>
        </a:solidFill>
        <a:latin typeface="Comic Sans MS" panose="030F0902030302020204" pitchFamily="66" charset="0"/>
        <a:ea typeface="ＭＳ Ｐゴシック" panose="020B0600070205080204" pitchFamily="34" charset="-128"/>
        <a:cs typeface="+mn-cs"/>
      </a:defRPr>
    </a:lvl8pPr>
    <a:lvl9pPr marL="3657600" algn="l" defTabSz="914400" rtl="0" eaLnBrk="1" latinLnBrk="0" hangingPunct="1">
      <a:defRPr sz="2000" kern="1200">
        <a:solidFill>
          <a:schemeClr val="tx1"/>
        </a:solidFill>
        <a:latin typeface="Comic Sans MS" panose="030F0902030302020204" pitchFamily="66"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76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F9EAEF"/>
    <a:srgbClr val="1E35A8"/>
    <a:srgbClr val="EDFFED"/>
    <a:srgbClr val="FFFDF0"/>
    <a:srgbClr val="F5F2DF"/>
    <a:srgbClr val="F7F7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8799B23B-EC83-4686-B30A-512413B5E67A}" styleName="淡色スタイル 3 - アクセント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3447" autoAdjust="0"/>
  </p:normalViewPr>
  <p:slideViewPr>
    <p:cSldViewPr snapToGrid="0">
      <p:cViewPr>
        <p:scale>
          <a:sx n="64" d="100"/>
          <a:sy n="64" d="100"/>
        </p:scale>
        <p:origin x="748" y="-16"/>
      </p:cViewPr>
      <p:guideLst>
        <p:guide orient="horz" pos="2160"/>
        <p:guide pos="767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C18442-6CBB-9D4C-BAEA-A8F1BBD35774}"/>
              </a:ext>
            </a:extLst>
          </p:cNvPr>
          <p:cNvSpPr>
            <a:spLocks noGrp="1" noChangeArrowheads="1"/>
          </p:cNvSpPr>
          <p:nvPr>
            <p:ph type="hdr" sz="quarter"/>
          </p:nvPr>
        </p:nvSpPr>
        <p:spPr bwMode="auto">
          <a:xfrm>
            <a:off x="0" y="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200">
                <a:latin typeface="Comic Sans MS" charset="0"/>
                <a:ea typeface="ＭＳ Ｐゴシック" charset="0"/>
                <a:cs typeface="+mn-cs"/>
              </a:defRPr>
            </a:lvl1pPr>
          </a:lstStyle>
          <a:p>
            <a:pPr>
              <a:defRPr/>
            </a:pPr>
            <a:endParaRPr lang="en-US"/>
          </a:p>
        </p:txBody>
      </p:sp>
      <p:sp>
        <p:nvSpPr>
          <p:cNvPr id="59395" name="Rectangle 3">
            <a:extLst>
              <a:ext uri="{FF2B5EF4-FFF2-40B4-BE49-F238E27FC236}">
                <a16:creationId xmlns:a16="http://schemas.microsoft.com/office/drawing/2014/main" id="{653F2BA6-0CAA-5945-ACBD-4F338120D7D6}"/>
              </a:ext>
            </a:extLst>
          </p:cNvPr>
          <p:cNvSpPr>
            <a:spLocks noGrp="1" noChangeArrowheads="1"/>
          </p:cNvSpPr>
          <p:nvPr>
            <p:ph type="dt" sz="quarter" idx="1"/>
          </p:nvPr>
        </p:nvSpPr>
        <p:spPr bwMode="auto">
          <a:xfrm>
            <a:off x="3779838" y="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200">
                <a:latin typeface="Comic Sans MS" charset="0"/>
                <a:ea typeface="ＭＳ Ｐゴシック" charset="0"/>
                <a:cs typeface="+mn-cs"/>
              </a:defRPr>
            </a:lvl1pPr>
          </a:lstStyle>
          <a:p>
            <a:pPr>
              <a:defRPr/>
            </a:pPr>
            <a:endParaRPr lang="en-US"/>
          </a:p>
        </p:txBody>
      </p:sp>
      <p:sp>
        <p:nvSpPr>
          <p:cNvPr id="59396" name="Rectangle 4">
            <a:extLst>
              <a:ext uri="{FF2B5EF4-FFF2-40B4-BE49-F238E27FC236}">
                <a16:creationId xmlns:a16="http://schemas.microsoft.com/office/drawing/2014/main" id="{14557265-7C63-8C48-84E3-2EBF33E87183}"/>
              </a:ext>
            </a:extLst>
          </p:cNvPr>
          <p:cNvSpPr>
            <a:spLocks noGrp="1" noChangeArrowheads="1"/>
          </p:cNvSpPr>
          <p:nvPr>
            <p:ph type="ftr" sz="quarter" idx="2"/>
          </p:nvPr>
        </p:nvSpPr>
        <p:spPr bwMode="auto">
          <a:xfrm>
            <a:off x="0" y="942975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b" anchorCtr="0" compatLnSpc="1">
            <a:prstTxWarp prst="textNoShape">
              <a:avLst/>
            </a:prstTxWarp>
          </a:bodyPr>
          <a:lstStyle>
            <a:lvl1pPr>
              <a:defRPr sz="1200">
                <a:latin typeface="Comic Sans MS" charset="0"/>
                <a:ea typeface="ＭＳ Ｐゴシック" charset="0"/>
                <a:cs typeface="+mn-cs"/>
              </a:defRPr>
            </a:lvl1pPr>
          </a:lstStyle>
          <a:p>
            <a:pPr>
              <a:defRPr/>
            </a:pPr>
            <a:endParaRPr lang="en-US"/>
          </a:p>
        </p:txBody>
      </p:sp>
      <p:sp>
        <p:nvSpPr>
          <p:cNvPr id="59397" name="Rectangle 5">
            <a:extLst>
              <a:ext uri="{FF2B5EF4-FFF2-40B4-BE49-F238E27FC236}">
                <a16:creationId xmlns:a16="http://schemas.microsoft.com/office/drawing/2014/main" id="{708EC389-215B-BB4B-AF04-0D16A0A56207}"/>
              </a:ext>
            </a:extLst>
          </p:cNvPr>
          <p:cNvSpPr>
            <a:spLocks noGrp="1" noChangeArrowheads="1"/>
          </p:cNvSpPr>
          <p:nvPr>
            <p:ph type="sldNum" sz="quarter" idx="3"/>
          </p:nvPr>
        </p:nvSpPr>
        <p:spPr bwMode="auto">
          <a:xfrm>
            <a:off x="3779838" y="942975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b" anchorCtr="0" compatLnSpc="1">
            <a:prstTxWarp prst="textNoShape">
              <a:avLst/>
            </a:prstTxWarp>
          </a:bodyPr>
          <a:lstStyle>
            <a:lvl1pPr algn="r">
              <a:defRPr sz="1200">
                <a:latin typeface="Comic Sans MS" charset="0"/>
                <a:ea typeface="ＭＳ Ｐゴシック" charset="-128"/>
              </a:defRPr>
            </a:lvl1pPr>
          </a:lstStyle>
          <a:p>
            <a:pPr>
              <a:defRPr/>
            </a:pPr>
            <a:fld id="{A331DE67-792D-4F41-8BD2-183E50FC1F77}"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C921D813-D54F-5A42-8D81-6FD883C1EBA8}"/>
              </a:ext>
            </a:extLst>
          </p:cNvPr>
          <p:cNvSpPr>
            <a:spLocks noGrp="1" noChangeArrowheads="1"/>
          </p:cNvSpPr>
          <p:nvPr>
            <p:ph type="hdr" sz="quarter"/>
          </p:nvPr>
        </p:nvSpPr>
        <p:spPr bwMode="auto">
          <a:xfrm>
            <a:off x="0" y="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200">
                <a:latin typeface="Times New Roman" charset="0"/>
                <a:ea typeface="ＭＳ Ｐゴシック" charset="0"/>
                <a:cs typeface="+mn-cs"/>
              </a:defRPr>
            </a:lvl1pPr>
          </a:lstStyle>
          <a:p>
            <a:pPr>
              <a:defRPr/>
            </a:pPr>
            <a:endParaRPr lang="en-US"/>
          </a:p>
        </p:txBody>
      </p:sp>
      <p:sp>
        <p:nvSpPr>
          <p:cNvPr id="4099" name="Rectangle 3">
            <a:extLst>
              <a:ext uri="{FF2B5EF4-FFF2-40B4-BE49-F238E27FC236}">
                <a16:creationId xmlns:a16="http://schemas.microsoft.com/office/drawing/2014/main" id="{F2F4F132-3A51-C24F-AD22-A48CD14B1D3E}"/>
              </a:ext>
            </a:extLst>
          </p:cNvPr>
          <p:cNvSpPr>
            <a:spLocks noGrp="1" noChangeArrowheads="1"/>
          </p:cNvSpPr>
          <p:nvPr>
            <p:ph type="dt" idx="1"/>
          </p:nvPr>
        </p:nvSpPr>
        <p:spPr bwMode="auto">
          <a:xfrm>
            <a:off x="3779838" y="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200">
                <a:latin typeface="Times New Roman" charset="0"/>
                <a:ea typeface="ＭＳ Ｐゴシック" charset="0"/>
                <a:cs typeface="+mn-cs"/>
              </a:defRPr>
            </a:lvl1pPr>
          </a:lstStyle>
          <a:p>
            <a:pPr>
              <a:defRPr/>
            </a:pPr>
            <a:endParaRPr lang="en-US"/>
          </a:p>
        </p:txBody>
      </p:sp>
      <p:sp>
        <p:nvSpPr>
          <p:cNvPr id="3076" name="Rectangle 4">
            <a:extLst>
              <a:ext uri="{FF2B5EF4-FFF2-40B4-BE49-F238E27FC236}">
                <a16:creationId xmlns:a16="http://schemas.microsoft.com/office/drawing/2014/main" id="{9658DE86-5E13-E64C-84C2-46CB62CE691B}"/>
              </a:ext>
            </a:extLst>
          </p:cNvPr>
          <p:cNvSpPr>
            <a:spLocks noGrp="1" noRot="1" noChangeAspect="1" noChangeArrowheads="1" noTextEdit="1"/>
          </p:cNvSpPr>
          <p:nvPr>
            <p:ph type="sldImg" idx="2"/>
          </p:nvPr>
        </p:nvSpPr>
        <p:spPr bwMode="auto">
          <a:xfrm>
            <a:off x="26988" y="744538"/>
            <a:ext cx="6615112"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ja-JP" altLang="en-US"/>
          </a:p>
        </p:txBody>
      </p:sp>
      <p:sp>
        <p:nvSpPr>
          <p:cNvPr id="4101" name="Rectangle 5">
            <a:extLst>
              <a:ext uri="{FF2B5EF4-FFF2-40B4-BE49-F238E27FC236}">
                <a16:creationId xmlns:a16="http://schemas.microsoft.com/office/drawing/2014/main" id="{C9D372DE-C786-8D4D-9F53-214241F844F8}"/>
              </a:ext>
            </a:extLst>
          </p:cNvPr>
          <p:cNvSpPr>
            <a:spLocks noGrp="1" noChangeArrowheads="1"/>
          </p:cNvSpPr>
          <p:nvPr>
            <p:ph type="body" sz="quarter" idx="3"/>
          </p:nvPr>
        </p:nvSpPr>
        <p:spPr bwMode="auto">
          <a:xfrm>
            <a:off x="889000" y="4714875"/>
            <a:ext cx="4891088" cy="4467225"/>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6743ADF9-18C0-4240-9800-30D3D32CF585}"/>
              </a:ext>
            </a:extLst>
          </p:cNvPr>
          <p:cNvSpPr>
            <a:spLocks noGrp="1" noChangeArrowheads="1"/>
          </p:cNvSpPr>
          <p:nvPr>
            <p:ph type="ftr" sz="quarter" idx="4"/>
          </p:nvPr>
        </p:nvSpPr>
        <p:spPr bwMode="auto">
          <a:xfrm>
            <a:off x="0" y="942975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b" anchorCtr="0" compatLnSpc="1">
            <a:prstTxWarp prst="textNoShape">
              <a:avLst/>
            </a:prstTxWarp>
          </a:bodyPr>
          <a:lstStyle>
            <a:lvl1pPr>
              <a:defRPr sz="1200">
                <a:latin typeface="Times New Roman" charset="0"/>
                <a:ea typeface="ＭＳ Ｐゴシック" charset="0"/>
                <a:cs typeface="+mn-cs"/>
              </a:defRPr>
            </a:lvl1pPr>
          </a:lstStyle>
          <a:p>
            <a:pPr>
              <a:defRPr/>
            </a:pPr>
            <a:endParaRPr lang="en-US"/>
          </a:p>
        </p:txBody>
      </p:sp>
      <p:sp>
        <p:nvSpPr>
          <p:cNvPr id="4103" name="Rectangle 7">
            <a:extLst>
              <a:ext uri="{FF2B5EF4-FFF2-40B4-BE49-F238E27FC236}">
                <a16:creationId xmlns:a16="http://schemas.microsoft.com/office/drawing/2014/main" id="{429AE395-53F8-BF43-BD63-E86F29A94A26}"/>
              </a:ext>
            </a:extLst>
          </p:cNvPr>
          <p:cNvSpPr>
            <a:spLocks noGrp="1" noChangeArrowheads="1"/>
          </p:cNvSpPr>
          <p:nvPr>
            <p:ph type="sldNum" sz="quarter" idx="5"/>
          </p:nvPr>
        </p:nvSpPr>
        <p:spPr bwMode="auto">
          <a:xfrm>
            <a:off x="3779838" y="9429750"/>
            <a:ext cx="2889250" cy="496888"/>
          </a:xfrm>
          <a:prstGeom prst="rect">
            <a:avLst/>
          </a:prstGeom>
          <a:noFill/>
          <a:ln>
            <a:noFill/>
          </a:ln>
          <a:effectLst/>
          <a:extLst>
            <a:ext uri="{FAA26D3D-D897-4be2-8F04-BA451C77F1D7}"/>
            <a:ext uri="{909E8E84-426E-40dd-AFC4-6F175D3DCCD1}"/>
            <a:ext uri="{91240B29-F687-4f45-9708-019B960494DF}"/>
            <a:ext uri="{AF507438-7753-43e0-B8FC-AC1667EBCBE1}"/>
          </a:extLst>
        </p:spPr>
        <p:txBody>
          <a:bodyPr vert="horz" wrap="square" lIns="91440" tIns="45720" rIns="91440" bIns="45720" numCol="1" anchor="b" anchorCtr="0" compatLnSpc="1">
            <a:prstTxWarp prst="textNoShape">
              <a:avLst/>
            </a:prstTxWarp>
          </a:bodyPr>
          <a:lstStyle>
            <a:lvl1pPr algn="r">
              <a:defRPr sz="1200">
                <a:latin typeface="Times New Roman" charset="0"/>
                <a:ea typeface="ＭＳ Ｐゴシック" charset="-128"/>
              </a:defRPr>
            </a:lvl1pPr>
          </a:lstStyle>
          <a:p>
            <a:pPr>
              <a:defRPr/>
            </a:pPr>
            <a:fld id="{AB31E2A7-604B-AC4A-93FF-7D752141A21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p:cNvSpPr>
            <a:spLocks noGrp="1"/>
          </p:cNvSpPr>
          <p:nvPr>
            <p:ph type="sldNum" sz="quarter" idx="5"/>
          </p:nvPr>
        </p:nvSpPr>
        <p:spPr/>
        <p:txBody>
          <a:bodyPr/>
          <a:lstStyle/>
          <a:p>
            <a:pPr>
              <a:defRPr/>
            </a:pPr>
            <a:fld id="{AB31E2A7-604B-AC4A-93FF-7D752141A213}" type="slidenum">
              <a:rPr lang="en-US" altLang="en-US" smtClean="0"/>
              <a:pPr>
                <a:defRPr/>
              </a:pPr>
              <a:t>1</a:t>
            </a:fld>
            <a:endParaRPr lang="en-US" altLang="en-US" dirty="0"/>
          </a:p>
        </p:txBody>
      </p:sp>
    </p:spTree>
    <p:extLst>
      <p:ext uri="{BB962C8B-B14F-4D97-AF65-F5344CB8AC3E}">
        <p14:creationId xmlns:p14="http://schemas.microsoft.com/office/powerpoint/2010/main" val="2398768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F9D24-F943-8EEE-C053-ED91919819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0B1F744-D542-6AB4-3782-93A5DC805ED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D238BD68-45DE-80E2-2F0A-729C91B82EB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7F6E165B-0A50-3D5C-7287-B82CD006B20C}"/>
              </a:ext>
            </a:extLst>
          </p:cNvPr>
          <p:cNvSpPr>
            <a:spLocks noGrp="1"/>
          </p:cNvSpPr>
          <p:nvPr>
            <p:ph type="sldNum" sz="quarter" idx="5"/>
          </p:nvPr>
        </p:nvSpPr>
        <p:spPr/>
        <p:txBody>
          <a:bodyPr/>
          <a:lstStyle/>
          <a:p>
            <a:pPr>
              <a:defRPr/>
            </a:pPr>
            <a:fld id="{AB31E2A7-604B-AC4A-93FF-7D752141A213}" type="slidenum">
              <a:rPr lang="en-US" altLang="en-US" smtClean="0"/>
              <a:pPr>
                <a:defRPr/>
              </a:pPr>
              <a:t>2</a:t>
            </a:fld>
            <a:endParaRPr lang="en-US" altLang="en-US" dirty="0"/>
          </a:p>
        </p:txBody>
      </p:sp>
    </p:spTree>
    <p:extLst>
      <p:ext uri="{BB962C8B-B14F-4D97-AF65-F5344CB8AC3E}">
        <p14:creationId xmlns:p14="http://schemas.microsoft.com/office/powerpoint/2010/main" val="2175826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5445F-26CA-ADF6-63C1-CF7F5C8E5C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6D1187D-31FE-5610-5C8D-75EF15F832FC}"/>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A5B9B7D7-4D68-8B3A-4076-EF2B5B24981A}"/>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2BD1F6DF-A567-92EF-057C-E6F187EDD31C}"/>
              </a:ext>
            </a:extLst>
          </p:cNvPr>
          <p:cNvSpPr>
            <a:spLocks noGrp="1"/>
          </p:cNvSpPr>
          <p:nvPr>
            <p:ph type="sldNum" sz="quarter" idx="5"/>
          </p:nvPr>
        </p:nvSpPr>
        <p:spPr/>
        <p:txBody>
          <a:bodyPr/>
          <a:lstStyle/>
          <a:p>
            <a:pPr>
              <a:defRPr/>
            </a:pPr>
            <a:fld id="{AB31E2A7-604B-AC4A-93FF-7D752141A213}" type="slidenum">
              <a:rPr lang="en-US" altLang="en-US" smtClean="0"/>
              <a:pPr>
                <a:defRPr/>
              </a:pPr>
              <a:t>3</a:t>
            </a:fld>
            <a:endParaRPr lang="en-US" altLang="en-US" dirty="0"/>
          </a:p>
        </p:txBody>
      </p:sp>
    </p:spTree>
    <p:extLst>
      <p:ext uri="{BB962C8B-B14F-4D97-AF65-F5344CB8AC3E}">
        <p14:creationId xmlns:p14="http://schemas.microsoft.com/office/powerpoint/2010/main" val="907019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1AE32-EA98-D449-ECC5-018659080BF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7620C4-B757-6631-F849-69CB79C5D95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5703581E-7E28-4803-C521-D929035FF78F}"/>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E89C0049-AC44-CB9E-FA71-7A5097FFECC4}"/>
              </a:ext>
            </a:extLst>
          </p:cNvPr>
          <p:cNvSpPr>
            <a:spLocks noGrp="1"/>
          </p:cNvSpPr>
          <p:nvPr>
            <p:ph type="sldNum" sz="quarter" idx="5"/>
          </p:nvPr>
        </p:nvSpPr>
        <p:spPr/>
        <p:txBody>
          <a:bodyPr/>
          <a:lstStyle/>
          <a:p>
            <a:pPr>
              <a:defRPr/>
            </a:pPr>
            <a:fld id="{AB31E2A7-604B-AC4A-93FF-7D752141A213}" type="slidenum">
              <a:rPr lang="en-US" altLang="en-US" smtClean="0"/>
              <a:pPr>
                <a:defRPr/>
              </a:pPr>
              <a:t>4</a:t>
            </a:fld>
            <a:endParaRPr lang="en-US" altLang="en-US" dirty="0"/>
          </a:p>
        </p:txBody>
      </p:sp>
    </p:spTree>
    <p:extLst>
      <p:ext uri="{BB962C8B-B14F-4D97-AF65-F5344CB8AC3E}">
        <p14:creationId xmlns:p14="http://schemas.microsoft.com/office/powerpoint/2010/main" val="682076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46480-34F9-69AC-6472-9A0E69296B7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6864338-8D24-9D36-9EAF-40E374FD0D82}"/>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2D00264B-D249-0987-6BC4-487E9AF9C89C}"/>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AA060788-B5C5-9F41-2CD2-DBB4BDC0215D}"/>
              </a:ext>
            </a:extLst>
          </p:cNvPr>
          <p:cNvSpPr>
            <a:spLocks noGrp="1"/>
          </p:cNvSpPr>
          <p:nvPr>
            <p:ph type="sldNum" sz="quarter" idx="5"/>
          </p:nvPr>
        </p:nvSpPr>
        <p:spPr/>
        <p:txBody>
          <a:bodyPr/>
          <a:lstStyle/>
          <a:p>
            <a:pPr>
              <a:defRPr/>
            </a:pPr>
            <a:fld id="{AB31E2A7-604B-AC4A-93FF-7D752141A213}" type="slidenum">
              <a:rPr lang="en-US" altLang="en-US" smtClean="0"/>
              <a:pPr>
                <a:defRPr/>
              </a:pPr>
              <a:t>5</a:t>
            </a:fld>
            <a:endParaRPr lang="en-US" altLang="en-US" dirty="0"/>
          </a:p>
        </p:txBody>
      </p:sp>
    </p:spTree>
    <p:extLst>
      <p:ext uri="{BB962C8B-B14F-4D97-AF65-F5344CB8AC3E}">
        <p14:creationId xmlns:p14="http://schemas.microsoft.com/office/powerpoint/2010/main" val="106129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F5E23-8CEA-0FF7-2B10-8C3443B291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CBE415-9DBD-6BFE-200D-0988046C0DC0}"/>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6BE51468-E237-F301-6FDF-F5A8792D6BAB}"/>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93653363-4FB4-427A-4F48-23D1D9710E68}"/>
              </a:ext>
            </a:extLst>
          </p:cNvPr>
          <p:cNvSpPr>
            <a:spLocks noGrp="1"/>
          </p:cNvSpPr>
          <p:nvPr>
            <p:ph type="sldNum" sz="quarter" idx="5"/>
          </p:nvPr>
        </p:nvSpPr>
        <p:spPr/>
        <p:txBody>
          <a:bodyPr/>
          <a:lstStyle/>
          <a:p>
            <a:pPr>
              <a:defRPr/>
            </a:pPr>
            <a:fld id="{AB31E2A7-604B-AC4A-93FF-7D752141A213}" type="slidenum">
              <a:rPr lang="en-US" altLang="en-US" smtClean="0"/>
              <a:pPr>
                <a:defRPr/>
              </a:pPr>
              <a:t>6</a:t>
            </a:fld>
            <a:endParaRPr lang="en-US" altLang="en-US" dirty="0"/>
          </a:p>
        </p:txBody>
      </p:sp>
    </p:spTree>
    <p:extLst>
      <p:ext uri="{BB962C8B-B14F-4D97-AF65-F5344CB8AC3E}">
        <p14:creationId xmlns:p14="http://schemas.microsoft.com/office/powerpoint/2010/main" val="889206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46CBD-9857-AD2D-2BDB-71D5001F89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DB11A0-5B5D-6526-0A71-A94C361D814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4349C616-E2F9-1FD2-9C59-6A5239A45EE7}"/>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221C4CA-EA3D-2CB6-0BF6-CC2AD9D3EE70}"/>
              </a:ext>
            </a:extLst>
          </p:cNvPr>
          <p:cNvSpPr>
            <a:spLocks noGrp="1"/>
          </p:cNvSpPr>
          <p:nvPr>
            <p:ph type="sldNum" sz="quarter" idx="5"/>
          </p:nvPr>
        </p:nvSpPr>
        <p:spPr/>
        <p:txBody>
          <a:bodyPr/>
          <a:lstStyle/>
          <a:p>
            <a:pPr>
              <a:defRPr/>
            </a:pPr>
            <a:fld id="{AB31E2A7-604B-AC4A-93FF-7D752141A213}" type="slidenum">
              <a:rPr lang="en-US" altLang="en-US" smtClean="0"/>
              <a:pPr>
                <a:defRPr/>
              </a:pPr>
              <a:t>7</a:t>
            </a:fld>
            <a:endParaRPr lang="en-US" altLang="en-US" dirty="0"/>
          </a:p>
        </p:txBody>
      </p:sp>
    </p:spTree>
    <p:extLst>
      <p:ext uri="{BB962C8B-B14F-4D97-AF65-F5344CB8AC3E}">
        <p14:creationId xmlns:p14="http://schemas.microsoft.com/office/powerpoint/2010/main" val="1006768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8AD72-8162-6F06-D4A1-C3B311F77D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5CB324-C027-8EC9-62B4-B11880EE0BF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E971137F-9E1D-377D-3F58-302A6361A505}"/>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7AF96A59-0F4F-38D8-0A8B-04D1CC0682EB}"/>
              </a:ext>
            </a:extLst>
          </p:cNvPr>
          <p:cNvSpPr>
            <a:spLocks noGrp="1"/>
          </p:cNvSpPr>
          <p:nvPr>
            <p:ph type="sldNum" sz="quarter" idx="5"/>
          </p:nvPr>
        </p:nvSpPr>
        <p:spPr/>
        <p:txBody>
          <a:bodyPr/>
          <a:lstStyle/>
          <a:p>
            <a:pPr>
              <a:defRPr/>
            </a:pPr>
            <a:fld id="{AB31E2A7-604B-AC4A-93FF-7D752141A213}" type="slidenum">
              <a:rPr lang="en-US" altLang="en-US" smtClean="0"/>
              <a:pPr>
                <a:defRPr/>
              </a:pPr>
              <a:t>8</a:t>
            </a:fld>
            <a:endParaRPr lang="en-US" altLang="en-US" dirty="0"/>
          </a:p>
        </p:txBody>
      </p:sp>
    </p:spTree>
    <p:extLst>
      <p:ext uri="{BB962C8B-B14F-4D97-AF65-F5344CB8AC3E}">
        <p14:creationId xmlns:p14="http://schemas.microsoft.com/office/powerpoint/2010/main" val="411040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0ECC0-3AD1-EA44-28BA-54E3461F6E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43A24C-72FD-F66E-D1D4-E3EB9562610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AA80EF68-6800-F22F-2406-82E0FF798C1B}"/>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1D8D04C9-69B2-7C4D-71A9-4231CFF8D246}"/>
              </a:ext>
            </a:extLst>
          </p:cNvPr>
          <p:cNvSpPr>
            <a:spLocks noGrp="1"/>
          </p:cNvSpPr>
          <p:nvPr>
            <p:ph type="sldNum" sz="quarter" idx="5"/>
          </p:nvPr>
        </p:nvSpPr>
        <p:spPr/>
        <p:txBody>
          <a:bodyPr/>
          <a:lstStyle/>
          <a:p>
            <a:pPr>
              <a:defRPr/>
            </a:pPr>
            <a:fld id="{AB31E2A7-604B-AC4A-93FF-7D752141A213}" type="slidenum">
              <a:rPr lang="en-US" altLang="en-US" smtClean="0"/>
              <a:pPr>
                <a:defRPr/>
              </a:pPr>
              <a:t>9</a:t>
            </a:fld>
            <a:endParaRPr lang="en-US" altLang="en-US" dirty="0"/>
          </a:p>
        </p:txBody>
      </p:sp>
    </p:spTree>
    <p:extLst>
      <p:ext uri="{BB962C8B-B14F-4D97-AF65-F5344CB8AC3E}">
        <p14:creationId xmlns:p14="http://schemas.microsoft.com/office/powerpoint/2010/main" val="1983503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28F75-99A5-DAE1-9795-3073CE9982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8A687D-CACC-A3EF-440B-8ABEB8D5FB73}"/>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F6FEB9F3-AE41-9866-358B-E5E720131126}"/>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7DEE7DDE-B0E1-AED8-087B-A5D8095D59B8}"/>
              </a:ext>
            </a:extLst>
          </p:cNvPr>
          <p:cNvSpPr>
            <a:spLocks noGrp="1"/>
          </p:cNvSpPr>
          <p:nvPr>
            <p:ph type="sldNum" sz="quarter" idx="5"/>
          </p:nvPr>
        </p:nvSpPr>
        <p:spPr/>
        <p:txBody>
          <a:bodyPr/>
          <a:lstStyle/>
          <a:p>
            <a:pPr>
              <a:defRPr/>
            </a:pPr>
            <a:fld id="{AB31E2A7-604B-AC4A-93FF-7D752141A213}" type="slidenum">
              <a:rPr lang="en-US" altLang="en-US" smtClean="0"/>
              <a:pPr>
                <a:defRPr/>
              </a:pPr>
              <a:t>10</a:t>
            </a:fld>
            <a:endParaRPr lang="en-US" altLang="en-US" dirty="0"/>
          </a:p>
        </p:txBody>
      </p:sp>
    </p:spTree>
    <p:extLst>
      <p:ext uri="{BB962C8B-B14F-4D97-AF65-F5344CB8AC3E}">
        <p14:creationId xmlns:p14="http://schemas.microsoft.com/office/powerpoint/2010/main" val="1303638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18108-4DB9-E7DE-46DE-671A9D9E68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0C9104-7B5B-CD87-BDAF-660EB2627AD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F14BFEB-949C-3170-BA60-B721CD880A5D}"/>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3DB3136-F669-50FC-F1A6-EE17E2CF8416}"/>
              </a:ext>
            </a:extLst>
          </p:cNvPr>
          <p:cNvSpPr>
            <a:spLocks noGrp="1"/>
          </p:cNvSpPr>
          <p:nvPr>
            <p:ph type="sldNum" sz="quarter" idx="5"/>
          </p:nvPr>
        </p:nvSpPr>
        <p:spPr/>
        <p:txBody>
          <a:bodyPr/>
          <a:lstStyle/>
          <a:p>
            <a:pPr>
              <a:defRPr/>
            </a:pPr>
            <a:fld id="{AB31E2A7-604B-AC4A-93FF-7D752141A213}" type="slidenum">
              <a:rPr lang="en-US" altLang="en-US" smtClean="0"/>
              <a:pPr>
                <a:defRPr/>
              </a:pPr>
              <a:t>12</a:t>
            </a:fld>
            <a:endParaRPr lang="en-US" altLang="en-US" dirty="0"/>
          </a:p>
        </p:txBody>
      </p:sp>
    </p:spTree>
    <p:extLst>
      <p:ext uri="{BB962C8B-B14F-4D97-AF65-F5344CB8AC3E}">
        <p14:creationId xmlns:p14="http://schemas.microsoft.com/office/powerpoint/2010/main" val="322999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96787-BCDB-91CB-0F4A-523EADA351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3E7D23-D240-E302-5874-69AC31750CD9}"/>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EC575C2-5B83-83AB-4FEC-8BC0DE9A2BD1}"/>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C09D579F-C813-35E6-06FE-D1442CDC002A}"/>
              </a:ext>
            </a:extLst>
          </p:cNvPr>
          <p:cNvSpPr>
            <a:spLocks noGrp="1"/>
          </p:cNvSpPr>
          <p:nvPr>
            <p:ph type="sldNum" sz="quarter" idx="5"/>
          </p:nvPr>
        </p:nvSpPr>
        <p:spPr/>
        <p:txBody>
          <a:bodyPr/>
          <a:lstStyle/>
          <a:p>
            <a:pPr>
              <a:defRPr/>
            </a:pPr>
            <a:fld id="{AB31E2A7-604B-AC4A-93FF-7D752141A213}" type="slidenum">
              <a:rPr lang="en-US" altLang="en-US" smtClean="0"/>
              <a:pPr>
                <a:defRPr/>
              </a:pPr>
              <a:t>13</a:t>
            </a:fld>
            <a:endParaRPr lang="en-US" altLang="en-US" dirty="0"/>
          </a:p>
        </p:txBody>
      </p:sp>
    </p:spTree>
    <p:extLst>
      <p:ext uri="{BB962C8B-B14F-4D97-AF65-F5344CB8AC3E}">
        <p14:creationId xmlns:p14="http://schemas.microsoft.com/office/powerpoint/2010/main" val="2266340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C694A-AB22-4FF0-F7C7-BC04DF55DC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93C00-468F-DED0-2BC9-8A31AA37501A}"/>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1D7B8FC8-8C46-A00F-5429-4E303CAE66B2}"/>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C1BA7059-C37B-6D55-EF23-1C8797ABA8DD}"/>
              </a:ext>
            </a:extLst>
          </p:cNvPr>
          <p:cNvSpPr>
            <a:spLocks noGrp="1"/>
          </p:cNvSpPr>
          <p:nvPr>
            <p:ph type="sldNum" sz="quarter" idx="5"/>
          </p:nvPr>
        </p:nvSpPr>
        <p:spPr/>
        <p:txBody>
          <a:bodyPr/>
          <a:lstStyle/>
          <a:p>
            <a:pPr>
              <a:defRPr/>
            </a:pPr>
            <a:fld id="{AB31E2A7-604B-AC4A-93FF-7D752141A213}" type="slidenum">
              <a:rPr lang="en-US" altLang="en-US" smtClean="0"/>
              <a:pPr>
                <a:defRPr/>
              </a:pPr>
              <a:t>14</a:t>
            </a:fld>
            <a:endParaRPr lang="en-US" altLang="en-US" dirty="0"/>
          </a:p>
        </p:txBody>
      </p:sp>
    </p:spTree>
    <p:extLst>
      <p:ext uri="{BB962C8B-B14F-4D97-AF65-F5344CB8AC3E}">
        <p14:creationId xmlns:p14="http://schemas.microsoft.com/office/powerpoint/2010/main" val="19500521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7D056-9212-8A9E-B2B1-746D76D6D4B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94BAE48-213E-3A3C-1CFF-5BDB6C00CB3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65AA2958-7A40-B2B4-AE76-FAED33141F2F}"/>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018AD215-208D-744C-34D1-FE0FAA6ECB56}"/>
              </a:ext>
            </a:extLst>
          </p:cNvPr>
          <p:cNvSpPr>
            <a:spLocks noGrp="1"/>
          </p:cNvSpPr>
          <p:nvPr>
            <p:ph type="sldNum" sz="quarter" idx="5"/>
          </p:nvPr>
        </p:nvSpPr>
        <p:spPr/>
        <p:txBody>
          <a:bodyPr/>
          <a:lstStyle/>
          <a:p>
            <a:pPr>
              <a:defRPr/>
            </a:pPr>
            <a:fld id="{AB31E2A7-604B-AC4A-93FF-7D752141A213}" type="slidenum">
              <a:rPr lang="en-US" altLang="en-US" smtClean="0"/>
              <a:pPr>
                <a:defRPr/>
              </a:pPr>
              <a:t>15</a:t>
            </a:fld>
            <a:endParaRPr lang="en-US" altLang="en-US" dirty="0"/>
          </a:p>
        </p:txBody>
      </p:sp>
    </p:spTree>
    <p:extLst>
      <p:ext uri="{BB962C8B-B14F-4D97-AF65-F5344CB8AC3E}">
        <p14:creationId xmlns:p14="http://schemas.microsoft.com/office/powerpoint/2010/main" val="4030524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B5ACD-0973-876F-ABE8-5F51165F492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AF2571-4790-A167-C728-5D9DC9672932}"/>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2B10F110-3D73-1C71-98BF-186CA80E2CE0}"/>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CDA4CA60-A60D-FC0F-BFD4-0303C6AE0C95}"/>
              </a:ext>
            </a:extLst>
          </p:cNvPr>
          <p:cNvSpPr>
            <a:spLocks noGrp="1"/>
          </p:cNvSpPr>
          <p:nvPr>
            <p:ph type="sldNum" sz="quarter" idx="5"/>
          </p:nvPr>
        </p:nvSpPr>
        <p:spPr/>
        <p:txBody>
          <a:bodyPr/>
          <a:lstStyle/>
          <a:p>
            <a:pPr>
              <a:defRPr/>
            </a:pPr>
            <a:fld id="{AB31E2A7-604B-AC4A-93FF-7D752141A213}" type="slidenum">
              <a:rPr lang="en-US" altLang="en-US" smtClean="0"/>
              <a:pPr>
                <a:defRPr/>
              </a:pPr>
              <a:t>16</a:t>
            </a:fld>
            <a:endParaRPr lang="en-US" altLang="en-US" dirty="0"/>
          </a:p>
        </p:txBody>
      </p:sp>
    </p:spTree>
    <p:extLst>
      <p:ext uri="{BB962C8B-B14F-4D97-AF65-F5344CB8AC3E}">
        <p14:creationId xmlns:p14="http://schemas.microsoft.com/office/powerpoint/2010/main" val="1693638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580E4-5289-5696-4016-E38FCA81AB1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8F599DA-EE94-BFE6-A83C-3610CDAE2042}"/>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8DC6035E-9D30-232B-D891-89A5A4FE2CB7}"/>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8F815E8-0DC3-4081-3225-5DABF566F78C}"/>
              </a:ext>
            </a:extLst>
          </p:cNvPr>
          <p:cNvSpPr>
            <a:spLocks noGrp="1"/>
          </p:cNvSpPr>
          <p:nvPr>
            <p:ph type="sldNum" sz="quarter" idx="5"/>
          </p:nvPr>
        </p:nvSpPr>
        <p:spPr/>
        <p:txBody>
          <a:bodyPr/>
          <a:lstStyle/>
          <a:p>
            <a:pPr>
              <a:defRPr/>
            </a:pPr>
            <a:fld id="{AB31E2A7-604B-AC4A-93FF-7D752141A213}" type="slidenum">
              <a:rPr lang="en-US" altLang="en-US" smtClean="0"/>
              <a:pPr>
                <a:defRPr/>
              </a:pPr>
              <a:t>17</a:t>
            </a:fld>
            <a:endParaRPr lang="en-US" altLang="en-US" dirty="0"/>
          </a:p>
        </p:txBody>
      </p:sp>
    </p:spTree>
    <p:extLst>
      <p:ext uri="{BB962C8B-B14F-4D97-AF65-F5344CB8AC3E}">
        <p14:creationId xmlns:p14="http://schemas.microsoft.com/office/powerpoint/2010/main" val="3887377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83DA3-605E-8364-52CC-D2E2022FF3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104B9F-EDC9-0C58-F076-8AF0DC1EC0DC}"/>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222C96C-6A7F-A2FE-74B2-7CAD936CE80B}"/>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A1C105F7-69C8-C19B-C20F-8B7785A536FA}"/>
              </a:ext>
            </a:extLst>
          </p:cNvPr>
          <p:cNvSpPr>
            <a:spLocks noGrp="1"/>
          </p:cNvSpPr>
          <p:nvPr>
            <p:ph type="sldNum" sz="quarter" idx="5"/>
          </p:nvPr>
        </p:nvSpPr>
        <p:spPr/>
        <p:txBody>
          <a:bodyPr/>
          <a:lstStyle/>
          <a:p>
            <a:pPr>
              <a:defRPr/>
            </a:pPr>
            <a:fld id="{AB31E2A7-604B-AC4A-93FF-7D752141A213}" type="slidenum">
              <a:rPr lang="en-US" altLang="en-US" smtClean="0"/>
              <a:pPr>
                <a:defRPr/>
              </a:pPr>
              <a:t>18</a:t>
            </a:fld>
            <a:endParaRPr lang="en-US" altLang="en-US" dirty="0"/>
          </a:p>
        </p:txBody>
      </p:sp>
    </p:spTree>
    <p:extLst>
      <p:ext uri="{BB962C8B-B14F-4D97-AF65-F5344CB8AC3E}">
        <p14:creationId xmlns:p14="http://schemas.microsoft.com/office/powerpoint/2010/main" val="1014782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BE89C-CE30-3BBB-1CCE-6790D55D66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84FFAB0-C8A1-6CAB-4840-444CB76C3E39}"/>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A84FCD0-3A46-63A2-4EF2-D04CD3AF9B2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1DC0451F-9FF5-0E4B-8D62-054B200684A8}"/>
              </a:ext>
            </a:extLst>
          </p:cNvPr>
          <p:cNvSpPr>
            <a:spLocks noGrp="1"/>
          </p:cNvSpPr>
          <p:nvPr>
            <p:ph type="sldNum" sz="quarter" idx="5"/>
          </p:nvPr>
        </p:nvSpPr>
        <p:spPr/>
        <p:txBody>
          <a:bodyPr/>
          <a:lstStyle/>
          <a:p>
            <a:pPr>
              <a:defRPr/>
            </a:pPr>
            <a:fld id="{AB31E2A7-604B-AC4A-93FF-7D752141A213}" type="slidenum">
              <a:rPr lang="en-US" altLang="en-US" smtClean="0"/>
              <a:pPr>
                <a:defRPr/>
              </a:pPr>
              <a:t>19</a:t>
            </a:fld>
            <a:endParaRPr lang="en-US" altLang="en-US" dirty="0"/>
          </a:p>
        </p:txBody>
      </p:sp>
    </p:spTree>
    <p:extLst>
      <p:ext uri="{BB962C8B-B14F-4D97-AF65-F5344CB8AC3E}">
        <p14:creationId xmlns:p14="http://schemas.microsoft.com/office/powerpoint/2010/main" val="18734666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DA17A-8995-63A2-DC23-B76CF3075A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550F19-C707-FCDB-1641-7AB5FF4A38B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7BE1F1D6-B902-EE81-8483-5B1D81568DC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3ECCBC1-8CA7-C028-245A-580A3CA0FD44}"/>
              </a:ext>
            </a:extLst>
          </p:cNvPr>
          <p:cNvSpPr>
            <a:spLocks noGrp="1"/>
          </p:cNvSpPr>
          <p:nvPr>
            <p:ph type="sldNum" sz="quarter" idx="5"/>
          </p:nvPr>
        </p:nvSpPr>
        <p:spPr/>
        <p:txBody>
          <a:bodyPr/>
          <a:lstStyle/>
          <a:p>
            <a:pPr>
              <a:defRPr/>
            </a:pPr>
            <a:fld id="{AB31E2A7-604B-AC4A-93FF-7D752141A213}" type="slidenum">
              <a:rPr lang="en-US" altLang="en-US" smtClean="0"/>
              <a:pPr>
                <a:defRPr/>
              </a:pPr>
              <a:t>20</a:t>
            </a:fld>
            <a:endParaRPr lang="en-US" altLang="en-US" dirty="0"/>
          </a:p>
        </p:txBody>
      </p:sp>
    </p:spTree>
    <p:extLst>
      <p:ext uri="{BB962C8B-B14F-4D97-AF65-F5344CB8AC3E}">
        <p14:creationId xmlns:p14="http://schemas.microsoft.com/office/powerpoint/2010/main" val="4089243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7CF55-FF93-F6AC-6FB4-EC6CB14F10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604E40B-20D8-57AC-13BC-98C4F8E6042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293B84E6-D5E2-9BDE-7BD7-C8D802CEF286}"/>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92C399F1-B0E0-9E90-4FC2-D9E660E0F322}"/>
              </a:ext>
            </a:extLst>
          </p:cNvPr>
          <p:cNvSpPr>
            <a:spLocks noGrp="1"/>
          </p:cNvSpPr>
          <p:nvPr>
            <p:ph type="sldNum" sz="quarter" idx="5"/>
          </p:nvPr>
        </p:nvSpPr>
        <p:spPr/>
        <p:txBody>
          <a:bodyPr/>
          <a:lstStyle/>
          <a:p>
            <a:pPr>
              <a:defRPr/>
            </a:pPr>
            <a:fld id="{AB31E2A7-604B-AC4A-93FF-7D752141A213}" type="slidenum">
              <a:rPr lang="en-US" altLang="en-US" smtClean="0"/>
              <a:pPr>
                <a:defRPr/>
              </a:pPr>
              <a:t>21</a:t>
            </a:fld>
            <a:endParaRPr lang="en-US" altLang="en-US" dirty="0"/>
          </a:p>
        </p:txBody>
      </p:sp>
    </p:spTree>
    <p:extLst>
      <p:ext uri="{BB962C8B-B14F-4D97-AF65-F5344CB8AC3E}">
        <p14:creationId xmlns:p14="http://schemas.microsoft.com/office/powerpoint/2010/main" val="2150683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36451-7049-6D2D-4E07-C68E5456B5F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D7EB6AA-C1AD-CCA2-98AF-65E340CAE76D}"/>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8985EE8D-06B3-3D9B-4520-0623081A71F7}"/>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7997ADF2-7E8F-413F-B207-FC861B24CA11}"/>
              </a:ext>
            </a:extLst>
          </p:cNvPr>
          <p:cNvSpPr>
            <a:spLocks noGrp="1"/>
          </p:cNvSpPr>
          <p:nvPr>
            <p:ph type="sldNum" sz="quarter" idx="5"/>
          </p:nvPr>
        </p:nvSpPr>
        <p:spPr/>
        <p:txBody>
          <a:bodyPr/>
          <a:lstStyle/>
          <a:p>
            <a:pPr>
              <a:defRPr/>
            </a:pPr>
            <a:fld id="{AB31E2A7-604B-AC4A-93FF-7D752141A213}" type="slidenum">
              <a:rPr lang="en-US" altLang="en-US" smtClean="0"/>
              <a:pPr>
                <a:defRPr/>
              </a:pPr>
              <a:t>22</a:t>
            </a:fld>
            <a:endParaRPr lang="en-US" altLang="en-US" dirty="0"/>
          </a:p>
        </p:txBody>
      </p:sp>
    </p:spTree>
    <p:extLst>
      <p:ext uri="{BB962C8B-B14F-4D97-AF65-F5344CB8AC3E}">
        <p14:creationId xmlns:p14="http://schemas.microsoft.com/office/powerpoint/2010/main" val="1989665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06F2C-8D96-C84C-9021-B17BC9E0592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055FC5-8AE8-1599-E9F4-0B4289CAE305}"/>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C55D3806-8E8C-0383-5985-EA5275BB28FA}"/>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BA5A8462-545C-4765-3C9A-9736B1EBA127}"/>
              </a:ext>
            </a:extLst>
          </p:cNvPr>
          <p:cNvSpPr>
            <a:spLocks noGrp="1"/>
          </p:cNvSpPr>
          <p:nvPr>
            <p:ph type="sldNum" sz="quarter" idx="5"/>
          </p:nvPr>
        </p:nvSpPr>
        <p:spPr/>
        <p:txBody>
          <a:bodyPr/>
          <a:lstStyle/>
          <a:p>
            <a:pPr>
              <a:defRPr/>
            </a:pPr>
            <a:fld id="{AB31E2A7-604B-AC4A-93FF-7D752141A213}" type="slidenum">
              <a:rPr lang="en-US" altLang="en-US" smtClean="0"/>
              <a:pPr>
                <a:defRPr/>
              </a:pPr>
              <a:t>23</a:t>
            </a:fld>
            <a:endParaRPr lang="en-US" altLang="en-US" dirty="0"/>
          </a:p>
        </p:txBody>
      </p:sp>
    </p:spTree>
    <p:extLst>
      <p:ext uri="{BB962C8B-B14F-4D97-AF65-F5344CB8AC3E}">
        <p14:creationId xmlns:p14="http://schemas.microsoft.com/office/powerpoint/2010/main" val="24924026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1A60-E470-F8B5-FE38-F7D3643F34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0647913-A080-E38A-24DE-98FA1083536F}"/>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594AACDC-8B9B-1674-B6EC-3E8B072CF258}"/>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2EB2BE9A-8829-8AB2-11D2-37F7097B8047}"/>
              </a:ext>
            </a:extLst>
          </p:cNvPr>
          <p:cNvSpPr>
            <a:spLocks noGrp="1"/>
          </p:cNvSpPr>
          <p:nvPr>
            <p:ph type="sldNum" sz="quarter" idx="5"/>
          </p:nvPr>
        </p:nvSpPr>
        <p:spPr/>
        <p:txBody>
          <a:bodyPr/>
          <a:lstStyle/>
          <a:p>
            <a:pPr>
              <a:defRPr/>
            </a:pPr>
            <a:fld id="{AB31E2A7-604B-AC4A-93FF-7D752141A213}" type="slidenum">
              <a:rPr lang="en-US" altLang="en-US" smtClean="0"/>
              <a:pPr>
                <a:defRPr/>
              </a:pPr>
              <a:t>24</a:t>
            </a:fld>
            <a:endParaRPr lang="en-US" altLang="en-US" dirty="0"/>
          </a:p>
        </p:txBody>
      </p:sp>
    </p:spTree>
    <p:extLst>
      <p:ext uri="{BB962C8B-B14F-4D97-AF65-F5344CB8AC3E}">
        <p14:creationId xmlns:p14="http://schemas.microsoft.com/office/powerpoint/2010/main" val="546635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5A61B-CE42-D198-270B-F7F9A661F23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2AFC56E-9703-D009-8242-705209AAF732}"/>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EFA802CA-6F2B-76F9-D2C0-19B9C294F761}"/>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2B1EC073-CF41-3E06-32A7-C7BCC1A41658}"/>
              </a:ext>
            </a:extLst>
          </p:cNvPr>
          <p:cNvSpPr>
            <a:spLocks noGrp="1"/>
          </p:cNvSpPr>
          <p:nvPr>
            <p:ph type="sldNum" sz="quarter" idx="5"/>
          </p:nvPr>
        </p:nvSpPr>
        <p:spPr/>
        <p:txBody>
          <a:bodyPr/>
          <a:lstStyle/>
          <a:p>
            <a:pPr>
              <a:defRPr/>
            </a:pPr>
            <a:fld id="{AB31E2A7-604B-AC4A-93FF-7D752141A213}" type="slidenum">
              <a:rPr lang="en-US" altLang="en-US" smtClean="0"/>
              <a:pPr>
                <a:defRPr/>
              </a:pPr>
              <a:t>25</a:t>
            </a:fld>
            <a:endParaRPr lang="en-US" altLang="en-US" dirty="0"/>
          </a:p>
        </p:txBody>
      </p:sp>
    </p:spTree>
    <p:extLst>
      <p:ext uri="{BB962C8B-B14F-4D97-AF65-F5344CB8AC3E}">
        <p14:creationId xmlns:p14="http://schemas.microsoft.com/office/powerpoint/2010/main" val="19310903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C7DB3-29A0-C141-7AC7-7DDE214459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CB67F58-220A-FDFE-48D5-E319CB12CDFF}"/>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FCEEEBC-7B6F-A7F3-0113-987900A34AA1}"/>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D9D58BC0-37BA-6E09-E9A5-90B4A1E8B928}"/>
              </a:ext>
            </a:extLst>
          </p:cNvPr>
          <p:cNvSpPr>
            <a:spLocks noGrp="1"/>
          </p:cNvSpPr>
          <p:nvPr>
            <p:ph type="sldNum" sz="quarter" idx="5"/>
          </p:nvPr>
        </p:nvSpPr>
        <p:spPr/>
        <p:txBody>
          <a:bodyPr/>
          <a:lstStyle/>
          <a:p>
            <a:pPr>
              <a:defRPr/>
            </a:pPr>
            <a:fld id="{AB31E2A7-604B-AC4A-93FF-7D752141A213}" type="slidenum">
              <a:rPr lang="en-US" altLang="en-US" smtClean="0"/>
              <a:pPr>
                <a:defRPr/>
              </a:pPr>
              <a:t>26</a:t>
            </a:fld>
            <a:endParaRPr lang="en-US" altLang="en-US" dirty="0"/>
          </a:p>
        </p:txBody>
      </p:sp>
    </p:spTree>
    <p:extLst>
      <p:ext uri="{BB962C8B-B14F-4D97-AF65-F5344CB8AC3E}">
        <p14:creationId xmlns:p14="http://schemas.microsoft.com/office/powerpoint/2010/main" val="29211275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B48F1-F99F-CE0E-7010-0D72DB2500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3F696D-61D6-5625-909A-EEDD635A1DB6}"/>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BD23A63E-29BA-6969-BE53-417FE5A581E0}"/>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9D37E5AF-A0D2-BDCB-2BFB-6680FBD25747}"/>
              </a:ext>
            </a:extLst>
          </p:cNvPr>
          <p:cNvSpPr>
            <a:spLocks noGrp="1"/>
          </p:cNvSpPr>
          <p:nvPr>
            <p:ph type="sldNum" sz="quarter" idx="5"/>
          </p:nvPr>
        </p:nvSpPr>
        <p:spPr/>
        <p:txBody>
          <a:bodyPr/>
          <a:lstStyle/>
          <a:p>
            <a:pPr>
              <a:defRPr/>
            </a:pPr>
            <a:fld id="{AB31E2A7-604B-AC4A-93FF-7D752141A213}" type="slidenum">
              <a:rPr lang="en-US" altLang="en-US" smtClean="0"/>
              <a:pPr>
                <a:defRPr/>
              </a:pPr>
              <a:t>27</a:t>
            </a:fld>
            <a:endParaRPr lang="en-US" altLang="en-US" dirty="0"/>
          </a:p>
        </p:txBody>
      </p:sp>
    </p:spTree>
    <p:extLst>
      <p:ext uri="{BB962C8B-B14F-4D97-AF65-F5344CB8AC3E}">
        <p14:creationId xmlns:p14="http://schemas.microsoft.com/office/powerpoint/2010/main" val="1833557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E9657-B910-E297-6DAE-67B68F2B24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0DEA95-9652-E4F9-8800-28CB2FA8B80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63779632-F93A-7CAD-7953-1B57E681D74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A87B2F9C-C353-2560-44C5-2DECA56BC22B}"/>
              </a:ext>
            </a:extLst>
          </p:cNvPr>
          <p:cNvSpPr>
            <a:spLocks noGrp="1"/>
          </p:cNvSpPr>
          <p:nvPr>
            <p:ph type="sldNum" sz="quarter" idx="5"/>
          </p:nvPr>
        </p:nvSpPr>
        <p:spPr/>
        <p:txBody>
          <a:bodyPr/>
          <a:lstStyle/>
          <a:p>
            <a:pPr>
              <a:defRPr/>
            </a:pPr>
            <a:fld id="{AB31E2A7-604B-AC4A-93FF-7D752141A213}" type="slidenum">
              <a:rPr lang="en-US" altLang="en-US" smtClean="0"/>
              <a:pPr>
                <a:defRPr/>
              </a:pPr>
              <a:t>28</a:t>
            </a:fld>
            <a:endParaRPr lang="en-US" altLang="en-US" dirty="0"/>
          </a:p>
        </p:txBody>
      </p:sp>
    </p:spTree>
    <p:extLst>
      <p:ext uri="{BB962C8B-B14F-4D97-AF65-F5344CB8AC3E}">
        <p14:creationId xmlns:p14="http://schemas.microsoft.com/office/powerpoint/2010/main" val="8353299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23A16-5FE5-EB42-4476-E1DEFA746B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9136CF-A3D1-0F64-254B-2C6E14A01D7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23BBDC1A-92E9-D42F-637D-A7841EF9DED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22C36B94-7174-52CC-A19B-F74159FC3063}"/>
              </a:ext>
            </a:extLst>
          </p:cNvPr>
          <p:cNvSpPr>
            <a:spLocks noGrp="1"/>
          </p:cNvSpPr>
          <p:nvPr>
            <p:ph type="sldNum" sz="quarter" idx="5"/>
          </p:nvPr>
        </p:nvSpPr>
        <p:spPr/>
        <p:txBody>
          <a:bodyPr/>
          <a:lstStyle/>
          <a:p>
            <a:pPr>
              <a:defRPr/>
            </a:pPr>
            <a:fld id="{AB31E2A7-604B-AC4A-93FF-7D752141A213}" type="slidenum">
              <a:rPr lang="en-US" altLang="en-US" smtClean="0"/>
              <a:pPr>
                <a:defRPr/>
              </a:pPr>
              <a:t>29</a:t>
            </a:fld>
            <a:endParaRPr lang="en-US" altLang="en-US" dirty="0"/>
          </a:p>
        </p:txBody>
      </p:sp>
    </p:spTree>
    <p:extLst>
      <p:ext uri="{BB962C8B-B14F-4D97-AF65-F5344CB8AC3E}">
        <p14:creationId xmlns:p14="http://schemas.microsoft.com/office/powerpoint/2010/main" val="36210738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66B4D-3DBE-8033-BDE1-D22C3523FEF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FC19382-E022-0FBF-E099-E1352A823AA4}"/>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D5B1F501-B8D3-807B-FB71-5749611E74A2}"/>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5CE94AC-1CB2-115B-2071-4E4F6E3029B6}"/>
              </a:ext>
            </a:extLst>
          </p:cNvPr>
          <p:cNvSpPr>
            <a:spLocks noGrp="1"/>
          </p:cNvSpPr>
          <p:nvPr>
            <p:ph type="sldNum" sz="quarter" idx="5"/>
          </p:nvPr>
        </p:nvSpPr>
        <p:spPr/>
        <p:txBody>
          <a:bodyPr/>
          <a:lstStyle/>
          <a:p>
            <a:pPr>
              <a:defRPr/>
            </a:pPr>
            <a:fld id="{AB31E2A7-604B-AC4A-93FF-7D752141A213}" type="slidenum">
              <a:rPr lang="en-US" altLang="en-US" smtClean="0"/>
              <a:pPr>
                <a:defRPr/>
              </a:pPr>
              <a:t>30</a:t>
            </a:fld>
            <a:endParaRPr lang="en-US" altLang="en-US" dirty="0"/>
          </a:p>
        </p:txBody>
      </p:sp>
    </p:spTree>
    <p:extLst>
      <p:ext uri="{BB962C8B-B14F-4D97-AF65-F5344CB8AC3E}">
        <p14:creationId xmlns:p14="http://schemas.microsoft.com/office/powerpoint/2010/main" val="34402338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C8C26-B5E2-4A9B-738D-D28CB1352E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FA835C-64CF-C1F5-9848-10E16433D807}"/>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698AF329-D04E-50ED-EDD6-186F22B12418}"/>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A670D0CD-F87B-DB3B-97A0-CDE1C98B2EBD}"/>
              </a:ext>
            </a:extLst>
          </p:cNvPr>
          <p:cNvSpPr>
            <a:spLocks noGrp="1"/>
          </p:cNvSpPr>
          <p:nvPr>
            <p:ph type="sldNum" sz="quarter" idx="5"/>
          </p:nvPr>
        </p:nvSpPr>
        <p:spPr/>
        <p:txBody>
          <a:bodyPr/>
          <a:lstStyle/>
          <a:p>
            <a:pPr>
              <a:defRPr/>
            </a:pPr>
            <a:fld id="{AB31E2A7-604B-AC4A-93FF-7D752141A213}" type="slidenum">
              <a:rPr lang="en-US" altLang="en-US" smtClean="0"/>
              <a:pPr>
                <a:defRPr/>
              </a:pPr>
              <a:t>32</a:t>
            </a:fld>
            <a:endParaRPr lang="en-US" altLang="en-US" dirty="0"/>
          </a:p>
        </p:txBody>
      </p:sp>
    </p:spTree>
    <p:extLst>
      <p:ext uri="{BB962C8B-B14F-4D97-AF65-F5344CB8AC3E}">
        <p14:creationId xmlns:p14="http://schemas.microsoft.com/office/powerpoint/2010/main" val="25236339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3501C-543C-D3F4-305B-B559F32FD8D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A6839B0-A58A-97EC-AD45-554D7592A706}"/>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7EB4DA54-FF3A-5250-8D4C-31ECD014C28B}"/>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11F23518-77E9-0233-3AA2-0A1AA968B771}"/>
              </a:ext>
            </a:extLst>
          </p:cNvPr>
          <p:cNvSpPr>
            <a:spLocks noGrp="1"/>
          </p:cNvSpPr>
          <p:nvPr>
            <p:ph type="sldNum" sz="quarter" idx="5"/>
          </p:nvPr>
        </p:nvSpPr>
        <p:spPr/>
        <p:txBody>
          <a:bodyPr/>
          <a:lstStyle/>
          <a:p>
            <a:pPr>
              <a:defRPr/>
            </a:pPr>
            <a:fld id="{AB31E2A7-604B-AC4A-93FF-7D752141A213}" type="slidenum">
              <a:rPr lang="en-US" altLang="en-US" smtClean="0"/>
              <a:pPr>
                <a:defRPr/>
              </a:pPr>
              <a:t>33</a:t>
            </a:fld>
            <a:endParaRPr lang="en-US" altLang="en-US" dirty="0"/>
          </a:p>
        </p:txBody>
      </p:sp>
    </p:spTree>
    <p:extLst>
      <p:ext uri="{BB962C8B-B14F-4D97-AF65-F5344CB8AC3E}">
        <p14:creationId xmlns:p14="http://schemas.microsoft.com/office/powerpoint/2010/main" val="35567407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F8224-366D-1BB8-32DB-19FFADB441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98DD55-F87C-0141-E419-8413BF035BD5}"/>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0B110D98-3576-1D51-398B-69532390D727}"/>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650041D7-25E6-120B-1AE4-BCAE8DDA7873}"/>
              </a:ext>
            </a:extLst>
          </p:cNvPr>
          <p:cNvSpPr>
            <a:spLocks noGrp="1"/>
          </p:cNvSpPr>
          <p:nvPr>
            <p:ph type="sldNum" sz="quarter" idx="5"/>
          </p:nvPr>
        </p:nvSpPr>
        <p:spPr/>
        <p:txBody>
          <a:bodyPr/>
          <a:lstStyle/>
          <a:p>
            <a:pPr>
              <a:defRPr/>
            </a:pPr>
            <a:fld id="{AB31E2A7-604B-AC4A-93FF-7D752141A213}" type="slidenum">
              <a:rPr lang="en-US" altLang="en-US" smtClean="0"/>
              <a:pPr>
                <a:defRPr/>
              </a:pPr>
              <a:t>34</a:t>
            </a:fld>
            <a:endParaRPr lang="en-US" altLang="en-US" dirty="0"/>
          </a:p>
        </p:txBody>
      </p:sp>
    </p:spTree>
    <p:extLst>
      <p:ext uri="{BB962C8B-B14F-4D97-AF65-F5344CB8AC3E}">
        <p14:creationId xmlns:p14="http://schemas.microsoft.com/office/powerpoint/2010/main" val="37632786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9C7F9-877C-DB7F-7721-2A0E7F048B9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0D6CDAB-EF7E-E014-635F-A6CAB6525D87}"/>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F8244738-8FEE-0653-0F4D-DC41A3E02B07}"/>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F337C9EB-13CC-CA49-3997-7868201ADDF8}"/>
              </a:ext>
            </a:extLst>
          </p:cNvPr>
          <p:cNvSpPr>
            <a:spLocks noGrp="1"/>
          </p:cNvSpPr>
          <p:nvPr>
            <p:ph type="sldNum" sz="quarter" idx="5"/>
          </p:nvPr>
        </p:nvSpPr>
        <p:spPr/>
        <p:txBody>
          <a:bodyPr/>
          <a:lstStyle/>
          <a:p>
            <a:pPr>
              <a:defRPr/>
            </a:pPr>
            <a:fld id="{AB31E2A7-604B-AC4A-93FF-7D752141A213}" type="slidenum">
              <a:rPr lang="en-US" altLang="en-US" smtClean="0"/>
              <a:pPr>
                <a:defRPr/>
              </a:pPr>
              <a:t>35</a:t>
            </a:fld>
            <a:endParaRPr lang="en-US" altLang="en-US" dirty="0"/>
          </a:p>
        </p:txBody>
      </p:sp>
    </p:spTree>
    <p:extLst>
      <p:ext uri="{BB962C8B-B14F-4D97-AF65-F5344CB8AC3E}">
        <p14:creationId xmlns:p14="http://schemas.microsoft.com/office/powerpoint/2010/main" val="35591289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CB70-A0D3-2F10-F975-52B825A1C2E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3AC4A41-595F-F587-93FB-E1A79704DB8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D42D9318-9005-86DE-8828-B45EDFB08942}"/>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A7202DEC-0924-BDC8-9159-21DAA6EFA8BB}"/>
              </a:ext>
            </a:extLst>
          </p:cNvPr>
          <p:cNvSpPr>
            <a:spLocks noGrp="1"/>
          </p:cNvSpPr>
          <p:nvPr>
            <p:ph type="sldNum" sz="quarter" idx="5"/>
          </p:nvPr>
        </p:nvSpPr>
        <p:spPr/>
        <p:txBody>
          <a:bodyPr/>
          <a:lstStyle/>
          <a:p>
            <a:pPr>
              <a:defRPr/>
            </a:pPr>
            <a:fld id="{AB31E2A7-604B-AC4A-93FF-7D752141A213}" type="slidenum">
              <a:rPr lang="en-US" altLang="en-US" smtClean="0"/>
              <a:pPr>
                <a:defRPr/>
              </a:pPr>
              <a:t>36</a:t>
            </a:fld>
            <a:endParaRPr lang="en-US" altLang="en-US" dirty="0"/>
          </a:p>
        </p:txBody>
      </p:sp>
    </p:spTree>
    <p:extLst>
      <p:ext uri="{BB962C8B-B14F-4D97-AF65-F5344CB8AC3E}">
        <p14:creationId xmlns:p14="http://schemas.microsoft.com/office/powerpoint/2010/main" val="25213605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4235E-B281-B64B-7614-C0FD0010E8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E8269FE-1F6B-FD65-60E5-6DE7D03DBB8A}"/>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78229A53-10BC-6FA9-1A8A-5DCED978E365}"/>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8B988EE2-E9E9-09DF-C707-EB90E40A349C}"/>
              </a:ext>
            </a:extLst>
          </p:cNvPr>
          <p:cNvSpPr>
            <a:spLocks noGrp="1"/>
          </p:cNvSpPr>
          <p:nvPr>
            <p:ph type="sldNum" sz="quarter" idx="5"/>
          </p:nvPr>
        </p:nvSpPr>
        <p:spPr/>
        <p:txBody>
          <a:bodyPr/>
          <a:lstStyle/>
          <a:p>
            <a:pPr>
              <a:defRPr/>
            </a:pPr>
            <a:fld id="{AB31E2A7-604B-AC4A-93FF-7D752141A213}" type="slidenum">
              <a:rPr lang="en-US" altLang="en-US" smtClean="0"/>
              <a:pPr>
                <a:defRPr/>
              </a:pPr>
              <a:t>37</a:t>
            </a:fld>
            <a:endParaRPr lang="en-US" altLang="en-US" dirty="0"/>
          </a:p>
        </p:txBody>
      </p:sp>
    </p:spTree>
    <p:extLst>
      <p:ext uri="{BB962C8B-B14F-4D97-AF65-F5344CB8AC3E}">
        <p14:creationId xmlns:p14="http://schemas.microsoft.com/office/powerpoint/2010/main" val="18504524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CAABA-50B9-2653-EE55-2BACB2F14F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9A0FE8-3354-D122-8242-E454067DFBF2}"/>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E755FB9A-93AE-D1A2-F9DB-77331F3F786E}"/>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C469C95-562A-D175-78E5-B5C44D7EF790}"/>
              </a:ext>
            </a:extLst>
          </p:cNvPr>
          <p:cNvSpPr>
            <a:spLocks noGrp="1"/>
          </p:cNvSpPr>
          <p:nvPr>
            <p:ph type="sldNum" sz="quarter" idx="5"/>
          </p:nvPr>
        </p:nvSpPr>
        <p:spPr/>
        <p:txBody>
          <a:bodyPr/>
          <a:lstStyle/>
          <a:p>
            <a:pPr>
              <a:defRPr/>
            </a:pPr>
            <a:fld id="{AB31E2A7-604B-AC4A-93FF-7D752141A213}" type="slidenum">
              <a:rPr lang="en-US" altLang="en-US" smtClean="0"/>
              <a:pPr>
                <a:defRPr/>
              </a:pPr>
              <a:t>38</a:t>
            </a:fld>
            <a:endParaRPr lang="en-US" altLang="en-US" dirty="0"/>
          </a:p>
        </p:txBody>
      </p:sp>
    </p:spTree>
    <p:extLst>
      <p:ext uri="{BB962C8B-B14F-4D97-AF65-F5344CB8AC3E}">
        <p14:creationId xmlns:p14="http://schemas.microsoft.com/office/powerpoint/2010/main" val="28470994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ED4C6-7090-8BA5-802D-5E13C0C620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7A903E-D359-6894-FBF5-D9495F5CB867}"/>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FBA71619-AC37-A6E6-2D6B-F0BF5AA33B7E}"/>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016FEE18-87F6-A8B5-CD56-0526892C0580}"/>
              </a:ext>
            </a:extLst>
          </p:cNvPr>
          <p:cNvSpPr>
            <a:spLocks noGrp="1"/>
          </p:cNvSpPr>
          <p:nvPr>
            <p:ph type="sldNum" sz="quarter" idx="5"/>
          </p:nvPr>
        </p:nvSpPr>
        <p:spPr/>
        <p:txBody>
          <a:bodyPr/>
          <a:lstStyle/>
          <a:p>
            <a:pPr>
              <a:defRPr/>
            </a:pPr>
            <a:fld id="{AB31E2A7-604B-AC4A-93FF-7D752141A213}" type="slidenum">
              <a:rPr lang="en-US" altLang="en-US" smtClean="0"/>
              <a:pPr>
                <a:defRPr/>
              </a:pPr>
              <a:t>39</a:t>
            </a:fld>
            <a:endParaRPr lang="en-US" altLang="en-US" dirty="0"/>
          </a:p>
        </p:txBody>
      </p:sp>
    </p:spTree>
    <p:extLst>
      <p:ext uri="{BB962C8B-B14F-4D97-AF65-F5344CB8AC3E}">
        <p14:creationId xmlns:p14="http://schemas.microsoft.com/office/powerpoint/2010/main" val="37982408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F0B6F-FFBF-E115-7FDB-578E964C9B1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91BF8A-065A-12AA-B200-F9165F2C5AA5}"/>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7F937677-B5A2-FB84-E06B-ACE4BFB7F7FA}"/>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F34890F1-3058-EB5F-CFEF-FA024898FA70}"/>
              </a:ext>
            </a:extLst>
          </p:cNvPr>
          <p:cNvSpPr>
            <a:spLocks noGrp="1"/>
          </p:cNvSpPr>
          <p:nvPr>
            <p:ph type="sldNum" sz="quarter" idx="5"/>
          </p:nvPr>
        </p:nvSpPr>
        <p:spPr/>
        <p:txBody>
          <a:bodyPr/>
          <a:lstStyle/>
          <a:p>
            <a:pPr>
              <a:defRPr/>
            </a:pPr>
            <a:fld id="{AB31E2A7-604B-AC4A-93FF-7D752141A213}" type="slidenum">
              <a:rPr lang="en-US" altLang="en-US" smtClean="0"/>
              <a:pPr>
                <a:defRPr/>
              </a:pPr>
              <a:t>40</a:t>
            </a:fld>
            <a:endParaRPr lang="en-US" altLang="en-US" dirty="0"/>
          </a:p>
        </p:txBody>
      </p:sp>
    </p:spTree>
    <p:extLst>
      <p:ext uri="{BB962C8B-B14F-4D97-AF65-F5344CB8AC3E}">
        <p14:creationId xmlns:p14="http://schemas.microsoft.com/office/powerpoint/2010/main" val="7504897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228D-4CBF-3CB7-1523-57C1DE82FB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FD9BC0-0518-742D-D768-001E499F1F89}"/>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A4D49C2D-3E62-B50C-B6E1-57889839DE1F}"/>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ECA2F5A4-F2B5-2592-4C35-492194B6BC1F}"/>
              </a:ext>
            </a:extLst>
          </p:cNvPr>
          <p:cNvSpPr>
            <a:spLocks noGrp="1"/>
          </p:cNvSpPr>
          <p:nvPr>
            <p:ph type="sldNum" sz="quarter" idx="5"/>
          </p:nvPr>
        </p:nvSpPr>
        <p:spPr/>
        <p:txBody>
          <a:bodyPr/>
          <a:lstStyle/>
          <a:p>
            <a:pPr>
              <a:defRPr/>
            </a:pPr>
            <a:fld id="{AB31E2A7-604B-AC4A-93FF-7D752141A213}" type="slidenum">
              <a:rPr lang="en-US" altLang="en-US" smtClean="0"/>
              <a:pPr>
                <a:defRPr/>
              </a:pPr>
              <a:t>41</a:t>
            </a:fld>
            <a:endParaRPr lang="en-US" altLang="en-US" dirty="0"/>
          </a:p>
        </p:txBody>
      </p:sp>
    </p:spTree>
    <p:extLst>
      <p:ext uri="{BB962C8B-B14F-4D97-AF65-F5344CB8AC3E}">
        <p14:creationId xmlns:p14="http://schemas.microsoft.com/office/powerpoint/2010/main" val="37464424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AA523-2D34-80AB-A7B2-EA9111FA9DB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2255FE1-62B4-805D-ADBA-776D5C65CC1D}"/>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A137CAE3-2F9C-E887-A0D7-DEB894ADEF58}"/>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882E0243-B55C-9731-5C31-F787F9797D0D}"/>
              </a:ext>
            </a:extLst>
          </p:cNvPr>
          <p:cNvSpPr>
            <a:spLocks noGrp="1"/>
          </p:cNvSpPr>
          <p:nvPr>
            <p:ph type="sldNum" sz="quarter" idx="5"/>
          </p:nvPr>
        </p:nvSpPr>
        <p:spPr/>
        <p:txBody>
          <a:bodyPr/>
          <a:lstStyle/>
          <a:p>
            <a:pPr>
              <a:defRPr/>
            </a:pPr>
            <a:fld id="{AB31E2A7-604B-AC4A-93FF-7D752141A213}" type="slidenum">
              <a:rPr lang="en-US" altLang="en-US" smtClean="0"/>
              <a:pPr>
                <a:defRPr/>
              </a:pPr>
              <a:t>42</a:t>
            </a:fld>
            <a:endParaRPr lang="en-US" altLang="en-US" dirty="0"/>
          </a:p>
        </p:txBody>
      </p:sp>
    </p:spTree>
    <p:extLst>
      <p:ext uri="{BB962C8B-B14F-4D97-AF65-F5344CB8AC3E}">
        <p14:creationId xmlns:p14="http://schemas.microsoft.com/office/powerpoint/2010/main" val="1506174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196F0-253C-9E5C-6CB5-AEB49E255F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610A02-858A-E966-256F-4E39A5088A9B}"/>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89F42B79-A66A-1640-93C5-D15DF1C724C7}"/>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4E5E57CD-2FAB-4B3C-9864-5F7B7759A3B3}"/>
              </a:ext>
            </a:extLst>
          </p:cNvPr>
          <p:cNvSpPr>
            <a:spLocks noGrp="1"/>
          </p:cNvSpPr>
          <p:nvPr>
            <p:ph type="sldNum" sz="quarter" idx="5"/>
          </p:nvPr>
        </p:nvSpPr>
        <p:spPr/>
        <p:txBody>
          <a:bodyPr/>
          <a:lstStyle/>
          <a:p>
            <a:pPr>
              <a:defRPr/>
            </a:pPr>
            <a:fld id="{AB31E2A7-604B-AC4A-93FF-7D752141A213}" type="slidenum">
              <a:rPr lang="en-US" altLang="en-US" smtClean="0"/>
              <a:pPr>
                <a:defRPr/>
              </a:pPr>
              <a:t>43</a:t>
            </a:fld>
            <a:endParaRPr lang="en-US" altLang="en-US" dirty="0"/>
          </a:p>
        </p:txBody>
      </p:sp>
    </p:spTree>
    <p:extLst>
      <p:ext uri="{BB962C8B-B14F-4D97-AF65-F5344CB8AC3E}">
        <p14:creationId xmlns:p14="http://schemas.microsoft.com/office/powerpoint/2010/main" val="7171568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FDC98-9504-F424-20CD-C91307D91BC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5310ABB-16CA-47B2-316A-F25A22A5A282}"/>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9E20B615-F009-4392-AC83-182EE336B06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5DDB9FA6-7A2B-1BC2-3D4F-41B60F810E38}"/>
              </a:ext>
            </a:extLst>
          </p:cNvPr>
          <p:cNvSpPr>
            <a:spLocks noGrp="1"/>
          </p:cNvSpPr>
          <p:nvPr>
            <p:ph type="sldNum" sz="quarter" idx="5"/>
          </p:nvPr>
        </p:nvSpPr>
        <p:spPr/>
        <p:txBody>
          <a:bodyPr/>
          <a:lstStyle/>
          <a:p>
            <a:pPr>
              <a:defRPr/>
            </a:pPr>
            <a:fld id="{AB31E2A7-604B-AC4A-93FF-7D752141A213}" type="slidenum">
              <a:rPr lang="en-US" altLang="en-US" smtClean="0"/>
              <a:pPr>
                <a:defRPr/>
              </a:pPr>
              <a:t>44</a:t>
            </a:fld>
            <a:endParaRPr lang="en-US" altLang="en-US" dirty="0"/>
          </a:p>
        </p:txBody>
      </p:sp>
    </p:spTree>
    <p:extLst>
      <p:ext uri="{BB962C8B-B14F-4D97-AF65-F5344CB8AC3E}">
        <p14:creationId xmlns:p14="http://schemas.microsoft.com/office/powerpoint/2010/main" val="6467645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A15DC-DBEC-7CBA-C7B8-B47C0CB8EA0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028FCC4-4539-CBC2-9360-72C87A445BA4}"/>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5C8F2FC9-01A9-2E53-FF41-E89CE06DF725}"/>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8DDFBC21-02A0-F6FE-90BC-C32DEE388308}"/>
              </a:ext>
            </a:extLst>
          </p:cNvPr>
          <p:cNvSpPr>
            <a:spLocks noGrp="1"/>
          </p:cNvSpPr>
          <p:nvPr>
            <p:ph type="sldNum" sz="quarter" idx="5"/>
          </p:nvPr>
        </p:nvSpPr>
        <p:spPr/>
        <p:txBody>
          <a:bodyPr/>
          <a:lstStyle/>
          <a:p>
            <a:pPr>
              <a:defRPr/>
            </a:pPr>
            <a:fld id="{AB31E2A7-604B-AC4A-93FF-7D752141A213}" type="slidenum">
              <a:rPr lang="en-US" altLang="en-US" smtClean="0"/>
              <a:pPr>
                <a:defRPr/>
              </a:pPr>
              <a:t>45</a:t>
            </a:fld>
            <a:endParaRPr lang="en-US" altLang="en-US" dirty="0"/>
          </a:p>
        </p:txBody>
      </p:sp>
    </p:spTree>
    <p:extLst>
      <p:ext uri="{BB962C8B-B14F-4D97-AF65-F5344CB8AC3E}">
        <p14:creationId xmlns:p14="http://schemas.microsoft.com/office/powerpoint/2010/main" val="23042662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ADCB3-55DF-0B34-1A0E-3FA6E0D9A6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23016E-94E9-8728-B8F7-0C706E8DB799}"/>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64A2F022-24FD-BE0C-0092-A4A696CB8CE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EB40D205-AFB1-13F6-698B-CEB4E8459566}"/>
              </a:ext>
            </a:extLst>
          </p:cNvPr>
          <p:cNvSpPr>
            <a:spLocks noGrp="1"/>
          </p:cNvSpPr>
          <p:nvPr>
            <p:ph type="sldNum" sz="quarter" idx="5"/>
          </p:nvPr>
        </p:nvSpPr>
        <p:spPr/>
        <p:txBody>
          <a:bodyPr/>
          <a:lstStyle/>
          <a:p>
            <a:pPr>
              <a:defRPr/>
            </a:pPr>
            <a:fld id="{AB31E2A7-604B-AC4A-93FF-7D752141A213}" type="slidenum">
              <a:rPr lang="en-US" altLang="en-US" smtClean="0"/>
              <a:pPr>
                <a:defRPr/>
              </a:pPr>
              <a:t>46</a:t>
            </a:fld>
            <a:endParaRPr lang="en-US" altLang="en-US" dirty="0"/>
          </a:p>
        </p:txBody>
      </p:sp>
    </p:spTree>
    <p:extLst>
      <p:ext uri="{BB962C8B-B14F-4D97-AF65-F5344CB8AC3E}">
        <p14:creationId xmlns:p14="http://schemas.microsoft.com/office/powerpoint/2010/main" val="17338838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C942B-7171-E64E-B85A-6E8EE424371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F10A1B3-22D2-595B-9692-3F799D2354F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7E398E80-8ADB-A25D-BD36-6CF51B654510}"/>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28E7EC8A-D82F-5AED-9E94-1481E159F279}"/>
              </a:ext>
            </a:extLst>
          </p:cNvPr>
          <p:cNvSpPr>
            <a:spLocks noGrp="1"/>
          </p:cNvSpPr>
          <p:nvPr>
            <p:ph type="sldNum" sz="quarter" idx="5"/>
          </p:nvPr>
        </p:nvSpPr>
        <p:spPr/>
        <p:txBody>
          <a:bodyPr/>
          <a:lstStyle/>
          <a:p>
            <a:pPr>
              <a:defRPr/>
            </a:pPr>
            <a:fld id="{AB31E2A7-604B-AC4A-93FF-7D752141A213}" type="slidenum">
              <a:rPr lang="en-US" altLang="en-US" smtClean="0"/>
              <a:pPr>
                <a:defRPr/>
              </a:pPr>
              <a:t>47</a:t>
            </a:fld>
            <a:endParaRPr lang="en-US" altLang="en-US" dirty="0"/>
          </a:p>
        </p:txBody>
      </p:sp>
    </p:spTree>
    <p:extLst>
      <p:ext uri="{BB962C8B-B14F-4D97-AF65-F5344CB8AC3E}">
        <p14:creationId xmlns:p14="http://schemas.microsoft.com/office/powerpoint/2010/main" val="31088988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D532F-804A-8A21-00D7-399EDDD9ED0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4D3969-4C0F-9B2D-119A-45A0F5C2E62C}"/>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423084D-D724-CF55-E173-8018711E1D35}"/>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6B99A630-97D6-F11A-8B74-BD6C517F1A80}"/>
              </a:ext>
            </a:extLst>
          </p:cNvPr>
          <p:cNvSpPr>
            <a:spLocks noGrp="1"/>
          </p:cNvSpPr>
          <p:nvPr>
            <p:ph type="sldNum" sz="quarter" idx="5"/>
          </p:nvPr>
        </p:nvSpPr>
        <p:spPr/>
        <p:txBody>
          <a:bodyPr/>
          <a:lstStyle/>
          <a:p>
            <a:pPr>
              <a:defRPr/>
            </a:pPr>
            <a:fld id="{AB31E2A7-604B-AC4A-93FF-7D752141A213}" type="slidenum">
              <a:rPr lang="en-US" altLang="en-US" smtClean="0"/>
              <a:pPr>
                <a:defRPr/>
              </a:pPr>
              <a:t>48</a:t>
            </a:fld>
            <a:endParaRPr lang="en-US" altLang="en-US" dirty="0"/>
          </a:p>
        </p:txBody>
      </p:sp>
    </p:spTree>
    <p:extLst>
      <p:ext uri="{BB962C8B-B14F-4D97-AF65-F5344CB8AC3E}">
        <p14:creationId xmlns:p14="http://schemas.microsoft.com/office/powerpoint/2010/main" val="7791111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9A106-C09C-6754-7D7B-B54DCAB51C6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3C97EE-25F4-AE7F-6862-55A3BD66C61B}"/>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D6D26403-A245-09D0-0F9C-3D0A5CC003A7}"/>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08A61AE8-43FA-E848-A13A-86405B56C0DA}"/>
              </a:ext>
            </a:extLst>
          </p:cNvPr>
          <p:cNvSpPr>
            <a:spLocks noGrp="1"/>
          </p:cNvSpPr>
          <p:nvPr>
            <p:ph type="sldNum" sz="quarter" idx="5"/>
          </p:nvPr>
        </p:nvSpPr>
        <p:spPr/>
        <p:txBody>
          <a:bodyPr/>
          <a:lstStyle/>
          <a:p>
            <a:pPr>
              <a:defRPr/>
            </a:pPr>
            <a:fld id="{AB31E2A7-604B-AC4A-93FF-7D752141A213}" type="slidenum">
              <a:rPr lang="en-US" altLang="en-US" smtClean="0"/>
              <a:pPr>
                <a:defRPr/>
              </a:pPr>
              <a:t>49</a:t>
            </a:fld>
            <a:endParaRPr lang="en-US" altLang="en-US" dirty="0"/>
          </a:p>
        </p:txBody>
      </p:sp>
    </p:spTree>
    <p:extLst>
      <p:ext uri="{BB962C8B-B14F-4D97-AF65-F5344CB8AC3E}">
        <p14:creationId xmlns:p14="http://schemas.microsoft.com/office/powerpoint/2010/main" val="36353489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F1BE4-F218-7BD2-8869-64DDE12805B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391AD2-C497-D0CE-8BE4-213DF2FBF692}"/>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2B0A1FD5-D619-E665-94AD-564CAFEBA255}"/>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229D49E3-DFCD-4E1B-DD09-4A1892742476}"/>
              </a:ext>
            </a:extLst>
          </p:cNvPr>
          <p:cNvSpPr>
            <a:spLocks noGrp="1"/>
          </p:cNvSpPr>
          <p:nvPr>
            <p:ph type="sldNum" sz="quarter" idx="5"/>
          </p:nvPr>
        </p:nvSpPr>
        <p:spPr/>
        <p:txBody>
          <a:bodyPr/>
          <a:lstStyle/>
          <a:p>
            <a:pPr>
              <a:defRPr/>
            </a:pPr>
            <a:fld id="{AB31E2A7-604B-AC4A-93FF-7D752141A213}" type="slidenum">
              <a:rPr lang="en-US" altLang="en-US" smtClean="0"/>
              <a:pPr>
                <a:defRPr/>
              </a:pPr>
              <a:t>50</a:t>
            </a:fld>
            <a:endParaRPr lang="en-US" altLang="en-US" dirty="0"/>
          </a:p>
        </p:txBody>
      </p:sp>
    </p:spTree>
    <p:extLst>
      <p:ext uri="{BB962C8B-B14F-4D97-AF65-F5344CB8AC3E}">
        <p14:creationId xmlns:p14="http://schemas.microsoft.com/office/powerpoint/2010/main" val="13580303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DE0A5-C22C-A65F-E63C-43D1EE51DF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ECD63E9-BC20-0B97-A28C-2145F3087421}"/>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0930F9AB-F0F0-B812-CCAE-48409CCF9A9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8E26C260-46B4-CE77-B156-F89F2C0BA748}"/>
              </a:ext>
            </a:extLst>
          </p:cNvPr>
          <p:cNvSpPr>
            <a:spLocks noGrp="1"/>
          </p:cNvSpPr>
          <p:nvPr>
            <p:ph type="sldNum" sz="quarter" idx="5"/>
          </p:nvPr>
        </p:nvSpPr>
        <p:spPr/>
        <p:txBody>
          <a:bodyPr/>
          <a:lstStyle/>
          <a:p>
            <a:pPr>
              <a:defRPr/>
            </a:pPr>
            <a:fld id="{AB31E2A7-604B-AC4A-93FF-7D752141A213}" type="slidenum">
              <a:rPr lang="en-US" altLang="en-US" smtClean="0"/>
              <a:pPr>
                <a:defRPr/>
              </a:pPr>
              <a:t>51</a:t>
            </a:fld>
            <a:endParaRPr lang="en-US" altLang="en-US" dirty="0"/>
          </a:p>
        </p:txBody>
      </p:sp>
    </p:spTree>
    <p:extLst>
      <p:ext uri="{BB962C8B-B14F-4D97-AF65-F5344CB8AC3E}">
        <p14:creationId xmlns:p14="http://schemas.microsoft.com/office/powerpoint/2010/main" val="33195898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E7CBD-C921-BAB4-D4CF-F67706ABFF7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F1BA9DB-3E2E-75C5-548C-F06FD58BA13B}"/>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29CAB2FB-A783-24EB-A283-E35090E8B0F4}"/>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C6C28FCD-18A8-165C-C004-C8F5BFCB72DC}"/>
              </a:ext>
            </a:extLst>
          </p:cNvPr>
          <p:cNvSpPr>
            <a:spLocks noGrp="1"/>
          </p:cNvSpPr>
          <p:nvPr>
            <p:ph type="sldNum" sz="quarter" idx="5"/>
          </p:nvPr>
        </p:nvSpPr>
        <p:spPr/>
        <p:txBody>
          <a:bodyPr/>
          <a:lstStyle/>
          <a:p>
            <a:pPr>
              <a:defRPr/>
            </a:pPr>
            <a:fld id="{AB31E2A7-604B-AC4A-93FF-7D752141A213}" type="slidenum">
              <a:rPr lang="en-US" altLang="en-US" smtClean="0"/>
              <a:pPr>
                <a:defRPr/>
              </a:pPr>
              <a:t>52</a:t>
            </a:fld>
            <a:endParaRPr lang="en-US" altLang="en-US" dirty="0"/>
          </a:p>
        </p:txBody>
      </p:sp>
    </p:spTree>
    <p:extLst>
      <p:ext uri="{BB962C8B-B14F-4D97-AF65-F5344CB8AC3E}">
        <p14:creationId xmlns:p14="http://schemas.microsoft.com/office/powerpoint/2010/main" val="17626365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BBC1F-BE16-BD53-48A1-CAE92AAAEA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49C012-1C83-8879-22F4-5D2BFAF3BD04}"/>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ABB4E871-25C1-B12E-81B5-F24EDA2213B3}"/>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4AB39ABA-B456-7FC4-C2C4-ABF4BA3D14E2}"/>
              </a:ext>
            </a:extLst>
          </p:cNvPr>
          <p:cNvSpPr>
            <a:spLocks noGrp="1"/>
          </p:cNvSpPr>
          <p:nvPr>
            <p:ph type="sldNum" sz="quarter" idx="5"/>
          </p:nvPr>
        </p:nvSpPr>
        <p:spPr/>
        <p:txBody>
          <a:bodyPr/>
          <a:lstStyle/>
          <a:p>
            <a:pPr>
              <a:defRPr/>
            </a:pPr>
            <a:fld id="{AB31E2A7-604B-AC4A-93FF-7D752141A213}" type="slidenum">
              <a:rPr lang="en-US" altLang="en-US" smtClean="0"/>
              <a:pPr>
                <a:defRPr/>
              </a:pPr>
              <a:t>53</a:t>
            </a:fld>
            <a:endParaRPr lang="en-US" altLang="en-US" dirty="0"/>
          </a:p>
        </p:txBody>
      </p:sp>
    </p:spTree>
    <p:extLst>
      <p:ext uri="{BB962C8B-B14F-4D97-AF65-F5344CB8AC3E}">
        <p14:creationId xmlns:p14="http://schemas.microsoft.com/office/powerpoint/2010/main" val="38904622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E7264-01E6-BCA6-253E-DBD49C25997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D26904D-B7E6-2FBE-8FAA-67412A00BD98}"/>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46ACE2A8-5082-02E9-17D4-B2896708221D}"/>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40175473-0B8D-D3DA-C233-3D4ED3D0B6B7}"/>
              </a:ext>
            </a:extLst>
          </p:cNvPr>
          <p:cNvSpPr>
            <a:spLocks noGrp="1"/>
          </p:cNvSpPr>
          <p:nvPr>
            <p:ph type="sldNum" sz="quarter" idx="5"/>
          </p:nvPr>
        </p:nvSpPr>
        <p:spPr/>
        <p:txBody>
          <a:bodyPr/>
          <a:lstStyle/>
          <a:p>
            <a:pPr>
              <a:defRPr/>
            </a:pPr>
            <a:fld id="{AB31E2A7-604B-AC4A-93FF-7D752141A213}" type="slidenum">
              <a:rPr lang="en-US" altLang="en-US" smtClean="0"/>
              <a:pPr>
                <a:defRPr/>
              </a:pPr>
              <a:t>54</a:t>
            </a:fld>
            <a:endParaRPr lang="en-US" altLang="en-US" dirty="0"/>
          </a:p>
        </p:txBody>
      </p:sp>
    </p:spTree>
    <p:extLst>
      <p:ext uri="{BB962C8B-B14F-4D97-AF65-F5344CB8AC3E}">
        <p14:creationId xmlns:p14="http://schemas.microsoft.com/office/powerpoint/2010/main" val="44342790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D1948-FAB8-06E4-B519-4998F418068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42DD75F-1EA6-333D-A4D8-C0FC4791B8F4}"/>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3D07B503-A467-A83E-6D68-9BCB675CBD42}"/>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974EF385-589C-C2CD-3A46-16202C52BFBB}"/>
              </a:ext>
            </a:extLst>
          </p:cNvPr>
          <p:cNvSpPr>
            <a:spLocks noGrp="1"/>
          </p:cNvSpPr>
          <p:nvPr>
            <p:ph type="sldNum" sz="quarter" idx="5"/>
          </p:nvPr>
        </p:nvSpPr>
        <p:spPr/>
        <p:txBody>
          <a:bodyPr/>
          <a:lstStyle/>
          <a:p>
            <a:pPr>
              <a:defRPr/>
            </a:pPr>
            <a:fld id="{AB31E2A7-604B-AC4A-93FF-7D752141A213}" type="slidenum">
              <a:rPr lang="en-US" altLang="en-US" smtClean="0"/>
              <a:pPr>
                <a:defRPr/>
              </a:pPr>
              <a:t>55</a:t>
            </a:fld>
            <a:endParaRPr lang="en-US" altLang="en-US" dirty="0"/>
          </a:p>
        </p:txBody>
      </p:sp>
    </p:spTree>
    <p:extLst>
      <p:ext uri="{BB962C8B-B14F-4D97-AF65-F5344CB8AC3E}">
        <p14:creationId xmlns:p14="http://schemas.microsoft.com/office/powerpoint/2010/main" val="67018498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FE8DC-B6C6-A0A3-276B-330CA68162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619210-77AF-6B6C-F7AC-92EBC0D68A49}"/>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D191D728-1A6E-ECCE-3575-3C0F6DCCD0E9}"/>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26E1695B-1633-4517-AB50-6ACF0AB2B566}"/>
              </a:ext>
            </a:extLst>
          </p:cNvPr>
          <p:cNvSpPr>
            <a:spLocks noGrp="1"/>
          </p:cNvSpPr>
          <p:nvPr>
            <p:ph type="sldNum" sz="quarter" idx="5"/>
          </p:nvPr>
        </p:nvSpPr>
        <p:spPr/>
        <p:txBody>
          <a:bodyPr/>
          <a:lstStyle/>
          <a:p>
            <a:pPr>
              <a:defRPr/>
            </a:pPr>
            <a:fld id="{AB31E2A7-604B-AC4A-93FF-7D752141A213}" type="slidenum">
              <a:rPr lang="en-US" altLang="en-US" smtClean="0"/>
              <a:pPr>
                <a:defRPr/>
              </a:pPr>
              <a:t>56</a:t>
            </a:fld>
            <a:endParaRPr lang="en-US" altLang="en-US" dirty="0"/>
          </a:p>
        </p:txBody>
      </p:sp>
    </p:spTree>
    <p:extLst>
      <p:ext uri="{BB962C8B-B14F-4D97-AF65-F5344CB8AC3E}">
        <p14:creationId xmlns:p14="http://schemas.microsoft.com/office/powerpoint/2010/main" val="41828913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2B860-E17A-0461-2079-5B25E5BC2A0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A717B0-2C92-1C59-BC87-DC634D3AB7C6}"/>
              </a:ext>
            </a:extLst>
          </p:cNvPr>
          <p:cNvSpPr>
            <a:spLocks noGrp="1" noRot="1" noChangeAspect="1"/>
          </p:cNvSpPr>
          <p:nvPr>
            <p:ph type="sldImg"/>
          </p:nvPr>
        </p:nvSpPr>
        <p:spPr>
          <a:xfrm>
            <a:off x="26988" y="744538"/>
            <a:ext cx="6615112" cy="3722687"/>
          </a:xfrm>
        </p:spPr>
        <p:txBody>
          <a:bodyPr/>
          <a:lstStyle/>
          <a:p>
            <a:endParaRPr lang="ja-JP" altLang="en-US"/>
          </a:p>
        </p:txBody>
      </p:sp>
      <p:sp>
        <p:nvSpPr>
          <p:cNvPr id="3" name="ノート プレースホルダー 2">
            <a:extLst>
              <a:ext uri="{FF2B5EF4-FFF2-40B4-BE49-F238E27FC236}">
                <a16:creationId xmlns:a16="http://schemas.microsoft.com/office/drawing/2014/main" id="{51A6B3E4-A162-88CF-C186-C2CF717B3BCC}"/>
              </a:ext>
            </a:extLst>
          </p:cNvPr>
          <p:cNvSpPr>
            <a:spLocks noGrp="1"/>
          </p:cNvSpPr>
          <p:nvPr>
            <p:ph type="body" idx="1"/>
          </p:nvPr>
        </p:nvSpPr>
        <p:spPr/>
        <p:txBody>
          <a:bodyPr/>
          <a:lstStyle/>
          <a:p>
            <a:endParaRPr lang="en-US" sz="1200" b="0" i="0" kern="1200" dirty="0">
              <a:solidFill>
                <a:schemeClr val="tx1"/>
              </a:solidFill>
              <a:effectLst/>
              <a:latin typeface="Times New Roman" charset="0"/>
              <a:ea typeface="ＭＳ Ｐゴシック" charset="0"/>
              <a:cs typeface="ＭＳ Ｐゴシック" charset="0"/>
            </a:endParaRPr>
          </a:p>
        </p:txBody>
      </p:sp>
      <p:sp>
        <p:nvSpPr>
          <p:cNvPr id="4" name="スライド番号プレースホルダー 3">
            <a:extLst>
              <a:ext uri="{FF2B5EF4-FFF2-40B4-BE49-F238E27FC236}">
                <a16:creationId xmlns:a16="http://schemas.microsoft.com/office/drawing/2014/main" id="{7A7A6031-1843-C360-8332-0F29EE43380D}"/>
              </a:ext>
            </a:extLst>
          </p:cNvPr>
          <p:cNvSpPr>
            <a:spLocks noGrp="1"/>
          </p:cNvSpPr>
          <p:nvPr>
            <p:ph type="sldNum" sz="quarter" idx="5"/>
          </p:nvPr>
        </p:nvSpPr>
        <p:spPr/>
        <p:txBody>
          <a:bodyPr/>
          <a:lstStyle/>
          <a:p>
            <a:pPr>
              <a:defRPr/>
            </a:pPr>
            <a:fld id="{AB31E2A7-604B-AC4A-93FF-7D752141A213}" type="slidenum">
              <a:rPr lang="en-US" altLang="en-US" smtClean="0"/>
              <a:pPr>
                <a:defRPr/>
              </a:pPr>
              <a:t>57</a:t>
            </a:fld>
            <a:endParaRPr lang="en-US" altLang="en-US" dirty="0"/>
          </a:p>
        </p:txBody>
      </p:sp>
    </p:spTree>
    <p:extLst>
      <p:ext uri="{BB962C8B-B14F-4D97-AF65-F5344CB8AC3E}">
        <p14:creationId xmlns:p14="http://schemas.microsoft.com/office/powerpoint/2010/main" val="3672603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4">
            <a:extLst>
              <a:ext uri="{FF2B5EF4-FFF2-40B4-BE49-F238E27FC236}">
                <a16:creationId xmlns:a16="http://schemas.microsoft.com/office/drawing/2014/main" id="{2CCC2082-249C-0241-A66B-561CCF422836}"/>
              </a:ext>
            </a:extLst>
          </p:cNvPr>
          <p:cNvSpPr>
            <a:spLocks noChangeShapeType="1"/>
          </p:cNvSpPr>
          <p:nvPr/>
        </p:nvSpPr>
        <p:spPr bwMode="auto">
          <a:xfrm>
            <a:off x="609600" y="1066800"/>
            <a:ext cx="11108267" cy="0"/>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sp>
        <p:nvSpPr>
          <p:cNvPr id="14338" name="Rectangle 2"/>
          <p:cNvSpPr>
            <a:spLocks noGrp="1" noChangeArrowheads="1"/>
          </p:cNvSpPr>
          <p:nvPr>
            <p:ph type="ctrTitle"/>
          </p:nvPr>
        </p:nvSpPr>
        <p:spPr>
          <a:xfrm>
            <a:off x="609600" y="228600"/>
            <a:ext cx="11176000" cy="838200"/>
          </a:xfrm>
        </p:spPr>
        <p:txBody>
          <a:bodyPr/>
          <a:lstStyle>
            <a:lvl1pPr>
              <a:defRPr/>
            </a:lvl1pPr>
          </a:lstStyle>
          <a:p>
            <a:pPr lvl="0"/>
            <a:r>
              <a:rPr lang="en-US" noProof="0"/>
              <a:t>Section 2</a:t>
            </a:r>
          </a:p>
        </p:txBody>
      </p:sp>
      <p:sp>
        <p:nvSpPr>
          <p:cNvPr id="14339" name="Rectangle 3"/>
          <p:cNvSpPr>
            <a:spLocks noGrp="1" noChangeArrowheads="1"/>
          </p:cNvSpPr>
          <p:nvPr>
            <p:ph type="subTitle" idx="1"/>
          </p:nvPr>
        </p:nvSpPr>
        <p:spPr>
          <a:xfrm>
            <a:off x="1727200" y="1676400"/>
            <a:ext cx="8331200" cy="914400"/>
          </a:xfrm>
        </p:spPr>
        <p:txBody>
          <a:bodyPr/>
          <a:lstStyle>
            <a:lvl1pPr marL="0" indent="0" algn="ctr">
              <a:buFont typeface="Wingdings" charset="0"/>
              <a:buNone/>
              <a:defRPr sz="3200" b="1">
                <a:solidFill>
                  <a:schemeClr val="accent2"/>
                </a:solidFill>
                <a:latin typeface="Arial" charset="0"/>
              </a:defRPr>
            </a:lvl1pPr>
          </a:lstStyle>
          <a:p>
            <a:pPr lvl="0"/>
            <a:r>
              <a:rPr lang="en-US" noProof="0"/>
              <a:t>Concurrent Programming Abstraction &amp; Java Threads</a:t>
            </a:r>
          </a:p>
          <a:p>
            <a:pPr lvl="0"/>
            <a:endParaRPr lang="en-US" noProof="0"/>
          </a:p>
          <a:p>
            <a:pPr lvl="0"/>
            <a:endParaRPr lang="en-US" noProof="0"/>
          </a:p>
        </p:txBody>
      </p:sp>
      <p:sp>
        <p:nvSpPr>
          <p:cNvPr id="9" name="フッター プレースホルダー 1">
            <a:extLst>
              <a:ext uri="{FF2B5EF4-FFF2-40B4-BE49-F238E27FC236}">
                <a16:creationId xmlns:a16="http://schemas.microsoft.com/office/drawing/2014/main" id="{A1380731-16D9-4669-945F-14AC8AF75439}"/>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
        <p:nvSpPr>
          <p:cNvPr id="10" name="Text Box 8">
            <a:extLst>
              <a:ext uri="{FF2B5EF4-FFF2-40B4-BE49-F238E27FC236}">
                <a16:creationId xmlns:a16="http://schemas.microsoft.com/office/drawing/2014/main" id="{47A380E1-661C-4C30-8B01-8930768AE336}"/>
              </a:ext>
            </a:extLst>
          </p:cNvPr>
          <p:cNvSpPr txBox="1">
            <a:spLocks noChangeArrowheads="1"/>
          </p:cNvSpPr>
          <p:nvPr userDrawn="1"/>
        </p:nvSpPr>
        <p:spPr bwMode="auto">
          <a:xfrm>
            <a:off x="10769600" y="6553199"/>
            <a:ext cx="1422400" cy="533400"/>
          </a:xfrm>
          <a:prstGeom prst="rect">
            <a:avLst/>
          </a:prstGeom>
          <a:noFill/>
          <a:ln>
            <a:noFill/>
          </a:ln>
          <a:effectLst/>
          <a:extLst>
            <a:ext uri="{909E8E84-426E-40dd-AFC4-6F175D3DCCD1}"/>
            <a:ext uri="{91240B29-F687-4f45-9708-019B960494DF}"/>
            <a:ext uri="{AF507438-7753-43e0-B8FC-AC1667EBCBE1}"/>
          </a:extLst>
        </p:spPr>
        <p:txBody>
          <a:bodyPr>
            <a:spAutoFit/>
          </a:bodyPr>
          <a:lstStyle>
            <a:lvl1pPr defTabSz="762000">
              <a:defRPr sz="2000">
                <a:solidFill>
                  <a:schemeClr val="tx1"/>
                </a:solidFill>
                <a:latin typeface="Comic Sans MS" charset="0"/>
                <a:ea typeface="ＭＳ Ｐゴシック" charset="-128"/>
              </a:defRPr>
            </a:lvl1pPr>
            <a:lvl2pPr marL="742950" indent="-285750" defTabSz="762000">
              <a:defRPr sz="2000">
                <a:solidFill>
                  <a:schemeClr val="tx1"/>
                </a:solidFill>
                <a:latin typeface="Comic Sans MS" charset="0"/>
                <a:ea typeface="ＭＳ Ｐゴシック" charset="-128"/>
              </a:defRPr>
            </a:lvl2pPr>
            <a:lvl3pPr marL="1143000" indent="-228600" defTabSz="762000">
              <a:defRPr sz="2000">
                <a:solidFill>
                  <a:schemeClr val="tx1"/>
                </a:solidFill>
                <a:latin typeface="Comic Sans MS" charset="0"/>
                <a:ea typeface="ＭＳ Ｐゴシック" charset="-128"/>
              </a:defRPr>
            </a:lvl3pPr>
            <a:lvl4pPr marL="1600200" indent="-228600" defTabSz="762000">
              <a:defRPr sz="2000">
                <a:solidFill>
                  <a:schemeClr val="tx1"/>
                </a:solidFill>
                <a:latin typeface="Comic Sans MS" charset="0"/>
                <a:ea typeface="ＭＳ Ｐゴシック" charset="-128"/>
              </a:defRPr>
            </a:lvl4pPr>
            <a:lvl5pPr marL="2057400" indent="-228600" defTabSz="762000">
              <a:defRPr sz="2000">
                <a:solidFill>
                  <a:schemeClr val="tx1"/>
                </a:solidFill>
                <a:latin typeface="Comic Sans MS" charset="0"/>
                <a:ea typeface="ＭＳ Ｐゴシック" charset="-128"/>
              </a:defRPr>
            </a:lvl5pPr>
            <a:lvl6pPr marL="2514600" indent="-228600" defTabSz="762000" eaLnBrk="0" fontAlgn="base" hangingPunct="0">
              <a:spcBef>
                <a:spcPct val="0"/>
              </a:spcBef>
              <a:spcAft>
                <a:spcPct val="0"/>
              </a:spcAft>
              <a:defRPr sz="2000">
                <a:solidFill>
                  <a:schemeClr val="tx1"/>
                </a:solidFill>
                <a:latin typeface="Comic Sans MS" charset="0"/>
                <a:ea typeface="ＭＳ Ｐゴシック" charset="-128"/>
              </a:defRPr>
            </a:lvl6pPr>
            <a:lvl7pPr marL="2971800" indent="-228600" defTabSz="762000" eaLnBrk="0" fontAlgn="base" hangingPunct="0">
              <a:spcBef>
                <a:spcPct val="0"/>
              </a:spcBef>
              <a:spcAft>
                <a:spcPct val="0"/>
              </a:spcAft>
              <a:defRPr sz="2000">
                <a:solidFill>
                  <a:schemeClr val="tx1"/>
                </a:solidFill>
                <a:latin typeface="Comic Sans MS" charset="0"/>
                <a:ea typeface="ＭＳ Ｐゴシック" charset="-128"/>
              </a:defRPr>
            </a:lvl7pPr>
            <a:lvl8pPr marL="3429000" indent="-228600" defTabSz="762000" eaLnBrk="0" fontAlgn="base" hangingPunct="0">
              <a:spcBef>
                <a:spcPct val="0"/>
              </a:spcBef>
              <a:spcAft>
                <a:spcPct val="0"/>
              </a:spcAft>
              <a:defRPr sz="2000">
                <a:solidFill>
                  <a:schemeClr val="tx1"/>
                </a:solidFill>
                <a:latin typeface="Comic Sans MS" charset="0"/>
                <a:ea typeface="ＭＳ Ｐゴシック" charset="-128"/>
              </a:defRPr>
            </a:lvl8pPr>
            <a:lvl9pPr marL="3886200" indent="-228600" defTabSz="762000" eaLnBrk="0" fontAlgn="base" hangingPunct="0">
              <a:spcBef>
                <a:spcPct val="0"/>
              </a:spcBef>
              <a:spcAft>
                <a:spcPct val="0"/>
              </a:spcAft>
              <a:defRPr sz="2000">
                <a:solidFill>
                  <a:schemeClr val="tx1"/>
                </a:solidFill>
                <a:latin typeface="Comic Sans MS" charset="0"/>
                <a:ea typeface="ＭＳ Ｐゴシック" charset="-128"/>
              </a:defRPr>
            </a:lvl9pPr>
          </a:lstStyle>
          <a:p>
            <a:pPr algn="r">
              <a:spcBef>
                <a:spcPct val="50000"/>
              </a:spcBef>
              <a:defRPr/>
            </a:pPr>
            <a:fld id="{B30D727B-AF9F-1344-87F2-06A074BC649A}" type="slidenum">
              <a:rPr lang="en-GB" altLang="en-US" sz="1400" smtClean="0">
                <a:solidFill>
                  <a:schemeClr val="accent2"/>
                </a:solidFill>
                <a:latin typeface="Times New Roman" charset="0"/>
              </a:rPr>
              <a:pPr algn="r">
                <a:spcBef>
                  <a:spcPct val="50000"/>
                </a:spcBef>
                <a:defRPr/>
              </a:pPr>
              <a:t>‹#›</a:t>
            </a:fld>
            <a:endParaRPr lang="en-GB" altLang="en-US" sz="1400" dirty="0">
              <a:solidFill>
                <a:schemeClr val="accent2"/>
              </a:solidFill>
              <a:latin typeface="Times New Roman" charset="0"/>
            </a:endParaRPr>
          </a:p>
          <a:p>
            <a:pPr algn="r">
              <a:spcBef>
                <a:spcPct val="50000"/>
              </a:spcBef>
              <a:defRPr/>
            </a:pPr>
            <a:endParaRPr lang="en-GB" altLang="en-US" sz="1000" dirty="0">
              <a:solidFill>
                <a:schemeClr val="accent2"/>
              </a:solidFill>
              <a:latin typeface="Times New Roman" charset="0"/>
            </a:endParaRPr>
          </a:p>
        </p:txBody>
      </p:sp>
    </p:spTree>
    <p:extLst>
      <p:ext uri="{BB962C8B-B14F-4D97-AF65-F5344CB8AC3E}">
        <p14:creationId xmlns:p14="http://schemas.microsoft.com/office/powerpoint/2010/main" val="3270353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defRPr baseline="0">
                <a:ea typeface="FangSong" panose="02010609060101010101" pitchFamily="49" charset="-122"/>
              </a:defRPr>
            </a:lvl1pPr>
            <a:lvl2pPr>
              <a:defRPr baseline="0">
                <a:ea typeface="FangSong" panose="02010609060101010101" pitchFamily="49" charset="-122"/>
              </a:defRPr>
            </a:lvl2pPr>
            <a:lvl3pPr>
              <a:defRPr baseline="0">
                <a:ea typeface="FangSong" panose="02010609060101010101" pitchFamily="49" charset="-122"/>
              </a:defRPr>
            </a:lvl3pPr>
            <a:lvl4pPr>
              <a:defRPr baseline="0">
                <a:ea typeface="FangSong" panose="02010609060101010101" pitchFamily="49" charset="-122"/>
              </a:defRPr>
            </a:lvl4pPr>
            <a:lvl5pPr>
              <a:defRPr baseline="0">
                <a:ea typeface="FangSong" panose="02010609060101010101" pitchFamily="49"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フッター プレースホルダー 1">
            <a:extLst>
              <a:ext uri="{FF2B5EF4-FFF2-40B4-BE49-F238E27FC236}">
                <a16:creationId xmlns:a16="http://schemas.microsoft.com/office/drawing/2014/main" id="{656708E0-780A-42EA-AEC7-D80580D6D4C5}"/>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502878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フッター プレースホルダー 1">
            <a:extLst>
              <a:ext uri="{FF2B5EF4-FFF2-40B4-BE49-F238E27FC236}">
                <a16:creationId xmlns:a16="http://schemas.microsoft.com/office/drawing/2014/main" id="{B6DEF749-4806-4EB1-9520-49569C4FCA8E}"/>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3499002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0" y="1295400"/>
            <a:ext cx="5435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295400"/>
            <a:ext cx="5435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フッター プレースホルダー 1">
            <a:extLst>
              <a:ext uri="{FF2B5EF4-FFF2-40B4-BE49-F238E27FC236}">
                <a16:creationId xmlns:a16="http://schemas.microsoft.com/office/drawing/2014/main" id="{071E30C6-AED6-406C-B2B3-B9C14F1924BB}"/>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2388294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フッター プレースホルダー 1">
            <a:extLst>
              <a:ext uri="{FF2B5EF4-FFF2-40B4-BE49-F238E27FC236}">
                <a16:creationId xmlns:a16="http://schemas.microsoft.com/office/drawing/2014/main" id="{D6B50CE3-CD95-4A1F-9A83-500B9C5478C5}"/>
              </a:ext>
            </a:extLst>
          </p:cNvPr>
          <p:cNvSpPr>
            <a:spLocks noGrp="1"/>
          </p:cNvSpPr>
          <p:nvPr>
            <p:ph type="ftr" sz="quarter" idx="10"/>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2091609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フッター プレースホルダー 1">
            <a:extLst>
              <a:ext uri="{FF2B5EF4-FFF2-40B4-BE49-F238E27FC236}">
                <a16:creationId xmlns:a16="http://schemas.microsoft.com/office/drawing/2014/main" id="{802880ED-3A6D-4854-B3C1-12A8BF68C9F5}"/>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1941040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9B66A68-EB2C-448A-9C31-2285F6D4EF50}"/>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extLst>
      <p:ext uri="{BB962C8B-B14F-4D97-AF65-F5344CB8AC3E}">
        <p14:creationId xmlns:p14="http://schemas.microsoft.com/office/powerpoint/2010/main" val="568376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9681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83115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0804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3800" y="304800"/>
            <a:ext cx="276860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000" y="304800"/>
            <a:ext cx="81026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0605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44D7B4F-816E-594A-A348-113D4DEB7990}"/>
              </a:ext>
            </a:extLst>
          </p:cNvPr>
          <p:cNvSpPr>
            <a:spLocks noGrp="1" noChangeArrowheads="1"/>
          </p:cNvSpPr>
          <p:nvPr>
            <p:ph type="title"/>
          </p:nvPr>
        </p:nvSpPr>
        <p:spPr bwMode="auto">
          <a:xfrm>
            <a:off x="508000" y="304800"/>
            <a:ext cx="11074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en-US" altLang="en-US" dirty="0"/>
          </a:p>
        </p:txBody>
      </p:sp>
      <p:sp>
        <p:nvSpPr>
          <p:cNvPr id="1027" name="Rectangle 3">
            <a:extLst>
              <a:ext uri="{FF2B5EF4-FFF2-40B4-BE49-F238E27FC236}">
                <a16:creationId xmlns:a16="http://schemas.microsoft.com/office/drawing/2014/main" id="{5984F332-65D3-8E41-9D42-8A248FC50ADD}"/>
              </a:ext>
            </a:extLst>
          </p:cNvPr>
          <p:cNvSpPr>
            <a:spLocks noGrp="1" noChangeArrowheads="1"/>
          </p:cNvSpPr>
          <p:nvPr>
            <p:ph type="body" idx="1"/>
          </p:nvPr>
        </p:nvSpPr>
        <p:spPr bwMode="auto">
          <a:xfrm>
            <a:off x="508000" y="1295400"/>
            <a:ext cx="11074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1028" name="Line 7">
            <a:extLst>
              <a:ext uri="{FF2B5EF4-FFF2-40B4-BE49-F238E27FC236}">
                <a16:creationId xmlns:a16="http://schemas.microsoft.com/office/drawing/2014/main" id="{00A13E26-8A0C-4A42-ACC2-0EA997F81C7A}"/>
              </a:ext>
            </a:extLst>
          </p:cNvPr>
          <p:cNvSpPr>
            <a:spLocks noChangeShapeType="1"/>
          </p:cNvSpPr>
          <p:nvPr/>
        </p:nvSpPr>
        <p:spPr bwMode="auto">
          <a:xfrm>
            <a:off x="508000" y="990600"/>
            <a:ext cx="11108267" cy="0"/>
          </a:xfrm>
          <a:prstGeom prst="line">
            <a:avLst/>
          </a:prstGeom>
          <a:noFill/>
          <a:ln w="508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sz="2000"/>
          </a:p>
        </p:txBody>
      </p:sp>
      <p:sp>
        <p:nvSpPr>
          <p:cNvPr id="1032" name="Text Box 8">
            <a:extLst>
              <a:ext uri="{FF2B5EF4-FFF2-40B4-BE49-F238E27FC236}">
                <a16:creationId xmlns:a16="http://schemas.microsoft.com/office/drawing/2014/main" id="{7F320112-8054-5C45-9ABE-1300A4072AAD}"/>
              </a:ext>
            </a:extLst>
          </p:cNvPr>
          <p:cNvSpPr txBox="1">
            <a:spLocks noChangeArrowheads="1"/>
          </p:cNvSpPr>
          <p:nvPr/>
        </p:nvSpPr>
        <p:spPr bwMode="auto">
          <a:xfrm>
            <a:off x="10769600" y="6553199"/>
            <a:ext cx="1422400" cy="533400"/>
          </a:xfrm>
          <a:prstGeom prst="rect">
            <a:avLst/>
          </a:prstGeom>
          <a:noFill/>
          <a:ln>
            <a:noFill/>
          </a:ln>
          <a:effectLst/>
          <a:extLst>
            <a:ext uri="{909E8E84-426E-40dd-AFC4-6F175D3DCCD1}"/>
            <a:ext uri="{91240B29-F687-4f45-9708-019B960494DF}"/>
            <a:ext uri="{AF507438-7753-43e0-B8FC-AC1667EBCBE1}"/>
          </a:extLst>
        </p:spPr>
        <p:txBody>
          <a:bodyPr>
            <a:spAutoFit/>
          </a:bodyPr>
          <a:lstStyle>
            <a:lvl1pPr defTabSz="762000">
              <a:defRPr sz="2000">
                <a:solidFill>
                  <a:schemeClr val="tx1"/>
                </a:solidFill>
                <a:latin typeface="Comic Sans MS" charset="0"/>
                <a:ea typeface="ＭＳ Ｐゴシック" charset="-128"/>
              </a:defRPr>
            </a:lvl1pPr>
            <a:lvl2pPr marL="742950" indent="-285750" defTabSz="762000">
              <a:defRPr sz="2000">
                <a:solidFill>
                  <a:schemeClr val="tx1"/>
                </a:solidFill>
                <a:latin typeface="Comic Sans MS" charset="0"/>
                <a:ea typeface="ＭＳ Ｐゴシック" charset="-128"/>
              </a:defRPr>
            </a:lvl2pPr>
            <a:lvl3pPr marL="1143000" indent="-228600" defTabSz="762000">
              <a:defRPr sz="2000">
                <a:solidFill>
                  <a:schemeClr val="tx1"/>
                </a:solidFill>
                <a:latin typeface="Comic Sans MS" charset="0"/>
                <a:ea typeface="ＭＳ Ｐゴシック" charset="-128"/>
              </a:defRPr>
            </a:lvl3pPr>
            <a:lvl4pPr marL="1600200" indent="-228600" defTabSz="762000">
              <a:defRPr sz="2000">
                <a:solidFill>
                  <a:schemeClr val="tx1"/>
                </a:solidFill>
                <a:latin typeface="Comic Sans MS" charset="0"/>
                <a:ea typeface="ＭＳ Ｐゴシック" charset="-128"/>
              </a:defRPr>
            </a:lvl4pPr>
            <a:lvl5pPr marL="2057400" indent="-228600" defTabSz="762000">
              <a:defRPr sz="2000">
                <a:solidFill>
                  <a:schemeClr val="tx1"/>
                </a:solidFill>
                <a:latin typeface="Comic Sans MS" charset="0"/>
                <a:ea typeface="ＭＳ Ｐゴシック" charset="-128"/>
              </a:defRPr>
            </a:lvl5pPr>
            <a:lvl6pPr marL="2514600" indent="-228600" defTabSz="762000" eaLnBrk="0" fontAlgn="base" hangingPunct="0">
              <a:spcBef>
                <a:spcPct val="0"/>
              </a:spcBef>
              <a:spcAft>
                <a:spcPct val="0"/>
              </a:spcAft>
              <a:defRPr sz="2000">
                <a:solidFill>
                  <a:schemeClr val="tx1"/>
                </a:solidFill>
                <a:latin typeface="Comic Sans MS" charset="0"/>
                <a:ea typeface="ＭＳ Ｐゴシック" charset="-128"/>
              </a:defRPr>
            </a:lvl6pPr>
            <a:lvl7pPr marL="2971800" indent="-228600" defTabSz="762000" eaLnBrk="0" fontAlgn="base" hangingPunct="0">
              <a:spcBef>
                <a:spcPct val="0"/>
              </a:spcBef>
              <a:spcAft>
                <a:spcPct val="0"/>
              </a:spcAft>
              <a:defRPr sz="2000">
                <a:solidFill>
                  <a:schemeClr val="tx1"/>
                </a:solidFill>
                <a:latin typeface="Comic Sans MS" charset="0"/>
                <a:ea typeface="ＭＳ Ｐゴシック" charset="-128"/>
              </a:defRPr>
            </a:lvl7pPr>
            <a:lvl8pPr marL="3429000" indent="-228600" defTabSz="762000" eaLnBrk="0" fontAlgn="base" hangingPunct="0">
              <a:spcBef>
                <a:spcPct val="0"/>
              </a:spcBef>
              <a:spcAft>
                <a:spcPct val="0"/>
              </a:spcAft>
              <a:defRPr sz="2000">
                <a:solidFill>
                  <a:schemeClr val="tx1"/>
                </a:solidFill>
                <a:latin typeface="Comic Sans MS" charset="0"/>
                <a:ea typeface="ＭＳ Ｐゴシック" charset="-128"/>
              </a:defRPr>
            </a:lvl8pPr>
            <a:lvl9pPr marL="3886200" indent="-228600" defTabSz="762000" eaLnBrk="0" fontAlgn="base" hangingPunct="0">
              <a:spcBef>
                <a:spcPct val="0"/>
              </a:spcBef>
              <a:spcAft>
                <a:spcPct val="0"/>
              </a:spcAft>
              <a:defRPr sz="2000">
                <a:solidFill>
                  <a:schemeClr val="tx1"/>
                </a:solidFill>
                <a:latin typeface="Comic Sans MS" charset="0"/>
                <a:ea typeface="ＭＳ Ｐゴシック" charset="-128"/>
              </a:defRPr>
            </a:lvl9pPr>
          </a:lstStyle>
          <a:p>
            <a:pPr algn="r">
              <a:spcBef>
                <a:spcPct val="50000"/>
              </a:spcBef>
              <a:defRPr/>
            </a:pPr>
            <a:fld id="{B30D727B-AF9F-1344-87F2-06A074BC649A}" type="slidenum">
              <a:rPr lang="en-GB" altLang="en-US" sz="1400" smtClean="0">
                <a:solidFill>
                  <a:schemeClr val="accent2"/>
                </a:solidFill>
                <a:latin typeface="Times New Roman" charset="0"/>
              </a:rPr>
              <a:pPr algn="r">
                <a:spcBef>
                  <a:spcPct val="50000"/>
                </a:spcBef>
                <a:defRPr/>
              </a:pPr>
              <a:t>‹#›</a:t>
            </a:fld>
            <a:endParaRPr lang="en-GB" altLang="en-US" sz="1400" dirty="0">
              <a:solidFill>
                <a:schemeClr val="accent2"/>
              </a:solidFill>
              <a:latin typeface="Times New Roman" charset="0"/>
            </a:endParaRPr>
          </a:p>
          <a:p>
            <a:pPr algn="r">
              <a:spcBef>
                <a:spcPct val="50000"/>
              </a:spcBef>
              <a:defRPr/>
            </a:pPr>
            <a:endParaRPr lang="en-GB" altLang="en-US" sz="1000" dirty="0">
              <a:solidFill>
                <a:schemeClr val="accent2"/>
              </a:solidFill>
              <a:latin typeface="Times New Roman" charset="0"/>
            </a:endParaRPr>
          </a:p>
        </p:txBody>
      </p:sp>
      <p:sp>
        <p:nvSpPr>
          <p:cNvPr id="2" name="フッター プレースホルダー 1">
            <a:extLst>
              <a:ext uri="{FF2B5EF4-FFF2-40B4-BE49-F238E27FC236}">
                <a16:creationId xmlns:a16="http://schemas.microsoft.com/office/drawing/2014/main" id="{699C07AA-4BE4-49A0-B276-13F3D202B7BE}"/>
              </a:ext>
            </a:extLst>
          </p:cNvPr>
          <p:cNvSpPr>
            <a:spLocks noGrp="1"/>
          </p:cNvSpPr>
          <p:nvPr>
            <p:ph type="ftr" sz="quarter" idx="3"/>
          </p:nvPr>
        </p:nvSpPr>
        <p:spPr>
          <a:xfrm>
            <a:off x="508000" y="6370638"/>
            <a:ext cx="4114800" cy="365125"/>
          </a:xfrm>
          <a:prstGeom prst="rect">
            <a:avLst/>
          </a:prstGeom>
        </p:spPr>
        <p:txBody>
          <a:bodyPr vert="horz" lIns="91440" tIns="45720" rIns="91440" bIns="45720" rtlCol="0" anchor="ctr"/>
          <a:lstStyle>
            <a:lvl1pPr algn="l">
              <a:defRPr sz="1200">
                <a:solidFill>
                  <a:schemeClr val="accent6"/>
                </a:solidFill>
              </a:defRPr>
            </a:lvl1pPr>
          </a:lstStyle>
          <a:p>
            <a:r>
              <a:rPr lang="en-US" dirty="0" err="1"/>
              <a:t>Yiyang</a:t>
            </a:r>
            <a:r>
              <a:rPr lang="en-US" dirty="0"/>
              <a:t> Jia</a:t>
            </a:r>
          </a:p>
        </p:txBody>
      </p:sp>
    </p:spTree>
  </p:cSld>
  <p:clrMap bg1="lt1" tx1="dk1" bg2="lt2" tx2="dk2" accent1="accent1" accent2="accent2" accent3="accent3" accent4="accent4" accent5="accent5" accent6="accent6" hlink="hlink" folHlink="folHlink"/>
  <p:sldLayoutIdLst>
    <p:sldLayoutId id="2147483935"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Lst>
  <p:txStyles>
    <p:titleStyle>
      <a:lvl1pPr algn="l" rtl="0" eaLnBrk="0" fontAlgn="base" hangingPunct="0">
        <a:spcBef>
          <a:spcPct val="0"/>
        </a:spcBef>
        <a:spcAft>
          <a:spcPct val="0"/>
        </a:spcAft>
        <a:defRPr sz="2400">
          <a:solidFill>
            <a:schemeClr val="accent2"/>
          </a:solidFill>
          <a:latin typeface="+mj-lt"/>
          <a:ea typeface="+mj-ea"/>
          <a:cs typeface="ＭＳ Ｐゴシック" charset="0"/>
        </a:defRPr>
      </a:lvl1pPr>
      <a:lvl2pPr algn="l" rtl="0" eaLnBrk="0" fontAlgn="base" hangingPunct="0">
        <a:spcBef>
          <a:spcPct val="0"/>
        </a:spcBef>
        <a:spcAft>
          <a:spcPct val="0"/>
        </a:spcAft>
        <a:defRPr sz="2400">
          <a:solidFill>
            <a:schemeClr val="accent2"/>
          </a:solidFill>
          <a:latin typeface="Arial" charset="0"/>
          <a:ea typeface="ＭＳ Ｐゴシック" charset="0"/>
          <a:cs typeface="ＭＳ Ｐゴシック" charset="0"/>
        </a:defRPr>
      </a:lvl2pPr>
      <a:lvl3pPr algn="l" rtl="0" eaLnBrk="0" fontAlgn="base" hangingPunct="0">
        <a:spcBef>
          <a:spcPct val="0"/>
        </a:spcBef>
        <a:spcAft>
          <a:spcPct val="0"/>
        </a:spcAft>
        <a:defRPr sz="2400">
          <a:solidFill>
            <a:schemeClr val="accent2"/>
          </a:solidFill>
          <a:latin typeface="Arial" charset="0"/>
          <a:ea typeface="ＭＳ Ｐゴシック" charset="0"/>
          <a:cs typeface="ＭＳ Ｐゴシック" charset="0"/>
        </a:defRPr>
      </a:lvl3pPr>
      <a:lvl4pPr algn="l" rtl="0" eaLnBrk="0" fontAlgn="base" hangingPunct="0">
        <a:spcBef>
          <a:spcPct val="0"/>
        </a:spcBef>
        <a:spcAft>
          <a:spcPct val="0"/>
        </a:spcAft>
        <a:defRPr sz="2400">
          <a:solidFill>
            <a:schemeClr val="accent2"/>
          </a:solidFill>
          <a:latin typeface="Arial" charset="0"/>
          <a:ea typeface="ＭＳ Ｐゴシック" charset="0"/>
          <a:cs typeface="ＭＳ Ｐゴシック" charset="0"/>
        </a:defRPr>
      </a:lvl4pPr>
      <a:lvl5pPr algn="l" rtl="0" eaLnBrk="0" fontAlgn="base" hangingPunct="0">
        <a:spcBef>
          <a:spcPct val="0"/>
        </a:spcBef>
        <a:spcAft>
          <a:spcPct val="0"/>
        </a:spcAft>
        <a:defRPr sz="2400">
          <a:solidFill>
            <a:schemeClr val="accent2"/>
          </a:solidFill>
          <a:latin typeface="Arial" charset="0"/>
          <a:ea typeface="ＭＳ Ｐゴシック" charset="0"/>
          <a:cs typeface="ＭＳ Ｐゴシック" charset="0"/>
        </a:defRPr>
      </a:lvl5pPr>
      <a:lvl6pPr marL="457200" algn="l" rtl="0" eaLnBrk="0" fontAlgn="base" hangingPunct="0">
        <a:spcBef>
          <a:spcPct val="0"/>
        </a:spcBef>
        <a:spcAft>
          <a:spcPct val="0"/>
        </a:spcAft>
        <a:defRPr sz="2400">
          <a:solidFill>
            <a:schemeClr val="accent2"/>
          </a:solidFill>
          <a:latin typeface="Arial" charset="0"/>
          <a:ea typeface="ＭＳ Ｐゴシック" charset="0"/>
        </a:defRPr>
      </a:lvl6pPr>
      <a:lvl7pPr marL="914400" algn="l" rtl="0" eaLnBrk="0" fontAlgn="base" hangingPunct="0">
        <a:spcBef>
          <a:spcPct val="0"/>
        </a:spcBef>
        <a:spcAft>
          <a:spcPct val="0"/>
        </a:spcAft>
        <a:defRPr sz="2400">
          <a:solidFill>
            <a:schemeClr val="accent2"/>
          </a:solidFill>
          <a:latin typeface="Arial" charset="0"/>
          <a:ea typeface="ＭＳ Ｐゴシック" charset="0"/>
        </a:defRPr>
      </a:lvl7pPr>
      <a:lvl8pPr marL="1371600" algn="l" rtl="0" eaLnBrk="0" fontAlgn="base" hangingPunct="0">
        <a:spcBef>
          <a:spcPct val="0"/>
        </a:spcBef>
        <a:spcAft>
          <a:spcPct val="0"/>
        </a:spcAft>
        <a:defRPr sz="2400">
          <a:solidFill>
            <a:schemeClr val="accent2"/>
          </a:solidFill>
          <a:latin typeface="Arial" charset="0"/>
          <a:ea typeface="ＭＳ Ｐゴシック" charset="0"/>
        </a:defRPr>
      </a:lvl8pPr>
      <a:lvl9pPr marL="1828800" algn="l" rtl="0" eaLnBrk="0" fontAlgn="base" hangingPunct="0">
        <a:spcBef>
          <a:spcPct val="0"/>
        </a:spcBef>
        <a:spcAft>
          <a:spcPct val="0"/>
        </a:spcAft>
        <a:defRPr sz="2400">
          <a:solidFill>
            <a:schemeClr val="accent2"/>
          </a:solidFill>
          <a:latin typeface="Arial" charset="0"/>
          <a:ea typeface="ＭＳ Ｐゴシック" charset="0"/>
        </a:defRPr>
      </a:lvl9pPr>
    </p:titleStyle>
    <p:bodyStyle>
      <a:lvl1pPr marL="342900" indent="-342900" algn="l" rtl="0" eaLnBrk="0" fontAlgn="base" hangingPunct="0">
        <a:spcBef>
          <a:spcPct val="20000"/>
        </a:spcBef>
        <a:spcAft>
          <a:spcPct val="0"/>
        </a:spcAft>
        <a:buClr>
          <a:srgbClr val="CC0000"/>
        </a:buClr>
        <a:buFont typeface="Wingdings" pitchFamily="2" charset="2"/>
        <a:buChar char="u"/>
        <a:defRPr sz="20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lr>
          <a:schemeClr val="accent2"/>
        </a:buClr>
        <a:buFont typeface="Wingdings" pitchFamily="2" charset="2"/>
        <a:buChar char="l"/>
        <a:defRPr sz="2000">
          <a:solidFill>
            <a:schemeClr val="tx1"/>
          </a:solidFill>
          <a:latin typeface="+mn-lt"/>
          <a:ea typeface="+mn-ea"/>
        </a:defRPr>
      </a:lvl2pPr>
      <a:lvl3pPr marL="1143000" indent="-228600" algn="l" rtl="0" eaLnBrk="0" fontAlgn="base" hangingPunct="0">
        <a:spcBef>
          <a:spcPct val="20000"/>
        </a:spcBef>
        <a:spcAft>
          <a:spcPct val="0"/>
        </a:spcAft>
        <a:buClr>
          <a:srgbClr val="FF3300"/>
        </a:buClr>
        <a:buFont typeface="Wingdings" pitchFamily="2" charset="2"/>
        <a:buChar char="u"/>
        <a:defRPr>
          <a:solidFill>
            <a:schemeClr val="tx1"/>
          </a:solidFill>
          <a:latin typeface="+mn-lt"/>
          <a:ea typeface="+mn-ea"/>
        </a:defRPr>
      </a:lvl3pPr>
      <a:lvl4pPr marL="1600200" indent="-228600" algn="l" rtl="0" eaLnBrk="0" fontAlgn="base" hangingPunct="0">
        <a:spcBef>
          <a:spcPct val="20000"/>
        </a:spcBef>
        <a:spcAft>
          <a:spcPct val="0"/>
        </a:spcAft>
        <a:buClr>
          <a:srgbClr val="FF3300"/>
        </a:buClr>
        <a:buFont typeface="Wingdings" pitchFamily="2" charset="2"/>
        <a:buChar char="u"/>
        <a:defRPr>
          <a:solidFill>
            <a:schemeClr val="tx1"/>
          </a:solidFill>
          <a:latin typeface="+mn-lt"/>
          <a:ea typeface="+mn-ea"/>
        </a:defRPr>
      </a:lvl4pPr>
      <a:lvl5pPr marL="2057400" indent="-228600" algn="l" rtl="0" eaLnBrk="0" fontAlgn="base" hangingPunct="0">
        <a:spcBef>
          <a:spcPct val="20000"/>
        </a:spcBef>
        <a:spcAft>
          <a:spcPct val="0"/>
        </a:spcAft>
        <a:buClr>
          <a:srgbClr val="FF3300"/>
        </a:buClr>
        <a:buFont typeface="Wingdings" pitchFamily="2" charset="2"/>
        <a:buChar char="u"/>
        <a:defRPr>
          <a:solidFill>
            <a:schemeClr val="tx1"/>
          </a:solidFill>
          <a:latin typeface="+mn-lt"/>
          <a:ea typeface="+mn-ea"/>
        </a:defRPr>
      </a:lvl5pPr>
      <a:lvl6pPr marL="2514600" indent="-228600" algn="l" rtl="0" eaLnBrk="0" fontAlgn="base" hangingPunct="0">
        <a:spcBef>
          <a:spcPct val="20000"/>
        </a:spcBef>
        <a:spcAft>
          <a:spcPct val="0"/>
        </a:spcAft>
        <a:buClr>
          <a:srgbClr val="FF3300"/>
        </a:buClr>
        <a:buFont typeface="Wingdings" charset="0"/>
        <a:buChar char="u"/>
        <a:defRPr>
          <a:solidFill>
            <a:schemeClr val="tx1"/>
          </a:solidFill>
          <a:latin typeface="+mn-lt"/>
          <a:ea typeface="+mn-ea"/>
        </a:defRPr>
      </a:lvl6pPr>
      <a:lvl7pPr marL="2971800" indent="-228600" algn="l" rtl="0" eaLnBrk="0" fontAlgn="base" hangingPunct="0">
        <a:spcBef>
          <a:spcPct val="20000"/>
        </a:spcBef>
        <a:spcAft>
          <a:spcPct val="0"/>
        </a:spcAft>
        <a:buClr>
          <a:srgbClr val="FF3300"/>
        </a:buClr>
        <a:buFont typeface="Wingdings" charset="0"/>
        <a:buChar char="u"/>
        <a:defRPr>
          <a:solidFill>
            <a:schemeClr val="tx1"/>
          </a:solidFill>
          <a:latin typeface="+mn-lt"/>
          <a:ea typeface="+mn-ea"/>
        </a:defRPr>
      </a:lvl7pPr>
      <a:lvl8pPr marL="3429000" indent="-228600" algn="l" rtl="0" eaLnBrk="0" fontAlgn="base" hangingPunct="0">
        <a:spcBef>
          <a:spcPct val="20000"/>
        </a:spcBef>
        <a:spcAft>
          <a:spcPct val="0"/>
        </a:spcAft>
        <a:buClr>
          <a:srgbClr val="FF3300"/>
        </a:buClr>
        <a:buFont typeface="Wingdings" charset="0"/>
        <a:buChar char="u"/>
        <a:defRPr>
          <a:solidFill>
            <a:schemeClr val="tx1"/>
          </a:solidFill>
          <a:latin typeface="+mn-lt"/>
          <a:ea typeface="+mn-ea"/>
        </a:defRPr>
      </a:lvl8pPr>
      <a:lvl9pPr marL="3886200" indent="-228600" algn="l" rtl="0" eaLnBrk="0" fontAlgn="base" hangingPunct="0">
        <a:spcBef>
          <a:spcPct val="20000"/>
        </a:spcBef>
        <a:spcAft>
          <a:spcPct val="0"/>
        </a:spcAft>
        <a:buClr>
          <a:srgbClr val="FF3300"/>
        </a:buClr>
        <a:buFont typeface="Wingdings" charset="0"/>
        <a:buChar char="u"/>
        <a:defRPr>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C9D3ED6E-29C5-344B-AD25-059465987D18}"/>
              </a:ext>
            </a:extLst>
          </p:cNvPr>
          <p:cNvSpPr>
            <a:spLocks noGrp="1" noChangeArrowheads="1"/>
          </p:cNvSpPr>
          <p:nvPr>
            <p:ph type="subTitle" idx="1"/>
          </p:nvPr>
        </p:nvSpPr>
        <p:spPr>
          <a:xfrm>
            <a:off x="134754" y="2400701"/>
            <a:ext cx="11762071" cy="914400"/>
          </a:xfrm>
          <a:extLst>
            <a:ext uri="{909E8E84-426E-40dd-AFC4-6F175D3DCCD1}"/>
            <a:ext uri="{91240B29-F687-4f45-9708-019B960494DF}"/>
            <a:ext uri="{AF507438-7753-43e0-B8FC-AC1667EBCBE1}"/>
          </a:extLst>
        </p:spPr>
        <p:txBody>
          <a:bodyPr/>
          <a:lstStyle/>
          <a:p>
            <a:pPr>
              <a:defRPr/>
            </a:pPr>
            <a:r>
              <a:rPr lang="zh-CN" altLang="en-US" sz="4800" dirty="0"/>
              <a:t>第七讲  </a:t>
            </a:r>
            <a:r>
              <a:rPr lang="en-US" altLang="ja-JP" sz="4800" dirty="0"/>
              <a:t>Hilbert </a:t>
            </a:r>
            <a:r>
              <a:rPr lang="ja-JP" altLang="en-US" sz="4800" dirty="0"/>
              <a:t>空间</a:t>
            </a:r>
            <a:r>
              <a:rPr lang="zh-CN" altLang="en-US" sz="4800" dirty="0"/>
              <a:t>：</a:t>
            </a:r>
            <a:r>
              <a:rPr lang="ja-JP" altLang="en-US" sz="4800" dirty="0"/>
              <a:t>几何结构</a:t>
            </a:r>
            <a:endParaRPr lang="en-US" altLang="zh-CN" sz="4800" b="0" dirty="0">
              <a:solidFill>
                <a:srgbClr val="00B050"/>
              </a:solidFill>
              <a:latin typeface="ＭＳ ゴシック" panose="020B0609070205080204" pitchFamily="49" charset="-128"/>
              <a:ea typeface="ＭＳ ゴシック" panose="020B0609070205080204" pitchFamily="49" charset="-128"/>
              <a:cs typeface="+mn-cs"/>
            </a:endParaRPr>
          </a:p>
        </p:txBody>
      </p:sp>
      <p:sp>
        <p:nvSpPr>
          <p:cNvPr id="3" name="テキスト ボックス 2">
            <a:extLst>
              <a:ext uri="{FF2B5EF4-FFF2-40B4-BE49-F238E27FC236}">
                <a16:creationId xmlns:a16="http://schemas.microsoft.com/office/drawing/2014/main" id="{04557E3E-7542-E03D-E83D-95659A1FF452}"/>
              </a:ext>
            </a:extLst>
          </p:cNvPr>
          <p:cNvSpPr txBox="1"/>
          <p:nvPr/>
        </p:nvSpPr>
        <p:spPr>
          <a:xfrm>
            <a:off x="2058126" y="3959721"/>
            <a:ext cx="8075748" cy="553998"/>
          </a:xfrm>
          <a:prstGeom prst="rect">
            <a:avLst/>
          </a:prstGeom>
          <a:noFill/>
        </p:spPr>
        <p:txBody>
          <a:bodyPr wrap="square">
            <a:spAutoFit/>
          </a:bodyPr>
          <a:lstStyle/>
          <a:p>
            <a:r>
              <a:rPr lang="zh-CN" altLang="en-US" sz="3000" dirty="0">
                <a:latin typeface="+mj-ea"/>
                <a:ea typeface="+mj-ea"/>
              </a:rPr>
              <a:t>面向应用的泛函分析：空间、算子与结构</a:t>
            </a:r>
            <a:r>
              <a:rPr lang="en-US" altLang="ja-JP" sz="3000" dirty="0">
                <a:latin typeface="+mj-ea"/>
                <a:ea typeface="+mj-ea"/>
              </a:rPr>
              <a:t>(7)</a:t>
            </a:r>
            <a:endParaRPr lang="ja-JP" altLang="en-US" sz="3000" dirty="0">
              <a:latin typeface="+mj-ea"/>
              <a:ea typeface="+mj-ea"/>
            </a:endParaRPr>
          </a:p>
        </p:txBody>
      </p:sp>
      <p:sp>
        <p:nvSpPr>
          <p:cNvPr id="2" name="テキスト ボックス 1">
            <a:extLst>
              <a:ext uri="{FF2B5EF4-FFF2-40B4-BE49-F238E27FC236}">
                <a16:creationId xmlns:a16="http://schemas.microsoft.com/office/drawing/2014/main" id="{D9873AE4-8092-C0CF-6CC8-939EF51604B4}"/>
              </a:ext>
            </a:extLst>
          </p:cNvPr>
          <p:cNvSpPr txBox="1"/>
          <p:nvPr/>
        </p:nvSpPr>
        <p:spPr>
          <a:xfrm>
            <a:off x="4439920" y="5158339"/>
            <a:ext cx="3312160" cy="553998"/>
          </a:xfrm>
          <a:prstGeom prst="rect">
            <a:avLst/>
          </a:prstGeom>
          <a:noFill/>
        </p:spPr>
        <p:txBody>
          <a:bodyPr wrap="square">
            <a:spAutoFit/>
          </a:bodyPr>
          <a:lstStyle/>
          <a:p>
            <a:r>
              <a:rPr lang="zh-CN" altLang="en-US" sz="3000" dirty="0">
                <a:latin typeface="+mj-ea"/>
                <a:ea typeface="+mj-ea"/>
              </a:rPr>
              <a:t>讲师：贾伊阳</a:t>
            </a:r>
            <a:endParaRPr lang="ja-JP" altLang="en-US" sz="3000" dirty="0">
              <a:latin typeface="+mj-ea"/>
              <a:ea typeface="+mj-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A742A-F3B0-B5FC-F001-90792E353899}"/>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BEE0C5DE-B7CA-CE05-FCF0-107E1E9E8AD6}"/>
              </a:ext>
            </a:extLst>
          </p:cNvPr>
          <p:cNvSpPr>
            <a:spLocks noGrp="1" noChangeArrowheads="1"/>
          </p:cNvSpPr>
          <p:nvPr>
            <p:ph type="title"/>
          </p:nvPr>
        </p:nvSpPr>
        <p:spPr/>
        <p:txBody>
          <a:bodyPr/>
          <a:lstStyle/>
          <a:p>
            <a:r>
              <a:rPr lang="zh-CN" altLang="en-US" b="1" dirty="0">
                <a:latin typeface="+mj-ea"/>
              </a:rPr>
              <a:t>导入</a:t>
            </a:r>
            <a:r>
              <a:rPr lang="en-US" altLang="zh-CN" b="1" dirty="0">
                <a:latin typeface="+mj-ea"/>
              </a:rPr>
              <a:t>Hilbert</a:t>
            </a:r>
            <a:r>
              <a:rPr lang="zh-CN" altLang="en-US" b="1" dirty="0">
                <a:latin typeface="+mj-ea"/>
              </a:rPr>
              <a:t>空间的理由</a:t>
            </a:r>
            <a:endParaRPr lang="ja-JP" altLang="en-US" dirty="0">
              <a:latin typeface="+mj-ea"/>
            </a:endParaRPr>
          </a:p>
        </p:txBody>
      </p:sp>
      <p:sp>
        <p:nvSpPr>
          <p:cNvPr id="12" name="コンテンツ プレースホルダー 2">
            <a:extLst>
              <a:ext uri="{FF2B5EF4-FFF2-40B4-BE49-F238E27FC236}">
                <a16:creationId xmlns:a16="http://schemas.microsoft.com/office/drawing/2014/main" id="{023FAC7C-7CD3-DCD3-16E6-99C6C08863E1}"/>
              </a:ext>
            </a:extLst>
          </p:cNvPr>
          <p:cNvSpPr>
            <a:spLocks noGrp="1"/>
          </p:cNvSpPr>
          <p:nvPr>
            <p:ph idx="1"/>
          </p:nvPr>
        </p:nvSpPr>
        <p:spPr>
          <a:xfrm>
            <a:off x="619760" y="1112520"/>
            <a:ext cx="10962640" cy="5440680"/>
          </a:xfrm>
        </p:spPr>
        <p:txBody>
          <a:bodyPr/>
          <a:lstStyle/>
          <a:p>
            <a:pPr>
              <a:lnSpc>
                <a:spcPct val="110000"/>
              </a:lnSpc>
              <a:buFont typeface="Wingdings" panose="05000000000000000000" pitchFamily="2" charset="2"/>
              <a:buChar char="Ø"/>
            </a:pPr>
            <a:r>
              <a:rPr lang="en-US" altLang="zh-CN" dirty="0"/>
              <a:t>Banach </a:t>
            </a:r>
            <a:r>
              <a:rPr lang="zh-CN" altLang="en-US" dirty="0"/>
              <a:t>空间关心“距离与收敛”，</a:t>
            </a:r>
            <a:r>
              <a:rPr lang="en-US" altLang="zh-CN" dirty="0"/>
              <a:t>Hilbert </a:t>
            </a:r>
            <a:r>
              <a:rPr lang="zh-CN" altLang="en-US" dirty="0"/>
              <a:t>空间进一步关心“角度、正交性与投影”。</a:t>
            </a:r>
            <a:endParaRPr lang="en-US" altLang="zh-CN" dirty="0"/>
          </a:p>
          <a:p>
            <a:pPr>
              <a:lnSpc>
                <a:spcPct val="110000"/>
              </a:lnSpc>
              <a:buFont typeface="Wingdings" panose="05000000000000000000" pitchFamily="2" charset="2"/>
              <a:buChar char="Ø"/>
            </a:pPr>
            <a:r>
              <a:rPr lang="zh-CN" altLang="en-US" dirty="0"/>
              <a:t>机器学习中的很多方法并不是直接依赖坐标，而是依赖：</a:t>
            </a:r>
            <a:endParaRPr lang="en-US" altLang="zh-CN" dirty="0"/>
          </a:p>
          <a:p>
            <a:pPr marL="457200" lvl="1" indent="0">
              <a:lnSpc>
                <a:spcPct val="110000"/>
              </a:lnSpc>
              <a:buNone/>
            </a:pPr>
            <a:r>
              <a:rPr lang="en-US" altLang="zh-CN" dirty="0"/>
              <a:t>⟨</a:t>
            </a:r>
            <a:r>
              <a:rPr lang="en-US" altLang="zh-CN" dirty="0" err="1"/>
              <a:t>x,y</a:t>
            </a:r>
            <a:r>
              <a:rPr lang="en-US" altLang="zh-CN" dirty="0"/>
              <a:t>⟩, ∥x∥, projection, orthogonal decomposition</a:t>
            </a:r>
          </a:p>
          <a:p>
            <a:pPr>
              <a:lnSpc>
                <a:spcPct val="110000"/>
              </a:lnSpc>
              <a:buFont typeface="Wingdings" panose="05000000000000000000" pitchFamily="2" charset="2"/>
              <a:buChar char="Ø"/>
            </a:pPr>
            <a:r>
              <a:rPr lang="zh-CN" altLang="en-US" dirty="0"/>
              <a:t>这些结构正是 </a:t>
            </a:r>
            <a:r>
              <a:rPr lang="en-US" altLang="zh-CN" dirty="0"/>
              <a:t>Hilbert </a:t>
            </a:r>
            <a:r>
              <a:rPr lang="zh-CN" altLang="en-US" dirty="0"/>
              <a:t>空间的核心。</a:t>
            </a:r>
            <a:endParaRPr lang="en-US" altLang="zh-CN" dirty="0"/>
          </a:p>
          <a:p>
            <a:pPr marL="0" indent="0">
              <a:lnSpc>
                <a:spcPct val="110000"/>
              </a:lnSpc>
              <a:buNone/>
            </a:pPr>
            <a:endParaRPr lang="zh-CN" altLang="en-US" dirty="0"/>
          </a:p>
        </p:txBody>
      </p:sp>
      <p:pic>
        <p:nvPicPr>
          <p:cNvPr id="3" name="図 2">
            <a:extLst>
              <a:ext uri="{FF2B5EF4-FFF2-40B4-BE49-F238E27FC236}">
                <a16:creationId xmlns:a16="http://schemas.microsoft.com/office/drawing/2014/main" id="{9DABCD3D-B803-F621-3D5A-227298242018}"/>
              </a:ext>
            </a:extLst>
          </p:cNvPr>
          <p:cNvPicPr>
            <a:picLocks noChangeAspect="1"/>
          </p:cNvPicPr>
          <p:nvPr/>
        </p:nvPicPr>
        <p:blipFill>
          <a:blip r:embed="rId3"/>
          <a:stretch>
            <a:fillRect/>
          </a:stretch>
        </p:blipFill>
        <p:spPr>
          <a:xfrm>
            <a:off x="784087" y="2936043"/>
            <a:ext cx="10522226" cy="3281877"/>
          </a:xfrm>
          <a:prstGeom prst="rect">
            <a:avLst/>
          </a:prstGeom>
        </p:spPr>
      </p:pic>
    </p:spTree>
    <p:extLst>
      <p:ext uri="{BB962C8B-B14F-4D97-AF65-F5344CB8AC3E}">
        <p14:creationId xmlns:p14="http://schemas.microsoft.com/office/powerpoint/2010/main" val="3020483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5A8FD-1CDA-4A43-A839-C7EE3D9D738F}"/>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F417A100-E21C-2AC6-5687-EF545C227816}"/>
              </a:ext>
            </a:extLst>
          </p:cNvPr>
          <p:cNvSpPr>
            <a:spLocks noGrp="1" noChangeArrowheads="1"/>
          </p:cNvSpPr>
          <p:nvPr>
            <p:ph type="title"/>
          </p:nvPr>
        </p:nvSpPr>
        <p:spPr/>
        <p:txBody>
          <a:bodyPr/>
          <a:lstStyle/>
          <a:p>
            <a:r>
              <a:rPr lang="zh-CN" altLang="en-US" b="1" dirty="0">
                <a:latin typeface="+mj-ea"/>
              </a:rPr>
              <a:t>导入</a:t>
            </a:r>
            <a:r>
              <a:rPr lang="en-US" altLang="zh-CN" b="1" dirty="0">
                <a:latin typeface="+mj-ea"/>
              </a:rPr>
              <a:t>Hilbert</a:t>
            </a:r>
            <a:r>
              <a:rPr lang="zh-CN" altLang="en-US" b="1" dirty="0">
                <a:latin typeface="+mj-ea"/>
              </a:rPr>
              <a:t>空间的理由</a:t>
            </a:r>
            <a:endParaRPr lang="ja-JP" altLang="en-US" dirty="0">
              <a:latin typeface="+mj-ea"/>
            </a:endParaRPr>
          </a:p>
        </p:txBody>
      </p:sp>
      <p:sp>
        <p:nvSpPr>
          <p:cNvPr id="12" name="コンテンツ プレースホルダー 2">
            <a:extLst>
              <a:ext uri="{FF2B5EF4-FFF2-40B4-BE49-F238E27FC236}">
                <a16:creationId xmlns:a16="http://schemas.microsoft.com/office/drawing/2014/main" id="{FAEC267F-2D7C-C8DA-CCDD-4418256719E3}"/>
              </a:ext>
            </a:extLst>
          </p:cNvPr>
          <p:cNvSpPr>
            <a:spLocks noGrp="1"/>
          </p:cNvSpPr>
          <p:nvPr>
            <p:ph idx="1"/>
          </p:nvPr>
        </p:nvSpPr>
        <p:spPr>
          <a:xfrm>
            <a:off x="619760" y="1112520"/>
            <a:ext cx="10962640" cy="5440680"/>
          </a:xfrm>
        </p:spPr>
        <p:txBody>
          <a:bodyPr/>
          <a:lstStyle/>
          <a:p>
            <a:pPr>
              <a:lnSpc>
                <a:spcPct val="110000"/>
              </a:lnSpc>
              <a:buFont typeface="Wingdings" panose="05000000000000000000" pitchFamily="2" charset="2"/>
              <a:buChar char="Ø"/>
            </a:pPr>
            <a:r>
              <a:rPr lang="en-US" altLang="zh-CN" dirty="0"/>
              <a:t>Banach </a:t>
            </a:r>
            <a:r>
              <a:rPr lang="zh-CN" altLang="en-US" dirty="0"/>
              <a:t>空间关心“距离与收敛”，</a:t>
            </a:r>
            <a:r>
              <a:rPr lang="en-US" altLang="zh-CN" dirty="0"/>
              <a:t>Hilbert </a:t>
            </a:r>
            <a:r>
              <a:rPr lang="zh-CN" altLang="en-US" dirty="0"/>
              <a:t>空间进一步关心“角度、正交性与投影”。</a:t>
            </a:r>
            <a:endParaRPr lang="en-US" altLang="zh-CN" dirty="0"/>
          </a:p>
          <a:p>
            <a:pPr>
              <a:lnSpc>
                <a:spcPct val="110000"/>
              </a:lnSpc>
              <a:buFont typeface="Wingdings" panose="05000000000000000000" pitchFamily="2" charset="2"/>
              <a:buChar char="Ø"/>
            </a:pPr>
            <a:r>
              <a:rPr lang="zh-CN" altLang="en-US" dirty="0"/>
              <a:t>机器学习中的很多方法并不是直接依赖坐标，而是依赖：</a:t>
            </a:r>
            <a:endParaRPr lang="en-US" altLang="zh-CN" dirty="0"/>
          </a:p>
          <a:p>
            <a:pPr marL="457200" lvl="1" indent="0">
              <a:lnSpc>
                <a:spcPct val="110000"/>
              </a:lnSpc>
              <a:buNone/>
            </a:pPr>
            <a:r>
              <a:rPr lang="en-US" altLang="zh-CN" dirty="0"/>
              <a:t>⟨</a:t>
            </a:r>
            <a:r>
              <a:rPr lang="en-US" altLang="zh-CN" dirty="0" err="1"/>
              <a:t>x,y</a:t>
            </a:r>
            <a:r>
              <a:rPr lang="en-US" altLang="zh-CN" dirty="0"/>
              <a:t>⟩, ∥x∥, projection, orthogonal decomposition</a:t>
            </a:r>
          </a:p>
          <a:p>
            <a:pPr>
              <a:lnSpc>
                <a:spcPct val="110000"/>
              </a:lnSpc>
              <a:buFont typeface="Wingdings" panose="05000000000000000000" pitchFamily="2" charset="2"/>
              <a:buChar char="Ø"/>
            </a:pPr>
            <a:r>
              <a:rPr lang="zh-CN" altLang="en-US" dirty="0"/>
              <a:t>这些结构正是 </a:t>
            </a:r>
            <a:r>
              <a:rPr lang="en-US" altLang="zh-CN" dirty="0"/>
              <a:t>Hilbert </a:t>
            </a:r>
            <a:r>
              <a:rPr lang="zh-CN" altLang="en-US" dirty="0"/>
              <a:t>空间的核心。</a:t>
            </a:r>
            <a:endParaRPr lang="en-US" altLang="zh-CN" dirty="0"/>
          </a:p>
          <a:p>
            <a:pPr marL="0" indent="0">
              <a:lnSpc>
                <a:spcPct val="110000"/>
              </a:lnSpc>
              <a:buNone/>
            </a:pPr>
            <a:endParaRPr lang="zh-CN" altLang="en-US" dirty="0"/>
          </a:p>
        </p:txBody>
      </p:sp>
      <p:pic>
        <p:nvPicPr>
          <p:cNvPr id="4" name="図 3">
            <a:extLst>
              <a:ext uri="{FF2B5EF4-FFF2-40B4-BE49-F238E27FC236}">
                <a16:creationId xmlns:a16="http://schemas.microsoft.com/office/drawing/2014/main" id="{13A50D55-8E03-36BC-DDAD-24D0709B7378}"/>
              </a:ext>
            </a:extLst>
          </p:cNvPr>
          <p:cNvPicPr>
            <a:picLocks noChangeAspect="1"/>
          </p:cNvPicPr>
          <p:nvPr/>
        </p:nvPicPr>
        <p:blipFill>
          <a:blip r:embed="rId3"/>
          <a:stretch>
            <a:fillRect/>
          </a:stretch>
        </p:blipFill>
        <p:spPr>
          <a:xfrm>
            <a:off x="83375" y="2889636"/>
            <a:ext cx="11923650" cy="3663564"/>
          </a:xfrm>
          <a:prstGeom prst="rect">
            <a:avLst/>
          </a:prstGeom>
        </p:spPr>
      </p:pic>
      <p:pic>
        <p:nvPicPr>
          <p:cNvPr id="6" name="図 5">
            <a:extLst>
              <a:ext uri="{FF2B5EF4-FFF2-40B4-BE49-F238E27FC236}">
                <a16:creationId xmlns:a16="http://schemas.microsoft.com/office/drawing/2014/main" id="{B0491F93-4049-2A09-BD1E-CC5161FE7B22}"/>
              </a:ext>
            </a:extLst>
          </p:cNvPr>
          <p:cNvPicPr>
            <a:picLocks noChangeAspect="1"/>
          </p:cNvPicPr>
          <p:nvPr/>
        </p:nvPicPr>
        <p:blipFill>
          <a:blip r:embed="rId4"/>
          <a:stretch>
            <a:fillRect/>
          </a:stretch>
        </p:blipFill>
        <p:spPr>
          <a:xfrm>
            <a:off x="411366" y="6477788"/>
            <a:ext cx="11499025" cy="354908"/>
          </a:xfrm>
          <a:prstGeom prst="rect">
            <a:avLst/>
          </a:prstGeom>
        </p:spPr>
      </p:pic>
    </p:spTree>
    <p:extLst>
      <p:ext uri="{BB962C8B-B14F-4D97-AF65-F5344CB8AC3E}">
        <p14:creationId xmlns:p14="http://schemas.microsoft.com/office/powerpoint/2010/main" val="133592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F51D7-4E21-994E-F4C9-0533EF213DE1}"/>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FC47F940-33FF-80DD-F9AD-281492DADD4E}"/>
              </a:ext>
            </a:extLst>
          </p:cNvPr>
          <p:cNvSpPr>
            <a:spLocks noGrp="1" noChangeArrowheads="1"/>
          </p:cNvSpPr>
          <p:nvPr>
            <p:ph type="title"/>
          </p:nvPr>
        </p:nvSpPr>
        <p:spPr/>
        <p:txBody>
          <a:bodyPr/>
          <a:lstStyle/>
          <a:p>
            <a:r>
              <a:rPr lang="zh-CN" altLang="en-US" b="1" dirty="0">
                <a:latin typeface="+mj-ea"/>
              </a:rPr>
              <a:t>导入</a:t>
            </a:r>
            <a:r>
              <a:rPr lang="en-US" altLang="zh-CN" b="1" dirty="0">
                <a:latin typeface="+mj-ea"/>
              </a:rPr>
              <a:t>Hilbert</a:t>
            </a:r>
            <a:r>
              <a:rPr lang="zh-CN" altLang="en-US" b="1" dirty="0">
                <a:latin typeface="+mj-ea"/>
              </a:rPr>
              <a:t>空间的理由</a:t>
            </a:r>
            <a:endParaRPr lang="ja-JP" altLang="en-US"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4E690E31-CF0A-25C3-15A7-9F3424515164}"/>
                  </a:ext>
                </a:extLst>
              </p:cNvPr>
              <p:cNvSpPr>
                <a:spLocks noGrp="1"/>
              </p:cNvSpPr>
              <p:nvPr>
                <p:ph idx="1"/>
              </p:nvPr>
            </p:nvSpPr>
            <p:spPr>
              <a:xfrm>
                <a:off x="327991" y="1112520"/>
                <a:ext cx="11864009" cy="5440680"/>
              </a:xfrm>
            </p:spPr>
            <p:txBody>
              <a:bodyPr/>
              <a:lstStyle/>
              <a:p>
                <a:pPr marL="0" indent="0">
                  <a:buNone/>
                </a:pPr>
                <a:r>
                  <a:rPr lang="zh-CN" altLang="en-US" dirty="0"/>
                  <a:t>从熟悉的有限维向量空间开始。最典型的例子是：</a:t>
                </a:r>
                <a14:m>
                  <m:oMath xmlns:m="http://schemas.openxmlformats.org/officeDocument/2006/math">
                    <m:sSup>
                      <m:sSupPr>
                        <m:ctrlPr>
                          <a:rPr lang="zh-CN" altLang="en-US" i="1">
                            <a:latin typeface="Cambria Math" panose="02040503050406030204" pitchFamily="18" charset="0"/>
                          </a:rPr>
                        </m:ctrlPr>
                      </m:sSupPr>
                      <m:e>
                        <m:r>
                          <a:rPr lang="en-US" altLang="zh-CN">
                            <a:latin typeface="Cambria Math" panose="02040503050406030204" pitchFamily="18" charset="0"/>
                          </a:rPr>
                          <m:t>ℝ</m:t>
                        </m:r>
                      </m:e>
                      <m:sup>
                        <m:r>
                          <a:rPr lang="zh-CN" altLang="en-US" i="1">
                            <a:latin typeface="Cambria Math" panose="02040503050406030204" pitchFamily="18" charset="0"/>
                          </a:rPr>
                          <m:t>𝑛</m:t>
                        </m:r>
                      </m:sup>
                    </m:sSup>
                  </m:oMath>
                </a14:m>
                <a:endParaRPr lang="zh-CN" altLang="en-US" dirty="0"/>
              </a:p>
              <a:p>
                <a:endParaRPr lang="en-US" altLang="zh-CN" dirty="0"/>
              </a:p>
              <a:p>
                <a:r>
                  <a:rPr lang="zh-CN" altLang="en-US" dirty="0"/>
                  <a:t>在 </a:t>
                </a:r>
                <a14:m>
                  <m:oMath xmlns:m="http://schemas.openxmlformats.org/officeDocument/2006/math">
                    <m:sSup>
                      <m:sSupPr>
                        <m:ctrlPr>
                          <a:rPr lang="zh-CN" altLang="en-US" i="1">
                            <a:latin typeface="Cambria Math" panose="02040503050406030204" pitchFamily="18" charset="0"/>
                          </a:rPr>
                        </m:ctrlPr>
                      </m:sSupPr>
                      <m:e>
                        <m:r>
                          <a:rPr lang="en-US" altLang="zh-CN">
                            <a:latin typeface="Cambria Math" panose="02040503050406030204" pitchFamily="18" charset="0"/>
                          </a:rPr>
                          <m:t>ℝ</m:t>
                        </m:r>
                      </m:e>
                      <m:sup>
                        <m:r>
                          <a:rPr lang="zh-CN" altLang="en-US" i="1">
                            <a:latin typeface="Cambria Math" panose="02040503050406030204" pitchFamily="18" charset="0"/>
                          </a:rPr>
                          <m:t>𝑛</m:t>
                        </m:r>
                      </m:sup>
                    </m:sSup>
                  </m:oMath>
                </a14:m>
                <a:r>
                  <a:rPr lang="zh-CN" altLang="en-US" dirty="0"/>
                  <a:t>中，两个向量</a:t>
                </a:r>
                <a14:m>
                  <m:oMath xmlns:m="http://schemas.openxmlformats.org/officeDocument/2006/math">
                    <m:r>
                      <a:rPr lang="zh-CN" altLang="en-US" i="1">
                        <a:latin typeface="Cambria Math" panose="02040503050406030204" pitchFamily="18" charset="0"/>
                      </a:rPr>
                      <m:t>𝑥</m:t>
                    </m:r>
                    <m:r>
                      <a:rPr lang="en-US" altLang="zh-CN">
                        <a:latin typeface="Cambria Math" panose="02040503050406030204" pitchFamily="18" charset="0"/>
                      </a:rPr>
                      <m:t>=</m:t>
                    </m:r>
                    <m:d>
                      <m:dPr>
                        <m:sep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en-US" altLang="zh-CN">
                                <a:latin typeface="Cambria Math" panose="02040503050406030204" pitchFamily="18" charset="0"/>
                              </a:rPr>
                              <m:t>1</m:t>
                            </m:r>
                          </m:sub>
                        </m:sSub>
                      </m:e>
                      <m:e>
                        <m:r>
                          <a:rPr lang="en-US" altLang="zh-CN">
                            <a:latin typeface="Cambria Math" panose="02040503050406030204" pitchFamily="18" charset="0"/>
                          </a:rPr>
                          <m:t>…</m:t>
                        </m:r>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𝑛</m:t>
                            </m:r>
                          </m:sub>
                        </m:sSub>
                      </m:e>
                    </m:d>
                    <m:r>
                      <a:rPr lang="en-US" altLang="zh-CN">
                        <a:latin typeface="Cambria Math" panose="02040503050406030204" pitchFamily="18" charset="0"/>
                      </a:rPr>
                      <m:t>, </m:t>
                    </m:r>
                    <m:r>
                      <a:rPr lang="zh-CN" altLang="en-US" i="1">
                        <a:latin typeface="Cambria Math" panose="02040503050406030204" pitchFamily="18" charset="0"/>
                      </a:rPr>
                      <m:t>𝑦</m:t>
                    </m:r>
                    <m:r>
                      <a:rPr lang="en-US" altLang="zh-CN">
                        <a:latin typeface="Cambria Math" panose="02040503050406030204" pitchFamily="18" charset="0"/>
                      </a:rPr>
                      <m:t>=</m:t>
                    </m:r>
                    <m:d>
                      <m:dPr>
                        <m:sep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en-US" altLang="zh-CN">
                                <a:latin typeface="Cambria Math" panose="02040503050406030204" pitchFamily="18" charset="0"/>
                              </a:rPr>
                              <m:t>1</m:t>
                            </m:r>
                          </m:sub>
                        </m:sSub>
                      </m:e>
                      <m:e>
                        <m:r>
                          <a:rPr lang="en-US" altLang="zh-CN">
                            <a:latin typeface="Cambria Math" panose="02040503050406030204" pitchFamily="18" charset="0"/>
                          </a:rPr>
                          <m:t>…</m:t>
                        </m:r>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𝑛</m:t>
                            </m:r>
                          </m:sub>
                        </m:sSub>
                      </m:e>
                    </m:d>
                  </m:oMath>
                </a14:m>
                <a:r>
                  <a:rPr lang="zh-CN" altLang="en-US" dirty="0"/>
                  <a:t>的内积定义为</a:t>
                </a:r>
                <a14:m>
                  <m:oMath xmlns:m="http://schemas.openxmlformats.org/officeDocument/2006/math">
                    <m:d>
                      <m:dPr>
                        <m:begChr m:val="⟨"/>
                        <m:endChr m:val="⟩"/>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𝑦</m:t>
                        </m:r>
                      </m:e>
                    </m:d>
                    <m:r>
                      <a:rPr lang="en-US" altLang="zh-CN">
                        <a:latin typeface="Cambria Math" panose="02040503050406030204" pitchFamily="18" charset="0"/>
                      </a:rPr>
                      <m:t>=</m:t>
                    </m:r>
                    <m:nary>
                      <m:naryPr>
                        <m:chr m:val="∑"/>
                        <m:grow m:val="on"/>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en-US" altLang="zh-CN">
                            <a:latin typeface="Cambria Math" panose="02040503050406030204" pitchFamily="18" charset="0"/>
                          </a:rPr>
                          <m:t>=1</m:t>
                        </m:r>
                      </m:sub>
                      <m:sup>
                        <m:r>
                          <a:rPr lang="zh-CN" altLang="en-US" i="1">
                            <a:latin typeface="Cambria Math" panose="02040503050406030204" pitchFamily="18" charset="0"/>
                          </a:rPr>
                          <m:t>𝑛</m:t>
                        </m:r>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e>
                    </m:nary>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𝑖</m:t>
                        </m:r>
                      </m:sub>
                    </m:sSub>
                    <m:r>
                      <a:rPr lang="en-US" altLang="zh-CN">
                        <a:latin typeface="Cambria Math" panose="02040503050406030204" pitchFamily="18" charset="0"/>
                      </a:rPr>
                      <m:t>.</m:t>
                    </m:r>
                  </m:oMath>
                </a14:m>
                <a:endParaRPr lang="zh-CN" altLang="en-US" dirty="0"/>
              </a:p>
              <a:p>
                <a:pPr marL="457200" lvl="1" indent="0">
                  <a:buNone/>
                </a:pPr>
                <a:r>
                  <a:rPr lang="zh-CN" altLang="en-US" dirty="0"/>
                  <a:t>这个内积可以理解为“两个向量相似程度”的度量。若 </a:t>
                </a:r>
                <a14:m>
                  <m:oMath xmlns:m="http://schemas.openxmlformats.org/officeDocument/2006/math">
                    <m:d>
                      <m:dPr>
                        <m:begChr m:val="⟨"/>
                        <m:endChr m:val="⟩"/>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𝑦</m:t>
                        </m:r>
                      </m:e>
                    </m:d>
                  </m:oMath>
                </a14:m>
                <a:r>
                  <a:rPr lang="zh-CN" altLang="en-US" dirty="0"/>
                  <a:t>很大，说明两个向量方向比较接近；若 </a:t>
                </a:r>
                <a14:m>
                  <m:oMath xmlns:m="http://schemas.openxmlformats.org/officeDocument/2006/math">
                    <m:d>
                      <m:dPr>
                        <m:begChr m:val="⟨"/>
                        <m:endChr m:val="⟩"/>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𝑦</m:t>
                        </m:r>
                      </m:e>
                    </m:d>
                    <m:r>
                      <a:rPr lang="en-US" altLang="zh-CN">
                        <a:latin typeface="Cambria Math" panose="02040503050406030204" pitchFamily="18" charset="0"/>
                      </a:rPr>
                      <m:t>=0</m:t>
                    </m:r>
                  </m:oMath>
                </a14:m>
                <a:r>
                  <a:rPr lang="zh-CN" altLang="en-US" dirty="0"/>
                  <a:t>，说明两个向量正交。在机器学习中，向量之间的相似度、投影、距离、最小二乘法、线性回归、</a:t>
                </a:r>
                <a:r>
                  <a:rPr lang="en-US" altLang="zh-CN" dirty="0"/>
                  <a:t>SVM </a:t>
                </a:r>
                <a:r>
                  <a:rPr lang="zh-CN" altLang="en-US" dirty="0"/>
                  <a:t>等都大量依赖这种内积结构。</a:t>
                </a:r>
              </a:p>
              <a:p>
                <a:r>
                  <a:rPr lang="zh-CN" altLang="en-US" dirty="0"/>
                  <a:t>由内积还可以定义长度：</a:t>
                </a:r>
                <a14:m>
                  <m:oMath xmlns:m="http://schemas.openxmlformats.org/officeDocument/2006/math">
                    <m:r>
                      <a:rPr lang="zh-CN" altLang="en-US">
                        <a:latin typeface="Cambria Math" panose="02040503050406030204" pitchFamily="18" charset="0"/>
                      </a:rPr>
                      <m:t>∥</m:t>
                    </m:r>
                    <m:r>
                      <a:rPr lang="zh-CN" altLang="en-US" i="1">
                        <a:latin typeface="Cambria Math" panose="02040503050406030204" pitchFamily="18" charset="0"/>
                      </a:rPr>
                      <m:t>𝑥</m:t>
                    </m:r>
                    <m:r>
                      <a:rPr lang="zh-CN" altLang="en-US">
                        <a:latin typeface="Cambria Math" panose="02040503050406030204" pitchFamily="18" charset="0"/>
                      </a:rPr>
                      <m:t>∥</m:t>
                    </m:r>
                    <m:r>
                      <a:rPr lang="en-US" altLang="zh-CN">
                        <a:latin typeface="Cambria Math" panose="02040503050406030204" pitchFamily="18" charset="0"/>
                      </a:rPr>
                      <m:t>=</m:t>
                    </m:r>
                    <m:rad>
                      <m:radPr>
                        <m:degHide m:val="on"/>
                        <m:ctrlPr>
                          <a:rPr lang="zh-CN" altLang="en-US" i="1">
                            <a:latin typeface="Cambria Math" panose="02040503050406030204" pitchFamily="18" charset="0"/>
                          </a:rPr>
                        </m:ctrlPr>
                      </m:radPr>
                      <m:deg/>
                      <m:e>
                        <m:d>
                          <m:dPr>
                            <m:begChr m:val="⟨"/>
                            <m:endChr m:val="⟩"/>
                            <m:sepChr m:val=","/>
                            <m:ctrlPr>
                              <a:rPr lang="zh-CN" altLang="en-US" i="1">
                                <a:latin typeface="Cambria Math" panose="02040503050406030204" pitchFamily="18" charset="0"/>
                              </a:rPr>
                            </m:ctrlPr>
                          </m:dPr>
                          <m:e>
                            <m:r>
                              <a:rPr lang="zh-CN" altLang="en-US" i="1">
                                <a:latin typeface="Cambria Math" panose="02040503050406030204" pitchFamily="18" charset="0"/>
                              </a:rPr>
                              <m:t>𝑥</m:t>
                            </m:r>
                          </m:e>
                          <m:e>
                            <m:r>
                              <a:rPr lang="zh-CN" altLang="en-US" i="1">
                                <a:latin typeface="Cambria Math" panose="02040503050406030204" pitchFamily="18" charset="0"/>
                              </a:rPr>
                              <m:t>𝑥</m:t>
                            </m:r>
                          </m:e>
                        </m:d>
                      </m:e>
                    </m:rad>
                    <m:r>
                      <a:rPr lang="en-US" altLang="zh-CN">
                        <a:latin typeface="Cambria Math" panose="02040503050406030204" pitchFamily="18" charset="0"/>
                      </a:rPr>
                      <m:t>=</m:t>
                    </m:r>
                    <m:rad>
                      <m:radPr>
                        <m:degHide m:val="on"/>
                        <m:ctrlPr>
                          <a:rPr lang="zh-CN" altLang="en-US" i="1">
                            <a:latin typeface="Cambria Math" panose="02040503050406030204" pitchFamily="18" charset="0"/>
                          </a:rPr>
                        </m:ctrlPr>
                      </m:radPr>
                      <m:deg/>
                      <m:e>
                        <m:nary>
                          <m:naryPr>
                            <m:chr m:val="∑"/>
                            <m:grow m:val="on"/>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en-US" altLang="zh-CN">
                                <a:latin typeface="Cambria Math" panose="02040503050406030204" pitchFamily="18" charset="0"/>
                              </a:rPr>
                              <m:t>=1</m:t>
                            </m:r>
                          </m:sub>
                          <m:sup>
                            <m:r>
                              <a:rPr lang="zh-CN" altLang="en-US" i="1">
                                <a:latin typeface="Cambria Math" panose="02040503050406030204" pitchFamily="18" charset="0"/>
                              </a:rPr>
                              <m:t>𝑛</m:t>
                            </m:r>
                          </m:sup>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𝑥</m:t>
                                </m:r>
                              </m:e>
                              <m:sub>
                                <m:r>
                                  <a:rPr lang="zh-CN" altLang="en-US" i="1">
                                    <a:latin typeface="Cambria Math" panose="02040503050406030204" pitchFamily="18" charset="0"/>
                                  </a:rPr>
                                  <m:t>𝑖</m:t>
                                </m:r>
                              </m:sub>
                              <m:sup>
                                <m:r>
                                  <a:rPr lang="en-US" altLang="zh-CN">
                                    <a:latin typeface="Cambria Math" panose="02040503050406030204" pitchFamily="18" charset="0"/>
                                  </a:rPr>
                                  <m:t>2</m:t>
                                </m:r>
                              </m:sup>
                            </m:sSubSup>
                          </m:e>
                        </m:nary>
                      </m:e>
                    </m:rad>
                    <m:r>
                      <a:rPr lang="en-US" altLang="zh-CN">
                        <a:latin typeface="Cambria Math" panose="02040503050406030204" pitchFamily="18" charset="0"/>
                      </a:rPr>
                      <m:t>.</m:t>
                    </m:r>
                  </m:oMath>
                </a14:m>
                <a:endParaRPr lang="zh-CN" altLang="en-US" dirty="0"/>
              </a:p>
              <a:p>
                <a:pPr marL="400050" lvl="1" indent="0">
                  <a:buNone/>
                </a:pPr>
                <a:r>
                  <a:rPr lang="zh-CN" altLang="en-US" dirty="0"/>
                  <a:t>内积空间不仅能讨论“向量是什么”，还可以讨论“向量之间的距离、角度、正交性和投影”。</a:t>
                </a:r>
                <a:br>
                  <a:rPr lang="zh-CN" altLang="en-US" dirty="0"/>
                </a:br>
                <a:endParaRPr lang="zh-CN" altLang="en-US" dirty="0"/>
              </a:p>
              <a:p>
                <a:pPr marL="0" indent="0">
                  <a:lnSpc>
                    <a:spcPct val="110000"/>
                  </a:lnSpc>
                  <a:buNone/>
                </a:pPr>
                <a:endParaRPr lang="zh-CN" altLang="en-US" dirty="0"/>
              </a:p>
            </p:txBody>
          </p:sp>
        </mc:Choice>
        <mc:Fallback>
          <p:sp>
            <p:nvSpPr>
              <p:cNvPr id="12" name="コンテンツ プレースホルダー 2">
                <a:extLst>
                  <a:ext uri="{FF2B5EF4-FFF2-40B4-BE49-F238E27FC236}">
                    <a16:creationId xmlns:a16="http://schemas.microsoft.com/office/drawing/2014/main" id="{4E690E31-CF0A-25C3-15A7-9F3424515164}"/>
                  </a:ext>
                </a:extLst>
              </p:cNvPr>
              <p:cNvSpPr>
                <a:spLocks noGrp="1" noRot="1" noChangeAspect="1" noMove="1" noResize="1" noEditPoints="1" noAdjustHandles="1" noChangeArrowheads="1" noChangeShapeType="1" noTextEdit="1"/>
              </p:cNvSpPr>
              <p:nvPr>
                <p:ph idx="1"/>
              </p:nvPr>
            </p:nvSpPr>
            <p:spPr>
              <a:xfrm>
                <a:off x="327991" y="1112520"/>
                <a:ext cx="11864009" cy="5440680"/>
              </a:xfrm>
              <a:blipFill>
                <a:blip r:embed="rId3"/>
                <a:stretch>
                  <a:fillRect l="-565" t="-1009" r="-36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305602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FCEBC-8C1F-745A-2604-B9171B361C82}"/>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2EA08B40-6B92-F090-641E-E435D3E77BA6}"/>
              </a:ext>
            </a:extLst>
          </p:cNvPr>
          <p:cNvSpPr>
            <a:spLocks noGrp="1" noChangeArrowheads="1"/>
          </p:cNvSpPr>
          <p:nvPr>
            <p:ph type="title"/>
          </p:nvPr>
        </p:nvSpPr>
        <p:spPr/>
        <p:txBody>
          <a:bodyPr/>
          <a:lstStyle/>
          <a:p>
            <a:r>
              <a:rPr lang="zh-CN" altLang="en-US" b="1" dirty="0">
                <a:latin typeface="+mj-ea"/>
              </a:rPr>
              <a:t>导入</a:t>
            </a:r>
            <a:r>
              <a:rPr lang="en-US" altLang="zh-CN" b="1" dirty="0">
                <a:latin typeface="+mj-ea"/>
              </a:rPr>
              <a:t>Hilbert</a:t>
            </a:r>
            <a:r>
              <a:rPr lang="zh-CN" altLang="en-US" b="1" dirty="0">
                <a:latin typeface="+mj-ea"/>
              </a:rPr>
              <a:t>空间的理由</a:t>
            </a:r>
            <a:endParaRPr lang="ja-JP" altLang="en-US"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0BD099D4-0A21-82D2-ED16-09E6236E95CD}"/>
                  </a:ext>
                </a:extLst>
              </p:cNvPr>
              <p:cNvSpPr>
                <a:spLocks noGrp="1"/>
              </p:cNvSpPr>
              <p:nvPr>
                <p:ph idx="1"/>
              </p:nvPr>
            </p:nvSpPr>
            <p:spPr>
              <a:xfrm>
                <a:off x="619760" y="1112520"/>
                <a:ext cx="11257280" cy="5440680"/>
              </a:xfrm>
            </p:spPr>
            <p:txBody>
              <a:bodyPr/>
              <a:lstStyle/>
              <a:p>
                <a:pPr marL="0" indent="0">
                  <a:lnSpc>
                    <a:spcPct val="120000"/>
                  </a:lnSpc>
                  <a:buNone/>
                </a:pPr>
                <a:r>
                  <a:rPr lang="zh-CN" altLang="en-US" dirty="0"/>
                  <a:t>把有限维向量推广到函数。函数也可以看成一种“向量”，只不过它不是由有限多个坐标组成，而是由连续变量上的无穷多个取值组成。</a:t>
                </a:r>
                <a:endParaRPr lang="en-US" altLang="zh-CN" dirty="0"/>
              </a:p>
              <a:p>
                <a:pPr marL="0" indent="0">
                  <a:lnSpc>
                    <a:spcPct val="120000"/>
                  </a:lnSpc>
                  <a:buNone/>
                </a:pPr>
                <a:r>
                  <a:rPr lang="zh-CN" altLang="en-US" dirty="0"/>
                  <a:t>例如，在区间 </a:t>
                </a:r>
                <a14:m>
                  <m:oMath xmlns:m="http://schemas.openxmlformats.org/officeDocument/2006/math">
                    <m:d>
                      <m:dPr>
                        <m:begChr m:val="["/>
                        <m:endChr m:val="]"/>
                        <m:sepChr m:val=","/>
                        <m:ctrlPr>
                          <a:rPr lang="zh-CN" altLang="en-US" i="1">
                            <a:latin typeface="Cambria Math" panose="02040503050406030204" pitchFamily="18" charset="0"/>
                          </a:rPr>
                        </m:ctrlPr>
                      </m:dPr>
                      <m:e>
                        <m:r>
                          <a:rPr lang="zh-CN" altLang="en-US" i="1">
                            <a:latin typeface="Cambria Math" panose="02040503050406030204" pitchFamily="18" charset="0"/>
                          </a:rPr>
                          <m:t>𝑎</m:t>
                        </m:r>
                      </m:e>
                      <m:e>
                        <m:r>
                          <a:rPr lang="zh-CN" altLang="en-US" i="1">
                            <a:latin typeface="Cambria Math" panose="02040503050406030204" pitchFamily="18" charset="0"/>
                          </a:rPr>
                          <m:t>𝑏</m:t>
                        </m:r>
                      </m:e>
                    </m:d>
                  </m:oMath>
                </a14:m>
                <a:r>
                  <a:rPr lang="zh-CN" altLang="en-US" dirty="0"/>
                  <a:t>上考虑平方可积函数空间：</a:t>
                </a: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𝐿</m:t>
                        </m:r>
                      </m:e>
                      <m:sup>
                        <m:r>
                          <a:rPr lang="en-US" altLang="zh-CN">
                            <a:latin typeface="Cambria Math" panose="02040503050406030204" pitchFamily="18" charset="0"/>
                          </a:rPr>
                          <m:t>2</m:t>
                        </m:r>
                      </m:sup>
                    </m:sSup>
                    <m:d>
                      <m:dPr>
                        <m:begChr m:val="["/>
                        <m:endChr m:val="]"/>
                        <m:sepChr m:val=","/>
                        <m:ctrlPr>
                          <a:rPr lang="zh-CN" altLang="en-US" i="1">
                            <a:latin typeface="Cambria Math" panose="02040503050406030204" pitchFamily="18" charset="0"/>
                          </a:rPr>
                        </m:ctrlPr>
                      </m:dPr>
                      <m:e>
                        <m:r>
                          <a:rPr lang="zh-CN" altLang="en-US" i="1">
                            <a:latin typeface="Cambria Math" panose="02040503050406030204" pitchFamily="18" charset="0"/>
                          </a:rPr>
                          <m:t>𝑎</m:t>
                        </m:r>
                      </m:e>
                      <m:e>
                        <m:r>
                          <a:rPr lang="zh-CN" altLang="en-US" i="1">
                            <a:latin typeface="Cambria Math" panose="02040503050406030204" pitchFamily="18" charset="0"/>
                          </a:rPr>
                          <m:t>𝑏</m:t>
                        </m:r>
                      </m:e>
                    </m:d>
                    <m:r>
                      <a:rPr lang="zh-CN" altLang="en-US" i="1">
                        <a:latin typeface="Cambria Math" panose="02040503050406030204" pitchFamily="18" charset="0"/>
                      </a:rPr>
                      <m:t>。</m:t>
                    </m:r>
                  </m:oMath>
                </a14:m>
                <a:r>
                  <a:rPr lang="zh-CN" altLang="en-US" dirty="0"/>
                  <a:t>这里的元素不是普通向量 </a:t>
                </a:r>
                <a14:m>
                  <m:oMath xmlns:m="http://schemas.openxmlformats.org/officeDocument/2006/math">
                    <m:r>
                      <a:rPr lang="zh-CN" altLang="en-US" i="1">
                        <a:latin typeface="Cambria Math" panose="02040503050406030204" pitchFamily="18" charset="0"/>
                      </a:rPr>
                      <m:t>𝑥</m:t>
                    </m:r>
                    <m:r>
                      <a:rPr lang="en-US" altLang="zh-CN">
                        <a:latin typeface="Cambria Math" panose="02040503050406030204" pitchFamily="18" charset="0"/>
                      </a:rPr>
                      <m:t>=</m:t>
                    </m:r>
                    <m:d>
                      <m:dPr>
                        <m:sep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en-US" altLang="zh-CN">
                                <a:latin typeface="Cambria Math" panose="02040503050406030204" pitchFamily="18" charset="0"/>
                              </a:rPr>
                              <m:t>1</m:t>
                            </m:r>
                          </m:sub>
                        </m:sSub>
                      </m:e>
                      <m:e>
                        <m:r>
                          <a:rPr lang="en-US" altLang="zh-CN">
                            <a:latin typeface="Cambria Math" panose="02040503050406030204" pitchFamily="18" charset="0"/>
                          </a:rPr>
                          <m:t>…</m:t>
                        </m:r>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𝑛</m:t>
                            </m:r>
                          </m:sub>
                        </m:sSub>
                      </m:e>
                    </m:d>
                  </m:oMath>
                </a14:m>
                <a:r>
                  <a:rPr lang="zh-CN" altLang="en-US" dirty="0"/>
                  <a:t>，而是函数 </a:t>
                </a:r>
                <a14:m>
                  <m:oMath xmlns:m="http://schemas.openxmlformats.org/officeDocument/2006/math">
                    <m:r>
                      <a:rPr lang="zh-CN" altLang="en-US" i="1">
                        <a:latin typeface="Cambria Math" panose="02040503050406030204" pitchFamily="18" charset="0"/>
                      </a:rPr>
                      <m:t>𝑓</m:t>
                    </m:r>
                    <m:d>
                      <m:dPr>
                        <m:ctrlPr>
                          <a:rPr lang="zh-CN" altLang="en-US" i="1">
                            <a:latin typeface="Cambria Math" panose="02040503050406030204" pitchFamily="18" charset="0"/>
                          </a:rPr>
                        </m:ctrlPr>
                      </m:dPr>
                      <m:e>
                        <m:r>
                          <a:rPr lang="zh-CN" altLang="en-US" i="1">
                            <a:latin typeface="Cambria Math" panose="02040503050406030204" pitchFamily="18" charset="0"/>
                          </a:rPr>
                          <m:t>𝑡</m:t>
                        </m:r>
                      </m:e>
                    </m:d>
                  </m:oMath>
                </a14:m>
                <a:r>
                  <a:rPr lang="zh-CN" altLang="en-US" dirty="0"/>
                  <a:t>。在这个空间中，</a:t>
                </a:r>
                <a:r>
                  <a:rPr lang="zh-CN" altLang="en-US" dirty="0">
                    <a:solidFill>
                      <a:srgbClr val="C00000"/>
                    </a:solidFill>
                  </a:rPr>
                  <a:t>两个函数 </a:t>
                </a:r>
                <a14:m>
                  <m:oMath xmlns:m="http://schemas.openxmlformats.org/officeDocument/2006/math">
                    <m:r>
                      <a:rPr lang="zh-CN" altLang="en-US" i="1">
                        <a:solidFill>
                          <a:srgbClr val="C00000"/>
                        </a:solidFill>
                        <a:latin typeface="Cambria Math" panose="02040503050406030204" pitchFamily="18" charset="0"/>
                      </a:rPr>
                      <m:t>𝑓</m:t>
                    </m:r>
                    <m:r>
                      <a:rPr lang="en-US" altLang="zh-CN">
                        <a:solidFill>
                          <a:srgbClr val="C00000"/>
                        </a:solidFill>
                        <a:latin typeface="Cambria Math" panose="02040503050406030204" pitchFamily="18" charset="0"/>
                      </a:rPr>
                      <m:t>,</m:t>
                    </m:r>
                    <m:r>
                      <a:rPr lang="zh-CN" altLang="en-US" i="1">
                        <a:solidFill>
                          <a:srgbClr val="C00000"/>
                        </a:solidFill>
                        <a:latin typeface="Cambria Math" panose="02040503050406030204" pitchFamily="18" charset="0"/>
                      </a:rPr>
                      <m:t>𝑔</m:t>
                    </m:r>
                  </m:oMath>
                </a14:m>
                <a:r>
                  <a:rPr lang="zh-CN" altLang="en-US" dirty="0">
                    <a:solidFill>
                      <a:srgbClr val="C00000"/>
                    </a:solidFill>
                  </a:rPr>
                  <a:t>的内积定义为：</a:t>
                </a:r>
                <a14:m>
                  <m:oMath xmlns:m="http://schemas.openxmlformats.org/officeDocument/2006/math">
                    <m:d>
                      <m:dPr>
                        <m:begChr m:val="⟨"/>
                        <m:endChr m:val="⟩"/>
                        <m:sepChr m:val=","/>
                        <m:ctrlPr>
                          <a:rPr lang="zh-CN" altLang="en-US" i="1">
                            <a:solidFill>
                              <a:srgbClr val="C00000"/>
                            </a:solidFill>
                            <a:latin typeface="Cambria Math" panose="02040503050406030204" pitchFamily="18" charset="0"/>
                          </a:rPr>
                        </m:ctrlPr>
                      </m:dPr>
                      <m:e>
                        <m:r>
                          <a:rPr lang="zh-CN" altLang="en-US" i="1">
                            <a:solidFill>
                              <a:srgbClr val="C00000"/>
                            </a:solidFill>
                            <a:latin typeface="Cambria Math" panose="02040503050406030204" pitchFamily="18" charset="0"/>
                          </a:rPr>
                          <m:t>𝑓</m:t>
                        </m:r>
                      </m:e>
                      <m:e>
                        <m:r>
                          <a:rPr lang="zh-CN" altLang="en-US" i="1">
                            <a:solidFill>
                              <a:srgbClr val="C00000"/>
                            </a:solidFill>
                            <a:latin typeface="Cambria Math" panose="02040503050406030204" pitchFamily="18" charset="0"/>
                          </a:rPr>
                          <m:t>𝑔</m:t>
                        </m:r>
                      </m:e>
                    </m:d>
                    <m:r>
                      <a:rPr lang="en-US" altLang="zh-CN">
                        <a:solidFill>
                          <a:srgbClr val="C00000"/>
                        </a:solidFill>
                        <a:latin typeface="Cambria Math" panose="02040503050406030204" pitchFamily="18" charset="0"/>
                      </a:rPr>
                      <m:t>=</m:t>
                    </m:r>
                    <m:nary>
                      <m:naryPr>
                        <m:grow m:val="on"/>
                        <m:ctrlPr>
                          <a:rPr lang="zh-CN" altLang="en-US" i="1">
                            <a:solidFill>
                              <a:srgbClr val="C00000"/>
                            </a:solidFill>
                            <a:latin typeface="Cambria Math" panose="02040503050406030204" pitchFamily="18" charset="0"/>
                          </a:rPr>
                        </m:ctrlPr>
                      </m:naryPr>
                      <m:sub>
                        <m:r>
                          <a:rPr lang="zh-CN" altLang="en-US" i="1">
                            <a:solidFill>
                              <a:srgbClr val="C00000"/>
                            </a:solidFill>
                            <a:latin typeface="Cambria Math" panose="02040503050406030204" pitchFamily="18" charset="0"/>
                          </a:rPr>
                          <m:t>𝑎</m:t>
                        </m:r>
                      </m:sub>
                      <m:sup>
                        <m:r>
                          <a:rPr lang="zh-CN" altLang="en-US" i="1">
                            <a:solidFill>
                              <a:srgbClr val="C00000"/>
                            </a:solidFill>
                            <a:latin typeface="Cambria Math" panose="02040503050406030204" pitchFamily="18" charset="0"/>
                          </a:rPr>
                          <m:t>𝑏</m:t>
                        </m:r>
                      </m:sup>
                      <m:e>
                        <m:r>
                          <a:rPr lang="zh-CN" altLang="en-US" i="1">
                            <a:solidFill>
                              <a:srgbClr val="C00000"/>
                            </a:solidFill>
                            <a:latin typeface="Cambria Math" panose="02040503050406030204" pitchFamily="18" charset="0"/>
                          </a:rPr>
                          <m:t>𝑓</m:t>
                        </m:r>
                      </m:e>
                    </m:nary>
                    <m:d>
                      <m:dPr>
                        <m:ctrlPr>
                          <a:rPr lang="zh-CN" altLang="en-US" i="1">
                            <a:solidFill>
                              <a:srgbClr val="C00000"/>
                            </a:solidFill>
                            <a:latin typeface="Cambria Math" panose="02040503050406030204" pitchFamily="18" charset="0"/>
                          </a:rPr>
                        </m:ctrlPr>
                      </m:dPr>
                      <m:e>
                        <m:r>
                          <a:rPr lang="zh-CN" altLang="en-US" i="1">
                            <a:solidFill>
                              <a:srgbClr val="C00000"/>
                            </a:solidFill>
                            <a:latin typeface="Cambria Math" panose="02040503050406030204" pitchFamily="18" charset="0"/>
                          </a:rPr>
                          <m:t>𝑡</m:t>
                        </m:r>
                      </m:e>
                    </m:d>
                    <m:r>
                      <a:rPr lang="zh-CN" altLang="en-US" i="1">
                        <a:solidFill>
                          <a:srgbClr val="C00000"/>
                        </a:solidFill>
                        <a:latin typeface="Cambria Math" panose="02040503050406030204" pitchFamily="18" charset="0"/>
                      </a:rPr>
                      <m:t>𝑔</m:t>
                    </m:r>
                    <m:d>
                      <m:dPr>
                        <m:ctrlPr>
                          <a:rPr lang="zh-CN" altLang="en-US" i="1">
                            <a:solidFill>
                              <a:srgbClr val="C00000"/>
                            </a:solidFill>
                            <a:latin typeface="Cambria Math" panose="02040503050406030204" pitchFamily="18" charset="0"/>
                          </a:rPr>
                        </m:ctrlPr>
                      </m:dPr>
                      <m:e>
                        <m:r>
                          <a:rPr lang="zh-CN" altLang="en-US" i="1">
                            <a:solidFill>
                              <a:srgbClr val="C00000"/>
                            </a:solidFill>
                            <a:latin typeface="Cambria Math" panose="02040503050406030204" pitchFamily="18" charset="0"/>
                          </a:rPr>
                          <m:t>𝑡</m:t>
                        </m:r>
                      </m:e>
                    </m:d>
                    <m:r>
                      <m:rPr>
                        <m:nor/>
                      </m:rPr>
                      <a:rPr lang="zh-CN" altLang="en-US" i="1">
                        <a:solidFill>
                          <a:srgbClr val="C00000"/>
                        </a:solidFill>
                      </a:rPr>
                      <m:t> </m:t>
                    </m:r>
                    <m:r>
                      <a:rPr lang="zh-CN" altLang="en-US" i="1">
                        <a:solidFill>
                          <a:srgbClr val="C00000"/>
                        </a:solidFill>
                        <a:latin typeface="Cambria Math" panose="02040503050406030204" pitchFamily="18" charset="0"/>
                      </a:rPr>
                      <m:t>𝑑𝑡</m:t>
                    </m:r>
                    <m:r>
                      <a:rPr lang="en-US" altLang="zh-CN">
                        <a:latin typeface="Cambria Math" panose="02040503050406030204" pitchFamily="18" charset="0"/>
                      </a:rPr>
                      <m:t>.</m:t>
                    </m:r>
                  </m:oMath>
                </a14:m>
                <a:r>
                  <a:rPr lang="zh-CN" altLang="en-US" b="0" dirty="0"/>
                  <a:t> </a:t>
                </a:r>
                <a:r>
                  <a:rPr lang="zh-CN" altLang="en-US" dirty="0"/>
                  <a:t>这个公式可以看成</a:t>
                </a:r>
                <a:r>
                  <a:rPr lang="zh-CN" altLang="en-US" dirty="0">
                    <a:solidFill>
                      <a:srgbClr val="C00000"/>
                    </a:solidFill>
                  </a:rPr>
                  <a:t>有限维内积的连续版本</a:t>
                </a:r>
                <a:r>
                  <a:rPr lang="zh-CN" altLang="en-US" dirty="0"/>
                  <a:t>。有限维中我们做的是求和：</a:t>
                </a:r>
                <a14:m>
                  <m:oMath xmlns:m="http://schemas.openxmlformats.org/officeDocument/2006/math">
                    <m:nary>
                      <m:naryPr>
                        <m:chr m:val="∑"/>
                        <m:grow m:val="on"/>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en-US" altLang="zh-CN">
                            <a:latin typeface="Cambria Math" panose="02040503050406030204" pitchFamily="18" charset="0"/>
                          </a:rPr>
                          <m:t>=1</m:t>
                        </m:r>
                      </m:sub>
                      <m:sup>
                        <m:r>
                          <a:rPr lang="zh-CN" altLang="en-US" i="1">
                            <a:latin typeface="Cambria Math" panose="02040503050406030204" pitchFamily="18" charset="0"/>
                          </a:rPr>
                          <m:t>𝑛</m:t>
                        </m:r>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𝑥</m:t>
                            </m:r>
                          </m:e>
                          <m:sub>
                            <m:r>
                              <a:rPr lang="zh-CN" altLang="en-US" i="1">
                                <a:latin typeface="Cambria Math" panose="02040503050406030204" pitchFamily="18" charset="0"/>
                              </a:rPr>
                              <m:t>𝑖</m:t>
                            </m:r>
                          </m:sub>
                        </m:sSub>
                      </m:e>
                    </m:nary>
                    <m:sSub>
                      <m:sSubPr>
                        <m:ctrlPr>
                          <a:rPr lang="zh-CN" altLang="en-US" i="1">
                            <a:latin typeface="Cambria Math" panose="02040503050406030204" pitchFamily="18" charset="0"/>
                          </a:rPr>
                        </m:ctrlPr>
                      </m:sSubPr>
                      <m:e>
                        <m:r>
                          <a:rPr lang="zh-CN" altLang="en-US" i="1">
                            <a:latin typeface="Cambria Math" panose="02040503050406030204" pitchFamily="18" charset="0"/>
                          </a:rPr>
                          <m:t>𝑦</m:t>
                        </m:r>
                      </m:e>
                      <m:sub>
                        <m:r>
                          <a:rPr lang="zh-CN" altLang="en-US" i="1">
                            <a:latin typeface="Cambria Math" panose="02040503050406030204" pitchFamily="18" charset="0"/>
                          </a:rPr>
                          <m:t>𝑖</m:t>
                        </m:r>
                      </m:sub>
                    </m:sSub>
                    <m:r>
                      <a:rPr lang="en-US" altLang="zh-CN">
                        <a:latin typeface="Cambria Math" panose="02040503050406030204" pitchFamily="18" charset="0"/>
                      </a:rPr>
                      <m:t>,</m:t>
                    </m:r>
                  </m:oMath>
                </a14:m>
                <a:endParaRPr lang="zh-CN" altLang="en-US" dirty="0"/>
              </a:p>
              <a:p>
                <a:pPr marL="0" indent="0">
                  <a:lnSpc>
                    <a:spcPct val="120000"/>
                  </a:lnSpc>
                  <a:buNone/>
                </a:pPr>
                <a:r>
                  <a:rPr lang="zh-CN" altLang="en-US" dirty="0"/>
                  <a:t>函数空间中，我们把“所有点上的乘积”连续地加起来，于是求和变成积分：</a:t>
                </a:r>
                <a14:m>
                  <m:oMath xmlns:m="http://schemas.openxmlformats.org/officeDocument/2006/math">
                    <m:nary>
                      <m:naryPr>
                        <m:grow m:val="on"/>
                        <m:ctrlPr>
                          <a:rPr lang="zh-CN" altLang="en-US" i="1">
                            <a:latin typeface="Cambria Math" panose="02040503050406030204" pitchFamily="18" charset="0"/>
                          </a:rPr>
                        </m:ctrlPr>
                      </m:naryPr>
                      <m:sub>
                        <m:r>
                          <a:rPr lang="zh-CN" altLang="en-US" i="1">
                            <a:latin typeface="Cambria Math" panose="02040503050406030204" pitchFamily="18" charset="0"/>
                          </a:rPr>
                          <m:t>𝑎</m:t>
                        </m:r>
                      </m:sub>
                      <m:sup>
                        <m:r>
                          <a:rPr lang="zh-CN" altLang="en-US" i="1">
                            <a:latin typeface="Cambria Math" panose="02040503050406030204" pitchFamily="18" charset="0"/>
                          </a:rPr>
                          <m:t>𝑏</m:t>
                        </m:r>
                      </m:sup>
                      <m:e>
                        <m:r>
                          <a:rPr lang="zh-CN" altLang="en-US" i="1">
                            <a:latin typeface="Cambria Math" panose="02040503050406030204" pitchFamily="18" charset="0"/>
                          </a:rPr>
                          <m:t>𝑓</m:t>
                        </m:r>
                      </m:e>
                    </m:nary>
                    <m:d>
                      <m:dPr>
                        <m:ctrlPr>
                          <a:rPr lang="zh-CN" altLang="en-US" i="1">
                            <a:latin typeface="Cambria Math" panose="02040503050406030204" pitchFamily="18" charset="0"/>
                          </a:rPr>
                        </m:ctrlPr>
                      </m:dPr>
                      <m:e>
                        <m:r>
                          <a:rPr lang="zh-CN" altLang="en-US" i="1">
                            <a:latin typeface="Cambria Math" panose="02040503050406030204" pitchFamily="18" charset="0"/>
                          </a:rPr>
                          <m:t>𝑡</m:t>
                        </m:r>
                      </m:e>
                    </m:d>
                    <m:r>
                      <a:rPr lang="zh-CN" altLang="en-US" i="1">
                        <a:latin typeface="Cambria Math" panose="02040503050406030204" pitchFamily="18" charset="0"/>
                      </a:rPr>
                      <m:t>𝑔</m:t>
                    </m:r>
                    <m:d>
                      <m:dPr>
                        <m:ctrlPr>
                          <a:rPr lang="zh-CN" altLang="en-US" i="1">
                            <a:latin typeface="Cambria Math" panose="02040503050406030204" pitchFamily="18" charset="0"/>
                          </a:rPr>
                        </m:ctrlPr>
                      </m:dPr>
                      <m:e>
                        <m:r>
                          <a:rPr lang="zh-CN" altLang="en-US" i="1">
                            <a:latin typeface="Cambria Math" panose="02040503050406030204" pitchFamily="18" charset="0"/>
                          </a:rPr>
                          <m:t>𝑡</m:t>
                        </m:r>
                      </m:e>
                    </m:d>
                    <m:r>
                      <m:rPr>
                        <m:nor/>
                      </m:rPr>
                      <a:rPr lang="zh-CN" altLang="en-US" i="1"/>
                      <m:t> </m:t>
                    </m:r>
                    <m:r>
                      <a:rPr lang="zh-CN" altLang="en-US" i="1">
                        <a:latin typeface="Cambria Math" panose="02040503050406030204" pitchFamily="18" charset="0"/>
                      </a:rPr>
                      <m:t>𝑑𝑡</m:t>
                    </m:r>
                    <m:r>
                      <a:rPr lang="en-US" altLang="zh-CN">
                        <a:latin typeface="Cambria Math" panose="02040503050406030204" pitchFamily="18" charset="0"/>
                      </a:rPr>
                      <m:t>.</m:t>
                    </m:r>
                  </m:oMath>
                </a14:m>
                <a:endParaRPr lang="zh-CN" altLang="en-US" b="0" dirty="0"/>
              </a:p>
              <a:p>
                <a:pPr algn="ctr">
                  <a:lnSpc>
                    <a:spcPct val="120000"/>
                  </a:lnSpc>
                </a:pPr>
                <a14:m>
                  <m:oMath xmlns:m="http://schemas.openxmlformats.org/officeDocument/2006/math">
                    <m:r>
                      <m:rPr>
                        <m:nor/>
                      </m:rPr>
                      <a:rPr lang="zh-CN" altLang="en-US" b="0"/>
                      <m:t>有限维向量的内积：求和</m:t>
                    </m:r>
                  </m:oMath>
                </a14:m>
                <a:endParaRPr lang="zh-CN" altLang="en-US" b="0" dirty="0"/>
              </a:p>
              <a:p>
                <a:pPr algn="ctr">
                  <a:lnSpc>
                    <a:spcPct val="120000"/>
                  </a:lnSpc>
                </a:pPr>
                <a14:m>
                  <m:oMath xmlns:m="http://schemas.openxmlformats.org/officeDocument/2006/math">
                    <m:r>
                      <m:rPr>
                        <m:nor/>
                      </m:rPr>
                      <a:rPr lang="zh-CN" altLang="en-US" b="0"/>
                      <m:t>函数空间的内积：积分</m:t>
                    </m:r>
                  </m:oMath>
                </a14:m>
                <a:endParaRPr lang="zh-CN" altLang="en-US" b="0" dirty="0"/>
              </a:p>
              <a:p>
                <a:pPr marL="0" indent="0">
                  <a:lnSpc>
                    <a:spcPct val="120000"/>
                  </a:lnSpc>
                  <a:buNone/>
                </a:pPr>
                <a:r>
                  <a:rPr lang="zh-CN" altLang="en-US" dirty="0"/>
                  <a:t>例如，</a:t>
                </a:r>
                <a:r>
                  <a:rPr lang="zh-CN" altLang="en-US" dirty="0">
                    <a:solidFill>
                      <a:srgbClr val="C00000"/>
                    </a:solidFill>
                  </a:rPr>
                  <a:t>如果两个函数在很多地方同时为正或同时为负，那么它们的乘积大多为正，内积就比较大</a:t>
                </a:r>
                <a:r>
                  <a:rPr lang="zh-CN" altLang="en-US" dirty="0"/>
                  <a:t>；如果一个函数为正时另一个经常为负，正负抵消，内积可能较小；如果内积为 </a:t>
                </a:r>
                <a:r>
                  <a:rPr lang="en-US" altLang="zh-CN" dirty="0"/>
                  <a:t>0</a:t>
                </a:r>
                <a:r>
                  <a:rPr lang="zh-CN" altLang="en-US" dirty="0"/>
                  <a:t>，则可以说两个函数在 </a:t>
                </a: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𝐿</m:t>
                        </m:r>
                      </m:e>
                      <m:sup>
                        <m:r>
                          <a:rPr lang="en-US" altLang="zh-CN">
                            <a:latin typeface="Cambria Math" panose="02040503050406030204" pitchFamily="18" charset="0"/>
                          </a:rPr>
                          <m:t>2</m:t>
                        </m:r>
                      </m:sup>
                    </m:sSup>
                  </m:oMath>
                </a14:m>
                <a:r>
                  <a:rPr lang="zh-CN" altLang="en-US" dirty="0"/>
                  <a:t>意义下正交。</a:t>
                </a:r>
                <a:endParaRPr lang="en-US" altLang="zh-CN" dirty="0"/>
              </a:p>
              <a:p>
                <a:pPr marL="0" indent="0">
                  <a:lnSpc>
                    <a:spcPct val="120000"/>
                  </a:lnSpc>
                  <a:buNone/>
                </a:pPr>
                <a:r>
                  <a:rPr lang="zh-CN" altLang="en-US" dirty="0"/>
                  <a:t>核方法、傅里叶分析、信号处理、函数回归、神经算子、</a:t>
                </a:r>
                <a:r>
                  <a:rPr lang="en-US" altLang="zh-CN" dirty="0"/>
                  <a:t>Gaussian process </a:t>
                </a:r>
                <a:r>
                  <a:rPr lang="zh-CN" altLang="en-US" dirty="0"/>
                  <a:t>等都可以看成是在某种函数空间中进行学习。</a:t>
                </a:r>
              </a:p>
              <a:p>
                <a:pPr marL="0" indent="0">
                  <a:lnSpc>
                    <a:spcPct val="120000"/>
                  </a:lnSpc>
                  <a:buNone/>
                </a:pPr>
                <a:endParaRPr lang="zh-CN" altLang="en-US" dirty="0"/>
              </a:p>
            </p:txBody>
          </p:sp>
        </mc:Choice>
        <mc:Fallback>
          <p:sp>
            <p:nvSpPr>
              <p:cNvPr id="12" name="コンテンツ プレースホルダー 2">
                <a:extLst>
                  <a:ext uri="{FF2B5EF4-FFF2-40B4-BE49-F238E27FC236}">
                    <a16:creationId xmlns:a16="http://schemas.microsoft.com/office/drawing/2014/main" id="{0BD099D4-0A21-82D2-ED16-09E6236E95CD}"/>
                  </a:ext>
                </a:extLst>
              </p:cNvPr>
              <p:cNvSpPr>
                <a:spLocks noGrp="1" noRot="1" noChangeAspect="1" noMove="1" noResize="1" noEditPoints="1" noAdjustHandles="1" noChangeArrowheads="1" noChangeShapeType="1" noTextEdit="1"/>
              </p:cNvSpPr>
              <p:nvPr>
                <p:ph idx="1"/>
              </p:nvPr>
            </p:nvSpPr>
            <p:spPr>
              <a:xfrm>
                <a:off x="619760" y="1112520"/>
                <a:ext cx="11257280" cy="5440680"/>
              </a:xfrm>
              <a:blipFill>
                <a:blip r:embed="rId3"/>
                <a:stretch>
                  <a:fillRect l="-596" t="-448" r="-271" b="-235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55525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62BCD-793D-437F-34F1-4157EA63EE3C}"/>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4D415F14-C711-80A4-9D5B-3800BAD28E43}"/>
              </a:ext>
            </a:extLst>
          </p:cNvPr>
          <p:cNvSpPr>
            <a:spLocks noGrp="1" noChangeArrowheads="1"/>
          </p:cNvSpPr>
          <p:nvPr>
            <p:ph type="title"/>
          </p:nvPr>
        </p:nvSpPr>
        <p:spPr/>
        <p:txBody>
          <a:bodyPr/>
          <a:lstStyle/>
          <a:p>
            <a:r>
              <a:rPr lang="ja-JP" altLang="en-US" b="1" dirty="0"/>
              <a:t>复向量空间</a:t>
            </a:r>
            <a:r>
              <a:rPr lang="zh-CN" altLang="en-US" b="1" dirty="0"/>
              <a:t>上的考虑</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1EDDBCBA-6863-F7F6-9794-638ECFEE0029}"/>
                  </a:ext>
                </a:extLst>
              </p:cNvPr>
              <p:cNvSpPr>
                <a:spLocks noGrp="1"/>
              </p:cNvSpPr>
              <p:nvPr>
                <p:ph idx="1"/>
              </p:nvPr>
            </p:nvSpPr>
            <p:spPr>
              <a:xfrm>
                <a:off x="508000" y="990600"/>
                <a:ext cx="11267440" cy="5440680"/>
              </a:xfrm>
            </p:spPr>
            <p:txBody>
              <a:bodyPr/>
              <a:lstStyle/>
              <a:p>
                <a:pPr marL="0" indent="0">
                  <a:lnSpc>
                    <a:spcPct val="120000"/>
                  </a:lnSpc>
                  <a:buNone/>
                </a:pPr>
                <a:r>
                  <a:rPr lang="zh-CN" altLang="en-US" dirty="0"/>
                  <a:t>进一步，</a:t>
                </a:r>
                <a:r>
                  <a:rPr lang="ja-JP" altLang="en-US" dirty="0"/>
                  <a:t>考虑复向量空间。例如：</a:t>
                </a:r>
                <a14:m>
                  <m:oMath xmlns:m="http://schemas.openxmlformats.org/officeDocument/2006/math">
                    <m:sSup>
                      <m:sSupPr>
                        <m:ctrlPr>
                          <a:rPr lang="ar-AE" altLang="ja-JP" i="1">
                            <a:latin typeface="Cambria Math" panose="02040503050406030204" pitchFamily="18" charset="0"/>
                          </a:rPr>
                        </m:ctrlPr>
                      </m:sSupPr>
                      <m:e>
                        <m:r>
                          <a:rPr lang="ar-AE" altLang="ja-JP">
                            <a:latin typeface="Cambria Math" panose="02040503050406030204" pitchFamily="18" charset="0"/>
                          </a:rPr>
                          <m:t>ℂ</m:t>
                        </m:r>
                      </m:e>
                      <m:sup>
                        <m:r>
                          <a:rPr lang="ja-JP" altLang="ar-AE" i="1">
                            <a:latin typeface="Cambria Math" panose="02040503050406030204" pitchFamily="18" charset="0"/>
                          </a:rPr>
                          <m:t>𝑛</m:t>
                        </m:r>
                      </m:sup>
                    </m:sSup>
                    <m:r>
                      <a:rPr lang="zh-CN" altLang="en-US" i="1">
                        <a:latin typeface="Cambria Math" panose="02040503050406030204" pitchFamily="18" charset="0"/>
                      </a:rPr>
                      <m:t>。</m:t>
                    </m:r>
                  </m:oMath>
                </a14:m>
                <a:r>
                  <a:rPr lang="ja-JP" altLang="en-US" dirty="0"/>
                  <a:t>这里的向量坐标不再只是实数，而是复数：</a:t>
                </a:r>
                <a:endParaRPr lang="en-US" altLang="ja-JP" i="1" dirty="0"/>
              </a:p>
              <a:p>
                <a:pPr marL="0" indent="0">
                  <a:lnSpc>
                    <a:spcPct val="120000"/>
                  </a:lnSpc>
                  <a:buNone/>
                </a:pPr>
                <a14:m>
                  <m:oMathPara xmlns:m="http://schemas.openxmlformats.org/officeDocument/2006/math">
                    <m:oMathParaPr>
                      <m:jc m:val="centerGroup"/>
                    </m:oMathParaPr>
                    <m:oMath xmlns:m="http://schemas.openxmlformats.org/officeDocument/2006/math">
                      <m:r>
                        <a:rPr lang="ja-JP" altLang="en-US" i="1">
                          <a:latin typeface="Cambria Math" panose="02040503050406030204" pitchFamily="18" charset="0"/>
                        </a:rPr>
                        <m:t>𝑥</m:t>
                      </m:r>
                      <m:r>
                        <a:rPr lang="en-US" altLang="ja-JP">
                          <a:latin typeface="Cambria Math" panose="02040503050406030204" pitchFamily="18" charset="0"/>
                        </a:rPr>
                        <m:t>=</m:t>
                      </m:r>
                      <m:d>
                        <m:dPr>
                          <m:sepChr m:val=","/>
                          <m:ctrlPr>
                            <a:rPr lang="ar-AE" altLang="ja-JP" i="1">
                              <a:latin typeface="Cambria Math" panose="02040503050406030204" pitchFamily="18" charset="0"/>
                            </a:rPr>
                          </m:ctrlPr>
                        </m:dPr>
                        <m:e>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ar-AE" altLang="ja-JP">
                                  <a:latin typeface="Cambria Math" panose="02040503050406030204" pitchFamily="18" charset="0"/>
                                </a:rPr>
                                <m:t>1</m:t>
                              </m:r>
                            </m:sub>
                          </m:sSub>
                        </m:e>
                        <m:e>
                          <m:r>
                            <a:rPr lang="ar-AE" altLang="ja-JP">
                              <a:latin typeface="Cambria Math" panose="02040503050406030204" pitchFamily="18" charset="0"/>
                            </a:rPr>
                            <m:t>…</m:t>
                          </m:r>
                        </m:e>
                        <m:e>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ja-JP" altLang="ar-AE" i="1">
                                  <a:latin typeface="Cambria Math" panose="02040503050406030204" pitchFamily="18" charset="0"/>
                                </a:rPr>
                                <m:t>𝑛</m:t>
                              </m:r>
                            </m:sub>
                          </m:sSub>
                        </m:e>
                      </m:d>
                      <m:r>
                        <a:rPr lang="ar-AE" altLang="ja-JP">
                          <a:latin typeface="Cambria Math" panose="02040503050406030204" pitchFamily="18" charset="0"/>
                        </a:rPr>
                        <m:t>, </m:t>
                      </m:r>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ja-JP" altLang="ar-AE" i="1">
                              <a:latin typeface="Cambria Math" panose="02040503050406030204" pitchFamily="18" charset="0"/>
                            </a:rPr>
                            <m:t>𝑖</m:t>
                          </m:r>
                        </m:sub>
                      </m:sSub>
                      <m:r>
                        <a:rPr lang="ar-AE" altLang="ja-JP">
                          <a:latin typeface="Cambria Math" panose="02040503050406030204" pitchFamily="18" charset="0"/>
                        </a:rPr>
                        <m:t>∈</m:t>
                      </m:r>
                      <m:r>
                        <a:rPr lang="ar-AE" altLang="ja-JP">
                          <a:latin typeface="Cambria Math" panose="02040503050406030204" pitchFamily="18" charset="0"/>
                        </a:rPr>
                        <m:t>ℂ</m:t>
                      </m:r>
                      <m:r>
                        <a:rPr lang="ar-AE" altLang="ja-JP">
                          <a:latin typeface="Cambria Math" panose="02040503050406030204" pitchFamily="18" charset="0"/>
                        </a:rPr>
                        <m:t>.</m:t>
                      </m:r>
                    </m:oMath>
                  </m:oMathPara>
                </a14:m>
                <a:endParaRPr lang="ar-AE" altLang="ja-JP" dirty="0"/>
              </a:p>
              <a:p>
                <a:pPr marL="0" indent="0">
                  <a:lnSpc>
                    <a:spcPct val="120000"/>
                  </a:lnSpc>
                  <a:buNone/>
                </a:pPr>
                <a:r>
                  <a:rPr lang="ja-JP" altLang="en-US" dirty="0"/>
                  <a:t>在复向量空间中，内积不能简单地定义为</a:t>
                </a:r>
                <a14:m>
                  <m:oMath xmlns:m="http://schemas.openxmlformats.org/officeDocument/2006/math">
                    <m:nary>
                      <m:naryPr>
                        <m:chr m:val="∑"/>
                        <m:grow m:val="on"/>
                        <m:supHide m:val="on"/>
                        <m:ctrlPr>
                          <a:rPr lang="ar-AE" altLang="ja-JP" i="1">
                            <a:latin typeface="Cambria Math" panose="02040503050406030204" pitchFamily="18" charset="0"/>
                          </a:rPr>
                        </m:ctrlPr>
                      </m:naryPr>
                      <m:sub>
                        <m:r>
                          <a:rPr lang="ja-JP" altLang="ar-AE" i="1">
                            <a:latin typeface="Cambria Math" panose="02040503050406030204" pitchFamily="18" charset="0"/>
                          </a:rPr>
                          <m:t>𝑖</m:t>
                        </m:r>
                      </m:sub>
                      <m:sup/>
                      <m:e>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ja-JP" altLang="ar-AE" i="1">
                                <a:latin typeface="Cambria Math" panose="02040503050406030204" pitchFamily="18" charset="0"/>
                              </a:rPr>
                              <m:t>𝑖</m:t>
                            </m:r>
                          </m:sub>
                        </m:sSub>
                      </m:e>
                    </m:nary>
                    <m:sSub>
                      <m:sSubPr>
                        <m:ctrlPr>
                          <a:rPr lang="ar-AE" altLang="ja-JP" i="1">
                            <a:latin typeface="Cambria Math" panose="02040503050406030204" pitchFamily="18" charset="0"/>
                          </a:rPr>
                        </m:ctrlPr>
                      </m:sSubPr>
                      <m:e>
                        <m:r>
                          <a:rPr lang="ja-JP" altLang="ar-AE" i="1">
                            <a:latin typeface="Cambria Math" panose="02040503050406030204" pitchFamily="18" charset="0"/>
                          </a:rPr>
                          <m:t>𝑦</m:t>
                        </m:r>
                      </m:e>
                      <m:sub>
                        <m:r>
                          <a:rPr lang="ja-JP" altLang="ar-AE" i="1">
                            <a:latin typeface="Cambria Math" panose="02040503050406030204" pitchFamily="18" charset="0"/>
                          </a:rPr>
                          <m:t>𝑖</m:t>
                        </m:r>
                      </m:sub>
                    </m:sSub>
                    <m:r>
                      <a:rPr lang="zh-CN" altLang="en-US" i="1">
                        <a:latin typeface="Cambria Math" panose="02040503050406030204" pitchFamily="18" charset="0"/>
                      </a:rPr>
                      <m:t>。</m:t>
                    </m:r>
                  </m:oMath>
                </a14:m>
                <a:r>
                  <a:rPr lang="ja-JP" altLang="en-US" dirty="0"/>
                  <a:t>原因是这样不能保证 </a:t>
                </a:r>
                <a14:m>
                  <m:oMath xmlns:m="http://schemas.openxmlformats.org/officeDocument/2006/math">
                    <m:d>
                      <m:dPr>
                        <m:begChr m:val="⟨"/>
                        <m:endChr m:val="⟩"/>
                        <m:sepChr m:val=","/>
                        <m:ctrlPr>
                          <a:rPr lang="ar-AE" altLang="ja-JP" i="1">
                            <a:latin typeface="Cambria Math" panose="02040503050406030204" pitchFamily="18" charset="0"/>
                          </a:rPr>
                        </m:ctrlPr>
                      </m:dPr>
                      <m:e>
                        <m:r>
                          <a:rPr lang="ja-JP" altLang="ar-AE" i="1">
                            <a:latin typeface="Cambria Math" panose="02040503050406030204" pitchFamily="18" charset="0"/>
                          </a:rPr>
                          <m:t>𝑥</m:t>
                        </m:r>
                      </m:e>
                      <m:e>
                        <m:r>
                          <a:rPr lang="ja-JP" altLang="ar-AE" i="1">
                            <a:latin typeface="Cambria Math" panose="02040503050406030204" pitchFamily="18" charset="0"/>
                          </a:rPr>
                          <m:t>𝑥</m:t>
                        </m:r>
                      </m:e>
                    </m:d>
                  </m:oMath>
                </a14:m>
                <a:r>
                  <a:rPr lang="ja-JP" altLang="en-US" dirty="0"/>
                  <a:t>是非负实数。</a:t>
                </a:r>
                <a:endParaRPr lang="en-US" altLang="ja-JP" dirty="0"/>
              </a:p>
              <a:p>
                <a:pPr marL="0" indent="0">
                  <a:lnSpc>
                    <a:spcPct val="120000"/>
                  </a:lnSpc>
                  <a:buNone/>
                </a:pPr>
                <a:r>
                  <a:rPr lang="ja-JP" altLang="en-US" dirty="0"/>
                  <a:t>例</a:t>
                </a:r>
                <a:r>
                  <a:rPr lang="zh-CN" altLang="en-US" dirty="0"/>
                  <a:t>如</a:t>
                </a:r>
                <a:r>
                  <a:rPr lang="ja-JP" altLang="en-US" dirty="0"/>
                  <a:t>，如果 </a:t>
                </a:r>
                <a14:m>
                  <m:oMath xmlns:m="http://schemas.openxmlformats.org/officeDocument/2006/math">
                    <m:r>
                      <a:rPr lang="ja-JP" altLang="en-US" i="1">
                        <a:latin typeface="Cambria Math" panose="02040503050406030204" pitchFamily="18" charset="0"/>
                      </a:rPr>
                      <m:t>𝑥</m:t>
                    </m:r>
                    <m:r>
                      <a:rPr lang="en-US" altLang="ja-JP">
                        <a:latin typeface="Cambria Math" panose="02040503050406030204" pitchFamily="18" charset="0"/>
                      </a:rPr>
                      <m:t>=</m:t>
                    </m:r>
                    <m:r>
                      <a:rPr lang="ja-JP" altLang="en-US" i="1">
                        <a:latin typeface="Cambria Math" panose="02040503050406030204" pitchFamily="18" charset="0"/>
                      </a:rPr>
                      <m:t>𝑖</m:t>
                    </m:r>
                  </m:oMath>
                </a14:m>
                <a:r>
                  <a:rPr lang="ja-JP" altLang="en-US" dirty="0"/>
                  <a:t>，那么</a:t>
                </a:r>
                <a14:m>
                  <m:oMath xmlns:m="http://schemas.openxmlformats.org/officeDocument/2006/math">
                    <m:r>
                      <a:rPr lang="ja-JP" altLang="en-US" i="1">
                        <a:latin typeface="Cambria Math" panose="02040503050406030204" pitchFamily="18" charset="0"/>
                      </a:rPr>
                      <m:t>𝑥</m:t>
                    </m:r>
                    <m:r>
                      <a:rPr lang="ja-JP" altLang="en-US">
                        <a:latin typeface="Cambria Math" panose="02040503050406030204" pitchFamily="18" charset="0"/>
                      </a:rPr>
                      <m:t>⋅</m:t>
                    </m:r>
                    <m:r>
                      <a:rPr lang="ja-JP" altLang="en-US" i="1">
                        <a:latin typeface="Cambria Math" panose="02040503050406030204" pitchFamily="18" charset="0"/>
                      </a:rPr>
                      <m:t>𝑥</m:t>
                    </m:r>
                    <m:r>
                      <a:rPr lang="en-US" altLang="ja-JP">
                        <a:latin typeface="Cambria Math" panose="02040503050406030204" pitchFamily="18" charset="0"/>
                      </a:rPr>
                      <m:t>=</m:t>
                    </m:r>
                    <m:r>
                      <a:rPr lang="ja-JP" altLang="en-US" i="1">
                        <a:latin typeface="Cambria Math" panose="02040503050406030204" pitchFamily="18" charset="0"/>
                      </a:rPr>
                      <m:t>𝑖</m:t>
                    </m:r>
                    <m:r>
                      <a:rPr lang="ja-JP" altLang="en-US">
                        <a:latin typeface="Cambria Math" panose="02040503050406030204" pitchFamily="18" charset="0"/>
                      </a:rPr>
                      <m:t>⋅</m:t>
                    </m:r>
                    <m:r>
                      <a:rPr lang="ja-JP" altLang="en-US" i="1">
                        <a:latin typeface="Cambria Math" panose="02040503050406030204" pitchFamily="18" charset="0"/>
                      </a:rPr>
                      <m:t>𝑖</m:t>
                    </m:r>
                    <m:r>
                      <a:rPr lang="en-US" altLang="ja-JP">
                        <a:latin typeface="Cambria Math" panose="02040503050406030204" pitchFamily="18" charset="0"/>
                      </a:rPr>
                      <m:t>=−</m:t>
                    </m:r>
                    <m:r>
                      <a:rPr lang="en-US" altLang="ja-JP">
                        <a:latin typeface="Cambria Math" panose="02040503050406030204" pitchFamily="18" charset="0"/>
                      </a:rPr>
                      <m:t>1</m:t>
                    </m:r>
                    <m:r>
                      <a:rPr lang="en-US" altLang="ja-JP">
                        <a:latin typeface="Cambria Math" panose="02040503050406030204" pitchFamily="18" charset="0"/>
                      </a:rPr>
                      <m:t>,</m:t>
                    </m:r>
                  </m:oMath>
                </a14:m>
                <a:r>
                  <a:rPr lang="ja-JP" altLang="en-US" dirty="0"/>
                  <a:t> 显然不能作为“长度的平方”。</a:t>
                </a:r>
                <a:endParaRPr lang="en-US" altLang="ja-JP" dirty="0"/>
              </a:p>
              <a:p>
                <a:pPr marL="0" indent="0">
                  <a:lnSpc>
                    <a:spcPct val="120000"/>
                  </a:lnSpc>
                  <a:buNone/>
                </a:pPr>
                <a:r>
                  <a:rPr lang="ja-JP" altLang="en-US" dirty="0"/>
                  <a:t>因此，</a:t>
                </a:r>
                <a:r>
                  <a:rPr lang="ja-JP" altLang="en-US" dirty="0">
                    <a:solidFill>
                      <a:srgbClr val="C00000"/>
                    </a:solidFill>
                  </a:rPr>
                  <a:t>在复 </a:t>
                </a:r>
                <a:r>
                  <a:rPr lang="en-US" altLang="ja-JP" dirty="0">
                    <a:solidFill>
                      <a:srgbClr val="C00000"/>
                    </a:solidFill>
                  </a:rPr>
                  <a:t>Hilbert </a:t>
                </a:r>
                <a:r>
                  <a:rPr lang="ja-JP" altLang="en-US" dirty="0">
                    <a:solidFill>
                      <a:srgbClr val="C00000"/>
                    </a:solidFill>
                  </a:rPr>
                  <a:t>空间中，内积必须带有复共轭。量子力学中常用的约定是：</a:t>
                </a:r>
                <a:endParaRPr lang="en-US" altLang="ja-JP" dirty="0">
                  <a:solidFill>
                    <a:srgbClr val="C00000"/>
                  </a:solidFill>
                </a:endParaRPr>
              </a:p>
              <a:p>
                <a:pPr marL="0" indent="0">
                  <a:lnSpc>
                    <a:spcPct val="120000"/>
                  </a:lnSpc>
                  <a:buNone/>
                </a:pPr>
                <a14:m>
                  <m:oMathPara xmlns:m="http://schemas.openxmlformats.org/officeDocument/2006/math">
                    <m:oMathParaPr>
                      <m:jc m:val="centerGroup"/>
                    </m:oMathParaPr>
                    <m:oMath xmlns:m="http://schemas.openxmlformats.org/officeDocument/2006/math">
                      <m:d>
                        <m:dPr>
                          <m:begChr m:val="⟨"/>
                          <m:endChr m:val="⟩"/>
                          <m:sepChr m:val=","/>
                          <m:ctrlPr>
                            <a:rPr lang="ar-AE" altLang="ja-JP" i="1">
                              <a:solidFill>
                                <a:srgbClr val="C00000"/>
                              </a:solidFill>
                              <a:latin typeface="Cambria Math" panose="02040503050406030204" pitchFamily="18" charset="0"/>
                            </a:rPr>
                          </m:ctrlPr>
                        </m:dPr>
                        <m:e>
                          <m:r>
                            <a:rPr lang="ja-JP" altLang="ar-AE" i="1">
                              <a:solidFill>
                                <a:srgbClr val="C00000"/>
                              </a:solidFill>
                              <a:latin typeface="Cambria Math" panose="02040503050406030204" pitchFamily="18" charset="0"/>
                            </a:rPr>
                            <m:t>𝑥</m:t>
                          </m:r>
                        </m:e>
                        <m:e>
                          <m:r>
                            <a:rPr lang="ja-JP" altLang="ar-AE" i="1">
                              <a:solidFill>
                                <a:srgbClr val="C00000"/>
                              </a:solidFill>
                              <a:latin typeface="Cambria Math" panose="02040503050406030204" pitchFamily="18" charset="0"/>
                            </a:rPr>
                            <m:t>𝑦</m:t>
                          </m:r>
                        </m:e>
                      </m:d>
                      <m:r>
                        <a:rPr lang="ar-AE" altLang="ja-JP">
                          <a:solidFill>
                            <a:srgbClr val="C00000"/>
                          </a:solidFill>
                          <a:latin typeface="Cambria Math" panose="02040503050406030204" pitchFamily="18" charset="0"/>
                        </a:rPr>
                        <m:t>=</m:t>
                      </m:r>
                      <m:nary>
                        <m:naryPr>
                          <m:chr m:val="∑"/>
                          <m:grow m:val="on"/>
                          <m:ctrlPr>
                            <a:rPr lang="ar-AE" altLang="ja-JP" i="1">
                              <a:solidFill>
                                <a:srgbClr val="C00000"/>
                              </a:solidFill>
                              <a:latin typeface="Cambria Math" panose="02040503050406030204" pitchFamily="18" charset="0"/>
                            </a:rPr>
                          </m:ctrlPr>
                        </m:naryPr>
                        <m:sub>
                          <m:r>
                            <a:rPr lang="ja-JP" altLang="ar-AE" i="1">
                              <a:solidFill>
                                <a:srgbClr val="C00000"/>
                              </a:solidFill>
                              <a:latin typeface="Cambria Math" panose="02040503050406030204" pitchFamily="18" charset="0"/>
                            </a:rPr>
                            <m:t>𝑖</m:t>
                          </m:r>
                          <m:r>
                            <a:rPr lang="ar-AE" altLang="ja-JP">
                              <a:solidFill>
                                <a:srgbClr val="C00000"/>
                              </a:solidFill>
                              <a:latin typeface="Cambria Math" panose="02040503050406030204" pitchFamily="18" charset="0"/>
                            </a:rPr>
                            <m:t>=</m:t>
                          </m:r>
                          <m:r>
                            <a:rPr lang="ar-AE" altLang="ja-JP">
                              <a:solidFill>
                                <a:srgbClr val="C00000"/>
                              </a:solidFill>
                              <a:latin typeface="Cambria Math" panose="02040503050406030204" pitchFamily="18" charset="0"/>
                            </a:rPr>
                            <m:t>1</m:t>
                          </m:r>
                        </m:sub>
                        <m:sup>
                          <m:r>
                            <a:rPr lang="ja-JP" altLang="ar-AE" i="1">
                              <a:solidFill>
                                <a:srgbClr val="C00000"/>
                              </a:solidFill>
                              <a:latin typeface="Cambria Math" panose="02040503050406030204" pitchFamily="18" charset="0"/>
                            </a:rPr>
                            <m:t>𝑛</m:t>
                          </m:r>
                        </m:sup>
                        <m:e>
                          <m:groupChr>
                            <m:groupChrPr>
                              <m:chr m:val="‾"/>
                              <m:pos m:val="top"/>
                              <m:vertJc m:val="bot"/>
                              <m:ctrlPr>
                                <a:rPr lang="ar-AE" altLang="ja-JP" i="1">
                                  <a:solidFill>
                                    <a:srgbClr val="C00000"/>
                                  </a:solidFill>
                                  <a:latin typeface="Cambria Math" panose="02040503050406030204" pitchFamily="18" charset="0"/>
                                </a:rPr>
                              </m:ctrlPr>
                            </m:groupChrPr>
                            <m:e>
                              <m:sSub>
                                <m:sSubPr>
                                  <m:ctrlPr>
                                    <a:rPr lang="ar-AE" altLang="ja-JP" i="1">
                                      <a:solidFill>
                                        <a:srgbClr val="C00000"/>
                                      </a:solidFill>
                                      <a:latin typeface="Cambria Math" panose="02040503050406030204" pitchFamily="18" charset="0"/>
                                    </a:rPr>
                                  </m:ctrlPr>
                                </m:sSubPr>
                                <m:e>
                                  <m:r>
                                    <a:rPr lang="ja-JP" altLang="ar-AE" i="1">
                                      <a:solidFill>
                                        <a:srgbClr val="C00000"/>
                                      </a:solidFill>
                                      <a:latin typeface="Cambria Math" panose="02040503050406030204" pitchFamily="18" charset="0"/>
                                    </a:rPr>
                                    <m:t>𝑥</m:t>
                                  </m:r>
                                </m:e>
                                <m:sub>
                                  <m:r>
                                    <a:rPr lang="ja-JP" altLang="ar-AE" i="1">
                                      <a:solidFill>
                                        <a:srgbClr val="C00000"/>
                                      </a:solidFill>
                                      <a:latin typeface="Cambria Math" panose="02040503050406030204" pitchFamily="18" charset="0"/>
                                    </a:rPr>
                                    <m:t>𝑖</m:t>
                                  </m:r>
                                </m:sub>
                              </m:sSub>
                            </m:e>
                          </m:groupChr>
                        </m:e>
                      </m:nary>
                      <m:sSub>
                        <m:sSubPr>
                          <m:ctrlPr>
                            <a:rPr lang="ar-AE" altLang="ja-JP" i="1">
                              <a:solidFill>
                                <a:srgbClr val="C00000"/>
                              </a:solidFill>
                              <a:latin typeface="Cambria Math" panose="02040503050406030204" pitchFamily="18" charset="0"/>
                            </a:rPr>
                          </m:ctrlPr>
                        </m:sSubPr>
                        <m:e>
                          <m:r>
                            <a:rPr lang="ja-JP" altLang="ar-AE" i="1">
                              <a:solidFill>
                                <a:srgbClr val="C00000"/>
                              </a:solidFill>
                              <a:latin typeface="Cambria Math" panose="02040503050406030204" pitchFamily="18" charset="0"/>
                            </a:rPr>
                            <m:t>𝑦</m:t>
                          </m:r>
                        </m:e>
                        <m:sub>
                          <m:r>
                            <a:rPr lang="ja-JP" altLang="ar-AE" i="1">
                              <a:solidFill>
                                <a:srgbClr val="C00000"/>
                              </a:solidFill>
                              <a:latin typeface="Cambria Math" panose="02040503050406030204" pitchFamily="18" charset="0"/>
                            </a:rPr>
                            <m:t>𝑖</m:t>
                          </m:r>
                        </m:sub>
                      </m:sSub>
                      <m:r>
                        <a:rPr lang="ar-AE" altLang="ja-JP">
                          <a:solidFill>
                            <a:srgbClr val="C00000"/>
                          </a:solidFill>
                          <a:latin typeface="Cambria Math" panose="02040503050406030204" pitchFamily="18" charset="0"/>
                        </a:rPr>
                        <m:t>.</m:t>
                      </m:r>
                    </m:oMath>
                  </m:oMathPara>
                </a14:m>
                <a:endParaRPr lang="ar-AE" altLang="ja-JP" dirty="0">
                  <a:solidFill>
                    <a:srgbClr val="C00000"/>
                  </a:solidFill>
                </a:endParaRPr>
              </a:p>
              <a:p>
                <a:pPr marL="0" indent="0">
                  <a:lnSpc>
                    <a:spcPct val="120000"/>
                  </a:lnSpc>
                  <a:buNone/>
                </a:pPr>
                <a:r>
                  <a:rPr lang="ja-JP" altLang="en-US" dirty="0"/>
                  <a:t>也可以写成矩阵形式：</a:t>
                </a:r>
                <a14:m>
                  <m:oMath xmlns:m="http://schemas.openxmlformats.org/officeDocument/2006/math">
                    <m:d>
                      <m:dPr>
                        <m:begChr m:val="⟨"/>
                        <m:endChr m:val="⟩"/>
                        <m:sepChr m:val=","/>
                        <m:ctrlPr>
                          <a:rPr lang="ar-AE" altLang="ja-JP" i="1">
                            <a:latin typeface="Cambria Math" panose="02040503050406030204" pitchFamily="18" charset="0"/>
                          </a:rPr>
                        </m:ctrlPr>
                      </m:dPr>
                      <m:e>
                        <m:r>
                          <a:rPr lang="ja-JP" altLang="ar-AE" i="1">
                            <a:latin typeface="Cambria Math" panose="02040503050406030204" pitchFamily="18" charset="0"/>
                          </a:rPr>
                          <m:t>𝑥</m:t>
                        </m:r>
                      </m:e>
                      <m:e>
                        <m:r>
                          <a:rPr lang="ja-JP" altLang="ar-AE" i="1">
                            <a:latin typeface="Cambria Math" panose="02040503050406030204" pitchFamily="18" charset="0"/>
                          </a:rPr>
                          <m:t>𝑦</m:t>
                        </m:r>
                      </m:e>
                    </m:d>
                    <m:r>
                      <a:rPr lang="ar-AE" altLang="ja-JP">
                        <a:latin typeface="Cambria Math" panose="02040503050406030204" pitchFamily="18" charset="0"/>
                      </a:rPr>
                      <m:t>=</m:t>
                    </m:r>
                    <m:sSup>
                      <m:sSupPr>
                        <m:ctrlPr>
                          <a:rPr lang="ar-AE" altLang="ja-JP" i="1">
                            <a:latin typeface="Cambria Math" panose="02040503050406030204" pitchFamily="18" charset="0"/>
                          </a:rPr>
                        </m:ctrlPr>
                      </m:sSupPr>
                      <m:e>
                        <m:r>
                          <a:rPr lang="ja-JP" altLang="ar-AE" i="1">
                            <a:latin typeface="Cambria Math" panose="02040503050406030204" pitchFamily="18" charset="0"/>
                          </a:rPr>
                          <m:t>𝑥</m:t>
                        </m:r>
                      </m:e>
                      <m:sup>
                        <m:r>
                          <a:rPr lang="ar-AE" altLang="ja-JP">
                            <a:latin typeface="Cambria Math" panose="02040503050406030204" pitchFamily="18" charset="0"/>
                          </a:rPr>
                          <m:t>†</m:t>
                        </m:r>
                      </m:sup>
                    </m:sSup>
                    <m:r>
                      <a:rPr lang="ja-JP" altLang="ar-AE" i="1">
                        <a:latin typeface="Cambria Math" panose="02040503050406030204" pitchFamily="18" charset="0"/>
                      </a:rPr>
                      <m:t>𝑦</m:t>
                    </m:r>
                    <m:r>
                      <a:rPr lang="ar-AE" altLang="ja-JP">
                        <a:latin typeface="Cambria Math" panose="02040503050406030204" pitchFamily="18" charset="0"/>
                      </a:rPr>
                      <m:t>.</m:t>
                    </m:r>
                  </m:oMath>
                </a14:m>
                <a:r>
                  <a:rPr lang="ja-JP" altLang="en-US" dirty="0"/>
                  <a:t>   </a:t>
                </a:r>
                <a14:m>
                  <m:oMath xmlns:m="http://schemas.openxmlformats.org/officeDocument/2006/math">
                    <m:groupChr>
                      <m:groupChrPr>
                        <m:chr m:val="‾"/>
                        <m:pos m:val="top"/>
                        <m:vertJc m:val="bot"/>
                        <m:ctrlPr>
                          <a:rPr lang="ar-AE" altLang="ja-JP" i="1">
                            <a:latin typeface="Cambria Math" panose="02040503050406030204" pitchFamily="18" charset="0"/>
                          </a:rPr>
                        </m:ctrlPr>
                      </m:groupChrPr>
                      <m:e>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ja-JP" altLang="ar-AE" i="1">
                                <a:latin typeface="Cambria Math" panose="02040503050406030204" pitchFamily="18" charset="0"/>
                              </a:rPr>
                              <m:t>𝑖</m:t>
                            </m:r>
                          </m:sub>
                        </m:sSub>
                      </m:e>
                    </m:groupChr>
                  </m:oMath>
                </a14:m>
                <a:r>
                  <a:rPr lang="ja-JP" altLang="en-US" dirty="0"/>
                  <a:t>表示复共轭。如果</a:t>
                </a:r>
                <a14:m>
                  <m:oMath xmlns:m="http://schemas.openxmlformats.org/officeDocument/2006/math">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ja-JP" altLang="ar-AE" i="1">
                            <a:latin typeface="Cambria Math" panose="02040503050406030204" pitchFamily="18" charset="0"/>
                          </a:rPr>
                          <m:t>𝑖</m:t>
                        </m:r>
                      </m:sub>
                    </m:sSub>
                    <m:r>
                      <a:rPr lang="ar-AE" altLang="ja-JP">
                        <a:latin typeface="Cambria Math" panose="02040503050406030204" pitchFamily="18" charset="0"/>
                      </a:rPr>
                      <m:t>=</m:t>
                    </m:r>
                    <m:r>
                      <a:rPr lang="ja-JP" altLang="ar-AE" i="1">
                        <a:latin typeface="Cambria Math" panose="02040503050406030204" pitchFamily="18" charset="0"/>
                      </a:rPr>
                      <m:t>𝑎</m:t>
                    </m:r>
                    <m:r>
                      <a:rPr lang="ar-AE" altLang="ja-JP">
                        <a:latin typeface="Cambria Math" panose="02040503050406030204" pitchFamily="18" charset="0"/>
                      </a:rPr>
                      <m:t>+</m:t>
                    </m:r>
                    <m:r>
                      <a:rPr lang="ja-JP" altLang="ar-AE" i="1">
                        <a:latin typeface="Cambria Math" panose="02040503050406030204" pitchFamily="18" charset="0"/>
                      </a:rPr>
                      <m:t>𝑏𝑖</m:t>
                    </m:r>
                    <m:r>
                      <a:rPr lang="ar-AE" altLang="ja-JP">
                        <a:latin typeface="Cambria Math" panose="02040503050406030204" pitchFamily="18" charset="0"/>
                      </a:rPr>
                      <m:t>,</m:t>
                    </m:r>
                  </m:oMath>
                </a14:m>
                <a:r>
                  <a:rPr lang="ja-JP" altLang="en-US" dirty="0"/>
                  <a:t> 那么</a:t>
                </a:r>
                <a14:m>
                  <m:oMath xmlns:m="http://schemas.openxmlformats.org/officeDocument/2006/math">
                    <m:groupChr>
                      <m:groupChrPr>
                        <m:chr m:val="‾"/>
                        <m:pos m:val="top"/>
                        <m:vertJc m:val="bot"/>
                        <m:ctrlPr>
                          <a:rPr lang="ar-AE" altLang="ja-JP" i="1">
                            <a:latin typeface="Cambria Math" panose="02040503050406030204" pitchFamily="18" charset="0"/>
                          </a:rPr>
                        </m:ctrlPr>
                      </m:groupChrPr>
                      <m:e>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ja-JP" altLang="ar-AE" i="1">
                                <a:latin typeface="Cambria Math" panose="02040503050406030204" pitchFamily="18" charset="0"/>
                              </a:rPr>
                              <m:t>𝑖</m:t>
                            </m:r>
                          </m:sub>
                        </m:sSub>
                      </m:e>
                    </m:groupChr>
                    <m:r>
                      <a:rPr lang="ar-AE" altLang="ja-JP">
                        <a:latin typeface="Cambria Math" panose="02040503050406030204" pitchFamily="18" charset="0"/>
                      </a:rPr>
                      <m:t>=</m:t>
                    </m:r>
                    <m:r>
                      <a:rPr lang="ja-JP" altLang="ar-AE" i="1">
                        <a:latin typeface="Cambria Math" panose="02040503050406030204" pitchFamily="18" charset="0"/>
                      </a:rPr>
                      <m:t>𝑎</m:t>
                    </m:r>
                    <m:r>
                      <a:rPr lang="ar-AE" altLang="ja-JP">
                        <a:latin typeface="Cambria Math" panose="02040503050406030204" pitchFamily="18" charset="0"/>
                      </a:rPr>
                      <m:t>−</m:t>
                    </m:r>
                    <m:r>
                      <a:rPr lang="ja-JP" altLang="ar-AE" i="1">
                        <a:latin typeface="Cambria Math" panose="02040503050406030204" pitchFamily="18" charset="0"/>
                      </a:rPr>
                      <m:t>𝑏𝑖</m:t>
                    </m:r>
                    <m:r>
                      <a:rPr lang="ar-AE" altLang="ja-JP">
                        <a:latin typeface="Cambria Math" panose="02040503050406030204" pitchFamily="18" charset="0"/>
                      </a:rPr>
                      <m:t>.</m:t>
                    </m:r>
                  </m:oMath>
                </a14:m>
                <a:endParaRPr lang="ar-AE" altLang="ja-JP" dirty="0"/>
              </a:p>
              <a:p>
                <a:pPr marL="0" indent="0">
                  <a:lnSpc>
                    <a:spcPct val="120000"/>
                  </a:lnSpc>
                  <a:buNone/>
                </a:pPr>
                <a:r>
                  <a:rPr lang="ja-JP" altLang="en-US" dirty="0"/>
                  <a:t>有了复共轭之后，能保证：</a:t>
                </a:r>
                <a:endParaRPr lang="en-US" altLang="ja-JP" dirty="0"/>
              </a:p>
              <a:p>
                <a:pPr marL="0" indent="0">
                  <a:lnSpc>
                    <a:spcPct val="120000"/>
                  </a:lnSpc>
                  <a:buNone/>
                </a:pPr>
                <a14:m>
                  <m:oMathPara xmlns:m="http://schemas.openxmlformats.org/officeDocument/2006/math">
                    <m:oMathParaPr>
                      <m:jc m:val="centerGroup"/>
                    </m:oMathParaPr>
                    <m:oMath xmlns:m="http://schemas.openxmlformats.org/officeDocument/2006/math">
                      <m:d>
                        <m:dPr>
                          <m:begChr m:val="⟨"/>
                          <m:endChr m:val="⟩"/>
                          <m:sepChr m:val=","/>
                          <m:ctrlPr>
                            <a:rPr lang="ar-AE" altLang="ja-JP" i="1" smtClean="0">
                              <a:solidFill>
                                <a:srgbClr val="C00000"/>
                              </a:solidFill>
                              <a:latin typeface="Cambria Math" panose="02040503050406030204" pitchFamily="18" charset="0"/>
                            </a:rPr>
                          </m:ctrlPr>
                        </m:dPr>
                        <m:e>
                          <m:r>
                            <a:rPr lang="ja-JP" altLang="ar-AE" i="1">
                              <a:solidFill>
                                <a:srgbClr val="C00000"/>
                              </a:solidFill>
                              <a:latin typeface="Cambria Math" panose="02040503050406030204" pitchFamily="18" charset="0"/>
                            </a:rPr>
                            <m:t>𝑥</m:t>
                          </m:r>
                        </m:e>
                        <m:e>
                          <m:r>
                            <a:rPr lang="ja-JP" altLang="ar-AE" i="1">
                              <a:solidFill>
                                <a:srgbClr val="C00000"/>
                              </a:solidFill>
                              <a:latin typeface="Cambria Math" panose="02040503050406030204" pitchFamily="18" charset="0"/>
                            </a:rPr>
                            <m:t>𝑥</m:t>
                          </m:r>
                        </m:e>
                      </m:d>
                      <m:r>
                        <a:rPr lang="ar-AE" altLang="ja-JP">
                          <a:solidFill>
                            <a:srgbClr val="C00000"/>
                          </a:solidFill>
                          <a:latin typeface="Cambria Math" panose="02040503050406030204" pitchFamily="18" charset="0"/>
                        </a:rPr>
                        <m:t>=</m:t>
                      </m:r>
                      <m:nary>
                        <m:naryPr>
                          <m:chr m:val="∑"/>
                          <m:grow m:val="on"/>
                          <m:ctrlPr>
                            <a:rPr lang="ar-AE" altLang="ja-JP" i="1">
                              <a:solidFill>
                                <a:srgbClr val="C00000"/>
                              </a:solidFill>
                              <a:latin typeface="Cambria Math" panose="02040503050406030204" pitchFamily="18" charset="0"/>
                            </a:rPr>
                          </m:ctrlPr>
                        </m:naryPr>
                        <m:sub>
                          <m:r>
                            <a:rPr lang="ja-JP" altLang="ar-AE" i="1">
                              <a:solidFill>
                                <a:srgbClr val="C00000"/>
                              </a:solidFill>
                              <a:latin typeface="Cambria Math" panose="02040503050406030204" pitchFamily="18" charset="0"/>
                            </a:rPr>
                            <m:t>𝑖</m:t>
                          </m:r>
                          <m:r>
                            <a:rPr lang="ar-AE" altLang="ja-JP">
                              <a:solidFill>
                                <a:srgbClr val="C00000"/>
                              </a:solidFill>
                              <a:latin typeface="Cambria Math" panose="02040503050406030204" pitchFamily="18" charset="0"/>
                            </a:rPr>
                            <m:t>=</m:t>
                          </m:r>
                          <m:r>
                            <a:rPr lang="ar-AE" altLang="ja-JP">
                              <a:solidFill>
                                <a:srgbClr val="C00000"/>
                              </a:solidFill>
                              <a:latin typeface="Cambria Math" panose="02040503050406030204" pitchFamily="18" charset="0"/>
                            </a:rPr>
                            <m:t>1</m:t>
                          </m:r>
                        </m:sub>
                        <m:sup>
                          <m:r>
                            <a:rPr lang="ja-JP" altLang="ar-AE" i="1">
                              <a:solidFill>
                                <a:srgbClr val="C00000"/>
                              </a:solidFill>
                              <a:latin typeface="Cambria Math" panose="02040503050406030204" pitchFamily="18" charset="0"/>
                            </a:rPr>
                            <m:t>𝑛</m:t>
                          </m:r>
                        </m:sup>
                        <m:e>
                          <m:groupChr>
                            <m:groupChrPr>
                              <m:chr m:val="‾"/>
                              <m:pos m:val="top"/>
                              <m:vertJc m:val="bot"/>
                              <m:ctrlPr>
                                <a:rPr lang="ar-AE" altLang="ja-JP" i="1">
                                  <a:solidFill>
                                    <a:srgbClr val="C00000"/>
                                  </a:solidFill>
                                  <a:latin typeface="Cambria Math" panose="02040503050406030204" pitchFamily="18" charset="0"/>
                                </a:rPr>
                              </m:ctrlPr>
                            </m:groupChrPr>
                            <m:e>
                              <m:sSub>
                                <m:sSubPr>
                                  <m:ctrlPr>
                                    <a:rPr lang="ar-AE" altLang="ja-JP" i="1">
                                      <a:solidFill>
                                        <a:srgbClr val="C00000"/>
                                      </a:solidFill>
                                      <a:latin typeface="Cambria Math" panose="02040503050406030204" pitchFamily="18" charset="0"/>
                                    </a:rPr>
                                  </m:ctrlPr>
                                </m:sSubPr>
                                <m:e>
                                  <m:r>
                                    <a:rPr lang="ja-JP" altLang="ar-AE" i="1">
                                      <a:solidFill>
                                        <a:srgbClr val="C00000"/>
                                      </a:solidFill>
                                      <a:latin typeface="Cambria Math" panose="02040503050406030204" pitchFamily="18" charset="0"/>
                                    </a:rPr>
                                    <m:t>𝑥</m:t>
                                  </m:r>
                                </m:e>
                                <m:sub>
                                  <m:r>
                                    <a:rPr lang="ja-JP" altLang="ar-AE" i="1">
                                      <a:solidFill>
                                        <a:srgbClr val="C00000"/>
                                      </a:solidFill>
                                      <a:latin typeface="Cambria Math" panose="02040503050406030204" pitchFamily="18" charset="0"/>
                                    </a:rPr>
                                    <m:t>𝑖</m:t>
                                  </m:r>
                                </m:sub>
                              </m:sSub>
                            </m:e>
                          </m:groupChr>
                        </m:e>
                      </m:nary>
                      <m:sSub>
                        <m:sSubPr>
                          <m:ctrlPr>
                            <a:rPr lang="ar-AE" altLang="ja-JP" i="1">
                              <a:solidFill>
                                <a:srgbClr val="C00000"/>
                              </a:solidFill>
                              <a:latin typeface="Cambria Math" panose="02040503050406030204" pitchFamily="18" charset="0"/>
                            </a:rPr>
                          </m:ctrlPr>
                        </m:sSubPr>
                        <m:e>
                          <m:r>
                            <a:rPr lang="ja-JP" altLang="ar-AE" i="1">
                              <a:solidFill>
                                <a:srgbClr val="C00000"/>
                              </a:solidFill>
                              <a:latin typeface="Cambria Math" panose="02040503050406030204" pitchFamily="18" charset="0"/>
                            </a:rPr>
                            <m:t>𝑥</m:t>
                          </m:r>
                        </m:e>
                        <m:sub>
                          <m:r>
                            <a:rPr lang="ja-JP" altLang="ar-AE" i="1">
                              <a:solidFill>
                                <a:srgbClr val="C00000"/>
                              </a:solidFill>
                              <a:latin typeface="Cambria Math" panose="02040503050406030204" pitchFamily="18" charset="0"/>
                            </a:rPr>
                            <m:t>𝑖</m:t>
                          </m:r>
                        </m:sub>
                      </m:sSub>
                      <m:r>
                        <a:rPr lang="ar-AE" altLang="ja-JP">
                          <a:solidFill>
                            <a:srgbClr val="C00000"/>
                          </a:solidFill>
                          <a:latin typeface="Cambria Math" panose="02040503050406030204" pitchFamily="18" charset="0"/>
                        </a:rPr>
                        <m:t>=</m:t>
                      </m:r>
                      <m:nary>
                        <m:naryPr>
                          <m:chr m:val="∑"/>
                          <m:grow m:val="on"/>
                          <m:ctrlPr>
                            <a:rPr lang="ar-AE" altLang="ja-JP" i="1">
                              <a:solidFill>
                                <a:srgbClr val="C00000"/>
                              </a:solidFill>
                              <a:latin typeface="Cambria Math" panose="02040503050406030204" pitchFamily="18" charset="0"/>
                            </a:rPr>
                          </m:ctrlPr>
                        </m:naryPr>
                        <m:sub>
                          <m:r>
                            <a:rPr lang="ja-JP" altLang="ar-AE" i="1">
                              <a:solidFill>
                                <a:srgbClr val="C00000"/>
                              </a:solidFill>
                              <a:latin typeface="Cambria Math" panose="02040503050406030204" pitchFamily="18" charset="0"/>
                            </a:rPr>
                            <m:t>𝑖</m:t>
                          </m:r>
                          <m:r>
                            <a:rPr lang="ar-AE" altLang="ja-JP">
                              <a:solidFill>
                                <a:srgbClr val="C00000"/>
                              </a:solidFill>
                              <a:latin typeface="Cambria Math" panose="02040503050406030204" pitchFamily="18" charset="0"/>
                            </a:rPr>
                            <m:t>=</m:t>
                          </m:r>
                          <m:r>
                            <a:rPr lang="ar-AE" altLang="ja-JP">
                              <a:solidFill>
                                <a:srgbClr val="C00000"/>
                              </a:solidFill>
                              <a:latin typeface="Cambria Math" panose="02040503050406030204" pitchFamily="18" charset="0"/>
                            </a:rPr>
                            <m:t>1</m:t>
                          </m:r>
                        </m:sub>
                        <m:sup>
                          <m:r>
                            <a:rPr lang="ja-JP" altLang="ar-AE" i="1">
                              <a:solidFill>
                                <a:srgbClr val="C00000"/>
                              </a:solidFill>
                              <a:latin typeface="Cambria Math" panose="02040503050406030204" pitchFamily="18" charset="0"/>
                            </a:rPr>
                            <m:t>𝑛</m:t>
                          </m:r>
                        </m:sup>
                        <m:e>
                          <m:r>
                            <a:rPr lang="ar-AE" altLang="ja-JP">
                              <a:solidFill>
                                <a:srgbClr val="C00000"/>
                              </a:solidFill>
                              <a:latin typeface="Cambria Math" panose="02040503050406030204" pitchFamily="18" charset="0"/>
                            </a:rPr>
                            <m:t>∣</m:t>
                          </m:r>
                        </m:e>
                      </m:nary>
                      <m:sSub>
                        <m:sSubPr>
                          <m:ctrlPr>
                            <a:rPr lang="ar-AE" altLang="ja-JP" i="1">
                              <a:solidFill>
                                <a:srgbClr val="C00000"/>
                              </a:solidFill>
                              <a:latin typeface="Cambria Math" panose="02040503050406030204" pitchFamily="18" charset="0"/>
                            </a:rPr>
                          </m:ctrlPr>
                        </m:sSubPr>
                        <m:e>
                          <m:r>
                            <a:rPr lang="ja-JP" altLang="ar-AE" i="1">
                              <a:solidFill>
                                <a:srgbClr val="C00000"/>
                              </a:solidFill>
                              <a:latin typeface="Cambria Math" panose="02040503050406030204" pitchFamily="18" charset="0"/>
                            </a:rPr>
                            <m:t>𝑥</m:t>
                          </m:r>
                        </m:e>
                        <m:sub>
                          <m:r>
                            <a:rPr lang="ja-JP" altLang="ar-AE" i="1">
                              <a:solidFill>
                                <a:srgbClr val="C00000"/>
                              </a:solidFill>
                              <a:latin typeface="Cambria Math" panose="02040503050406030204" pitchFamily="18" charset="0"/>
                            </a:rPr>
                            <m:t>𝑖</m:t>
                          </m:r>
                        </m:sub>
                      </m:sSub>
                      <m:sSup>
                        <m:sSupPr>
                          <m:ctrlPr>
                            <a:rPr lang="ar-AE" altLang="ja-JP" i="1">
                              <a:solidFill>
                                <a:srgbClr val="C00000"/>
                              </a:solidFill>
                              <a:latin typeface="Cambria Math" panose="02040503050406030204" pitchFamily="18" charset="0"/>
                            </a:rPr>
                          </m:ctrlPr>
                        </m:sSupPr>
                        <m:e>
                          <m:r>
                            <a:rPr lang="ar-AE" altLang="ja-JP">
                              <a:solidFill>
                                <a:srgbClr val="C00000"/>
                              </a:solidFill>
                              <a:latin typeface="Cambria Math" panose="02040503050406030204" pitchFamily="18" charset="0"/>
                            </a:rPr>
                            <m:t>∣</m:t>
                          </m:r>
                        </m:e>
                        <m:sup>
                          <m:r>
                            <a:rPr lang="ar-AE" altLang="ja-JP">
                              <a:solidFill>
                                <a:srgbClr val="C00000"/>
                              </a:solidFill>
                              <a:latin typeface="Cambria Math" panose="02040503050406030204" pitchFamily="18" charset="0"/>
                            </a:rPr>
                            <m:t>2</m:t>
                          </m:r>
                        </m:sup>
                      </m:sSup>
                      <m:r>
                        <a:rPr lang="ar-AE" altLang="ja-JP">
                          <a:solidFill>
                            <a:srgbClr val="C00000"/>
                          </a:solidFill>
                          <a:latin typeface="Cambria Math" panose="02040503050406030204" pitchFamily="18" charset="0"/>
                        </a:rPr>
                        <m:t>≥</m:t>
                      </m:r>
                      <m:r>
                        <a:rPr lang="ar-AE" altLang="ja-JP">
                          <a:solidFill>
                            <a:srgbClr val="C00000"/>
                          </a:solidFill>
                          <a:latin typeface="Cambria Math" panose="02040503050406030204" pitchFamily="18" charset="0"/>
                        </a:rPr>
                        <m:t>0</m:t>
                      </m:r>
                      <m:r>
                        <a:rPr lang="ar-AE" altLang="ja-JP">
                          <a:solidFill>
                            <a:srgbClr val="C00000"/>
                          </a:solidFill>
                          <a:latin typeface="Cambria Math" panose="02040503050406030204" pitchFamily="18" charset="0"/>
                        </a:rPr>
                        <m:t>.</m:t>
                      </m:r>
                    </m:oMath>
                  </m:oMathPara>
                </a14:m>
                <a:endParaRPr lang="ar-AE" altLang="ja-JP" dirty="0">
                  <a:solidFill>
                    <a:srgbClr val="C00000"/>
                  </a:solidFill>
                </a:endParaRPr>
              </a:p>
              <a:p>
                <a:pPr>
                  <a:lnSpc>
                    <a:spcPct val="120000"/>
                  </a:lnSpc>
                </a:pPr>
                <a:r>
                  <a:rPr lang="ja-JP" altLang="en-US" dirty="0"/>
                  <a:t>复向量的长度定义为：</a:t>
                </a:r>
                <a14:m>
                  <m:oMath xmlns:m="http://schemas.openxmlformats.org/officeDocument/2006/math">
                    <m:r>
                      <a:rPr lang="ja-JP" altLang="en-US">
                        <a:latin typeface="Cambria Math" panose="02040503050406030204" pitchFamily="18" charset="0"/>
                      </a:rPr>
                      <m:t>∥</m:t>
                    </m:r>
                    <m:r>
                      <a:rPr lang="ja-JP" altLang="en-US" i="1">
                        <a:latin typeface="Cambria Math" panose="02040503050406030204" pitchFamily="18" charset="0"/>
                      </a:rPr>
                      <m:t>𝑥</m:t>
                    </m:r>
                    <m:r>
                      <a:rPr lang="ja-JP" altLang="en-US">
                        <a:latin typeface="Cambria Math" panose="02040503050406030204" pitchFamily="18" charset="0"/>
                      </a:rPr>
                      <m:t>∥</m:t>
                    </m:r>
                    <m:r>
                      <a:rPr lang="en-US" altLang="ja-JP">
                        <a:latin typeface="Cambria Math" panose="02040503050406030204" pitchFamily="18" charset="0"/>
                      </a:rPr>
                      <m:t>=</m:t>
                    </m:r>
                    <m:rad>
                      <m:radPr>
                        <m:degHide m:val="on"/>
                        <m:ctrlPr>
                          <a:rPr lang="ar-AE" altLang="ja-JP" i="1">
                            <a:latin typeface="Cambria Math" panose="02040503050406030204" pitchFamily="18" charset="0"/>
                          </a:rPr>
                        </m:ctrlPr>
                      </m:radPr>
                      <m:deg/>
                      <m:e>
                        <m:d>
                          <m:dPr>
                            <m:begChr m:val="⟨"/>
                            <m:endChr m:val="⟩"/>
                            <m:sepChr m:val=","/>
                            <m:ctrlPr>
                              <a:rPr lang="ar-AE" altLang="ja-JP" i="1">
                                <a:latin typeface="Cambria Math" panose="02040503050406030204" pitchFamily="18" charset="0"/>
                              </a:rPr>
                            </m:ctrlPr>
                          </m:dPr>
                          <m:e>
                            <m:r>
                              <a:rPr lang="ja-JP" altLang="ar-AE" i="1">
                                <a:latin typeface="Cambria Math" panose="02040503050406030204" pitchFamily="18" charset="0"/>
                              </a:rPr>
                              <m:t>𝑥</m:t>
                            </m:r>
                          </m:e>
                          <m:e>
                            <m:r>
                              <a:rPr lang="ja-JP" altLang="ar-AE" i="1">
                                <a:latin typeface="Cambria Math" panose="02040503050406030204" pitchFamily="18" charset="0"/>
                              </a:rPr>
                              <m:t>𝑥</m:t>
                            </m:r>
                          </m:e>
                        </m:d>
                      </m:e>
                    </m:rad>
                    <m:r>
                      <a:rPr lang="ar-AE" altLang="ja-JP">
                        <a:latin typeface="Cambria Math" panose="02040503050406030204" pitchFamily="18" charset="0"/>
                      </a:rPr>
                      <m:t>=</m:t>
                    </m:r>
                    <m:rad>
                      <m:radPr>
                        <m:degHide m:val="on"/>
                        <m:ctrlPr>
                          <a:rPr lang="ar-AE" altLang="ja-JP" i="1">
                            <a:latin typeface="Cambria Math" panose="02040503050406030204" pitchFamily="18" charset="0"/>
                          </a:rPr>
                        </m:ctrlPr>
                      </m:radPr>
                      <m:deg/>
                      <m:e>
                        <m:nary>
                          <m:naryPr>
                            <m:chr m:val="∑"/>
                            <m:grow m:val="on"/>
                            <m:ctrlPr>
                              <a:rPr lang="ar-AE" altLang="ja-JP" i="1">
                                <a:latin typeface="Cambria Math" panose="02040503050406030204" pitchFamily="18" charset="0"/>
                              </a:rPr>
                            </m:ctrlPr>
                          </m:naryPr>
                          <m:sub>
                            <m:r>
                              <a:rPr lang="ja-JP" altLang="ar-AE" i="1">
                                <a:latin typeface="Cambria Math" panose="02040503050406030204" pitchFamily="18" charset="0"/>
                              </a:rPr>
                              <m:t>𝑖</m:t>
                            </m:r>
                            <m:r>
                              <a:rPr lang="ar-AE" altLang="ja-JP">
                                <a:latin typeface="Cambria Math" panose="02040503050406030204" pitchFamily="18" charset="0"/>
                              </a:rPr>
                              <m:t>=</m:t>
                            </m:r>
                            <m:r>
                              <a:rPr lang="ar-AE" altLang="ja-JP">
                                <a:latin typeface="Cambria Math" panose="02040503050406030204" pitchFamily="18" charset="0"/>
                              </a:rPr>
                              <m:t>1</m:t>
                            </m:r>
                          </m:sub>
                          <m:sup>
                            <m:r>
                              <a:rPr lang="ja-JP" altLang="ar-AE" i="1">
                                <a:latin typeface="Cambria Math" panose="02040503050406030204" pitchFamily="18" charset="0"/>
                              </a:rPr>
                              <m:t>𝑛</m:t>
                            </m:r>
                          </m:sup>
                          <m:e>
                            <m:r>
                              <a:rPr lang="ar-AE" altLang="ja-JP">
                                <a:latin typeface="Cambria Math" panose="02040503050406030204" pitchFamily="18" charset="0"/>
                              </a:rPr>
                              <m:t>∣</m:t>
                            </m:r>
                          </m:e>
                        </m:nary>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ja-JP" altLang="ar-AE" i="1">
                                <a:latin typeface="Cambria Math" panose="02040503050406030204" pitchFamily="18" charset="0"/>
                              </a:rPr>
                              <m:t>𝑖</m:t>
                            </m:r>
                          </m:sub>
                        </m:sSub>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e>
                    </m:rad>
                    <m:r>
                      <a:rPr lang="ar-AE" altLang="ja-JP">
                        <a:latin typeface="Cambria Math" panose="02040503050406030204" pitchFamily="18" charset="0"/>
                      </a:rPr>
                      <m:t>.</m:t>
                    </m:r>
                  </m:oMath>
                </a14:m>
                <a:r>
                  <a:rPr lang="ja-JP" altLang="en-US" dirty="0"/>
                  <a:t>  这和实向量空间中的长度公式非常相似，只不过实数平方 </a:t>
                </a:r>
                <a14:m>
                  <m:oMath xmlns:m="http://schemas.openxmlformats.org/officeDocument/2006/math">
                    <m:sSubSup>
                      <m:sSubSupPr>
                        <m:ctrlPr>
                          <a:rPr lang="ar-AE" altLang="ja-JP" i="1">
                            <a:latin typeface="Cambria Math" panose="02040503050406030204" pitchFamily="18" charset="0"/>
                          </a:rPr>
                        </m:ctrlPr>
                      </m:sSubSupPr>
                      <m:e>
                        <m:r>
                          <a:rPr lang="ja-JP" altLang="ar-AE" i="1">
                            <a:latin typeface="Cambria Math" panose="02040503050406030204" pitchFamily="18" charset="0"/>
                          </a:rPr>
                          <m:t>𝑥</m:t>
                        </m:r>
                      </m:e>
                      <m:sub>
                        <m:r>
                          <a:rPr lang="ja-JP" altLang="ar-AE" i="1">
                            <a:latin typeface="Cambria Math" panose="02040503050406030204" pitchFamily="18" charset="0"/>
                          </a:rPr>
                          <m:t>𝑖</m:t>
                        </m:r>
                      </m:sub>
                      <m:sup>
                        <m:r>
                          <a:rPr lang="ar-AE" altLang="ja-JP">
                            <a:latin typeface="Cambria Math" panose="02040503050406030204" pitchFamily="18" charset="0"/>
                          </a:rPr>
                          <m:t>2</m:t>
                        </m:r>
                      </m:sup>
                    </m:sSubSup>
                  </m:oMath>
                </a14:m>
                <a:r>
                  <a:rPr lang="ja-JP" altLang="en-US" dirty="0"/>
                  <a:t>被推广成了复数模长平方 </a:t>
                </a:r>
                <a14:m>
                  <m:oMath xmlns:m="http://schemas.openxmlformats.org/officeDocument/2006/math">
                    <m:r>
                      <a:rPr lang="ja-JP" altLang="en-US">
                        <a:latin typeface="Cambria Math" panose="02040503050406030204" pitchFamily="18" charset="0"/>
                      </a:rPr>
                      <m:t>∣</m:t>
                    </m:r>
                    <m:sSub>
                      <m:sSubPr>
                        <m:ctrlPr>
                          <a:rPr lang="ar-AE" altLang="ja-JP" i="1">
                            <a:latin typeface="Cambria Math" panose="02040503050406030204" pitchFamily="18" charset="0"/>
                          </a:rPr>
                        </m:ctrlPr>
                      </m:sSubPr>
                      <m:e>
                        <m:r>
                          <a:rPr lang="ja-JP" altLang="ar-AE" i="1">
                            <a:latin typeface="Cambria Math" panose="02040503050406030204" pitchFamily="18" charset="0"/>
                          </a:rPr>
                          <m:t>𝑥</m:t>
                        </m:r>
                      </m:e>
                      <m:sub>
                        <m:r>
                          <a:rPr lang="ja-JP" altLang="ar-AE" i="1">
                            <a:latin typeface="Cambria Math" panose="02040503050406030204" pitchFamily="18" charset="0"/>
                          </a:rPr>
                          <m:t>𝑖</m:t>
                        </m:r>
                      </m:sub>
                    </m:sSub>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oMath>
                </a14:m>
                <a:r>
                  <a:rPr lang="ja-JP" altLang="ar-AE" dirty="0"/>
                  <a:t>。</a:t>
                </a:r>
              </a:p>
              <a:p>
                <a:pPr>
                  <a:lnSpc>
                    <a:spcPct val="120000"/>
                  </a:lnSpc>
                  <a:buFont typeface="Wingdings" panose="05000000000000000000" pitchFamily="2" charset="2"/>
                  <a:buChar char="Ø"/>
                </a:pPr>
                <a:endParaRPr lang="zh-CN" altLang="en-US" dirty="0"/>
              </a:p>
            </p:txBody>
          </p:sp>
        </mc:Choice>
        <mc:Fallback>
          <p:sp>
            <p:nvSpPr>
              <p:cNvPr id="12" name="コンテンツ プレースホルダー 2">
                <a:extLst>
                  <a:ext uri="{FF2B5EF4-FFF2-40B4-BE49-F238E27FC236}">
                    <a16:creationId xmlns:a16="http://schemas.microsoft.com/office/drawing/2014/main" id="{1EDDBCBA-6863-F7F6-9794-638ECFEE0029}"/>
                  </a:ext>
                </a:extLst>
              </p:cNvPr>
              <p:cNvSpPr>
                <a:spLocks noGrp="1" noRot="1" noChangeAspect="1" noMove="1" noResize="1" noEditPoints="1" noAdjustHandles="1" noChangeArrowheads="1" noChangeShapeType="1" noTextEdit="1"/>
              </p:cNvSpPr>
              <p:nvPr>
                <p:ph idx="1"/>
              </p:nvPr>
            </p:nvSpPr>
            <p:spPr>
              <a:xfrm>
                <a:off x="508000" y="990600"/>
                <a:ext cx="11267440" cy="5440680"/>
              </a:xfrm>
              <a:blipFill>
                <a:blip r:embed="rId3"/>
                <a:stretch>
                  <a:fillRect l="-541" t="-448" b="-1367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39769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07A07-7BFB-480D-232C-0698DCB24580}"/>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03842010-E538-5B0C-8301-326835217E17}"/>
              </a:ext>
            </a:extLst>
          </p:cNvPr>
          <p:cNvSpPr>
            <a:spLocks noGrp="1" noChangeArrowheads="1"/>
          </p:cNvSpPr>
          <p:nvPr>
            <p:ph type="title"/>
          </p:nvPr>
        </p:nvSpPr>
        <p:spPr/>
        <p:txBody>
          <a:bodyPr/>
          <a:lstStyle/>
          <a:p>
            <a:r>
              <a:rPr lang="zh-CN" altLang="en-US" b="1" dirty="0">
                <a:latin typeface="+mj-ea"/>
              </a:rPr>
              <a:t>复 </a:t>
            </a:r>
            <a:r>
              <a:rPr lang="en-US" altLang="zh-CN" b="1" dirty="0">
                <a:latin typeface="+mj-ea"/>
              </a:rPr>
              <a:t>Hilbert </a:t>
            </a:r>
            <a:r>
              <a:rPr lang="zh-CN" altLang="en-US" b="1" dirty="0">
                <a:latin typeface="+mj-ea"/>
              </a:rPr>
              <a:t>空间</a:t>
            </a:r>
            <a:endParaRPr lang="ja-JP" altLang="en-US"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5F48ACE9-6CC2-4981-4371-CE6E71F97E1B}"/>
                  </a:ext>
                </a:extLst>
              </p:cNvPr>
              <p:cNvSpPr>
                <a:spLocks noGrp="1"/>
              </p:cNvSpPr>
              <p:nvPr>
                <p:ph idx="1"/>
              </p:nvPr>
            </p:nvSpPr>
            <p:spPr>
              <a:xfrm>
                <a:off x="178904" y="1112520"/>
                <a:ext cx="11708296" cy="5440680"/>
              </a:xfrm>
            </p:spPr>
            <p:txBody>
              <a:bodyPr/>
              <a:lstStyle/>
              <a:p>
                <a:pPr marL="0" indent="0">
                  <a:lnSpc>
                    <a:spcPct val="120000"/>
                  </a:lnSpc>
                  <a:buNone/>
                </a:pPr>
                <a:r>
                  <a:rPr lang="ja-JP" altLang="en-US" b="1" dirty="0">
                    <a:solidFill>
                      <a:srgbClr val="FF0000"/>
                    </a:solidFill>
                  </a:rPr>
                  <a:t>复 </a:t>
                </a:r>
                <a:r>
                  <a:rPr lang="en-US" altLang="ja-JP" b="1" dirty="0">
                    <a:solidFill>
                      <a:srgbClr val="FF0000"/>
                    </a:solidFill>
                  </a:rPr>
                  <a:t>Hilbert </a:t>
                </a:r>
                <a:r>
                  <a:rPr lang="ja-JP" altLang="en-US" b="1" dirty="0">
                    <a:solidFill>
                      <a:srgbClr val="FF0000"/>
                    </a:solidFill>
                  </a:rPr>
                  <a:t>空间中，由于内积带有复共轭，所以线性算子的伴随算子不是普通转置，而是共轭转置。</a:t>
                </a:r>
                <a:endParaRPr lang="en-US" altLang="ja-JP" b="1" dirty="0">
                  <a:solidFill>
                    <a:srgbClr val="FF0000"/>
                  </a:solidFill>
                </a:endParaRPr>
              </a:p>
              <a:p>
                <a:pPr marL="0" indent="0">
                  <a:lnSpc>
                    <a:spcPct val="120000"/>
                  </a:lnSpc>
                  <a:buNone/>
                </a:pPr>
                <a:r>
                  <a:rPr lang="zh-CN" altLang="en-US" dirty="0">
                    <a:solidFill>
                      <a:schemeClr val="tx1"/>
                    </a:solidFill>
                  </a:rPr>
                  <a:t>（</a:t>
                </a:r>
                <a:r>
                  <a:rPr lang="ja-JP" altLang="ja-JP" dirty="0">
                    <a:solidFill>
                      <a:schemeClr val="tx1"/>
                    </a:solidFill>
                  </a:rPr>
                  <a:t>在量子机器学习、量子神经网络、量子核方法中，</a:t>
                </a:r>
                <a:r>
                  <a:rPr lang="ja-JP" altLang="ja-JP" dirty="0"/>
                  <a:t>量子门是复矩阵 </a:t>
                </a:r>
                <a14:m>
                  <m:oMath xmlns:m="http://schemas.openxmlformats.org/officeDocument/2006/math">
                    <m:r>
                      <a:rPr lang="ja-JP" altLang="en-US" i="1"/>
                      <m:t>𝑈</m:t>
                    </m:r>
                    <m:r>
                      <a:rPr lang="zh-CN" altLang="en-US" i="1">
                        <a:latin typeface="Cambria Math" panose="02040503050406030204" pitchFamily="18" charset="0"/>
                      </a:rPr>
                      <m:t>。</m:t>
                    </m:r>
                    <m:sSup>
                      <m:sSupPr>
                        <m:ctrlPr>
                          <a:rPr lang="ja-JP" altLang="en-US">
                            <a:solidFill>
                              <a:schemeClr val="tx1"/>
                            </a:solidFill>
                          </a:rPr>
                        </m:ctrlPr>
                      </m:sSupPr>
                      <m:e>
                        <m:r>
                          <a:rPr lang="ja-JP" altLang="en-US" b="0" i="1">
                            <a:solidFill>
                              <a:schemeClr val="tx1"/>
                            </a:solidFill>
                          </a:rPr>
                          <m:t>𝑈</m:t>
                        </m:r>
                      </m:e>
                      <m:sup>
                        <m:r>
                          <a:rPr lang="en-US" altLang="ja-JP" b="0">
                            <a:solidFill>
                              <a:schemeClr val="tx1"/>
                            </a:solidFill>
                          </a:rPr>
                          <m:t>†</m:t>
                        </m:r>
                      </m:sup>
                    </m:sSup>
                  </m:oMath>
                </a14:m>
                <a:r>
                  <a:rPr lang="ja-JP" altLang="ja-JP" dirty="0">
                    <a:solidFill>
                      <a:schemeClr val="tx1"/>
                    </a:solidFill>
                  </a:rPr>
                  <a:t> 是非常基本的对象</a:t>
                </a:r>
                <a:r>
                  <a:rPr lang="zh-CN" altLang="en-US" dirty="0">
                    <a:solidFill>
                      <a:schemeClr val="tx1"/>
                    </a:solidFill>
                  </a:rPr>
                  <a:t>）</a:t>
                </a:r>
                <a:endParaRPr lang="en-US" altLang="ja-JP" dirty="0">
                  <a:solidFill>
                    <a:schemeClr val="tx1"/>
                  </a:solidFill>
                </a:endParaRPr>
              </a:p>
              <a:p>
                <a:pPr marL="0" indent="0">
                  <a:lnSpc>
                    <a:spcPct val="120000"/>
                  </a:lnSpc>
                  <a:buNone/>
                </a:pPr>
                <a:r>
                  <a:rPr lang="ja-JP" altLang="en-US" dirty="0"/>
                  <a:t>在线性代数中，实矩阵 </a:t>
                </a:r>
                <a14:m>
                  <m:oMath xmlns:m="http://schemas.openxmlformats.org/officeDocument/2006/math">
                    <m:r>
                      <a:rPr lang="ja-JP" altLang="en-US" i="1">
                        <a:latin typeface="Cambria Math" panose="02040503050406030204" pitchFamily="18" charset="0"/>
                      </a:rPr>
                      <m:t>𝐴</m:t>
                    </m:r>
                  </m:oMath>
                </a14:m>
                <a:r>
                  <a:rPr lang="zh-CN" altLang="en-US" dirty="0"/>
                  <a:t>的伴随是</a:t>
                </a:r>
                <a:r>
                  <a:rPr lang="ja-JP" altLang="en-US" dirty="0"/>
                  <a:t>转置：</a:t>
                </a:r>
                <a14:m>
                  <m:oMath xmlns:m="http://schemas.openxmlformats.org/officeDocument/2006/math">
                    <m:sSup>
                      <m:sSupPr>
                        <m:ctrlPr>
                          <a:rPr lang="ar-AE" altLang="ja-JP" i="1">
                            <a:latin typeface="Cambria Math" panose="02040503050406030204" pitchFamily="18" charset="0"/>
                          </a:rPr>
                        </m:ctrlPr>
                      </m:sSupPr>
                      <m:e>
                        <m:r>
                          <a:rPr lang="ja-JP" altLang="ar-AE" i="1">
                            <a:latin typeface="Cambria Math" panose="02040503050406030204" pitchFamily="18" charset="0"/>
                          </a:rPr>
                          <m:t>𝐴</m:t>
                        </m:r>
                      </m:e>
                      <m:sup>
                        <m:r>
                          <a:rPr lang="ja-JP" altLang="ar-AE" i="1">
                            <a:latin typeface="Cambria Math" panose="02040503050406030204" pitchFamily="18" charset="0"/>
                          </a:rPr>
                          <m:t>𝑇</m:t>
                        </m:r>
                      </m:sup>
                    </m:sSup>
                    <m:r>
                      <a:rPr lang="ar-AE" altLang="ja-JP">
                        <a:latin typeface="Cambria Math" panose="02040503050406030204" pitchFamily="18" charset="0"/>
                      </a:rPr>
                      <m:t>.</m:t>
                    </m:r>
                  </m:oMath>
                </a14:m>
                <a:endParaRPr lang="ar-AE" altLang="ja-JP" dirty="0"/>
              </a:p>
              <a:p>
                <a:pPr>
                  <a:lnSpc>
                    <a:spcPct val="120000"/>
                  </a:lnSpc>
                </a:pPr>
                <a:r>
                  <a:rPr lang="ja-JP" altLang="en-US" dirty="0"/>
                  <a:t>但是如果 </a:t>
                </a:r>
                <a14:m>
                  <m:oMath xmlns:m="http://schemas.openxmlformats.org/officeDocument/2006/math">
                    <m:r>
                      <a:rPr lang="ja-JP" altLang="en-US" i="1">
                        <a:latin typeface="Cambria Math" panose="02040503050406030204" pitchFamily="18" charset="0"/>
                      </a:rPr>
                      <m:t>𝐴</m:t>
                    </m:r>
                  </m:oMath>
                </a14:m>
                <a:r>
                  <a:rPr lang="ja-JP" altLang="en-US" dirty="0"/>
                  <a:t>是复矩阵，仅仅转置是不够的。我们需要先转置，再对每个元素取复共轭。这个操作称为共轭转置，记作：</a:t>
                </a:r>
                <a14:m>
                  <m:oMath xmlns:m="http://schemas.openxmlformats.org/officeDocument/2006/math">
                    <m:sSup>
                      <m:sSupPr>
                        <m:ctrlPr>
                          <a:rPr lang="ar-AE" altLang="ja-JP" i="1">
                            <a:latin typeface="Cambria Math" panose="02040503050406030204" pitchFamily="18" charset="0"/>
                          </a:rPr>
                        </m:ctrlPr>
                      </m:sSupPr>
                      <m:e>
                        <m:r>
                          <a:rPr lang="ja-JP" altLang="ar-AE" i="1">
                            <a:latin typeface="Cambria Math" panose="02040503050406030204" pitchFamily="18" charset="0"/>
                          </a:rPr>
                          <m:t>𝐴</m:t>
                        </m:r>
                      </m:e>
                      <m:sup>
                        <m:r>
                          <a:rPr lang="ar-AE" altLang="ja-JP">
                            <a:latin typeface="Cambria Math" panose="02040503050406030204" pitchFamily="18" charset="0"/>
                          </a:rPr>
                          <m:t>†</m:t>
                        </m:r>
                      </m:sup>
                    </m:sSup>
                    <m:r>
                      <a:rPr lang="ar-AE" altLang="ja-JP">
                        <a:latin typeface="Cambria Math" panose="02040503050406030204" pitchFamily="18" charset="0"/>
                      </a:rPr>
                      <m:t>.</m:t>
                    </m:r>
                  </m:oMath>
                </a14:m>
                <a:endParaRPr lang="ar-AE" altLang="ja-JP" dirty="0"/>
              </a:p>
              <a:p>
                <a:pPr marL="0" indent="0">
                  <a:lnSpc>
                    <a:spcPct val="120000"/>
                  </a:lnSpc>
                  <a:buNone/>
                </a:pPr>
                <a14:m>
                  <m:oMathPara xmlns:m="http://schemas.openxmlformats.org/officeDocument/2006/math">
                    <m:oMathParaPr>
                      <m:jc m:val="centerGroup"/>
                    </m:oMathParaPr>
                    <m:oMath xmlns:m="http://schemas.openxmlformats.org/officeDocument/2006/math">
                      <m:sSup>
                        <m:sSupPr>
                          <m:ctrlPr>
                            <a:rPr lang="ar-AE" altLang="ja-JP" i="1">
                              <a:latin typeface="Cambria Math" panose="02040503050406030204" pitchFamily="18" charset="0"/>
                            </a:rPr>
                          </m:ctrlPr>
                        </m:sSupPr>
                        <m:e>
                          <m:r>
                            <a:rPr lang="ja-JP" altLang="ar-AE" i="1">
                              <a:latin typeface="Cambria Math" panose="02040503050406030204" pitchFamily="18" charset="0"/>
                            </a:rPr>
                            <m:t>𝐴</m:t>
                          </m:r>
                        </m:e>
                        <m:sup>
                          <m:r>
                            <a:rPr lang="ar-AE" altLang="ja-JP">
                              <a:latin typeface="Cambria Math" panose="02040503050406030204" pitchFamily="18" charset="0"/>
                            </a:rPr>
                            <m:t>†</m:t>
                          </m:r>
                        </m:sup>
                      </m:sSup>
                      <m:r>
                        <a:rPr lang="ar-AE" altLang="ja-JP">
                          <a:latin typeface="Cambria Math" panose="02040503050406030204" pitchFamily="18" charset="0"/>
                        </a:rPr>
                        <m:t>=</m:t>
                      </m:r>
                      <m:sSup>
                        <m:sSupPr>
                          <m:ctrlPr>
                            <a:rPr lang="ar-AE" altLang="ja-JP" i="1">
                              <a:latin typeface="Cambria Math" panose="02040503050406030204" pitchFamily="18" charset="0"/>
                            </a:rPr>
                          </m:ctrlPr>
                        </m:sSupPr>
                        <m:e>
                          <m:groupChr>
                            <m:groupChrPr>
                              <m:chr m:val="‾"/>
                              <m:pos m:val="top"/>
                              <m:vertJc m:val="bot"/>
                              <m:ctrlPr>
                                <a:rPr lang="ar-AE" altLang="ja-JP" i="1">
                                  <a:latin typeface="Cambria Math" panose="02040503050406030204" pitchFamily="18" charset="0"/>
                                </a:rPr>
                              </m:ctrlPr>
                            </m:groupChrPr>
                            <m:e>
                              <m:r>
                                <a:rPr lang="ja-JP" altLang="ar-AE" i="1">
                                  <a:latin typeface="Cambria Math" panose="02040503050406030204" pitchFamily="18" charset="0"/>
                                </a:rPr>
                                <m:t>𝐴</m:t>
                              </m:r>
                            </m:e>
                          </m:groupChr>
                        </m:e>
                        <m:sup>
                          <m:r>
                            <m:rPr>
                              <m:nor/>
                            </m:rPr>
                            <a:rPr lang="ar-AE" altLang="ja-JP" i="1"/>
                            <m:t> </m:t>
                          </m:r>
                          <m:r>
                            <a:rPr lang="ja-JP" altLang="ar-AE" i="1">
                              <a:latin typeface="Cambria Math" panose="02040503050406030204" pitchFamily="18" charset="0"/>
                            </a:rPr>
                            <m:t>𝑇</m:t>
                          </m:r>
                        </m:sup>
                      </m:sSup>
                      <m:r>
                        <a:rPr lang="ar-AE" altLang="ja-JP">
                          <a:latin typeface="Cambria Math" panose="02040503050406030204" pitchFamily="18" charset="0"/>
                        </a:rPr>
                        <m:t>.</m:t>
                      </m:r>
                    </m:oMath>
                  </m:oMathPara>
                </a14:m>
                <a:endParaRPr lang="ja-JP" altLang="en-US" dirty="0"/>
              </a:p>
              <a:p>
                <a:pPr marL="0" indent="0">
                  <a:lnSpc>
                    <a:spcPct val="120000"/>
                  </a:lnSpc>
                  <a:buNone/>
                </a:pPr>
                <a14:m>
                  <m:oMathPara xmlns:m="http://schemas.openxmlformats.org/officeDocument/2006/math">
                    <m:oMathParaPr>
                      <m:jc m:val="centerGroup"/>
                    </m:oMathParaPr>
                    <m:oMath xmlns:m="http://schemas.openxmlformats.org/officeDocument/2006/math">
                      <m:r>
                        <m:rPr>
                          <m:nor/>
                        </m:rPr>
                        <a:rPr lang="ja-JP" altLang="en-US" b="0"/>
                        <m:t>伴随矩阵</m:t>
                      </m:r>
                      <m:r>
                        <a:rPr lang="en-US" altLang="ja-JP" i="0">
                          <a:latin typeface="Cambria Math" panose="02040503050406030204" pitchFamily="18" charset="0"/>
                        </a:rPr>
                        <m:t>=</m:t>
                      </m:r>
                      <m:r>
                        <m:rPr>
                          <m:nor/>
                        </m:rPr>
                        <a:rPr lang="ja-JP" altLang="en-US"/>
                        <m:t>复共轭</m:t>
                      </m:r>
                      <m:r>
                        <a:rPr lang="en-US" altLang="ja-JP" i="0">
                          <a:latin typeface="Cambria Math" panose="02040503050406030204" pitchFamily="18" charset="0"/>
                        </a:rPr>
                        <m:t>+</m:t>
                      </m:r>
                      <m:r>
                        <m:rPr>
                          <m:nor/>
                        </m:rPr>
                        <a:rPr lang="ja-JP" altLang="en-US"/>
                        <m:t>转置</m:t>
                      </m:r>
                      <m:r>
                        <a:rPr lang="en-US" altLang="ja-JP">
                          <a:latin typeface="Cambria Math" panose="02040503050406030204" pitchFamily="18" charset="0"/>
                        </a:rPr>
                        <m:t>.</m:t>
                      </m:r>
                    </m:oMath>
                  </m:oMathPara>
                </a14:m>
                <a:endParaRPr lang="ja-JP" altLang="en-US" b="0" dirty="0"/>
              </a:p>
              <a:p>
                <a:pPr marL="0" indent="0">
                  <a:lnSpc>
                    <a:spcPct val="120000"/>
                  </a:lnSpc>
                  <a:buNone/>
                </a:pPr>
                <a:r>
                  <a:rPr lang="ja-JP" altLang="en-US" dirty="0"/>
                  <a:t>需要注意：</a:t>
                </a:r>
                <a14:m>
                  <m:oMath xmlns:m="http://schemas.openxmlformats.org/officeDocument/2006/math">
                    <m:sSup>
                      <m:sSupPr>
                        <m:ctrlPr>
                          <a:rPr lang="ar-AE" altLang="ja-JP" i="1" smtClean="0">
                            <a:solidFill>
                              <a:srgbClr val="C00000"/>
                            </a:solidFill>
                            <a:latin typeface="Cambria Math" panose="02040503050406030204" pitchFamily="18" charset="0"/>
                          </a:rPr>
                        </m:ctrlPr>
                      </m:sSupPr>
                      <m:e>
                        <m:r>
                          <a:rPr lang="ja-JP" altLang="ar-AE" i="1">
                            <a:solidFill>
                              <a:srgbClr val="C00000"/>
                            </a:solidFill>
                            <a:latin typeface="Cambria Math" panose="02040503050406030204" pitchFamily="18" charset="0"/>
                          </a:rPr>
                          <m:t>𝐴</m:t>
                        </m:r>
                      </m:e>
                      <m:sup>
                        <m:r>
                          <a:rPr lang="ar-AE" altLang="ja-JP">
                            <a:solidFill>
                              <a:srgbClr val="C00000"/>
                            </a:solidFill>
                            <a:latin typeface="Cambria Math" panose="02040503050406030204" pitchFamily="18" charset="0"/>
                          </a:rPr>
                          <m:t>†</m:t>
                        </m:r>
                      </m:sup>
                    </m:sSup>
                    <m:r>
                      <a:rPr lang="ar-AE" altLang="ja-JP">
                        <a:solidFill>
                          <a:srgbClr val="C00000"/>
                        </a:solidFill>
                        <a:latin typeface="Cambria Math" panose="02040503050406030204" pitchFamily="18" charset="0"/>
                      </a:rPr>
                      <m:t>=</m:t>
                    </m:r>
                    <m:sSup>
                      <m:sSupPr>
                        <m:ctrlPr>
                          <a:rPr lang="ar-AE" altLang="ja-JP" i="1">
                            <a:solidFill>
                              <a:srgbClr val="C00000"/>
                            </a:solidFill>
                            <a:latin typeface="Cambria Math" panose="02040503050406030204" pitchFamily="18" charset="0"/>
                          </a:rPr>
                        </m:ctrlPr>
                      </m:sSupPr>
                      <m:e>
                        <m:r>
                          <a:rPr lang="ja-JP" altLang="ar-AE" i="1">
                            <a:solidFill>
                              <a:srgbClr val="C00000"/>
                            </a:solidFill>
                            <a:latin typeface="Cambria Math" panose="02040503050406030204" pitchFamily="18" charset="0"/>
                          </a:rPr>
                          <m:t>𝐴</m:t>
                        </m:r>
                      </m:e>
                      <m:sup>
                        <m:r>
                          <a:rPr lang="ja-JP" altLang="ar-AE" i="1">
                            <a:solidFill>
                              <a:srgbClr val="C00000"/>
                            </a:solidFill>
                            <a:latin typeface="Cambria Math" panose="02040503050406030204" pitchFamily="18" charset="0"/>
                          </a:rPr>
                          <m:t>𝑇</m:t>
                        </m:r>
                      </m:sup>
                    </m:sSup>
                  </m:oMath>
                </a14:m>
                <a:r>
                  <a:rPr lang="ja-JP" altLang="en-US" dirty="0">
                    <a:solidFill>
                      <a:srgbClr val="C00000"/>
                    </a:solidFill>
                  </a:rPr>
                  <a:t> 一般是不正确的。只有当 </a:t>
                </a:r>
                <a14:m>
                  <m:oMath xmlns:m="http://schemas.openxmlformats.org/officeDocument/2006/math">
                    <m:r>
                      <a:rPr lang="ja-JP" altLang="en-US" i="1">
                        <a:solidFill>
                          <a:srgbClr val="C00000"/>
                        </a:solidFill>
                        <a:latin typeface="Cambria Math" panose="02040503050406030204" pitchFamily="18" charset="0"/>
                      </a:rPr>
                      <m:t>𝐴</m:t>
                    </m:r>
                  </m:oMath>
                </a14:m>
                <a:r>
                  <a:rPr lang="ja-JP" altLang="en-US" dirty="0">
                    <a:solidFill>
                      <a:srgbClr val="C00000"/>
                    </a:solidFill>
                  </a:rPr>
                  <a:t>是实矩阵时，才有</a:t>
                </a:r>
                <a14:m>
                  <m:oMath xmlns:m="http://schemas.openxmlformats.org/officeDocument/2006/math">
                    <m:r>
                      <a:rPr lang="en-US" altLang="ja-JP" b="0" i="0" smtClean="0">
                        <a:solidFill>
                          <a:srgbClr val="C00000"/>
                        </a:solidFill>
                        <a:latin typeface="Cambria Math" panose="02040503050406030204" pitchFamily="18" charset="0"/>
                      </a:rPr>
                      <m:t> </m:t>
                    </m:r>
                    <m:sSup>
                      <m:sSupPr>
                        <m:ctrlPr>
                          <a:rPr lang="ar-AE" altLang="ja-JP" i="1">
                            <a:solidFill>
                              <a:srgbClr val="C00000"/>
                            </a:solidFill>
                            <a:latin typeface="Cambria Math" panose="02040503050406030204" pitchFamily="18" charset="0"/>
                          </a:rPr>
                        </m:ctrlPr>
                      </m:sSupPr>
                      <m:e>
                        <m:r>
                          <a:rPr lang="ja-JP" altLang="ar-AE" i="1">
                            <a:solidFill>
                              <a:srgbClr val="C00000"/>
                            </a:solidFill>
                            <a:latin typeface="Cambria Math" panose="02040503050406030204" pitchFamily="18" charset="0"/>
                          </a:rPr>
                          <m:t>𝐴</m:t>
                        </m:r>
                      </m:e>
                      <m:sup>
                        <m:r>
                          <a:rPr lang="ar-AE" altLang="ja-JP">
                            <a:solidFill>
                              <a:srgbClr val="C00000"/>
                            </a:solidFill>
                            <a:latin typeface="Cambria Math" panose="02040503050406030204" pitchFamily="18" charset="0"/>
                          </a:rPr>
                          <m:t>†</m:t>
                        </m:r>
                      </m:sup>
                    </m:sSup>
                    <m:r>
                      <a:rPr lang="ar-AE" altLang="ja-JP">
                        <a:solidFill>
                          <a:srgbClr val="C00000"/>
                        </a:solidFill>
                        <a:latin typeface="Cambria Math" panose="02040503050406030204" pitchFamily="18" charset="0"/>
                      </a:rPr>
                      <m:t>=</m:t>
                    </m:r>
                    <m:sSup>
                      <m:sSupPr>
                        <m:ctrlPr>
                          <a:rPr lang="ar-AE" altLang="ja-JP" i="1">
                            <a:solidFill>
                              <a:srgbClr val="C00000"/>
                            </a:solidFill>
                            <a:latin typeface="Cambria Math" panose="02040503050406030204" pitchFamily="18" charset="0"/>
                          </a:rPr>
                        </m:ctrlPr>
                      </m:sSupPr>
                      <m:e>
                        <m:r>
                          <a:rPr lang="ja-JP" altLang="ar-AE" i="1">
                            <a:solidFill>
                              <a:srgbClr val="C00000"/>
                            </a:solidFill>
                            <a:latin typeface="Cambria Math" panose="02040503050406030204" pitchFamily="18" charset="0"/>
                          </a:rPr>
                          <m:t>𝐴</m:t>
                        </m:r>
                      </m:e>
                      <m:sup>
                        <m:r>
                          <a:rPr lang="ja-JP" altLang="ar-AE" i="1">
                            <a:solidFill>
                              <a:srgbClr val="C00000"/>
                            </a:solidFill>
                            <a:latin typeface="Cambria Math" panose="02040503050406030204" pitchFamily="18" charset="0"/>
                          </a:rPr>
                          <m:t>𝑇</m:t>
                        </m:r>
                      </m:sup>
                    </m:sSup>
                    <m:r>
                      <a:rPr lang="ar-AE" altLang="ja-JP">
                        <a:latin typeface="Cambria Math" panose="02040503050406030204" pitchFamily="18" charset="0"/>
                      </a:rPr>
                      <m:t>.</m:t>
                    </m:r>
                  </m:oMath>
                </a14:m>
                <a:endParaRPr lang="ar-AE" altLang="ja-JP" dirty="0"/>
              </a:p>
              <a:p>
                <a:pPr marL="0" indent="0">
                  <a:lnSpc>
                    <a:spcPct val="120000"/>
                  </a:lnSpc>
                  <a:buNone/>
                </a:pPr>
                <a:r>
                  <a:rPr lang="ja-JP" altLang="en-US" dirty="0"/>
                  <a:t>例如，设</a:t>
                </a:r>
                <a14:m>
                  <m:oMath xmlns:m="http://schemas.openxmlformats.org/officeDocument/2006/math">
                    <m:r>
                      <a:rPr lang="ja-JP" altLang="en-US" i="1">
                        <a:latin typeface="Cambria Math" panose="02040503050406030204" pitchFamily="18" charset="0"/>
                      </a:rPr>
                      <m:t>𝐴</m:t>
                    </m:r>
                    <m:r>
                      <a:rPr lang="en-US" altLang="ja-JP">
                        <a:latin typeface="Cambria Math" panose="02040503050406030204" pitchFamily="18" charset="0"/>
                      </a:rPr>
                      <m:t>=</m:t>
                    </m:r>
                    <m:d>
                      <m:dPr>
                        <m:ctrlPr>
                          <a:rPr lang="ar-AE" altLang="ja-JP" i="1">
                            <a:latin typeface="Cambria Math" panose="02040503050406030204" pitchFamily="18" charset="0"/>
                          </a:rPr>
                        </m:ctrlPr>
                      </m:dPr>
                      <m:e>
                        <m:m>
                          <m:mPr>
                            <m:plcHide m:val="on"/>
                            <m:mcs>
                              <m:mc>
                                <m:mcPr>
                                  <m:count m:val="2"/>
                                  <m:mcJc m:val="center"/>
                                </m:mcPr>
                              </m:mc>
                            </m:mcs>
                            <m:ctrlPr>
                              <a:rPr lang="ar-AE" altLang="ja-JP" i="1">
                                <a:latin typeface="Cambria Math" panose="02040503050406030204" pitchFamily="18" charset="0"/>
                              </a:rPr>
                            </m:ctrlPr>
                          </m:mPr>
                          <m:mr>
                            <m:e>
                              <m:r>
                                <a:rPr lang="ar-AE" altLang="ja-JP">
                                  <a:latin typeface="Cambria Math" panose="02040503050406030204" pitchFamily="18" charset="0"/>
                                </a:rPr>
                                <m:t>1</m:t>
                              </m:r>
                              <m:r>
                                <a:rPr lang="ar-AE" altLang="ja-JP">
                                  <a:latin typeface="Cambria Math" panose="02040503050406030204" pitchFamily="18" charset="0"/>
                                </a:rPr>
                                <m:t>+</m:t>
                              </m:r>
                              <m:r>
                                <a:rPr lang="ja-JP" altLang="ar-AE" i="1">
                                  <a:latin typeface="Cambria Math" panose="02040503050406030204" pitchFamily="18" charset="0"/>
                                </a:rPr>
                                <m:t>𝑖</m:t>
                              </m:r>
                            </m:e>
                            <m:e>
                              <m:r>
                                <a:rPr lang="ar-AE" altLang="ja-JP">
                                  <a:latin typeface="Cambria Math" panose="02040503050406030204" pitchFamily="18" charset="0"/>
                                </a:rPr>
                                <m:t>2</m:t>
                              </m:r>
                            </m:e>
                          </m:mr>
                          <m:mr>
                            <m:e>
                              <m:r>
                                <a:rPr lang="ar-AE" altLang="ja-JP">
                                  <a:latin typeface="Cambria Math" panose="02040503050406030204" pitchFamily="18" charset="0"/>
                                </a:rPr>
                                <m:t>3</m:t>
                              </m:r>
                              <m:r>
                                <a:rPr lang="ja-JP" altLang="ar-AE" i="1">
                                  <a:latin typeface="Cambria Math" panose="02040503050406030204" pitchFamily="18" charset="0"/>
                                </a:rPr>
                                <m:t>𝑖</m:t>
                              </m:r>
                            </m:e>
                            <m:e>
                              <m:r>
                                <a:rPr lang="ar-AE" altLang="ja-JP">
                                  <a:latin typeface="Cambria Math" panose="02040503050406030204" pitchFamily="18" charset="0"/>
                                </a:rPr>
                                <m:t>4</m:t>
                              </m:r>
                              <m:r>
                                <a:rPr lang="ar-AE" altLang="ja-JP">
                                  <a:latin typeface="Cambria Math" panose="02040503050406030204" pitchFamily="18" charset="0"/>
                                </a:rPr>
                                <m:t>−</m:t>
                              </m:r>
                              <m:r>
                                <a:rPr lang="ja-JP" altLang="ar-AE" i="1">
                                  <a:latin typeface="Cambria Math" panose="02040503050406030204" pitchFamily="18" charset="0"/>
                                </a:rPr>
                                <m:t>𝑖</m:t>
                              </m:r>
                            </m:e>
                          </m:mr>
                        </m:m>
                      </m:e>
                    </m:d>
                    <m:r>
                      <a:rPr lang="ar-AE" altLang="ja-JP">
                        <a:latin typeface="Cambria Math" panose="02040503050406030204" pitchFamily="18" charset="0"/>
                      </a:rPr>
                      <m:t>.</m:t>
                    </m:r>
                  </m:oMath>
                </a14:m>
                <a:r>
                  <a:rPr lang="en-US" altLang="ja-JP" dirty="0"/>
                  <a:t>  </a:t>
                </a:r>
                <a:r>
                  <a:rPr lang="ja-JP" altLang="en-US" dirty="0"/>
                  <a:t>先转置得到：</a:t>
                </a:r>
                <a14:m>
                  <m:oMath xmlns:m="http://schemas.openxmlformats.org/officeDocument/2006/math">
                    <m:sSup>
                      <m:sSupPr>
                        <m:ctrlPr>
                          <a:rPr lang="ar-AE" altLang="ja-JP" i="1">
                            <a:latin typeface="Cambria Math" panose="02040503050406030204" pitchFamily="18" charset="0"/>
                          </a:rPr>
                        </m:ctrlPr>
                      </m:sSupPr>
                      <m:e>
                        <m:r>
                          <a:rPr lang="ja-JP" altLang="ar-AE" i="1">
                            <a:latin typeface="Cambria Math" panose="02040503050406030204" pitchFamily="18" charset="0"/>
                          </a:rPr>
                          <m:t>𝐴</m:t>
                        </m:r>
                      </m:e>
                      <m:sup>
                        <m:r>
                          <a:rPr lang="ja-JP" altLang="ar-AE" i="1">
                            <a:latin typeface="Cambria Math" panose="02040503050406030204" pitchFamily="18" charset="0"/>
                          </a:rPr>
                          <m:t>𝑇</m:t>
                        </m:r>
                      </m:sup>
                    </m:sSup>
                    <m:r>
                      <a:rPr lang="ar-AE" altLang="ja-JP">
                        <a:latin typeface="Cambria Math" panose="02040503050406030204" pitchFamily="18" charset="0"/>
                      </a:rPr>
                      <m:t>=</m:t>
                    </m:r>
                    <m:d>
                      <m:dPr>
                        <m:ctrlPr>
                          <a:rPr lang="ar-AE" altLang="ja-JP" i="1">
                            <a:latin typeface="Cambria Math" panose="02040503050406030204" pitchFamily="18" charset="0"/>
                          </a:rPr>
                        </m:ctrlPr>
                      </m:dPr>
                      <m:e>
                        <m:m>
                          <m:mPr>
                            <m:plcHide m:val="on"/>
                            <m:mcs>
                              <m:mc>
                                <m:mcPr>
                                  <m:count m:val="2"/>
                                  <m:mcJc m:val="center"/>
                                </m:mcPr>
                              </m:mc>
                            </m:mcs>
                            <m:ctrlPr>
                              <a:rPr lang="ar-AE" altLang="ja-JP" i="1">
                                <a:latin typeface="Cambria Math" panose="02040503050406030204" pitchFamily="18" charset="0"/>
                              </a:rPr>
                            </m:ctrlPr>
                          </m:mPr>
                          <m:mr>
                            <m:e>
                              <m:r>
                                <a:rPr lang="ar-AE" altLang="ja-JP">
                                  <a:latin typeface="Cambria Math" panose="02040503050406030204" pitchFamily="18" charset="0"/>
                                </a:rPr>
                                <m:t>1</m:t>
                              </m:r>
                              <m:r>
                                <a:rPr lang="ar-AE" altLang="ja-JP">
                                  <a:latin typeface="Cambria Math" panose="02040503050406030204" pitchFamily="18" charset="0"/>
                                </a:rPr>
                                <m:t>+</m:t>
                              </m:r>
                              <m:r>
                                <a:rPr lang="ja-JP" altLang="ar-AE" i="1">
                                  <a:latin typeface="Cambria Math" panose="02040503050406030204" pitchFamily="18" charset="0"/>
                                </a:rPr>
                                <m:t>𝑖</m:t>
                              </m:r>
                            </m:e>
                            <m:e>
                              <m:r>
                                <a:rPr lang="ar-AE" altLang="ja-JP">
                                  <a:latin typeface="Cambria Math" panose="02040503050406030204" pitchFamily="18" charset="0"/>
                                </a:rPr>
                                <m:t>3</m:t>
                              </m:r>
                              <m:r>
                                <a:rPr lang="ja-JP" altLang="ar-AE" i="1">
                                  <a:latin typeface="Cambria Math" panose="02040503050406030204" pitchFamily="18" charset="0"/>
                                </a:rPr>
                                <m:t>𝑖</m:t>
                              </m:r>
                            </m:e>
                          </m:mr>
                          <m:mr>
                            <m:e>
                              <m:r>
                                <a:rPr lang="ar-AE" altLang="ja-JP">
                                  <a:latin typeface="Cambria Math" panose="02040503050406030204" pitchFamily="18" charset="0"/>
                                </a:rPr>
                                <m:t>2</m:t>
                              </m:r>
                            </m:e>
                            <m:e>
                              <m:r>
                                <a:rPr lang="ar-AE" altLang="ja-JP">
                                  <a:latin typeface="Cambria Math" panose="02040503050406030204" pitchFamily="18" charset="0"/>
                                </a:rPr>
                                <m:t>4</m:t>
                              </m:r>
                              <m:r>
                                <a:rPr lang="ar-AE" altLang="ja-JP">
                                  <a:latin typeface="Cambria Math" panose="02040503050406030204" pitchFamily="18" charset="0"/>
                                </a:rPr>
                                <m:t>−</m:t>
                              </m:r>
                              <m:r>
                                <a:rPr lang="ja-JP" altLang="ar-AE" i="1">
                                  <a:latin typeface="Cambria Math" panose="02040503050406030204" pitchFamily="18" charset="0"/>
                                </a:rPr>
                                <m:t>𝑖</m:t>
                              </m:r>
                            </m:e>
                          </m:mr>
                        </m:m>
                      </m:e>
                    </m:d>
                    <m:r>
                      <a:rPr lang="ar-AE" altLang="ja-JP">
                        <a:latin typeface="Cambria Math" panose="02040503050406030204" pitchFamily="18" charset="0"/>
                      </a:rPr>
                      <m:t>.</m:t>
                    </m:r>
                  </m:oMath>
                </a14:m>
                <a:endParaRPr lang="ar-AE" altLang="ja-JP" dirty="0"/>
              </a:p>
              <a:p>
                <a:pPr marL="0" indent="0">
                  <a:lnSpc>
                    <a:spcPct val="120000"/>
                  </a:lnSpc>
                  <a:buNone/>
                </a:pPr>
                <a:r>
                  <a:rPr lang="ja-JP" altLang="en-US" dirty="0"/>
                  <a:t>再取复共轭，得到：</a:t>
                </a:r>
              </a:p>
              <a:p>
                <a:pPr marL="0" indent="0">
                  <a:lnSpc>
                    <a:spcPct val="120000"/>
                  </a:lnSpc>
                  <a:buNone/>
                </a:pPr>
                <a14:m>
                  <m:oMathPara xmlns:m="http://schemas.openxmlformats.org/officeDocument/2006/math">
                    <m:oMathParaPr>
                      <m:jc m:val="centerGroup"/>
                    </m:oMathParaPr>
                    <m:oMath xmlns:m="http://schemas.openxmlformats.org/officeDocument/2006/math">
                      <m:sSup>
                        <m:sSupPr>
                          <m:ctrlPr>
                            <a:rPr lang="ar-AE" altLang="ja-JP" i="1">
                              <a:latin typeface="Cambria Math" panose="02040503050406030204" pitchFamily="18" charset="0"/>
                            </a:rPr>
                          </m:ctrlPr>
                        </m:sSupPr>
                        <m:e>
                          <m:r>
                            <a:rPr lang="ja-JP" altLang="ar-AE" i="1">
                              <a:latin typeface="Cambria Math" panose="02040503050406030204" pitchFamily="18" charset="0"/>
                            </a:rPr>
                            <m:t>𝐴</m:t>
                          </m:r>
                        </m:e>
                        <m:sup>
                          <m:r>
                            <a:rPr lang="ar-AE" altLang="ja-JP">
                              <a:latin typeface="Cambria Math" panose="02040503050406030204" pitchFamily="18" charset="0"/>
                            </a:rPr>
                            <m:t>†</m:t>
                          </m:r>
                        </m:sup>
                      </m:sSup>
                      <m:r>
                        <a:rPr lang="ar-AE" altLang="ja-JP">
                          <a:latin typeface="Cambria Math" panose="02040503050406030204" pitchFamily="18" charset="0"/>
                        </a:rPr>
                        <m:t>=</m:t>
                      </m:r>
                      <m:d>
                        <m:dPr>
                          <m:ctrlPr>
                            <a:rPr lang="ar-AE" altLang="ja-JP" i="1">
                              <a:latin typeface="Cambria Math" panose="02040503050406030204" pitchFamily="18" charset="0"/>
                            </a:rPr>
                          </m:ctrlPr>
                        </m:dPr>
                        <m:e>
                          <m:m>
                            <m:mPr>
                              <m:plcHide m:val="on"/>
                              <m:mcs>
                                <m:mc>
                                  <m:mcPr>
                                    <m:count m:val="2"/>
                                    <m:mcJc m:val="center"/>
                                  </m:mcPr>
                                </m:mc>
                              </m:mcs>
                              <m:ctrlPr>
                                <a:rPr lang="ar-AE" altLang="ja-JP" i="1">
                                  <a:latin typeface="Cambria Math" panose="02040503050406030204" pitchFamily="18" charset="0"/>
                                </a:rPr>
                              </m:ctrlPr>
                            </m:mPr>
                            <m:mr>
                              <m:e>
                                <m:r>
                                  <a:rPr lang="ar-AE" altLang="ja-JP">
                                    <a:latin typeface="Cambria Math" panose="02040503050406030204" pitchFamily="18" charset="0"/>
                                  </a:rPr>
                                  <m:t>1</m:t>
                                </m:r>
                                <m:r>
                                  <a:rPr lang="ar-AE" altLang="ja-JP">
                                    <a:latin typeface="Cambria Math" panose="02040503050406030204" pitchFamily="18" charset="0"/>
                                  </a:rPr>
                                  <m:t>−</m:t>
                                </m:r>
                                <m:r>
                                  <a:rPr lang="ja-JP" altLang="ar-AE" i="1">
                                    <a:latin typeface="Cambria Math" panose="02040503050406030204" pitchFamily="18" charset="0"/>
                                  </a:rPr>
                                  <m:t>𝑖</m:t>
                                </m:r>
                              </m:e>
                              <m:e>
                                <m:r>
                                  <a:rPr lang="ar-AE" altLang="ja-JP">
                                    <a:latin typeface="Cambria Math" panose="02040503050406030204" pitchFamily="18" charset="0"/>
                                  </a:rPr>
                                  <m:t>−</m:t>
                                </m:r>
                                <m:r>
                                  <a:rPr lang="ar-AE" altLang="ja-JP">
                                    <a:latin typeface="Cambria Math" panose="02040503050406030204" pitchFamily="18" charset="0"/>
                                  </a:rPr>
                                  <m:t>3</m:t>
                                </m:r>
                                <m:r>
                                  <a:rPr lang="ja-JP" altLang="ar-AE" i="1">
                                    <a:latin typeface="Cambria Math" panose="02040503050406030204" pitchFamily="18" charset="0"/>
                                  </a:rPr>
                                  <m:t>𝑖</m:t>
                                </m:r>
                              </m:e>
                            </m:mr>
                            <m:mr>
                              <m:e>
                                <m:r>
                                  <a:rPr lang="ar-AE" altLang="ja-JP">
                                    <a:latin typeface="Cambria Math" panose="02040503050406030204" pitchFamily="18" charset="0"/>
                                  </a:rPr>
                                  <m:t>2</m:t>
                                </m:r>
                              </m:e>
                              <m:e>
                                <m:r>
                                  <a:rPr lang="ar-AE" altLang="ja-JP">
                                    <a:latin typeface="Cambria Math" panose="02040503050406030204" pitchFamily="18" charset="0"/>
                                  </a:rPr>
                                  <m:t>4</m:t>
                                </m:r>
                                <m:r>
                                  <a:rPr lang="ar-AE" altLang="ja-JP">
                                    <a:latin typeface="Cambria Math" panose="02040503050406030204" pitchFamily="18" charset="0"/>
                                  </a:rPr>
                                  <m:t>+</m:t>
                                </m:r>
                                <m:r>
                                  <a:rPr lang="ja-JP" altLang="ar-AE" i="1">
                                    <a:latin typeface="Cambria Math" panose="02040503050406030204" pitchFamily="18" charset="0"/>
                                  </a:rPr>
                                  <m:t>𝑖</m:t>
                                </m:r>
                              </m:e>
                            </m:mr>
                          </m:m>
                        </m:e>
                      </m:d>
                      <m:r>
                        <a:rPr lang="ar-AE" altLang="ja-JP">
                          <a:latin typeface="Cambria Math" panose="02040503050406030204" pitchFamily="18" charset="0"/>
                        </a:rPr>
                        <m:t>.</m:t>
                      </m:r>
                    </m:oMath>
                  </m:oMathPara>
                </a14:m>
                <a:endParaRPr lang="ar-AE" altLang="ja-JP" dirty="0"/>
              </a:p>
              <a:p>
                <a:pPr marL="0" indent="0">
                  <a:lnSpc>
                    <a:spcPct val="120000"/>
                  </a:lnSpc>
                  <a:buNone/>
                </a:pPr>
                <a:r>
                  <a:rPr lang="ja-JP" altLang="en-US" dirty="0"/>
                  <a:t>这就是 </a:t>
                </a:r>
                <a14:m>
                  <m:oMath xmlns:m="http://schemas.openxmlformats.org/officeDocument/2006/math">
                    <m:r>
                      <a:rPr lang="ja-JP" altLang="en-US" i="1">
                        <a:latin typeface="Cambria Math" panose="02040503050406030204" pitchFamily="18" charset="0"/>
                      </a:rPr>
                      <m:t>𝐴</m:t>
                    </m:r>
                  </m:oMath>
                </a14:m>
                <a:r>
                  <a:rPr lang="ja-JP" altLang="en-US" dirty="0"/>
                  <a:t>的伴随矩阵。</a:t>
                </a:r>
              </a:p>
              <a:p>
                <a:pPr>
                  <a:lnSpc>
                    <a:spcPct val="120000"/>
                  </a:lnSpc>
                  <a:buFont typeface="Wingdings" panose="05000000000000000000" pitchFamily="2" charset="2"/>
                  <a:buChar char="Ø"/>
                </a:pPr>
                <a:endParaRPr lang="zh-CN" altLang="en-US" dirty="0"/>
              </a:p>
            </p:txBody>
          </p:sp>
        </mc:Choice>
        <mc:Fallback>
          <p:sp>
            <p:nvSpPr>
              <p:cNvPr id="12" name="コンテンツ プレースホルダー 2">
                <a:extLst>
                  <a:ext uri="{FF2B5EF4-FFF2-40B4-BE49-F238E27FC236}">
                    <a16:creationId xmlns:a16="http://schemas.microsoft.com/office/drawing/2014/main" id="{5F48ACE9-6CC2-4981-4371-CE6E71F97E1B}"/>
                  </a:ext>
                </a:extLst>
              </p:cNvPr>
              <p:cNvSpPr>
                <a:spLocks noGrp="1" noRot="1" noChangeAspect="1" noMove="1" noResize="1" noEditPoints="1" noAdjustHandles="1" noChangeArrowheads="1" noChangeShapeType="1" noTextEdit="1"/>
              </p:cNvSpPr>
              <p:nvPr>
                <p:ph idx="1"/>
              </p:nvPr>
            </p:nvSpPr>
            <p:spPr>
              <a:xfrm>
                <a:off x="178904" y="1112520"/>
                <a:ext cx="11708296" cy="5440680"/>
              </a:xfrm>
              <a:blipFill>
                <a:blip r:embed="rId3"/>
                <a:stretch>
                  <a:fillRect l="-521" t="-448" r="-521" b="-336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664543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33B9C-5EFB-CD55-EAEC-74E053448840}"/>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6626" name="Rectangle 2">
                <a:extLst>
                  <a:ext uri="{FF2B5EF4-FFF2-40B4-BE49-F238E27FC236}">
                    <a16:creationId xmlns:a16="http://schemas.microsoft.com/office/drawing/2014/main" id="{3A9189DA-DD90-FD98-8106-6B34B20D9899}"/>
                  </a:ext>
                </a:extLst>
              </p:cNvPr>
              <p:cNvSpPr>
                <a:spLocks noGrp="1" noChangeArrowheads="1"/>
              </p:cNvSpPr>
              <p:nvPr>
                <p:ph type="title"/>
              </p:nvPr>
            </p:nvSpPr>
            <p:spPr/>
            <p:txBody>
              <a:bodyPr/>
              <a:lstStyle/>
              <a:p>
                <a:r>
                  <a:rPr lang="zh-CN" altLang="en-US" b="1" dirty="0">
                    <a:latin typeface="+mj-ea"/>
                  </a:rPr>
                  <a:t>关于</a:t>
                </a:r>
                <a:r>
                  <a:rPr lang="ja-JP" altLang="en-US" b="1" dirty="0"/>
                  <a:t>符号 </a:t>
                </a:r>
                <a14:m>
                  <m:oMath xmlns:m="http://schemas.openxmlformats.org/officeDocument/2006/math">
                    <m:r>
                      <a:rPr lang="en-US" altLang="ja-JP" b="1">
                        <a:latin typeface="Cambria Math" panose="02040503050406030204" pitchFamily="18" charset="0"/>
                      </a:rPr>
                      <m:t>†</m:t>
                    </m:r>
                  </m:oMath>
                </a14:m>
                <a:endParaRPr lang="ja-JP" altLang="en-US" b="1" dirty="0">
                  <a:latin typeface="+mj-ea"/>
                </a:endParaRPr>
              </a:p>
            </p:txBody>
          </p:sp>
        </mc:Choice>
        <mc:Fallback>
          <p:sp>
            <p:nvSpPr>
              <p:cNvPr id="26626" name="Rectangle 2">
                <a:extLst>
                  <a:ext uri="{FF2B5EF4-FFF2-40B4-BE49-F238E27FC236}">
                    <a16:creationId xmlns:a16="http://schemas.microsoft.com/office/drawing/2014/main" id="{3A9189DA-DD90-FD98-8106-6B34B20D9899}"/>
                  </a:ext>
                </a:extLst>
              </p:cNvPr>
              <p:cNvSpPr>
                <a:spLocks noGrp="1" noRot="1" noChangeAspect="1" noMove="1" noResize="1" noEditPoints="1" noAdjustHandles="1" noChangeArrowheads="1" noChangeShapeType="1" noTextEdit="1"/>
              </p:cNvSpPr>
              <p:nvPr>
                <p:ph type="title"/>
              </p:nvPr>
            </p:nvSpPr>
            <p:spPr>
              <a:blipFill>
                <a:blip r:embed="rId3"/>
                <a:stretch>
                  <a:fillRect l="-826" b="-88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29A95DC-4AA9-BD04-8F27-33FF87F0CD94}"/>
                  </a:ext>
                </a:extLst>
              </p:cNvPr>
              <p:cNvSpPr>
                <a:spLocks noGrp="1"/>
              </p:cNvSpPr>
              <p:nvPr>
                <p:ph idx="1"/>
              </p:nvPr>
            </p:nvSpPr>
            <p:spPr>
              <a:xfrm>
                <a:off x="619760" y="1112520"/>
                <a:ext cx="11267440" cy="5440680"/>
              </a:xfrm>
            </p:spPr>
            <p:txBody>
              <a:bodyPr/>
              <a:lstStyle/>
              <a:p>
                <a:pPr marL="0" indent="0">
                  <a:buNone/>
                </a:pPr>
                <a:r>
                  <a:rPr lang="zh-CN" altLang="en-US" dirty="0"/>
                  <a:t>量子系统的状态通常表示为复 </a:t>
                </a:r>
                <a:r>
                  <a:rPr lang="en-US" altLang="zh-CN" dirty="0"/>
                  <a:t>Hilbert </a:t>
                </a:r>
                <a:r>
                  <a:rPr lang="zh-CN" altLang="en-US" dirty="0"/>
                  <a:t>空间中的向量。比如一个量子态（</a:t>
                </a:r>
                <a:r>
                  <a:rPr lang="en-US" altLang="zh-CN" dirty="0" err="1"/>
                  <a:t>ket</a:t>
                </a:r>
                <a:r>
                  <a:rPr lang="zh-CN" altLang="en-US" dirty="0"/>
                  <a:t>）可以写成：</a:t>
                </a:r>
                <a14:m>
                  <m:oMath xmlns:m="http://schemas.openxmlformats.org/officeDocument/2006/math">
                    <m:d>
                      <m:dPr>
                        <m:begChr m:val=""/>
                        <m:endChr m:val="⟩"/>
                        <m:ctrlPr>
                          <a:rPr lang="zh-CN" altLang="en-US" i="1">
                            <a:latin typeface="Cambria Math" panose="02040503050406030204" pitchFamily="18" charset="0"/>
                          </a:rPr>
                        </m:ctrlPr>
                      </m:dPr>
                      <m:e>
                        <m:r>
                          <a:rPr lang="zh-CN" altLang="en-US" smtClean="0">
                            <a:latin typeface="Cambria Math" panose="02040503050406030204" pitchFamily="18" charset="0"/>
                          </a:rPr>
                          <m:t>∣</m:t>
                        </m:r>
                        <m:r>
                          <a:rPr lang="zh-CN" altLang="en-US" i="1">
                            <a:latin typeface="Cambria Math" panose="02040503050406030204" pitchFamily="18" charset="0"/>
                          </a:rPr>
                          <m:t>𝜓</m:t>
                        </m:r>
                      </m:e>
                    </m:d>
                    <m:r>
                      <a:rPr lang="zh-CN" altLang="en-US">
                        <a:latin typeface="Cambria Math" panose="02040503050406030204" pitchFamily="18" charset="0"/>
                      </a:rPr>
                      <m:t>∈</m:t>
                    </m:r>
                    <m:r>
                      <a:rPr lang="en-US" altLang="zh-CN">
                        <a:latin typeface="Cambria Math" panose="02040503050406030204" pitchFamily="18" charset="0"/>
                      </a:rPr>
                      <m:t>ℋ</m:t>
                    </m:r>
                    <m:r>
                      <a:rPr lang="en-US" altLang="zh-CN">
                        <a:latin typeface="Cambria Math" panose="02040503050406030204" pitchFamily="18" charset="0"/>
                      </a:rPr>
                      <m:t>.</m:t>
                    </m:r>
                  </m:oMath>
                </a14:m>
                <a:endParaRPr lang="zh-CN" altLang="en-US" dirty="0"/>
              </a:p>
              <a:p>
                <a:pPr marL="0" indent="0">
                  <a:buNone/>
                </a:pPr>
                <a:r>
                  <a:rPr lang="zh-CN" altLang="en-US" dirty="0"/>
                  <a:t>它的“对偶向量”或“</a:t>
                </a:r>
                <a:r>
                  <a:rPr lang="en-US" altLang="zh-CN" dirty="0"/>
                  <a:t>bra”</a:t>
                </a:r>
                <a:r>
                  <a:rPr lang="zh-CN" altLang="en-US" dirty="0"/>
                  <a:t>写作：</a:t>
                </a:r>
                <a14:m>
                  <m:oMath xmlns:m="http://schemas.openxmlformats.org/officeDocument/2006/math">
                    <m:sSup>
                      <m:sSupPr>
                        <m:ctrlPr>
                          <a:rPr lang="zh-CN" altLang="en-US" i="1">
                            <a:latin typeface="Cambria Math" panose="02040503050406030204" pitchFamily="18" charset="0"/>
                          </a:rPr>
                        </m:ctrlPr>
                      </m:sSupPr>
                      <m:e>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𝜓</m:t>
                            </m:r>
                            <m:r>
                              <a:rPr lang="zh-CN" altLang="en-US">
                                <a:latin typeface="Cambria Math" panose="02040503050406030204" pitchFamily="18" charset="0"/>
                              </a:rPr>
                              <m:t>∣</m:t>
                            </m:r>
                            <m:r>
                              <a:rPr lang="en-US" altLang="zh-CN">
                                <a:latin typeface="Cambria Math" panose="02040503050406030204" pitchFamily="18" charset="0"/>
                              </a:rPr>
                              <m:t>=∣</m:t>
                            </m:r>
                            <m:r>
                              <a:rPr lang="zh-CN" altLang="en-US" i="1">
                                <a:latin typeface="Cambria Math" panose="02040503050406030204" pitchFamily="18" charset="0"/>
                              </a:rPr>
                              <m:t>𝜓</m:t>
                            </m:r>
                          </m:e>
                        </m:d>
                      </m:e>
                      <m:sup>
                        <m:r>
                          <a:rPr lang="en-US" altLang="zh-CN">
                            <a:latin typeface="Cambria Math" panose="02040503050406030204" pitchFamily="18" charset="0"/>
                          </a:rPr>
                          <m:t>†</m:t>
                        </m:r>
                      </m:sup>
                    </m:sSup>
                    <m:r>
                      <a:rPr lang="en-US" altLang="zh-CN">
                        <a:latin typeface="Cambria Math" panose="02040503050406030204" pitchFamily="18" charset="0"/>
                      </a:rPr>
                      <m:t>.</m:t>
                    </m:r>
                  </m:oMath>
                </a14:m>
                <a:endParaRPr lang="zh-CN" altLang="en-US" dirty="0"/>
              </a:p>
              <a:p>
                <a:pPr marL="0" indent="0">
                  <a:buNone/>
                </a:pPr>
                <a:endParaRPr lang="en-US" altLang="zh-CN" dirty="0"/>
              </a:p>
              <a:p>
                <a:pPr marL="0" indent="0">
                  <a:buNone/>
                </a:pPr>
                <a:r>
                  <a:rPr lang="zh-CN" altLang="en-US" dirty="0"/>
                  <a:t>量子力学中的内积常写成：</a:t>
                </a:r>
                <a14:m>
                  <m:oMath xmlns:m="http://schemas.openxmlformats.org/officeDocument/2006/math">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𝜙</m:t>
                        </m:r>
                        <m:r>
                          <a:rPr lang="zh-CN" altLang="en-US">
                            <a:latin typeface="Cambria Math" panose="02040503050406030204" pitchFamily="18" charset="0"/>
                          </a:rPr>
                          <m:t>∣</m:t>
                        </m:r>
                        <m:r>
                          <a:rPr lang="zh-CN" altLang="en-US" i="1">
                            <a:latin typeface="Cambria Math" panose="02040503050406030204" pitchFamily="18" charset="0"/>
                          </a:rPr>
                          <m:t>𝜓</m:t>
                        </m:r>
                      </m:e>
                    </m:d>
                    <m:r>
                      <a:rPr lang="en-US" altLang="zh-CN">
                        <a:latin typeface="Cambria Math" panose="02040503050406030204" pitchFamily="18" charset="0"/>
                      </a:rPr>
                      <m:t>.</m:t>
                    </m:r>
                  </m:oMath>
                </a14:m>
                <a:r>
                  <a:rPr lang="zh-CN" altLang="en-US" dirty="0"/>
                  <a:t> 这本质上就是复 </a:t>
                </a:r>
                <a:r>
                  <a:rPr lang="en-US" altLang="zh-CN" dirty="0"/>
                  <a:t>Hilbert </a:t>
                </a:r>
                <a:r>
                  <a:rPr lang="zh-CN" altLang="en-US" dirty="0"/>
                  <a:t>空间中的内积。</a:t>
                </a:r>
              </a:p>
              <a:p>
                <a:pPr marL="0" indent="0">
                  <a:buNone/>
                </a:pPr>
                <a:r>
                  <a:rPr lang="zh-CN" altLang="en-US" dirty="0"/>
                  <a:t>在量子力学中，很多重要对象都依赖 </a:t>
                </a:r>
                <a14:m>
                  <m:oMath xmlns:m="http://schemas.openxmlformats.org/officeDocument/2006/math">
                    <m:r>
                      <a:rPr lang="en-US" altLang="zh-CN">
                        <a:latin typeface="Cambria Math" panose="02040503050406030204" pitchFamily="18" charset="0"/>
                      </a:rPr>
                      <m:t>†</m:t>
                    </m:r>
                  </m:oMath>
                </a14:m>
                <a:r>
                  <a:rPr lang="zh-CN" altLang="en-US" dirty="0"/>
                  <a:t>：</a:t>
                </a:r>
              </a:p>
              <a:p>
                <a:pPr marL="457200" indent="-457200">
                  <a:buFont typeface="+mj-lt"/>
                  <a:buAutoNum type="arabicPeriod"/>
                </a:pPr>
                <a:r>
                  <a:rPr lang="zh-CN" altLang="en-US" dirty="0"/>
                  <a:t>量子态的归一化条件是：</a:t>
                </a:r>
                <a14:m>
                  <m:oMath xmlns:m="http://schemas.openxmlformats.org/officeDocument/2006/math">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𝜓</m:t>
                        </m:r>
                        <m:r>
                          <a:rPr lang="zh-CN" altLang="en-US">
                            <a:latin typeface="Cambria Math" panose="02040503050406030204" pitchFamily="18" charset="0"/>
                          </a:rPr>
                          <m:t>∣</m:t>
                        </m:r>
                        <m:r>
                          <a:rPr lang="zh-CN" altLang="en-US" i="1">
                            <a:latin typeface="Cambria Math" panose="02040503050406030204" pitchFamily="18" charset="0"/>
                          </a:rPr>
                          <m:t>𝜓</m:t>
                        </m:r>
                      </m:e>
                    </m:d>
                    <m:r>
                      <a:rPr lang="en-US" altLang="zh-CN">
                        <a:latin typeface="Cambria Math" panose="02040503050406030204" pitchFamily="18" charset="0"/>
                      </a:rPr>
                      <m:t>=1. </m:t>
                    </m:r>
                  </m:oMath>
                </a14:m>
                <a:r>
                  <a:rPr lang="zh-CN" altLang="en-US" dirty="0"/>
                  <a:t>这表示量子态的总概率为 </a:t>
                </a:r>
                <a:r>
                  <a:rPr lang="en-US" altLang="zh-CN" dirty="0"/>
                  <a:t>1</a:t>
                </a:r>
                <a:r>
                  <a:rPr lang="zh-CN" altLang="en-US" dirty="0"/>
                  <a:t>。</a:t>
                </a:r>
              </a:p>
              <a:p>
                <a:pPr marL="457200" indent="-457200">
                  <a:buFont typeface="+mj-lt"/>
                  <a:buAutoNum type="arabicPeriod"/>
                </a:pPr>
                <a:r>
                  <a:rPr lang="zh-CN" altLang="en-US" dirty="0"/>
                  <a:t>量子门通常由酉矩阵表示，满足：</a:t>
                </a: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𝑈</m:t>
                        </m:r>
                      </m:e>
                      <m:sup>
                        <m:r>
                          <a:rPr lang="en-US" altLang="zh-CN">
                            <a:latin typeface="Cambria Math" panose="02040503050406030204" pitchFamily="18" charset="0"/>
                          </a:rPr>
                          <m:t>†</m:t>
                        </m:r>
                      </m:sup>
                    </m:sSup>
                    <m:r>
                      <a:rPr lang="zh-CN" altLang="en-US" i="1">
                        <a:latin typeface="Cambria Math" panose="02040503050406030204" pitchFamily="18" charset="0"/>
                      </a:rPr>
                      <m:t>𝑈</m:t>
                    </m:r>
                    <m:r>
                      <a:rPr lang="en-US" altLang="zh-CN">
                        <a:latin typeface="Cambria Math" panose="02040503050406030204" pitchFamily="18" charset="0"/>
                      </a:rPr>
                      <m:t>=</m:t>
                    </m:r>
                    <m:r>
                      <a:rPr lang="zh-CN" altLang="en-US" i="1">
                        <a:latin typeface="Cambria Math" panose="02040503050406030204" pitchFamily="18" charset="0"/>
                      </a:rPr>
                      <m:t>𝐼</m:t>
                    </m:r>
                    <m:r>
                      <a:rPr lang="en-US" altLang="zh-CN">
                        <a:latin typeface="Cambria Math" panose="02040503050406030204" pitchFamily="18" charset="0"/>
                      </a:rPr>
                      <m:t>.</m:t>
                    </m:r>
                  </m:oMath>
                </a14:m>
                <a:r>
                  <a:rPr lang="zh-CN" altLang="en-US" dirty="0"/>
                  <a:t> 这说明量子演化保持向量长度，也就是保持总概率不变。</a:t>
                </a:r>
              </a:p>
              <a:p>
                <a:pPr marL="457200" indent="-457200">
                  <a:buFont typeface="+mj-lt"/>
                  <a:buAutoNum type="arabicPeriod"/>
                </a:pPr>
                <a:r>
                  <a:rPr lang="zh-CN" altLang="en-US" dirty="0"/>
                  <a:t>量子可观测量通常由 </a:t>
                </a:r>
                <a:r>
                  <a:rPr lang="en-US" altLang="zh-CN" dirty="0"/>
                  <a:t>Hermitian </a:t>
                </a:r>
                <a:r>
                  <a:rPr lang="zh-CN" altLang="en-US" dirty="0"/>
                  <a:t>算子表示，满足：</a:t>
                </a: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𝐴</m:t>
                        </m:r>
                      </m:e>
                      <m:sup>
                        <m:r>
                          <a:rPr lang="en-US" altLang="zh-CN">
                            <a:latin typeface="Cambria Math" panose="02040503050406030204" pitchFamily="18" charset="0"/>
                          </a:rPr>
                          <m:t>†</m:t>
                        </m:r>
                      </m:sup>
                    </m:sSup>
                    <m:r>
                      <a:rPr lang="en-US" altLang="zh-CN">
                        <a:latin typeface="Cambria Math" panose="02040503050406030204" pitchFamily="18" charset="0"/>
                      </a:rPr>
                      <m:t>=</m:t>
                    </m:r>
                    <m:r>
                      <a:rPr lang="zh-CN" altLang="en-US" i="1">
                        <a:latin typeface="Cambria Math" panose="02040503050406030204" pitchFamily="18" charset="0"/>
                      </a:rPr>
                      <m:t>𝐴</m:t>
                    </m:r>
                    <m:r>
                      <a:rPr lang="en-US" altLang="zh-CN">
                        <a:latin typeface="Cambria Math" panose="02040503050406030204" pitchFamily="18" charset="0"/>
                      </a:rPr>
                      <m:t>.</m:t>
                    </m:r>
                  </m:oMath>
                </a14:m>
                <a:r>
                  <a:rPr lang="zh-CN" altLang="en-US" dirty="0"/>
                  <a:t> 这保证测量结果是实数，因为物理可观测量的结果必须是实数。</a:t>
                </a:r>
              </a:p>
              <a:p>
                <a:pPr marL="457200" indent="-457200">
                  <a:buFont typeface="+mj-lt"/>
                  <a:buAutoNum type="arabicPeriod"/>
                </a:pPr>
                <a:r>
                  <a:rPr lang="zh-CN" altLang="en-US" dirty="0"/>
                  <a:t>在量子机器学习中，参数化量子线路、量子核方法、量子态编码、量子神经网络等都需要频繁使用 </a:t>
                </a: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𝑈</m:t>
                        </m:r>
                      </m:e>
                      <m:sup>
                        <m:r>
                          <a:rPr lang="en-US" altLang="zh-CN">
                            <a:latin typeface="Cambria Math" panose="02040503050406030204" pitchFamily="18" charset="0"/>
                          </a:rPr>
                          <m:t>†</m:t>
                        </m:r>
                      </m:sup>
                    </m:sSup>
                  </m:oMath>
                </a14:m>
                <a:r>
                  <a:rPr lang="zh-CN" altLang="en-US" dirty="0"/>
                  <a:t>、</a:t>
                </a:r>
                <a14:m>
                  <m:oMath xmlns:m="http://schemas.openxmlformats.org/officeDocument/2006/math">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𝜙</m:t>
                        </m:r>
                        <m:r>
                          <a:rPr lang="zh-CN" altLang="en-US">
                            <a:latin typeface="Cambria Math" panose="02040503050406030204" pitchFamily="18" charset="0"/>
                          </a:rPr>
                          <m:t>∣</m:t>
                        </m:r>
                        <m:r>
                          <a:rPr lang="zh-CN" altLang="en-US" i="1">
                            <a:latin typeface="Cambria Math" panose="02040503050406030204" pitchFamily="18" charset="0"/>
                          </a:rPr>
                          <m:t>𝜓</m:t>
                        </m:r>
                      </m:e>
                    </m:d>
                  </m:oMath>
                </a14:m>
                <a:r>
                  <a:rPr lang="zh-CN" altLang="en-US" dirty="0"/>
                  <a:t>、</a:t>
                </a: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𝐴</m:t>
                        </m:r>
                      </m:e>
                      <m:sup>
                        <m:r>
                          <a:rPr lang="en-US" altLang="zh-CN">
                            <a:latin typeface="Cambria Math" panose="02040503050406030204" pitchFamily="18" charset="0"/>
                          </a:rPr>
                          <m:t>†</m:t>
                        </m:r>
                      </m:sup>
                    </m:sSup>
                    <m:r>
                      <a:rPr lang="zh-CN" altLang="en-US" i="1">
                        <a:latin typeface="Cambria Math" panose="02040503050406030204" pitchFamily="18" charset="0"/>
                      </a:rPr>
                      <m:t>𝐴</m:t>
                    </m:r>
                  </m:oMath>
                </a14:m>
                <a:r>
                  <a:rPr lang="zh-CN" altLang="en-US" dirty="0"/>
                  <a:t> 这样的表达。</a:t>
                </a:r>
              </a:p>
              <a:p>
                <a:pPr marL="0" indent="0">
                  <a:buNone/>
                </a:pPr>
                <a:endParaRPr lang="en-US" altLang="zh-CN" dirty="0"/>
              </a:p>
              <a:p>
                <a:pPr marL="0" indent="0">
                  <a:buNone/>
                </a:pPr>
                <a:r>
                  <a:rPr lang="zh-CN" altLang="en-US" dirty="0"/>
                  <a:t>因此，从实 </a:t>
                </a:r>
                <a:r>
                  <a:rPr lang="en-US" altLang="zh-CN" dirty="0"/>
                  <a:t>Hilbert </a:t>
                </a:r>
                <a:r>
                  <a:rPr lang="zh-CN" altLang="en-US" dirty="0"/>
                  <a:t>空间推广到复 </a:t>
                </a:r>
                <a:r>
                  <a:rPr lang="en-US" altLang="zh-CN" dirty="0"/>
                  <a:t>Hilbert </a:t>
                </a:r>
                <a:r>
                  <a:rPr lang="zh-CN" altLang="en-US" dirty="0"/>
                  <a:t>空间时，最重要的变化就是：</a:t>
                </a:r>
                <a:r>
                  <a:rPr lang="zh-CN" altLang="en-US" b="1" dirty="0">
                    <a:solidFill>
                      <a:srgbClr val="C00000"/>
                    </a:solidFill>
                  </a:rPr>
                  <a:t>内积中必须出现复共轭，而由此带来的线性算子伴随也必须使用共轭转置。</a:t>
                </a:r>
                <a:endParaRPr lang="zh-CN" altLang="en-US" dirty="0">
                  <a:solidFill>
                    <a:srgbClr val="C00000"/>
                  </a:solidFill>
                </a:endParaRPr>
              </a:p>
            </p:txBody>
          </p:sp>
        </mc:Choice>
        <mc:Fallback>
          <p:sp>
            <p:nvSpPr>
              <p:cNvPr id="12" name="コンテンツ プレースホルダー 2">
                <a:extLst>
                  <a:ext uri="{FF2B5EF4-FFF2-40B4-BE49-F238E27FC236}">
                    <a16:creationId xmlns:a16="http://schemas.microsoft.com/office/drawing/2014/main" id="{C29A95DC-4AA9-BD04-8F27-33FF87F0CD94}"/>
                  </a:ext>
                </a:extLst>
              </p:cNvPr>
              <p:cNvSpPr>
                <a:spLocks noGrp="1" noRot="1" noChangeAspect="1" noMove="1" noResize="1" noEditPoints="1" noAdjustHandles="1" noChangeArrowheads="1" noChangeShapeType="1" noTextEdit="1"/>
              </p:cNvSpPr>
              <p:nvPr>
                <p:ph idx="1"/>
              </p:nvPr>
            </p:nvSpPr>
            <p:spPr>
              <a:xfrm>
                <a:off x="619760" y="1112520"/>
                <a:ext cx="11267440" cy="5440680"/>
              </a:xfrm>
              <a:blipFill>
                <a:blip r:embed="rId4"/>
                <a:stretch>
                  <a:fillRect l="-812" t="-8969" r="-54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63151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21204-6570-6FB1-924A-42A23FB9D262}"/>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1E7C82FD-64B4-7ACA-B6B5-962B97592B30}"/>
              </a:ext>
            </a:extLst>
          </p:cNvPr>
          <p:cNvSpPr>
            <a:spLocks noGrp="1" noChangeArrowheads="1"/>
          </p:cNvSpPr>
          <p:nvPr>
            <p:ph type="title"/>
          </p:nvPr>
        </p:nvSpPr>
        <p:spPr/>
        <p:txBody>
          <a:bodyPr/>
          <a:lstStyle/>
          <a:p>
            <a:r>
              <a:rPr lang="zh-CN" altLang="en-US" b="1" dirty="0">
                <a:latin typeface="+mj-ea"/>
              </a:rPr>
              <a:t>补充：什么是量子门</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FEF782BC-D727-1EBC-037B-968622DFBC37}"/>
                  </a:ext>
                </a:extLst>
              </p:cNvPr>
              <p:cNvSpPr>
                <a:spLocks noGrp="1"/>
              </p:cNvSpPr>
              <p:nvPr>
                <p:ph idx="1"/>
              </p:nvPr>
            </p:nvSpPr>
            <p:spPr>
              <a:xfrm>
                <a:off x="198783" y="1112520"/>
                <a:ext cx="11993217" cy="5440680"/>
              </a:xfrm>
            </p:spPr>
            <p:txBody>
              <a:bodyPr/>
              <a:lstStyle/>
              <a:p>
                <a:pPr marL="0" indent="0">
                  <a:lnSpc>
                    <a:spcPct val="120000"/>
                  </a:lnSpc>
                  <a:buNone/>
                </a:pPr>
                <a:r>
                  <a:rPr lang="ja-JP" altLang="ja-JP" dirty="0"/>
                  <a:t>在量子计算中，对量子态进行操作的“基本变换”。它类似于经典计算机里的逻辑门，例如 AND、OR、NOT，但量子门作用的对象不是普通比特，而是量子比特 qubit。</a:t>
                </a:r>
                <a:r>
                  <a:rPr lang="ja-JP" altLang="ja-JP" b="1" dirty="0">
                    <a:solidFill>
                      <a:srgbClr val="C00000"/>
                    </a:solidFill>
                  </a:rPr>
                  <a:t>量子门是复 Hilbert 空间中的酉线性算子，它把一个量子态变成另一个量子态，同时保持总概率不变。</a:t>
                </a:r>
                <a:endParaRPr lang="en-US" altLang="zh-CN" b="1" dirty="0">
                  <a:solidFill>
                    <a:srgbClr val="C00000"/>
                  </a:solidFill>
                </a:endParaRPr>
              </a:p>
              <a:p>
                <a:pPr marL="0" indent="0">
                  <a:lnSpc>
                    <a:spcPct val="120000"/>
                  </a:lnSpc>
                  <a:buNone/>
                </a:pPr>
                <a:r>
                  <a:rPr lang="ja-JP" altLang="ja-JP" dirty="0"/>
                  <a:t>经典比特只有两个状态：</a:t>
                </a:r>
                <a14:m>
                  <m:oMath xmlns:m="http://schemas.openxmlformats.org/officeDocument/2006/math">
                    <m:r>
                      <a:rPr lang="en-US" altLang="ja-JP"/>
                      <m:t>0, 1</m:t>
                    </m:r>
                    <m:r>
                      <a:rPr lang="zh-CN" altLang="en-US" i="1">
                        <a:latin typeface="Cambria Math" panose="02040503050406030204" pitchFamily="18" charset="0"/>
                      </a:rPr>
                      <m:t>，</m:t>
                    </m:r>
                  </m:oMath>
                </a14:m>
                <a:r>
                  <a:rPr lang="ja-JP" altLang="ja-JP" dirty="0"/>
                  <a:t>而一个量子比特可以处在二者的叠加态：</a:t>
                </a:r>
                <a14:m>
                  <m:oMath xmlns:m="http://schemas.openxmlformats.org/officeDocument/2006/math">
                    <m:d>
                      <m:dPr>
                        <m:begChr m:val=""/>
                        <m:endChr m:val="⟩"/>
                        <m:ctrlPr>
                          <a:rPr lang="ja-JP" altLang="en-US"/>
                        </m:ctrlPr>
                      </m:dPr>
                      <m:e>
                        <m:d>
                          <m:dPr>
                            <m:begChr m:val=""/>
                            <m:endChr m:val="⟩"/>
                            <m:ctrlPr>
                              <a:rPr lang="ja-JP" altLang="en-US"/>
                            </m:ctrlPr>
                          </m:dPr>
                          <m:e>
                            <m:d>
                              <m:dPr>
                                <m:begChr m:val=""/>
                                <m:endChr m:val="⟩"/>
                                <m:ctrlPr>
                                  <a:rPr lang="ja-JP" altLang="en-US"/>
                                </m:ctrlPr>
                              </m:dPr>
                              <m:e>
                                <m:r>
                                  <a:rPr lang="ja-JP" altLang="en-US"/>
                                  <m:t>∣</m:t>
                                </m:r>
                                <m:r>
                                  <a:rPr lang="ja-JP" altLang="en-US" i="1"/>
                                  <m:t>𝜓</m:t>
                                </m:r>
                              </m:e>
                            </m:d>
                            <m:r>
                              <a:rPr lang="en-US" altLang="ja-JP"/>
                              <m:t>=</m:t>
                            </m:r>
                            <m:r>
                              <a:rPr lang="ja-JP" altLang="en-US" i="1"/>
                              <m:t>𝛼</m:t>
                            </m:r>
                            <m:r>
                              <a:rPr lang="ja-JP" altLang="en-US"/>
                              <m:t>∣</m:t>
                            </m:r>
                            <m:r>
                              <a:rPr lang="en-US" altLang="ja-JP"/>
                              <m:t>0</m:t>
                            </m:r>
                          </m:e>
                        </m:d>
                        <m:r>
                          <a:rPr lang="en-US" altLang="ja-JP"/>
                          <m:t>+</m:t>
                        </m:r>
                        <m:r>
                          <a:rPr lang="ja-JP" altLang="en-US" i="1"/>
                          <m:t>𝛽</m:t>
                        </m:r>
                        <m:r>
                          <a:rPr lang="ja-JP" altLang="en-US"/>
                          <m:t>∣</m:t>
                        </m:r>
                        <m:r>
                          <a:rPr lang="en-US" altLang="ja-JP"/>
                          <m:t>1</m:t>
                        </m:r>
                      </m:e>
                    </m:d>
                  </m:oMath>
                </a14:m>
                <a:r>
                  <a:rPr lang="zh-CN" altLang="en-US" dirty="0"/>
                  <a:t>，</a:t>
                </a:r>
                <a14:m>
                  <m:oMath xmlns:m="http://schemas.openxmlformats.org/officeDocument/2006/math">
                    <m:r>
                      <a:rPr lang="ja-JP" altLang="en-US" i="1"/>
                      <m:t>𝛼</m:t>
                    </m:r>
                    <m:r>
                      <a:rPr lang="en-US" altLang="ja-JP"/>
                      <m:t>,</m:t>
                    </m:r>
                    <m:r>
                      <a:rPr lang="ja-JP" altLang="en-US" i="1"/>
                      <m:t>𝛽</m:t>
                    </m:r>
                    <m:r>
                      <a:rPr lang="ja-JP" altLang="en-US"/>
                      <m:t>∈</m:t>
                    </m:r>
                    <m:r>
                      <a:rPr lang="en-US" altLang="ja-JP"/>
                      <m:t>ℂ</m:t>
                    </m:r>
                  </m:oMath>
                </a14:m>
                <a:endParaRPr lang="en-US" altLang="ja-JP" dirty="0"/>
              </a:p>
              <a:p>
                <a:pPr marL="0" indent="0">
                  <a:lnSpc>
                    <a:spcPct val="120000"/>
                  </a:lnSpc>
                  <a:buNone/>
                </a:pPr>
                <a:r>
                  <a:rPr lang="ja-JP" altLang="ja-JP" dirty="0"/>
                  <a:t>表示不同状态的振幅，并且满足</a:t>
                </a:r>
                <a14:m>
                  <m:oMath xmlns:m="http://schemas.openxmlformats.org/officeDocument/2006/math">
                    <m:r>
                      <a:rPr lang="en-US" altLang="ja-JP" b="0" i="0" smtClean="0">
                        <a:latin typeface="Cambria Math" panose="02040503050406030204" pitchFamily="18" charset="0"/>
                      </a:rPr>
                      <m:t> </m:t>
                    </m:r>
                    <m:r>
                      <a:rPr lang="ja-JP" altLang="en-US"/>
                      <m:t>∣</m:t>
                    </m:r>
                    <m:r>
                      <a:rPr lang="ja-JP" altLang="en-US" i="1"/>
                      <m:t>𝛼</m:t>
                    </m:r>
                    <m:sSup>
                      <m:sSupPr>
                        <m:ctrlPr>
                          <a:rPr lang="ja-JP" altLang="en-US" i="1"/>
                        </m:ctrlPr>
                      </m:sSupPr>
                      <m:e>
                        <m:r>
                          <a:rPr lang="ja-JP" altLang="en-US"/>
                          <m:t>∣</m:t>
                        </m:r>
                      </m:e>
                      <m:sup>
                        <m:r>
                          <a:rPr lang="en-US" altLang="ja-JP"/>
                          <m:t>2</m:t>
                        </m:r>
                      </m:sup>
                    </m:sSup>
                    <m:r>
                      <a:rPr lang="en-US" altLang="ja-JP"/>
                      <m:t>+∣</m:t>
                    </m:r>
                    <m:r>
                      <a:rPr lang="ja-JP" altLang="en-US" i="1"/>
                      <m:t>𝛽</m:t>
                    </m:r>
                    <m:sSup>
                      <m:sSupPr>
                        <m:ctrlPr>
                          <a:rPr lang="ja-JP" altLang="en-US" i="1"/>
                        </m:ctrlPr>
                      </m:sSupPr>
                      <m:e>
                        <m:r>
                          <a:rPr lang="ja-JP" altLang="en-US"/>
                          <m:t>∣</m:t>
                        </m:r>
                      </m:e>
                      <m:sup>
                        <m:r>
                          <a:rPr lang="en-US" altLang="ja-JP"/>
                          <m:t>2</m:t>
                        </m:r>
                      </m:sup>
                    </m:sSup>
                    <m:r>
                      <a:rPr lang="en-US" altLang="ja-JP"/>
                      <m:t>=1.</m:t>
                    </m:r>
                  </m:oMath>
                </a14:m>
                <a:r>
                  <a:rPr lang="en-US" altLang="ja-JP" dirty="0"/>
                  <a:t> </a:t>
                </a:r>
                <a:r>
                  <a:rPr lang="ja-JP" altLang="ja-JP" dirty="0"/>
                  <a:t>这里的 </a:t>
                </a:r>
                <a14:m>
                  <m:oMath xmlns:m="http://schemas.openxmlformats.org/officeDocument/2006/math">
                    <m:r>
                      <a:rPr lang="ja-JP" altLang="en-US"/>
                      <m:t>∣</m:t>
                    </m:r>
                    <m:r>
                      <a:rPr lang="ja-JP" altLang="en-US" i="1"/>
                      <m:t>𝛼</m:t>
                    </m:r>
                    <m:sSup>
                      <m:sSupPr>
                        <m:ctrlPr>
                          <a:rPr lang="ja-JP" altLang="en-US" i="1"/>
                        </m:ctrlPr>
                      </m:sSupPr>
                      <m:e>
                        <m:r>
                          <a:rPr lang="ja-JP" altLang="en-US"/>
                          <m:t>∣</m:t>
                        </m:r>
                      </m:e>
                      <m:sup>
                        <m:r>
                          <a:rPr lang="en-US" altLang="ja-JP"/>
                          <m:t>2</m:t>
                        </m:r>
                      </m:sup>
                    </m:sSup>
                  </m:oMath>
                </a14:m>
                <a:r>
                  <a:rPr lang="ja-JP" altLang="ja-JP" dirty="0"/>
                  <a:t>、</a:t>
                </a:r>
                <a14:m>
                  <m:oMath xmlns:m="http://schemas.openxmlformats.org/officeDocument/2006/math">
                    <m:r>
                      <a:rPr lang="ja-JP" altLang="en-US"/>
                      <m:t>∣</m:t>
                    </m:r>
                    <m:r>
                      <a:rPr lang="ja-JP" altLang="en-US" i="1"/>
                      <m:t>𝛽</m:t>
                    </m:r>
                    <m:sSup>
                      <m:sSupPr>
                        <m:ctrlPr>
                          <a:rPr lang="ja-JP" altLang="en-US" i="1"/>
                        </m:ctrlPr>
                      </m:sSupPr>
                      <m:e>
                        <m:r>
                          <a:rPr lang="ja-JP" altLang="en-US"/>
                          <m:t>∣</m:t>
                        </m:r>
                      </m:e>
                      <m:sup>
                        <m:r>
                          <a:rPr lang="en-US" altLang="ja-JP"/>
                          <m:t>2</m:t>
                        </m:r>
                      </m:sup>
                    </m:sSup>
                  </m:oMath>
                </a14:m>
                <a:r>
                  <a:rPr lang="ja-JP" altLang="ja-JP" dirty="0"/>
                  <a:t> 对应测量时得到 </a:t>
                </a:r>
                <a14:m>
                  <m:oMath xmlns:m="http://schemas.openxmlformats.org/officeDocument/2006/math">
                    <m:r>
                      <a:rPr lang="en-US" altLang="ja-JP"/>
                      <m:t>0</m:t>
                    </m:r>
                  </m:oMath>
                </a14:m>
                <a:r>
                  <a:rPr lang="ja-JP" altLang="ja-JP" dirty="0"/>
                  <a:t>或 </a:t>
                </a:r>
                <a14:m>
                  <m:oMath xmlns:m="http://schemas.openxmlformats.org/officeDocument/2006/math">
                    <m:r>
                      <a:rPr lang="en-US" altLang="ja-JP"/>
                      <m:t>1</m:t>
                    </m:r>
                  </m:oMath>
                </a14:m>
                <a:r>
                  <a:rPr lang="ja-JP" altLang="ja-JP" dirty="0"/>
                  <a:t>的概率。</a:t>
                </a:r>
              </a:p>
              <a:p>
                <a:pPr>
                  <a:lnSpc>
                    <a:spcPct val="120000"/>
                  </a:lnSpc>
                </a:pPr>
                <a:endParaRPr lang="en-US" altLang="ja-JP" dirty="0"/>
              </a:p>
              <a:p>
                <a:pPr marL="0" indent="0">
                  <a:lnSpc>
                    <a:spcPct val="120000"/>
                  </a:lnSpc>
                  <a:buNone/>
                </a:pPr>
                <a:r>
                  <a:rPr lang="ja-JP" altLang="ja-JP" dirty="0"/>
                  <a:t>量子门就是把一个量子态变成另一个量子态的线性变换：</a:t>
                </a:r>
                <a14:m>
                  <m:oMath xmlns:m="http://schemas.openxmlformats.org/officeDocument/2006/math">
                    <m:d>
                      <m:dPr>
                        <m:begChr m:val=""/>
                        <m:endChr m:val="⟩"/>
                        <m:ctrlPr>
                          <a:rPr lang="ja-JP" altLang="en-US"/>
                        </m:ctrlPr>
                      </m:dPr>
                      <m:e>
                        <m:d>
                          <m:dPr>
                            <m:begChr m:val=""/>
                            <m:endChr m:val="⟩"/>
                            <m:ctrlPr>
                              <a:rPr lang="ja-JP" altLang="en-US"/>
                            </m:ctrlPr>
                          </m:dPr>
                          <m:e>
                            <m:r>
                              <a:rPr lang="ja-JP" altLang="en-US"/>
                              <m:t>∣</m:t>
                            </m:r>
                            <m:r>
                              <a:rPr lang="ja-JP" altLang="en-US" i="1"/>
                              <m:t>𝜓</m:t>
                            </m:r>
                          </m:e>
                        </m:d>
                        <m:r>
                          <a:rPr lang="ja-JP" altLang="en-US"/>
                          <m:t>↦</m:t>
                        </m:r>
                        <m:r>
                          <a:rPr lang="ja-JP" altLang="en-US" i="1"/>
                          <m:t>𝑈</m:t>
                        </m:r>
                        <m:r>
                          <a:rPr lang="ja-JP" altLang="en-US"/>
                          <m:t>∣</m:t>
                        </m:r>
                        <m:r>
                          <a:rPr lang="ja-JP" altLang="en-US" i="1"/>
                          <m:t>𝜓</m:t>
                        </m:r>
                      </m:e>
                    </m:d>
                    <m:r>
                      <a:rPr lang="en-US" altLang="ja-JP"/>
                      <m:t>.</m:t>
                    </m:r>
                  </m:oMath>
                </a14:m>
                <a:r>
                  <a:rPr lang="en-US" altLang="ja-JP" dirty="0"/>
                  <a:t> </a:t>
                </a:r>
                <a:r>
                  <a:rPr lang="ja-JP" altLang="ja-JP" dirty="0"/>
                  <a:t>其中 </a:t>
                </a:r>
                <a14:m>
                  <m:oMath xmlns:m="http://schemas.openxmlformats.org/officeDocument/2006/math">
                    <m:r>
                      <a:rPr lang="ja-JP" altLang="en-US" i="1"/>
                      <m:t>𝑈</m:t>
                    </m:r>
                  </m:oMath>
                </a14:m>
                <a:r>
                  <a:rPr lang="ja-JP" altLang="ja-JP" dirty="0"/>
                  <a:t>是一个矩阵。</a:t>
                </a:r>
              </a:p>
              <a:p>
                <a:pPr marL="0" indent="0">
                  <a:lnSpc>
                    <a:spcPct val="120000"/>
                  </a:lnSpc>
                  <a:buNone/>
                </a:pPr>
                <a:r>
                  <a:rPr lang="ja-JP" altLang="ja-JP" dirty="0"/>
                  <a:t>例如，一个单量子比特状态可以写成向量：</a:t>
                </a:r>
                <a14:m>
                  <m:oMath xmlns:m="http://schemas.openxmlformats.org/officeDocument/2006/math">
                    <m:d>
                      <m:dPr>
                        <m:begChr m:val=""/>
                        <m:endChr m:val="⟩"/>
                        <m:ctrlPr>
                          <a:rPr lang="ja-JP" altLang="en-US"/>
                        </m:ctrlPr>
                      </m:dPr>
                      <m:e>
                        <m:r>
                          <a:rPr lang="ja-JP" altLang="en-US"/>
                          <m:t>∣</m:t>
                        </m:r>
                        <m:r>
                          <a:rPr lang="ja-JP" altLang="en-US" i="1"/>
                          <m:t>𝜓</m:t>
                        </m:r>
                      </m:e>
                    </m:d>
                    <m:r>
                      <a:rPr lang="en-US" altLang="ja-JP"/>
                      <m:t>=</m:t>
                    </m:r>
                    <m:d>
                      <m:dPr>
                        <m:ctrlPr>
                          <a:rPr lang="ja-JP" altLang="en-US" i="1"/>
                        </m:ctrlPr>
                      </m:dPr>
                      <m:e>
                        <m:m>
                          <m:mPr>
                            <m:plcHide m:val="on"/>
                            <m:mcs>
                              <m:mc>
                                <m:mcPr>
                                  <m:count m:val="1"/>
                                  <m:mcJc m:val="center"/>
                                </m:mcPr>
                              </m:mc>
                            </m:mcs>
                            <m:ctrlPr>
                              <a:rPr lang="ja-JP" altLang="en-US" i="1"/>
                            </m:ctrlPr>
                          </m:mPr>
                          <m:mr>
                            <m:e>
                              <m:r>
                                <a:rPr lang="ja-JP" altLang="en-US" i="1"/>
                                <m:t>𝛼</m:t>
                              </m:r>
                            </m:e>
                          </m:mr>
                          <m:mr>
                            <m:e>
                              <m:r>
                                <a:rPr lang="ja-JP" altLang="en-US" i="1"/>
                                <m:t>𝛽</m:t>
                              </m:r>
                            </m:e>
                          </m:mr>
                        </m:m>
                      </m:e>
                    </m:d>
                    <m:r>
                      <a:rPr lang="en-US" altLang="ja-JP"/>
                      <m:t>.</m:t>
                    </m:r>
                  </m:oMath>
                </a14:m>
                <a:r>
                  <a:rPr lang="en-US" altLang="ja-JP" dirty="0"/>
                  <a:t> </a:t>
                </a:r>
                <a:r>
                  <a:rPr lang="ja-JP" altLang="ja-JP" dirty="0"/>
                  <a:t>量子门 </a:t>
                </a:r>
                <a14:m>
                  <m:oMath xmlns:m="http://schemas.openxmlformats.org/officeDocument/2006/math">
                    <m:r>
                      <a:rPr lang="ja-JP" altLang="en-US" i="1"/>
                      <m:t>𝑈</m:t>
                    </m:r>
                  </m:oMath>
                </a14:m>
                <a:r>
                  <a:rPr lang="ja-JP" altLang="ja-JP" dirty="0"/>
                  <a:t>作用后变成：</a:t>
                </a:r>
                <a14:m>
                  <m:oMath xmlns:m="http://schemas.openxmlformats.org/officeDocument/2006/math">
                    <m:d>
                      <m:dPr>
                        <m:begChr m:val=""/>
                        <m:endChr m:val="⟩"/>
                        <m:ctrlPr>
                          <a:rPr lang="ja-JP" altLang="en-US"/>
                        </m:ctrlPr>
                      </m:dPr>
                      <m:e>
                        <m:r>
                          <a:rPr lang="ja-JP" altLang="en-US" i="1"/>
                          <m:t>𝑈</m:t>
                        </m:r>
                        <m:r>
                          <a:rPr lang="ja-JP" altLang="en-US"/>
                          <m:t>∣</m:t>
                        </m:r>
                        <m:r>
                          <a:rPr lang="ja-JP" altLang="en-US" i="1"/>
                          <m:t>𝜓</m:t>
                        </m:r>
                      </m:e>
                    </m:d>
                    <m:r>
                      <a:rPr lang="en-US" altLang="ja-JP"/>
                      <m:t>.</m:t>
                    </m:r>
                  </m:oMath>
                </a14:m>
                <a:endParaRPr lang="en-US" altLang="ja-JP" dirty="0"/>
              </a:p>
              <a:p>
                <a:pPr marL="0" indent="0">
                  <a:lnSpc>
                    <a:spcPct val="120000"/>
                  </a:lnSpc>
                  <a:buNone/>
                </a:pPr>
                <a:r>
                  <a:rPr lang="ja-JP" altLang="ja-JP" dirty="0"/>
                  <a:t>因为量子态满足：</a:t>
                </a:r>
                <a14:m>
                  <m:oMath xmlns:m="http://schemas.openxmlformats.org/officeDocument/2006/math">
                    <m:r>
                      <a:rPr lang="ja-JP" altLang="en-US"/>
                      <m:t>∣</m:t>
                    </m:r>
                    <m:r>
                      <a:rPr lang="ja-JP" altLang="en-US" i="1"/>
                      <m:t>𝛼</m:t>
                    </m:r>
                    <m:sSup>
                      <m:sSupPr>
                        <m:ctrlPr>
                          <a:rPr lang="ja-JP" altLang="en-US" i="1"/>
                        </m:ctrlPr>
                      </m:sSupPr>
                      <m:e>
                        <m:r>
                          <a:rPr lang="ja-JP" altLang="en-US"/>
                          <m:t>∣</m:t>
                        </m:r>
                      </m:e>
                      <m:sup>
                        <m:r>
                          <a:rPr lang="en-US" altLang="ja-JP"/>
                          <m:t>2</m:t>
                        </m:r>
                      </m:sup>
                    </m:sSup>
                    <m:r>
                      <a:rPr lang="en-US" altLang="ja-JP"/>
                      <m:t>+∣</m:t>
                    </m:r>
                    <m:r>
                      <a:rPr lang="ja-JP" altLang="en-US" i="1"/>
                      <m:t>𝛽</m:t>
                    </m:r>
                    <m:sSup>
                      <m:sSupPr>
                        <m:ctrlPr>
                          <a:rPr lang="ja-JP" altLang="en-US" i="1"/>
                        </m:ctrlPr>
                      </m:sSupPr>
                      <m:e>
                        <m:r>
                          <a:rPr lang="ja-JP" altLang="en-US"/>
                          <m:t>∣</m:t>
                        </m:r>
                      </m:e>
                      <m:sup>
                        <m:r>
                          <a:rPr lang="en-US" altLang="ja-JP"/>
                          <m:t>2</m:t>
                        </m:r>
                      </m:sup>
                    </m:sSup>
                    <m:r>
                      <a:rPr lang="en-US" altLang="ja-JP"/>
                      <m:t>=1,</m:t>
                    </m:r>
                  </m:oMath>
                </a14:m>
                <a:r>
                  <a:rPr lang="en-US" altLang="ja-JP" dirty="0"/>
                  <a:t> </a:t>
                </a:r>
                <a:r>
                  <a:rPr lang="ja-JP" altLang="ja-JP" dirty="0"/>
                  <a:t>量子门作用后也必须仍然满足概率总和为 1。也就是说，量子门必须保持向量长度不变：</a:t>
                </a:r>
                <a14:m>
                  <m:oMath xmlns:m="http://schemas.openxmlformats.org/officeDocument/2006/math">
                    <m:d>
                      <m:dPr>
                        <m:begChr m:val=""/>
                        <m:endChr m:val="⟩"/>
                        <m:ctrlPr>
                          <a:rPr lang="ja-JP" altLang="en-US"/>
                        </m:ctrlPr>
                      </m:dPr>
                      <m:e>
                        <m:d>
                          <m:dPr>
                            <m:begChr m:val=""/>
                            <m:endChr m:val="⟩"/>
                            <m:ctrlPr>
                              <a:rPr lang="ja-JP" altLang="en-US"/>
                            </m:ctrlPr>
                          </m:dPr>
                          <m:e>
                            <m:r>
                              <a:rPr lang="ja-JP" altLang="en-US"/>
                              <m:t>∥</m:t>
                            </m:r>
                            <m:r>
                              <a:rPr lang="ja-JP" altLang="en-US" i="1"/>
                              <m:t>𝑈</m:t>
                            </m:r>
                            <m:r>
                              <a:rPr lang="ja-JP" altLang="en-US"/>
                              <m:t>∣</m:t>
                            </m:r>
                            <m:r>
                              <a:rPr lang="ja-JP" altLang="en-US" i="1"/>
                              <m:t>𝜓</m:t>
                            </m:r>
                          </m:e>
                        </m:d>
                        <m:r>
                          <a:rPr lang="ja-JP" altLang="en-US"/>
                          <m:t>∥</m:t>
                        </m:r>
                        <m:r>
                          <a:rPr lang="en-US" altLang="ja-JP"/>
                          <m:t>=∥∣</m:t>
                        </m:r>
                        <m:r>
                          <a:rPr lang="ja-JP" altLang="en-US" i="1"/>
                          <m:t>𝜓</m:t>
                        </m:r>
                      </m:e>
                    </m:d>
                    <m:r>
                      <a:rPr lang="ja-JP" altLang="en-US"/>
                      <m:t>∥</m:t>
                    </m:r>
                    <m:r>
                      <a:rPr lang="en-US" altLang="ja-JP"/>
                      <m:t>.</m:t>
                    </m:r>
                  </m:oMath>
                </a14:m>
                <a:r>
                  <a:rPr lang="en-US" altLang="ja-JP" dirty="0"/>
                  <a:t> </a:t>
                </a:r>
                <a:r>
                  <a:rPr lang="ja-JP" altLang="ja-JP" dirty="0"/>
                  <a:t>因此量子门对应的矩阵 </a:t>
                </a:r>
                <a14:m>
                  <m:oMath xmlns:m="http://schemas.openxmlformats.org/officeDocument/2006/math">
                    <m:r>
                      <a:rPr lang="ja-JP" altLang="en-US" i="1"/>
                      <m:t>𝑈</m:t>
                    </m:r>
                  </m:oMath>
                </a14:m>
                <a:r>
                  <a:rPr lang="ja-JP" altLang="ja-JP" dirty="0"/>
                  <a:t>必须是</a:t>
                </a:r>
                <a:r>
                  <a:rPr lang="ja-JP" altLang="ja-JP" b="1" dirty="0"/>
                  <a:t>酉矩阵</a:t>
                </a:r>
                <a:r>
                  <a:rPr lang="ja-JP" altLang="ja-JP" dirty="0"/>
                  <a:t>：</a:t>
                </a:r>
                <a14:m>
                  <m:oMath xmlns:m="http://schemas.openxmlformats.org/officeDocument/2006/math">
                    <m:sSup>
                      <m:sSupPr>
                        <m:ctrlPr>
                          <a:rPr lang="ja-JP" altLang="en-US"/>
                        </m:ctrlPr>
                      </m:sSupPr>
                      <m:e>
                        <m:r>
                          <a:rPr lang="ja-JP" altLang="en-US" i="1"/>
                          <m:t>𝑈</m:t>
                        </m:r>
                      </m:e>
                      <m:sup>
                        <m:r>
                          <a:rPr lang="en-US" altLang="ja-JP"/>
                          <m:t>†</m:t>
                        </m:r>
                      </m:sup>
                    </m:sSup>
                    <m:r>
                      <a:rPr lang="ja-JP" altLang="en-US" i="1"/>
                      <m:t>𝑈</m:t>
                    </m:r>
                    <m:r>
                      <a:rPr lang="en-US" altLang="ja-JP"/>
                      <m:t>=</m:t>
                    </m:r>
                    <m:r>
                      <a:rPr lang="ja-JP" altLang="en-US" i="1"/>
                      <m:t>𝐼</m:t>
                    </m:r>
                  </m:oMath>
                </a14:m>
                <a:r>
                  <a:rPr lang="en-US" altLang="ja-JP" dirty="0"/>
                  <a:t> </a:t>
                </a:r>
                <a:r>
                  <a:rPr lang="zh-CN" altLang="en-US" dirty="0"/>
                  <a:t>。</a:t>
                </a:r>
                <a:r>
                  <a:rPr lang="ja-JP" altLang="ja-JP" dirty="0"/>
                  <a:t>这里的</a:t>
                </a:r>
                <a14:m>
                  <m:oMath xmlns:m="http://schemas.openxmlformats.org/officeDocument/2006/math">
                    <m:sSup>
                      <m:sSupPr>
                        <m:ctrlPr>
                          <a:rPr lang="ja-JP" altLang="en-US"/>
                        </m:ctrlPr>
                      </m:sSupPr>
                      <m:e>
                        <m:r>
                          <a:rPr lang="ja-JP" altLang="en-US" i="1"/>
                          <m:t>𝑈</m:t>
                        </m:r>
                      </m:e>
                      <m:sup>
                        <m:r>
                          <a:rPr lang="en-US" altLang="ja-JP"/>
                          <m:t>†</m:t>
                        </m:r>
                      </m:sup>
                    </m:sSup>
                  </m:oMath>
                </a14:m>
                <a:r>
                  <a:rPr lang="ja-JP" altLang="ja-JP" dirty="0"/>
                  <a:t>就是共轭转置。</a:t>
                </a:r>
              </a:p>
              <a:p>
                <a:pPr marL="0" indent="0">
                  <a:lnSpc>
                    <a:spcPct val="120000"/>
                  </a:lnSpc>
                  <a:buNone/>
                </a:pPr>
                <a:endParaRPr lang="zh-CN" altLang="en-US" dirty="0">
                  <a:solidFill>
                    <a:srgbClr val="C00000"/>
                  </a:solidFill>
                </a:endParaRPr>
              </a:p>
            </p:txBody>
          </p:sp>
        </mc:Choice>
        <mc:Fallback>
          <p:sp>
            <p:nvSpPr>
              <p:cNvPr id="12" name="コンテンツ プレースホルダー 2">
                <a:extLst>
                  <a:ext uri="{FF2B5EF4-FFF2-40B4-BE49-F238E27FC236}">
                    <a16:creationId xmlns:a16="http://schemas.microsoft.com/office/drawing/2014/main" id="{FEF782BC-D727-1EBC-037B-968622DFBC37}"/>
                  </a:ext>
                </a:extLst>
              </p:cNvPr>
              <p:cNvSpPr>
                <a:spLocks noGrp="1" noRot="1" noChangeAspect="1" noMove="1" noResize="1" noEditPoints="1" noAdjustHandles="1" noChangeArrowheads="1" noChangeShapeType="1" noTextEdit="1"/>
              </p:cNvSpPr>
              <p:nvPr>
                <p:ph idx="1"/>
              </p:nvPr>
            </p:nvSpPr>
            <p:spPr>
              <a:xfrm>
                <a:off x="198783" y="1112520"/>
                <a:ext cx="11993217" cy="5440680"/>
              </a:xfrm>
              <a:blipFill>
                <a:blip r:embed="rId3"/>
                <a:stretch>
                  <a:fillRect l="-559" t="-448" r="-305" b="-695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97011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DF3B9-60F7-820C-0D28-6EFDDD272ADC}"/>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9FD31246-37C1-1E9A-5643-0B19D54C1B68}"/>
              </a:ext>
            </a:extLst>
          </p:cNvPr>
          <p:cNvSpPr>
            <a:spLocks noGrp="1" noChangeArrowheads="1"/>
          </p:cNvSpPr>
          <p:nvPr>
            <p:ph type="title"/>
          </p:nvPr>
        </p:nvSpPr>
        <p:spPr/>
        <p:txBody>
          <a:bodyPr/>
          <a:lstStyle/>
          <a:p>
            <a:r>
              <a:rPr lang="zh-CN" altLang="en-US" b="1" dirty="0">
                <a:latin typeface="+mj-ea"/>
              </a:rPr>
              <a:t>机器学习最相关的量子门</a:t>
            </a:r>
            <a:endParaRPr lang="ja-JP" altLang="en-US" b="1" dirty="0">
              <a:latin typeface="+mj-ea"/>
            </a:endParaRPr>
          </a:p>
        </p:txBody>
      </p:sp>
      <p:pic>
        <p:nvPicPr>
          <p:cNvPr id="4" name="図 3">
            <a:extLst>
              <a:ext uri="{FF2B5EF4-FFF2-40B4-BE49-F238E27FC236}">
                <a16:creationId xmlns:a16="http://schemas.microsoft.com/office/drawing/2014/main" id="{52E6606A-0179-9022-FC2C-FC6876630732}"/>
              </a:ext>
            </a:extLst>
          </p:cNvPr>
          <p:cNvPicPr>
            <a:picLocks noChangeAspect="1"/>
          </p:cNvPicPr>
          <p:nvPr/>
        </p:nvPicPr>
        <p:blipFill>
          <a:blip r:embed="rId3"/>
          <a:stretch>
            <a:fillRect/>
          </a:stretch>
        </p:blipFill>
        <p:spPr>
          <a:xfrm>
            <a:off x="1613042" y="990600"/>
            <a:ext cx="8965915" cy="5867400"/>
          </a:xfrm>
          <a:prstGeom prst="rect">
            <a:avLst/>
          </a:prstGeom>
        </p:spPr>
      </p:pic>
    </p:spTree>
    <p:extLst>
      <p:ext uri="{BB962C8B-B14F-4D97-AF65-F5344CB8AC3E}">
        <p14:creationId xmlns:p14="http://schemas.microsoft.com/office/powerpoint/2010/main" val="1053249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C18812-E6F5-BD75-9287-DE197EAE0FA9}"/>
              </a:ext>
            </a:extLst>
          </p:cNvPr>
          <p:cNvSpPr>
            <a:spLocks noGrp="1"/>
          </p:cNvSpPr>
          <p:nvPr>
            <p:ph type="title"/>
          </p:nvPr>
        </p:nvSpPr>
        <p:spPr/>
        <p:txBody>
          <a:bodyPr/>
          <a:lstStyle/>
          <a:p>
            <a:r>
              <a:rPr lang="en-US" altLang="ja-JP" dirty="0"/>
              <a:t>Hilbert </a:t>
            </a:r>
            <a:r>
              <a:rPr lang="ja-JP" altLang="en-US" dirty="0"/>
              <a:t>空间的几何语言</a:t>
            </a:r>
            <a:endParaRPr kumimoji="1" lang="ja-JP" altLang="en-US" dirty="0"/>
          </a:p>
        </p:txBody>
      </p:sp>
      <p:sp>
        <p:nvSpPr>
          <p:cNvPr id="3" name="テキスト プレースホルダー 2">
            <a:extLst>
              <a:ext uri="{FF2B5EF4-FFF2-40B4-BE49-F238E27FC236}">
                <a16:creationId xmlns:a16="http://schemas.microsoft.com/office/drawing/2014/main" id="{841376A4-EFA7-7F39-8C97-B1DB3E2F4F75}"/>
              </a:ext>
            </a:extLst>
          </p:cNvPr>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1282265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4BEC7-C057-4FCD-2BDB-5E49B608AE16}"/>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F6F0042A-0740-B8C1-A3C2-9C243A3998B5}"/>
              </a:ext>
            </a:extLst>
          </p:cNvPr>
          <p:cNvSpPr>
            <a:spLocks noGrp="1" noChangeArrowheads="1"/>
          </p:cNvSpPr>
          <p:nvPr>
            <p:ph type="title"/>
          </p:nvPr>
        </p:nvSpPr>
        <p:spPr/>
        <p:txBody>
          <a:bodyPr/>
          <a:lstStyle/>
          <a:p>
            <a:r>
              <a:rPr lang="zh-CN" altLang="en-US" b="1" dirty="0"/>
              <a:t>几何直觉</a:t>
            </a:r>
            <a:endParaRPr lang="ja-JP" altLang="en-US" b="1" dirty="0">
              <a:latin typeface="+mj-ea"/>
            </a:endParaRPr>
          </a:p>
        </p:txBody>
      </p:sp>
      <mc:AlternateContent xmlns:mc="http://schemas.openxmlformats.org/markup-compatibility/2006" xmlns:a14="http://schemas.microsoft.com/office/drawing/2010/main">
        <mc:Choice Requires="a14">
          <p:graphicFrame>
            <p:nvGraphicFramePr>
              <p:cNvPr id="3" name="表 2">
                <a:extLst>
                  <a:ext uri="{FF2B5EF4-FFF2-40B4-BE49-F238E27FC236}">
                    <a16:creationId xmlns:a16="http://schemas.microsoft.com/office/drawing/2014/main" id="{D4B3D99A-5105-18AD-86A3-29FF0248F83C}"/>
                  </a:ext>
                </a:extLst>
              </p:cNvPr>
              <p:cNvGraphicFramePr>
                <a:graphicFrameLocks noGrp="1"/>
              </p:cNvGraphicFramePr>
              <p:nvPr>
                <p:extLst>
                  <p:ext uri="{D42A27DB-BD31-4B8C-83A1-F6EECF244321}">
                    <p14:modId xmlns:p14="http://schemas.microsoft.com/office/powerpoint/2010/main" val="2840755479"/>
                  </p:ext>
                </p:extLst>
              </p:nvPr>
            </p:nvGraphicFramePr>
            <p:xfrm>
              <a:off x="508000" y="2423160"/>
              <a:ext cx="11074401" cy="2555812"/>
            </p:xfrm>
            <a:graphic>
              <a:graphicData uri="http://schemas.openxmlformats.org/drawingml/2006/table">
                <a:tbl>
                  <a:tblPr/>
                  <a:tblGrid>
                    <a:gridCol w="1727200">
                      <a:extLst>
                        <a:ext uri="{9D8B030D-6E8A-4147-A177-3AD203B41FA5}">
                          <a16:colId xmlns:a16="http://schemas.microsoft.com/office/drawing/2014/main" val="474393033"/>
                        </a:ext>
                      </a:extLst>
                    </a:gridCol>
                    <a:gridCol w="5191760">
                      <a:extLst>
                        <a:ext uri="{9D8B030D-6E8A-4147-A177-3AD203B41FA5}">
                          <a16:colId xmlns:a16="http://schemas.microsoft.com/office/drawing/2014/main" val="2758810392"/>
                        </a:ext>
                      </a:extLst>
                    </a:gridCol>
                    <a:gridCol w="4155441">
                      <a:extLst>
                        <a:ext uri="{9D8B030D-6E8A-4147-A177-3AD203B41FA5}">
                          <a16:colId xmlns:a16="http://schemas.microsoft.com/office/drawing/2014/main" val="4037808871"/>
                        </a:ext>
                      </a:extLst>
                    </a:gridCol>
                  </a:tblGrid>
                  <a:tr h="365760">
                    <a:tc>
                      <a:txBody>
                        <a:bodyPr/>
                        <a:lstStyle/>
                        <a:p>
                          <a:pPr>
                            <a:buNone/>
                          </a:pPr>
                          <a:r>
                            <a:rPr lang="ja-JP" altLang="en-US" sz="1800"/>
                            <a:t>几何概念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Hilbert </a:t>
                          </a:r>
                          <a:r>
                            <a:rPr lang="ja-JP" altLang="en-US" sz="1800"/>
                            <a:t>空间表达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机器学习含义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4741665"/>
                      </a:ext>
                    </a:extLst>
                  </a:tr>
                  <a:tr h="365760">
                    <a:tc>
                      <a:txBody>
                        <a:bodyPr/>
                        <a:lstStyle/>
                        <a:p>
                          <a:pPr>
                            <a:buNone/>
                          </a:pPr>
                          <a:r>
                            <a:rPr lang="ja-JP" altLang="en-US" sz="1800"/>
                            <a:t>长度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d>
                                  <m:dPr>
                                    <m:begChr m:val="|"/>
                                    <m:endChr m:val="|"/>
                                    <m:ctrlPr>
                                      <a:rPr lang="da-DK" altLang="ja-JP" sz="1800" i="1" dirty="0" smtClean="0">
                                        <a:latin typeface="Cambria Math" panose="02040503050406030204" pitchFamily="18" charset="0"/>
                                      </a:rPr>
                                    </m:ctrlPr>
                                  </m:dPr>
                                  <m:e>
                                    <m:r>
                                      <a:rPr lang="da-DK" altLang="ja-JP" sz="1800" i="1" dirty="0" smtClean="0">
                                        <a:latin typeface="Cambria Math" panose="02040503050406030204" pitchFamily="18" charset="0"/>
                                      </a:rPr>
                                      <m:t>𝑥</m:t>
                                    </m:r>
                                  </m:e>
                                </m:d>
                                <m:r>
                                  <a:rPr lang="da-DK" altLang="ja-JP" sz="1800" i="1" dirty="0" smtClean="0">
                                    <a:latin typeface="Cambria Math" panose="02040503050406030204" pitchFamily="18" charset="0"/>
                                  </a:rPr>
                                  <m:t>=</m:t>
                                </m:r>
                                <m:rad>
                                  <m:radPr>
                                    <m:degHide m:val="on"/>
                                    <m:ctrlPr>
                                      <a:rPr lang="da-DK" altLang="ja-JP" sz="1800" i="1" dirty="0" smtClean="0">
                                        <a:latin typeface="Cambria Math" panose="02040503050406030204" pitchFamily="18" charset="0"/>
                                      </a:rPr>
                                    </m:ctrlPr>
                                  </m:radPr>
                                  <m:deg/>
                                  <m:e>
                                    <m:d>
                                      <m:dPr>
                                        <m:begChr m:val="⟨"/>
                                        <m:endChr m:val="⟩"/>
                                        <m:ctrlPr>
                                          <a:rPr lang="da-DK" altLang="ja-JP" sz="1800" i="1" dirty="0" smtClean="0">
                                            <a:latin typeface="Cambria Math" panose="02040503050406030204" pitchFamily="18" charset="0"/>
                                          </a:rPr>
                                        </m:ctrlPr>
                                      </m:dPr>
                                      <m:e>
                                        <m:r>
                                          <a:rPr lang="da-DK" altLang="ja-JP" sz="1800" i="1" dirty="0" smtClean="0">
                                            <a:latin typeface="Cambria Math" panose="02040503050406030204" pitchFamily="18" charset="0"/>
                                          </a:rPr>
                                          <m:t>𝑥</m:t>
                                        </m:r>
                                        <m:r>
                                          <a:rPr lang="da-DK" altLang="ja-JP" sz="1800" i="1" dirty="0" smtClean="0">
                                            <a:latin typeface="Cambria Math" panose="02040503050406030204" pitchFamily="18" charset="0"/>
                                          </a:rPr>
                                          <m:t>,</m:t>
                                        </m:r>
                                        <m:r>
                                          <a:rPr lang="da-DK" altLang="ja-JP" sz="1800" i="1" dirty="0" smtClean="0">
                                            <a:latin typeface="Cambria Math" panose="02040503050406030204" pitchFamily="18" charset="0"/>
                                          </a:rPr>
                                          <m:t>𝑥</m:t>
                                        </m:r>
                                      </m:e>
                                    </m:d>
                                  </m:e>
                                </m:rad>
                              </m:oMath>
                            </m:oMathPara>
                          </a14:m>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误差大小、能量大小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7737359"/>
                      </a:ext>
                    </a:extLst>
                  </a:tr>
                  <a:tr h="640080">
                    <a:tc>
                      <a:txBody>
                        <a:bodyPr/>
                        <a:lstStyle/>
                        <a:p>
                          <a:pPr>
                            <a:buNone/>
                          </a:pPr>
                          <a:r>
                            <a:rPr lang="ja-JP" altLang="en-US" sz="1800" dirty="0"/>
                            <a:t>角度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func>
                                  <m:funcPr>
                                    <m:ctrlPr>
                                      <a:rPr lang="en-US" sz="1800" i="1" dirty="0" smtClean="0">
                                        <a:latin typeface="Cambria Math" panose="02040503050406030204" pitchFamily="18" charset="0"/>
                                      </a:rPr>
                                    </m:ctrlPr>
                                  </m:funcPr>
                                  <m:fName>
                                    <m:r>
                                      <m:rPr>
                                        <m:sty m:val="p"/>
                                      </m:rPr>
                                      <a:rPr lang="en-US" sz="1800" i="0" dirty="0">
                                        <a:latin typeface="Cambria Math" panose="02040503050406030204" pitchFamily="18" charset="0"/>
                                      </a:rPr>
                                      <m:t>cos</m:t>
                                    </m:r>
                                  </m:fName>
                                  <m:e>
                                    <m:r>
                                      <a:rPr lang="en-US" sz="1800" i="1" dirty="0">
                                        <a:latin typeface="Cambria Math" panose="02040503050406030204" pitchFamily="18" charset="0"/>
                                      </a:rPr>
                                      <m:t>𝜃</m:t>
                                    </m:r>
                                  </m:e>
                                </m:func>
                                <m:r>
                                  <a:rPr lang="en-US" sz="1800" i="1" dirty="0">
                                    <a:latin typeface="Cambria Math" panose="02040503050406030204" pitchFamily="18" charset="0"/>
                                  </a:rPr>
                                  <m:t>=</m:t>
                                </m:r>
                                <m:f>
                                  <m:fPr>
                                    <m:ctrlPr>
                                      <a:rPr lang="en-US" sz="1800" i="1" dirty="0">
                                        <a:latin typeface="Cambria Math" panose="02040503050406030204" pitchFamily="18" charset="0"/>
                                      </a:rPr>
                                    </m:ctrlPr>
                                  </m:fPr>
                                  <m:num>
                                    <m:d>
                                      <m:dPr>
                                        <m:begChr m:val="⟨"/>
                                        <m:endChr m:val="⟩"/>
                                        <m:ctrlPr>
                                          <a:rPr lang="en-US" sz="1800" i="1" dirty="0">
                                            <a:latin typeface="Cambria Math" panose="02040503050406030204" pitchFamily="18" charset="0"/>
                                          </a:rPr>
                                        </m:ctrlPr>
                                      </m:dPr>
                                      <m:e>
                                        <m:r>
                                          <a:rPr lang="en-US" sz="1800" i="1" dirty="0" err="1">
                                            <a:latin typeface="Cambria Math" panose="02040503050406030204" pitchFamily="18" charset="0"/>
                                          </a:rPr>
                                          <m:t>𝑥</m:t>
                                        </m:r>
                                        <m:r>
                                          <a:rPr lang="en-US" sz="1800" i="1" dirty="0" err="1">
                                            <a:latin typeface="Cambria Math" panose="02040503050406030204" pitchFamily="18" charset="0"/>
                                          </a:rPr>
                                          <m:t>,</m:t>
                                        </m:r>
                                        <m:r>
                                          <a:rPr lang="en-US" sz="1800" i="1" dirty="0" err="1">
                                            <a:latin typeface="Cambria Math" panose="02040503050406030204" pitchFamily="18" charset="0"/>
                                          </a:rPr>
                                          <m:t>𝑦</m:t>
                                        </m:r>
                                      </m:e>
                                    </m:d>
                                  </m:num>
                                  <m:den>
                                    <m:d>
                                      <m:dPr>
                                        <m:begChr m:val="|"/>
                                        <m:endChr m:val="|"/>
                                        <m:ctrlPr>
                                          <a:rPr lang="en-US" sz="1800" i="1" dirty="0">
                                            <a:latin typeface="Cambria Math" panose="02040503050406030204" pitchFamily="18" charset="0"/>
                                          </a:rPr>
                                        </m:ctrlPr>
                                      </m:dPr>
                                      <m:e>
                                        <m:r>
                                          <a:rPr lang="en-US" sz="1800" i="1" dirty="0">
                                            <a:latin typeface="Cambria Math" panose="02040503050406030204" pitchFamily="18" charset="0"/>
                                          </a:rPr>
                                          <m:t>𝑥</m:t>
                                        </m:r>
                                      </m:e>
                                    </m:d>
                                    <m:d>
                                      <m:dPr>
                                        <m:begChr m:val="|"/>
                                        <m:endChr m:val="|"/>
                                        <m:ctrlPr>
                                          <a:rPr lang="en-US" sz="1800" i="1" dirty="0">
                                            <a:latin typeface="Cambria Math" panose="02040503050406030204" pitchFamily="18" charset="0"/>
                                          </a:rPr>
                                        </m:ctrlPr>
                                      </m:dPr>
                                      <m:e>
                                        <m:r>
                                          <a:rPr lang="en-US" sz="1800" i="1" dirty="0">
                                            <a:latin typeface="Cambria Math" panose="02040503050406030204" pitchFamily="18" charset="0"/>
                                          </a:rPr>
                                          <m:t>𝑦</m:t>
                                        </m:r>
                                      </m:e>
                                    </m:d>
                                  </m:den>
                                </m:f>
                              </m:oMath>
                            </m:oMathPara>
                          </a14:m>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800"/>
                            <a:t>相似度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149735"/>
                      </a:ext>
                    </a:extLst>
                  </a:tr>
                  <a:tr h="365760">
                    <a:tc>
                      <a:txBody>
                        <a:bodyPr/>
                        <a:lstStyle/>
                        <a:p>
                          <a:pPr>
                            <a:buNone/>
                          </a:pPr>
                          <a:r>
                            <a:rPr lang="ja-JP" altLang="en-US" sz="1800"/>
                            <a:t>正交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d>
                                  <m:dPr>
                                    <m:begChr m:val="⟨"/>
                                    <m:endChr m:val="⟩"/>
                                    <m:ctrlPr>
                                      <a:rPr lang="da-DK" sz="1800" i="1" dirty="0" smtClean="0">
                                        <a:latin typeface="Cambria Math" panose="02040503050406030204" pitchFamily="18" charset="0"/>
                                      </a:rPr>
                                    </m:ctrlPr>
                                  </m:dPr>
                                  <m:e>
                                    <m:r>
                                      <a:rPr lang="da-DK" sz="1800" i="1" dirty="0">
                                        <a:latin typeface="Cambria Math" panose="02040503050406030204" pitchFamily="18" charset="0"/>
                                      </a:rPr>
                                      <m:t>𝑥</m:t>
                                    </m:r>
                                    <m:r>
                                      <a:rPr lang="da-DK" sz="1800" i="1" dirty="0">
                                        <a:latin typeface="Cambria Math" panose="02040503050406030204" pitchFamily="18" charset="0"/>
                                      </a:rPr>
                                      <m:t>,</m:t>
                                    </m:r>
                                    <m:r>
                                      <a:rPr lang="da-DK" sz="1800" i="1" dirty="0">
                                        <a:latin typeface="Cambria Math" panose="02040503050406030204" pitchFamily="18" charset="0"/>
                                      </a:rPr>
                                      <m:t>𝑦</m:t>
                                    </m:r>
                                  </m:e>
                                </m:d>
                                <m:r>
                                  <a:rPr lang="da-DK" sz="1800" i="1" dirty="0">
                                    <a:latin typeface="Cambria Math" panose="02040503050406030204" pitchFamily="18" charset="0"/>
                                  </a:rPr>
                                  <m:t>=</m:t>
                                </m:r>
                                <m:r>
                                  <a:rPr lang="da-DK" sz="1800" i="1" dirty="0" smtClean="0">
                                    <a:latin typeface="Cambria Math" panose="02040503050406030204" pitchFamily="18" charset="0"/>
                                  </a:rPr>
                                  <m:t>0</m:t>
                                </m:r>
                              </m:oMath>
                            </m:oMathPara>
                          </a14:m>
                          <a:endParaRPr lang="da-DK"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信息不重叠、特征独立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1759415"/>
                      </a:ext>
                    </a:extLst>
                  </a:tr>
                  <a:tr h="365760">
                    <a:tc>
                      <a:txBody>
                        <a:bodyPr/>
                        <a:lstStyle/>
                        <a:p>
                          <a:pPr>
                            <a:buNone/>
                          </a:pPr>
                          <a:r>
                            <a:rPr lang="ja-JP" altLang="en-US" sz="1800"/>
                            <a:t>投影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sSub>
                                  <m:sSubPr>
                                    <m:ctrlPr>
                                      <a:rPr lang="en-US" sz="1800" i="1" dirty="0" smtClean="0">
                                        <a:latin typeface="Cambria Math" panose="02040503050406030204" pitchFamily="18" charset="0"/>
                                      </a:rPr>
                                    </m:ctrlPr>
                                  </m:sSubPr>
                                  <m:e>
                                    <m:r>
                                      <a:rPr lang="en-US" sz="1800" i="1" dirty="0" smtClean="0">
                                        <a:latin typeface="Cambria Math" panose="02040503050406030204" pitchFamily="18" charset="0"/>
                                      </a:rPr>
                                      <m:t>𝑃</m:t>
                                    </m:r>
                                  </m:e>
                                  <m:sub>
                                    <m:r>
                                      <a:rPr lang="en-US" sz="1800" i="1" dirty="0" err="1" smtClean="0">
                                        <a:latin typeface="Cambria Math" panose="02040503050406030204" pitchFamily="18" charset="0"/>
                                      </a:rPr>
                                      <m:t>𝑉</m:t>
                                    </m:r>
                                  </m:sub>
                                </m:sSub>
                                <m:r>
                                  <a:rPr lang="en-US" sz="1800" i="1" dirty="0" err="1" smtClean="0">
                                    <a:latin typeface="Cambria Math" panose="02040503050406030204" pitchFamily="18" charset="0"/>
                                  </a:rPr>
                                  <m:t>𝑥</m:t>
                                </m:r>
                              </m:oMath>
                            </m:oMathPara>
                          </a14:m>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800"/>
                            <a:t>最佳近似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1387899"/>
                      </a:ext>
                    </a:extLst>
                  </a:tr>
                  <a:tr h="365760">
                    <a:tc>
                      <a:txBody>
                        <a:bodyPr/>
                        <a:lstStyle/>
                        <a:p>
                          <a:pPr>
                            <a:buNone/>
                          </a:pPr>
                          <a:r>
                            <a:rPr lang="ja-JP" altLang="en-US" sz="1800"/>
                            <a:t>分解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rPr>
                                  <m:t>𝑥</m:t>
                                </m:r>
                                <m:r>
                                  <a:rPr lang="en-US" sz="1800" i="1" dirty="0">
                                    <a:latin typeface="Cambria Math" panose="02040503050406030204" pitchFamily="18" charset="0"/>
                                  </a:rPr>
                                  <m:t>=</m:t>
                                </m:r>
                                <m:sSub>
                                  <m:sSubPr>
                                    <m:ctrlPr>
                                      <a:rPr lang="en-US" sz="1800" i="1" dirty="0" err="1" smtClean="0">
                                        <a:latin typeface="Cambria Math" panose="02040503050406030204" pitchFamily="18" charset="0"/>
                                      </a:rPr>
                                    </m:ctrlPr>
                                  </m:sSubPr>
                                  <m:e>
                                    <m:r>
                                      <a:rPr lang="en-US" sz="1800" i="1" dirty="0" err="1">
                                        <a:latin typeface="Cambria Math" panose="02040503050406030204" pitchFamily="18" charset="0"/>
                                      </a:rPr>
                                      <m:t>𝑃</m:t>
                                    </m:r>
                                  </m:e>
                                  <m:sub>
                                    <m:r>
                                      <a:rPr lang="en-US" sz="1800" i="1" dirty="0" err="1">
                                        <a:latin typeface="Cambria Math" panose="02040503050406030204" pitchFamily="18" charset="0"/>
                                      </a:rPr>
                                      <m:t>𝑉</m:t>
                                    </m:r>
                                  </m:sub>
                                </m:sSub>
                                <m:r>
                                  <a:rPr lang="en-US" sz="1800" i="1" dirty="0" err="1">
                                    <a:latin typeface="Cambria Math" panose="02040503050406030204" pitchFamily="18" charset="0"/>
                                  </a:rPr>
                                  <m:t>𝑥</m:t>
                                </m:r>
                                <m:r>
                                  <a:rPr lang="en-US" sz="1800" i="1" dirty="0">
                                    <a:latin typeface="Cambria Math" panose="02040503050406030204" pitchFamily="18" charset="0"/>
                                  </a:rPr>
                                  <m:t>+</m:t>
                                </m:r>
                                <m:d>
                                  <m:dPr>
                                    <m:ctrlPr>
                                      <a:rPr lang="en-US" sz="1800" i="1" dirty="0">
                                        <a:latin typeface="Cambria Math" panose="02040503050406030204" pitchFamily="18" charset="0"/>
                                      </a:rPr>
                                    </m:ctrlPr>
                                  </m:dPr>
                                  <m:e>
                                    <m:r>
                                      <a:rPr lang="en-US" sz="1800" i="1" dirty="0">
                                        <a:latin typeface="Cambria Math" panose="02040503050406030204" pitchFamily="18" charset="0"/>
                                      </a:rPr>
                                      <m:t>𝑥</m:t>
                                    </m:r>
                                    <m:r>
                                      <a:rPr lang="en-US" sz="1800" i="1" dirty="0">
                                        <a:latin typeface="Cambria Math" panose="02040503050406030204" pitchFamily="18" charset="0"/>
                                      </a:rPr>
                                      <m:t>−</m:t>
                                    </m:r>
                                    <m:sSub>
                                      <m:sSubPr>
                                        <m:ctrlPr>
                                          <a:rPr lang="en-US" sz="1800" i="1" dirty="0" err="1">
                                            <a:latin typeface="Cambria Math" panose="02040503050406030204" pitchFamily="18" charset="0"/>
                                          </a:rPr>
                                        </m:ctrlPr>
                                      </m:sSubPr>
                                      <m:e>
                                        <m:r>
                                          <a:rPr lang="en-US" sz="1800" i="1" dirty="0" err="1">
                                            <a:latin typeface="Cambria Math" panose="02040503050406030204" pitchFamily="18" charset="0"/>
                                          </a:rPr>
                                          <m:t>𝑃</m:t>
                                        </m:r>
                                      </m:e>
                                      <m:sub>
                                        <m:r>
                                          <a:rPr lang="en-US" sz="1800" i="1" dirty="0" err="1">
                                            <a:latin typeface="Cambria Math" panose="02040503050406030204" pitchFamily="18" charset="0"/>
                                          </a:rPr>
                                          <m:t>𝑉</m:t>
                                        </m:r>
                                      </m:sub>
                                    </m:sSub>
                                    <m:r>
                                      <a:rPr lang="en-US" sz="1800" i="1" dirty="0" err="1">
                                        <a:latin typeface="Cambria Math" panose="02040503050406030204" pitchFamily="18" charset="0"/>
                                      </a:rPr>
                                      <m:t>𝑥</m:t>
                                    </m:r>
                                  </m:e>
                                </m:d>
                              </m:oMath>
                            </m:oMathPara>
                          </a14:m>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dirty="0"/>
                            <a:t>信号分解、误差分解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62060"/>
                      </a:ext>
                    </a:extLst>
                  </a:tr>
                </a:tbl>
              </a:graphicData>
            </a:graphic>
          </p:graphicFrame>
        </mc:Choice>
        <mc:Fallback xmlns="">
          <p:graphicFrame>
            <p:nvGraphicFramePr>
              <p:cNvPr id="3" name="表 2">
                <a:extLst>
                  <a:ext uri="{FF2B5EF4-FFF2-40B4-BE49-F238E27FC236}">
                    <a16:creationId xmlns:a16="http://schemas.microsoft.com/office/drawing/2014/main" id="{D4B3D99A-5105-18AD-86A3-29FF0248F83C}"/>
                  </a:ext>
                </a:extLst>
              </p:cNvPr>
              <p:cNvGraphicFramePr>
                <a:graphicFrameLocks noGrp="1"/>
              </p:cNvGraphicFramePr>
              <p:nvPr>
                <p:extLst>
                  <p:ext uri="{D42A27DB-BD31-4B8C-83A1-F6EECF244321}">
                    <p14:modId xmlns:p14="http://schemas.microsoft.com/office/powerpoint/2010/main" val="2840755479"/>
                  </p:ext>
                </p:extLst>
              </p:nvPr>
            </p:nvGraphicFramePr>
            <p:xfrm>
              <a:off x="508000" y="2423160"/>
              <a:ext cx="11074401" cy="2555812"/>
            </p:xfrm>
            <a:graphic>
              <a:graphicData uri="http://schemas.openxmlformats.org/drawingml/2006/table">
                <a:tbl>
                  <a:tblPr/>
                  <a:tblGrid>
                    <a:gridCol w="1727200">
                      <a:extLst>
                        <a:ext uri="{9D8B030D-6E8A-4147-A177-3AD203B41FA5}">
                          <a16:colId xmlns:a16="http://schemas.microsoft.com/office/drawing/2014/main" val="474393033"/>
                        </a:ext>
                      </a:extLst>
                    </a:gridCol>
                    <a:gridCol w="5191760">
                      <a:extLst>
                        <a:ext uri="{9D8B030D-6E8A-4147-A177-3AD203B41FA5}">
                          <a16:colId xmlns:a16="http://schemas.microsoft.com/office/drawing/2014/main" val="2758810392"/>
                        </a:ext>
                      </a:extLst>
                    </a:gridCol>
                    <a:gridCol w="4155441">
                      <a:extLst>
                        <a:ext uri="{9D8B030D-6E8A-4147-A177-3AD203B41FA5}">
                          <a16:colId xmlns:a16="http://schemas.microsoft.com/office/drawing/2014/main" val="4037808871"/>
                        </a:ext>
                      </a:extLst>
                    </a:gridCol>
                  </a:tblGrid>
                  <a:tr h="365760">
                    <a:tc>
                      <a:txBody>
                        <a:bodyPr/>
                        <a:lstStyle/>
                        <a:p>
                          <a:pPr>
                            <a:buNone/>
                          </a:pPr>
                          <a:r>
                            <a:rPr lang="ja-JP" altLang="en-US" sz="1800"/>
                            <a:t>几何概念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Hilbert </a:t>
                          </a:r>
                          <a:r>
                            <a:rPr lang="ja-JP" altLang="en-US" sz="1800"/>
                            <a:t>空间表达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800"/>
                            <a:t>机器学习含义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4741665"/>
                      </a:ext>
                    </a:extLst>
                  </a:tr>
                  <a:tr h="423609">
                    <a:tc>
                      <a:txBody>
                        <a:bodyPr/>
                        <a:lstStyle/>
                        <a:p>
                          <a:pPr>
                            <a:buNone/>
                          </a:pPr>
                          <a:r>
                            <a:rPr lang="ja-JP" altLang="en-US" sz="1800"/>
                            <a:t>长度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3451" t="-97143" r="-80282" b="-435714"/>
                          </a:stretch>
                        </a:blipFill>
                      </a:tcPr>
                    </a:tc>
                    <a:tc>
                      <a:txBody>
                        <a:bodyPr/>
                        <a:lstStyle/>
                        <a:p>
                          <a:pPr>
                            <a:buNone/>
                          </a:pPr>
                          <a:r>
                            <a:rPr lang="zh-CN" altLang="en-US" sz="1800"/>
                            <a:t>误差大小、能量大小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7737359"/>
                      </a:ext>
                    </a:extLst>
                  </a:tr>
                  <a:tr h="669163">
                    <a:tc>
                      <a:txBody>
                        <a:bodyPr/>
                        <a:lstStyle/>
                        <a:p>
                          <a:pPr>
                            <a:buNone/>
                          </a:pPr>
                          <a:r>
                            <a:rPr lang="ja-JP" altLang="en-US" sz="1800" dirty="0"/>
                            <a:t>角度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3451" t="-125455" r="-80282" b="-177273"/>
                          </a:stretch>
                        </a:blipFill>
                      </a:tcPr>
                    </a:tc>
                    <a:tc>
                      <a:txBody>
                        <a:bodyPr/>
                        <a:lstStyle/>
                        <a:p>
                          <a:pPr>
                            <a:buNone/>
                          </a:pPr>
                          <a:r>
                            <a:rPr lang="ja-JP" altLang="en-US" sz="1800"/>
                            <a:t>相似度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149735"/>
                      </a:ext>
                    </a:extLst>
                  </a:tr>
                  <a:tr h="365760">
                    <a:tc>
                      <a:txBody>
                        <a:bodyPr/>
                        <a:lstStyle/>
                        <a:p>
                          <a:pPr>
                            <a:buNone/>
                          </a:pPr>
                          <a:r>
                            <a:rPr lang="ja-JP" altLang="en-US" sz="1800"/>
                            <a:t>正交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3451" t="-413333" r="-80282" b="-225000"/>
                          </a:stretch>
                        </a:blipFill>
                      </a:tcPr>
                    </a:tc>
                    <a:tc>
                      <a:txBody>
                        <a:bodyPr/>
                        <a:lstStyle/>
                        <a:p>
                          <a:pPr>
                            <a:buNone/>
                          </a:pPr>
                          <a:r>
                            <a:rPr lang="zh-CN" altLang="en-US" sz="1800"/>
                            <a:t>信息不重叠、特征独立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1759415"/>
                      </a:ext>
                    </a:extLst>
                  </a:tr>
                  <a:tr h="365760">
                    <a:tc>
                      <a:txBody>
                        <a:bodyPr/>
                        <a:lstStyle/>
                        <a:p>
                          <a:pPr>
                            <a:buNone/>
                          </a:pPr>
                          <a:r>
                            <a:rPr lang="ja-JP" altLang="en-US" sz="1800"/>
                            <a:t>投影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3451" t="-513333" r="-80282" b="-125000"/>
                          </a:stretch>
                        </a:blipFill>
                      </a:tcPr>
                    </a:tc>
                    <a:tc>
                      <a:txBody>
                        <a:bodyPr/>
                        <a:lstStyle/>
                        <a:p>
                          <a:pPr>
                            <a:buNone/>
                          </a:pPr>
                          <a:r>
                            <a:rPr lang="ja-JP" altLang="en-US" sz="1800"/>
                            <a:t>最佳近似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1387899"/>
                      </a:ext>
                    </a:extLst>
                  </a:tr>
                  <a:tr h="365760">
                    <a:tc>
                      <a:txBody>
                        <a:bodyPr/>
                        <a:lstStyle/>
                        <a:p>
                          <a:pPr>
                            <a:buNone/>
                          </a:pPr>
                          <a:r>
                            <a:rPr lang="ja-JP" altLang="en-US" sz="1800"/>
                            <a:t>分解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3451" t="-613333" r="-80282" b="-25000"/>
                          </a:stretch>
                        </a:blipFill>
                      </a:tcPr>
                    </a:tc>
                    <a:tc>
                      <a:txBody>
                        <a:bodyPr/>
                        <a:lstStyle/>
                        <a:p>
                          <a:pPr>
                            <a:buNone/>
                          </a:pPr>
                          <a:r>
                            <a:rPr lang="zh-CN" altLang="en-US" sz="1800" dirty="0"/>
                            <a:t>信号分解、误差分解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762060"/>
                      </a:ext>
                    </a:extLst>
                  </a:tr>
                </a:tbl>
              </a:graphicData>
            </a:graphic>
          </p:graphicFrame>
        </mc:Fallback>
      </mc:AlternateContent>
      <mc:AlternateContent xmlns:mc="http://schemas.openxmlformats.org/markup-compatibility/2006">
        <mc:Choice xmlns:a14="http://schemas.microsoft.com/office/drawing/2010/main" Requires="a14">
          <p:sp>
            <p:nvSpPr>
              <p:cNvPr id="5" name="テキスト ボックス 4">
                <a:extLst>
                  <a:ext uri="{FF2B5EF4-FFF2-40B4-BE49-F238E27FC236}">
                    <a16:creationId xmlns:a16="http://schemas.microsoft.com/office/drawing/2014/main" id="{11EA043A-0DCC-16F0-0D0B-B36EC14DD7AE}"/>
                  </a:ext>
                </a:extLst>
              </p:cNvPr>
              <p:cNvSpPr txBox="1"/>
              <p:nvPr/>
            </p:nvSpPr>
            <p:spPr>
              <a:xfrm>
                <a:off x="2209800" y="5278289"/>
                <a:ext cx="8011160" cy="707886"/>
              </a:xfrm>
              <a:prstGeom prst="rect">
                <a:avLst/>
              </a:prstGeom>
              <a:noFill/>
            </p:spPr>
            <p:txBody>
              <a:bodyPr wrap="square">
                <a:spAutoFit/>
              </a:bodyPr>
              <a:lstStyle/>
              <a:p>
                <a:pPr>
                  <a:buNone/>
                </a:pPr>
                <a14:m>
                  <m:oMath xmlns:m="http://schemas.openxmlformats.org/officeDocument/2006/math">
                    <m:r>
                      <a:rPr lang="en-US" altLang="ja-JP" i="1" dirty="0">
                        <a:latin typeface="Cambria Math" panose="02040503050406030204" pitchFamily="18" charset="0"/>
                      </a:rPr>
                      <m:t>𝑥</m:t>
                    </m:r>
                    <m:r>
                      <a:rPr lang="en-US" altLang="ja-JP" i="1" dirty="0">
                        <a:latin typeface="Cambria Math" panose="02040503050406030204" pitchFamily="18" charset="0"/>
                      </a:rPr>
                      <m:t>=</m:t>
                    </m:r>
                    <m:sSub>
                      <m:sSubPr>
                        <m:ctrlPr>
                          <a:rPr lang="en-US" altLang="ja-JP" i="1" dirty="0" err="1">
                            <a:latin typeface="Cambria Math" panose="02040503050406030204" pitchFamily="18" charset="0"/>
                          </a:rPr>
                        </m:ctrlPr>
                      </m:sSubPr>
                      <m:e>
                        <m:r>
                          <a:rPr lang="en-US" altLang="ja-JP" i="1" dirty="0" err="1">
                            <a:latin typeface="Cambria Math" panose="02040503050406030204" pitchFamily="18" charset="0"/>
                          </a:rPr>
                          <m:t>𝑃</m:t>
                        </m:r>
                      </m:e>
                      <m:sub>
                        <m:r>
                          <a:rPr lang="en-US" altLang="ja-JP" i="1" dirty="0" err="1">
                            <a:latin typeface="Cambria Math" panose="02040503050406030204" pitchFamily="18" charset="0"/>
                          </a:rPr>
                          <m:t>𝑉</m:t>
                        </m:r>
                      </m:sub>
                    </m:sSub>
                    <m:r>
                      <a:rPr lang="en-US" altLang="ja-JP" i="1" dirty="0" err="1">
                        <a:latin typeface="Cambria Math" panose="02040503050406030204" pitchFamily="18" charset="0"/>
                      </a:rPr>
                      <m:t>𝑥</m:t>
                    </m:r>
                    <m:r>
                      <a:rPr lang="en-US" altLang="ja-JP" i="1" dirty="0">
                        <a:latin typeface="Cambria Math" panose="02040503050406030204" pitchFamily="18" charset="0"/>
                      </a:rPr>
                      <m:t>+</m:t>
                    </m:r>
                    <m:r>
                      <a:rPr lang="en-US" altLang="ja-JP" b="0" i="1" dirty="0" smtClean="0">
                        <a:latin typeface="Cambria Math" panose="02040503050406030204" pitchFamily="18" charset="0"/>
                      </a:rPr>
                      <m:t>𝑟</m:t>
                    </m:r>
                  </m:oMath>
                </a14:m>
                <a:r>
                  <a:rPr lang="en-US" altLang="zh-CN" dirty="0"/>
                  <a:t>,      </a:t>
                </a:r>
                <a:r>
                  <a:rPr lang="en-US" altLang="zh-CN" dirty="0" err="1"/>
                  <a:t>r⊥V</a:t>
                </a:r>
                <a:r>
                  <a:rPr lang="en-US" altLang="zh-CN" dirty="0"/>
                  <a:t> </a:t>
                </a:r>
              </a:p>
              <a:p>
                <a:pPr>
                  <a:buNone/>
                </a:pPr>
                <a:r>
                  <a:rPr lang="zh-CN" altLang="en-US" dirty="0"/>
                  <a:t>其中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𝑉</m:t>
                        </m:r>
                      </m:sub>
                    </m:sSub>
                    <m:r>
                      <a:rPr lang="zh-CN" altLang="en-US" i="1">
                        <a:latin typeface="Cambria Math" panose="02040503050406030204" pitchFamily="18" charset="0"/>
                      </a:rPr>
                      <m:t>𝑥</m:t>
                    </m:r>
                  </m:oMath>
                </a14:m>
                <a:r>
                  <a:rPr lang="zh-CN" altLang="en-US" dirty="0"/>
                  <a:t>是模型能表达的部分，</a:t>
                </a:r>
                <a14:m>
                  <m:oMath xmlns:m="http://schemas.openxmlformats.org/officeDocument/2006/math">
                    <m:r>
                      <a:rPr lang="zh-CN" altLang="en-US" i="1">
                        <a:latin typeface="Cambria Math" panose="02040503050406030204" pitchFamily="18" charset="0"/>
                      </a:rPr>
                      <m:t>𝑟</m:t>
                    </m:r>
                  </m:oMath>
                </a14:m>
                <a:r>
                  <a:rPr lang="zh-CN" altLang="en-US" dirty="0"/>
                  <a:t> 是模型无法表达的误差。</a:t>
                </a:r>
              </a:p>
            </p:txBody>
          </p:sp>
        </mc:Choice>
        <mc:Fallback>
          <p:sp>
            <p:nvSpPr>
              <p:cNvPr id="5" name="テキスト ボックス 4">
                <a:extLst>
                  <a:ext uri="{FF2B5EF4-FFF2-40B4-BE49-F238E27FC236}">
                    <a16:creationId xmlns:a16="http://schemas.microsoft.com/office/drawing/2014/main" id="{11EA043A-0DCC-16F0-0D0B-B36EC14DD7AE}"/>
                  </a:ext>
                </a:extLst>
              </p:cNvPr>
              <p:cNvSpPr txBox="1">
                <a:spLocks noRot="1" noChangeAspect="1" noMove="1" noResize="1" noEditPoints="1" noAdjustHandles="1" noChangeArrowheads="1" noChangeShapeType="1" noTextEdit="1"/>
              </p:cNvSpPr>
              <p:nvPr/>
            </p:nvSpPr>
            <p:spPr>
              <a:xfrm>
                <a:off x="2209800" y="5278289"/>
                <a:ext cx="8011160" cy="707886"/>
              </a:xfrm>
              <a:prstGeom prst="rect">
                <a:avLst/>
              </a:prstGeom>
              <a:blipFill>
                <a:blip r:embed="rId4"/>
                <a:stretch>
                  <a:fillRect l="-837" t="-6034" b="-1465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74390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FC7B2-3033-720E-A93A-E726ED5B1F6D}"/>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DC38F30D-5DFD-D741-046C-D2DB69F43153}"/>
              </a:ext>
            </a:extLst>
          </p:cNvPr>
          <p:cNvSpPr>
            <a:spLocks noGrp="1" noChangeArrowheads="1"/>
          </p:cNvSpPr>
          <p:nvPr>
            <p:ph type="title"/>
          </p:nvPr>
        </p:nvSpPr>
        <p:spPr/>
        <p:txBody>
          <a:bodyPr/>
          <a:lstStyle/>
          <a:p>
            <a:r>
              <a:rPr lang="zh-CN" altLang="en-US" b="1" dirty="0"/>
              <a:t>正交投影与最小二乘</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160D3EC4-0565-BCE1-C0FD-CEF79AE620EC}"/>
                  </a:ext>
                </a:extLst>
              </p:cNvPr>
              <p:cNvSpPr>
                <a:spLocks noGrp="1"/>
              </p:cNvSpPr>
              <p:nvPr>
                <p:ph idx="1"/>
              </p:nvPr>
            </p:nvSpPr>
            <p:spPr>
              <a:xfrm>
                <a:off x="213360" y="1112520"/>
                <a:ext cx="11877040" cy="5440680"/>
              </a:xfrm>
            </p:spPr>
            <p:txBody>
              <a:bodyPr/>
              <a:lstStyle/>
              <a:p>
                <a:pPr marL="0" indent="0">
                  <a:lnSpc>
                    <a:spcPct val="120000"/>
                  </a:lnSpc>
                  <a:buNone/>
                </a:pPr>
                <a:r>
                  <a:rPr lang="zh-CN" altLang="en-US" dirty="0"/>
                  <a:t>给定数据点，希望用一条直线、一组基函数或一个模型空间去近似它。为什么最小二乘解是“投影”？</a:t>
                </a:r>
              </a:p>
              <a:p>
                <a:pPr marL="0" indent="0">
                  <a:lnSpc>
                    <a:spcPct val="120000"/>
                  </a:lnSpc>
                  <a:buNone/>
                </a:pPr>
                <a:endParaRPr lang="en-US" altLang="zh-CN" dirty="0"/>
              </a:p>
              <a:p>
                <a:pPr marL="0" indent="0">
                  <a:lnSpc>
                    <a:spcPct val="120000"/>
                  </a:lnSpc>
                  <a:buNone/>
                </a:pPr>
                <a:r>
                  <a:rPr lang="zh-CN" altLang="en-US" dirty="0"/>
                  <a:t>设模型空间为 </a:t>
                </a:r>
                <a14:m>
                  <m:oMath xmlns:m="http://schemas.openxmlformats.org/officeDocument/2006/math">
                    <m:r>
                      <a:rPr lang="zh-CN" altLang="en-US" i="1">
                        <a:latin typeface="Cambria Math" panose="02040503050406030204" pitchFamily="18" charset="0"/>
                      </a:rPr>
                      <m:t>𝑉</m:t>
                    </m:r>
                  </m:oMath>
                </a14:m>
                <a:r>
                  <a:rPr lang="zh-CN" altLang="en-US" dirty="0"/>
                  <a:t>，目标数据为 </a:t>
                </a:r>
                <a14:m>
                  <m:oMath xmlns:m="http://schemas.openxmlformats.org/officeDocument/2006/math">
                    <m:r>
                      <a:rPr lang="zh-CN" altLang="en-US" i="1">
                        <a:latin typeface="Cambria Math" panose="02040503050406030204" pitchFamily="18" charset="0"/>
                      </a:rPr>
                      <m:t>𝑦</m:t>
                    </m:r>
                  </m:oMath>
                </a14:m>
                <a:r>
                  <a:rPr lang="zh-CN" altLang="en-US" dirty="0"/>
                  <a:t>。希望找到：</a:t>
                </a:r>
                <a14:m>
                  <m:oMath xmlns:m="http://schemas.openxmlformats.org/officeDocument/2006/math">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𝑦</m:t>
                        </m:r>
                      </m:e>
                    </m:acc>
                    <m:r>
                      <a:rPr lang="zh-CN" altLang="en-US">
                        <a:latin typeface="Cambria Math" panose="02040503050406030204" pitchFamily="18" charset="0"/>
                      </a:rPr>
                      <m:t>∈</m:t>
                    </m:r>
                    <m:r>
                      <a:rPr lang="zh-CN" altLang="en-US" i="1">
                        <a:latin typeface="Cambria Math" panose="02040503050406030204" pitchFamily="18" charset="0"/>
                      </a:rPr>
                      <m:t>𝑉</m:t>
                    </m:r>
                  </m:oMath>
                </a14:m>
                <a:r>
                  <a:rPr lang="zh-CN" altLang="en-US" dirty="0"/>
                  <a:t>，使得：</a:t>
                </a:r>
                <a14:m>
                  <m:oMath xmlns:m="http://schemas.openxmlformats.org/officeDocument/2006/math">
                    <m:r>
                      <a:rPr lang="zh-CN" altLang="en-US">
                        <a:latin typeface="Cambria Math" panose="02040503050406030204" pitchFamily="18" charset="0"/>
                      </a:rPr>
                      <m:t>∥</m:t>
                    </m:r>
                    <m:r>
                      <a:rPr lang="zh-CN" altLang="en-US" i="1">
                        <a:latin typeface="Cambria Math" panose="02040503050406030204" pitchFamily="18" charset="0"/>
                      </a:rPr>
                      <m:t>𝑦</m:t>
                    </m:r>
                    <m:r>
                      <a:rPr lang="zh-CN" altLang="en-US">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𝑦</m:t>
                        </m:r>
                      </m:e>
                    </m:acc>
                    <m:r>
                      <a:rPr lang="zh-CN" altLang="en-US">
                        <a:latin typeface="Cambria Math" panose="02040503050406030204" pitchFamily="18" charset="0"/>
                      </a:rPr>
                      <m:t>∥</m:t>
                    </m:r>
                  </m:oMath>
                </a14:m>
                <a:r>
                  <a:rPr lang="zh-CN" altLang="en-US" dirty="0"/>
                  <a:t> 最小。</a:t>
                </a:r>
              </a:p>
              <a:p>
                <a:pPr marL="0" indent="0">
                  <a:lnSpc>
                    <a:spcPct val="120000"/>
                  </a:lnSpc>
                  <a:buNone/>
                </a:pPr>
                <a:endParaRPr lang="en-US" altLang="zh-CN" dirty="0"/>
              </a:p>
              <a:p>
                <a:pPr marL="0" indent="0">
                  <a:lnSpc>
                    <a:spcPct val="120000"/>
                  </a:lnSpc>
                  <a:buNone/>
                </a:pPr>
                <a:r>
                  <a:rPr lang="en-US" altLang="zh-CN" dirty="0"/>
                  <a:t>Hilbert </a:t>
                </a:r>
                <a:r>
                  <a:rPr lang="zh-CN" altLang="en-US" dirty="0"/>
                  <a:t>空间告诉我们，最优解满足：</a:t>
                </a:r>
                <a14:m>
                  <m:oMath xmlns:m="http://schemas.openxmlformats.org/officeDocument/2006/math">
                    <m:r>
                      <a:rPr lang="zh-CN" altLang="en-US" i="1">
                        <a:latin typeface="Cambria Math" panose="02040503050406030204" pitchFamily="18" charset="0"/>
                      </a:rPr>
                      <m:t>𝑦</m:t>
                    </m:r>
                    <m:r>
                      <a:rPr lang="zh-CN" altLang="en-US">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𝑦</m:t>
                        </m:r>
                      </m:e>
                    </m:acc>
                    <m:r>
                      <a:rPr lang="zh-CN" altLang="en-US">
                        <a:latin typeface="Cambria Math" panose="02040503050406030204" pitchFamily="18" charset="0"/>
                      </a:rPr>
                      <m:t>⊥</m:t>
                    </m:r>
                    <m:r>
                      <a:rPr lang="zh-CN" altLang="en-US" i="1">
                        <a:latin typeface="Cambria Math" panose="02040503050406030204" pitchFamily="18" charset="0"/>
                      </a:rPr>
                      <m:t>𝑉</m:t>
                    </m:r>
                    <m:r>
                      <a:rPr lang="zh-CN" altLang="en-US" i="1">
                        <a:latin typeface="Cambria Math" panose="02040503050406030204" pitchFamily="18" charset="0"/>
                      </a:rPr>
                      <m:t>。</m:t>
                    </m:r>
                  </m:oMath>
                </a14:m>
                <a:endParaRPr lang="en-US" altLang="zh-CN" dirty="0"/>
              </a:p>
              <a:p>
                <a:pPr marL="0" indent="0">
                  <a:lnSpc>
                    <a:spcPct val="120000"/>
                  </a:lnSpc>
                  <a:buNone/>
                </a:pPr>
                <a:r>
                  <a:rPr lang="ja-JP" altLang="en-US" dirty="0"/>
                  <a:t>⇒　</a:t>
                </a:r>
                <a:r>
                  <a:rPr lang="zh-CN" altLang="en-US" b="1" dirty="0">
                    <a:solidFill>
                      <a:srgbClr val="C00000"/>
                    </a:solidFill>
                  </a:rPr>
                  <a:t>误差必须与模型空间正交</a:t>
                </a:r>
                <a:r>
                  <a:rPr lang="zh-CN" altLang="en-US" dirty="0"/>
                  <a:t>。这就是最小二乘法的几何本质。</a:t>
                </a:r>
                <a:endParaRPr lang="en-US" altLang="zh-CN" dirty="0"/>
              </a:p>
              <a:p>
                <a:pPr marL="0" indent="0">
                  <a:lnSpc>
                    <a:spcPct val="120000"/>
                  </a:lnSpc>
                  <a:buNone/>
                </a:pPr>
                <a:r>
                  <a:rPr lang="ja-JP" altLang="en-US" dirty="0"/>
                  <a:t>设在 </a:t>
                </a:r>
                <a:r>
                  <a:rPr lang="en-US" altLang="ja-JP" dirty="0"/>
                  <a:t>Hilbert </a:t>
                </a:r>
                <a:r>
                  <a:rPr lang="ja-JP" altLang="en-US" dirty="0"/>
                  <a:t>空间 </a:t>
                </a:r>
                <a14:m>
                  <m:oMath xmlns:m="http://schemas.openxmlformats.org/officeDocument/2006/math">
                    <m:r>
                      <a:rPr lang="ja-JP" altLang="en-US" i="1">
                        <a:latin typeface="Cambria Math" panose="02040503050406030204" pitchFamily="18" charset="0"/>
                      </a:rPr>
                      <m:t>𝐻</m:t>
                    </m:r>
                  </m:oMath>
                </a14:m>
                <a:r>
                  <a:rPr lang="ja-JP" altLang="en-US" dirty="0"/>
                  <a:t>中，有一个模型空间 </a:t>
                </a:r>
                <a14:m>
                  <m:oMath xmlns:m="http://schemas.openxmlformats.org/officeDocument/2006/math">
                    <m:r>
                      <a:rPr lang="ja-JP" altLang="en-US" i="1">
                        <a:latin typeface="Cambria Math" panose="02040503050406030204" pitchFamily="18" charset="0"/>
                      </a:rPr>
                      <m:t>𝑉</m:t>
                    </m:r>
                    <m:r>
                      <a:rPr lang="ja-JP" altLang="en-US">
                        <a:latin typeface="Cambria Math" panose="02040503050406030204" pitchFamily="18" charset="0"/>
                      </a:rPr>
                      <m:t>⊂</m:t>
                    </m:r>
                    <m:r>
                      <a:rPr lang="ja-JP" altLang="en-US" i="1">
                        <a:latin typeface="Cambria Math" panose="02040503050406030204" pitchFamily="18" charset="0"/>
                      </a:rPr>
                      <m:t>𝐻</m:t>
                    </m:r>
                  </m:oMath>
                </a14:m>
                <a:r>
                  <a:rPr lang="ja-JP" altLang="en-US" dirty="0"/>
                  <a:t>。</a:t>
                </a:r>
                <a:endParaRPr lang="en-US" altLang="ja-JP" dirty="0"/>
              </a:p>
              <a:p>
                <a:pPr marL="0" indent="0">
                  <a:lnSpc>
                    <a:spcPct val="120000"/>
                  </a:lnSpc>
                  <a:buNone/>
                </a:pPr>
                <a:r>
                  <a:rPr lang="ja-JP" altLang="en-US" dirty="0"/>
                  <a:t>目标是从 </a:t>
                </a:r>
                <a14:m>
                  <m:oMath xmlns:m="http://schemas.openxmlformats.org/officeDocument/2006/math">
                    <m:r>
                      <a:rPr lang="ja-JP" altLang="en-US" i="1">
                        <a:latin typeface="Cambria Math" panose="02040503050406030204" pitchFamily="18" charset="0"/>
                      </a:rPr>
                      <m:t>𝑉</m:t>
                    </m:r>
                  </m:oMath>
                </a14:m>
                <a:r>
                  <a:rPr lang="ja-JP" altLang="en-US" dirty="0"/>
                  <a:t>里面找一个 </a:t>
                </a:r>
                <a14:m>
                  <m:oMath xmlns:m="http://schemas.openxmlformats.org/officeDocument/2006/math">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oMath>
                </a14:m>
                <a:r>
                  <a:rPr lang="ja-JP" altLang="ar-AE" dirty="0"/>
                  <a:t>，</a:t>
                </a:r>
                <a:r>
                  <a:rPr lang="ja-JP" altLang="en-US" dirty="0"/>
                  <a:t>使得它最接近真实目标 </a:t>
                </a:r>
                <a14:m>
                  <m:oMath xmlns:m="http://schemas.openxmlformats.org/officeDocument/2006/math">
                    <m:r>
                      <a:rPr lang="ja-JP" altLang="en-US" i="1">
                        <a:latin typeface="Cambria Math" panose="02040503050406030204" pitchFamily="18" charset="0"/>
                      </a:rPr>
                      <m:t>𝑦</m:t>
                    </m:r>
                  </m:oMath>
                </a14:m>
                <a:r>
                  <a:rPr lang="ja-JP" altLang="en-US" dirty="0"/>
                  <a:t>：</a:t>
                </a:r>
                <a14:m>
                  <m:oMath xmlns:m="http://schemas.openxmlformats.org/officeDocument/2006/math">
                    <m:r>
                      <a:rPr lang="ja-JP" altLang="en-US">
                        <a:latin typeface="Cambria Math" panose="02040503050406030204" pitchFamily="18" charset="0"/>
                      </a:rPr>
                      <m:t>∥</m:t>
                    </m:r>
                    <m:r>
                      <a:rPr lang="ja-JP" altLang="en-US" i="1">
                        <a:latin typeface="Cambria Math" panose="02040503050406030204" pitchFamily="18" charset="0"/>
                      </a:rPr>
                      <m:t>𝑦</m:t>
                    </m:r>
                    <m:r>
                      <a:rPr lang="ja-JP" altLang="en-US">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sSub>
                      <m:sSubPr>
                        <m:ctrlPr>
                          <a:rPr lang="ar-AE" altLang="ja-JP" i="1" smtClean="0">
                            <a:latin typeface="Cambria Math" panose="02040503050406030204" pitchFamily="18" charset="0"/>
                          </a:rPr>
                        </m:ctrlPr>
                      </m:sSubPr>
                      <m:e>
                        <m:r>
                          <m:rPr>
                            <m:sty m:val="p"/>
                          </m:rPr>
                          <a:rPr lang="en-US" altLang="ja-JP">
                            <a:latin typeface="Cambria Math" panose="02040503050406030204" pitchFamily="18" charset="0"/>
                          </a:rPr>
                          <m:t>min</m:t>
                        </m:r>
                      </m:e>
                      <m:sub>
                        <m:r>
                          <a:rPr lang="ja-JP" altLang="ar-AE" i="1">
                            <a:latin typeface="Cambria Math" panose="02040503050406030204" pitchFamily="18" charset="0"/>
                          </a:rPr>
                          <m:t>𝑣</m:t>
                        </m:r>
                        <m:r>
                          <a:rPr lang="ar-AE" altLang="ja-JP">
                            <a:latin typeface="Cambria Math" panose="02040503050406030204" pitchFamily="18" charset="0"/>
                          </a:rPr>
                          <m:t>∈</m:t>
                        </m:r>
                        <m:r>
                          <a:rPr lang="ja-JP" altLang="ar-AE" i="1">
                            <a:latin typeface="Cambria Math" panose="02040503050406030204" pitchFamily="18" charset="0"/>
                          </a:rPr>
                          <m:t>𝑉</m:t>
                        </m:r>
                      </m:sub>
                    </m:sSub>
                    <m:r>
                      <a:rPr lang="ar-AE" altLang="ja-JP">
                        <a:latin typeface="Cambria Math" panose="02040503050406030204" pitchFamily="18" charset="0"/>
                      </a:rPr>
                      <m:t>∥</m:t>
                    </m:r>
                    <m:r>
                      <a:rPr lang="ja-JP" altLang="ar-AE" i="1">
                        <a:latin typeface="Cambria Math" panose="02040503050406030204" pitchFamily="18" charset="0"/>
                      </a:rPr>
                      <m:t>𝑦</m:t>
                    </m:r>
                    <m:r>
                      <a:rPr lang="ar-AE" altLang="ja-JP">
                        <a:latin typeface="Cambria Math" panose="02040503050406030204" pitchFamily="18" charset="0"/>
                      </a:rPr>
                      <m:t>−</m:t>
                    </m:r>
                    <m:r>
                      <a:rPr lang="ja-JP" altLang="ar-AE" i="1">
                        <a:latin typeface="Cambria Math" panose="02040503050406030204" pitchFamily="18" charset="0"/>
                      </a:rPr>
                      <m:t>𝑣</m:t>
                    </m:r>
                    <m:r>
                      <a:rPr lang="ar-AE" altLang="ja-JP">
                        <a:latin typeface="Cambria Math" panose="02040503050406030204" pitchFamily="18" charset="0"/>
                      </a:rPr>
                      <m:t>∥.</m:t>
                    </m:r>
                  </m:oMath>
                </a14:m>
                <a:r>
                  <a:rPr lang="en-US" altLang="ja-JP" dirty="0"/>
                  <a:t> </a:t>
                </a:r>
              </a:p>
              <a:p>
                <a:pPr marL="0" indent="0">
                  <a:lnSpc>
                    <a:spcPct val="120000"/>
                  </a:lnSpc>
                  <a:buNone/>
                </a:pPr>
                <a:r>
                  <a:rPr lang="ja-JP" altLang="en-US" dirty="0"/>
                  <a:t>这里的 </a:t>
                </a:r>
                <a14:m>
                  <m:oMath xmlns:m="http://schemas.openxmlformats.org/officeDocument/2006/math">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oMath>
                </a14:m>
                <a:r>
                  <a:rPr lang="ja-JP" altLang="en-US" dirty="0"/>
                  <a:t>就是 </a:t>
                </a:r>
                <a14:m>
                  <m:oMath xmlns:m="http://schemas.openxmlformats.org/officeDocument/2006/math">
                    <m:r>
                      <a:rPr lang="ja-JP" altLang="en-US" i="1">
                        <a:latin typeface="Cambria Math" panose="02040503050406030204" pitchFamily="18" charset="0"/>
                      </a:rPr>
                      <m:t>𝑦</m:t>
                    </m:r>
                  </m:oMath>
                </a14:m>
                <a:r>
                  <a:rPr lang="ja-JP" altLang="en-US" dirty="0"/>
                  <a:t>在 </a:t>
                </a:r>
                <a14:m>
                  <m:oMath xmlns:m="http://schemas.openxmlformats.org/officeDocument/2006/math">
                    <m:r>
                      <a:rPr lang="ja-JP" altLang="en-US" i="1">
                        <a:latin typeface="Cambria Math" panose="02040503050406030204" pitchFamily="18" charset="0"/>
                      </a:rPr>
                      <m:t>𝑉</m:t>
                    </m:r>
                  </m:oMath>
                </a14:m>
                <a:r>
                  <a:rPr lang="ja-JP" altLang="en-US" dirty="0"/>
                  <a:t>上的最优近似。</a:t>
                </a:r>
              </a:p>
              <a:p>
                <a:pPr marL="0" indent="0">
                  <a:lnSpc>
                    <a:spcPct val="120000"/>
                  </a:lnSpc>
                  <a:buNone/>
                </a:pPr>
                <a:endParaRPr lang="en-US" altLang="ja-JP" dirty="0"/>
              </a:p>
              <a:p>
                <a:pPr marL="0" indent="0">
                  <a:lnSpc>
                    <a:spcPct val="120000"/>
                  </a:lnSpc>
                  <a:buNone/>
                </a:pPr>
                <a:r>
                  <a:rPr lang="ja-JP" altLang="en-US" dirty="0"/>
                  <a:t>直观上，可以把 </a:t>
                </a:r>
                <a14:m>
                  <m:oMath xmlns:m="http://schemas.openxmlformats.org/officeDocument/2006/math">
                    <m:r>
                      <a:rPr lang="ja-JP" altLang="en-US" i="1">
                        <a:latin typeface="Cambria Math" panose="02040503050406030204" pitchFamily="18" charset="0"/>
                      </a:rPr>
                      <m:t>𝑉</m:t>
                    </m:r>
                  </m:oMath>
                </a14:m>
                <a:r>
                  <a:rPr lang="ja-JP" altLang="en-US" dirty="0"/>
                  <a:t>想成平面中的一条直线，把 </a:t>
                </a:r>
                <a14:m>
                  <m:oMath xmlns:m="http://schemas.openxmlformats.org/officeDocument/2006/math">
                    <m:r>
                      <a:rPr lang="ja-JP" altLang="en-US" i="1">
                        <a:latin typeface="Cambria Math" panose="02040503050406030204" pitchFamily="18" charset="0"/>
                      </a:rPr>
                      <m:t>𝑦</m:t>
                    </m:r>
                  </m:oMath>
                </a14:m>
                <a:r>
                  <a:rPr lang="ja-JP" altLang="en-US" dirty="0"/>
                  <a:t>想成直线外的一个点。离点 </a:t>
                </a:r>
                <a14:m>
                  <m:oMath xmlns:m="http://schemas.openxmlformats.org/officeDocument/2006/math">
                    <m:r>
                      <a:rPr lang="ja-JP" altLang="en-US" i="1">
                        <a:latin typeface="Cambria Math" panose="02040503050406030204" pitchFamily="18" charset="0"/>
                      </a:rPr>
                      <m:t>𝑦</m:t>
                    </m:r>
                  </m:oMath>
                </a14:m>
                <a:r>
                  <a:rPr lang="ja-JP" altLang="en-US" dirty="0"/>
                  <a:t>最近的直线上的点，一定是从 </a:t>
                </a:r>
                <a14:m>
                  <m:oMath xmlns:m="http://schemas.openxmlformats.org/officeDocument/2006/math">
                    <m:r>
                      <a:rPr lang="ja-JP" altLang="en-US" i="1">
                        <a:latin typeface="Cambria Math" panose="02040503050406030204" pitchFamily="18" charset="0"/>
                      </a:rPr>
                      <m:t>𝑦</m:t>
                    </m:r>
                  </m:oMath>
                </a14:m>
                <a:r>
                  <a:rPr lang="ja-JP" altLang="en-US" dirty="0"/>
                  <a:t>向直线作垂线得到的点。也就是说：</a:t>
                </a:r>
                <a14:m>
                  <m:oMath xmlns:m="http://schemas.openxmlformats.org/officeDocument/2006/math">
                    <m:r>
                      <a:rPr lang="ja-JP" altLang="en-US" i="1">
                        <a:latin typeface="Cambria Math" panose="02040503050406030204" pitchFamily="18" charset="0"/>
                      </a:rPr>
                      <m:t>𝑦</m:t>
                    </m:r>
                    <m:r>
                      <a:rPr lang="ja-JP" altLang="en-US">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r>
                      <a:rPr lang="ja-JP" altLang="ar-AE" i="1">
                        <a:latin typeface="Cambria Math" panose="02040503050406030204" pitchFamily="18" charset="0"/>
                      </a:rPr>
                      <m:t>𝑉</m:t>
                    </m:r>
                    <m:r>
                      <a:rPr lang="ja-JP" altLang="en-US" i="1">
                        <a:latin typeface="Cambria Math" panose="02040503050406030204" pitchFamily="18" charset="0"/>
                      </a:rPr>
                      <m:t>。</m:t>
                    </m:r>
                    <m:r>
                      <a:rPr lang="ja-JP" altLang="en-US" i="1" smtClean="0">
                        <a:solidFill>
                          <a:srgbClr val="C00000"/>
                        </a:solidFill>
                        <a:latin typeface="Cambria Math" panose="02040503050406030204" pitchFamily="18" charset="0"/>
                      </a:rPr>
                      <m:t>𝑦</m:t>
                    </m:r>
                    <m:r>
                      <a:rPr lang="ja-JP" altLang="en-US">
                        <a:solidFill>
                          <a:srgbClr val="C00000"/>
                        </a:solidFill>
                        <a:latin typeface="Cambria Math" panose="02040503050406030204" pitchFamily="18" charset="0"/>
                      </a:rPr>
                      <m:t>−</m:t>
                    </m:r>
                    <m:acc>
                      <m:accPr>
                        <m:chr m:val="̂"/>
                        <m:ctrlPr>
                          <a:rPr lang="ar-AE" altLang="ja-JP" i="1">
                            <a:solidFill>
                              <a:srgbClr val="C00000"/>
                            </a:solidFill>
                            <a:latin typeface="Cambria Math" panose="02040503050406030204" pitchFamily="18" charset="0"/>
                          </a:rPr>
                        </m:ctrlPr>
                      </m:accPr>
                      <m:e>
                        <m:r>
                          <a:rPr lang="ja-JP" altLang="ar-AE" i="1">
                            <a:solidFill>
                              <a:srgbClr val="C00000"/>
                            </a:solidFill>
                            <a:latin typeface="Cambria Math" panose="02040503050406030204" pitchFamily="18" charset="0"/>
                          </a:rPr>
                          <m:t>𝑦</m:t>
                        </m:r>
                      </m:e>
                    </m:acc>
                  </m:oMath>
                </a14:m>
                <a:r>
                  <a:rPr lang="ja-JP" altLang="en-US" dirty="0">
                    <a:solidFill>
                      <a:srgbClr val="C00000"/>
                    </a:solidFill>
                  </a:rPr>
                  <a:t>是误差向量，也叫 </a:t>
                </a:r>
                <a:r>
                  <a:rPr lang="en-US" altLang="ja-JP" dirty="0">
                    <a:solidFill>
                      <a:srgbClr val="C00000"/>
                    </a:solidFill>
                  </a:rPr>
                  <a:t>residual</a:t>
                </a:r>
                <a:r>
                  <a:rPr lang="ja-JP" altLang="en-US" dirty="0"/>
                  <a:t>。</a:t>
                </a:r>
              </a:p>
              <a:p>
                <a:pPr marL="0" indent="0">
                  <a:lnSpc>
                    <a:spcPct val="120000"/>
                  </a:lnSpc>
                  <a:buNone/>
                </a:pPr>
                <a:endParaRPr lang="zh-CN" altLang="en-US" dirty="0"/>
              </a:p>
            </p:txBody>
          </p:sp>
        </mc:Choice>
        <mc:Fallback>
          <p:sp>
            <p:nvSpPr>
              <p:cNvPr id="12" name="コンテンツ プレースホルダー 2">
                <a:extLst>
                  <a:ext uri="{FF2B5EF4-FFF2-40B4-BE49-F238E27FC236}">
                    <a16:creationId xmlns:a16="http://schemas.microsoft.com/office/drawing/2014/main" id="{160D3EC4-0565-BCE1-C0FD-CEF79AE620EC}"/>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44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655658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56D83-CC21-E262-ECB9-2F0C66CD8C59}"/>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A2F46CDA-DBC6-7CD8-EC04-1B6D97CE514D}"/>
              </a:ext>
            </a:extLst>
          </p:cNvPr>
          <p:cNvSpPr>
            <a:spLocks noGrp="1" noChangeArrowheads="1"/>
          </p:cNvSpPr>
          <p:nvPr>
            <p:ph type="title"/>
          </p:nvPr>
        </p:nvSpPr>
        <p:spPr/>
        <p:txBody>
          <a:bodyPr/>
          <a:lstStyle/>
          <a:p>
            <a:r>
              <a:rPr lang="zh-CN" altLang="en-US" b="1" dirty="0"/>
              <a:t>正交投影与最小二乘</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65687735-3348-6E8A-F7FB-7C7DF3F08B1D}"/>
                  </a:ext>
                </a:extLst>
              </p:cNvPr>
              <p:cNvSpPr>
                <a:spLocks noGrp="1"/>
              </p:cNvSpPr>
              <p:nvPr>
                <p:ph idx="1"/>
              </p:nvPr>
            </p:nvSpPr>
            <p:spPr>
              <a:xfrm>
                <a:off x="213360" y="1112520"/>
                <a:ext cx="11877040" cy="5440680"/>
              </a:xfrm>
            </p:spPr>
            <p:txBody>
              <a:bodyPr/>
              <a:lstStyle/>
              <a:p>
                <a:pPr marL="0" indent="0">
                  <a:lnSpc>
                    <a:spcPct val="110000"/>
                  </a:lnSpc>
                  <a:buNone/>
                </a:pPr>
                <a:r>
                  <a:rPr lang="ja-JP" altLang="en-US" dirty="0"/>
                  <a:t>为什么必须正交？</a:t>
                </a:r>
                <a:endParaRPr lang="en-US" altLang="ja-JP" dirty="0"/>
              </a:p>
              <a:p>
                <a:pPr marL="0" indent="0">
                  <a:lnSpc>
                    <a:spcPct val="110000"/>
                  </a:lnSpc>
                  <a:buNone/>
                </a:pPr>
                <a:r>
                  <a:rPr lang="ja-JP" altLang="en-US" dirty="0"/>
                  <a:t>如果 </a:t>
                </a:r>
                <a14:m>
                  <m:oMath xmlns:m="http://schemas.openxmlformats.org/officeDocument/2006/math">
                    <m:r>
                      <a:rPr lang="ja-JP" altLang="en-US" i="1">
                        <a:latin typeface="Cambria Math" panose="02040503050406030204" pitchFamily="18" charset="0"/>
                      </a:rPr>
                      <m:t>𝑦</m:t>
                    </m:r>
                    <m:r>
                      <a:rPr lang="ja-JP" altLang="en-US">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oMath>
                </a14:m>
                <a:r>
                  <a:rPr lang="ja-JP" altLang="en-US" dirty="0"/>
                  <a:t>没有和 </a:t>
                </a:r>
                <a14:m>
                  <m:oMath xmlns:m="http://schemas.openxmlformats.org/officeDocument/2006/math">
                    <m:r>
                      <a:rPr lang="ja-JP" altLang="en-US" i="1">
                        <a:latin typeface="Cambria Math" panose="02040503050406030204" pitchFamily="18" charset="0"/>
                      </a:rPr>
                      <m:t>𝑉</m:t>
                    </m:r>
                  </m:oMath>
                </a14:m>
                <a:r>
                  <a:rPr lang="ja-JP" altLang="en-US" dirty="0"/>
                  <a:t>正交，那么它在 </a:t>
                </a:r>
                <a14:m>
                  <m:oMath xmlns:m="http://schemas.openxmlformats.org/officeDocument/2006/math">
                    <m:r>
                      <a:rPr lang="ja-JP" altLang="en-US" i="1">
                        <a:latin typeface="Cambria Math" panose="02040503050406030204" pitchFamily="18" charset="0"/>
                      </a:rPr>
                      <m:t>𝑉</m:t>
                    </m:r>
                  </m:oMath>
                </a14:m>
                <a:r>
                  <a:rPr lang="ja-JP" altLang="en-US" dirty="0"/>
                  <a:t>的某个方向上还有分量。</a:t>
                </a:r>
                <a:endParaRPr lang="en-US" altLang="ja-JP" dirty="0"/>
              </a:p>
              <a:p>
                <a:pPr marL="0" indent="0">
                  <a:lnSpc>
                    <a:spcPct val="110000"/>
                  </a:lnSpc>
                  <a:buNone/>
                </a:pPr>
                <a:r>
                  <a:rPr lang="ja-JP" altLang="en-US" dirty="0"/>
                  <a:t>还可以沿着 </a:t>
                </a:r>
                <a14:m>
                  <m:oMath xmlns:m="http://schemas.openxmlformats.org/officeDocument/2006/math">
                    <m:r>
                      <a:rPr lang="ja-JP" altLang="en-US" i="1">
                        <a:latin typeface="Cambria Math" panose="02040503050406030204" pitchFamily="18" charset="0"/>
                      </a:rPr>
                      <m:t>𝑉</m:t>
                    </m:r>
                  </m:oMath>
                </a14:m>
                <a:r>
                  <a:rPr lang="ja-JP" altLang="en-US" dirty="0"/>
                  <a:t>的方向稍微移动 </a:t>
                </a:r>
                <a14:m>
                  <m:oMath xmlns:m="http://schemas.openxmlformats.org/officeDocument/2006/math">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oMath>
                </a14:m>
                <a:r>
                  <a:rPr lang="ja-JP" altLang="ar-AE" dirty="0"/>
                  <a:t>，</a:t>
                </a:r>
                <a:r>
                  <a:rPr lang="ja-JP" altLang="en-US" dirty="0"/>
                  <a:t>让它更接近 </a:t>
                </a:r>
                <a14:m>
                  <m:oMath xmlns:m="http://schemas.openxmlformats.org/officeDocument/2006/math">
                    <m:r>
                      <a:rPr lang="ja-JP" altLang="en-US" i="1">
                        <a:latin typeface="Cambria Math" panose="02040503050406030204" pitchFamily="18" charset="0"/>
                      </a:rPr>
                      <m:t>𝑦</m:t>
                    </m:r>
                  </m:oMath>
                </a14:m>
                <a:r>
                  <a:rPr lang="ja-JP" altLang="en-US" dirty="0"/>
                  <a:t>。</a:t>
                </a:r>
                <a:endParaRPr lang="en-US" altLang="ja-JP" dirty="0"/>
              </a:p>
              <a:p>
                <a:pPr marL="0" indent="0">
                  <a:lnSpc>
                    <a:spcPct val="110000"/>
                  </a:lnSpc>
                  <a:buNone/>
                </a:pPr>
                <a:r>
                  <a:rPr lang="ja-JP" altLang="en-US" dirty="0"/>
                  <a:t>这就说明原来的 </a:t>
                </a:r>
                <a14:m>
                  <m:oMath xmlns:m="http://schemas.openxmlformats.org/officeDocument/2006/math">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oMath>
                </a14:m>
                <a:r>
                  <a:rPr lang="ja-JP" altLang="en-US" dirty="0"/>
                  <a:t>不是最优解。</a:t>
                </a:r>
                <a:endParaRPr lang="en-US" altLang="ja-JP" dirty="0"/>
              </a:p>
              <a:p>
                <a:pPr marL="0" indent="0">
                  <a:lnSpc>
                    <a:spcPct val="110000"/>
                  </a:lnSpc>
                  <a:buNone/>
                </a:pPr>
                <a:r>
                  <a:rPr lang="ja-JP" altLang="en-US" dirty="0"/>
                  <a:t>⇒　真正的最优解必须满足：</a:t>
                </a:r>
                <a14:m>
                  <m:oMath xmlns:m="http://schemas.openxmlformats.org/officeDocument/2006/math">
                    <m:d>
                      <m:dPr>
                        <m:begChr m:val="⟨"/>
                        <m:endChr m:val="⟩"/>
                        <m:sepChr m:val=","/>
                        <m:ctrlPr>
                          <a:rPr lang="ar-AE" altLang="ja-JP" i="1" smtClean="0">
                            <a:solidFill>
                              <a:srgbClr val="C00000"/>
                            </a:solidFill>
                            <a:latin typeface="Cambria Math" panose="02040503050406030204" pitchFamily="18" charset="0"/>
                          </a:rPr>
                        </m:ctrlPr>
                      </m:dPr>
                      <m:e>
                        <m:r>
                          <a:rPr lang="ja-JP" altLang="ar-AE" i="1">
                            <a:solidFill>
                              <a:srgbClr val="C00000"/>
                            </a:solidFill>
                            <a:latin typeface="Cambria Math" panose="02040503050406030204" pitchFamily="18" charset="0"/>
                          </a:rPr>
                          <m:t>𝑦</m:t>
                        </m:r>
                        <m:r>
                          <a:rPr lang="ar-AE" altLang="ja-JP">
                            <a:solidFill>
                              <a:srgbClr val="C00000"/>
                            </a:solidFill>
                            <a:latin typeface="Cambria Math" panose="02040503050406030204" pitchFamily="18" charset="0"/>
                          </a:rPr>
                          <m:t>−</m:t>
                        </m:r>
                        <m:acc>
                          <m:accPr>
                            <m:chr m:val="̂"/>
                            <m:ctrlPr>
                              <a:rPr lang="ar-AE" altLang="ja-JP" i="1">
                                <a:solidFill>
                                  <a:srgbClr val="C00000"/>
                                </a:solidFill>
                                <a:latin typeface="Cambria Math" panose="02040503050406030204" pitchFamily="18" charset="0"/>
                              </a:rPr>
                            </m:ctrlPr>
                          </m:accPr>
                          <m:e>
                            <m:r>
                              <a:rPr lang="ja-JP" altLang="ar-AE" i="1">
                                <a:solidFill>
                                  <a:srgbClr val="C00000"/>
                                </a:solidFill>
                                <a:latin typeface="Cambria Math" panose="02040503050406030204" pitchFamily="18" charset="0"/>
                              </a:rPr>
                              <m:t>𝑦</m:t>
                            </m:r>
                          </m:e>
                        </m:acc>
                      </m:e>
                      <m:e>
                        <m:r>
                          <a:rPr lang="ja-JP" altLang="ar-AE" i="1">
                            <a:solidFill>
                              <a:srgbClr val="C00000"/>
                            </a:solidFill>
                            <a:latin typeface="Cambria Math" panose="02040503050406030204" pitchFamily="18" charset="0"/>
                          </a:rPr>
                          <m:t>𝑣</m:t>
                        </m:r>
                      </m:e>
                    </m:d>
                    <m:r>
                      <a:rPr lang="ar-AE" altLang="ja-JP">
                        <a:solidFill>
                          <a:srgbClr val="C00000"/>
                        </a:solidFill>
                        <a:latin typeface="Cambria Math" panose="02040503050406030204" pitchFamily="18" charset="0"/>
                      </a:rPr>
                      <m:t>=</m:t>
                    </m:r>
                    <m:r>
                      <a:rPr lang="ar-AE" altLang="ja-JP">
                        <a:solidFill>
                          <a:srgbClr val="C00000"/>
                        </a:solidFill>
                        <a:latin typeface="Cambria Math" panose="02040503050406030204" pitchFamily="18" charset="0"/>
                      </a:rPr>
                      <m:t>0</m:t>
                    </m:r>
                    <m:r>
                      <a:rPr lang="ar-AE" altLang="ja-JP">
                        <a:solidFill>
                          <a:srgbClr val="C00000"/>
                        </a:solidFill>
                        <a:latin typeface="Cambria Math" panose="02040503050406030204" pitchFamily="18" charset="0"/>
                      </a:rPr>
                      <m:t>, ∀</m:t>
                    </m:r>
                    <m:r>
                      <a:rPr lang="ja-JP" altLang="ar-AE" i="1">
                        <a:solidFill>
                          <a:srgbClr val="C00000"/>
                        </a:solidFill>
                        <a:latin typeface="Cambria Math" panose="02040503050406030204" pitchFamily="18" charset="0"/>
                      </a:rPr>
                      <m:t>𝑣</m:t>
                    </m:r>
                    <m:r>
                      <a:rPr lang="ar-AE" altLang="ja-JP">
                        <a:solidFill>
                          <a:srgbClr val="C00000"/>
                        </a:solidFill>
                        <a:latin typeface="Cambria Math" panose="02040503050406030204" pitchFamily="18" charset="0"/>
                      </a:rPr>
                      <m:t>∈</m:t>
                    </m:r>
                    <m:r>
                      <a:rPr lang="ja-JP" altLang="ar-AE" i="1">
                        <a:solidFill>
                          <a:srgbClr val="C00000"/>
                        </a:solidFill>
                        <a:latin typeface="Cambria Math" panose="02040503050406030204" pitchFamily="18" charset="0"/>
                      </a:rPr>
                      <m:t>𝑉</m:t>
                    </m:r>
                    <m:r>
                      <a:rPr lang="ar-AE" altLang="ja-JP">
                        <a:latin typeface="Cambria Math" panose="02040503050406030204" pitchFamily="18" charset="0"/>
                      </a:rPr>
                      <m:t>.</m:t>
                    </m:r>
                  </m:oMath>
                </a14:m>
                <a:r>
                  <a:rPr lang="en-US" altLang="ja-JP" dirty="0"/>
                  <a:t> </a:t>
                </a:r>
                <a:r>
                  <a:rPr lang="ja-JP" altLang="en-US" dirty="0"/>
                  <a:t>也就是说，误差向量与模型空间中所有方向都正交。</a:t>
                </a:r>
              </a:p>
              <a:p>
                <a:pPr marL="0" indent="0">
                  <a:lnSpc>
                    <a:spcPct val="110000"/>
                  </a:lnSpc>
                  <a:buNone/>
                </a:pPr>
                <a:r>
                  <a:rPr lang="ja-JP" altLang="en-US" dirty="0"/>
                  <a:t>取任意方向 </a:t>
                </a:r>
                <a14:m>
                  <m:oMath xmlns:m="http://schemas.openxmlformats.org/officeDocument/2006/math">
                    <m:r>
                      <a:rPr lang="en-US" altLang="ja-JP" i="1">
                        <a:latin typeface="Cambria Math" panose="02040503050406030204" pitchFamily="18" charset="0"/>
                      </a:rPr>
                      <m:t>h</m:t>
                    </m:r>
                    <m:r>
                      <a:rPr lang="ja-JP" altLang="en-US">
                        <a:latin typeface="Cambria Math" panose="02040503050406030204" pitchFamily="18" charset="0"/>
                      </a:rPr>
                      <m:t>∈</m:t>
                    </m:r>
                    <m:r>
                      <a:rPr lang="ja-JP" altLang="en-US" i="1">
                        <a:latin typeface="Cambria Math" panose="02040503050406030204" pitchFamily="18" charset="0"/>
                      </a:rPr>
                      <m:t>𝑉</m:t>
                    </m:r>
                  </m:oMath>
                </a14:m>
                <a:r>
                  <a:rPr lang="ja-JP" altLang="en-US" dirty="0"/>
                  <a:t>。</a:t>
                </a:r>
                <a:endParaRPr lang="en-US" altLang="ja-JP" dirty="0"/>
              </a:p>
              <a:p>
                <a:pPr marL="0" indent="0">
                  <a:lnSpc>
                    <a:spcPct val="110000"/>
                  </a:lnSpc>
                  <a:buNone/>
                </a:pPr>
                <a:r>
                  <a:rPr lang="ja-JP" altLang="en-US" dirty="0"/>
                  <a:t>因为 </a:t>
                </a:r>
                <a14:m>
                  <m:oMath xmlns:m="http://schemas.openxmlformats.org/officeDocument/2006/math">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oMath>
                </a14:m>
                <a:r>
                  <a:rPr lang="ja-JP" altLang="en-US" dirty="0"/>
                  <a:t>是最优点，所以沿着 </a:t>
                </a:r>
                <a14:m>
                  <m:oMath xmlns:m="http://schemas.openxmlformats.org/officeDocument/2006/math">
                    <m:r>
                      <a:rPr lang="en-US" altLang="ja-JP" i="1">
                        <a:latin typeface="Cambria Math" panose="02040503050406030204" pitchFamily="18" charset="0"/>
                      </a:rPr>
                      <m:t>h</m:t>
                    </m:r>
                  </m:oMath>
                </a14:m>
                <a:r>
                  <a:rPr lang="ja-JP" altLang="en-US" dirty="0"/>
                  <a:t>微小移动后，距离不能更小：</a:t>
                </a:r>
                <a14:m>
                  <m:oMath xmlns:m="http://schemas.openxmlformats.org/officeDocument/2006/math">
                    <m:r>
                      <a:rPr lang="ja-JP" altLang="en-US">
                        <a:latin typeface="Cambria Math" panose="02040503050406030204" pitchFamily="18" charset="0"/>
                      </a:rPr>
                      <m:t>∥</m:t>
                    </m:r>
                    <m:r>
                      <a:rPr lang="ja-JP" altLang="en-US" i="1">
                        <a:latin typeface="Cambria Math" panose="02040503050406030204" pitchFamily="18" charset="0"/>
                      </a:rPr>
                      <m:t>𝑦</m:t>
                    </m:r>
                    <m:r>
                      <a:rPr lang="ja-JP" altLang="en-US">
                        <a:latin typeface="Cambria Math" panose="02040503050406030204" pitchFamily="18" charset="0"/>
                      </a:rPr>
                      <m:t>−</m:t>
                    </m:r>
                    <m:d>
                      <m:dPr>
                        <m:ctrlPr>
                          <a:rPr lang="ar-AE" altLang="ja-JP" i="1">
                            <a:latin typeface="Cambria Math" panose="02040503050406030204" pitchFamily="18" charset="0"/>
                          </a:rPr>
                        </m:ctrlPr>
                      </m:dPr>
                      <m:e>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r>
                          <a:rPr lang="ja-JP" altLang="ar-AE" i="1">
                            <a:latin typeface="Cambria Math" panose="02040503050406030204" pitchFamily="18" charset="0"/>
                          </a:rPr>
                          <m:t>𝑡</m:t>
                        </m:r>
                        <m:r>
                          <a:rPr lang="ar-AE" altLang="ja-JP" i="1">
                            <a:latin typeface="Cambria Math" panose="02040503050406030204" pitchFamily="18" charset="0"/>
                          </a:rPr>
                          <m:t>h</m:t>
                        </m:r>
                      </m:e>
                    </m:d>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oMath>
                </a14:m>
                <a:r>
                  <a:rPr lang="ja-JP" altLang="en-US" dirty="0"/>
                  <a:t>在 </a:t>
                </a:r>
                <a14:m>
                  <m:oMath xmlns:m="http://schemas.openxmlformats.org/officeDocument/2006/math">
                    <m:r>
                      <a:rPr lang="ja-JP" altLang="en-US" i="1">
                        <a:latin typeface="Cambria Math" panose="02040503050406030204" pitchFamily="18" charset="0"/>
                      </a:rPr>
                      <m:t>𝑡</m:t>
                    </m:r>
                    <m:r>
                      <a:rPr lang="en-US" altLang="ja-JP">
                        <a:latin typeface="Cambria Math" panose="02040503050406030204" pitchFamily="18" charset="0"/>
                      </a:rPr>
                      <m:t>=</m:t>
                    </m:r>
                    <m:r>
                      <a:rPr lang="en-US" altLang="ja-JP">
                        <a:latin typeface="Cambria Math" panose="02040503050406030204" pitchFamily="18" charset="0"/>
                      </a:rPr>
                      <m:t>0</m:t>
                    </m:r>
                  </m:oMath>
                </a14:m>
                <a:r>
                  <a:rPr lang="ja-JP" altLang="en-US" dirty="0"/>
                  <a:t>处取得最小值。</a:t>
                </a:r>
                <a:endParaRPr lang="en-US" altLang="ja-JP" dirty="0"/>
              </a:p>
              <a:p>
                <a:pPr marL="0" indent="0">
                  <a:lnSpc>
                    <a:spcPct val="110000"/>
                  </a:lnSpc>
                  <a:buNone/>
                </a:pPr>
                <a:r>
                  <a:rPr lang="ja-JP" altLang="en-US" dirty="0"/>
                  <a:t>令</a:t>
                </a:r>
                <a14:m>
                  <m:oMath xmlns:m="http://schemas.openxmlformats.org/officeDocument/2006/math">
                    <m:r>
                      <a:rPr lang="ja-JP" altLang="en-US" i="1">
                        <a:latin typeface="Cambria Math" panose="02040503050406030204" pitchFamily="18" charset="0"/>
                      </a:rPr>
                      <m:t>𝑒</m:t>
                    </m:r>
                    <m:r>
                      <a:rPr lang="en-US" altLang="ja-JP">
                        <a:latin typeface="Cambria Math" panose="02040503050406030204" pitchFamily="18" charset="0"/>
                      </a:rPr>
                      <m:t>=</m:t>
                    </m:r>
                    <m:r>
                      <a:rPr lang="ja-JP" altLang="en-US" i="1">
                        <a:latin typeface="Cambria Math" panose="02040503050406030204" pitchFamily="18" charset="0"/>
                      </a:rPr>
                      <m:t>𝑦</m:t>
                    </m:r>
                    <m:r>
                      <a:rPr lang="ja-JP" altLang="en-US">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oMath>
                </a14:m>
                <a:r>
                  <a:rPr lang="ja-JP" altLang="en-US" dirty="0"/>
                  <a:t> 则</a:t>
                </a:r>
                <a14:m>
                  <m:oMath xmlns:m="http://schemas.openxmlformats.org/officeDocument/2006/math">
                    <m:r>
                      <a:rPr lang="ja-JP" altLang="en-US">
                        <a:latin typeface="Cambria Math" panose="02040503050406030204" pitchFamily="18" charset="0"/>
                      </a:rPr>
                      <m:t>∥</m:t>
                    </m:r>
                    <m:r>
                      <a:rPr lang="ja-JP" altLang="en-US" i="1">
                        <a:latin typeface="Cambria Math" panose="02040503050406030204" pitchFamily="18" charset="0"/>
                      </a:rPr>
                      <m:t>𝑦</m:t>
                    </m:r>
                    <m:r>
                      <a:rPr lang="ja-JP" altLang="en-US">
                        <a:latin typeface="Cambria Math" panose="02040503050406030204" pitchFamily="18" charset="0"/>
                      </a:rPr>
                      <m:t>−</m:t>
                    </m:r>
                    <m:d>
                      <m:dPr>
                        <m:ctrlPr>
                          <a:rPr lang="ar-AE" altLang="ja-JP" i="1">
                            <a:latin typeface="Cambria Math" panose="02040503050406030204" pitchFamily="18" charset="0"/>
                          </a:rPr>
                        </m:ctrlPr>
                      </m:dPr>
                      <m:e>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r>
                          <a:rPr lang="ja-JP" altLang="ar-AE" i="1">
                            <a:latin typeface="Cambria Math" panose="02040503050406030204" pitchFamily="18" charset="0"/>
                          </a:rPr>
                          <m:t>𝑡</m:t>
                        </m:r>
                        <m:r>
                          <a:rPr lang="ar-AE" altLang="ja-JP" i="1">
                            <a:latin typeface="Cambria Math" panose="02040503050406030204" pitchFamily="18" charset="0"/>
                          </a:rPr>
                          <m:t>h</m:t>
                        </m:r>
                      </m:e>
                    </m:d>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r>
                      <a:rPr lang="ar-AE" altLang="ja-JP">
                        <a:latin typeface="Cambria Math" panose="02040503050406030204" pitchFamily="18" charset="0"/>
                      </a:rPr>
                      <m:t>=∥</m:t>
                    </m:r>
                    <m:r>
                      <a:rPr lang="ja-JP" altLang="ar-AE" i="1">
                        <a:latin typeface="Cambria Math" panose="02040503050406030204" pitchFamily="18" charset="0"/>
                      </a:rPr>
                      <m:t>𝑒</m:t>
                    </m:r>
                    <m:r>
                      <a:rPr lang="ar-AE" altLang="ja-JP">
                        <a:latin typeface="Cambria Math" panose="02040503050406030204" pitchFamily="18" charset="0"/>
                      </a:rPr>
                      <m:t>−</m:t>
                    </m:r>
                    <m:r>
                      <a:rPr lang="ja-JP" altLang="ar-AE" i="1">
                        <a:latin typeface="Cambria Math" panose="02040503050406030204" pitchFamily="18" charset="0"/>
                      </a:rPr>
                      <m:t>𝑡</m:t>
                    </m:r>
                    <m:r>
                      <a:rPr lang="ar-AE" altLang="ja-JP" i="1">
                        <a:latin typeface="Cambria Math" panose="02040503050406030204" pitchFamily="18" charset="0"/>
                      </a:rPr>
                      <m:t>h</m:t>
                    </m:r>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r>
                      <a:rPr lang="ar-AE" altLang="ja-JP">
                        <a:latin typeface="Cambria Math" panose="02040503050406030204" pitchFamily="18" charset="0"/>
                      </a:rPr>
                      <m:t>.</m:t>
                    </m:r>
                  </m:oMath>
                </a14:m>
                <a:r>
                  <a:rPr lang="en-US" altLang="ja-JP" dirty="0"/>
                  <a:t> </a:t>
                </a:r>
              </a:p>
              <a:p>
                <a:pPr marL="0" indent="0">
                  <a:lnSpc>
                    <a:spcPct val="110000"/>
                  </a:lnSpc>
                  <a:buNone/>
                </a:pPr>
                <a:r>
                  <a:rPr lang="ja-JP" altLang="en-US" dirty="0"/>
                  <a:t>展开得到：</a:t>
                </a:r>
                <a14:m>
                  <m:oMath xmlns:m="http://schemas.openxmlformats.org/officeDocument/2006/math">
                    <m:r>
                      <a:rPr lang="ja-JP" altLang="en-US">
                        <a:latin typeface="Cambria Math" panose="02040503050406030204" pitchFamily="18" charset="0"/>
                      </a:rPr>
                      <m:t>∥</m:t>
                    </m:r>
                    <m:r>
                      <a:rPr lang="ja-JP" altLang="en-US" i="1">
                        <a:latin typeface="Cambria Math" panose="02040503050406030204" pitchFamily="18" charset="0"/>
                      </a:rPr>
                      <m:t>𝑒</m:t>
                    </m:r>
                    <m:r>
                      <a:rPr lang="ja-JP" altLang="en-US">
                        <a:latin typeface="Cambria Math" panose="02040503050406030204" pitchFamily="18" charset="0"/>
                      </a:rPr>
                      <m:t>−</m:t>
                    </m:r>
                    <m:r>
                      <a:rPr lang="ja-JP" altLang="en-US" i="1">
                        <a:latin typeface="Cambria Math" panose="02040503050406030204" pitchFamily="18" charset="0"/>
                      </a:rPr>
                      <m:t>𝑡</m:t>
                    </m:r>
                    <m:r>
                      <a:rPr lang="en-US" altLang="ja-JP" i="1">
                        <a:latin typeface="Cambria Math" panose="02040503050406030204" pitchFamily="18" charset="0"/>
                      </a:rPr>
                      <m:t>h</m:t>
                    </m:r>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r>
                      <a:rPr lang="ar-AE" altLang="ja-JP">
                        <a:latin typeface="Cambria Math" panose="02040503050406030204" pitchFamily="18" charset="0"/>
                      </a:rPr>
                      <m:t>=∥</m:t>
                    </m:r>
                    <m:r>
                      <a:rPr lang="ja-JP" altLang="ar-AE" i="1">
                        <a:latin typeface="Cambria Math" panose="02040503050406030204" pitchFamily="18" charset="0"/>
                      </a:rPr>
                      <m:t>𝑒</m:t>
                    </m:r>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r>
                      <a:rPr lang="ar-AE" altLang="ja-JP">
                        <a:latin typeface="Cambria Math" panose="02040503050406030204" pitchFamily="18" charset="0"/>
                      </a:rPr>
                      <m:t>−</m:t>
                    </m:r>
                    <m:r>
                      <a:rPr lang="ar-AE" altLang="ja-JP">
                        <a:latin typeface="Cambria Math" panose="02040503050406030204" pitchFamily="18" charset="0"/>
                      </a:rPr>
                      <m:t>2</m:t>
                    </m:r>
                    <m:r>
                      <a:rPr lang="ja-JP" altLang="ar-AE" i="1">
                        <a:latin typeface="Cambria Math" panose="02040503050406030204" pitchFamily="18" charset="0"/>
                      </a:rPr>
                      <m:t>𝑡</m:t>
                    </m:r>
                    <m:d>
                      <m:dPr>
                        <m:begChr m:val="⟨"/>
                        <m:endChr m:val="⟩"/>
                        <m:sepChr m:val=","/>
                        <m:ctrlPr>
                          <a:rPr lang="ar-AE" altLang="ja-JP" i="1">
                            <a:latin typeface="Cambria Math" panose="02040503050406030204" pitchFamily="18" charset="0"/>
                          </a:rPr>
                        </m:ctrlPr>
                      </m:dPr>
                      <m:e>
                        <m:r>
                          <a:rPr lang="ja-JP" altLang="ar-AE" i="1">
                            <a:latin typeface="Cambria Math" panose="02040503050406030204" pitchFamily="18" charset="0"/>
                          </a:rPr>
                          <m:t>𝑒</m:t>
                        </m:r>
                      </m:e>
                      <m:e>
                        <m:r>
                          <a:rPr lang="ar-AE" altLang="ja-JP" i="1">
                            <a:latin typeface="Cambria Math" panose="02040503050406030204" pitchFamily="18" charset="0"/>
                          </a:rPr>
                          <m:t>h</m:t>
                        </m:r>
                      </m:e>
                    </m:d>
                    <m:r>
                      <a:rPr lang="ar-AE" altLang="ja-JP">
                        <a:latin typeface="Cambria Math" panose="02040503050406030204" pitchFamily="18" charset="0"/>
                      </a:rPr>
                      <m:t>+</m:t>
                    </m:r>
                    <m:sSup>
                      <m:sSupPr>
                        <m:ctrlPr>
                          <a:rPr lang="ar-AE" altLang="ja-JP" i="1">
                            <a:latin typeface="Cambria Math" panose="02040503050406030204" pitchFamily="18" charset="0"/>
                          </a:rPr>
                        </m:ctrlPr>
                      </m:sSupPr>
                      <m:e>
                        <m:r>
                          <a:rPr lang="ja-JP" altLang="ar-AE" i="1">
                            <a:latin typeface="Cambria Math" panose="02040503050406030204" pitchFamily="18" charset="0"/>
                          </a:rPr>
                          <m:t>𝑡</m:t>
                        </m:r>
                      </m:e>
                      <m:sup>
                        <m:r>
                          <a:rPr lang="ar-AE" altLang="ja-JP">
                            <a:latin typeface="Cambria Math" panose="02040503050406030204" pitchFamily="18" charset="0"/>
                          </a:rPr>
                          <m:t>2</m:t>
                        </m:r>
                      </m:sup>
                    </m:sSup>
                    <m:r>
                      <a:rPr lang="ar-AE" altLang="ja-JP">
                        <a:latin typeface="Cambria Math" panose="02040503050406030204" pitchFamily="18" charset="0"/>
                      </a:rPr>
                      <m:t>∥</m:t>
                    </m:r>
                    <m:r>
                      <a:rPr lang="ar-AE" altLang="ja-JP" i="1">
                        <a:latin typeface="Cambria Math" panose="02040503050406030204" pitchFamily="18" charset="0"/>
                      </a:rPr>
                      <m:t>h</m:t>
                    </m:r>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r>
                      <a:rPr lang="ar-AE" altLang="ja-JP">
                        <a:latin typeface="Cambria Math" panose="02040503050406030204" pitchFamily="18" charset="0"/>
                      </a:rPr>
                      <m:t>.</m:t>
                    </m:r>
                  </m:oMath>
                </a14:m>
                <a:r>
                  <a:rPr lang="en-US" altLang="ja-JP" dirty="0"/>
                  <a:t> </a:t>
                </a:r>
              </a:p>
              <a:p>
                <a:pPr marL="0" indent="0">
                  <a:lnSpc>
                    <a:spcPct val="110000"/>
                  </a:lnSpc>
                  <a:buNone/>
                </a:pPr>
                <a:r>
                  <a:rPr lang="ja-JP" altLang="en-US" dirty="0"/>
                  <a:t> </a:t>
                </a:r>
                <a14:m>
                  <m:oMath xmlns:m="http://schemas.openxmlformats.org/officeDocument/2006/math">
                    <m:r>
                      <a:rPr lang="ja-JP" altLang="en-US" i="1">
                        <a:latin typeface="Cambria Math" panose="02040503050406030204" pitchFamily="18" charset="0"/>
                      </a:rPr>
                      <m:t>𝑡</m:t>
                    </m:r>
                    <m:r>
                      <a:rPr lang="en-US" altLang="ja-JP">
                        <a:latin typeface="Cambria Math" panose="02040503050406030204" pitchFamily="18" charset="0"/>
                      </a:rPr>
                      <m:t>=</m:t>
                    </m:r>
                    <m:r>
                      <a:rPr lang="en-US" altLang="ja-JP">
                        <a:latin typeface="Cambria Math" panose="02040503050406030204" pitchFamily="18" charset="0"/>
                      </a:rPr>
                      <m:t>0</m:t>
                    </m:r>
                  </m:oMath>
                </a14:m>
                <a:r>
                  <a:rPr lang="ja-JP" altLang="en-US" dirty="0"/>
                  <a:t>是最小点，所以一次项必须为 </a:t>
                </a:r>
                <a:r>
                  <a:rPr lang="en-US" altLang="ja-JP" dirty="0"/>
                  <a:t>0</a:t>
                </a:r>
                <a:r>
                  <a:rPr lang="ja-JP" altLang="en-US" dirty="0"/>
                  <a:t>：</a:t>
                </a:r>
                <a14:m>
                  <m:oMath xmlns:m="http://schemas.openxmlformats.org/officeDocument/2006/math">
                    <m:d>
                      <m:dPr>
                        <m:begChr m:val="⟨"/>
                        <m:endChr m:val="⟩"/>
                        <m:sepChr m:val=","/>
                        <m:ctrlPr>
                          <a:rPr lang="ar-AE" altLang="ja-JP" i="1">
                            <a:latin typeface="Cambria Math" panose="02040503050406030204" pitchFamily="18" charset="0"/>
                          </a:rPr>
                        </m:ctrlPr>
                      </m:dPr>
                      <m:e>
                        <m:r>
                          <a:rPr lang="ja-JP" altLang="ar-AE" i="1">
                            <a:latin typeface="Cambria Math" panose="02040503050406030204" pitchFamily="18" charset="0"/>
                          </a:rPr>
                          <m:t>𝑒</m:t>
                        </m:r>
                      </m:e>
                      <m:e>
                        <m:r>
                          <a:rPr lang="ar-AE" altLang="ja-JP" i="1">
                            <a:latin typeface="Cambria Math" panose="02040503050406030204" pitchFamily="18" charset="0"/>
                          </a:rPr>
                          <m:t>h</m:t>
                        </m:r>
                      </m:e>
                    </m:d>
                    <m:r>
                      <a:rPr lang="ar-AE" altLang="ja-JP">
                        <a:latin typeface="Cambria Math" panose="02040503050406030204" pitchFamily="18" charset="0"/>
                      </a:rPr>
                      <m:t>=</m:t>
                    </m:r>
                    <m:r>
                      <a:rPr lang="ar-AE" altLang="ja-JP">
                        <a:latin typeface="Cambria Math" panose="02040503050406030204" pitchFamily="18" charset="0"/>
                      </a:rPr>
                      <m:t>0</m:t>
                    </m:r>
                    <m:r>
                      <a:rPr lang="ar-AE" altLang="ja-JP">
                        <a:latin typeface="Cambria Math" panose="02040503050406030204" pitchFamily="18" charset="0"/>
                      </a:rPr>
                      <m:t>.</m:t>
                    </m:r>
                  </m:oMath>
                </a14:m>
                <a:r>
                  <a:rPr lang="en-US" altLang="ja-JP" dirty="0"/>
                  <a:t> </a:t>
                </a:r>
                <a:r>
                  <a:rPr lang="ja-JP" altLang="en-US" dirty="0"/>
                  <a:t>也就是：</a:t>
                </a:r>
                <a14:m>
                  <m:oMath xmlns:m="http://schemas.openxmlformats.org/officeDocument/2006/math">
                    <m:d>
                      <m:dPr>
                        <m:begChr m:val="⟨"/>
                        <m:endChr m:val="⟩"/>
                        <m:sepChr m:val=","/>
                        <m:ctrlPr>
                          <a:rPr lang="ar-AE" altLang="ja-JP" i="1">
                            <a:solidFill>
                              <a:srgbClr val="C00000"/>
                            </a:solidFill>
                            <a:latin typeface="Cambria Math" panose="02040503050406030204" pitchFamily="18" charset="0"/>
                          </a:rPr>
                        </m:ctrlPr>
                      </m:dPr>
                      <m:e>
                        <m:r>
                          <a:rPr lang="ja-JP" altLang="ar-AE" i="1">
                            <a:solidFill>
                              <a:srgbClr val="C00000"/>
                            </a:solidFill>
                            <a:latin typeface="Cambria Math" panose="02040503050406030204" pitchFamily="18" charset="0"/>
                          </a:rPr>
                          <m:t>𝑦</m:t>
                        </m:r>
                        <m:r>
                          <a:rPr lang="ar-AE" altLang="ja-JP">
                            <a:solidFill>
                              <a:srgbClr val="C00000"/>
                            </a:solidFill>
                            <a:latin typeface="Cambria Math" panose="02040503050406030204" pitchFamily="18" charset="0"/>
                          </a:rPr>
                          <m:t>−</m:t>
                        </m:r>
                        <m:acc>
                          <m:accPr>
                            <m:chr m:val="̂"/>
                            <m:ctrlPr>
                              <a:rPr lang="ar-AE" altLang="ja-JP" i="1">
                                <a:solidFill>
                                  <a:srgbClr val="C00000"/>
                                </a:solidFill>
                                <a:latin typeface="Cambria Math" panose="02040503050406030204" pitchFamily="18" charset="0"/>
                              </a:rPr>
                            </m:ctrlPr>
                          </m:accPr>
                          <m:e>
                            <m:r>
                              <a:rPr lang="ja-JP" altLang="ar-AE" i="1">
                                <a:solidFill>
                                  <a:srgbClr val="C00000"/>
                                </a:solidFill>
                                <a:latin typeface="Cambria Math" panose="02040503050406030204" pitchFamily="18" charset="0"/>
                              </a:rPr>
                              <m:t>𝑦</m:t>
                            </m:r>
                          </m:e>
                        </m:acc>
                      </m:e>
                      <m:e>
                        <m:r>
                          <a:rPr lang="ja-JP" altLang="ar-AE" i="1">
                            <a:solidFill>
                              <a:srgbClr val="C00000"/>
                            </a:solidFill>
                            <a:latin typeface="Cambria Math" panose="02040503050406030204" pitchFamily="18" charset="0"/>
                          </a:rPr>
                          <m:t>𝑣</m:t>
                        </m:r>
                      </m:e>
                    </m:d>
                    <m:r>
                      <a:rPr lang="ar-AE" altLang="ja-JP">
                        <a:solidFill>
                          <a:srgbClr val="C00000"/>
                        </a:solidFill>
                        <a:latin typeface="Cambria Math" panose="02040503050406030204" pitchFamily="18" charset="0"/>
                      </a:rPr>
                      <m:t>=</m:t>
                    </m:r>
                    <m:r>
                      <a:rPr lang="ar-AE" altLang="ja-JP">
                        <a:solidFill>
                          <a:srgbClr val="C00000"/>
                        </a:solidFill>
                        <a:latin typeface="Cambria Math" panose="02040503050406030204" pitchFamily="18" charset="0"/>
                      </a:rPr>
                      <m:t>0</m:t>
                    </m:r>
                    <m:r>
                      <a:rPr lang="ar-AE" altLang="ja-JP">
                        <a:latin typeface="Cambria Math" panose="02040503050406030204" pitchFamily="18" charset="0"/>
                      </a:rPr>
                      <m:t>, ∀</m:t>
                    </m:r>
                    <m:r>
                      <a:rPr lang="ar-AE" altLang="ja-JP" i="1">
                        <a:latin typeface="Cambria Math" panose="02040503050406030204" pitchFamily="18" charset="0"/>
                      </a:rPr>
                      <m:t>h</m:t>
                    </m:r>
                    <m:r>
                      <a:rPr lang="ar-AE" altLang="ja-JP">
                        <a:latin typeface="Cambria Math" panose="02040503050406030204" pitchFamily="18" charset="0"/>
                      </a:rPr>
                      <m:t>∈</m:t>
                    </m:r>
                    <m:r>
                      <a:rPr lang="ja-JP" altLang="ar-AE" i="1">
                        <a:latin typeface="Cambria Math" panose="02040503050406030204" pitchFamily="18" charset="0"/>
                      </a:rPr>
                      <m:t>𝑉</m:t>
                    </m:r>
                    <m:r>
                      <a:rPr lang="ar-AE" altLang="ja-JP">
                        <a:latin typeface="Cambria Math" panose="02040503050406030204" pitchFamily="18" charset="0"/>
                      </a:rPr>
                      <m:t>.</m:t>
                    </m:r>
                  </m:oMath>
                </a14:m>
                <a:r>
                  <a:rPr lang="ja-JP" altLang="en-US" dirty="0"/>
                  <a:t>　因此</a:t>
                </a:r>
                <a14:m>
                  <m:oMath xmlns:m="http://schemas.openxmlformats.org/officeDocument/2006/math">
                    <m:r>
                      <a:rPr lang="ja-JP" altLang="en-US" i="1">
                        <a:latin typeface="Cambria Math" panose="02040503050406030204" pitchFamily="18" charset="0"/>
                      </a:rPr>
                      <m:t>𝑦</m:t>
                    </m:r>
                    <m:r>
                      <a:rPr lang="ja-JP" altLang="en-US">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r>
                      <a:rPr lang="ja-JP" altLang="ar-AE" i="1">
                        <a:latin typeface="Cambria Math" panose="02040503050406030204" pitchFamily="18" charset="0"/>
                      </a:rPr>
                      <m:t>𝑉</m:t>
                    </m:r>
                    <m:r>
                      <a:rPr lang="ar-AE" altLang="ja-JP">
                        <a:latin typeface="Cambria Math" panose="02040503050406030204" pitchFamily="18" charset="0"/>
                      </a:rPr>
                      <m:t>.</m:t>
                    </m:r>
                  </m:oMath>
                </a14:m>
                <a:endParaRPr lang="ar-AE" altLang="ja-JP" dirty="0"/>
              </a:p>
              <a:p>
                <a:pPr marL="0" indent="0">
                  <a:lnSpc>
                    <a:spcPct val="110000"/>
                  </a:lnSpc>
                  <a:buNone/>
                </a:pPr>
                <a:r>
                  <a:rPr lang="ja-JP" altLang="en-US" dirty="0"/>
                  <a:t>反过来也成立。如果某个 </a:t>
                </a:r>
                <a14:m>
                  <m:oMath xmlns:m="http://schemas.openxmlformats.org/officeDocument/2006/math">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r>
                      <a:rPr lang="ja-JP" altLang="ar-AE" i="1">
                        <a:latin typeface="Cambria Math" panose="02040503050406030204" pitchFamily="18" charset="0"/>
                      </a:rPr>
                      <m:t>𝑉</m:t>
                    </m:r>
                  </m:oMath>
                </a14:m>
                <a:r>
                  <a:rPr lang="ja-JP" altLang="en-US" dirty="0"/>
                  <a:t>满足</a:t>
                </a:r>
                <a14:m>
                  <m:oMath xmlns:m="http://schemas.openxmlformats.org/officeDocument/2006/math">
                    <m:r>
                      <a:rPr lang="ja-JP" altLang="en-US" i="1">
                        <a:latin typeface="Cambria Math" panose="02040503050406030204" pitchFamily="18" charset="0"/>
                      </a:rPr>
                      <m:t>𝑦</m:t>
                    </m:r>
                    <m:r>
                      <a:rPr lang="ja-JP" altLang="en-US">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r>
                      <a:rPr lang="ja-JP" altLang="ar-AE" i="1">
                        <a:latin typeface="Cambria Math" panose="02040503050406030204" pitchFamily="18" charset="0"/>
                      </a:rPr>
                      <m:t>𝑉</m:t>
                    </m:r>
                    <m:r>
                      <a:rPr lang="ar-AE" altLang="ja-JP">
                        <a:latin typeface="Cambria Math" panose="02040503050406030204" pitchFamily="18" charset="0"/>
                      </a:rPr>
                      <m:t>,</m:t>
                    </m:r>
                  </m:oMath>
                </a14:m>
                <a:r>
                  <a:rPr lang="en-US" altLang="ja-JP" dirty="0"/>
                  <a:t> </a:t>
                </a:r>
                <a:r>
                  <a:rPr lang="ja-JP" altLang="en-US" dirty="0"/>
                  <a:t>那么对任意 </a:t>
                </a:r>
                <a14:m>
                  <m:oMath xmlns:m="http://schemas.openxmlformats.org/officeDocument/2006/math">
                    <m:r>
                      <a:rPr lang="ja-JP" altLang="en-US" i="1">
                        <a:latin typeface="Cambria Math" panose="02040503050406030204" pitchFamily="18" charset="0"/>
                      </a:rPr>
                      <m:t>𝑣</m:t>
                    </m:r>
                    <m:r>
                      <a:rPr lang="ja-JP" altLang="en-US">
                        <a:latin typeface="Cambria Math" panose="02040503050406030204" pitchFamily="18" charset="0"/>
                      </a:rPr>
                      <m:t>∈</m:t>
                    </m:r>
                    <m:r>
                      <a:rPr lang="ja-JP" altLang="en-US" i="1">
                        <a:latin typeface="Cambria Math" panose="02040503050406030204" pitchFamily="18" charset="0"/>
                      </a:rPr>
                      <m:t>𝑉</m:t>
                    </m:r>
                  </m:oMath>
                </a14:m>
                <a:r>
                  <a:rPr lang="ja-JP" altLang="en-US" dirty="0"/>
                  <a:t>，有</a:t>
                </a:r>
                <a14:m>
                  <m:oMath xmlns:m="http://schemas.openxmlformats.org/officeDocument/2006/math">
                    <m:r>
                      <a:rPr lang="ja-JP" altLang="en-US" i="1">
                        <a:latin typeface="Cambria Math" panose="02040503050406030204" pitchFamily="18" charset="0"/>
                      </a:rPr>
                      <m:t>𝑦</m:t>
                    </m:r>
                    <m:r>
                      <a:rPr lang="ja-JP" altLang="en-US">
                        <a:latin typeface="Cambria Math" panose="02040503050406030204" pitchFamily="18" charset="0"/>
                      </a:rPr>
                      <m:t>−</m:t>
                    </m:r>
                    <m:r>
                      <a:rPr lang="ja-JP" altLang="en-US" i="1">
                        <a:latin typeface="Cambria Math" panose="02040503050406030204" pitchFamily="18" charset="0"/>
                      </a:rPr>
                      <m:t>𝑣</m:t>
                    </m:r>
                    <m:r>
                      <a:rPr lang="en-US" altLang="ja-JP">
                        <a:latin typeface="Cambria Math" panose="02040503050406030204" pitchFamily="18" charset="0"/>
                      </a:rPr>
                      <m:t>=</m:t>
                    </m:r>
                    <m:d>
                      <m:dPr>
                        <m:ctrlPr>
                          <a:rPr lang="ar-AE" altLang="ja-JP" i="1">
                            <a:latin typeface="Cambria Math" panose="02040503050406030204" pitchFamily="18" charset="0"/>
                          </a:rPr>
                        </m:ctrlPr>
                      </m:dPr>
                      <m:e>
                        <m:r>
                          <a:rPr lang="ja-JP" altLang="ar-AE" i="1">
                            <a:latin typeface="Cambria Math" panose="02040503050406030204" pitchFamily="18" charset="0"/>
                          </a:rPr>
                          <m:t>𝑦</m:t>
                        </m:r>
                        <m:r>
                          <a:rPr lang="ar-AE" altLang="ja-JP">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e>
                    </m:d>
                    <m:r>
                      <a:rPr lang="ar-AE" altLang="ja-JP">
                        <a:latin typeface="Cambria Math" panose="02040503050406030204" pitchFamily="18" charset="0"/>
                      </a:rPr>
                      <m:t>+</m:t>
                    </m:r>
                    <m:d>
                      <m:dPr>
                        <m:ctrlPr>
                          <a:rPr lang="ar-AE" altLang="ja-JP" i="1">
                            <a:latin typeface="Cambria Math" panose="02040503050406030204" pitchFamily="18" charset="0"/>
                          </a:rPr>
                        </m:ctrlPr>
                      </m:dPr>
                      <m:e>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r>
                          <a:rPr lang="ja-JP" altLang="ar-AE" i="1">
                            <a:latin typeface="Cambria Math" panose="02040503050406030204" pitchFamily="18" charset="0"/>
                          </a:rPr>
                          <m:t>𝑣</m:t>
                        </m:r>
                      </m:e>
                    </m:d>
                    <m:r>
                      <a:rPr lang="ar-AE" altLang="ja-JP">
                        <a:latin typeface="Cambria Math" panose="02040503050406030204" pitchFamily="18" charset="0"/>
                      </a:rPr>
                      <m:t>.</m:t>
                    </m:r>
                  </m:oMath>
                </a14:m>
                <a:endParaRPr lang="ar-AE" altLang="ja-JP" dirty="0"/>
              </a:p>
              <a:p>
                <a:pPr marL="0" indent="0">
                  <a:lnSpc>
                    <a:spcPct val="110000"/>
                  </a:lnSpc>
                  <a:buNone/>
                </a:pPr>
                <a:r>
                  <a:rPr lang="ja-JP" altLang="en-US" dirty="0"/>
                  <a:t>其中 </a:t>
                </a:r>
                <a14:m>
                  <m:oMath xmlns:m="http://schemas.openxmlformats.org/officeDocument/2006/math">
                    <m:r>
                      <a:rPr lang="ja-JP" altLang="en-US" i="1">
                        <a:latin typeface="Cambria Math" panose="02040503050406030204" pitchFamily="18" charset="0"/>
                      </a:rPr>
                      <m:t>𝑦</m:t>
                    </m:r>
                    <m:r>
                      <a:rPr lang="ja-JP" altLang="en-US">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r>
                      <a:rPr lang="ja-JP" altLang="ar-AE" i="1">
                        <a:latin typeface="Cambria Math" panose="02040503050406030204" pitchFamily="18" charset="0"/>
                      </a:rPr>
                      <m:t>𝑣</m:t>
                    </m:r>
                  </m:oMath>
                </a14:m>
                <a:r>
                  <a:rPr lang="ja-JP" altLang="ar-AE" dirty="0"/>
                  <a:t>，</a:t>
                </a:r>
                <a:r>
                  <a:rPr lang="ja-JP" altLang="en-US" dirty="0"/>
                  <a:t>因为 </a:t>
                </a:r>
                <a14:m>
                  <m:oMath xmlns:m="http://schemas.openxmlformats.org/officeDocument/2006/math">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r>
                      <a:rPr lang="ja-JP" altLang="ar-AE" i="1">
                        <a:latin typeface="Cambria Math" panose="02040503050406030204" pitchFamily="18" charset="0"/>
                      </a:rPr>
                      <m:t>𝑣</m:t>
                    </m:r>
                    <m:r>
                      <a:rPr lang="ar-AE" altLang="ja-JP">
                        <a:latin typeface="Cambria Math" panose="02040503050406030204" pitchFamily="18" charset="0"/>
                      </a:rPr>
                      <m:t>∈</m:t>
                    </m:r>
                    <m:r>
                      <a:rPr lang="ja-JP" altLang="ar-AE" i="1">
                        <a:latin typeface="Cambria Math" panose="02040503050406030204" pitchFamily="18" charset="0"/>
                      </a:rPr>
                      <m:t>𝑉</m:t>
                    </m:r>
                  </m:oMath>
                </a14:m>
                <a:r>
                  <a:rPr lang="ja-JP" altLang="ar-AE" dirty="0"/>
                  <a:t>。</a:t>
                </a:r>
                <a:r>
                  <a:rPr lang="ja-JP" altLang="en-US" dirty="0"/>
                  <a:t>由勾股定理：</a:t>
                </a:r>
                <a14:m>
                  <m:oMath xmlns:m="http://schemas.openxmlformats.org/officeDocument/2006/math">
                    <m:r>
                      <a:rPr lang="ja-JP" altLang="en-US">
                        <a:latin typeface="Cambria Math" panose="02040503050406030204" pitchFamily="18" charset="0"/>
                      </a:rPr>
                      <m:t>∥</m:t>
                    </m:r>
                    <m:r>
                      <a:rPr lang="ja-JP" altLang="en-US" i="1">
                        <a:latin typeface="Cambria Math" panose="02040503050406030204" pitchFamily="18" charset="0"/>
                      </a:rPr>
                      <m:t>𝑦</m:t>
                    </m:r>
                    <m:r>
                      <a:rPr lang="ja-JP" altLang="en-US">
                        <a:latin typeface="Cambria Math" panose="02040503050406030204" pitchFamily="18" charset="0"/>
                      </a:rPr>
                      <m:t>−</m:t>
                    </m:r>
                    <m:r>
                      <a:rPr lang="ja-JP" altLang="en-US" i="1">
                        <a:latin typeface="Cambria Math" panose="02040503050406030204" pitchFamily="18" charset="0"/>
                      </a:rPr>
                      <m:t>𝑣</m:t>
                    </m:r>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r>
                      <a:rPr lang="ar-AE" altLang="ja-JP">
                        <a:latin typeface="Cambria Math" panose="02040503050406030204" pitchFamily="18" charset="0"/>
                      </a:rPr>
                      <m:t>=∥</m:t>
                    </m:r>
                    <m:r>
                      <a:rPr lang="ja-JP" altLang="ar-AE" i="1">
                        <a:latin typeface="Cambria Math" panose="02040503050406030204" pitchFamily="18" charset="0"/>
                      </a:rPr>
                      <m:t>𝑦</m:t>
                    </m:r>
                    <m:r>
                      <a:rPr lang="ar-AE" altLang="ja-JP">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r>
                      <a:rPr lang="ar-AE" altLang="ja-JP">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r>
                      <a:rPr lang="ar-AE" altLang="ja-JP">
                        <a:latin typeface="Cambria Math" panose="02040503050406030204" pitchFamily="18" charset="0"/>
                      </a:rPr>
                      <m:t>−</m:t>
                    </m:r>
                    <m:r>
                      <a:rPr lang="ja-JP" altLang="ar-AE" i="1">
                        <a:latin typeface="Cambria Math" panose="02040503050406030204" pitchFamily="18" charset="0"/>
                      </a:rPr>
                      <m:t>𝑣</m:t>
                    </m:r>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r>
                      <a:rPr lang="ar-AE" altLang="ja-JP">
                        <a:latin typeface="Cambria Math" panose="02040503050406030204" pitchFamily="18" charset="0"/>
                      </a:rPr>
                      <m:t>≥∥</m:t>
                    </m:r>
                    <m:r>
                      <a:rPr lang="ja-JP" altLang="ar-AE" i="1">
                        <a:latin typeface="Cambria Math" panose="02040503050406030204" pitchFamily="18" charset="0"/>
                      </a:rPr>
                      <m:t>𝑦</m:t>
                    </m:r>
                    <m:r>
                      <a:rPr lang="ar-AE" altLang="ja-JP">
                        <a:latin typeface="Cambria Math" panose="02040503050406030204" pitchFamily="18" charset="0"/>
                      </a:rPr>
                      <m:t>−</m:t>
                    </m:r>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sSup>
                      <m:sSupPr>
                        <m:ctrlPr>
                          <a:rPr lang="ar-AE" altLang="ja-JP" i="1">
                            <a:latin typeface="Cambria Math" panose="02040503050406030204" pitchFamily="18" charset="0"/>
                          </a:rPr>
                        </m:ctrlPr>
                      </m:sSupPr>
                      <m:e>
                        <m:r>
                          <a:rPr lang="ar-AE" altLang="ja-JP">
                            <a:latin typeface="Cambria Math" panose="02040503050406030204" pitchFamily="18" charset="0"/>
                          </a:rPr>
                          <m:t>∥</m:t>
                        </m:r>
                      </m:e>
                      <m:sup>
                        <m:r>
                          <a:rPr lang="ar-AE" altLang="ja-JP">
                            <a:latin typeface="Cambria Math" panose="02040503050406030204" pitchFamily="18" charset="0"/>
                          </a:rPr>
                          <m:t>2</m:t>
                        </m:r>
                      </m:sup>
                    </m:sSup>
                    <m:r>
                      <a:rPr lang="ar-AE" altLang="ja-JP">
                        <a:latin typeface="Cambria Math" panose="02040503050406030204" pitchFamily="18" charset="0"/>
                      </a:rPr>
                      <m:t>.</m:t>
                    </m:r>
                  </m:oMath>
                </a14:m>
                <a:endParaRPr lang="ar-AE" altLang="ja-JP" dirty="0"/>
              </a:p>
              <a:p>
                <a:pPr marL="0" indent="0">
                  <a:lnSpc>
                    <a:spcPct val="110000"/>
                  </a:lnSpc>
                  <a:buNone/>
                </a:pPr>
                <a:r>
                  <a:rPr lang="ja-JP" altLang="en-US" dirty="0"/>
                  <a:t>说明任何 </a:t>
                </a:r>
                <a14:m>
                  <m:oMath xmlns:m="http://schemas.openxmlformats.org/officeDocument/2006/math">
                    <m:r>
                      <a:rPr lang="ja-JP" altLang="en-US" i="1">
                        <a:latin typeface="Cambria Math" panose="02040503050406030204" pitchFamily="18" charset="0"/>
                      </a:rPr>
                      <m:t>𝑣</m:t>
                    </m:r>
                    <m:r>
                      <a:rPr lang="ja-JP" altLang="en-US">
                        <a:latin typeface="Cambria Math" panose="02040503050406030204" pitchFamily="18" charset="0"/>
                      </a:rPr>
                      <m:t>∈</m:t>
                    </m:r>
                    <m:r>
                      <a:rPr lang="ja-JP" altLang="en-US" i="1">
                        <a:latin typeface="Cambria Math" panose="02040503050406030204" pitchFamily="18" charset="0"/>
                      </a:rPr>
                      <m:t>𝑉</m:t>
                    </m:r>
                  </m:oMath>
                </a14:m>
                <a:r>
                  <a:rPr lang="ja-JP" altLang="en-US" dirty="0"/>
                  <a:t>都不会比 </a:t>
                </a:r>
                <a14:m>
                  <m:oMath xmlns:m="http://schemas.openxmlformats.org/officeDocument/2006/math">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oMath>
                </a14:m>
                <a:r>
                  <a:rPr lang="ja-JP" altLang="en-US" dirty="0"/>
                  <a:t>更接近 </a:t>
                </a:r>
                <a14:m>
                  <m:oMath xmlns:m="http://schemas.openxmlformats.org/officeDocument/2006/math">
                    <m:r>
                      <a:rPr lang="ja-JP" altLang="en-US" i="1">
                        <a:latin typeface="Cambria Math" panose="02040503050406030204" pitchFamily="18" charset="0"/>
                      </a:rPr>
                      <m:t>𝑦</m:t>
                    </m:r>
                  </m:oMath>
                </a14:m>
                <a:r>
                  <a:rPr lang="ja-JP" altLang="en-US" dirty="0"/>
                  <a:t>。所以 </a:t>
                </a:r>
                <a14:m>
                  <m:oMath xmlns:m="http://schemas.openxmlformats.org/officeDocument/2006/math">
                    <m:acc>
                      <m:accPr>
                        <m:chr m:val="̂"/>
                        <m:ctrlPr>
                          <a:rPr lang="ar-AE" altLang="ja-JP" i="1">
                            <a:latin typeface="Cambria Math" panose="02040503050406030204" pitchFamily="18" charset="0"/>
                          </a:rPr>
                        </m:ctrlPr>
                      </m:accPr>
                      <m:e>
                        <m:r>
                          <a:rPr lang="ja-JP" altLang="ar-AE" i="1">
                            <a:latin typeface="Cambria Math" panose="02040503050406030204" pitchFamily="18" charset="0"/>
                          </a:rPr>
                          <m:t>𝑦</m:t>
                        </m:r>
                      </m:e>
                    </m:acc>
                  </m:oMath>
                </a14:m>
                <a:r>
                  <a:rPr lang="ja-JP" altLang="en-US" dirty="0"/>
                  <a:t>确实是最优解。</a:t>
                </a:r>
              </a:p>
              <a:p>
                <a:pPr marL="0" indent="0">
                  <a:lnSpc>
                    <a:spcPct val="110000"/>
                  </a:lnSpc>
                  <a:buNone/>
                </a:pPr>
                <a14:m>
                  <m:oMathPara xmlns:m="http://schemas.openxmlformats.org/officeDocument/2006/math">
                    <m:oMathParaPr>
                      <m:jc m:val="centerGroup"/>
                    </m:oMathParaPr>
                    <m:oMath xmlns:m="http://schemas.openxmlformats.org/officeDocument/2006/math">
                      <m:borderBox>
                        <m:borderBoxPr>
                          <m:ctrlPr>
                            <a:rPr lang="ar-AE" altLang="ja-JP" smtClean="0">
                              <a:solidFill>
                                <a:srgbClr val="7030A0"/>
                              </a:solidFill>
                              <a:latin typeface="Cambria Math" panose="02040503050406030204" pitchFamily="18" charset="0"/>
                            </a:rPr>
                          </m:ctrlPr>
                        </m:borderBoxPr>
                        <m:e>
                          <m:r>
                            <m:rPr>
                              <m:nor/>
                            </m:rPr>
                            <a:rPr lang="ja-JP" altLang="en-US">
                              <a:solidFill>
                                <a:srgbClr val="7030A0"/>
                              </a:solidFill>
                            </a:rPr>
                            <m:t>最小二乘法的最优解</m:t>
                          </m:r>
                          <m:r>
                            <m:rPr>
                              <m:nor/>
                            </m:rPr>
                            <a:rPr lang="ja-JP" altLang="en-US">
                              <a:solidFill>
                                <a:srgbClr val="7030A0"/>
                              </a:solidFill>
                            </a:rPr>
                            <m:t>，</m:t>
                          </m:r>
                          <m:r>
                            <m:rPr>
                              <m:nor/>
                            </m:rPr>
                            <a:rPr lang="ja-JP" altLang="en-US">
                              <a:solidFill>
                                <a:srgbClr val="7030A0"/>
                              </a:solidFill>
                            </a:rPr>
                            <m:t>就是把 </m:t>
                          </m:r>
                          <m:r>
                            <m:rPr>
                              <m:sty m:val="p"/>
                            </m:rPr>
                            <a:rPr lang="ja-JP" altLang="en-US" b="0" i="0">
                              <a:solidFill>
                                <a:srgbClr val="7030A0"/>
                              </a:solidFill>
                              <a:latin typeface="Cambria Math" panose="02040503050406030204" pitchFamily="18" charset="0"/>
                            </a:rPr>
                            <m:t>y</m:t>
                          </m:r>
                          <m:r>
                            <m:rPr>
                              <m:nor/>
                            </m:rPr>
                            <a:rPr lang="ja-JP" altLang="en-US">
                              <a:solidFill>
                                <a:srgbClr val="7030A0"/>
                              </a:solidFill>
                            </a:rPr>
                            <m:t> </m:t>
                          </m:r>
                          <m:r>
                            <m:rPr>
                              <m:nor/>
                            </m:rPr>
                            <a:rPr lang="ja-JP" altLang="en-US">
                              <a:solidFill>
                                <a:srgbClr val="7030A0"/>
                              </a:solidFill>
                            </a:rPr>
                            <m:t>正交投影到模型空间 </m:t>
                          </m:r>
                          <m:r>
                            <m:rPr>
                              <m:sty m:val="p"/>
                            </m:rPr>
                            <a:rPr lang="ja-JP" altLang="en-US" b="0" i="0">
                              <a:solidFill>
                                <a:srgbClr val="7030A0"/>
                              </a:solidFill>
                              <a:latin typeface="Cambria Math" panose="02040503050406030204" pitchFamily="18" charset="0"/>
                            </a:rPr>
                            <m:t>V</m:t>
                          </m:r>
                          <m:r>
                            <m:rPr>
                              <m:nor/>
                            </m:rPr>
                            <a:rPr lang="ja-JP" altLang="en-US">
                              <a:solidFill>
                                <a:srgbClr val="7030A0"/>
                              </a:solidFill>
                            </a:rPr>
                            <m:t> </m:t>
                          </m:r>
                          <m:r>
                            <m:rPr>
                              <m:nor/>
                            </m:rPr>
                            <a:rPr lang="ja-JP" altLang="en-US">
                              <a:solidFill>
                                <a:srgbClr val="7030A0"/>
                              </a:solidFill>
                            </a:rPr>
                            <m:t>上</m:t>
                          </m:r>
                          <m:r>
                            <m:rPr>
                              <m:nor/>
                            </m:rPr>
                            <a:rPr lang="ja-JP" altLang="en-US">
                              <a:solidFill>
                                <a:srgbClr val="7030A0"/>
                              </a:solidFill>
                            </a:rPr>
                            <m:t>。</m:t>
                          </m:r>
                        </m:e>
                      </m:borderBox>
                    </m:oMath>
                  </m:oMathPara>
                </a14:m>
                <a:endParaRPr lang="ar-AE" altLang="ja-JP" dirty="0"/>
              </a:p>
              <a:p>
                <a:pPr>
                  <a:lnSpc>
                    <a:spcPct val="110000"/>
                  </a:lnSpc>
                </a:pPr>
                <a:r>
                  <a:rPr lang="ja-JP" altLang="en-US" dirty="0"/>
                  <a:t>。</a:t>
                </a:r>
              </a:p>
              <a:p>
                <a:pPr marL="0" indent="0">
                  <a:lnSpc>
                    <a:spcPct val="110000"/>
                  </a:lnSpc>
                  <a:buNone/>
                </a:pPr>
                <a:endParaRPr lang="zh-CN" altLang="en-US" dirty="0"/>
              </a:p>
            </p:txBody>
          </p:sp>
        </mc:Choice>
        <mc:Fallback>
          <p:sp>
            <p:nvSpPr>
              <p:cNvPr id="12" name="コンテンツ プレースホルダー 2">
                <a:extLst>
                  <a:ext uri="{FF2B5EF4-FFF2-40B4-BE49-F238E27FC236}">
                    <a16:creationId xmlns:a16="http://schemas.microsoft.com/office/drawing/2014/main" id="{65687735-3348-6E8A-F7FB-7C7DF3F08B1D}"/>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897" b="-12668"/>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B490F0B0-048A-89F6-4804-A7F6668EA1B6}"/>
                  </a:ext>
                </a:extLst>
              </p:cNvPr>
              <p:cNvSpPr txBox="1"/>
              <p:nvPr/>
            </p:nvSpPr>
            <p:spPr>
              <a:xfrm>
                <a:off x="7375124" y="1249947"/>
                <a:ext cx="4207276" cy="830997"/>
              </a:xfrm>
              <a:prstGeom prst="rect">
                <a:avLst/>
              </a:prstGeom>
              <a:noFill/>
            </p:spPr>
            <p:txBody>
              <a:bodyPr wrap="square">
                <a:spAutoFit/>
              </a:bodyPr>
              <a:lstStyle/>
              <a:p>
                <a:r>
                  <a:rPr lang="ja-JP" altLang="en-US" sz="1600" dirty="0">
                    <a:solidFill>
                      <a:srgbClr val="7030A0"/>
                    </a:solidFill>
                    <a:latin typeface="+mj-ea"/>
                    <a:ea typeface="+mj-ea"/>
                  </a:rPr>
                  <a:t>误差 </a:t>
                </a:r>
                <a14:m>
                  <m:oMath xmlns:m="http://schemas.openxmlformats.org/officeDocument/2006/math">
                    <m:r>
                      <a:rPr lang="ja-JP" altLang="en-US" sz="1600" i="1">
                        <a:solidFill>
                          <a:srgbClr val="7030A0"/>
                        </a:solidFill>
                        <a:latin typeface="+mj-ea"/>
                        <a:ea typeface="+mj-ea"/>
                      </a:rPr>
                      <m:t>𝑦</m:t>
                    </m:r>
                    <m:r>
                      <a:rPr lang="ja-JP" altLang="en-US" sz="1600">
                        <a:solidFill>
                          <a:srgbClr val="7030A0"/>
                        </a:solidFill>
                        <a:latin typeface="+mj-ea"/>
                        <a:ea typeface="+mj-ea"/>
                      </a:rPr>
                      <m:t>−</m:t>
                    </m:r>
                    <m:acc>
                      <m:accPr>
                        <m:chr m:val="̂"/>
                        <m:ctrlPr>
                          <a:rPr lang="ar-AE" altLang="ja-JP" sz="1600" i="1">
                            <a:solidFill>
                              <a:srgbClr val="7030A0"/>
                            </a:solidFill>
                            <a:latin typeface="+mj-ea"/>
                            <a:ea typeface="+mj-ea"/>
                          </a:rPr>
                        </m:ctrlPr>
                      </m:accPr>
                      <m:e>
                        <m:r>
                          <a:rPr lang="ja-JP" altLang="ar-AE" sz="1600" i="1">
                            <a:solidFill>
                              <a:srgbClr val="7030A0"/>
                            </a:solidFill>
                            <a:latin typeface="+mj-ea"/>
                            <a:ea typeface="+mj-ea"/>
                          </a:rPr>
                          <m:t>𝑦</m:t>
                        </m:r>
                      </m:e>
                    </m:acc>
                  </m:oMath>
                </a14:m>
                <a:r>
                  <a:rPr lang="ja-JP" altLang="en-US" sz="1600" dirty="0">
                    <a:solidFill>
                      <a:srgbClr val="7030A0"/>
                    </a:solidFill>
                    <a:latin typeface="+mj-ea"/>
                    <a:ea typeface="+mj-ea"/>
                  </a:rPr>
                  <a:t>不能再被模型空间 </a:t>
                </a:r>
                <a14:m>
                  <m:oMath xmlns:m="http://schemas.openxmlformats.org/officeDocument/2006/math">
                    <m:r>
                      <a:rPr lang="ja-JP" altLang="en-US" sz="1600" i="1">
                        <a:solidFill>
                          <a:srgbClr val="7030A0"/>
                        </a:solidFill>
                        <a:latin typeface="+mj-ea"/>
                        <a:ea typeface="+mj-ea"/>
                      </a:rPr>
                      <m:t>𝑉</m:t>
                    </m:r>
                  </m:oMath>
                </a14:m>
                <a:r>
                  <a:rPr lang="ja-JP" altLang="en-US" sz="1600" dirty="0">
                    <a:solidFill>
                      <a:srgbClr val="7030A0"/>
                    </a:solidFill>
                    <a:latin typeface="+mj-ea"/>
                    <a:ea typeface="+mj-ea"/>
                  </a:rPr>
                  <a:t>解释，因此它必须与 </a:t>
                </a:r>
                <a14:m>
                  <m:oMath xmlns:m="http://schemas.openxmlformats.org/officeDocument/2006/math">
                    <m:r>
                      <a:rPr lang="ja-JP" altLang="en-US" sz="1600" i="1">
                        <a:solidFill>
                          <a:srgbClr val="7030A0"/>
                        </a:solidFill>
                        <a:latin typeface="+mj-ea"/>
                        <a:ea typeface="+mj-ea"/>
                      </a:rPr>
                      <m:t>𝑉</m:t>
                    </m:r>
                  </m:oMath>
                </a14:m>
                <a:r>
                  <a:rPr lang="ja-JP" altLang="en-US" sz="1600" dirty="0">
                    <a:solidFill>
                      <a:srgbClr val="7030A0"/>
                    </a:solidFill>
                    <a:latin typeface="+mj-ea"/>
                    <a:ea typeface="+mj-ea"/>
                  </a:rPr>
                  <a:t>中所有可解释的方向正交。这就是最小二乘法的几何本质</a:t>
                </a:r>
              </a:p>
            </p:txBody>
          </p:sp>
        </mc:Choice>
        <mc:Fallback>
          <p:sp>
            <p:nvSpPr>
              <p:cNvPr id="3" name="テキスト ボックス 2">
                <a:extLst>
                  <a:ext uri="{FF2B5EF4-FFF2-40B4-BE49-F238E27FC236}">
                    <a16:creationId xmlns:a16="http://schemas.microsoft.com/office/drawing/2014/main" id="{B490F0B0-048A-89F6-4804-A7F6668EA1B6}"/>
                  </a:ext>
                </a:extLst>
              </p:cNvPr>
              <p:cNvSpPr txBox="1">
                <a:spLocks noRot="1" noChangeAspect="1" noMove="1" noResize="1" noEditPoints="1" noAdjustHandles="1" noChangeArrowheads="1" noChangeShapeType="1" noTextEdit="1"/>
              </p:cNvSpPr>
              <p:nvPr/>
            </p:nvSpPr>
            <p:spPr>
              <a:xfrm>
                <a:off x="7375124" y="1249947"/>
                <a:ext cx="4207276" cy="830997"/>
              </a:xfrm>
              <a:prstGeom prst="rect">
                <a:avLst/>
              </a:prstGeom>
              <a:blipFill>
                <a:blip r:embed="rId4"/>
                <a:stretch>
                  <a:fillRect l="-870" t="-2941" b="-882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78300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EC58D-EA55-0E87-9480-D7D6C2ECCCD0}"/>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8D57E8D8-20DE-701E-F6CA-762A0330B3B5}"/>
              </a:ext>
            </a:extLst>
          </p:cNvPr>
          <p:cNvSpPr>
            <a:spLocks noGrp="1" noChangeArrowheads="1"/>
          </p:cNvSpPr>
          <p:nvPr>
            <p:ph type="title"/>
          </p:nvPr>
        </p:nvSpPr>
        <p:spPr/>
        <p:txBody>
          <a:bodyPr/>
          <a:lstStyle/>
          <a:p>
            <a:r>
              <a:rPr lang="ja-JP" altLang="ja-JP" b="1" dirty="0"/>
              <a:t>信号分解、Fourier 分解与 PCA</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E96D97A4-1C11-2D5F-D5FD-40CF32761C62}"/>
                  </a:ext>
                </a:extLst>
              </p:cNvPr>
              <p:cNvSpPr>
                <a:spLocks noGrp="1"/>
              </p:cNvSpPr>
              <p:nvPr>
                <p:ph idx="1"/>
              </p:nvPr>
            </p:nvSpPr>
            <p:spPr>
              <a:xfrm>
                <a:off x="213360" y="1112520"/>
                <a:ext cx="11877040" cy="5440680"/>
              </a:xfrm>
            </p:spPr>
            <p:txBody>
              <a:bodyPr/>
              <a:lstStyle/>
              <a:p>
                <a:pPr marL="0" indent="0">
                  <a:lnSpc>
                    <a:spcPct val="120000"/>
                  </a:lnSpc>
                  <a:buNone/>
                </a:pPr>
                <a:r>
                  <a:rPr lang="ja-JP" altLang="ja-JP" dirty="0"/>
                  <a:t>如果</a:t>
                </a:r>
                <a14:m>
                  <m:oMath xmlns:m="http://schemas.openxmlformats.org/officeDocument/2006/math">
                    <m:d>
                      <m:dPr>
                        <m:begChr m:val="⟨"/>
                        <m:endChr m:val="⟩"/>
                        <m:sepChr m:val=","/>
                        <m:ctrlPr>
                          <a:rPr lang="ja-JP" altLang="en-US"/>
                        </m:ctrlPr>
                      </m:dPr>
                      <m:e>
                        <m:r>
                          <a:rPr lang="ja-JP" altLang="en-US" i="1"/>
                          <m:t>𝑓</m:t>
                        </m:r>
                      </m:e>
                      <m:e>
                        <m:r>
                          <a:rPr lang="ja-JP" altLang="en-US" i="1"/>
                          <m:t>𝑔</m:t>
                        </m:r>
                      </m:e>
                    </m:d>
                    <m:r>
                      <a:rPr lang="en-US" altLang="ja-JP"/>
                      <m:t>=</m:t>
                    </m:r>
                    <m:r>
                      <a:rPr lang="en-US" altLang="ja-JP"/>
                      <m:t>0</m:t>
                    </m:r>
                  </m:oMath>
                </a14:m>
                <a:r>
                  <a:rPr lang="ja-JP" altLang="ja-JP" dirty="0"/>
                  <a:t>就说 </a:t>
                </a:r>
                <a14:m>
                  <m:oMath xmlns:m="http://schemas.openxmlformats.org/officeDocument/2006/math">
                    <m:r>
                      <a:rPr lang="ja-JP" altLang="en-US" i="1"/>
                      <m:t>𝑓</m:t>
                    </m:r>
                  </m:oMath>
                </a14:m>
                <a:r>
                  <a:rPr lang="ja-JP" altLang="ja-JP" dirty="0"/>
                  <a:t>和 </a:t>
                </a:r>
                <a14:m>
                  <m:oMath xmlns:m="http://schemas.openxmlformats.org/officeDocument/2006/math">
                    <m:r>
                      <a:rPr lang="ja-JP" altLang="en-US" i="1"/>
                      <m:t>𝑔</m:t>
                    </m:r>
                  </m:oMath>
                </a14:m>
                <a:r>
                  <a:rPr lang="ja-JP" altLang="ja-JP" dirty="0"/>
                  <a:t>正交。</a:t>
                </a:r>
              </a:p>
              <a:p>
                <a:pPr>
                  <a:lnSpc>
                    <a:spcPct val="120000"/>
                  </a:lnSpc>
                </a:pPr>
                <a:r>
                  <a:rPr lang="ja-JP" altLang="ja-JP" dirty="0"/>
                  <a:t>在普通的二维或三维空间中，正交就是垂直；在函数空间中，两个函数也可以正交。例如：</a:t>
                </a:r>
                <a:endParaRPr lang="en-US" altLang="ja-JP" dirty="0"/>
              </a:p>
              <a:p>
                <a:pPr marL="0" indent="0">
                  <a:lnSpc>
                    <a:spcPct val="120000"/>
                  </a:lnSpc>
                  <a:buNone/>
                </a:pPr>
                <a14:m>
                  <m:oMath xmlns:m="http://schemas.openxmlformats.org/officeDocument/2006/math">
                    <m:nary>
                      <m:naryPr>
                        <m:grow m:val="on"/>
                        <m:ctrlPr>
                          <a:rPr lang="ja-JP" altLang="en-US"/>
                        </m:ctrlPr>
                      </m:naryPr>
                      <m:sub>
                        <m:r>
                          <a:rPr lang="ja-JP" altLang="en-US" i="1"/>
                          <m:t>𝑎</m:t>
                        </m:r>
                      </m:sub>
                      <m:sup>
                        <m:r>
                          <a:rPr lang="ja-JP" altLang="en-US" i="1"/>
                          <m:t>𝑏</m:t>
                        </m:r>
                      </m:sup>
                      <m:e>
                        <m:r>
                          <a:rPr lang="ja-JP" altLang="en-US" i="1"/>
                          <m:t>𝑓</m:t>
                        </m:r>
                      </m:e>
                    </m:nary>
                    <m:d>
                      <m:dPr>
                        <m:ctrlPr>
                          <a:rPr lang="ja-JP" altLang="en-US" i="1"/>
                        </m:ctrlPr>
                      </m:dPr>
                      <m:e>
                        <m:r>
                          <a:rPr lang="ja-JP" altLang="en-US" i="1"/>
                          <m:t>𝑡</m:t>
                        </m:r>
                      </m:e>
                    </m:d>
                    <m:r>
                      <a:rPr lang="ja-JP" altLang="en-US" i="1"/>
                      <m:t>𝑔</m:t>
                    </m:r>
                    <m:d>
                      <m:dPr>
                        <m:ctrlPr>
                          <a:rPr lang="ja-JP" altLang="en-US" i="1"/>
                        </m:ctrlPr>
                      </m:dPr>
                      <m:e>
                        <m:r>
                          <a:rPr lang="ja-JP" altLang="en-US" i="1"/>
                          <m:t>𝑡</m:t>
                        </m:r>
                      </m:e>
                    </m:d>
                    <m:r>
                      <m:rPr>
                        <m:nor/>
                      </m:rPr>
                      <a:rPr lang="ja-JP" altLang="en-US" i="1"/>
                      <m:t> </m:t>
                    </m:r>
                    <m:r>
                      <a:rPr lang="ja-JP" altLang="en-US" i="1"/>
                      <m:t>𝑑𝑡</m:t>
                    </m:r>
                    <m:r>
                      <a:rPr lang="en-US" altLang="ja-JP"/>
                      <m:t>=</m:t>
                    </m:r>
                    <m:r>
                      <a:rPr lang="en-US" altLang="ja-JP"/>
                      <m:t>0</m:t>
                    </m:r>
                  </m:oMath>
                </a14:m>
                <a:r>
                  <a:rPr lang="en-US" altLang="ja-JP" dirty="0"/>
                  <a:t> </a:t>
                </a:r>
                <a:r>
                  <a:rPr lang="ja-JP" altLang="ja-JP" dirty="0"/>
                  <a:t>表示两个函数在 </a:t>
                </a:r>
                <a14:m>
                  <m:oMath xmlns:m="http://schemas.openxmlformats.org/officeDocument/2006/math">
                    <m:sSup>
                      <m:sSupPr>
                        <m:ctrlPr>
                          <a:rPr lang="ja-JP" altLang="en-US"/>
                        </m:ctrlPr>
                      </m:sSupPr>
                      <m:e>
                        <m:r>
                          <a:rPr lang="ja-JP" altLang="en-US" i="1"/>
                          <m:t>𝐿</m:t>
                        </m:r>
                      </m:e>
                      <m:sup>
                        <m:r>
                          <a:rPr lang="en-US" altLang="ja-JP"/>
                          <m:t>2</m:t>
                        </m:r>
                      </m:sup>
                    </m:sSup>
                    <m:d>
                      <m:dPr>
                        <m:begChr m:val="["/>
                        <m:endChr m:val="]"/>
                        <m:sepChr m:val=","/>
                        <m:ctrlPr>
                          <a:rPr lang="ja-JP" altLang="en-US" i="1"/>
                        </m:ctrlPr>
                      </m:dPr>
                      <m:e>
                        <m:r>
                          <a:rPr lang="ja-JP" altLang="en-US" i="1"/>
                          <m:t>𝑎</m:t>
                        </m:r>
                      </m:e>
                      <m:e>
                        <m:r>
                          <a:rPr lang="ja-JP" altLang="en-US" i="1"/>
                          <m:t>𝑏</m:t>
                        </m:r>
                      </m:e>
                    </m:d>
                  </m:oMath>
                </a14:m>
                <a:r>
                  <a:rPr lang="ja-JP" altLang="ja-JP" dirty="0"/>
                  <a:t>中正交。</a:t>
                </a:r>
              </a:p>
              <a:p>
                <a:pPr marL="0" indent="0">
                  <a:lnSpc>
                    <a:spcPct val="120000"/>
                  </a:lnSpc>
                  <a:buNone/>
                </a:pPr>
                <a:r>
                  <a:rPr lang="ja-JP" altLang="ja-JP" dirty="0"/>
                  <a:t>Hilbert 空间中最重要的思想之一是：要用一个子空间近似某个对象时，最好的近似通常是它在该子空间上的正交投影。Fourier 分解、PCA、Kernel PCA 都是在不同 Hilbert 空间中做投影。</a:t>
                </a:r>
                <a:endParaRPr lang="en-US" altLang="ja-JP" dirty="0"/>
              </a:p>
              <a:p>
                <a:pPr marL="0" indent="0">
                  <a:lnSpc>
                    <a:spcPct val="120000"/>
                  </a:lnSpc>
                  <a:buNone/>
                </a:pPr>
                <a:r>
                  <a:rPr lang="ja-JP" altLang="ja-JP" b="1" dirty="0">
                    <a:solidFill>
                      <a:srgbClr val="C00000"/>
                    </a:solidFill>
                  </a:rPr>
                  <a:t>Fourier 分解</a:t>
                </a:r>
              </a:p>
              <a:p>
                <a:pPr marL="0" indent="0">
                  <a:lnSpc>
                    <a:spcPct val="120000"/>
                  </a:lnSpc>
                  <a:buNone/>
                </a:pPr>
                <a:r>
                  <a:rPr lang="ja-JP" altLang="ja-JP" dirty="0"/>
                  <a:t>公式：</a:t>
                </a:r>
                <a14:m>
                  <m:oMath xmlns:m="http://schemas.openxmlformats.org/officeDocument/2006/math">
                    <m:r>
                      <a:rPr lang="ja-JP" altLang="en-US" i="1"/>
                      <m:t>𝑓</m:t>
                    </m:r>
                    <m:d>
                      <m:dPr>
                        <m:ctrlPr>
                          <a:rPr lang="ja-JP" altLang="en-US" i="1"/>
                        </m:ctrlPr>
                      </m:dPr>
                      <m:e>
                        <m:r>
                          <a:rPr lang="ja-JP" altLang="en-US" i="1"/>
                          <m:t>𝑡</m:t>
                        </m:r>
                      </m:e>
                    </m:d>
                    <m:r>
                      <a:rPr lang="en-US" altLang="ja-JP"/>
                      <m:t>=</m:t>
                    </m:r>
                    <m:nary>
                      <m:naryPr>
                        <m:chr m:val="∑"/>
                        <m:grow m:val="on"/>
                        <m:supHide m:val="on"/>
                        <m:ctrlPr>
                          <a:rPr lang="ja-JP" altLang="en-US" i="1"/>
                        </m:ctrlPr>
                      </m:naryPr>
                      <m:sub>
                        <m:r>
                          <a:rPr lang="ja-JP" altLang="en-US" i="1"/>
                          <m:t>𝑘</m:t>
                        </m:r>
                      </m:sub>
                      <m:sup/>
                      <m:e>
                        <m:sSub>
                          <m:sSubPr>
                            <m:ctrlPr>
                              <a:rPr lang="ja-JP" altLang="en-US" i="1"/>
                            </m:ctrlPr>
                          </m:sSubPr>
                          <m:e>
                            <m:r>
                              <a:rPr lang="ja-JP" altLang="en-US" i="1"/>
                              <m:t>𝑐</m:t>
                            </m:r>
                          </m:e>
                          <m:sub>
                            <m:r>
                              <a:rPr lang="ja-JP" altLang="en-US" i="1"/>
                              <m:t>𝑘</m:t>
                            </m:r>
                          </m:sub>
                        </m:sSub>
                      </m:e>
                    </m:nary>
                    <m:sSub>
                      <m:sSubPr>
                        <m:ctrlPr>
                          <a:rPr lang="ja-JP" altLang="en-US" i="1"/>
                        </m:ctrlPr>
                      </m:sSubPr>
                      <m:e>
                        <m:r>
                          <a:rPr lang="ja-JP" altLang="en-US" i="1"/>
                          <m:t>𝑒</m:t>
                        </m:r>
                      </m:e>
                      <m:sub>
                        <m:r>
                          <a:rPr lang="ja-JP" altLang="en-US" i="1"/>
                          <m:t>𝑘</m:t>
                        </m:r>
                      </m:sub>
                    </m:sSub>
                    <m:d>
                      <m:dPr>
                        <m:ctrlPr>
                          <a:rPr lang="ja-JP" altLang="en-US" i="1"/>
                        </m:ctrlPr>
                      </m:dPr>
                      <m:e>
                        <m:r>
                          <a:rPr lang="ja-JP" altLang="en-US" i="1"/>
                          <m:t>𝑡</m:t>
                        </m:r>
                      </m:e>
                    </m:d>
                  </m:oMath>
                </a14:m>
                <a:r>
                  <a:rPr lang="zh-CN" altLang="en-US" dirty="0"/>
                  <a:t>。</a:t>
                </a:r>
                <a:r>
                  <a:rPr lang="ja-JP" altLang="ja-JP" dirty="0"/>
                  <a:t>其中：</a:t>
                </a:r>
                <a14:m>
                  <m:oMath xmlns:m="http://schemas.openxmlformats.org/officeDocument/2006/math">
                    <m:sSub>
                      <m:sSubPr>
                        <m:ctrlPr>
                          <a:rPr lang="ja-JP" altLang="en-US"/>
                        </m:ctrlPr>
                      </m:sSubPr>
                      <m:e>
                        <m:r>
                          <a:rPr lang="ja-JP" altLang="en-US" i="1"/>
                          <m:t>𝑐</m:t>
                        </m:r>
                      </m:e>
                      <m:sub>
                        <m:r>
                          <a:rPr lang="ja-JP" altLang="en-US" i="1"/>
                          <m:t>𝑘</m:t>
                        </m:r>
                      </m:sub>
                    </m:sSub>
                    <m:r>
                      <a:rPr lang="en-US" altLang="ja-JP"/>
                      <m:t>=</m:t>
                    </m:r>
                    <m:d>
                      <m:dPr>
                        <m:begChr m:val="⟨"/>
                        <m:endChr m:val="⟩"/>
                        <m:sepChr m:val=","/>
                        <m:ctrlPr>
                          <a:rPr lang="ja-JP" altLang="en-US" i="1"/>
                        </m:ctrlPr>
                      </m:dPr>
                      <m:e>
                        <m:r>
                          <a:rPr lang="ja-JP" altLang="en-US" i="1"/>
                          <m:t>𝑓</m:t>
                        </m:r>
                      </m:e>
                      <m:e>
                        <m:sSub>
                          <m:sSubPr>
                            <m:ctrlPr>
                              <a:rPr lang="ja-JP" altLang="en-US" i="1"/>
                            </m:ctrlPr>
                          </m:sSubPr>
                          <m:e>
                            <m:r>
                              <a:rPr lang="ja-JP" altLang="en-US" i="1"/>
                              <m:t>𝑒</m:t>
                            </m:r>
                          </m:e>
                          <m:sub>
                            <m:r>
                              <a:rPr lang="ja-JP" altLang="en-US" i="1"/>
                              <m:t>𝑘</m:t>
                            </m:r>
                          </m:sub>
                        </m:sSub>
                      </m:e>
                    </m:d>
                  </m:oMath>
                </a14:m>
                <a:endParaRPr lang="ja-JP" altLang="en-US" dirty="0"/>
              </a:p>
              <a:p>
                <a:pPr marL="0" indent="0">
                  <a:lnSpc>
                    <a:spcPct val="120000"/>
                  </a:lnSpc>
                  <a:buNone/>
                </a:pPr>
                <a:r>
                  <a:rPr lang="ja-JP" altLang="ja-JP" dirty="0"/>
                  <a:t>意思：一个信号 </a:t>
                </a:r>
                <a14:m>
                  <m:oMath xmlns:m="http://schemas.openxmlformats.org/officeDocument/2006/math">
                    <m:r>
                      <a:rPr lang="ja-JP" altLang="en-US" i="1"/>
                      <m:t>𝑓</m:t>
                    </m:r>
                    <m:d>
                      <m:dPr>
                        <m:ctrlPr>
                          <a:rPr lang="ja-JP" altLang="en-US" i="1"/>
                        </m:ctrlPr>
                      </m:dPr>
                      <m:e>
                        <m:r>
                          <a:rPr lang="ja-JP" altLang="en-US" i="1"/>
                          <m:t>𝑡</m:t>
                        </m:r>
                      </m:e>
                    </m:d>
                  </m:oMath>
                </a14:m>
                <a:r>
                  <a:rPr lang="ja-JP" altLang="ja-JP" dirty="0"/>
                  <a:t>可以被分解为一组正交基函数 </a:t>
                </a:r>
                <a14:m>
                  <m:oMath xmlns:m="http://schemas.openxmlformats.org/officeDocument/2006/math">
                    <m:sSub>
                      <m:sSubPr>
                        <m:ctrlPr>
                          <a:rPr lang="ja-JP" altLang="en-US"/>
                        </m:ctrlPr>
                      </m:sSubPr>
                      <m:e>
                        <m:r>
                          <a:rPr lang="ja-JP" altLang="en-US" i="1"/>
                          <m:t>𝑒</m:t>
                        </m:r>
                      </m:e>
                      <m:sub>
                        <m:r>
                          <a:rPr lang="ja-JP" altLang="en-US" i="1"/>
                          <m:t>𝑘</m:t>
                        </m:r>
                      </m:sub>
                    </m:sSub>
                    <m:d>
                      <m:dPr>
                        <m:ctrlPr>
                          <a:rPr lang="ja-JP" altLang="en-US" i="1"/>
                        </m:ctrlPr>
                      </m:dPr>
                      <m:e>
                        <m:r>
                          <a:rPr lang="ja-JP" altLang="en-US" i="1"/>
                          <m:t>𝑡</m:t>
                        </m:r>
                      </m:e>
                    </m:d>
                  </m:oMath>
                </a14:m>
                <a:r>
                  <a:rPr lang="ja-JP" altLang="ja-JP" dirty="0"/>
                  <a:t>的线性组合。</a:t>
                </a:r>
                <a:endParaRPr lang="en-US" altLang="ja-JP" dirty="0"/>
              </a:p>
              <a:p>
                <a:pPr marL="0" indent="0">
                  <a:lnSpc>
                    <a:spcPct val="120000"/>
                  </a:lnSpc>
                  <a:buNone/>
                </a:pPr>
                <a:r>
                  <a:rPr lang="ja-JP" altLang="ja-JP" dirty="0"/>
                  <a:t>在 Fourier 分析中，常用的基函数是三角函数或复指数函数。例如：</a:t>
                </a:r>
                <a14:m>
                  <m:oMath xmlns:m="http://schemas.openxmlformats.org/officeDocument/2006/math">
                    <m:r>
                      <a:rPr lang="en-US" altLang="ja-JP"/>
                      <m:t>1</m:t>
                    </m:r>
                    <m:r>
                      <a:rPr lang="en-US" altLang="ja-JP"/>
                      <m:t>,</m:t>
                    </m:r>
                    <m:func>
                      <m:funcPr>
                        <m:ctrlPr>
                          <a:rPr lang="ja-JP" altLang="en-US" i="1"/>
                        </m:ctrlPr>
                      </m:funcPr>
                      <m:fName>
                        <m:r>
                          <m:rPr>
                            <m:sty m:val="p"/>
                          </m:rPr>
                          <a:rPr lang="en-US" altLang="ja-JP"/>
                          <m:t>cos</m:t>
                        </m:r>
                      </m:fName>
                      <m:e>
                        <m:r>
                          <a:rPr lang="ja-JP" altLang="en-US" i="1"/>
                          <m:t>𝑡</m:t>
                        </m:r>
                      </m:e>
                    </m:func>
                    <m:r>
                      <a:rPr lang="en-US" altLang="ja-JP"/>
                      <m:t>,</m:t>
                    </m:r>
                    <m:func>
                      <m:funcPr>
                        <m:ctrlPr>
                          <a:rPr lang="ja-JP" altLang="en-US" i="1"/>
                        </m:ctrlPr>
                      </m:funcPr>
                      <m:fName>
                        <m:r>
                          <m:rPr>
                            <m:sty m:val="p"/>
                          </m:rPr>
                          <a:rPr lang="en-US" altLang="ja-JP"/>
                          <m:t>sin</m:t>
                        </m:r>
                      </m:fName>
                      <m:e>
                        <m:r>
                          <a:rPr lang="ja-JP" altLang="en-US" i="1"/>
                          <m:t>𝑡</m:t>
                        </m:r>
                      </m:e>
                    </m:func>
                    <m:r>
                      <a:rPr lang="en-US" altLang="ja-JP"/>
                      <m:t>,</m:t>
                    </m:r>
                    <m:func>
                      <m:funcPr>
                        <m:ctrlPr>
                          <a:rPr lang="ja-JP" altLang="en-US" i="1"/>
                        </m:ctrlPr>
                      </m:funcPr>
                      <m:fName>
                        <m:r>
                          <m:rPr>
                            <m:sty m:val="p"/>
                          </m:rPr>
                          <a:rPr lang="en-US" altLang="ja-JP"/>
                          <m:t>cos</m:t>
                        </m:r>
                      </m:fName>
                      <m:e>
                        <m:r>
                          <a:rPr lang="en-US" altLang="ja-JP"/>
                          <m:t>2</m:t>
                        </m:r>
                      </m:e>
                    </m:func>
                    <m:r>
                      <a:rPr lang="ja-JP" altLang="en-US" i="1"/>
                      <m:t>𝑡</m:t>
                    </m:r>
                    <m:r>
                      <a:rPr lang="en-US" altLang="ja-JP"/>
                      <m:t>,</m:t>
                    </m:r>
                    <m:func>
                      <m:funcPr>
                        <m:ctrlPr>
                          <a:rPr lang="ja-JP" altLang="en-US" i="1"/>
                        </m:ctrlPr>
                      </m:funcPr>
                      <m:fName>
                        <m:r>
                          <m:rPr>
                            <m:sty m:val="p"/>
                          </m:rPr>
                          <a:rPr lang="en-US" altLang="ja-JP"/>
                          <m:t>sin</m:t>
                        </m:r>
                      </m:fName>
                      <m:e>
                        <m:r>
                          <a:rPr lang="en-US" altLang="ja-JP"/>
                          <m:t>2</m:t>
                        </m:r>
                      </m:e>
                    </m:func>
                    <m:r>
                      <a:rPr lang="ja-JP" altLang="en-US" i="1"/>
                      <m:t>𝑡</m:t>
                    </m:r>
                    <m:r>
                      <a:rPr lang="en-US" altLang="ja-JP"/>
                      <m:t>,…</m:t>
                    </m:r>
                  </m:oMath>
                </a14:m>
                <a:endParaRPr lang="en-US" altLang="ja-JP" dirty="0"/>
              </a:p>
              <a:p>
                <a:pPr marL="0" indent="0">
                  <a:lnSpc>
                    <a:spcPct val="120000"/>
                  </a:lnSpc>
                  <a:buNone/>
                </a:pPr>
                <a:r>
                  <a:rPr lang="ja-JP" altLang="ja-JP" dirty="0"/>
                  <a:t>或者用复指数形式：</a:t>
                </a:r>
                <a14:m>
                  <m:oMath xmlns:m="http://schemas.openxmlformats.org/officeDocument/2006/math">
                    <m:sSub>
                      <m:sSubPr>
                        <m:ctrlPr>
                          <a:rPr lang="ja-JP" altLang="en-US"/>
                        </m:ctrlPr>
                      </m:sSubPr>
                      <m:e>
                        <m:r>
                          <a:rPr lang="ja-JP" altLang="en-US" i="1"/>
                          <m:t>𝑒</m:t>
                        </m:r>
                      </m:e>
                      <m:sub>
                        <m:r>
                          <a:rPr lang="ja-JP" altLang="en-US" i="1"/>
                          <m:t>𝑘</m:t>
                        </m:r>
                      </m:sub>
                    </m:sSub>
                    <m:d>
                      <m:dPr>
                        <m:ctrlPr>
                          <a:rPr lang="ja-JP" altLang="en-US" i="1"/>
                        </m:ctrlPr>
                      </m:dPr>
                      <m:e>
                        <m:r>
                          <a:rPr lang="ja-JP" altLang="en-US" i="1"/>
                          <m:t>𝑡</m:t>
                        </m:r>
                      </m:e>
                    </m:d>
                    <m:r>
                      <a:rPr lang="en-US" altLang="ja-JP"/>
                      <m:t>=</m:t>
                    </m:r>
                    <m:sSup>
                      <m:sSupPr>
                        <m:ctrlPr>
                          <a:rPr lang="ja-JP" altLang="en-US" i="1"/>
                        </m:ctrlPr>
                      </m:sSupPr>
                      <m:e>
                        <m:r>
                          <a:rPr lang="ja-JP" altLang="en-US" i="1"/>
                          <m:t>𝑒</m:t>
                        </m:r>
                      </m:e>
                      <m:sup>
                        <m:r>
                          <a:rPr lang="ja-JP" altLang="en-US" i="1"/>
                          <m:t>𝑖𝑘𝑡</m:t>
                        </m:r>
                      </m:sup>
                    </m:sSup>
                  </m:oMath>
                </a14:m>
                <a:r>
                  <a:rPr lang="zh-CN" altLang="en-US" dirty="0"/>
                  <a:t>。</a:t>
                </a:r>
                <a:r>
                  <a:rPr lang="ja-JP" altLang="ja-JP" dirty="0"/>
                  <a:t>这些函数在合适的区间和内积下是正交的。</a:t>
                </a:r>
              </a:p>
              <a:p>
                <a:pPr marL="0" indent="0">
                  <a:lnSpc>
                    <a:spcPct val="120000"/>
                  </a:lnSpc>
                  <a:buNone/>
                </a:pPr>
                <a:r>
                  <a:rPr lang="ja-JP" altLang="ja-JP" dirty="0"/>
                  <a:t>例如在 </a:t>
                </a:r>
                <a14:m>
                  <m:oMath xmlns:m="http://schemas.openxmlformats.org/officeDocument/2006/math">
                    <m:d>
                      <m:dPr>
                        <m:begChr m:val="["/>
                        <m:endChr m:val="]"/>
                        <m:sepChr m:val=","/>
                        <m:ctrlPr>
                          <a:rPr lang="ja-JP" altLang="en-US"/>
                        </m:ctrlPr>
                      </m:dPr>
                      <m:e>
                        <m:r>
                          <a:rPr lang="ja-JP" altLang="en-US"/>
                          <m:t>−</m:t>
                        </m:r>
                        <m:r>
                          <a:rPr lang="ja-JP" altLang="en-US" i="1">
                            <a:latin typeface="Cambria Math" panose="02040503050406030204" pitchFamily="18" charset="0"/>
                          </a:rPr>
                          <m:t>𝜋</m:t>
                        </m:r>
                      </m:e>
                      <m:e>
                        <m:r>
                          <a:rPr lang="ja-JP" altLang="en-US" i="1"/>
                          <m:t>𝜋</m:t>
                        </m:r>
                      </m:e>
                    </m:d>
                  </m:oMath>
                </a14:m>
                <a:r>
                  <a:rPr lang="ja-JP" altLang="ja-JP" dirty="0"/>
                  <a:t>上：</a:t>
                </a:r>
                <a14:m>
                  <m:oMath xmlns:m="http://schemas.openxmlformats.org/officeDocument/2006/math">
                    <m:d>
                      <m:dPr>
                        <m:begChr m:val="⟨"/>
                        <m:endChr m:val="⟩"/>
                        <m:sepChr m:val=","/>
                        <m:ctrlPr>
                          <a:rPr lang="ja-JP" altLang="en-US"/>
                        </m:ctrlPr>
                      </m:dPr>
                      <m:e>
                        <m:r>
                          <a:rPr lang="ja-JP" altLang="en-US" i="1"/>
                          <m:t>𝑓</m:t>
                        </m:r>
                      </m:e>
                      <m:e>
                        <m:r>
                          <a:rPr lang="ja-JP" altLang="en-US" i="1"/>
                          <m:t>𝑔</m:t>
                        </m:r>
                      </m:e>
                    </m:d>
                    <m:r>
                      <a:rPr lang="en-US" altLang="ja-JP"/>
                      <m:t>=</m:t>
                    </m:r>
                    <m:nary>
                      <m:naryPr>
                        <m:grow m:val="on"/>
                        <m:ctrlPr>
                          <a:rPr lang="ja-JP" altLang="en-US" i="1"/>
                        </m:ctrlPr>
                      </m:naryPr>
                      <m:sub>
                        <m:r>
                          <a:rPr lang="ja-JP" altLang="en-US"/>
                          <m:t>−</m:t>
                        </m:r>
                        <m:r>
                          <a:rPr lang="ja-JP" altLang="en-US" i="1"/>
                          <m:t>𝜋</m:t>
                        </m:r>
                      </m:sub>
                      <m:sup>
                        <m:r>
                          <a:rPr lang="ja-JP" altLang="en-US" i="1"/>
                          <m:t>𝜋</m:t>
                        </m:r>
                      </m:sup>
                      <m:e>
                        <m:r>
                          <a:rPr lang="ja-JP" altLang="en-US" i="1"/>
                          <m:t>𝑓</m:t>
                        </m:r>
                      </m:e>
                    </m:nary>
                    <m:d>
                      <m:dPr>
                        <m:ctrlPr>
                          <a:rPr lang="ja-JP" altLang="en-US" i="1"/>
                        </m:ctrlPr>
                      </m:dPr>
                      <m:e>
                        <m:r>
                          <a:rPr lang="ja-JP" altLang="en-US" i="1"/>
                          <m:t>𝑡</m:t>
                        </m:r>
                      </m:e>
                    </m:d>
                    <m:acc>
                      <m:accPr>
                        <m:chr m:val="̅"/>
                        <m:ctrlPr>
                          <a:rPr lang="ja-JP" altLang="en-US" i="1" smtClean="0">
                            <a:latin typeface="Cambria Math" panose="02040503050406030204" pitchFamily="18" charset="0"/>
                          </a:rPr>
                        </m:ctrlPr>
                      </m:accPr>
                      <m:e>
                        <m:r>
                          <a:rPr lang="ja-JP" altLang="en-US" i="1">
                            <a:latin typeface="Cambria Math" panose="02040503050406030204" pitchFamily="18" charset="0"/>
                          </a:rPr>
                          <m:t>𝑔</m:t>
                        </m:r>
                        <m:d>
                          <m:dPr>
                            <m:ctrlPr>
                              <a:rPr lang="ja-JP" altLang="en-US" i="1">
                                <a:latin typeface="Cambria Math" panose="02040503050406030204" pitchFamily="18" charset="0"/>
                              </a:rPr>
                            </m:ctrlPr>
                          </m:dPr>
                          <m:e>
                            <m:r>
                              <a:rPr lang="ja-JP" altLang="en-US" i="1">
                                <a:latin typeface="Cambria Math" panose="02040503050406030204" pitchFamily="18" charset="0"/>
                              </a:rPr>
                              <m:t>𝑡</m:t>
                            </m:r>
                          </m:e>
                        </m:d>
                      </m:e>
                    </m:acc>
                    <m:r>
                      <m:rPr>
                        <m:nor/>
                      </m:rPr>
                      <a:rPr lang="ja-JP" altLang="en-US" i="1"/>
                      <m:t> </m:t>
                    </m:r>
                    <m:r>
                      <a:rPr lang="ja-JP" altLang="en-US" i="1"/>
                      <m:t>𝑑𝑡</m:t>
                    </m:r>
                  </m:oMath>
                </a14:m>
                <a:r>
                  <a:rPr lang="zh-CN" altLang="en-US" dirty="0"/>
                  <a:t>。</a:t>
                </a:r>
                <a:endParaRPr lang="en-US" altLang="zh-CN" dirty="0"/>
              </a:p>
              <a:p>
                <a:pPr marL="0" indent="0">
                  <a:lnSpc>
                    <a:spcPct val="120000"/>
                  </a:lnSpc>
                  <a:buNone/>
                </a:pPr>
                <a:r>
                  <a:rPr lang="ja-JP" altLang="ja-JP" dirty="0"/>
                  <a:t>如果 </a:t>
                </a:r>
                <a14:m>
                  <m:oMath xmlns:m="http://schemas.openxmlformats.org/officeDocument/2006/math">
                    <m:sSub>
                      <m:sSubPr>
                        <m:ctrlPr>
                          <a:rPr lang="ja-JP" altLang="en-US"/>
                        </m:ctrlPr>
                      </m:sSubPr>
                      <m:e>
                        <m:r>
                          <a:rPr lang="ja-JP" altLang="en-US" i="1"/>
                          <m:t>𝑒</m:t>
                        </m:r>
                      </m:e>
                      <m:sub>
                        <m:r>
                          <a:rPr lang="ja-JP" altLang="en-US" i="1"/>
                          <m:t>𝑘</m:t>
                        </m:r>
                      </m:sub>
                    </m:sSub>
                  </m:oMath>
                </a14:m>
                <a:r>
                  <a:rPr lang="ja-JP" altLang="ja-JP" dirty="0"/>
                  <a:t>和 </a:t>
                </a:r>
                <a14:m>
                  <m:oMath xmlns:m="http://schemas.openxmlformats.org/officeDocument/2006/math">
                    <m:sSub>
                      <m:sSubPr>
                        <m:ctrlPr>
                          <a:rPr lang="ja-JP" altLang="en-US"/>
                        </m:ctrlPr>
                      </m:sSubPr>
                      <m:e>
                        <m:r>
                          <a:rPr lang="ja-JP" altLang="en-US" i="1"/>
                          <m:t>𝑒</m:t>
                        </m:r>
                      </m:e>
                      <m:sub>
                        <m:r>
                          <a:rPr lang="ja-JP" altLang="en-US" i="1"/>
                          <m:t>𝑗</m:t>
                        </m:r>
                      </m:sub>
                    </m:sSub>
                  </m:oMath>
                </a14:m>
                <a:r>
                  <a:rPr lang="ja-JP" altLang="ja-JP" dirty="0"/>
                  <a:t>是不同频率的基函数，那么通常有：</a:t>
                </a:r>
                <a14:m>
                  <m:oMath xmlns:m="http://schemas.openxmlformats.org/officeDocument/2006/math">
                    <m:d>
                      <m:dPr>
                        <m:begChr m:val="⟨"/>
                        <m:endChr m:val="⟩"/>
                        <m:sepChr m:val=","/>
                        <m:ctrlPr>
                          <a:rPr lang="ja-JP" altLang="en-US"/>
                        </m:ctrlPr>
                      </m:dPr>
                      <m:e>
                        <m:sSub>
                          <m:sSubPr>
                            <m:ctrlPr>
                              <a:rPr lang="ja-JP" altLang="en-US" i="1"/>
                            </m:ctrlPr>
                          </m:sSubPr>
                          <m:e>
                            <m:r>
                              <a:rPr lang="ja-JP" altLang="en-US" i="1"/>
                              <m:t>𝑒</m:t>
                            </m:r>
                          </m:e>
                          <m:sub>
                            <m:r>
                              <a:rPr lang="ja-JP" altLang="en-US" i="1"/>
                              <m:t>𝑘</m:t>
                            </m:r>
                          </m:sub>
                        </m:sSub>
                      </m:e>
                      <m:e>
                        <m:sSub>
                          <m:sSubPr>
                            <m:ctrlPr>
                              <a:rPr lang="ja-JP" altLang="en-US" i="1"/>
                            </m:ctrlPr>
                          </m:sSubPr>
                          <m:e>
                            <m:r>
                              <a:rPr lang="ja-JP" altLang="en-US" i="1"/>
                              <m:t>𝑒</m:t>
                            </m:r>
                          </m:e>
                          <m:sub>
                            <m:r>
                              <a:rPr lang="ja-JP" altLang="en-US" i="1"/>
                              <m:t>𝑗</m:t>
                            </m:r>
                          </m:sub>
                        </m:sSub>
                      </m:e>
                    </m:d>
                    <m:r>
                      <a:rPr lang="en-US" altLang="ja-JP"/>
                      <m:t>=</m:t>
                    </m:r>
                    <m:r>
                      <a:rPr lang="en-US" altLang="ja-JP"/>
                      <m:t>0</m:t>
                    </m:r>
                  </m:oMath>
                </a14:m>
                <a:r>
                  <a:rPr lang="en-US" altLang="ja-JP" dirty="0"/>
                  <a:t> </a:t>
                </a:r>
                <a:r>
                  <a:rPr lang="ja-JP" altLang="ja-JP" dirty="0"/>
                  <a:t>这说明不同频率成分彼此正交。</a:t>
                </a:r>
              </a:p>
              <a:p>
                <a:pPr marL="0" indent="0">
                  <a:lnSpc>
                    <a:spcPct val="120000"/>
                  </a:lnSpc>
                  <a:buNone/>
                </a:pPr>
                <a:endParaRPr lang="ja-JP" altLang="ja-JP" dirty="0"/>
              </a:p>
              <a:p>
                <a:pPr marL="0" indent="0">
                  <a:lnSpc>
                    <a:spcPct val="12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E96D97A4-1C11-2D5F-D5FD-40CF32761C62}"/>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448" b="-706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35663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603FA-5090-4DCA-E9B4-E5F7BB1B7AC3}"/>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D9C390E0-4C2D-537C-AFA3-DD976CF00B91}"/>
              </a:ext>
            </a:extLst>
          </p:cNvPr>
          <p:cNvSpPr>
            <a:spLocks noGrp="1" noChangeArrowheads="1"/>
          </p:cNvSpPr>
          <p:nvPr>
            <p:ph type="title"/>
          </p:nvPr>
        </p:nvSpPr>
        <p:spPr/>
        <p:txBody>
          <a:bodyPr/>
          <a:lstStyle/>
          <a:p>
            <a:r>
              <a:rPr lang="ja-JP" altLang="ja-JP" dirty="0"/>
              <a:t>信号分解、Fourier 分解与 PCA</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2302F6F-2190-A720-4866-E8317A4094EF}"/>
                  </a:ext>
                </a:extLst>
              </p:cNvPr>
              <p:cNvSpPr>
                <a:spLocks noGrp="1"/>
              </p:cNvSpPr>
              <p:nvPr>
                <p:ph idx="1"/>
              </p:nvPr>
            </p:nvSpPr>
            <p:spPr>
              <a:xfrm>
                <a:off x="213360" y="1112520"/>
                <a:ext cx="11877040" cy="5440680"/>
              </a:xfrm>
            </p:spPr>
            <p:txBody>
              <a:bodyPr/>
              <a:lstStyle/>
              <a:p>
                <a:pPr>
                  <a:lnSpc>
                    <a:spcPct val="120000"/>
                  </a:lnSpc>
                </a:pPr>
                <a:r>
                  <a:rPr lang="zh-CN" altLang="en-US" dirty="0"/>
                  <a:t>关于系数</a:t>
                </a:r>
                <a:r>
                  <a:rPr lang="ja-JP" altLang="ja-JP" dirty="0"/>
                  <a:t> </a:t>
                </a:r>
                <a14:m>
                  <m:oMath xmlns:m="http://schemas.openxmlformats.org/officeDocument/2006/math">
                    <m:sSub>
                      <m:sSubPr>
                        <m:ctrlPr>
                          <a:rPr lang="ja-JP" altLang="en-US"/>
                        </m:ctrlPr>
                      </m:sSubPr>
                      <m:e>
                        <m:r>
                          <a:rPr lang="ja-JP" altLang="en-US" i="1"/>
                          <m:t>𝑐</m:t>
                        </m:r>
                      </m:e>
                      <m:sub>
                        <m:r>
                          <a:rPr lang="ja-JP" altLang="en-US" i="1"/>
                          <m:t>𝑘</m:t>
                        </m:r>
                      </m:sub>
                    </m:sSub>
                    <m:r>
                      <a:rPr lang="en-US" altLang="ja-JP"/>
                      <m:t>=</m:t>
                    </m:r>
                    <m:d>
                      <m:dPr>
                        <m:begChr m:val="⟨"/>
                        <m:endChr m:val="⟩"/>
                        <m:sepChr m:val=","/>
                        <m:ctrlPr>
                          <a:rPr lang="ja-JP" altLang="en-US" i="1"/>
                        </m:ctrlPr>
                      </m:dPr>
                      <m:e>
                        <m:r>
                          <a:rPr lang="ja-JP" altLang="en-US" i="1"/>
                          <m:t>𝑓</m:t>
                        </m:r>
                      </m:e>
                      <m:e>
                        <m:sSub>
                          <m:sSubPr>
                            <m:ctrlPr>
                              <a:rPr lang="ja-JP" altLang="en-US" i="1"/>
                            </m:ctrlPr>
                          </m:sSubPr>
                          <m:e>
                            <m:r>
                              <a:rPr lang="ja-JP" altLang="en-US" i="1"/>
                              <m:t>𝑒</m:t>
                            </m:r>
                          </m:e>
                          <m:sub>
                            <m:r>
                              <a:rPr lang="ja-JP" altLang="en-US" i="1"/>
                              <m:t>𝑘</m:t>
                            </m:r>
                          </m:sub>
                        </m:sSub>
                      </m:e>
                    </m:d>
                  </m:oMath>
                </a14:m>
                <a:endParaRPr lang="en-US" altLang="ja-JP" dirty="0"/>
              </a:p>
              <a:p>
                <a:pPr marL="0" indent="0">
                  <a:lnSpc>
                    <a:spcPct val="120000"/>
                  </a:lnSpc>
                  <a:buNone/>
                </a:pPr>
                <a:r>
                  <a:rPr lang="ja-JP" altLang="ja-JP" dirty="0"/>
                  <a:t>假设：</a:t>
                </a:r>
                <a14:m>
                  <m:oMath xmlns:m="http://schemas.openxmlformats.org/officeDocument/2006/math">
                    <m:r>
                      <a:rPr lang="ja-JP" altLang="en-US" i="1"/>
                      <m:t>𝑓</m:t>
                    </m:r>
                    <m:d>
                      <m:dPr>
                        <m:ctrlPr>
                          <a:rPr lang="ja-JP" altLang="en-US" i="1"/>
                        </m:ctrlPr>
                      </m:dPr>
                      <m:e>
                        <m:r>
                          <a:rPr lang="ja-JP" altLang="en-US" i="1"/>
                          <m:t>𝑡</m:t>
                        </m:r>
                      </m:e>
                    </m:d>
                    <m:r>
                      <a:rPr lang="en-US" altLang="ja-JP"/>
                      <m:t>=</m:t>
                    </m:r>
                    <m:nary>
                      <m:naryPr>
                        <m:chr m:val="∑"/>
                        <m:grow m:val="on"/>
                        <m:supHide m:val="on"/>
                        <m:ctrlPr>
                          <a:rPr lang="ja-JP" altLang="en-US" i="1"/>
                        </m:ctrlPr>
                      </m:naryPr>
                      <m:sub>
                        <m:r>
                          <a:rPr lang="ja-JP" altLang="en-US" i="1"/>
                          <m:t>𝑘</m:t>
                        </m:r>
                      </m:sub>
                      <m:sup/>
                      <m:e>
                        <m:sSub>
                          <m:sSubPr>
                            <m:ctrlPr>
                              <a:rPr lang="ja-JP" altLang="en-US" i="1"/>
                            </m:ctrlPr>
                          </m:sSubPr>
                          <m:e>
                            <m:r>
                              <a:rPr lang="ja-JP" altLang="en-US" i="1"/>
                              <m:t>𝑐</m:t>
                            </m:r>
                          </m:e>
                          <m:sub>
                            <m:r>
                              <a:rPr lang="ja-JP" altLang="en-US" i="1"/>
                              <m:t>𝑘</m:t>
                            </m:r>
                          </m:sub>
                        </m:sSub>
                      </m:e>
                    </m:nary>
                    <m:sSub>
                      <m:sSubPr>
                        <m:ctrlPr>
                          <a:rPr lang="ja-JP" altLang="en-US" i="1"/>
                        </m:ctrlPr>
                      </m:sSubPr>
                      <m:e>
                        <m:r>
                          <a:rPr lang="ja-JP" altLang="en-US" i="1"/>
                          <m:t>𝑒</m:t>
                        </m:r>
                      </m:e>
                      <m:sub>
                        <m:r>
                          <a:rPr lang="ja-JP" altLang="en-US" i="1"/>
                          <m:t>𝑘</m:t>
                        </m:r>
                      </m:sub>
                    </m:sSub>
                    <m:d>
                      <m:dPr>
                        <m:ctrlPr>
                          <a:rPr lang="ja-JP" altLang="en-US" i="1"/>
                        </m:ctrlPr>
                      </m:dPr>
                      <m:e>
                        <m:r>
                          <a:rPr lang="ja-JP" altLang="en-US" i="1"/>
                          <m:t>𝑡</m:t>
                        </m:r>
                      </m:e>
                    </m:d>
                  </m:oMath>
                </a14:m>
                <a:r>
                  <a:rPr lang="zh-CN" altLang="en-US" dirty="0"/>
                  <a:t>。</a:t>
                </a:r>
                <a:r>
                  <a:rPr lang="ja-JP" altLang="ja-JP" dirty="0"/>
                  <a:t>两边同时和某一个基函数 </a:t>
                </a:r>
                <a14:m>
                  <m:oMath xmlns:m="http://schemas.openxmlformats.org/officeDocument/2006/math">
                    <m:sSub>
                      <m:sSubPr>
                        <m:ctrlPr>
                          <a:rPr lang="ja-JP" altLang="en-US"/>
                        </m:ctrlPr>
                      </m:sSubPr>
                      <m:e>
                        <m:r>
                          <a:rPr lang="ja-JP" altLang="en-US" i="1"/>
                          <m:t>𝑒</m:t>
                        </m:r>
                      </m:e>
                      <m:sub>
                        <m:r>
                          <a:rPr lang="ja-JP" altLang="en-US" i="1"/>
                          <m:t>𝑗</m:t>
                        </m:r>
                      </m:sub>
                    </m:sSub>
                  </m:oMath>
                </a14:m>
                <a:r>
                  <a:rPr lang="ja-JP" altLang="ja-JP" dirty="0"/>
                  <a:t>做内积：</a:t>
                </a:r>
                <a14:m>
                  <m:oMath xmlns:m="http://schemas.openxmlformats.org/officeDocument/2006/math">
                    <m:d>
                      <m:dPr>
                        <m:begChr m:val="⟨"/>
                        <m:endChr m:val="⟩"/>
                        <m:sepChr m:val=","/>
                        <m:ctrlPr>
                          <a:rPr lang="ja-JP" altLang="en-US"/>
                        </m:ctrlPr>
                      </m:dPr>
                      <m:e>
                        <m:r>
                          <a:rPr lang="ja-JP" altLang="en-US" i="1"/>
                          <m:t>𝑓</m:t>
                        </m:r>
                      </m:e>
                      <m:e>
                        <m:sSub>
                          <m:sSubPr>
                            <m:ctrlPr>
                              <a:rPr lang="ja-JP" altLang="en-US" i="1"/>
                            </m:ctrlPr>
                          </m:sSubPr>
                          <m:e>
                            <m:r>
                              <a:rPr lang="ja-JP" altLang="en-US" i="1"/>
                              <m:t>𝑒</m:t>
                            </m:r>
                          </m:e>
                          <m:sub>
                            <m:r>
                              <a:rPr lang="ja-JP" altLang="en-US" i="1"/>
                              <m:t>𝑗</m:t>
                            </m:r>
                          </m:sub>
                        </m:sSub>
                      </m:e>
                    </m:d>
                    <m:r>
                      <a:rPr lang="en-US" altLang="ja-JP"/>
                      <m:t>=</m:t>
                    </m:r>
                    <m:d>
                      <m:dPr>
                        <m:begChr m:val="⟨"/>
                        <m:endChr m:val="⟩"/>
                        <m:sepChr m:val=","/>
                        <m:ctrlPr>
                          <a:rPr lang="ja-JP" altLang="en-US" i="1"/>
                        </m:ctrlPr>
                      </m:dPr>
                      <m:e>
                        <m:nary>
                          <m:naryPr>
                            <m:chr m:val="∑"/>
                            <m:grow m:val="on"/>
                            <m:supHide m:val="on"/>
                            <m:ctrlPr>
                              <a:rPr lang="ja-JP" altLang="en-US" i="1"/>
                            </m:ctrlPr>
                          </m:naryPr>
                          <m:sub>
                            <m:r>
                              <a:rPr lang="ja-JP" altLang="en-US" i="1"/>
                              <m:t>𝑘</m:t>
                            </m:r>
                          </m:sub>
                          <m:sup/>
                          <m:e>
                            <m:sSub>
                              <m:sSubPr>
                                <m:ctrlPr>
                                  <a:rPr lang="ja-JP" altLang="en-US" i="1"/>
                                </m:ctrlPr>
                              </m:sSubPr>
                              <m:e>
                                <m:r>
                                  <a:rPr lang="ja-JP" altLang="en-US" i="1"/>
                                  <m:t>𝑐</m:t>
                                </m:r>
                              </m:e>
                              <m:sub>
                                <m:r>
                                  <a:rPr lang="ja-JP" altLang="en-US" i="1"/>
                                  <m:t>𝑘</m:t>
                                </m:r>
                              </m:sub>
                            </m:sSub>
                          </m:e>
                        </m:nary>
                      </m:e>
                      <m:e>
                        <m:sSub>
                          <m:sSubPr>
                            <m:ctrlPr>
                              <a:rPr lang="ja-JP" altLang="en-US" i="1"/>
                            </m:ctrlPr>
                          </m:sSubPr>
                          <m:e>
                            <m:r>
                              <a:rPr lang="ja-JP" altLang="en-US" i="1"/>
                              <m:t>𝑒</m:t>
                            </m:r>
                          </m:e>
                          <m:sub>
                            <m:r>
                              <a:rPr lang="ja-JP" altLang="en-US" i="1"/>
                              <m:t>𝑘</m:t>
                            </m:r>
                          </m:sub>
                        </m:sSub>
                        <m:sSub>
                          <m:sSubPr>
                            <m:ctrlPr>
                              <a:rPr lang="ja-JP" altLang="en-US" i="1"/>
                            </m:ctrlPr>
                          </m:sSubPr>
                          <m:e>
                            <m:r>
                              <a:rPr lang="ja-JP" altLang="en-US" i="1"/>
                              <m:t>𝑒</m:t>
                            </m:r>
                          </m:e>
                          <m:sub>
                            <m:r>
                              <a:rPr lang="ja-JP" altLang="en-US" i="1"/>
                              <m:t>𝑗</m:t>
                            </m:r>
                          </m:sub>
                        </m:sSub>
                      </m:e>
                    </m:d>
                  </m:oMath>
                </a14:m>
                <a:endParaRPr lang="ja-JP" altLang="en-US" dirty="0"/>
              </a:p>
              <a:p>
                <a:pPr>
                  <a:lnSpc>
                    <a:spcPct val="120000"/>
                  </a:lnSpc>
                </a:pPr>
                <a:r>
                  <a:rPr lang="ja-JP" altLang="ja-JP" dirty="0"/>
                  <a:t>由于内积对加法和数乘是线性的，所以：</a:t>
                </a:r>
                <a14:m>
                  <m:oMath xmlns:m="http://schemas.openxmlformats.org/officeDocument/2006/math">
                    <m:d>
                      <m:dPr>
                        <m:begChr m:val="⟨"/>
                        <m:endChr m:val="⟩"/>
                        <m:sepChr m:val=","/>
                        <m:ctrlPr>
                          <a:rPr lang="ja-JP" altLang="en-US"/>
                        </m:ctrlPr>
                      </m:dPr>
                      <m:e>
                        <m:r>
                          <a:rPr lang="ja-JP" altLang="en-US" i="1"/>
                          <m:t>𝑓</m:t>
                        </m:r>
                      </m:e>
                      <m:e>
                        <m:sSub>
                          <m:sSubPr>
                            <m:ctrlPr>
                              <a:rPr lang="ja-JP" altLang="en-US" i="1"/>
                            </m:ctrlPr>
                          </m:sSubPr>
                          <m:e>
                            <m:r>
                              <a:rPr lang="ja-JP" altLang="en-US" i="1"/>
                              <m:t>𝑒</m:t>
                            </m:r>
                          </m:e>
                          <m:sub>
                            <m:r>
                              <a:rPr lang="ja-JP" altLang="en-US" i="1"/>
                              <m:t>𝑗</m:t>
                            </m:r>
                          </m:sub>
                        </m:sSub>
                      </m:e>
                    </m:d>
                    <m:r>
                      <a:rPr lang="en-US" altLang="ja-JP"/>
                      <m:t>=</m:t>
                    </m:r>
                    <m:nary>
                      <m:naryPr>
                        <m:chr m:val="∑"/>
                        <m:grow m:val="on"/>
                        <m:supHide m:val="on"/>
                        <m:ctrlPr>
                          <a:rPr lang="ja-JP" altLang="en-US" i="1"/>
                        </m:ctrlPr>
                      </m:naryPr>
                      <m:sub>
                        <m:r>
                          <a:rPr lang="ja-JP" altLang="en-US" i="1"/>
                          <m:t>𝑘</m:t>
                        </m:r>
                      </m:sub>
                      <m:sup/>
                      <m:e>
                        <m:sSub>
                          <m:sSubPr>
                            <m:ctrlPr>
                              <a:rPr lang="ja-JP" altLang="en-US" i="1"/>
                            </m:ctrlPr>
                          </m:sSubPr>
                          <m:e>
                            <m:r>
                              <a:rPr lang="ja-JP" altLang="en-US" i="1"/>
                              <m:t>𝑐</m:t>
                            </m:r>
                          </m:e>
                          <m:sub>
                            <m:r>
                              <a:rPr lang="ja-JP" altLang="en-US" i="1"/>
                              <m:t>𝑘</m:t>
                            </m:r>
                          </m:sub>
                        </m:sSub>
                      </m:e>
                    </m:nary>
                    <m:d>
                      <m:dPr>
                        <m:begChr m:val="⟨"/>
                        <m:endChr m:val="⟩"/>
                        <m:sepChr m:val=","/>
                        <m:ctrlPr>
                          <a:rPr lang="ja-JP" altLang="en-US" i="1"/>
                        </m:ctrlPr>
                      </m:dPr>
                      <m:e>
                        <m:sSub>
                          <m:sSubPr>
                            <m:ctrlPr>
                              <a:rPr lang="ja-JP" altLang="en-US" i="1"/>
                            </m:ctrlPr>
                          </m:sSubPr>
                          <m:e>
                            <m:r>
                              <a:rPr lang="ja-JP" altLang="en-US" i="1"/>
                              <m:t>𝑒</m:t>
                            </m:r>
                          </m:e>
                          <m:sub>
                            <m:r>
                              <a:rPr lang="ja-JP" altLang="en-US" i="1"/>
                              <m:t>𝑘</m:t>
                            </m:r>
                          </m:sub>
                        </m:sSub>
                      </m:e>
                      <m:e>
                        <m:sSub>
                          <m:sSubPr>
                            <m:ctrlPr>
                              <a:rPr lang="ja-JP" altLang="en-US" i="1"/>
                            </m:ctrlPr>
                          </m:sSubPr>
                          <m:e>
                            <m:r>
                              <a:rPr lang="ja-JP" altLang="en-US" i="1"/>
                              <m:t>𝑒</m:t>
                            </m:r>
                          </m:e>
                          <m:sub>
                            <m:r>
                              <a:rPr lang="ja-JP" altLang="en-US" i="1"/>
                              <m:t>𝑗</m:t>
                            </m:r>
                          </m:sub>
                        </m:sSub>
                      </m:e>
                    </m:d>
                  </m:oMath>
                </a14:m>
                <a:endParaRPr lang="ja-JP" altLang="en-US" dirty="0"/>
              </a:p>
              <a:p>
                <a:pPr>
                  <a:lnSpc>
                    <a:spcPct val="120000"/>
                  </a:lnSpc>
                </a:pPr>
                <a:r>
                  <a:rPr lang="ja-JP" altLang="ja-JP" dirty="0"/>
                  <a:t>因为 </a:t>
                </a:r>
                <a14:m>
                  <m:oMath xmlns:m="http://schemas.openxmlformats.org/officeDocument/2006/math">
                    <m:d>
                      <m:dPr>
                        <m:begChr m:val="{"/>
                        <m:endChr m:val="}"/>
                        <m:ctrlPr>
                          <a:rPr lang="ja-JP" altLang="en-US"/>
                        </m:ctrlPr>
                      </m:dPr>
                      <m:e>
                        <m:sSub>
                          <m:sSubPr>
                            <m:ctrlPr>
                              <a:rPr lang="ja-JP" altLang="en-US" i="1"/>
                            </m:ctrlPr>
                          </m:sSubPr>
                          <m:e>
                            <m:r>
                              <a:rPr lang="ja-JP" altLang="en-US" i="1"/>
                              <m:t>𝑒</m:t>
                            </m:r>
                          </m:e>
                          <m:sub>
                            <m:r>
                              <a:rPr lang="ja-JP" altLang="en-US" i="1"/>
                              <m:t>𝑘</m:t>
                            </m:r>
                          </m:sub>
                        </m:sSub>
                      </m:e>
                    </m:d>
                  </m:oMath>
                </a14:m>
                <a:r>
                  <a:rPr lang="ja-JP" altLang="ja-JP" dirty="0"/>
                  <a:t>是正交归一基，所以：</a:t>
                </a:r>
                <a:endParaRPr lang="en-US" altLang="ja-JP" dirty="0"/>
              </a:p>
              <a:p>
                <a:pPr marL="0" indent="0">
                  <a:lnSpc>
                    <a:spcPct val="120000"/>
                  </a:lnSpc>
                  <a:buNone/>
                </a:pPr>
                <a14:m>
                  <m:oMathPara xmlns:m="http://schemas.openxmlformats.org/officeDocument/2006/math">
                    <m:oMathParaPr>
                      <m:jc m:val="centerGroup"/>
                    </m:oMathParaPr>
                    <m:oMath xmlns:m="http://schemas.openxmlformats.org/officeDocument/2006/math">
                      <m:d>
                        <m:dPr>
                          <m:begChr m:val="⟨"/>
                          <m:endChr m:val="⟩"/>
                          <m:sepChr m:val=","/>
                          <m:ctrlPr>
                            <a:rPr lang="ja-JP" altLang="en-US"/>
                          </m:ctrlPr>
                        </m:dPr>
                        <m:e>
                          <m:sSub>
                            <m:sSubPr>
                              <m:ctrlPr>
                                <a:rPr lang="ja-JP" altLang="en-US" i="1"/>
                              </m:ctrlPr>
                            </m:sSubPr>
                            <m:e>
                              <m:r>
                                <a:rPr lang="ja-JP" altLang="en-US" i="1"/>
                                <m:t>𝑒</m:t>
                              </m:r>
                            </m:e>
                            <m:sub>
                              <m:r>
                                <a:rPr lang="ja-JP" altLang="en-US" i="1"/>
                                <m:t>𝑘</m:t>
                              </m:r>
                            </m:sub>
                          </m:sSub>
                        </m:e>
                        <m:e>
                          <m:sSub>
                            <m:sSubPr>
                              <m:ctrlPr>
                                <a:rPr lang="ja-JP" altLang="en-US" i="1"/>
                              </m:ctrlPr>
                            </m:sSubPr>
                            <m:e>
                              <m:r>
                                <a:rPr lang="ja-JP" altLang="en-US" i="1"/>
                                <m:t>𝑒</m:t>
                              </m:r>
                            </m:e>
                            <m:sub>
                              <m:r>
                                <a:rPr lang="ja-JP" altLang="en-US" i="1"/>
                                <m:t>𝑗</m:t>
                              </m:r>
                            </m:sub>
                          </m:sSub>
                        </m:e>
                      </m:d>
                      <m:r>
                        <a:rPr lang="en-US" altLang="ja-JP"/>
                        <m:t>=</m:t>
                      </m:r>
                      <m:d>
                        <m:dPr>
                          <m:begChr m:val="{"/>
                          <m:endChr m:val=""/>
                          <m:ctrlPr>
                            <a:rPr lang="ja-JP" altLang="en-US" i="1"/>
                          </m:ctrlPr>
                        </m:dPr>
                        <m:e>
                          <m:m>
                            <m:mPr>
                              <m:plcHide m:val="on"/>
                              <m:mcs>
                                <m:mc>
                                  <m:mcPr>
                                    <m:count m:val="2"/>
                                    <m:mcJc m:val="center"/>
                                  </m:mcPr>
                                </m:mc>
                              </m:mcs>
                              <m:ctrlPr>
                                <a:rPr lang="ja-JP" altLang="en-US" i="1"/>
                              </m:ctrlPr>
                            </m:mPr>
                            <m:mr>
                              <m:e>
                                <m:r>
                                  <a:rPr lang="en-US" altLang="ja-JP"/>
                                  <m:t>1</m:t>
                                </m:r>
                                <m:r>
                                  <a:rPr lang="en-US" altLang="ja-JP"/>
                                  <m:t>,</m:t>
                                </m:r>
                              </m:e>
                              <m:e>
                                <m:r>
                                  <a:rPr lang="ja-JP" altLang="en-US" i="1"/>
                                  <m:t>𝑘</m:t>
                                </m:r>
                                <m:r>
                                  <a:rPr lang="en-US" altLang="ja-JP"/>
                                  <m:t>=</m:t>
                                </m:r>
                                <m:r>
                                  <a:rPr lang="ja-JP" altLang="en-US" i="1"/>
                                  <m:t>𝑗</m:t>
                                </m:r>
                                <m:r>
                                  <a:rPr lang="en-US" altLang="ja-JP"/>
                                  <m:t>,</m:t>
                                </m:r>
                              </m:e>
                            </m:mr>
                            <m:mr>
                              <m:e>
                                <m:r>
                                  <a:rPr lang="en-US" altLang="ja-JP"/>
                                  <m:t>0</m:t>
                                </m:r>
                                <m:r>
                                  <a:rPr lang="en-US" altLang="ja-JP"/>
                                  <m:t>,</m:t>
                                </m:r>
                              </m:e>
                              <m:e>
                                <m:r>
                                  <a:rPr lang="ja-JP" altLang="en-US" i="1"/>
                                  <m:t>𝑘</m:t>
                                </m:r>
                                <m:r>
                                  <a:rPr lang="ja-JP" altLang="en-US"/>
                                  <m:t>≠</m:t>
                                </m:r>
                                <m:r>
                                  <a:rPr lang="ja-JP" altLang="en-US" i="1"/>
                                  <m:t>𝑗</m:t>
                                </m:r>
                                <m:r>
                                  <a:rPr lang="en-US" altLang="ja-JP"/>
                                  <m:t>.</m:t>
                                </m:r>
                              </m:e>
                            </m:mr>
                          </m:m>
                        </m:e>
                      </m:d>
                    </m:oMath>
                  </m:oMathPara>
                </a14:m>
                <a:endParaRPr lang="ja-JP" altLang="en-US" dirty="0"/>
              </a:p>
              <a:p>
                <a:pPr marL="0" indent="0">
                  <a:lnSpc>
                    <a:spcPct val="120000"/>
                  </a:lnSpc>
                  <a:buNone/>
                </a:pPr>
                <a:r>
                  <a:rPr lang="ja-JP" altLang="ja-JP" dirty="0"/>
                  <a:t>只剩下一项：</a:t>
                </a:r>
                <a14:m>
                  <m:oMath xmlns:m="http://schemas.openxmlformats.org/officeDocument/2006/math">
                    <m:d>
                      <m:dPr>
                        <m:begChr m:val="⟨"/>
                        <m:endChr m:val="⟩"/>
                        <m:sepChr m:val=","/>
                        <m:ctrlPr>
                          <a:rPr lang="ja-JP" altLang="en-US"/>
                        </m:ctrlPr>
                      </m:dPr>
                      <m:e>
                        <m:r>
                          <a:rPr lang="ja-JP" altLang="en-US" i="1"/>
                          <m:t>𝑓</m:t>
                        </m:r>
                      </m:e>
                      <m:e>
                        <m:sSub>
                          <m:sSubPr>
                            <m:ctrlPr>
                              <a:rPr lang="ja-JP" altLang="en-US" i="1"/>
                            </m:ctrlPr>
                          </m:sSubPr>
                          <m:e>
                            <m:r>
                              <a:rPr lang="ja-JP" altLang="en-US" i="1"/>
                              <m:t>𝑒</m:t>
                            </m:r>
                          </m:e>
                          <m:sub>
                            <m:r>
                              <a:rPr lang="ja-JP" altLang="en-US" i="1"/>
                              <m:t>𝑗</m:t>
                            </m:r>
                          </m:sub>
                        </m:sSub>
                      </m:e>
                    </m:d>
                    <m:r>
                      <a:rPr lang="en-US" altLang="ja-JP"/>
                      <m:t>=</m:t>
                    </m:r>
                    <m:sSub>
                      <m:sSubPr>
                        <m:ctrlPr>
                          <a:rPr lang="ja-JP" altLang="en-US" i="1"/>
                        </m:ctrlPr>
                      </m:sSubPr>
                      <m:e>
                        <m:r>
                          <a:rPr lang="ja-JP" altLang="en-US" i="1"/>
                          <m:t>𝑐</m:t>
                        </m:r>
                      </m:e>
                      <m:sub>
                        <m:r>
                          <a:rPr lang="ja-JP" altLang="en-US" i="1"/>
                          <m:t>𝑗</m:t>
                        </m:r>
                      </m:sub>
                    </m:sSub>
                  </m:oMath>
                </a14:m>
                <a:r>
                  <a:rPr lang="zh-CN" altLang="en-US" dirty="0"/>
                  <a:t>。</a:t>
                </a:r>
                <a:r>
                  <a:rPr lang="ja-JP" altLang="ja-JP" dirty="0"/>
                  <a:t>所以</a:t>
                </a:r>
                <a14:m>
                  <m:oMath xmlns:m="http://schemas.openxmlformats.org/officeDocument/2006/math">
                    <m:sSub>
                      <m:sSubPr>
                        <m:ctrlPr>
                          <a:rPr lang="ja-JP" altLang="en-US"/>
                        </m:ctrlPr>
                      </m:sSubPr>
                      <m:e>
                        <m:r>
                          <a:rPr lang="ja-JP" altLang="en-US" i="1"/>
                          <m:t>𝑐</m:t>
                        </m:r>
                      </m:e>
                      <m:sub>
                        <m:r>
                          <a:rPr lang="ja-JP" altLang="en-US" i="1"/>
                          <m:t>𝑗</m:t>
                        </m:r>
                      </m:sub>
                    </m:sSub>
                    <m:r>
                      <a:rPr lang="en-US" altLang="ja-JP"/>
                      <m:t>=</m:t>
                    </m:r>
                    <m:d>
                      <m:dPr>
                        <m:begChr m:val="⟨"/>
                        <m:endChr m:val="⟩"/>
                        <m:sepChr m:val=","/>
                        <m:ctrlPr>
                          <a:rPr lang="ja-JP" altLang="en-US" i="1"/>
                        </m:ctrlPr>
                      </m:dPr>
                      <m:e>
                        <m:r>
                          <a:rPr lang="ja-JP" altLang="en-US" i="1"/>
                          <m:t>𝑓</m:t>
                        </m:r>
                      </m:e>
                      <m:e>
                        <m:sSub>
                          <m:sSubPr>
                            <m:ctrlPr>
                              <a:rPr lang="ja-JP" altLang="en-US" i="1"/>
                            </m:ctrlPr>
                          </m:sSubPr>
                          <m:e>
                            <m:r>
                              <a:rPr lang="ja-JP" altLang="en-US" i="1"/>
                              <m:t>𝑒</m:t>
                            </m:r>
                          </m:e>
                          <m:sub>
                            <m:r>
                              <a:rPr lang="ja-JP" altLang="en-US" i="1"/>
                              <m:t>𝑗</m:t>
                            </m:r>
                          </m:sub>
                        </m:sSub>
                      </m:e>
                    </m:d>
                  </m:oMath>
                </a14:m>
                <a:endParaRPr lang="ja-JP" altLang="en-US" dirty="0"/>
              </a:p>
              <a:p>
                <a:pPr marL="0" indent="0">
                  <a:lnSpc>
                    <a:spcPct val="120000"/>
                  </a:lnSpc>
                  <a:buNone/>
                </a:pPr>
                <a:r>
                  <a:rPr lang="ja-JP" altLang="ja-JP" dirty="0"/>
                  <a:t>Fourier 分解可以理解为：</a:t>
                </a:r>
              </a:p>
              <a:p>
                <a:pPr>
                  <a:lnSpc>
                    <a:spcPct val="120000"/>
                  </a:lnSpc>
                </a:pPr>
                <a:r>
                  <a:rPr lang="ja-JP" altLang="ja-JP" dirty="0"/>
                  <a:t>把一个复杂信号拆成很多简单的频率成分。</a:t>
                </a:r>
              </a:p>
              <a:p>
                <a:pPr>
                  <a:lnSpc>
                    <a:spcPct val="120000"/>
                  </a:lnSpc>
                </a:pPr>
                <a:r>
                  <a:rPr lang="ja-JP" altLang="ja-JP" dirty="0"/>
                  <a:t>例如，一个声音信号可以分解为：</a:t>
                </a:r>
                <a14:m>
                  <m:oMath xmlns:m="http://schemas.openxmlformats.org/officeDocument/2006/math">
                    <m:r>
                      <m:rPr>
                        <m:nor/>
                      </m:rPr>
                      <a:rPr lang="ja-JP" altLang="en-US" b="1" smtClean="0">
                        <a:solidFill>
                          <a:srgbClr val="C00000"/>
                        </a:solidFill>
                      </a:rPr>
                      <m:t>低频成分</m:t>
                    </m:r>
                    <m:r>
                      <a:rPr lang="en-US" altLang="ja-JP" b="1" i="0">
                        <a:solidFill>
                          <a:srgbClr val="C00000"/>
                        </a:solidFill>
                      </a:rPr>
                      <m:t>+</m:t>
                    </m:r>
                    <m:r>
                      <m:rPr>
                        <m:nor/>
                      </m:rPr>
                      <a:rPr lang="ja-JP" altLang="en-US" b="1">
                        <a:solidFill>
                          <a:srgbClr val="C00000"/>
                        </a:solidFill>
                      </a:rPr>
                      <m:t>中频成分</m:t>
                    </m:r>
                    <m:r>
                      <a:rPr lang="en-US" altLang="ja-JP" b="1" i="0">
                        <a:solidFill>
                          <a:srgbClr val="C00000"/>
                        </a:solidFill>
                      </a:rPr>
                      <m:t>+</m:t>
                    </m:r>
                    <m:r>
                      <m:rPr>
                        <m:nor/>
                      </m:rPr>
                      <a:rPr lang="ja-JP" altLang="en-US" b="1">
                        <a:solidFill>
                          <a:srgbClr val="C00000"/>
                        </a:solidFill>
                      </a:rPr>
                      <m:t>高频成分</m:t>
                    </m:r>
                    <m:r>
                      <a:rPr lang="zh-CN" altLang="en-US" i="1">
                        <a:latin typeface="Cambria Math" panose="02040503050406030204" pitchFamily="18" charset="0"/>
                      </a:rPr>
                      <m:t>。</m:t>
                    </m:r>
                  </m:oMath>
                </a14:m>
                <a:r>
                  <a:rPr lang="ja-JP" altLang="ja-JP" dirty="0"/>
                  <a:t>每一个 </a:t>
                </a:r>
                <a14:m>
                  <m:oMath xmlns:m="http://schemas.openxmlformats.org/officeDocument/2006/math">
                    <m:sSub>
                      <m:sSubPr>
                        <m:ctrlPr>
                          <a:rPr lang="ja-JP" altLang="en-US"/>
                        </m:ctrlPr>
                      </m:sSubPr>
                      <m:e>
                        <m:r>
                          <a:rPr lang="ja-JP" altLang="en-US" i="1"/>
                          <m:t>𝑐</m:t>
                        </m:r>
                      </m:e>
                      <m:sub>
                        <m:r>
                          <a:rPr lang="ja-JP" altLang="en-US" i="1"/>
                          <m:t>𝑘</m:t>
                        </m:r>
                      </m:sub>
                    </m:sSub>
                  </m:oMath>
                </a14:m>
                <a:r>
                  <a:rPr lang="ja-JP" altLang="ja-JP" dirty="0"/>
                  <a:t>表示信号在第 </a:t>
                </a:r>
                <a14:m>
                  <m:oMath xmlns:m="http://schemas.openxmlformats.org/officeDocument/2006/math">
                    <m:r>
                      <a:rPr lang="ja-JP" altLang="en-US" i="1"/>
                      <m:t>𝑘</m:t>
                    </m:r>
                  </m:oMath>
                </a14:m>
                <a:r>
                  <a:rPr lang="ja-JP" altLang="ja-JP" dirty="0"/>
                  <a:t>个频率方向上的投影强度。</a:t>
                </a:r>
              </a:p>
              <a:p>
                <a:pPr>
                  <a:lnSpc>
                    <a:spcPct val="120000"/>
                  </a:lnSpc>
                </a:pPr>
                <a14:m>
                  <m:oMath xmlns:m="http://schemas.openxmlformats.org/officeDocument/2006/math">
                    <m:sSub>
                      <m:sSubPr>
                        <m:ctrlPr>
                          <a:rPr lang="ja-JP" altLang="en-US"/>
                        </m:ctrlPr>
                      </m:sSubPr>
                      <m:e>
                        <m:r>
                          <a:rPr lang="ja-JP" altLang="en-US" i="1"/>
                          <m:t>𝑐</m:t>
                        </m:r>
                      </m:e>
                      <m:sub>
                        <m:r>
                          <a:rPr lang="ja-JP" altLang="en-US" i="1"/>
                          <m:t>𝑘</m:t>
                        </m:r>
                      </m:sub>
                    </m:sSub>
                    <m:r>
                      <a:rPr lang="en-US" altLang="ja-JP"/>
                      <m:t>=</m:t>
                    </m:r>
                    <m:d>
                      <m:dPr>
                        <m:begChr m:val="⟨"/>
                        <m:endChr m:val="⟩"/>
                        <m:sepChr m:val=","/>
                        <m:ctrlPr>
                          <a:rPr lang="ja-JP" altLang="en-US" i="1"/>
                        </m:ctrlPr>
                      </m:dPr>
                      <m:e>
                        <m:r>
                          <a:rPr lang="ja-JP" altLang="en-US" i="1"/>
                          <m:t>𝑓</m:t>
                        </m:r>
                      </m:e>
                      <m:e>
                        <m:sSub>
                          <m:sSubPr>
                            <m:ctrlPr>
                              <a:rPr lang="ja-JP" altLang="en-US" i="1"/>
                            </m:ctrlPr>
                          </m:sSubPr>
                          <m:e>
                            <m:r>
                              <a:rPr lang="ja-JP" altLang="en-US" i="1"/>
                              <m:t>𝑒</m:t>
                            </m:r>
                          </m:e>
                          <m:sub>
                            <m:r>
                              <a:rPr lang="ja-JP" altLang="en-US" i="1"/>
                              <m:t>𝑘</m:t>
                            </m:r>
                          </m:sub>
                        </m:sSub>
                      </m:e>
                    </m:d>
                  </m:oMath>
                </a14:m>
                <a:r>
                  <a:rPr lang="ja-JP" altLang="ja-JP" dirty="0"/>
                  <a:t>可以理解为：信号 </a:t>
                </a:r>
                <a14:m>
                  <m:oMath xmlns:m="http://schemas.openxmlformats.org/officeDocument/2006/math">
                    <m:r>
                      <a:rPr lang="ja-JP" altLang="en-US" i="1"/>
                      <m:t>𝑓</m:t>
                    </m:r>
                  </m:oMath>
                </a14:m>
                <a:r>
                  <a:rPr lang="ja-JP" altLang="ja-JP" dirty="0"/>
                  <a:t>在频率基 </a:t>
                </a:r>
                <a14:m>
                  <m:oMath xmlns:m="http://schemas.openxmlformats.org/officeDocument/2006/math">
                    <m:sSub>
                      <m:sSubPr>
                        <m:ctrlPr>
                          <a:rPr lang="ja-JP" altLang="en-US"/>
                        </m:ctrlPr>
                      </m:sSubPr>
                      <m:e>
                        <m:r>
                          <a:rPr lang="ja-JP" altLang="en-US" i="1"/>
                          <m:t>𝑒</m:t>
                        </m:r>
                      </m:e>
                      <m:sub>
                        <m:r>
                          <a:rPr lang="ja-JP" altLang="en-US" i="1"/>
                          <m:t>𝑘</m:t>
                        </m:r>
                      </m:sub>
                    </m:sSub>
                  </m:oMath>
                </a14:m>
                <a:r>
                  <a:rPr lang="ja-JP" altLang="ja-JP" dirty="0"/>
                  <a:t>上的投影系数。如果 </a:t>
                </a:r>
                <a14:m>
                  <m:oMath xmlns:m="http://schemas.openxmlformats.org/officeDocument/2006/math">
                    <m:sSub>
                      <m:sSubPr>
                        <m:ctrlPr>
                          <a:rPr lang="ja-JP" altLang="en-US"/>
                        </m:ctrlPr>
                      </m:sSubPr>
                      <m:e>
                        <m:r>
                          <a:rPr lang="ja-JP" altLang="en-US" i="1"/>
                          <m:t>𝑐</m:t>
                        </m:r>
                      </m:e>
                      <m:sub>
                        <m:r>
                          <a:rPr lang="ja-JP" altLang="en-US" i="1"/>
                          <m:t>𝑘</m:t>
                        </m:r>
                      </m:sub>
                    </m:sSub>
                  </m:oMath>
                </a14:m>
                <a:r>
                  <a:rPr lang="ja-JP" altLang="ja-JP" dirty="0"/>
                  <a:t>很大，说明这个频率成分在信号中很重要。如果 </a:t>
                </a:r>
                <a14:m>
                  <m:oMath xmlns:m="http://schemas.openxmlformats.org/officeDocument/2006/math">
                    <m:sSub>
                      <m:sSubPr>
                        <m:ctrlPr>
                          <a:rPr lang="ja-JP" altLang="en-US"/>
                        </m:ctrlPr>
                      </m:sSubPr>
                      <m:e>
                        <m:r>
                          <a:rPr lang="ja-JP" altLang="en-US" i="1"/>
                          <m:t>𝑐</m:t>
                        </m:r>
                      </m:e>
                      <m:sub>
                        <m:r>
                          <a:rPr lang="ja-JP" altLang="en-US" i="1"/>
                          <m:t>𝑘</m:t>
                        </m:r>
                      </m:sub>
                    </m:sSub>
                  </m:oMath>
                </a14:m>
                <a:r>
                  <a:rPr lang="ja-JP" altLang="ja-JP" dirty="0"/>
                  <a:t>很小，说明这个频率成分不明显。</a:t>
                </a:r>
              </a:p>
              <a:p>
                <a:pPr marL="0" indent="0">
                  <a:lnSpc>
                    <a:spcPct val="12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C2302F6F-2190-A720-4866-E8317A4094EF}"/>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448" r="-308" b="-414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76514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49DDB-80D9-A0A0-3E48-EE84C36E9BCB}"/>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3A9BAAB1-F366-41CF-FBF9-82EC88D92A5F}"/>
              </a:ext>
            </a:extLst>
          </p:cNvPr>
          <p:cNvSpPr>
            <a:spLocks noGrp="1" noChangeArrowheads="1"/>
          </p:cNvSpPr>
          <p:nvPr>
            <p:ph type="title"/>
          </p:nvPr>
        </p:nvSpPr>
        <p:spPr/>
        <p:txBody>
          <a:bodyPr/>
          <a:lstStyle/>
          <a:p>
            <a:r>
              <a:rPr lang="ja-JP" altLang="ja-JP" dirty="0"/>
              <a:t>Fourier 分解与机器学习的联系</a:t>
            </a:r>
            <a:endParaRPr lang="ja-JP" altLang="en-US" b="1" dirty="0">
              <a:latin typeface="+mj-ea"/>
            </a:endParaRPr>
          </a:p>
        </p:txBody>
      </p:sp>
      <p:pic>
        <p:nvPicPr>
          <p:cNvPr id="4" name="図 3">
            <a:extLst>
              <a:ext uri="{FF2B5EF4-FFF2-40B4-BE49-F238E27FC236}">
                <a16:creationId xmlns:a16="http://schemas.microsoft.com/office/drawing/2014/main" id="{A89F5180-D026-8F5F-6530-EBDA381CE41C}"/>
              </a:ext>
            </a:extLst>
          </p:cNvPr>
          <p:cNvPicPr>
            <a:picLocks noChangeAspect="1"/>
          </p:cNvPicPr>
          <p:nvPr/>
        </p:nvPicPr>
        <p:blipFill>
          <a:blip r:embed="rId3"/>
          <a:stretch>
            <a:fillRect/>
          </a:stretch>
        </p:blipFill>
        <p:spPr>
          <a:xfrm>
            <a:off x="1192695" y="990600"/>
            <a:ext cx="8503980" cy="5727170"/>
          </a:xfrm>
          <a:prstGeom prst="rect">
            <a:avLst/>
          </a:prstGeom>
        </p:spPr>
      </p:pic>
    </p:spTree>
    <p:extLst>
      <p:ext uri="{BB962C8B-B14F-4D97-AF65-F5344CB8AC3E}">
        <p14:creationId xmlns:p14="http://schemas.microsoft.com/office/powerpoint/2010/main" val="745635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1177-A93A-6D63-053E-CCED84E60F77}"/>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41708F4D-8584-9EC6-FB26-6321B54C0918}"/>
              </a:ext>
            </a:extLst>
          </p:cNvPr>
          <p:cNvSpPr>
            <a:spLocks noGrp="1" noChangeArrowheads="1"/>
          </p:cNvSpPr>
          <p:nvPr>
            <p:ph type="title"/>
          </p:nvPr>
        </p:nvSpPr>
        <p:spPr/>
        <p:txBody>
          <a:bodyPr/>
          <a:lstStyle/>
          <a:p>
            <a:r>
              <a:rPr lang="ja-JP" altLang="ja-JP" b="1" dirty="0"/>
              <a:t>PCA</a:t>
            </a:r>
            <a:r>
              <a:rPr lang="en-US" altLang="ja-JP" b="1" dirty="0"/>
              <a:t> </a:t>
            </a:r>
            <a:r>
              <a:rPr lang="zh-CN" altLang="en-US" b="1" dirty="0"/>
              <a:t>主成分分析</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39DD495-0303-0AC4-B3D4-2F712D02501B}"/>
                  </a:ext>
                </a:extLst>
              </p:cNvPr>
              <p:cNvSpPr>
                <a:spLocks noGrp="1"/>
              </p:cNvSpPr>
              <p:nvPr>
                <p:ph idx="1"/>
              </p:nvPr>
            </p:nvSpPr>
            <p:spPr>
              <a:xfrm>
                <a:off x="213360" y="1112520"/>
                <a:ext cx="11877040" cy="5440680"/>
              </a:xfrm>
            </p:spPr>
            <p:txBody>
              <a:bodyPr/>
              <a:lstStyle/>
              <a:p>
                <a:pPr marL="0" indent="0">
                  <a:lnSpc>
                    <a:spcPct val="110000"/>
                  </a:lnSpc>
                  <a:buNone/>
                </a:pPr>
                <a:r>
                  <a:rPr lang="ja-JP" altLang="ja-JP" dirty="0"/>
                  <a:t>PCA，即主成分分析，也可以看成 Hilbert 空间中的正交分解。Fourier 的基通常是事先固定好的；PCA 的基是从数据中学习出来的。</a:t>
                </a:r>
                <a:br>
                  <a:rPr lang="ja-JP" altLang="ja-JP" dirty="0"/>
                </a:br>
                <a:endParaRPr lang="en-US" altLang="ja-JP" dirty="0"/>
              </a:p>
              <a:p>
                <a:pPr marL="0" indent="0">
                  <a:lnSpc>
                    <a:spcPct val="110000"/>
                  </a:lnSpc>
                  <a:buNone/>
                </a:pPr>
                <a:r>
                  <a:rPr lang="ja-JP" altLang="ja-JP" b="1" dirty="0"/>
                  <a:t>PCA 处理的对象</a:t>
                </a:r>
              </a:p>
              <a:p>
                <a:pPr>
                  <a:lnSpc>
                    <a:spcPct val="110000"/>
                  </a:lnSpc>
                </a:pPr>
                <a:r>
                  <a:rPr lang="ja-JP" altLang="ja-JP" dirty="0"/>
                  <a:t>假设有很多数据点：</a:t>
                </a:r>
                <a14:m>
                  <m:oMath xmlns:m="http://schemas.openxmlformats.org/officeDocument/2006/math">
                    <m:sSub>
                      <m:sSubPr>
                        <m:ctrlPr>
                          <a:rPr lang="ja-JP" altLang="en-US"/>
                        </m:ctrlPr>
                      </m:sSubPr>
                      <m:e>
                        <m:r>
                          <a:rPr lang="ja-JP" altLang="en-US" i="1"/>
                          <m:t>𝑥</m:t>
                        </m:r>
                      </m:e>
                      <m:sub>
                        <m:r>
                          <a:rPr lang="en-US" altLang="ja-JP"/>
                          <m:t>1</m:t>
                        </m:r>
                      </m:sub>
                    </m:sSub>
                    <m:r>
                      <a:rPr lang="en-US" altLang="ja-JP"/>
                      <m:t>,</m:t>
                    </m:r>
                    <m:sSub>
                      <m:sSubPr>
                        <m:ctrlPr>
                          <a:rPr lang="ja-JP" altLang="en-US" i="1"/>
                        </m:ctrlPr>
                      </m:sSubPr>
                      <m:e>
                        <m:r>
                          <a:rPr lang="ja-JP" altLang="en-US" i="1"/>
                          <m:t>𝑥</m:t>
                        </m:r>
                      </m:e>
                      <m:sub>
                        <m:r>
                          <a:rPr lang="en-US" altLang="ja-JP"/>
                          <m:t>2</m:t>
                        </m:r>
                      </m:sub>
                    </m:sSub>
                    <m:r>
                      <a:rPr lang="en-US" altLang="ja-JP"/>
                      <m:t>,…,</m:t>
                    </m:r>
                    <m:sSub>
                      <m:sSubPr>
                        <m:ctrlPr>
                          <a:rPr lang="ja-JP" altLang="en-US" i="1"/>
                        </m:ctrlPr>
                      </m:sSubPr>
                      <m:e>
                        <m:r>
                          <a:rPr lang="ja-JP" altLang="en-US" i="1"/>
                          <m:t>𝑥</m:t>
                        </m:r>
                      </m:e>
                      <m:sub>
                        <m:r>
                          <a:rPr lang="ja-JP" altLang="en-US" i="1"/>
                          <m:t>𝑛</m:t>
                        </m:r>
                      </m:sub>
                    </m:sSub>
                    <m:r>
                      <a:rPr lang="ja-JP" altLang="en-US"/>
                      <m:t>∈</m:t>
                    </m:r>
                    <m:sSup>
                      <m:sSupPr>
                        <m:ctrlPr>
                          <a:rPr lang="ja-JP" altLang="en-US" i="1"/>
                        </m:ctrlPr>
                      </m:sSupPr>
                      <m:e>
                        <m:r>
                          <a:rPr lang="en-US" altLang="ja-JP"/>
                          <m:t>ℝ</m:t>
                        </m:r>
                      </m:e>
                      <m:sup>
                        <m:r>
                          <a:rPr lang="ja-JP" altLang="en-US" i="1"/>
                          <m:t>𝑑</m:t>
                        </m:r>
                      </m:sup>
                    </m:sSup>
                  </m:oMath>
                </a14:m>
                <a:r>
                  <a:rPr lang="zh-CN" altLang="en-US" dirty="0"/>
                  <a:t>。</a:t>
                </a:r>
                <a:r>
                  <a:rPr lang="ja-JP" altLang="ja-JP" dirty="0"/>
                  <a:t>例如，每个学生有数学、英语、编程、物理等成绩，那么每个学生可以表示为一个向量：</a:t>
                </a:r>
                <a14:m>
                  <m:oMath xmlns:m="http://schemas.openxmlformats.org/officeDocument/2006/math">
                    <m:sSub>
                      <m:sSubPr>
                        <m:ctrlPr>
                          <a:rPr lang="ja-JP" altLang="en-US"/>
                        </m:ctrlPr>
                      </m:sSubPr>
                      <m:e>
                        <m:r>
                          <a:rPr lang="ja-JP" altLang="en-US" i="1"/>
                          <m:t>𝑥</m:t>
                        </m:r>
                      </m:e>
                      <m:sub>
                        <m:r>
                          <a:rPr lang="ja-JP" altLang="en-US" i="1"/>
                          <m:t>𝑖</m:t>
                        </m:r>
                      </m:sub>
                    </m:sSub>
                    <m:r>
                      <a:rPr lang="en-US" altLang="ja-JP"/>
                      <m:t>=</m:t>
                    </m:r>
                    <m:d>
                      <m:dPr>
                        <m:sepChr m:val=","/>
                        <m:ctrlPr>
                          <a:rPr lang="ja-JP" altLang="en-US" i="1"/>
                        </m:ctrlPr>
                      </m:dPr>
                      <m:e>
                        <m:sSub>
                          <m:sSubPr>
                            <m:ctrlPr>
                              <a:rPr lang="ja-JP" altLang="en-US" i="1"/>
                            </m:ctrlPr>
                          </m:sSubPr>
                          <m:e>
                            <m:r>
                              <a:rPr lang="ja-JP" altLang="en-US" i="1"/>
                              <m:t>𝑥</m:t>
                            </m:r>
                          </m:e>
                          <m:sub>
                            <m:r>
                              <a:rPr lang="ja-JP" altLang="en-US" i="1"/>
                              <m:t>𝑖</m:t>
                            </m:r>
                            <m:r>
                              <a:rPr lang="en-US" altLang="ja-JP"/>
                              <m:t>1</m:t>
                            </m:r>
                          </m:sub>
                        </m:sSub>
                      </m:e>
                      <m:e>
                        <m:sSub>
                          <m:sSubPr>
                            <m:ctrlPr>
                              <a:rPr lang="ja-JP" altLang="en-US" i="1"/>
                            </m:ctrlPr>
                          </m:sSubPr>
                          <m:e>
                            <m:r>
                              <a:rPr lang="ja-JP" altLang="en-US" i="1"/>
                              <m:t>𝑥</m:t>
                            </m:r>
                          </m:e>
                          <m:sub>
                            <m:r>
                              <a:rPr lang="ja-JP" altLang="en-US" i="1"/>
                              <m:t>𝑖</m:t>
                            </m:r>
                            <m:r>
                              <a:rPr lang="en-US" altLang="ja-JP"/>
                              <m:t>2</m:t>
                            </m:r>
                          </m:sub>
                        </m:sSub>
                      </m:e>
                      <m:e>
                        <m:r>
                          <a:rPr lang="en-US" altLang="ja-JP"/>
                          <m:t>…</m:t>
                        </m:r>
                      </m:e>
                      <m:e>
                        <m:sSub>
                          <m:sSubPr>
                            <m:ctrlPr>
                              <a:rPr lang="ja-JP" altLang="en-US" i="1"/>
                            </m:ctrlPr>
                          </m:sSubPr>
                          <m:e>
                            <m:r>
                              <a:rPr lang="ja-JP" altLang="en-US" i="1"/>
                              <m:t>𝑥</m:t>
                            </m:r>
                          </m:e>
                          <m:sub>
                            <m:r>
                              <a:rPr lang="ja-JP" altLang="en-US" i="1"/>
                              <m:t>𝑖𝑑</m:t>
                            </m:r>
                          </m:sub>
                        </m:sSub>
                      </m:e>
                    </m:d>
                  </m:oMath>
                </a14:m>
                <a:r>
                  <a:rPr lang="zh-CN" altLang="en-US" dirty="0"/>
                  <a:t>，</a:t>
                </a:r>
                <a:r>
                  <a:rPr lang="ja-JP" altLang="ja-JP" dirty="0"/>
                  <a:t>这些数据点位于 </a:t>
                </a:r>
                <a14:m>
                  <m:oMath xmlns:m="http://schemas.openxmlformats.org/officeDocument/2006/math">
                    <m:sSup>
                      <m:sSupPr>
                        <m:ctrlPr>
                          <a:rPr lang="ja-JP" altLang="en-US"/>
                        </m:ctrlPr>
                      </m:sSupPr>
                      <m:e>
                        <m:r>
                          <a:rPr lang="en-US" altLang="ja-JP"/>
                          <m:t>ℝ</m:t>
                        </m:r>
                      </m:e>
                      <m:sup>
                        <m:r>
                          <a:rPr lang="ja-JP" altLang="en-US" i="1"/>
                          <m:t>𝑑</m:t>
                        </m:r>
                      </m:sup>
                    </m:sSup>
                  </m:oMath>
                </a14:m>
                <a:r>
                  <a:rPr lang="ja-JP" altLang="ja-JP" dirty="0"/>
                  <a:t>中。</a:t>
                </a:r>
              </a:p>
              <a:p>
                <a:pPr>
                  <a:lnSpc>
                    <a:spcPct val="110000"/>
                  </a:lnSpc>
                </a:pPr>
                <a14:m>
                  <m:oMath xmlns:m="http://schemas.openxmlformats.org/officeDocument/2006/math">
                    <m:sSup>
                      <m:sSupPr>
                        <m:ctrlPr>
                          <a:rPr lang="ja-JP" altLang="en-US"/>
                        </m:ctrlPr>
                      </m:sSupPr>
                      <m:e>
                        <m:r>
                          <a:rPr lang="en-US" altLang="ja-JP"/>
                          <m:t>ℝ</m:t>
                        </m:r>
                      </m:e>
                      <m:sup>
                        <m:r>
                          <a:rPr lang="ja-JP" altLang="en-US" i="1"/>
                          <m:t>𝑑</m:t>
                        </m:r>
                      </m:sup>
                    </m:sSup>
                  </m:oMath>
                </a14:m>
                <a:r>
                  <a:rPr lang="ja-JP" altLang="ja-JP" dirty="0"/>
                  <a:t>本身就是一个 Hilbert 空间，因为它有标准内积：</a:t>
                </a:r>
                <a14:m>
                  <m:oMath xmlns:m="http://schemas.openxmlformats.org/officeDocument/2006/math">
                    <m:d>
                      <m:dPr>
                        <m:begChr m:val="⟨"/>
                        <m:endChr m:val="⟩"/>
                        <m:sepChr m:val=","/>
                        <m:ctrlPr>
                          <a:rPr lang="ja-JP" altLang="en-US"/>
                        </m:ctrlPr>
                      </m:dPr>
                      <m:e>
                        <m:r>
                          <a:rPr lang="ja-JP" altLang="en-US" i="1"/>
                          <m:t>𝑥</m:t>
                        </m:r>
                      </m:e>
                      <m:e>
                        <m:r>
                          <a:rPr lang="ja-JP" altLang="en-US" i="1"/>
                          <m:t>𝑦</m:t>
                        </m:r>
                      </m:e>
                    </m:d>
                    <m:r>
                      <a:rPr lang="en-US" altLang="ja-JP"/>
                      <m:t>=</m:t>
                    </m:r>
                    <m:sSup>
                      <m:sSupPr>
                        <m:ctrlPr>
                          <a:rPr lang="ja-JP" altLang="en-US" i="1"/>
                        </m:ctrlPr>
                      </m:sSupPr>
                      <m:e>
                        <m:r>
                          <a:rPr lang="ja-JP" altLang="en-US" i="1"/>
                          <m:t>𝑥</m:t>
                        </m:r>
                      </m:e>
                      <m:sup>
                        <m:r>
                          <a:rPr lang="ja-JP" altLang="en-US"/>
                          <m:t>⊤</m:t>
                        </m:r>
                      </m:sup>
                    </m:sSup>
                    <m:r>
                      <a:rPr lang="ja-JP" altLang="en-US" i="1"/>
                      <m:t>𝑦</m:t>
                    </m:r>
                    <m:r>
                      <a:rPr lang="en-US" altLang="ja-JP"/>
                      <m:t>=</m:t>
                    </m:r>
                    <m:nary>
                      <m:naryPr>
                        <m:chr m:val="∑"/>
                        <m:grow m:val="on"/>
                        <m:ctrlPr>
                          <a:rPr lang="ja-JP" altLang="en-US" i="1"/>
                        </m:ctrlPr>
                      </m:naryPr>
                      <m:sub>
                        <m:r>
                          <a:rPr lang="ja-JP" altLang="en-US" i="1"/>
                          <m:t>𝑗</m:t>
                        </m:r>
                        <m:r>
                          <a:rPr lang="en-US" altLang="ja-JP"/>
                          <m:t>=1</m:t>
                        </m:r>
                      </m:sub>
                      <m:sup>
                        <m:r>
                          <a:rPr lang="ja-JP" altLang="en-US" i="1"/>
                          <m:t>𝑑</m:t>
                        </m:r>
                      </m:sup>
                      <m:e>
                        <m:sSub>
                          <m:sSubPr>
                            <m:ctrlPr>
                              <a:rPr lang="ja-JP" altLang="en-US" i="1"/>
                            </m:ctrlPr>
                          </m:sSubPr>
                          <m:e>
                            <m:r>
                              <a:rPr lang="ja-JP" altLang="en-US" i="1"/>
                              <m:t>𝑥</m:t>
                            </m:r>
                          </m:e>
                          <m:sub>
                            <m:r>
                              <a:rPr lang="ja-JP" altLang="en-US" i="1"/>
                              <m:t>𝑗</m:t>
                            </m:r>
                          </m:sub>
                        </m:sSub>
                      </m:e>
                    </m:nary>
                    <m:sSub>
                      <m:sSubPr>
                        <m:ctrlPr>
                          <a:rPr lang="ja-JP" altLang="en-US" i="1"/>
                        </m:ctrlPr>
                      </m:sSubPr>
                      <m:e>
                        <m:r>
                          <a:rPr lang="ja-JP" altLang="en-US" i="1"/>
                          <m:t>𝑦</m:t>
                        </m:r>
                      </m:e>
                      <m:sub>
                        <m:r>
                          <a:rPr lang="ja-JP" altLang="en-US" i="1"/>
                          <m:t>𝑗</m:t>
                        </m:r>
                      </m:sub>
                    </m:sSub>
                    <m:r>
                      <a:rPr lang="zh-CN" altLang="en-US" i="1">
                        <a:latin typeface="Cambria Math" panose="02040503050406030204" pitchFamily="18" charset="0"/>
                      </a:rPr>
                      <m:t>。</m:t>
                    </m:r>
                  </m:oMath>
                </a14:m>
                <a:r>
                  <a:rPr lang="ja-JP" altLang="ja-JP" dirty="0"/>
                  <a:t>所以 PCA 实际上是在有限维 Hilbert 空间中做正交分解。</a:t>
                </a:r>
              </a:p>
              <a:p>
                <a:pPr marL="0" indent="0">
                  <a:lnSpc>
                    <a:spcPct val="110000"/>
                  </a:lnSpc>
                  <a:buNone/>
                </a:pPr>
                <a:r>
                  <a:rPr lang="ja-JP" altLang="ja-JP" b="1" dirty="0"/>
                  <a:t>目标</a:t>
                </a:r>
              </a:p>
              <a:p>
                <a:pPr>
                  <a:lnSpc>
                    <a:spcPct val="110000"/>
                  </a:lnSpc>
                </a:pPr>
                <a:r>
                  <a:rPr lang="ja-JP" altLang="ja-JP" dirty="0"/>
                  <a:t>PCA 的目标是找到一组方向：</a:t>
                </a:r>
                <a14:m>
                  <m:oMath xmlns:m="http://schemas.openxmlformats.org/officeDocument/2006/math">
                    <m:sSub>
                      <m:sSubPr>
                        <m:ctrlPr>
                          <a:rPr lang="ja-JP" altLang="en-US"/>
                        </m:ctrlPr>
                      </m:sSubPr>
                      <m:e>
                        <m:r>
                          <a:rPr lang="ja-JP" altLang="en-US" i="1"/>
                          <m:t>𝑢</m:t>
                        </m:r>
                      </m:e>
                      <m:sub>
                        <m:r>
                          <a:rPr lang="en-US" altLang="ja-JP"/>
                          <m:t>1</m:t>
                        </m:r>
                      </m:sub>
                    </m:sSub>
                    <m:r>
                      <a:rPr lang="en-US" altLang="ja-JP"/>
                      <m:t>,</m:t>
                    </m:r>
                    <m:sSub>
                      <m:sSubPr>
                        <m:ctrlPr>
                          <a:rPr lang="ja-JP" altLang="en-US" i="1"/>
                        </m:ctrlPr>
                      </m:sSubPr>
                      <m:e>
                        <m:r>
                          <a:rPr lang="ja-JP" altLang="en-US" i="1"/>
                          <m:t>𝑢</m:t>
                        </m:r>
                      </m:e>
                      <m:sub>
                        <m:r>
                          <a:rPr lang="en-US" altLang="ja-JP"/>
                          <m:t>2</m:t>
                        </m:r>
                      </m:sub>
                    </m:sSub>
                    <m:r>
                      <a:rPr lang="en-US" altLang="ja-JP"/>
                      <m:t>,…,</m:t>
                    </m:r>
                    <m:sSub>
                      <m:sSubPr>
                        <m:ctrlPr>
                          <a:rPr lang="ja-JP" altLang="en-US" i="1"/>
                        </m:ctrlPr>
                      </m:sSubPr>
                      <m:e>
                        <m:r>
                          <a:rPr lang="ja-JP" altLang="en-US" i="1"/>
                          <m:t>𝑢</m:t>
                        </m:r>
                      </m:e>
                      <m:sub>
                        <m:r>
                          <a:rPr lang="ja-JP" altLang="en-US" i="1"/>
                          <m:t>𝑚</m:t>
                        </m:r>
                      </m:sub>
                    </m:sSub>
                  </m:oMath>
                </a14:m>
                <a:r>
                  <a:rPr lang="zh-CN" altLang="en-US" dirty="0"/>
                  <a:t>，</a:t>
                </a:r>
                <a:r>
                  <a:rPr lang="ja-JP" altLang="ja-JP" dirty="0">
                    <a:solidFill>
                      <a:srgbClr val="C00000"/>
                    </a:solidFill>
                  </a:rPr>
                  <a:t>使得数据投影到这些方向后，能够尽可能保留原始数据的信息</a:t>
                </a:r>
                <a:r>
                  <a:rPr lang="ja-JP" altLang="ja-JP" dirty="0"/>
                  <a:t>。其中第一个主成分方向 </a:t>
                </a:r>
                <a14:m>
                  <m:oMath xmlns:m="http://schemas.openxmlformats.org/officeDocument/2006/math">
                    <m:sSub>
                      <m:sSubPr>
                        <m:ctrlPr>
                          <a:rPr lang="ja-JP" altLang="en-US"/>
                        </m:ctrlPr>
                      </m:sSubPr>
                      <m:e>
                        <m:r>
                          <a:rPr lang="ja-JP" altLang="en-US" i="1"/>
                          <m:t>𝑢</m:t>
                        </m:r>
                      </m:e>
                      <m:sub>
                        <m:r>
                          <a:rPr lang="en-US" altLang="ja-JP"/>
                          <m:t>1</m:t>
                        </m:r>
                      </m:sub>
                    </m:sSub>
                  </m:oMath>
                </a14:m>
                <a:r>
                  <a:rPr lang="ja-JP" altLang="ja-JP" dirty="0"/>
                  <a:t>是数据方差最大的方向。第二个主成分方向 </a:t>
                </a:r>
                <a14:m>
                  <m:oMath xmlns:m="http://schemas.openxmlformats.org/officeDocument/2006/math">
                    <m:sSub>
                      <m:sSubPr>
                        <m:ctrlPr>
                          <a:rPr lang="ja-JP" altLang="en-US"/>
                        </m:ctrlPr>
                      </m:sSubPr>
                      <m:e>
                        <m:r>
                          <a:rPr lang="ja-JP" altLang="en-US" i="1"/>
                          <m:t>𝑢</m:t>
                        </m:r>
                      </m:e>
                      <m:sub>
                        <m:r>
                          <a:rPr lang="en-US" altLang="ja-JP"/>
                          <m:t>2</m:t>
                        </m:r>
                      </m:sub>
                    </m:sSub>
                  </m:oMath>
                </a14:m>
                <a:r>
                  <a:rPr lang="ja-JP" altLang="ja-JP" dirty="0"/>
                  <a:t>要满足</a:t>
                </a:r>
                <a14:m>
                  <m:oMath xmlns:m="http://schemas.openxmlformats.org/officeDocument/2006/math">
                    <m:sSub>
                      <m:sSubPr>
                        <m:ctrlPr>
                          <a:rPr lang="ja-JP" altLang="en-US"/>
                        </m:ctrlPr>
                      </m:sSubPr>
                      <m:e>
                        <m:r>
                          <a:rPr lang="ja-JP" altLang="en-US" i="1"/>
                          <m:t>𝑢</m:t>
                        </m:r>
                      </m:e>
                      <m:sub>
                        <m:r>
                          <a:rPr lang="en-US" altLang="ja-JP"/>
                          <m:t>2</m:t>
                        </m:r>
                      </m:sub>
                    </m:sSub>
                    <m:r>
                      <a:rPr lang="ja-JP" altLang="en-US"/>
                      <m:t>⊥</m:t>
                    </m:r>
                    <m:sSub>
                      <m:sSubPr>
                        <m:ctrlPr>
                          <a:rPr lang="ja-JP" altLang="en-US" i="1"/>
                        </m:ctrlPr>
                      </m:sSubPr>
                      <m:e>
                        <m:r>
                          <a:rPr lang="ja-JP" altLang="en-US" i="1"/>
                          <m:t>𝑢</m:t>
                        </m:r>
                      </m:e>
                      <m:sub>
                        <m:r>
                          <a:rPr lang="en-US" altLang="ja-JP"/>
                          <m:t>1</m:t>
                        </m:r>
                      </m:sub>
                    </m:sSub>
                  </m:oMath>
                </a14:m>
                <a:r>
                  <a:rPr lang="zh-CN" altLang="en-US" dirty="0"/>
                  <a:t>，</a:t>
                </a:r>
                <a:r>
                  <a:rPr lang="ja-JP" altLang="ja-JP" dirty="0"/>
                  <a:t>并且在所有与 </a:t>
                </a:r>
                <a14:m>
                  <m:oMath xmlns:m="http://schemas.openxmlformats.org/officeDocument/2006/math">
                    <m:sSub>
                      <m:sSubPr>
                        <m:ctrlPr>
                          <a:rPr lang="ja-JP" altLang="en-US"/>
                        </m:ctrlPr>
                      </m:sSubPr>
                      <m:e>
                        <m:r>
                          <a:rPr lang="ja-JP" altLang="en-US" i="1"/>
                          <m:t>𝑢</m:t>
                        </m:r>
                      </m:e>
                      <m:sub>
                        <m:r>
                          <a:rPr lang="en-US" altLang="ja-JP"/>
                          <m:t>1</m:t>
                        </m:r>
                      </m:sub>
                    </m:sSub>
                  </m:oMath>
                </a14:m>
                <a:r>
                  <a:rPr lang="ja-JP" altLang="ja-JP" dirty="0"/>
                  <a:t>正交的方向中，方差最大。依此类推。</a:t>
                </a:r>
              </a:p>
              <a:p>
                <a:pPr>
                  <a:lnSpc>
                    <a:spcPct val="110000"/>
                  </a:lnSpc>
                </a:pPr>
                <a:r>
                  <a:rPr lang="ja-JP" altLang="ja-JP" dirty="0"/>
                  <a:t>所以 PCA 找到的是一组正交方向：</a:t>
                </a:r>
                <a14:m>
                  <m:oMath xmlns:m="http://schemas.openxmlformats.org/officeDocument/2006/math">
                    <m:sSub>
                      <m:sSubPr>
                        <m:ctrlPr>
                          <a:rPr lang="ja-JP" altLang="en-US"/>
                        </m:ctrlPr>
                      </m:sSubPr>
                      <m:e>
                        <m:r>
                          <a:rPr lang="ja-JP" altLang="en-US" i="1"/>
                          <m:t>𝑢</m:t>
                        </m:r>
                      </m:e>
                      <m:sub>
                        <m:r>
                          <a:rPr lang="en-US" altLang="ja-JP"/>
                          <m:t>1</m:t>
                        </m:r>
                      </m:sub>
                    </m:sSub>
                    <m:r>
                      <a:rPr lang="en-US" altLang="ja-JP"/>
                      <m:t>,</m:t>
                    </m:r>
                    <m:sSub>
                      <m:sSubPr>
                        <m:ctrlPr>
                          <a:rPr lang="ja-JP" altLang="en-US" i="1"/>
                        </m:ctrlPr>
                      </m:sSubPr>
                      <m:e>
                        <m:r>
                          <a:rPr lang="ja-JP" altLang="en-US" i="1"/>
                          <m:t>𝑢</m:t>
                        </m:r>
                      </m:e>
                      <m:sub>
                        <m:r>
                          <a:rPr lang="en-US" altLang="ja-JP"/>
                          <m:t>2</m:t>
                        </m:r>
                      </m:sub>
                    </m:sSub>
                    <m:r>
                      <a:rPr lang="en-US" altLang="ja-JP"/>
                      <m:t>,…,</m:t>
                    </m:r>
                    <m:sSub>
                      <m:sSubPr>
                        <m:ctrlPr>
                          <a:rPr lang="ja-JP" altLang="en-US" i="1"/>
                        </m:ctrlPr>
                      </m:sSubPr>
                      <m:e>
                        <m:r>
                          <a:rPr lang="ja-JP" altLang="en-US" i="1"/>
                          <m:t>𝑢</m:t>
                        </m:r>
                      </m:e>
                      <m:sub>
                        <m:r>
                          <a:rPr lang="ja-JP" altLang="en-US" i="1"/>
                          <m:t>𝑑</m:t>
                        </m:r>
                      </m:sub>
                    </m:sSub>
                    <m:r>
                      <a:rPr lang="zh-CN" altLang="en-US" i="1">
                        <a:latin typeface="Cambria Math" panose="02040503050406030204" pitchFamily="18" charset="0"/>
                      </a:rPr>
                      <m:t>。</m:t>
                    </m:r>
                  </m:oMath>
                </a14:m>
                <a:r>
                  <a:rPr lang="ja-JP" altLang="ja-JP" dirty="0"/>
                  <a:t>它们构成数据空间中的一组正交基。</a:t>
                </a:r>
              </a:p>
            </p:txBody>
          </p:sp>
        </mc:Choice>
        <mc:Fallback>
          <p:sp>
            <p:nvSpPr>
              <p:cNvPr id="12" name="コンテンツ プレースホルダー 2">
                <a:extLst>
                  <a:ext uri="{FF2B5EF4-FFF2-40B4-BE49-F238E27FC236}">
                    <a16:creationId xmlns:a16="http://schemas.microsoft.com/office/drawing/2014/main" id="{C39DD495-0303-0AC4-B3D4-2F712D02501B}"/>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897" r="-35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93485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02F5C-C116-817C-19E7-F00385FFFB8E}"/>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FB0E293E-DF77-3C86-0578-FCCFF227FB89}"/>
              </a:ext>
            </a:extLst>
          </p:cNvPr>
          <p:cNvSpPr>
            <a:spLocks noGrp="1" noChangeArrowheads="1"/>
          </p:cNvSpPr>
          <p:nvPr>
            <p:ph type="title"/>
          </p:nvPr>
        </p:nvSpPr>
        <p:spPr/>
        <p:txBody>
          <a:bodyPr/>
          <a:lstStyle/>
          <a:p>
            <a:r>
              <a:rPr lang="ja-JP" altLang="ja-JP" b="1" dirty="0"/>
              <a:t>PCA</a:t>
            </a:r>
            <a:r>
              <a:rPr lang="en-US" altLang="ja-JP" b="1" dirty="0"/>
              <a:t> </a:t>
            </a:r>
            <a:r>
              <a:rPr lang="zh-CN" altLang="en-US" b="1" dirty="0"/>
              <a:t>主成分分析</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0182D05F-E2F5-0621-29AC-9D100871E0BB}"/>
                  </a:ext>
                </a:extLst>
              </p:cNvPr>
              <p:cNvSpPr>
                <a:spLocks noGrp="1"/>
              </p:cNvSpPr>
              <p:nvPr>
                <p:ph idx="1"/>
              </p:nvPr>
            </p:nvSpPr>
            <p:spPr>
              <a:xfrm>
                <a:off x="213360" y="1112520"/>
                <a:ext cx="11877040" cy="5440680"/>
              </a:xfrm>
            </p:spPr>
            <p:txBody>
              <a:bodyPr/>
              <a:lstStyle/>
              <a:p>
                <a:pPr marL="0" indent="0">
                  <a:buNone/>
                </a:pPr>
                <a:r>
                  <a:rPr lang="ja-JP" altLang="ja-JP" b="1" dirty="0"/>
                  <a:t>最大方差方向</a:t>
                </a:r>
                <a:r>
                  <a:rPr lang="zh-CN" altLang="en-US" b="1" dirty="0"/>
                  <a:t>：</a:t>
                </a:r>
                <a:endParaRPr lang="ja-JP" altLang="ja-JP" b="1" dirty="0"/>
              </a:p>
              <a:p>
                <a:r>
                  <a:rPr lang="ja-JP" altLang="ja-JP" dirty="0"/>
                  <a:t>假设把数据点投影到某个单位方向 </a:t>
                </a:r>
                <a14:m>
                  <m:oMath xmlns:m="http://schemas.openxmlformats.org/officeDocument/2006/math">
                    <m:r>
                      <a:rPr lang="ja-JP" altLang="en-US" i="1"/>
                      <m:t>𝑢</m:t>
                    </m:r>
                  </m:oMath>
                </a14:m>
                <a:r>
                  <a:rPr lang="ja-JP" altLang="ja-JP" dirty="0"/>
                  <a:t>上。投影值是：</a:t>
                </a:r>
                <a14:m>
                  <m:oMath xmlns:m="http://schemas.openxmlformats.org/officeDocument/2006/math">
                    <m:d>
                      <m:dPr>
                        <m:begChr m:val="⟨"/>
                        <m:endChr m:val="⟩"/>
                        <m:sepChr m:val=","/>
                        <m:ctrlPr>
                          <a:rPr lang="ja-JP" altLang="en-US"/>
                        </m:ctrlPr>
                      </m:dPr>
                      <m:e>
                        <m:sSub>
                          <m:sSubPr>
                            <m:ctrlPr>
                              <a:rPr lang="ja-JP" altLang="en-US" i="1"/>
                            </m:ctrlPr>
                          </m:sSubPr>
                          <m:e>
                            <m:r>
                              <a:rPr lang="ja-JP" altLang="en-US" i="1"/>
                              <m:t>𝑥</m:t>
                            </m:r>
                          </m:e>
                          <m:sub>
                            <m:r>
                              <a:rPr lang="ja-JP" altLang="en-US" i="1"/>
                              <m:t>𝑖</m:t>
                            </m:r>
                          </m:sub>
                        </m:sSub>
                      </m:e>
                      <m:e>
                        <m:r>
                          <a:rPr lang="ja-JP" altLang="en-US" i="1"/>
                          <m:t>𝑢</m:t>
                        </m:r>
                      </m:e>
                    </m:d>
                  </m:oMath>
                </a14:m>
                <a:r>
                  <a:rPr lang="zh-CN" altLang="en-US" dirty="0"/>
                  <a:t>。</a:t>
                </a:r>
                <a:r>
                  <a:rPr lang="ja-JP" altLang="ja-JP" dirty="0"/>
                  <a:t>如果这些投影值分散得很开，说明这个方向能很好地区分数据。PCA 想找的第一个方向就是使下面这个量最大的方向：</a:t>
                </a:r>
                <a14:m>
                  <m:oMath xmlns:m="http://schemas.openxmlformats.org/officeDocument/2006/math">
                    <m:f>
                      <m:fPr>
                        <m:ctrlPr>
                          <a:rPr lang="ja-JP" altLang="en-US"/>
                        </m:ctrlPr>
                      </m:fPr>
                      <m:num>
                        <m:r>
                          <a:rPr lang="en-US" altLang="ja-JP"/>
                          <m:t>1</m:t>
                        </m:r>
                      </m:num>
                      <m:den>
                        <m:r>
                          <a:rPr lang="ja-JP" altLang="en-US" i="1"/>
                          <m:t>𝑛</m:t>
                        </m:r>
                      </m:den>
                    </m:f>
                    <m:nary>
                      <m:naryPr>
                        <m:chr m:val="∑"/>
                        <m:ctrlPr>
                          <a:rPr lang="ja-JP" altLang="en-US" i="1" smtClean="0">
                            <a:latin typeface="Cambria Math" panose="02040503050406030204" pitchFamily="18" charset="0"/>
                          </a:rPr>
                        </m:ctrlPr>
                      </m:naryPr>
                      <m:sub>
                        <m:r>
                          <m:rPr>
                            <m:sty m:val="p"/>
                            <m:brk m:alnAt="23"/>
                          </m:rPr>
                          <a:rPr lang="en-US" altLang="zh-CN" i="1">
                            <a:latin typeface="Cambria Math" panose="02040503050406030204" pitchFamily="18" charset="0"/>
                          </a:rPr>
                          <m:t>i</m:t>
                        </m:r>
                        <m:r>
                          <a:rPr lang="en-US" altLang="zh-CN" b="0" i="1" smtClean="0">
                            <a:latin typeface="Cambria Math" panose="02040503050406030204" pitchFamily="18" charset="0"/>
                          </a:rPr>
                          <m:t>=1</m:t>
                        </m:r>
                      </m:sub>
                      <m:sup>
                        <m:r>
                          <m:rPr>
                            <m:sty m:val="p"/>
                          </m:rPr>
                          <a:rPr lang="en-US" altLang="ja-JP" b="0" i="1" smtClean="0">
                            <a:latin typeface="Cambria Math" panose="02040503050406030204" pitchFamily="18" charset="0"/>
                          </a:rPr>
                          <m:t>n</m:t>
                        </m:r>
                      </m:sup>
                      <m:e>
                        <m:sSup>
                          <m:sSupPr>
                            <m:ctrlPr>
                              <a:rPr lang="ja-JP" altLang="en-US" i="1" smtClean="0">
                                <a:latin typeface="Cambria Math" panose="02040503050406030204" pitchFamily="18" charset="0"/>
                              </a:rPr>
                            </m:ctrlPr>
                          </m:sSupPr>
                          <m:e>
                            <m:d>
                              <m:dPr>
                                <m:begChr m:val="⟨"/>
                                <m:endChr m:val="⟩"/>
                                <m:sepChr m:val=","/>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𝑥</m:t>
                                    </m:r>
                                  </m:e>
                                  <m:sub>
                                    <m:r>
                                      <a:rPr lang="ja-JP" altLang="en-US" i="1">
                                        <a:latin typeface="Cambria Math" panose="02040503050406030204" pitchFamily="18" charset="0"/>
                                      </a:rPr>
                                      <m:t>𝑖</m:t>
                                    </m:r>
                                  </m:sub>
                                </m:sSub>
                              </m:e>
                              <m:e>
                                <m:r>
                                  <a:rPr lang="ja-JP" altLang="en-US" i="1">
                                    <a:latin typeface="Cambria Math" panose="02040503050406030204" pitchFamily="18" charset="0"/>
                                  </a:rPr>
                                  <m:t>𝑢</m:t>
                                </m:r>
                              </m:e>
                            </m:d>
                          </m:e>
                          <m:sup>
                            <m:r>
                              <a:rPr lang="en-US" altLang="ja-JP" b="0" i="1" smtClean="0">
                                <a:latin typeface="Cambria Math" panose="02040503050406030204" pitchFamily="18" charset="0"/>
                              </a:rPr>
                              <m:t>2</m:t>
                            </m:r>
                          </m:sup>
                        </m:sSup>
                      </m:e>
                    </m:nary>
                  </m:oMath>
                </a14:m>
                <a:endParaRPr lang="ja-JP" altLang="en-US" dirty="0"/>
              </a:p>
              <a:p>
                <a:r>
                  <a:rPr lang="ja-JP" altLang="ja-JP" dirty="0"/>
                  <a:t>在数据已经中心化的情况下，这就是投影后的方差。</a:t>
                </a:r>
              </a:p>
              <a:p>
                <a:r>
                  <a:rPr lang="ja-JP" altLang="ja-JP" dirty="0"/>
                  <a:t>因此，PCA 的第一个主成分方向是：</a:t>
                </a:r>
                <a14:m>
                  <m:oMath xmlns:m="http://schemas.openxmlformats.org/officeDocument/2006/math">
                    <m:sSub>
                      <m:sSubPr>
                        <m:ctrlPr>
                          <a:rPr lang="ja-JP" altLang="en-US"/>
                        </m:ctrlPr>
                      </m:sSubPr>
                      <m:e>
                        <m:r>
                          <a:rPr lang="ja-JP" altLang="en-US" i="1"/>
                          <m:t>𝑢</m:t>
                        </m:r>
                      </m:e>
                      <m:sub>
                        <m:r>
                          <a:rPr lang="en-US" altLang="ja-JP"/>
                          <m:t>1</m:t>
                        </m:r>
                      </m:sub>
                    </m:sSub>
                    <m:r>
                      <a:rPr lang="en-US" altLang="ja-JP"/>
                      <m:t>=</m:t>
                    </m:r>
                    <m:func>
                      <m:funcPr>
                        <m:ctrlPr>
                          <a:rPr lang="ja-JP" altLang="en-US" i="1"/>
                        </m:ctrlPr>
                      </m:funcPr>
                      <m:fName>
                        <m:r>
                          <m:rPr>
                            <m:sty m:val="p"/>
                          </m:rPr>
                          <a:rPr lang="en-US" altLang="ja-JP"/>
                          <m:t>arg</m:t>
                        </m:r>
                      </m:fName>
                      <m:e>
                        <m:sSub>
                          <m:sSubPr>
                            <m:ctrlPr>
                              <a:rPr lang="ja-JP" altLang="en-US" i="1" smtClean="0">
                                <a:latin typeface="Cambria Math" panose="02040503050406030204" pitchFamily="18" charset="0"/>
                              </a:rPr>
                            </m:ctrlPr>
                          </m:sSubPr>
                          <m:e>
                            <m:r>
                              <m:rPr>
                                <m:sty m:val="p"/>
                              </m:rPr>
                              <a:rPr lang="en-US" altLang="ja-JP" b="0" i="1" smtClean="0">
                                <a:latin typeface="Cambria Math" panose="02040503050406030204" pitchFamily="18" charset="0"/>
                              </a:rPr>
                              <m:t>max</m:t>
                            </m:r>
                          </m:e>
                          <m:sub>
                            <m:r>
                              <a:rPr lang="ja-JP" altLang="en-US">
                                <a:latin typeface="Cambria Math" panose="02040503050406030204" pitchFamily="18" charset="0"/>
                              </a:rPr>
                              <m:t>∥</m:t>
                            </m:r>
                            <m:r>
                              <a:rPr lang="ja-JP" altLang="en-US" i="1">
                                <a:latin typeface="Cambria Math" panose="02040503050406030204" pitchFamily="18" charset="0"/>
                              </a:rPr>
                              <m:t>𝑢</m:t>
                            </m:r>
                            <m:r>
                              <a:rPr lang="ja-JP" altLang="en-US">
                                <a:latin typeface="Cambria Math" panose="02040503050406030204" pitchFamily="18" charset="0"/>
                              </a:rPr>
                              <m:t>∥</m:t>
                            </m:r>
                            <m:r>
                              <a:rPr lang="en-US" altLang="ja-JP">
                                <a:latin typeface="Cambria Math" panose="02040503050406030204" pitchFamily="18" charset="0"/>
                              </a:rPr>
                              <m:t>=1</m:t>
                            </m:r>
                          </m:sub>
                        </m:sSub>
                      </m:e>
                    </m:func>
                    <m:f>
                      <m:fPr>
                        <m:ctrlPr>
                          <a:rPr lang="ja-JP" altLang="en-US" i="1"/>
                        </m:ctrlPr>
                      </m:fPr>
                      <m:num>
                        <m:r>
                          <a:rPr lang="en-US" altLang="ja-JP"/>
                          <m:t>1</m:t>
                        </m:r>
                      </m:num>
                      <m:den>
                        <m:r>
                          <a:rPr lang="ja-JP" altLang="en-US" i="1"/>
                          <m:t>𝑛</m:t>
                        </m:r>
                      </m:den>
                    </m:f>
                    <m:nary>
                      <m:naryPr>
                        <m:chr m:val="∑"/>
                        <m:grow m:val="on"/>
                        <m:ctrlPr>
                          <a:rPr lang="ja-JP" altLang="en-US" i="1"/>
                        </m:ctrlPr>
                      </m:naryPr>
                      <m:sub>
                        <m:r>
                          <a:rPr lang="ja-JP" altLang="en-US" i="1"/>
                          <m:t>𝑖</m:t>
                        </m:r>
                        <m:r>
                          <a:rPr lang="en-US" altLang="ja-JP"/>
                          <m:t>=1</m:t>
                        </m:r>
                      </m:sub>
                      <m:sup>
                        <m:r>
                          <a:rPr lang="ja-JP" altLang="en-US" i="1"/>
                          <m:t>𝑛</m:t>
                        </m:r>
                      </m:sup>
                      <m:e>
                        <m:r>
                          <a:rPr lang="en-US" altLang="ja-JP"/>
                          <m:t>⟨</m:t>
                        </m:r>
                      </m:e>
                    </m:nary>
                    <m:d>
                      <m:dPr>
                        <m:begChr m:val=""/>
                        <m:endChr m:val=","/>
                        <m:ctrlPr>
                          <a:rPr lang="ja-JP" altLang="en-US" i="1"/>
                        </m:ctrlPr>
                      </m:dPr>
                      <m:e>
                        <m:sSub>
                          <m:sSubPr>
                            <m:ctrlPr>
                              <a:rPr lang="ja-JP" altLang="en-US" i="1"/>
                            </m:ctrlPr>
                          </m:sSubPr>
                          <m:e>
                            <m:r>
                              <a:rPr lang="ja-JP" altLang="en-US" i="1"/>
                              <m:t>𝑥</m:t>
                            </m:r>
                          </m:e>
                          <m:sub>
                            <m:r>
                              <a:rPr lang="ja-JP" altLang="en-US" i="1"/>
                              <m:t>𝑖</m:t>
                            </m:r>
                          </m:sub>
                        </m:sSub>
                        <m:r>
                          <a:rPr lang="ja-JP" altLang="en-US" i="1"/>
                          <m:t>𝑢</m:t>
                        </m:r>
                        <m:sSup>
                          <m:sSupPr>
                            <m:ctrlPr>
                              <a:rPr lang="ja-JP" altLang="en-US" i="1"/>
                            </m:ctrlPr>
                          </m:sSupPr>
                          <m:e>
                            <m:d>
                              <m:dPr>
                                <m:begChr m:val=""/>
                                <m:endChr m:val=""/>
                                <m:ctrlPr>
                                  <a:rPr lang="ja-JP" altLang="en-US" i="1"/>
                                </m:ctrlPr>
                              </m:dPr>
                              <m:e>
                                <m:r>
                                  <a:rPr lang="en-US" altLang="ja-JP"/>
                                  <m:t>⟩</m:t>
                                </m:r>
                              </m:e>
                            </m:d>
                          </m:e>
                          <m:sup>
                            <m:r>
                              <a:rPr lang="en-US" altLang="ja-JP"/>
                              <m:t>2</m:t>
                            </m:r>
                          </m:sup>
                        </m:sSup>
                      </m:e>
                    </m:d>
                  </m:oMath>
                </a14:m>
                <a:endParaRPr lang="en-US" altLang="ja-JP" dirty="0"/>
              </a:p>
              <a:p>
                <a:pPr marL="0" indent="0">
                  <a:buNone/>
                </a:pPr>
                <a:r>
                  <a:rPr lang="ja-JP" altLang="en-US" dirty="0"/>
                  <a:t>　⇒　</a:t>
                </a:r>
                <a:r>
                  <a:rPr lang="ja-JP" altLang="ja-JP" dirty="0"/>
                  <a:t>PCA 找的是让数据投影后最“展开”的方向。</a:t>
                </a:r>
              </a:p>
              <a:p>
                <a:pPr marL="0" indent="0">
                  <a:buNone/>
                </a:pPr>
                <a:endParaRPr lang="en-US" altLang="ja-JP" b="1" dirty="0"/>
              </a:p>
              <a:p>
                <a:pPr marL="0" indent="0">
                  <a:buNone/>
                </a:pPr>
                <a:r>
                  <a:rPr lang="ja-JP" altLang="ja-JP" b="1" dirty="0"/>
                  <a:t>PCA 与协方差矩阵</a:t>
                </a:r>
              </a:p>
              <a:p>
                <a:r>
                  <a:rPr lang="ja-JP" altLang="ja-JP" dirty="0"/>
                  <a:t>数据中心化后，协方差矩阵为：</a:t>
                </a:r>
                <a14:m>
                  <m:oMath xmlns:m="http://schemas.openxmlformats.org/officeDocument/2006/math">
                    <m:r>
                      <a:rPr lang="ja-JP" altLang="en-US" i="1"/>
                      <m:t>𝐶</m:t>
                    </m:r>
                    <m:r>
                      <a:rPr lang="en-US" altLang="ja-JP"/>
                      <m:t>=</m:t>
                    </m:r>
                    <m:f>
                      <m:fPr>
                        <m:ctrlPr>
                          <a:rPr lang="ja-JP" altLang="en-US" i="1"/>
                        </m:ctrlPr>
                      </m:fPr>
                      <m:num>
                        <m:r>
                          <a:rPr lang="en-US" altLang="ja-JP"/>
                          <m:t>1</m:t>
                        </m:r>
                      </m:num>
                      <m:den>
                        <m:r>
                          <a:rPr lang="ja-JP" altLang="en-US" i="1"/>
                          <m:t>𝑛</m:t>
                        </m:r>
                      </m:den>
                    </m:f>
                    <m:nary>
                      <m:naryPr>
                        <m:chr m:val="∑"/>
                        <m:grow m:val="on"/>
                        <m:ctrlPr>
                          <a:rPr lang="ja-JP" altLang="en-US" i="1"/>
                        </m:ctrlPr>
                      </m:naryPr>
                      <m:sub>
                        <m:r>
                          <a:rPr lang="ja-JP" altLang="en-US" i="1"/>
                          <m:t>𝑖</m:t>
                        </m:r>
                        <m:r>
                          <a:rPr lang="en-US" altLang="ja-JP"/>
                          <m:t>=1</m:t>
                        </m:r>
                      </m:sub>
                      <m:sup>
                        <m:r>
                          <a:rPr lang="ja-JP" altLang="en-US" i="1"/>
                          <m:t>𝑛</m:t>
                        </m:r>
                      </m:sup>
                      <m:e>
                        <m:sSub>
                          <m:sSubPr>
                            <m:ctrlPr>
                              <a:rPr lang="ja-JP" altLang="en-US" i="1"/>
                            </m:ctrlPr>
                          </m:sSubPr>
                          <m:e>
                            <m:r>
                              <a:rPr lang="ja-JP" altLang="en-US" i="1"/>
                              <m:t>𝑥</m:t>
                            </m:r>
                          </m:e>
                          <m:sub>
                            <m:r>
                              <a:rPr lang="ja-JP" altLang="en-US" i="1"/>
                              <m:t>𝑖</m:t>
                            </m:r>
                          </m:sub>
                        </m:sSub>
                      </m:e>
                    </m:nary>
                    <m:sSubSup>
                      <m:sSubSupPr>
                        <m:ctrlPr>
                          <a:rPr lang="ja-JP" altLang="en-US" i="1"/>
                        </m:ctrlPr>
                      </m:sSubSupPr>
                      <m:e>
                        <m:r>
                          <a:rPr lang="ja-JP" altLang="en-US" i="1"/>
                          <m:t>𝑥</m:t>
                        </m:r>
                      </m:e>
                      <m:sub>
                        <m:r>
                          <a:rPr lang="ja-JP" altLang="en-US" i="1"/>
                          <m:t>𝑖</m:t>
                        </m:r>
                      </m:sub>
                      <m:sup>
                        <m:r>
                          <a:rPr lang="ja-JP" altLang="en-US"/>
                          <m:t>⊤</m:t>
                        </m:r>
                      </m:sup>
                    </m:sSubSup>
                  </m:oMath>
                </a14:m>
                <a:r>
                  <a:rPr lang="zh-CN" altLang="en-US" dirty="0"/>
                  <a:t>。</a:t>
                </a:r>
                <a:r>
                  <a:rPr lang="ja-JP" altLang="ja-JP" dirty="0"/>
                  <a:t>PCA 的主成分方向就是协方差矩阵的特征向量：</a:t>
                </a:r>
                <a14:m>
                  <m:oMath xmlns:m="http://schemas.openxmlformats.org/officeDocument/2006/math">
                    <m:r>
                      <a:rPr lang="ja-JP" altLang="en-US" i="1"/>
                      <m:t>𝐶</m:t>
                    </m:r>
                    <m:sSub>
                      <m:sSubPr>
                        <m:ctrlPr>
                          <a:rPr lang="ja-JP" altLang="en-US" i="1"/>
                        </m:ctrlPr>
                      </m:sSubPr>
                      <m:e>
                        <m:r>
                          <a:rPr lang="ja-JP" altLang="en-US" i="1"/>
                          <m:t>𝑢</m:t>
                        </m:r>
                      </m:e>
                      <m:sub>
                        <m:r>
                          <a:rPr lang="ja-JP" altLang="en-US" i="1"/>
                          <m:t>𝑘</m:t>
                        </m:r>
                      </m:sub>
                    </m:sSub>
                    <m:r>
                      <a:rPr lang="en-US" altLang="ja-JP"/>
                      <m:t>=</m:t>
                    </m:r>
                    <m:sSub>
                      <m:sSubPr>
                        <m:ctrlPr>
                          <a:rPr lang="ja-JP" altLang="en-US" i="1"/>
                        </m:ctrlPr>
                      </m:sSubPr>
                      <m:e>
                        <m:r>
                          <a:rPr lang="ja-JP" altLang="en-US" i="1"/>
                          <m:t>𝜆</m:t>
                        </m:r>
                      </m:e>
                      <m:sub>
                        <m:r>
                          <a:rPr lang="ja-JP" altLang="en-US" i="1"/>
                          <m:t>𝑘</m:t>
                        </m:r>
                      </m:sub>
                    </m:sSub>
                    <m:sSub>
                      <m:sSubPr>
                        <m:ctrlPr>
                          <a:rPr lang="ja-JP" altLang="en-US" i="1"/>
                        </m:ctrlPr>
                      </m:sSubPr>
                      <m:e>
                        <m:r>
                          <a:rPr lang="ja-JP" altLang="en-US" i="1"/>
                          <m:t>𝑢</m:t>
                        </m:r>
                      </m:e>
                      <m:sub>
                        <m:r>
                          <a:rPr lang="ja-JP" altLang="en-US" i="1"/>
                          <m:t>𝑘</m:t>
                        </m:r>
                      </m:sub>
                    </m:sSub>
                  </m:oMath>
                </a14:m>
                <a:r>
                  <a:rPr lang="zh-CN" altLang="en-US" dirty="0"/>
                  <a:t>。</a:t>
                </a:r>
                <a14:m>
                  <m:oMath xmlns:m="http://schemas.openxmlformats.org/officeDocument/2006/math">
                    <m:sSub>
                      <m:sSubPr>
                        <m:ctrlPr>
                          <a:rPr lang="ja-JP" altLang="en-US"/>
                        </m:ctrlPr>
                      </m:sSubPr>
                      <m:e>
                        <m:r>
                          <a:rPr lang="ja-JP" altLang="en-US" i="1"/>
                          <m:t>𝑢</m:t>
                        </m:r>
                      </m:e>
                      <m:sub>
                        <m:r>
                          <a:rPr lang="ja-JP" altLang="en-US" i="1"/>
                          <m:t>𝑘</m:t>
                        </m:r>
                      </m:sub>
                    </m:sSub>
                  </m:oMath>
                </a14:m>
                <a:r>
                  <a:rPr lang="ja-JP" altLang="ja-JP" dirty="0"/>
                  <a:t>是第 </a:t>
                </a:r>
                <a14:m>
                  <m:oMath xmlns:m="http://schemas.openxmlformats.org/officeDocument/2006/math">
                    <m:r>
                      <a:rPr lang="ja-JP" altLang="en-US" i="1"/>
                      <m:t>𝑘</m:t>
                    </m:r>
                  </m:oMath>
                </a14:m>
                <a:r>
                  <a:rPr lang="ja-JP" altLang="ja-JP" dirty="0"/>
                  <a:t>个主成分方向；</a:t>
                </a:r>
                <a14:m>
                  <m:oMath xmlns:m="http://schemas.openxmlformats.org/officeDocument/2006/math">
                    <m:sSub>
                      <m:sSubPr>
                        <m:ctrlPr>
                          <a:rPr lang="ja-JP" altLang="en-US"/>
                        </m:ctrlPr>
                      </m:sSubPr>
                      <m:e>
                        <m:r>
                          <a:rPr lang="ja-JP" altLang="en-US" i="1"/>
                          <m:t>𝜆</m:t>
                        </m:r>
                      </m:e>
                      <m:sub>
                        <m:r>
                          <a:rPr lang="ja-JP" altLang="en-US" i="1"/>
                          <m:t>𝑘</m:t>
                        </m:r>
                      </m:sub>
                    </m:sSub>
                  </m:oMath>
                </a14:m>
                <a:r>
                  <a:rPr lang="ja-JP" altLang="ja-JP" dirty="0"/>
                  <a:t>是对应的特征值；</a:t>
                </a:r>
                <a:endParaRPr lang="en-US" altLang="ja-JP" dirty="0"/>
              </a:p>
              <a:p>
                <a:r>
                  <a:rPr lang="ja-JP" altLang="ja-JP" dirty="0"/>
                  <a:t> </a:t>
                </a:r>
                <a14:m>
                  <m:oMath xmlns:m="http://schemas.openxmlformats.org/officeDocument/2006/math">
                    <m:sSub>
                      <m:sSubPr>
                        <m:ctrlPr>
                          <a:rPr lang="ja-JP" altLang="en-US"/>
                        </m:ctrlPr>
                      </m:sSubPr>
                      <m:e>
                        <m:r>
                          <a:rPr lang="ja-JP" altLang="en-US" i="1"/>
                          <m:t>𝜆</m:t>
                        </m:r>
                      </m:e>
                      <m:sub>
                        <m:r>
                          <a:rPr lang="ja-JP" altLang="en-US" i="1"/>
                          <m:t>𝑘</m:t>
                        </m:r>
                      </m:sub>
                    </m:sSub>
                  </m:oMath>
                </a14:m>
                <a:r>
                  <a:rPr lang="ja-JP" altLang="ja-JP" dirty="0"/>
                  <a:t>越大，说明该方向上保留的方差越大。 </a:t>
                </a:r>
              </a:p>
              <a:p>
                <a:pPr marL="0" indent="0">
                  <a:buNone/>
                </a:pPr>
                <a:r>
                  <a:rPr lang="ja-JP" altLang="ja-JP" dirty="0"/>
                  <a:t>因此 </a:t>
                </a:r>
                <a:r>
                  <a:rPr lang="ja-JP" altLang="ja-JP" dirty="0">
                    <a:solidFill>
                      <a:srgbClr val="C00000"/>
                    </a:solidFill>
                  </a:rPr>
                  <a:t>PCA 可以看成：对协方差算子做谱分解</a:t>
                </a:r>
                <a:r>
                  <a:rPr lang="ja-JP" altLang="ja-JP" dirty="0"/>
                  <a:t>。</a:t>
                </a:r>
              </a:p>
              <a:p>
                <a:r>
                  <a:rPr lang="ja-JP" altLang="ja-JP" dirty="0"/>
                  <a:t>在有限维空间中，这就是矩阵特征值分解；在无限维 Hilbert 空间中，就可以推广为算子的谱分解。</a:t>
                </a:r>
              </a:p>
            </p:txBody>
          </p:sp>
        </mc:Choice>
        <mc:Fallback>
          <p:sp>
            <p:nvSpPr>
              <p:cNvPr id="12" name="コンテンツ プレースホルダー 2">
                <a:extLst>
                  <a:ext uri="{FF2B5EF4-FFF2-40B4-BE49-F238E27FC236}">
                    <a16:creationId xmlns:a16="http://schemas.microsoft.com/office/drawing/2014/main" id="{0182D05F-E2F5-0621-29AC-9D100871E0BB}"/>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1009" r="-10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446533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252D1-1474-B5B4-BD3B-7A3716DDA006}"/>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ECC6B1CC-C0BF-BB28-244B-C9D83F8245CA}"/>
              </a:ext>
            </a:extLst>
          </p:cNvPr>
          <p:cNvSpPr>
            <a:spLocks noGrp="1" noChangeArrowheads="1"/>
          </p:cNvSpPr>
          <p:nvPr>
            <p:ph type="title"/>
          </p:nvPr>
        </p:nvSpPr>
        <p:spPr/>
        <p:txBody>
          <a:bodyPr/>
          <a:lstStyle/>
          <a:p>
            <a:r>
              <a:rPr lang="en-US" altLang="zh-CN" b="1" dirty="0"/>
              <a:t>PCA </a:t>
            </a:r>
            <a:r>
              <a:rPr lang="zh-CN" altLang="en-US" b="1" dirty="0"/>
              <a:t>为什么是最佳低维正交近似</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33D89892-D46B-9C52-4C1C-4DF97540A567}"/>
                  </a:ext>
                </a:extLst>
              </p:cNvPr>
              <p:cNvSpPr>
                <a:spLocks noGrp="1"/>
              </p:cNvSpPr>
              <p:nvPr>
                <p:ph idx="1"/>
              </p:nvPr>
            </p:nvSpPr>
            <p:spPr>
              <a:xfrm>
                <a:off x="213360" y="1112520"/>
                <a:ext cx="11877040" cy="5440680"/>
              </a:xfrm>
            </p:spPr>
            <p:txBody>
              <a:bodyPr/>
              <a:lstStyle/>
              <a:p>
                <a:pPr marL="0" indent="0">
                  <a:lnSpc>
                    <a:spcPct val="110000"/>
                  </a:lnSpc>
                  <a:buNone/>
                </a:pPr>
                <a:r>
                  <a:rPr lang="ja-JP" altLang="ja-JP" dirty="0"/>
                  <a:t>假设只保留前 </a:t>
                </a:r>
                <a14:m>
                  <m:oMath xmlns:m="http://schemas.openxmlformats.org/officeDocument/2006/math">
                    <m:r>
                      <a:rPr lang="ja-JP" altLang="en-US" i="1"/>
                      <m:t>𝑚</m:t>
                    </m:r>
                  </m:oMath>
                </a14:m>
                <a:r>
                  <a:rPr lang="ja-JP" altLang="ja-JP" dirty="0"/>
                  <a:t>个主成分：</a:t>
                </a:r>
                <a14:m>
                  <m:oMath xmlns:m="http://schemas.openxmlformats.org/officeDocument/2006/math">
                    <m:sSub>
                      <m:sSubPr>
                        <m:ctrlPr>
                          <a:rPr lang="ja-JP" altLang="en-US"/>
                        </m:ctrlPr>
                      </m:sSubPr>
                      <m:e>
                        <m:r>
                          <a:rPr lang="ja-JP" altLang="en-US" i="1"/>
                          <m:t>𝑢</m:t>
                        </m:r>
                      </m:e>
                      <m:sub>
                        <m:r>
                          <a:rPr lang="en-US" altLang="ja-JP"/>
                          <m:t>1</m:t>
                        </m:r>
                      </m:sub>
                    </m:sSub>
                    <m:r>
                      <a:rPr lang="en-US" altLang="ja-JP"/>
                      <m:t>,…,</m:t>
                    </m:r>
                    <m:sSub>
                      <m:sSubPr>
                        <m:ctrlPr>
                          <a:rPr lang="ja-JP" altLang="en-US" i="1"/>
                        </m:ctrlPr>
                      </m:sSubPr>
                      <m:e>
                        <m:r>
                          <a:rPr lang="ja-JP" altLang="en-US" i="1"/>
                          <m:t>𝑢</m:t>
                        </m:r>
                      </m:e>
                      <m:sub>
                        <m:r>
                          <a:rPr lang="ja-JP" altLang="en-US" i="1"/>
                          <m:t>𝑚</m:t>
                        </m:r>
                      </m:sub>
                    </m:sSub>
                  </m:oMath>
                </a14:m>
                <a:r>
                  <a:rPr lang="zh-CN" altLang="en-US" dirty="0"/>
                  <a:t>，</a:t>
                </a:r>
                <a:r>
                  <a:rPr lang="ja-JP" altLang="ja-JP" dirty="0"/>
                  <a:t>那么每个数据点 </a:t>
                </a:r>
                <a14:m>
                  <m:oMath xmlns:m="http://schemas.openxmlformats.org/officeDocument/2006/math">
                    <m:sSub>
                      <m:sSubPr>
                        <m:ctrlPr>
                          <a:rPr lang="ja-JP" altLang="en-US"/>
                        </m:ctrlPr>
                      </m:sSubPr>
                      <m:e>
                        <m:r>
                          <a:rPr lang="ja-JP" altLang="en-US" i="1"/>
                          <m:t>𝑥</m:t>
                        </m:r>
                      </m:e>
                      <m:sub>
                        <m:r>
                          <a:rPr lang="ja-JP" altLang="en-US" i="1"/>
                          <m:t>𝑖</m:t>
                        </m:r>
                      </m:sub>
                    </m:sSub>
                  </m:oMath>
                </a14:m>
                <a:r>
                  <a:rPr lang="ja-JP" altLang="ja-JP" dirty="0"/>
                  <a:t>可以近似为：</a:t>
                </a:r>
                <a14:m>
                  <m:oMath xmlns:m="http://schemas.openxmlformats.org/officeDocument/2006/math">
                    <m:sSub>
                      <m:sSubPr>
                        <m:ctrlPr>
                          <a:rPr lang="ja-JP" altLang="en-US"/>
                        </m:ctrlPr>
                      </m:sSubPr>
                      <m:e>
                        <m:acc>
                          <m:accPr>
                            <m:chr m:val="̂"/>
                            <m:ctrlPr>
                              <a:rPr lang="ja-JP" altLang="en-US"/>
                            </m:ctrlPr>
                          </m:accPr>
                          <m:e>
                            <m:r>
                              <a:rPr lang="ja-JP" altLang="en-US" i="1"/>
                              <m:t>𝑥</m:t>
                            </m:r>
                          </m:e>
                        </m:acc>
                      </m:e>
                      <m:sub>
                        <m:r>
                          <a:rPr lang="ja-JP" altLang="en-US" i="1"/>
                          <m:t>𝑖</m:t>
                        </m:r>
                      </m:sub>
                    </m:sSub>
                    <m:r>
                      <a:rPr lang="en-US" altLang="ja-JP"/>
                      <m:t>=</m:t>
                    </m:r>
                    <m:nary>
                      <m:naryPr>
                        <m:chr m:val="∑"/>
                        <m:grow m:val="on"/>
                        <m:ctrlPr>
                          <a:rPr lang="ja-JP" altLang="en-US" i="1"/>
                        </m:ctrlPr>
                      </m:naryPr>
                      <m:sub>
                        <m:r>
                          <a:rPr lang="ja-JP" altLang="en-US" i="1"/>
                          <m:t>𝑘</m:t>
                        </m:r>
                        <m:r>
                          <a:rPr lang="en-US" altLang="ja-JP"/>
                          <m:t>=</m:t>
                        </m:r>
                        <m:r>
                          <a:rPr lang="en-US" altLang="ja-JP"/>
                          <m:t>1</m:t>
                        </m:r>
                      </m:sub>
                      <m:sup>
                        <m:r>
                          <a:rPr lang="ja-JP" altLang="en-US" i="1"/>
                          <m:t>𝑚</m:t>
                        </m:r>
                      </m:sup>
                      <m:e>
                        <m:r>
                          <a:rPr lang="en-US" altLang="ja-JP"/>
                          <m:t>⟨</m:t>
                        </m:r>
                      </m:e>
                    </m:nary>
                    <m:d>
                      <m:dPr>
                        <m:begChr m:val=""/>
                        <m:endChr m:val="⟩"/>
                        <m:sepChr m:val=","/>
                        <m:ctrlPr>
                          <a:rPr lang="ja-JP" altLang="en-US" i="1"/>
                        </m:ctrlPr>
                      </m:dPr>
                      <m:e>
                        <m:sSub>
                          <m:sSubPr>
                            <m:ctrlPr>
                              <a:rPr lang="ja-JP" altLang="en-US" i="1"/>
                            </m:ctrlPr>
                          </m:sSubPr>
                          <m:e>
                            <m:r>
                              <a:rPr lang="ja-JP" altLang="en-US" i="1"/>
                              <m:t>𝑥</m:t>
                            </m:r>
                          </m:e>
                          <m:sub>
                            <m:r>
                              <a:rPr lang="ja-JP" altLang="en-US" i="1"/>
                              <m:t>𝑖</m:t>
                            </m:r>
                          </m:sub>
                        </m:sSub>
                      </m:e>
                      <m:e>
                        <m:sSub>
                          <m:sSubPr>
                            <m:ctrlPr>
                              <a:rPr lang="ja-JP" altLang="en-US" i="1"/>
                            </m:ctrlPr>
                          </m:sSubPr>
                          <m:e>
                            <m:r>
                              <a:rPr lang="ja-JP" altLang="en-US" i="1"/>
                              <m:t>𝑢</m:t>
                            </m:r>
                          </m:e>
                          <m:sub>
                            <m:r>
                              <a:rPr lang="ja-JP" altLang="en-US" i="1"/>
                              <m:t>𝑘</m:t>
                            </m:r>
                          </m:sub>
                        </m:sSub>
                      </m:e>
                    </m:d>
                    <m:sSub>
                      <m:sSubPr>
                        <m:ctrlPr>
                          <a:rPr lang="ja-JP" altLang="en-US" i="1"/>
                        </m:ctrlPr>
                      </m:sSubPr>
                      <m:e>
                        <m:r>
                          <a:rPr lang="ja-JP" altLang="en-US" i="1"/>
                          <m:t>𝑢</m:t>
                        </m:r>
                      </m:e>
                      <m:sub>
                        <m:r>
                          <a:rPr lang="ja-JP" altLang="en-US" i="1"/>
                          <m:t>𝑘</m:t>
                        </m:r>
                      </m:sub>
                    </m:sSub>
                  </m:oMath>
                </a14:m>
                <a:endParaRPr lang="ja-JP" altLang="en-US" dirty="0"/>
              </a:p>
              <a:p>
                <a:pPr>
                  <a:lnSpc>
                    <a:spcPct val="110000"/>
                  </a:lnSpc>
                </a:pPr>
                <a14:m>
                  <m:oMath xmlns:m="http://schemas.openxmlformats.org/officeDocument/2006/math">
                    <m:d>
                      <m:dPr>
                        <m:begChr m:val="⟨"/>
                        <m:endChr m:val="⟩"/>
                        <m:sepChr m:val=","/>
                        <m:ctrlPr>
                          <a:rPr lang="ja-JP" altLang="en-US"/>
                        </m:ctrlPr>
                      </m:dPr>
                      <m:e>
                        <m:sSub>
                          <m:sSubPr>
                            <m:ctrlPr>
                              <a:rPr lang="ja-JP" altLang="en-US" i="1"/>
                            </m:ctrlPr>
                          </m:sSubPr>
                          <m:e>
                            <m:r>
                              <a:rPr lang="ja-JP" altLang="en-US" i="1"/>
                              <m:t>𝑥</m:t>
                            </m:r>
                          </m:e>
                          <m:sub>
                            <m:r>
                              <a:rPr lang="ja-JP" altLang="en-US" i="1"/>
                              <m:t>𝑖</m:t>
                            </m:r>
                          </m:sub>
                        </m:sSub>
                      </m:e>
                      <m:e>
                        <m:sSub>
                          <m:sSubPr>
                            <m:ctrlPr>
                              <a:rPr lang="ja-JP" altLang="en-US" i="1"/>
                            </m:ctrlPr>
                          </m:sSubPr>
                          <m:e>
                            <m:r>
                              <a:rPr lang="ja-JP" altLang="en-US" i="1"/>
                              <m:t>𝑢</m:t>
                            </m:r>
                          </m:e>
                          <m:sub>
                            <m:r>
                              <a:rPr lang="ja-JP" altLang="en-US" i="1"/>
                              <m:t>𝑘</m:t>
                            </m:r>
                          </m:sub>
                        </m:sSub>
                      </m:e>
                    </m:d>
                  </m:oMath>
                </a14:m>
                <a:r>
                  <a:rPr lang="ja-JP" altLang="ja-JP" dirty="0"/>
                  <a:t>就是 </a:t>
                </a:r>
                <a14:m>
                  <m:oMath xmlns:m="http://schemas.openxmlformats.org/officeDocument/2006/math">
                    <m:sSub>
                      <m:sSubPr>
                        <m:ctrlPr>
                          <a:rPr lang="ja-JP" altLang="en-US"/>
                        </m:ctrlPr>
                      </m:sSubPr>
                      <m:e>
                        <m:r>
                          <a:rPr lang="ja-JP" altLang="en-US" i="1"/>
                          <m:t>𝑥</m:t>
                        </m:r>
                      </m:e>
                      <m:sub>
                        <m:r>
                          <a:rPr lang="ja-JP" altLang="en-US" i="1"/>
                          <m:t>𝑖</m:t>
                        </m:r>
                      </m:sub>
                    </m:sSub>
                  </m:oMath>
                </a14:m>
                <a:r>
                  <a:rPr lang="ja-JP" altLang="ja-JP" dirty="0"/>
                  <a:t>在主成分方向 </a:t>
                </a:r>
                <a14:m>
                  <m:oMath xmlns:m="http://schemas.openxmlformats.org/officeDocument/2006/math">
                    <m:sSub>
                      <m:sSubPr>
                        <m:ctrlPr>
                          <a:rPr lang="ja-JP" altLang="en-US"/>
                        </m:ctrlPr>
                      </m:sSubPr>
                      <m:e>
                        <m:r>
                          <a:rPr lang="ja-JP" altLang="en-US" i="1"/>
                          <m:t>𝑢</m:t>
                        </m:r>
                      </m:e>
                      <m:sub>
                        <m:r>
                          <a:rPr lang="ja-JP" altLang="en-US" i="1"/>
                          <m:t>𝑘</m:t>
                        </m:r>
                      </m:sub>
                    </m:sSub>
                  </m:oMath>
                </a14:m>
                <a:r>
                  <a:rPr lang="ja-JP" altLang="ja-JP" dirty="0"/>
                  <a:t>上的投影系数。</a:t>
                </a:r>
              </a:p>
              <a:p>
                <a:pPr>
                  <a:lnSpc>
                    <a:spcPct val="110000"/>
                  </a:lnSpc>
                </a:pPr>
                <a:r>
                  <a:rPr lang="ja-JP" altLang="ja-JP" dirty="0"/>
                  <a:t>PCA 的重要性质是：在所有 </a:t>
                </a:r>
                <a14:m>
                  <m:oMath xmlns:m="http://schemas.openxmlformats.org/officeDocument/2006/math">
                    <m:r>
                      <a:rPr lang="ja-JP" altLang="en-US" i="1"/>
                      <m:t>𝑚</m:t>
                    </m:r>
                  </m:oMath>
                </a14:m>
                <a:r>
                  <a:rPr lang="ja-JP" altLang="ja-JP" dirty="0"/>
                  <a:t>维线性子空间中，由前 </a:t>
                </a:r>
                <a14:m>
                  <m:oMath xmlns:m="http://schemas.openxmlformats.org/officeDocument/2006/math">
                    <m:r>
                      <a:rPr lang="ja-JP" altLang="en-US" i="1"/>
                      <m:t>𝑚</m:t>
                    </m:r>
                  </m:oMath>
                </a14:m>
                <a:r>
                  <a:rPr lang="ja-JP" altLang="ja-JP" dirty="0"/>
                  <a:t>个主成分张成的子空间能够最小化重构误差。</a:t>
                </a:r>
              </a:p>
              <a:p>
                <a:pPr>
                  <a:lnSpc>
                    <a:spcPct val="110000"/>
                  </a:lnSpc>
                </a:pPr>
                <a:r>
                  <a:rPr lang="ja-JP" altLang="ja-JP" dirty="0"/>
                  <a:t>也就是说，PCA 解的是：</a:t>
                </a:r>
                <a14:m>
                  <m:oMath xmlns:m="http://schemas.openxmlformats.org/officeDocument/2006/math">
                    <m:sSub>
                      <m:sSubPr>
                        <m:ctrlPr>
                          <a:rPr lang="ja-JP" altLang="en-US" i="1" smtClean="0">
                            <a:latin typeface="Cambria Math" panose="02040503050406030204" pitchFamily="18" charset="0"/>
                          </a:rPr>
                        </m:ctrlPr>
                      </m:sSubPr>
                      <m:e>
                        <m:r>
                          <m:rPr>
                            <m:sty m:val="p"/>
                          </m:rPr>
                          <a:rPr lang="en-US" altLang="ja-JP" b="0" i="1" smtClean="0">
                            <a:latin typeface="Cambria Math" panose="02040503050406030204" pitchFamily="18" charset="0"/>
                          </a:rPr>
                          <m:t>min</m:t>
                        </m:r>
                      </m:e>
                      <m:sub>
                        <m:func>
                          <m:funcPr>
                            <m:ctrlPr>
                              <a:rPr lang="ja-JP" altLang="en-US" i="1">
                                <a:latin typeface="Cambria Math" panose="02040503050406030204" pitchFamily="18" charset="0"/>
                              </a:rPr>
                            </m:ctrlPr>
                          </m:funcPr>
                          <m:fName>
                            <m:r>
                              <m:rPr>
                                <m:sty m:val="p"/>
                              </m:rPr>
                              <a:rPr lang="en-US" altLang="ja-JP">
                                <a:latin typeface="Cambria Math" panose="02040503050406030204" pitchFamily="18" charset="0"/>
                              </a:rPr>
                              <m:t>dim</m:t>
                            </m:r>
                          </m:fName>
                          <m:e>
                            <m:r>
                              <a:rPr lang="ja-JP" altLang="en-US" i="1">
                                <a:latin typeface="Cambria Math" panose="02040503050406030204" pitchFamily="18" charset="0"/>
                              </a:rPr>
                              <m:t>𝑉</m:t>
                            </m:r>
                          </m:e>
                        </m:func>
                        <m:r>
                          <a:rPr lang="en-US" altLang="ja-JP">
                            <a:latin typeface="Cambria Math" panose="02040503050406030204" pitchFamily="18" charset="0"/>
                          </a:rPr>
                          <m:t>=</m:t>
                        </m:r>
                        <m:r>
                          <a:rPr lang="ja-JP" altLang="en-US" i="1">
                            <a:latin typeface="Cambria Math" panose="02040503050406030204" pitchFamily="18" charset="0"/>
                          </a:rPr>
                          <m:t>𝑚</m:t>
                        </m:r>
                      </m:sub>
                    </m:sSub>
                    <m:nary>
                      <m:naryPr>
                        <m:chr m:val="∑"/>
                        <m:grow m:val="on"/>
                        <m:ctrlPr>
                          <a:rPr lang="ja-JP" altLang="en-US" i="1"/>
                        </m:ctrlPr>
                      </m:naryPr>
                      <m:sub>
                        <m:r>
                          <a:rPr lang="ja-JP" altLang="en-US" i="1"/>
                          <m:t>𝑖</m:t>
                        </m:r>
                        <m:r>
                          <a:rPr lang="en-US" altLang="ja-JP"/>
                          <m:t>=</m:t>
                        </m:r>
                        <m:r>
                          <a:rPr lang="en-US" altLang="ja-JP"/>
                          <m:t>1</m:t>
                        </m:r>
                      </m:sub>
                      <m:sup>
                        <m:r>
                          <a:rPr lang="ja-JP" altLang="en-US" i="1"/>
                          <m:t>𝑛</m:t>
                        </m:r>
                      </m:sup>
                      <m:e>
                        <m:r>
                          <a:rPr lang="ja-JP" altLang="en-US"/>
                          <m:t>∥</m:t>
                        </m:r>
                      </m:e>
                    </m:nary>
                    <m:sSub>
                      <m:sSubPr>
                        <m:ctrlPr>
                          <a:rPr lang="ja-JP" altLang="en-US" i="1"/>
                        </m:ctrlPr>
                      </m:sSubPr>
                      <m:e>
                        <m:r>
                          <a:rPr lang="ja-JP" altLang="en-US" i="1"/>
                          <m:t>𝑥</m:t>
                        </m:r>
                      </m:e>
                      <m:sub>
                        <m:r>
                          <a:rPr lang="ja-JP" altLang="en-US" i="1"/>
                          <m:t>𝑖</m:t>
                        </m:r>
                      </m:sub>
                    </m:sSub>
                    <m:r>
                      <a:rPr lang="ja-JP" altLang="en-US"/>
                      <m:t>−</m:t>
                    </m:r>
                    <m:sSub>
                      <m:sSubPr>
                        <m:ctrlPr>
                          <a:rPr lang="ja-JP" altLang="en-US" i="1"/>
                        </m:ctrlPr>
                      </m:sSubPr>
                      <m:e>
                        <m:r>
                          <a:rPr lang="ja-JP" altLang="en-US" i="1"/>
                          <m:t>𝑃</m:t>
                        </m:r>
                      </m:e>
                      <m:sub>
                        <m:r>
                          <a:rPr lang="ja-JP" altLang="en-US" i="1"/>
                          <m:t>𝑉</m:t>
                        </m:r>
                      </m:sub>
                    </m:sSub>
                    <m:sSub>
                      <m:sSubPr>
                        <m:ctrlPr>
                          <a:rPr lang="ja-JP" altLang="en-US" i="1"/>
                        </m:ctrlPr>
                      </m:sSubPr>
                      <m:e>
                        <m:r>
                          <a:rPr lang="ja-JP" altLang="en-US" i="1"/>
                          <m:t>𝑥</m:t>
                        </m:r>
                      </m:e>
                      <m:sub>
                        <m:r>
                          <a:rPr lang="ja-JP" altLang="en-US" i="1"/>
                          <m:t>𝑖</m:t>
                        </m:r>
                      </m:sub>
                    </m:sSub>
                    <m:sSup>
                      <m:sSupPr>
                        <m:ctrlPr>
                          <a:rPr lang="ja-JP" altLang="en-US" i="1"/>
                        </m:ctrlPr>
                      </m:sSupPr>
                      <m:e>
                        <m:r>
                          <a:rPr lang="ja-JP" altLang="en-US"/>
                          <m:t>∥</m:t>
                        </m:r>
                      </m:e>
                      <m:sup>
                        <m:r>
                          <a:rPr lang="en-US" altLang="ja-JP"/>
                          <m:t>2</m:t>
                        </m:r>
                      </m:sup>
                    </m:sSup>
                  </m:oMath>
                </a14:m>
                <a:r>
                  <a:rPr lang="zh-CN" altLang="en-US" dirty="0"/>
                  <a:t>。</a:t>
                </a:r>
                <a:r>
                  <a:rPr lang="ja-JP" altLang="ja-JP" dirty="0"/>
                  <a:t>其中 </a:t>
                </a:r>
                <a14:m>
                  <m:oMath xmlns:m="http://schemas.openxmlformats.org/officeDocument/2006/math">
                    <m:sSub>
                      <m:sSubPr>
                        <m:ctrlPr>
                          <a:rPr lang="ja-JP" altLang="en-US"/>
                        </m:ctrlPr>
                      </m:sSubPr>
                      <m:e>
                        <m:r>
                          <a:rPr lang="ja-JP" altLang="en-US" i="1"/>
                          <m:t>𝑃</m:t>
                        </m:r>
                      </m:e>
                      <m:sub>
                        <m:r>
                          <a:rPr lang="ja-JP" altLang="en-US" i="1"/>
                          <m:t>𝑉</m:t>
                        </m:r>
                      </m:sub>
                    </m:sSub>
                    <m:sSub>
                      <m:sSubPr>
                        <m:ctrlPr>
                          <a:rPr lang="ja-JP" altLang="en-US" i="1"/>
                        </m:ctrlPr>
                      </m:sSubPr>
                      <m:e>
                        <m:r>
                          <a:rPr lang="ja-JP" altLang="en-US" i="1"/>
                          <m:t>𝑥</m:t>
                        </m:r>
                      </m:e>
                      <m:sub>
                        <m:r>
                          <a:rPr lang="ja-JP" altLang="en-US" i="1"/>
                          <m:t>𝑖</m:t>
                        </m:r>
                      </m:sub>
                    </m:sSub>
                  </m:oMath>
                </a14:m>
                <a:r>
                  <a:rPr lang="ja-JP" altLang="ja-JP" dirty="0"/>
                  <a:t>是 </a:t>
                </a:r>
                <a14:m>
                  <m:oMath xmlns:m="http://schemas.openxmlformats.org/officeDocument/2006/math">
                    <m:sSub>
                      <m:sSubPr>
                        <m:ctrlPr>
                          <a:rPr lang="ja-JP" altLang="en-US"/>
                        </m:ctrlPr>
                      </m:sSubPr>
                      <m:e>
                        <m:r>
                          <a:rPr lang="ja-JP" altLang="en-US" i="1"/>
                          <m:t>𝑥</m:t>
                        </m:r>
                      </m:e>
                      <m:sub>
                        <m:r>
                          <a:rPr lang="ja-JP" altLang="en-US" i="1"/>
                          <m:t>𝑖</m:t>
                        </m:r>
                      </m:sub>
                    </m:sSub>
                  </m:oMath>
                </a14:m>
                <a:r>
                  <a:rPr lang="ja-JP" altLang="ja-JP" dirty="0"/>
                  <a:t>在子空间 </a:t>
                </a:r>
                <a14:m>
                  <m:oMath xmlns:m="http://schemas.openxmlformats.org/officeDocument/2006/math">
                    <m:r>
                      <a:rPr lang="ja-JP" altLang="en-US" i="1"/>
                      <m:t>𝑉</m:t>
                    </m:r>
                  </m:oMath>
                </a14:m>
                <a:r>
                  <a:rPr lang="ja-JP" altLang="ja-JP" dirty="0"/>
                  <a:t>上的正交投影。</a:t>
                </a:r>
              </a:p>
              <a:p>
                <a:pPr marL="0" indent="0">
                  <a:lnSpc>
                    <a:spcPct val="110000"/>
                  </a:lnSpc>
                  <a:buNone/>
                </a:pPr>
                <a:r>
                  <a:rPr lang="ja-JP" altLang="ja-JP" dirty="0"/>
                  <a:t> </a:t>
                </a:r>
                <a:endParaRPr lang="en-US" altLang="ja-JP" dirty="0"/>
              </a:p>
              <a:p>
                <a:pPr marL="0" indent="0">
                  <a:lnSpc>
                    <a:spcPct val="110000"/>
                  </a:lnSpc>
                  <a:buNone/>
                </a:pPr>
                <a:r>
                  <a:rPr lang="ja-JP" altLang="ja-JP" dirty="0"/>
                  <a:t>PCA 不是简单的“降维技巧”，而是一个非常标准的 Hilbert 空间问题：</a:t>
                </a:r>
              </a:p>
              <a:p>
                <a:pPr marL="0" indent="0">
                  <a:lnSpc>
                    <a:spcPct val="110000"/>
                  </a:lnSpc>
                  <a:buNone/>
                </a:pPr>
                <a:r>
                  <a:rPr lang="ja-JP" altLang="ja-JP" dirty="0"/>
                  <a:t>在 Hilbert 空间中寻找一个最优低维子空间，使数据到该子空间的正交投影误差最小。</a:t>
                </a:r>
                <a:endParaRPr lang="en-US" altLang="ja-JP" dirty="0"/>
              </a:p>
              <a:p>
                <a:pPr marL="0" indent="0">
                  <a:lnSpc>
                    <a:spcPct val="110000"/>
                  </a:lnSpc>
                  <a:buNone/>
                </a:pPr>
                <a:endParaRPr lang="en-US" altLang="ja-JP" dirty="0"/>
              </a:p>
              <a:p>
                <a:pPr marL="0" indent="0">
                  <a:lnSpc>
                    <a:spcPct val="110000"/>
                  </a:lnSpc>
                  <a:buNone/>
                </a:pPr>
                <a:endParaRPr lang="en-US" altLang="ja-JP" dirty="0"/>
              </a:p>
              <a:p>
                <a:pPr marL="0" indent="0">
                  <a:lnSpc>
                    <a:spcPct val="110000"/>
                  </a:lnSpc>
                  <a:buNone/>
                </a:pPr>
                <a:endParaRPr lang="en-US" altLang="ja-JP" dirty="0"/>
              </a:p>
              <a:p>
                <a:pPr marL="0" indent="0">
                  <a:lnSpc>
                    <a:spcPct val="110000"/>
                  </a:lnSpc>
                  <a:buNone/>
                </a:pPr>
                <a:endParaRPr lang="en-US" altLang="ja-JP" dirty="0"/>
              </a:p>
              <a:p>
                <a:pPr marL="0" indent="0">
                  <a:lnSpc>
                    <a:spcPct val="110000"/>
                  </a:lnSpc>
                  <a:buNone/>
                </a:pPr>
                <a:endParaRPr lang="en-US" altLang="ja-JP" dirty="0"/>
              </a:p>
              <a:p>
                <a:pPr marL="0" indent="0">
                  <a:lnSpc>
                    <a:spcPct val="110000"/>
                  </a:lnSpc>
                  <a:buNone/>
                </a:pPr>
                <a:r>
                  <a:rPr lang="ja-JP" altLang="ja-JP" dirty="0"/>
                  <a:t>Fourier 是用固定的正交基分解信号；PCA 是用数据自己决定的正交基分解数据。</a:t>
                </a:r>
                <a:endParaRPr lang="en-US" altLang="ja-JP" dirty="0"/>
              </a:p>
              <a:p>
                <a:pPr marL="0" indent="0">
                  <a:lnSpc>
                    <a:spcPct val="11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33D89892-D46B-9C52-4C1C-4DF97540A567}"/>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8857" r="-20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graphicFrame>
            <p:nvGraphicFramePr>
              <p:cNvPr id="8" name="表 7">
                <a:extLst>
                  <a:ext uri="{FF2B5EF4-FFF2-40B4-BE49-F238E27FC236}">
                    <a16:creationId xmlns:a16="http://schemas.microsoft.com/office/drawing/2014/main" id="{A630BD98-208D-4B1D-CBB2-5DAD0628E4EB}"/>
                  </a:ext>
                </a:extLst>
              </p:cNvPr>
              <p:cNvGraphicFramePr>
                <a:graphicFrameLocks noGrp="1"/>
              </p:cNvGraphicFramePr>
              <p:nvPr>
                <p:extLst>
                  <p:ext uri="{D42A27DB-BD31-4B8C-83A1-F6EECF244321}">
                    <p14:modId xmlns:p14="http://schemas.microsoft.com/office/powerpoint/2010/main" val="1510038712"/>
                  </p:ext>
                </p:extLst>
              </p:nvPr>
            </p:nvGraphicFramePr>
            <p:xfrm>
              <a:off x="422940" y="4215637"/>
              <a:ext cx="11074400" cy="1143000"/>
            </p:xfrm>
            <a:graphic>
              <a:graphicData uri="http://schemas.openxmlformats.org/drawingml/2006/table">
                <a:tbl>
                  <a:tblPr/>
                  <a:tblGrid>
                    <a:gridCol w="1899920">
                      <a:extLst>
                        <a:ext uri="{9D8B030D-6E8A-4147-A177-3AD203B41FA5}">
                          <a16:colId xmlns:a16="http://schemas.microsoft.com/office/drawing/2014/main" val="1756161168"/>
                        </a:ext>
                      </a:extLst>
                    </a:gridCol>
                    <a:gridCol w="2706340">
                      <a:extLst>
                        <a:ext uri="{9D8B030D-6E8A-4147-A177-3AD203B41FA5}">
                          <a16:colId xmlns:a16="http://schemas.microsoft.com/office/drawing/2014/main" val="2106578642"/>
                        </a:ext>
                      </a:extLst>
                    </a:gridCol>
                    <a:gridCol w="3699540">
                      <a:extLst>
                        <a:ext uri="{9D8B030D-6E8A-4147-A177-3AD203B41FA5}">
                          <a16:colId xmlns:a16="http://schemas.microsoft.com/office/drawing/2014/main" val="2859343517"/>
                        </a:ext>
                      </a:extLst>
                    </a:gridCol>
                    <a:gridCol w="2768600">
                      <a:extLst>
                        <a:ext uri="{9D8B030D-6E8A-4147-A177-3AD203B41FA5}">
                          <a16:colId xmlns:a16="http://schemas.microsoft.com/office/drawing/2014/main" val="2122271340"/>
                        </a:ext>
                      </a:extLst>
                    </a:gridCol>
                  </a:tblGrid>
                  <a:tr h="0">
                    <a:tc>
                      <a:txBody>
                        <a:bodyPr/>
                        <a:lstStyle/>
                        <a:p>
                          <a:pPr>
                            <a:buNone/>
                          </a:pPr>
                          <a:r>
                            <a:rPr lang="ja-JP"/>
                            <a:t>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a:t>空间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a:t>基如何得到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a:t>系数是什么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3291562"/>
                      </a:ext>
                    </a:extLst>
                  </a:tr>
                  <a:tr h="0">
                    <a:tc>
                      <a:txBody>
                        <a:bodyPr/>
                        <a:lstStyle/>
                        <a:p>
                          <a:pPr>
                            <a:buNone/>
                          </a:pPr>
                          <a:r>
                            <a:rPr lang="ja-JP"/>
                            <a:t>Fourier 分解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14:m>
                            <m:oMath xmlns:m="http://schemas.openxmlformats.org/officeDocument/2006/math">
                              <m:sSup>
                                <m:sSupPr>
                                  <m:ctrlPr>
                                    <a:rPr lang="ja-JP" altLang="en-US" i="1" dirty="0" smtClean="0">
                                      <a:latin typeface="Cambria Math" panose="02040503050406030204" pitchFamily="18" charset="0"/>
                                    </a:rPr>
                                  </m:ctrlPr>
                                </m:sSupPr>
                                <m:e>
                                  <m:r>
                                    <a:rPr lang="ja-JP" altLang="en-US" i="1" dirty="0" smtClean="0">
                                      <a:latin typeface="Cambria Math" panose="02040503050406030204" pitchFamily="18" charset="0"/>
                                    </a:rPr>
                                    <m:t>𝐿</m:t>
                                  </m:r>
                                </m:e>
                                <m:sup>
                                  <m:r>
                                    <a:rPr lang="ja-JP" i="1" dirty="0">
                                      <a:latin typeface="Cambria Math" panose="02040503050406030204" pitchFamily="18" charset="0"/>
                                    </a:rPr>
                                    <m:t>2</m:t>
                                  </m:r>
                                </m:sup>
                              </m:sSup>
                            </m:oMath>
                          </a14:m>
                          <a:r>
                            <a:rPr lang="ja-JP" dirty="0"/>
                            <a:t> 函数空间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a:t>预先给定的正交 Fourier 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14:m>
                            <m:oMathPara xmlns:m="http://schemas.openxmlformats.org/officeDocument/2006/math">
                              <m:oMathParaPr>
                                <m:jc m:val="centerGroup"/>
                              </m:oMathParaPr>
                              <m:oMath xmlns:m="http://schemas.openxmlformats.org/officeDocument/2006/math">
                                <m:d>
                                  <m:dPr>
                                    <m:begChr m:val="⟨"/>
                                    <m:endChr m:val="⟩"/>
                                    <m:ctrlPr>
                                      <a:rPr lang="en-US" altLang="ja-JP" i="1" dirty="0" smtClean="0">
                                        <a:latin typeface="Cambria Math" panose="02040503050406030204" pitchFamily="18" charset="0"/>
                                      </a:rPr>
                                    </m:ctrlPr>
                                  </m:dPr>
                                  <m:e>
                                    <m:r>
                                      <a:rPr lang="ja-JP" altLang="en-US" i="1" dirty="0">
                                        <a:latin typeface="Cambria Math" panose="02040503050406030204" pitchFamily="18" charset="0"/>
                                      </a:rPr>
                                      <m:t>𝑓</m:t>
                                    </m:r>
                                    <m:r>
                                      <a:rPr lang="ja-JP" i="1" dirty="0">
                                        <a:latin typeface="Cambria Math" panose="02040503050406030204" pitchFamily="18" charset="0"/>
                                      </a:rPr>
                                      <m:t>,</m:t>
                                    </m:r>
                                    <m:sSub>
                                      <m:sSubPr>
                                        <m:ctrlPr>
                                          <a:rPr lang="ja-JP" altLang="en-US" i="1" dirty="0">
                                            <a:latin typeface="Cambria Math" panose="02040503050406030204" pitchFamily="18" charset="0"/>
                                          </a:rPr>
                                        </m:ctrlPr>
                                      </m:sSubPr>
                                      <m:e>
                                        <m:r>
                                          <a:rPr lang="ja-JP" altLang="en-US" i="1" dirty="0">
                                            <a:latin typeface="Cambria Math" panose="02040503050406030204" pitchFamily="18" charset="0"/>
                                          </a:rPr>
                                          <m:t>𝑒</m:t>
                                        </m:r>
                                      </m:e>
                                      <m:sub>
                                        <m:r>
                                          <a:rPr lang="ja-JP" altLang="en-US" i="1" dirty="0">
                                            <a:latin typeface="Cambria Math" panose="02040503050406030204" pitchFamily="18" charset="0"/>
                                          </a:rPr>
                                          <m:t>𝑘</m:t>
                                        </m:r>
                                      </m:sub>
                                    </m:sSub>
                                  </m:e>
                                </m:d>
                              </m:oMath>
                            </m:oMathPara>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4684745"/>
                      </a:ext>
                    </a:extLst>
                  </a:tr>
                  <a:tr h="0">
                    <a:tc>
                      <a:txBody>
                        <a:bodyPr/>
                        <a:lstStyle/>
                        <a:p>
                          <a:pPr>
                            <a:buNone/>
                          </a:pPr>
                          <a:r>
                            <a:rPr lang="ja-JP"/>
                            <a:t>PCA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14:m>
                            <m:oMath xmlns:m="http://schemas.openxmlformats.org/officeDocument/2006/math">
                              <m:sSup>
                                <m:sSupPr>
                                  <m:ctrlPr>
                                    <a:rPr lang="ja-JP" altLang="en-US" i="1" dirty="0" smtClean="0">
                                      <a:latin typeface="Cambria Math" panose="02040503050406030204" pitchFamily="18" charset="0"/>
                                    </a:rPr>
                                  </m:ctrlPr>
                                </m:sSupPr>
                                <m:e>
                                  <m:r>
                                    <a:rPr lang="ja-JP" altLang="en-US" i="1" dirty="0">
                                      <a:latin typeface="Cambria Math" panose="02040503050406030204" pitchFamily="18" charset="0"/>
                                    </a:rPr>
                                    <m:t>ℝ</m:t>
                                  </m:r>
                                </m:e>
                                <m:sup>
                                  <m:r>
                                    <a:rPr lang="ja-JP" altLang="en-US" i="1" dirty="0">
                                      <a:latin typeface="Cambria Math" panose="02040503050406030204" pitchFamily="18" charset="0"/>
                                    </a:rPr>
                                    <m:t>𝕕</m:t>
                                  </m:r>
                                </m:sup>
                              </m:sSup>
                              <m:r>
                                <a:rPr lang="ja-JP" altLang="en-US" i="1" dirty="0" smtClean="0">
                                  <a:latin typeface="Cambria Math" panose="02040503050406030204" pitchFamily="18" charset="0"/>
                                </a:rPr>
                                <m:t>　</m:t>
                              </m:r>
                            </m:oMath>
                          </a14:m>
                          <a:r>
                            <a:rPr lang="ja-JP" dirty="0"/>
                            <a:t>Hilbert 空间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a:t>从数据中学习出的正交主成分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14:m>
                            <m:oMathPara xmlns:m="http://schemas.openxmlformats.org/officeDocument/2006/math">
                              <m:oMathParaPr>
                                <m:jc m:val="centerGroup"/>
                              </m:oMathParaPr>
                              <m:oMath xmlns:m="http://schemas.openxmlformats.org/officeDocument/2006/math">
                                <m:d>
                                  <m:dPr>
                                    <m:begChr m:val="⟨"/>
                                    <m:endChr m:val="⟩"/>
                                    <m:ctrlPr>
                                      <a:rPr lang="en-US" altLang="ja-JP" i="1" dirty="0" smtClean="0">
                                        <a:latin typeface="Cambria Math" panose="02040503050406030204" pitchFamily="18" charset="0"/>
                                      </a:rPr>
                                    </m:ctrlPr>
                                  </m:dPr>
                                  <m:e>
                                    <m:r>
                                      <a:rPr lang="ja-JP" altLang="en-US" i="1" dirty="0">
                                        <a:latin typeface="Cambria Math" panose="02040503050406030204" pitchFamily="18" charset="0"/>
                                      </a:rPr>
                                      <m:t>𝑥</m:t>
                                    </m:r>
                                    <m:r>
                                      <a:rPr lang="ja-JP" i="1" dirty="0">
                                        <a:latin typeface="Cambria Math" panose="02040503050406030204" pitchFamily="18" charset="0"/>
                                      </a:rPr>
                                      <m:t>,</m:t>
                                    </m:r>
                                    <m:sSub>
                                      <m:sSubPr>
                                        <m:ctrlPr>
                                          <a:rPr lang="ja-JP" altLang="en-US" i="1" dirty="0">
                                            <a:latin typeface="Cambria Math" panose="02040503050406030204" pitchFamily="18" charset="0"/>
                                          </a:rPr>
                                        </m:ctrlPr>
                                      </m:sSubPr>
                                      <m:e>
                                        <m:r>
                                          <a:rPr lang="ja-JP" altLang="en-US" i="1" dirty="0">
                                            <a:latin typeface="Cambria Math" panose="02040503050406030204" pitchFamily="18" charset="0"/>
                                          </a:rPr>
                                          <m:t>𝑢</m:t>
                                        </m:r>
                                      </m:e>
                                      <m:sub>
                                        <m:r>
                                          <a:rPr lang="ja-JP" altLang="en-US" i="1" dirty="0">
                                            <a:latin typeface="Cambria Math" panose="02040503050406030204" pitchFamily="18" charset="0"/>
                                          </a:rPr>
                                          <m:t>𝑘</m:t>
                                        </m:r>
                                      </m:sub>
                                    </m:sSub>
                                  </m:e>
                                </m:d>
                              </m:oMath>
                            </m:oMathPara>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6697858"/>
                      </a:ext>
                    </a:extLst>
                  </a:tr>
                </a:tbl>
              </a:graphicData>
            </a:graphic>
          </p:graphicFrame>
        </mc:Choice>
        <mc:Fallback>
          <p:graphicFrame>
            <p:nvGraphicFramePr>
              <p:cNvPr id="8" name="表 7">
                <a:extLst>
                  <a:ext uri="{FF2B5EF4-FFF2-40B4-BE49-F238E27FC236}">
                    <a16:creationId xmlns:a16="http://schemas.microsoft.com/office/drawing/2014/main" id="{A630BD98-208D-4B1D-CBB2-5DAD0628E4EB}"/>
                  </a:ext>
                </a:extLst>
              </p:cNvPr>
              <p:cNvGraphicFramePr>
                <a:graphicFrameLocks noGrp="1"/>
              </p:cNvGraphicFramePr>
              <p:nvPr>
                <p:extLst>
                  <p:ext uri="{D42A27DB-BD31-4B8C-83A1-F6EECF244321}">
                    <p14:modId xmlns:p14="http://schemas.microsoft.com/office/powerpoint/2010/main" val="1510038712"/>
                  </p:ext>
                </p:extLst>
              </p:nvPr>
            </p:nvGraphicFramePr>
            <p:xfrm>
              <a:off x="422940" y="4215637"/>
              <a:ext cx="11074400" cy="1143000"/>
            </p:xfrm>
            <a:graphic>
              <a:graphicData uri="http://schemas.openxmlformats.org/drawingml/2006/table">
                <a:tbl>
                  <a:tblPr/>
                  <a:tblGrid>
                    <a:gridCol w="1899920">
                      <a:extLst>
                        <a:ext uri="{9D8B030D-6E8A-4147-A177-3AD203B41FA5}">
                          <a16:colId xmlns:a16="http://schemas.microsoft.com/office/drawing/2014/main" val="1756161168"/>
                        </a:ext>
                      </a:extLst>
                    </a:gridCol>
                    <a:gridCol w="2706340">
                      <a:extLst>
                        <a:ext uri="{9D8B030D-6E8A-4147-A177-3AD203B41FA5}">
                          <a16:colId xmlns:a16="http://schemas.microsoft.com/office/drawing/2014/main" val="2106578642"/>
                        </a:ext>
                      </a:extLst>
                    </a:gridCol>
                    <a:gridCol w="3699540">
                      <a:extLst>
                        <a:ext uri="{9D8B030D-6E8A-4147-A177-3AD203B41FA5}">
                          <a16:colId xmlns:a16="http://schemas.microsoft.com/office/drawing/2014/main" val="2859343517"/>
                        </a:ext>
                      </a:extLst>
                    </a:gridCol>
                    <a:gridCol w="2768600">
                      <a:extLst>
                        <a:ext uri="{9D8B030D-6E8A-4147-A177-3AD203B41FA5}">
                          <a16:colId xmlns:a16="http://schemas.microsoft.com/office/drawing/2014/main" val="2122271340"/>
                        </a:ext>
                      </a:extLst>
                    </a:gridCol>
                  </a:tblGrid>
                  <a:tr h="365760">
                    <a:tc>
                      <a:txBody>
                        <a:bodyPr/>
                        <a:lstStyle/>
                        <a:p>
                          <a:pPr>
                            <a:buNone/>
                          </a:pPr>
                          <a:r>
                            <a:rPr lang="ja-JP"/>
                            <a:t>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a:t>空间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a:t>基如何得到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ja-JP"/>
                            <a:t>系数是什么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3291562"/>
                      </a:ext>
                    </a:extLst>
                  </a:tr>
                  <a:tr h="365760">
                    <a:tc>
                      <a:txBody>
                        <a:bodyPr/>
                        <a:lstStyle/>
                        <a:p>
                          <a:pPr>
                            <a:buNone/>
                          </a:pPr>
                          <a:r>
                            <a:rPr lang="ja-JP"/>
                            <a:t>Fourier 分解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70495" t="-111475" r="-239640" b="-137705"/>
                          </a:stretch>
                        </a:blipFill>
                      </a:tcPr>
                    </a:tc>
                    <a:tc>
                      <a:txBody>
                        <a:bodyPr/>
                        <a:lstStyle/>
                        <a:p>
                          <a:pPr>
                            <a:buNone/>
                          </a:pPr>
                          <a:r>
                            <a:rPr lang="ja-JP"/>
                            <a:t>预先给定的正交 Fourier 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0661" t="-111475" r="-441" b="-137705"/>
                          </a:stretch>
                        </a:blipFill>
                      </a:tcPr>
                    </a:tc>
                    <a:extLst>
                      <a:ext uri="{0D108BD9-81ED-4DB2-BD59-A6C34878D82A}">
                        <a16:rowId xmlns:a16="http://schemas.microsoft.com/office/drawing/2014/main" val="3904684745"/>
                      </a:ext>
                    </a:extLst>
                  </a:tr>
                  <a:tr h="411480">
                    <a:tc>
                      <a:txBody>
                        <a:bodyPr/>
                        <a:lstStyle/>
                        <a:p>
                          <a:pPr>
                            <a:buNone/>
                          </a:pPr>
                          <a:r>
                            <a:rPr lang="ja-JP"/>
                            <a:t>PCA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70495" t="-189706" r="-239640" b="-23529"/>
                          </a:stretch>
                        </a:blipFill>
                      </a:tcPr>
                    </a:tc>
                    <a:tc>
                      <a:txBody>
                        <a:bodyPr/>
                        <a:lstStyle/>
                        <a:p>
                          <a:pPr>
                            <a:buNone/>
                          </a:pPr>
                          <a:r>
                            <a:rPr lang="ja-JP"/>
                            <a:t>从数据中学习出的正交主成分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00661" t="-189706" r="-441" b="-23529"/>
                          </a:stretch>
                        </a:blipFill>
                      </a:tcPr>
                    </a:tc>
                    <a:extLst>
                      <a:ext uri="{0D108BD9-81ED-4DB2-BD59-A6C34878D82A}">
                        <a16:rowId xmlns:a16="http://schemas.microsoft.com/office/drawing/2014/main" val="2156697858"/>
                      </a:ext>
                    </a:extLst>
                  </a:tr>
                </a:tbl>
              </a:graphicData>
            </a:graphic>
          </p:graphicFrame>
        </mc:Fallback>
      </mc:AlternateContent>
    </p:spTree>
    <p:extLst>
      <p:ext uri="{BB962C8B-B14F-4D97-AF65-F5344CB8AC3E}">
        <p14:creationId xmlns:p14="http://schemas.microsoft.com/office/powerpoint/2010/main" val="423574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06619-8BBE-4903-C5A2-290737EB0E62}"/>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6107B654-0B69-653E-11C4-C80B370C549A}"/>
              </a:ext>
            </a:extLst>
          </p:cNvPr>
          <p:cNvSpPr>
            <a:spLocks noGrp="1" noChangeArrowheads="1"/>
          </p:cNvSpPr>
          <p:nvPr>
            <p:ph type="title"/>
          </p:nvPr>
        </p:nvSpPr>
        <p:spPr/>
        <p:txBody>
          <a:bodyPr/>
          <a:lstStyle/>
          <a:p>
            <a:r>
              <a:rPr lang="en-US" altLang="zh-CN" b="1" dirty="0"/>
              <a:t>Kernel PCA</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4E4B0000-E62F-6579-6FAB-3499E7A7D303}"/>
                  </a:ext>
                </a:extLst>
              </p:cNvPr>
              <p:cNvSpPr>
                <a:spLocks noGrp="1"/>
              </p:cNvSpPr>
              <p:nvPr>
                <p:ph idx="1"/>
              </p:nvPr>
            </p:nvSpPr>
            <p:spPr>
              <a:xfrm>
                <a:off x="213360" y="1112520"/>
                <a:ext cx="11877040" cy="5440680"/>
              </a:xfrm>
            </p:spPr>
            <p:txBody>
              <a:bodyPr/>
              <a:lstStyle/>
              <a:p>
                <a:pPr>
                  <a:lnSpc>
                    <a:spcPct val="120000"/>
                  </a:lnSpc>
                </a:pPr>
                <a:r>
                  <a:rPr lang="ja-JP" altLang="ja-JP" dirty="0"/>
                  <a:t>Kernel PCA 是 PCA 的非线性推广。普通 PCA 只能找到线性结构。只能寻找原始空间中的线性子空间</a:t>
                </a:r>
                <a:endParaRPr lang="en-US" altLang="ja-JP" dirty="0"/>
              </a:p>
              <a:p>
                <a:pPr>
                  <a:lnSpc>
                    <a:spcPct val="120000"/>
                  </a:lnSpc>
                </a:pPr>
                <a:r>
                  <a:rPr lang="ja-JP" altLang="ja-JP" dirty="0"/>
                  <a:t>但是很多数据的结构是非线性的。例如，二维平面上的点可能分布在一个圆环上。这个时候，用一条直线或一个平面去近似它，效果并不好。</a:t>
                </a:r>
              </a:p>
              <a:p>
                <a:pPr>
                  <a:lnSpc>
                    <a:spcPct val="120000"/>
                  </a:lnSpc>
                </a:pPr>
                <a:r>
                  <a:rPr lang="ja-JP" altLang="ja-JP" dirty="0"/>
                  <a:t>Kernel PCA 的思想是：</a:t>
                </a:r>
                <a:endParaRPr lang="en-US" altLang="ja-JP" dirty="0"/>
              </a:p>
              <a:p>
                <a:pPr lvl="1">
                  <a:lnSpc>
                    <a:spcPct val="120000"/>
                  </a:lnSpc>
                </a:pPr>
                <a:r>
                  <a:rPr lang="ja-JP" altLang="ja-JP" dirty="0"/>
                  <a:t>先把数据通过非线性映射送到一个高维甚至无限维 Hilbert 空间中，然后在那个空间里做 PCA。</a:t>
                </a:r>
                <a14:m>
                  <m:oMath xmlns:m="http://schemas.openxmlformats.org/officeDocument/2006/math">
                    <m:r>
                      <a:rPr lang="ja-JP" altLang="en-US" i="1"/>
                      <m:t>𝑥</m:t>
                    </m:r>
                    <m:r>
                      <a:rPr lang="ja-JP" altLang="en-US"/>
                      <m:t>↦</m:t>
                    </m:r>
                    <m:r>
                      <a:rPr lang="ja-JP" altLang="en-US" i="1"/>
                      <m:t>𝜙</m:t>
                    </m:r>
                    <m:d>
                      <m:dPr>
                        <m:ctrlPr>
                          <a:rPr lang="ja-JP" altLang="en-US" i="1"/>
                        </m:ctrlPr>
                      </m:dPr>
                      <m:e>
                        <m:r>
                          <a:rPr lang="ja-JP" altLang="en-US" i="1"/>
                          <m:t>𝑥</m:t>
                        </m:r>
                      </m:e>
                    </m:d>
                  </m:oMath>
                </a14:m>
                <a:r>
                  <a:rPr lang="en-US" altLang="ja-JP" dirty="0"/>
                  <a:t> </a:t>
                </a:r>
                <a:r>
                  <a:rPr lang="ja-JP" altLang="ja-JP" dirty="0"/>
                  <a:t>这里 </a:t>
                </a:r>
                <a14:m>
                  <m:oMath xmlns:m="http://schemas.openxmlformats.org/officeDocument/2006/math">
                    <m:r>
                      <a:rPr lang="ja-JP" altLang="en-US" i="1"/>
                      <m:t>𝜙</m:t>
                    </m:r>
                  </m:oMath>
                </a14:m>
                <a:r>
                  <a:rPr lang="ja-JP" altLang="ja-JP" dirty="0"/>
                  <a:t>是特征映射。可以把原来的数据映射到</a:t>
                </a:r>
                <a14:m>
                  <m:oMath xmlns:m="http://schemas.openxmlformats.org/officeDocument/2006/math">
                    <m:r>
                      <a:rPr lang="en-US" altLang="ja-JP"/>
                      <m:t>ℋ</m:t>
                    </m:r>
                    <m:r>
                      <a:rPr lang="zh-CN" altLang="en-US" i="1">
                        <a:latin typeface="Cambria Math" panose="02040503050406030204" pitchFamily="18" charset="0"/>
                      </a:rPr>
                      <m:t>，</m:t>
                    </m:r>
                  </m:oMath>
                </a14:m>
                <a:r>
                  <a:rPr lang="ja-JP" altLang="ja-JP" dirty="0"/>
                  <a:t>一个 Hilbert 空间。</a:t>
                </a:r>
              </a:p>
              <a:p>
                <a:pPr lvl="1">
                  <a:lnSpc>
                    <a:spcPct val="120000"/>
                  </a:lnSpc>
                </a:pPr>
                <a:r>
                  <a:rPr lang="ja-JP" altLang="ja-JP" dirty="0"/>
                  <a:t>然后在 </a:t>
                </a:r>
                <a14:m>
                  <m:oMath xmlns:m="http://schemas.openxmlformats.org/officeDocument/2006/math">
                    <m:r>
                      <a:rPr lang="en-US" altLang="ja-JP"/>
                      <m:t>ℋ</m:t>
                    </m:r>
                  </m:oMath>
                </a14:m>
                <a:r>
                  <a:rPr lang="ja-JP" altLang="ja-JP" dirty="0"/>
                  <a:t>中做普通 PCA。也就是说，Kernel PCA 做的是：</a:t>
                </a:r>
                <a14:m>
                  <m:oMath xmlns:m="http://schemas.openxmlformats.org/officeDocument/2006/math">
                    <m:r>
                      <a:rPr lang="ja-JP" altLang="en-US" i="1"/>
                      <m:t>𝜙</m:t>
                    </m:r>
                    <m:d>
                      <m:dPr>
                        <m:ctrlPr>
                          <a:rPr lang="ja-JP" altLang="en-US" i="1"/>
                        </m:ctrlPr>
                      </m:dPr>
                      <m:e>
                        <m:sSub>
                          <m:sSubPr>
                            <m:ctrlPr>
                              <a:rPr lang="ja-JP" altLang="en-US" i="1"/>
                            </m:ctrlPr>
                          </m:sSubPr>
                          <m:e>
                            <m:r>
                              <a:rPr lang="ja-JP" altLang="en-US" i="1"/>
                              <m:t>𝑥</m:t>
                            </m:r>
                          </m:e>
                          <m:sub>
                            <m:r>
                              <a:rPr lang="en-US" altLang="ja-JP"/>
                              <m:t>1</m:t>
                            </m:r>
                          </m:sub>
                        </m:sSub>
                      </m:e>
                    </m:d>
                    <m:r>
                      <a:rPr lang="en-US" altLang="ja-JP"/>
                      <m:t>,</m:t>
                    </m:r>
                    <m:r>
                      <a:rPr lang="ja-JP" altLang="en-US" i="1"/>
                      <m:t>𝜙</m:t>
                    </m:r>
                    <m:d>
                      <m:dPr>
                        <m:ctrlPr>
                          <a:rPr lang="ja-JP" altLang="en-US" i="1"/>
                        </m:ctrlPr>
                      </m:dPr>
                      <m:e>
                        <m:sSub>
                          <m:sSubPr>
                            <m:ctrlPr>
                              <a:rPr lang="ja-JP" altLang="en-US" i="1"/>
                            </m:ctrlPr>
                          </m:sSubPr>
                          <m:e>
                            <m:r>
                              <a:rPr lang="ja-JP" altLang="en-US" i="1"/>
                              <m:t>𝑥</m:t>
                            </m:r>
                          </m:e>
                          <m:sub>
                            <m:r>
                              <a:rPr lang="en-US" altLang="ja-JP"/>
                              <m:t>2</m:t>
                            </m:r>
                          </m:sub>
                        </m:sSub>
                      </m:e>
                    </m:d>
                    <m:r>
                      <a:rPr lang="en-US" altLang="ja-JP"/>
                      <m:t>,…,</m:t>
                    </m:r>
                    <m:r>
                      <a:rPr lang="ja-JP" altLang="en-US" i="1"/>
                      <m:t>𝜙</m:t>
                    </m:r>
                    <m:d>
                      <m:dPr>
                        <m:ctrlPr>
                          <a:rPr lang="ja-JP" altLang="en-US" i="1"/>
                        </m:ctrlPr>
                      </m:dPr>
                      <m:e>
                        <m:sSub>
                          <m:sSubPr>
                            <m:ctrlPr>
                              <a:rPr lang="ja-JP" altLang="en-US" i="1"/>
                            </m:ctrlPr>
                          </m:sSubPr>
                          <m:e>
                            <m:r>
                              <a:rPr lang="ja-JP" altLang="en-US" i="1"/>
                              <m:t>𝑥</m:t>
                            </m:r>
                          </m:e>
                          <m:sub>
                            <m:r>
                              <a:rPr lang="ja-JP" altLang="en-US" i="1"/>
                              <m:t>𝑛</m:t>
                            </m:r>
                          </m:sub>
                        </m:sSub>
                      </m:e>
                    </m:d>
                  </m:oMath>
                </a14:m>
                <a:r>
                  <a:rPr lang="ja-JP" altLang="ja-JP" dirty="0"/>
                  <a:t>这些点的 PCA。</a:t>
                </a:r>
              </a:p>
              <a:p>
                <a:pPr>
                  <a:lnSpc>
                    <a:spcPct val="120000"/>
                  </a:lnSpc>
                </a:pPr>
                <a:endParaRPr lang="en-US" altLang="ja-JP" dirty="0"/>
              </a:p>
              <a:p>
                <a:pPr marL="0" indent="0">
                  <a:lnSpc>
                    <a:spcPct val="120000"/>
                  </a:lnSpc>
                  <a:buNone/>
                </a:pPr>
                <a:r>
                  <a:rPr lang="ja-JP" altLang="ja-JP" dirty="0"/>
                  <a:t>在特征空间中，PCA 需要计算内积：</a:t>
                </a:r>
                <a14:m>
                  <m:oMath xmlns:m="http://schemas.openxmlformats.org/officeDocument/2006/math">
                    <m:sSub>
                      <m:sSubPr>
                        <m:ctrlPr>
                          <a:rPr lang="ja-JP" altLang="en-US"/>
                        </m:ctrlPr>
                      </m:sSubPr>
                      <m:e>
                        <m:d>
                          <m:dPr>
                            <m:begChr m:val="⟨"/>
                            <m:endChr m:val="⟩"/>
                            <m:sepChr m:val=","/>
                            <m:ctrlPr>
                              <a:rPr lang="ja-JP" altLang="en-US"/>
                            </m:ctrlPr>
                          </m:dPr>
                          <m:e>
                            <m:r>
                              <a:rPr lang="ja-JP" altLang="en-US" i="1"/>
                              <m:t>𝜙</m:t>
                            </m:r>
                            <m:d>
                              <m:dPr>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𝑥</m:t>
                                    </m:r>
                                  </m:e>
                                  <m:sub>
                                    <m:r>
                                      <a:rPr lang="ja-JP" altLang="en-US" i="1">
                                        <a:latin typeface="Cambria Math" panose="02040503050406030204" pitchFamily="18" charset="0"/>
                                      </a:rPr>
                                      <m:t>𝑖</m:t>
                                    </m:r>
                                  </m:sub>
                                </m:sSub>
                              </m:e>
                            </m:d>
                          </m:e>
                          <m:e>
                            <m:r>
                              <a:rPr lang="ja-JP" altLang="en-US" i="1"/>
                              <m:t>𝜙</m:t>
                            </m:r>
                            <m:d>
                              <m:dPr>
                                <m:ctrlPr>
                                  <a:rPr lang="ja-JP" altLang="en-US" i="1"/>
                                </m:ctrlPr>
                              </m:dPr>
                              <m:e>
                                <m:sSub>
                                  <m:sSubPr>
                                    <m:ctrlPr>
                                      <a:rPr lang="ja-JP" altLang="en-US" i="1"/>
                                    </m:ctrlPr>
                                  </m:sSubPr>
                                  <m:e>
                                    <m:r>
                                      <a:rPr lang="ja-JP" altLang="en-US" i="1"/>
                                      <m:t>𝑥</m:t>
                                    </m:r>
                                  </m:e>
                                  <m:sub>
                                    <m:r>
                                      <a:rPr lang="ja-JP" altLang="en-US" i="1"/>
                                      <m:t>𝑗</m:t>
                                    </m:r>
                                  </m:sub>
                                </m:sSub>
                              </m:e>
                            </m:d>
                          </m:e>
                        </m:d>
                      </m:e>
                      <m:sub>
                        <m:r>
                          <a:rPr lang="en-US" altLang="ja-JP"/>
                          <m:t>ℋ</m:t>
                        </m:r>
                      </m:sub>
                    </m:sSub>
                  </m:oMath>
                </a14:m>
                <a:r>
                  <a:rPr lang="zh-CN" altLang="en-US" dirty="0"/>
                  <a:t>。</a:t>
                </a:r>
                <a:r>
                  <a:rPr lang="ja-JP" altLang="ja-JP" dirty="0"/>
                  <a:t>如果 </a:t>
                </a:r>
                <a14:m>
                  <m:oMath xmlns:m="http://schemas.openxmlformats.org/officeDocument/2006/math">
                    <m:r>
                      <a:rPr lang="ja-JP" altLang="en-US" i="1"/>
                      <m:t>𝜙</m:t>
                    </m:r>
                    <m:d>
                      <m:dPr>
                        <m:ctrlPr>
                          <a:rPr lang="ja-JP" altLang="en-US" i="1"/>
                        </m:ctrlPr>
                      </m:dPr>
                      <m:e>
                        <m:r>
                          <a:rPr lang="ja-JP" altLang="en-US" i="1"/>
                          <m:t>𝑥</m:t>
                        </m:r>
                      </m:e>
                    </m:d>
                  </m:oMath>
                </a14:m>
                <a:r>
                  <a:rPr lang="ja-JP" altLang="ja-JP" dirty="0"/>
                  <a:t>的维度非常高，甚至无限维，不可能直接计算 </a:t>
                </a:r>
                <a14:m>
                  <m:oMath xmlns:m="http://schemas.openxmlformats.org/officeDocument/2006/math">
                    <m:r>
                      <a:rPr lang="ja-JP" altLang="en-US" i="1"/>
                      <m:t>𝜙</m:t>
                    </m:r>
                    <m:d>
                      <m:dPr>
                        <m:ctrlPr>
                          <a:rPr lang="ja-JP" altLang="en-US" i="1"/>
                        </m:ctrlPr>
                      </m:dPr>
                      <m:e>
                        <m:r>
                          <a:rPr lang="ja-JP" altLang="en-US" i="1"/>
                          <m:t>𝑥</m:t>
                        </m:r>
                      </m:e>
                    </m:d>
                  </m:oMath>
                </a14:m>
                <a:r>
                  <a:rPr lang="ja-JP" altLang="ja-JP" dirty="0"/>
                  <a:t>。</a:t>
                </a:r>
                <a:endParaRPr lang="en-US" altLang="ja-JP" dirty="0"/>
              </a:p>
              <a:p>
                <a:pPr marL="0" indent="0">
                  <a:lnSpc>
                    <a:spcPct val="120000"/>
                  </a:lnSpc>
                  <a:buNone/>
                </a:pPr>
                <a:r>
                  <a:rPr lang="ja-JP" altLang="ja-JP" dirty="0"/>
                  <a:t>Kernel PCA 的巧妙之处在于：不直接计算 </a:t>
                </a:r>
                <a14:m>
                  <m:oMath xmlns:m="http://schemas.openxmlformats.org/officeDocument/2006/math">
                    <m:r>
                      <a:rPr lang="ja-JP" altLang="en-US" i="1"/>
                      <m:t>𝜙</m:t>
                    </m:r>
                    <m:d>
                      <m:dPr>
                        <m:ctrlPr>
                          <a:rPr lang="ja-JP" altLang="en-US" i="1"/>
                        </m:ctrlPr>
                      </m:dPr>
                      <m:e>
                        <m:r>
                          <a:rPr lang="ja-JP" altLang="en-US" i="1"/>
                          <m:t>𝑥</m:t>
                        </m:r>
                      </m:e>
                    </m:d>
                  </m:oMath>
                </a14:m>
                <a:r>
                  <a:rPr lang="ja-JP" altLang="ja-JP" dirty="0"/>
                  <a:t>，而是只计算内积。</a:t>
                </a:r>
              </a:p>
              <a:p>
                <a:pPr marL="0" indent="0">
                  <a:lnSpc>
                    <a:spcPct val="120000"/>
                  </a:lnSpc>
                  <a:buNone/>
                </a:pPr>
                <a:r>
                  <a:rPr lang="ja-JP" altLang="ja-JP" dirty="0"/>
                  <a:t>定义核函数：</a:t>
                </a:r>
                <a14:m>
                  <m:oMath xmlns:m="http://schemas.openxmlformats.org/officeDocument/2006/math">
                    <m:r>
                      <a:rPr lang="ja-JP" altLang="en-US" i="1"/>
                      <m:t>𝑘</m:t>
                    </m:r>
                    <m:d>
                      <m:dPr>
                        <m:sepChr m:val=","/>
                        <m:ctrlPr>
                          <a:rPr lang="ja-JP" altLang="en-US" i="1"/>
                        </m:ctrlPr>
                      </m:dPr>
                      <m:e>
                        <m:sSub>
                          <m:sSubPr>
                            <m:ctrlPr>
                              <a:rPr lang="ja-JP" altLang="en-US" i="1"/>
                            </m:ctrlPr>
                          </m:sSubPr>
                          <m:e>
                            <m:r>
                              <a:rPr lang="ja-JP" altLang="en-US" i="1"/>
                              <m:t>𝑥</m:t>
                            </m:r>
                          </m:e>
                          <m:sub>
                            <m:r>
                              <a:rPr lang="ja-JP" altLang="en-US" i="1"/>
                              <m:t>𝑖</m:t>
                            </m:r>
                          </m:sub>
                        </m:sSub>
                      </m:e>
                      <m:e>
                        <m:sSub>
                          <m:sSubPr>
                            <m:ctrlPr>
                              <a:rPr lang="ja-JP" altLang="en-US" i="1"/>
                            </m:ctrlPr>
                          </m:sSubPr>
                          <m:e>
                            <m:r>
                              <a:rPr lang="ja-JP" altLang="en-US" i="1"/>
                              <m:t>𝑥</m:t>
                            </m:r>
                          </m:e>
                          <m:sub>
                            <m:r>
                              <a:rPr lang="ja-JP" altLang="en-US" i="1"/>
                              <m:t>𝑗</m:t>
                            </m:r>
                          </m:sub>
                        </m:sSub>
                      </m:e>
                    </m:d>
                    <m:r>
                      <a:rPr lang="en-US" altLang="ja-JP"/>
                      <m:t>=</m:t>
                    </m:r>
                    <m:sSub>
                      <m:sSubPr>
                        <m:ctrlPr>
                          <a:rPr lang="ja-JP" altLang="en-US" i="1"/>
                        </m:ctrlPr>
                      </m:sSubPr>
                      <m:e>
                        <m:d>
                          <m:dPr>
                            <m:begChr m:val="⟨"/>
                            <m:endChr m:val="⟩"/>
                            <m:sepChr m:val=","/>
                            <m:ctrlPr>
                              <a:rPr lang="ja-JP" altLang="en-US" i="1"/>
                            </m:ctrlPr>
                          </m:dPr>
                          <m:e>
                            <m:r>
                              <a:rPr lang="ja-JP" altLang="en-US" i="1"/>
                              <m:t>𝜙</m:t>
                            </m:r>
                          </m:e>
                          <m:e>
                            <m:d>
                              <m:dPr>
                                <m:ctrlPr>
                                  <a:rPr lang="ja-JP" altLang="en-US" i="1"/>
                                </m:ctrlPr>
                              </m:dPr>
                              <m:e>
                                <m:sSub>
                                  <m:sSubPr>
                                    <m:ctrlPr>
                                      <a:rPr lang="ja-JP" altLang="en-US" i="1"/>
                                    </m:ctrlPr>
                                  </m:sSubPr>
                                  <m:e>
                                    <m:r>
                                      <a:rPr lang="ja-JP" altLang="en-US" i="1"/>
                                      <m:t>𝑥</m:t>
                                    </m:r>
                                  </m:e>
                                  <m:sub>
                                    <m:r>
                                      <a:rPr lang="ja-JP" altLang="en-US" i="1"/>
                                      <m:t>𝑖</m:t>
                                    </m:r>
                                  </m:sub>
                                </m:sSub>
                              </m:e>
                            </m:d>
                            <m:r>
                              <a:rPr lang="ja-JP" altLang="en-US" i="1"/>
                              <m:t>𝜙</m:t>
                            </m:r>
                            <m:d>
                              <m:dPr>
                                <m:ctrlPr>
                                  <a:rPr lang="ja-JP" altLang="en-US" i="1"/>
                                </m:ctrlPr>
                              </m:dPr>
                              <m:e>
                                <m:sSub>
                                  <m:sSubPr>
                                    <m:ctrlPr>
                                      <a:rPr lang="ja-JP" altLang="en-US" i="1"/>
                                    </m:ctrlPr>
                                  </m:sSubPr>
                                  <m:e>
                                    <m:r>
                                      <a:rPr lang="ja-JP" altLang="en-US" i="1"/>
                                      <m:t>𝑥</m:t>
                                    </m:r>
                                  </m:e>
                                  <m:sub>
                                    <m:r>
                                      <a:rPr lang="ja-JP" altLang="en-US" i="1"/>
                                      <m:t>𝑗</m:t>
                                    </m:r>
                                  </m:sub>
                                </m:sSub>
                              </m:e>
                            </m:d>
                          </m:e>
                        </m:d>
                      </m:e>
                      <m:sub>
                        <m:r>
                          <a:rPr lang="en-US" altLang="ja-JP"/>
                          <m:t>ℋ</m:t>
                        </m:r>
                      </m:sub>
                    </m:sSub>
                    <m:r>
                      <a:rPr lang="zh-CN" altLang="en-US" i="1">
                        <a:latin typeface="Cambria Math" panose="02040503050406030204" pitchFamily="18" charset="0"/>
                      </a:rPr>
                      <m:t>。</m:t>
                    </m:r>
                  </m:oMath>
                </a14:m>
                <a:r>
                  <a:rPr lang="ja-JP" altLang="ja-JP" dirty="0"/>
                  <a:t>只要知道核函数 </a:t>
                </a:r>
                <a14:m>
                  <m:oMath xmlns:m="http://schemas.openxmlformats.org/officeDocument/2006/math">
                    <m:r>
                      <a:rPr lang="ja-JP" altLang="en-US" i="1"/>
                      <m:t>𝑘</m:t>
                    </m:r>
                  </m:oMath>
                </a14:m>
                <a:r>
                  <a:rPr lang="ja-JP" altLang="ja-JP" dirty="0"/>
                  <a:t>，就可以在高维 Hilbert 空间中做 PCA，而不需要显式写出 </a:t>
                </a:r>
                <a14:m>
                  <m:oMath xmlns:m="http://schemas.openxmlformats.org/officeDocument/2006/math">
                    <m:r>
                      <a:rPr lang="ja-JP" altLang="en-US" i="1"/>
                      <m:t>𝜙</m:t>
                    </m:r>
                  </m:oMath>
                </a14:m>
                <a:r>
                  <a:rPr lang="ja-JP" altLang="ja-JP" dirty="0"/>
                  <a:t>。这就是所谓的 kernel trick。</a:t>
                </a:r>
              </a:p>
              <a:p>
                <a:pPr marL="0" indent="0">
                  <a:lnSpc>
                    <a:spcPct val="120000"/>
                  </a:lnSpc>
                  <a:buNone/>
                </a:pPr>
                <a:endParaRPr lang="en-US" altLang="zh-CN" dirty="0"/>
              </a:p>
            </p:txBody>
          </p:sp>
        </mc:Choice>
        <mc:Fallback>
          <p:sp>
            <p:nvSpPr>
              <p:cNvPr id="12" name="コンテンツ プレースホルダー 2">
                <a:extLst>
                  <a:ext uri="{FF2B5EF4-FFF2-40B4-BE49-F238E27FC236}">
                    <a16:creationId xmlns:a16="http://schemas.microsoft.com/office/drawing/2014/main" id="{4E4B0000-E62F-6579-6FAB-3499E7A7D303}"/>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448" b="-414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66334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6F56C-A3A4-DE8E-A74F-AFFA247E4BEA}"/>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204FD45A-8540-5CBE-675D-198C2505C052}"/>
              </a:ext>
            </a:extLst>
          </p:cNvPr>
          <p:cNvSpPr>
            <a:spLocks noGrp="1" noChangeArrowheads="1"/>
          </p:cNvSpPr>
          <p:nvPr>
            <p:ph type="title"/>
          </p:nvPr>
        </p:nvSpPr>
        <p:spPr/>
        <p:txBody>
          <a:bodyPr/>
          <a:lstStyle/>
          <a:p>
            <a:r>
              <a:rPr lang="en-US" altLang="zh-CN" dirty="0"/>
              <a:t>PCA </a:t>
            </a:r>
            <a:r>
              <a:rPr lang="zh-CN" altLang="en-US" dirty="0"/>
              <a:t>为什么是“最佳低维正交近似”？</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45641463-819D-9465-72C5-D7E39C4018B4}"/>
                  </a:ext>
                </a:extLst>
              </p:cNvPr>
              <p:cNvSpPr>
                <a:spLocks noGrp="1"/>
              </p:cNvSpPr>
              <p:nvPr>
                <p:ph idx="1"/>
              </p:nvPr>
            </p:nvSpPr>
            <p:spPr>
              <a:xfrm>
                <a:off x="213360" y="1112520"/>
                <a:ext cx="11877040" cy="5440680"/>
              </a:xfrm>
            </p:spPr>
            <p:txBody>
              <a:bodyPr/>
              <a:lstStyle/>
              <a:p>
                <a:pPr marL="0" indent="0">
                  <a:lnSpc>
                    <a:spcPct val="120000"/>
                  </a:lnSpc>
                  <a:buNone/>
                </a:pPr>
                <a:r>
                  <a:rPr lang="ja-JP" altLang="ja-JP" dirty="0"/>
                  <a:t>Kernel PCA 的基本过程</a:t>
                </a:r>
                <a:endParaRPr lang="en-US" altLang="ja-JP" dirty="0"/>
              </a:p>
              <a:p>
                <a:pPr lvl="1">
                  <a:lnSpc>
                    <a:spcPct val="120000"/>
                  </a:lnSpc>
                  <a:buFont typeface="Wingdings" panose="05000000000000000000" pitchFamily="2" charset="2"/>
                  <a:buChar char="Ø"/>
                </a:pPr>
                <a:r>
                  <a:rPr lang="ja-JP" altLang="ja-JP" dirty="0"/>
                  <a:t>第一步，把数据映射到特征空间：</a:t>
                </a:r>
                <a14:m>
                  <m:oMath xmlns:m="http://schemas.openxmlformats.org/officeDocument/2006/math">
                    <m:sSub>
                      <m:sSubPr>
                        <m:ctrlPr>
                          <a:rPr lang="ja-JP" altLang="en-US"/>
                        </m:ctrlPr>
                      </m:sSubPr>
                      <m:e>
                        <m:r>
                          <a:rPr lang="ja-JP" altLang="en-US" i="1"/>
                          <m:t>𝑥</m:t>
                        </m:r>
                      </m:e>
                      <m:sub>
                        <m:r>
                          <a:rPr lang="ja-JP" altLang="en-US" i="1"/>
                          <m:t>𝑖</m:t>
                        </m:r>
                      </m:sub>
                    </m:sSub>
                    <m:r>
                      <a:rPr lang="ja-JP" altLang="en-US"/>
                      <m:t>↦</m:t>
                    </m:r>
                    <m:r>
                      <a:rPr lang="ja-JP" altLang="en-US" i="1"/>
                      <m:t>𝜙</m:t>
                    </m:r>
                    <m:d>
                      <m:dPr>
                        <m:ctrlPr>
                          <a:rPr lang="ja-JP" altLang="en-US" i="1"/>
                        </m:ctrlPr>
                      </m:dPr>
                      <m:e>
                        <m:sSub>
                          <m:sSubPr>
                            <m:ctrlPr>
                              <a:rPr lang="ja-JP" altLang="en-US" i="1"/>
                            </m:ctrlPr>
                          </m:sSubPr>
                          <m:e>
                            <m:r>
                              <a:rPr lang="ja-JP" altLang="en-US" i="1"/>
                              <m:t>𝑥</m:t>
                            </m:r>
                          </m:e>
                          <m:sub>
                            <m:r>
                              <a:rPr lang="ja-JP" altLang="en-US" i="1"/>
                              <m:t>𝑖</m:t>
                            </m:r>
                          </m:sub>
                        </m:sSub>
                      </m:e>
                    </m:d>
                  </m:oMath>
                </a14:m>
                <a:endParaRPr lang="ja-JP" altLang="en-US" dirty="0"/>
              </a:p>
              <a:p>
                <a:pPr lvl="1">
                  <a:lnSpc>
                    <a:spcPct val="120000"/>
                  </a:lnSpc>
                  <a:buFont typeface="Wingdings" panose="05000000000000000000" pitchFamily="2" charset="2"/>
                  <a:buChar char="Ø"/>
                </a:pPr>
                <a:r>
                  <a:rPr lang="ja-JP" altLang="ja-JP" dirty="0"/>
                  <a:t>第二步，在特征空间中计算协方差算子：</a:t>
                </a:r>
                <a14:m>
                  <m:oMath xmlns:m="http://schemas.openxmlformats.org/officeDocument/2006/math">
                    <m:r>
                      <a:rPr lang="ja-JP" altLang="en-US" i="1"/>
                      <m:t>𝐶</m:t>
                    </m:r>
                    <m:r>
                      <a:rPr lang="en-US" altLang="ja-JP"/>
                      <m:t>=</m:t>
                    </m:r>
                    <m:f>
                      <m:fPr>
                        <m:ctrlPr>
                          <a:rPr lang="ja-JP" altLang="en-US" i="1"/>
                        </m:ctrlPr>
                      </m:fPr>
                      <m:num>
                        <m:r>
                          <a:rPr lang="en-US" altLang="ja-JP"/>
                          <m:t>1</m:t>
                        </m:r>
                      </m:num>
                      <m:den>
                        <m:r>
                          <a:rPr lang="ja-JP" altLang="en-US" i="1"/>
                          <m:t>𝑛</m:t>
                        </m:r>
                      </m:den>
                    </m:f>
                    <m:nary>
                      <m:naryPr>
                        <m:chr m:val="∑"/>
                        <m:grow m:val="on"/>
                        <m:ctrlPr>
                          <a:rPr lang="ja-JP" altLang="en-US" i="1"/>
                        </m:ctrlPr>
                      </m:naryPr>
                      <m:sub>
                        <m:r>
                          <a:rPr lang="ja-JP" altLang="en-US" i="1"/>
                          <m:t>𝑖</m:t>
                        </m:r>
                        <m:r>
                          <a:rPr lang="en-US" altLang="ja-JP"/>
                          <m:t>=</m:t>
                        </m:r>
                        <m:r>
                          <a:rPr lang="en-US" altLang="ja-JP"/>
                          <m:t>1</m:t>
                        </m:r>
                      </m:sub>
                      <m:sup>
                        <m:r>
                          <a:rPr lang="ja-JP" altLang="en-US" i="1"/>
                          <m:t>𝑛</m:t>
                        </m:r>
                      </m:sup>
                      <m:e>
                        <m:r>
                          <a:rPr lang="ja-JP" altLang="en-US" i="1"/>
                          <m:t>𝜙</m:t>
                        </m:r>
                      </m:e>
                    </m:nary>
                    <m:d>
                      <m:dPr>
                        <m:ctrlPr>
                          <a:rPr lang="ja-JP" altLang="en-US" i="1"/>
                        </m:ctrlPr>
                      </m:dPr>
                      <m:e>
                        <m:sSub>
                          <m:sSubPr>
                            <m:ctrlPr>
                              <a:rPr lang="ja-JP" altLang="en-US" i="1"/>
                            </m:ctrlPr>
                          </m:sSubPr>
                          <m:e>
                            <m:r>
                              <a:rPr lang="ja-JP" altLang="en-US" i="1"/>
                              <m:t>𝑥</m:t>
                            </m:r>
                          </m:e>
                          <m:sub>
                            <m:r>
                              <a:rPr lang="ja-JP" altLang="en-US" i="1"/>
                              <m:t>𝑖</m:t>
                            </m:r>
                          </m:sub>
                        </m:sSub>
                      </m:e>
                    </m:d>
                    <m:nary>
                      <m:naryPr>
                        <m:chr m:val="⊗"/>
                        <m:subHide m:val="on"/>
                        <m:supHide m:val="on"/>
                        <m:ctrlPr>
                          <a:rPr lang="ja-JP" altLang="en-US" i="1"/>
                        </m:ctrlPr>
                      </m:naryPr>
                      <m:sub/>
                      <m:sup/>
                      <m:e>
                        <m:r>
                          <a:rPr lang="ja-JP" altLang="en-US" i="1"/>
                          <m:t>𝜙</m:t>
                        </m:r>
                      </m:e>
                    </m:nary>
                    <m:d>
                      <m:dPr>
                        <m:ctrlPr>
                          <a:rPr lang="ja-JP" altLang="en-US" i="1"/>
                        </m:ctrlPr>
                      </m:dPr>
                      <m:e>
                        <m:sSub>
                          <m:sSubPr>
                            <m:ctrlPr>
                              <a:rPr lang="ja-JP" altLang="en-US" i="1"/>
                            </m:ctrlPr>
                          </m:sSubPr>
                          <m:e>
                            <m:r>
                              <a:rPr lang="ja-JP" altLang="en-US" i="1"/>
                              <m:t>𝑥</m:t>
                            </m:r>
                          </m:e>
                          <m:sub>
                            <m:r>
                              <a:rPr lang="ja-JP" altLang="en-US" i="1"/>
                              <m:t>𝑖</m:t>
                            </m:r>
                          </m:sub>
                        </m:sSub>
                      </m:e>
                    </m:d>
                  </m:oMath>
                </a14:m>
                <a:endParaRPr lang="ja-JP" altLang="en-US" dirty="0"/>
              </a:p>
              <a:p>
                <a:pPr lvl="1">
                  <a:lnSpc>
                    <a:spcPct val="120000"/>
                  </a:lnSpc>
                  <a:buFont typeface="Wingdings" panose="05000000000000000000" pitchFamily="2" charset="2"/>
                  <a:buChar char="Ø"/>
                </a:pPr>
                <a:r>
                  <a:rPr lang="ja-JP" altLang="ja-JP" dirty="0"/>
                  <a:t>第三步，求特征空间中的主成分方向：</a:t>
                </a:r>
                <a14:m>
                  <m:oMath xmlns:m="http://schemas.openxmlformats.org/officeDocument/2006/math">
                    <m:r>
                      <a:rPr lang="ja-JP" altLang="en-US" i="1"/>
                      <m:t>𝐶𝑣</m:t>
                    </m:r>
                    <m:r>
                      <a:rPr lang="en-US" altLang="ja-JP"/>
                      <m:t>=</m:t>
                    </m:r>
                    <m:r>
                      <a:rPr lang="ja-JP" altLang="en-US" i="1"/>
                      <m:t>𝜆</m:t>
                    </m:r>
                    <m:r>
                      <a:rPr lang="ja-JP" altLang="en-US" i="1"/>
                      <m:t>𝑣</m:t>
                    </m:r>
                  </m:oMath>
                </a14:m>
                <a:endParaRPr lang="ja-JP" altLang="en-US" dirty="0"/>
              </a:p>
              <a:p>
                <a:pPr lvl="1">
                  <a:lnSpc>
                    <a:spcPct val="120000"/>
                  </a:lnSpc>
                  <a:buFont typeface="Wingdings" panose="05000000000000000000" pitchFamily="2" charset="2"/>
                  <a:buChar char="Ø"/>
                </a:pPr>
                <a:r>
                  <a:rPr lang="ja-JP" altLang="ja-JP" dirty="0"/>
                  <a:t>第四步，把数据投影到这些主成分方向上。但是由于 </a:t>
                </a:r>
                <a14:m>
                  <m:oMath xmlns:m="http://schemas.openxmlformats.org/officeDocument/2006/math">
                    <m:r>
                      <a:rPr lang="ja-JP" altLang="en-US" i="1"/>
                      <m:t>𝑣</m:t>
                    </m:r>
                  </m:oMath>
                </a14:m>
                <a:r>
                  <a:rPr lang="ja-JP" altLang="ja-JP" dirty="0"/>
                  <a:t>位于高维甚至无限维空间中，我们通常把它写成训练样本的线性组合：</a:t>
                </a:r>
                <a14:m>
                  <m:oMath xmlns:m="http://schemas.openxmlformats.org/officeDocument/2006/math">
                    <m:r>
                      <a:rPr lang="ja-JP" altLang="en-US" i="1"/>
                      <m:t>𝑣</m:t>
                    </m:r>
                    <m:r>
                      <a:rPr lang="en-US" altLang="ja-JP"/>
                      <m:t>=</m:t>
                    </m:r>
                    <m:nary>
                      <m:naryPr>
                        <m:chr m:val="∑"/>
                        <m:grow m:val="on"/>
                        <m:ctrlPr>
                          <a:rPr lang="ja-JP" altLang="en-US" i="1"/>
                        </m:ctrlPr>
                      </m:naryPr>
                      <m:sub>
                        <m:r>
                          <a:rPr lang="ja-JP" altLang="en-US" i="1"/>
                          <m:t>𝑖</m:t>
                        </m:r>
                        <m:r>
                          <a:rPr lang="en-US" altLang="ja-JP"/>
                          <m:t>=</m:t>
                        </m:r>
                        <m:r>
                          <a:rPr lang="en-US" altLang="ja-JP"/>
                          <m:t>1</m:t>
                        </m:r>
                      </m:sub>
                      <m:sup>
                        <m:r>
                          <a:rPr lang="ja-JP" altLang="en-US" i="1"/>
                          <m:t>𝑛</m:t>
                        </m:r>
                      </m:sup>
                      <m:e>
                        <m:sSub>
                          <m:sSubPr>
                            <m:ctrlPr>
                              <a:rPr lang="ja-JP" altLang="en-US" i="1"/>
                            </m:ctrlPr>
                          </m:sSubPr>
                          <m:e>
                            <m:r>
                              <a:rPr lang="ja-JP" altLang="en-US" i="1"/>
                              <m:t>𝛼</m:t>
                            </m:r>
                          </m:e>
                          <m:sub>
                            <m:r>
                              <a:rPr lang="ja-JP" altLang="en-US" i="1"/>
                              <m:t>𝑖</m:t>
                            </m:r>
                          </m:sub>
                        </m:sSub>
                      </m:e>
                    </m:nary>
                    <m:r>
                      <a:rPr lang="ja-JP" altLang="en-US" i="1"/>
                      <m:t>𝜙</m:t>
                    </m:r>
                    <m:d>
                      <m:dPr>
                        <m:ctrlPr>
                          <a:rPr lang="ja-JP" altLang="en-US" i="1"/>
                        </m:ctrlPr>
                      </m:dPr>
                      <m:e>
                        <m:sSub>
                          <m:sSubPr>
                            <m:ctrlPr>
                              <a:rPr lang="ja-JP" altLang="en-US" i="1"/>
                            </m:ctrlPr>
                          </m:sSubPr>
                          <m:e>
                            <m:r>
                              <a:rPr lang="ja-JP" altLang="en-US" i="1"/>
                              <m:t>𝑥</m:t>
                            </m:r>
                          </m:e>
                          <m:sub>
                            <m:r>
                              <a:rPr lang="ja-JP" altLang="en-US" i="1"/>
                              <m:t>𝑖</m:t>
                            </m:r>
                          </m:sub>
                        </m:sSub>
                      </m:e>
                    </m:d>
                  </m:oMath>
                </a14:m>
                <a:endParaRPr lang="en-US" altLang="ja-JP" dirty="0"/>
              </a:p>
              <a:p>
                <a:pPr marL="457200" lvl="1" indent="0">
                  <a:lnSpc>
                    <a:spcPct val="120000"/>
                  </a:lnSpc>
                  <a:buNone/>
                </a:pPr>
                <a:endParaRPr lang="ja-JP" altLang="en-US" dirty="0"/>
              </a:p>
              <a:p>
                <a:pPr marL="0" indent="0">
                  <a:lnSpc>
                    <a:spcPct val="120000"/>
                  </a:lnSpc>
                  <a:buNone/>
                </a:pPr>
                <a:r>
                  <a:rPr lang="ja-JP" altLang="ja-JP" dirty="0"/>
                  <a:t>问题可以转化为核矩阵的特征值问题。核矩阵是：</a:t>
                </a:r>
                <a14:m>
                  <m:oMath xmlns:m="http://schemas.openxmlformats.org/officeDocument/2006/math">
                    <m:sSub>
                      <m:sSubPr>
                        <m:ctrlPr>
                          <a:rPr lang="ja-JP" altLang="en-US"/>
                        </m:ctrlPr>
                      </m:sSubPr>
                      <m:e>
                        <m:r>
                          <a:rPr lang="ja-JP" altLang="en-US" i="1"/>
                          <m:t>𝐾</m:t>
                        </m:r>
                      </m:e>
                      <m:sub>
                        <m:r>
                          <a:rPr lang="ja-JP" altLang="en-US" i="1"/>
                          <m:t>𝑖𝑗</m:t>
                        </m:r>
                      </m:sub>
                    </m:sSub>
                    <m:r>
                      <a:rPr lang="en-US" altLang="ja-JP"/>
                      <m:t>=</m:t>
                    </m:r>
                    <m:r>
                      <a:rPr lang="ja-JP" altLang="en-US" i="1"/>
                      <m:t>𝑘</m:t>
                    </m:r>
                    <m:d>
                      <m:dPr>
                        <m:sepChr m:val=","/>
                        <m:ctrlPr>
                          <a:rPr lang="ja-JP" altLang="en-US" i="1"/>
                        </m:ctrlPr>
                      </m:dPr>
                      <m:e>
                        <m:sSub>
                          <m:sSubPr>
                            <m:ctrlPr>
                              <a:rPr lang="ja-JP" altLang="en-US" i="1"/>
                            </m:ctrlPr>
                          </m:sSubPr>
                          <m:e>
                            <m:r>
                              <a:rPr lang="ja-JP" altLang="en-US" i="1"/>
                              <m:t>𝑥</m:t>
                            </m:r>
                          </m:e>
                          <m:sub>
                            <m:r>
                              <a:rPr lang="ja-JP" altLang="en-US" i="1"/>
                              <m:t>𝑖</m:t>
                            </m:r>
                          </m:sub>
                        </m:sSub>
                      </m:e>
                      <m:e>
                        <m:sSub>
                          <m:sSubPr>
                            <m:ctrlPr>
                              <a:rPr lang="ja-JP" altLang="en-US" i="1"/>
                            </m:ctrlPr>
                          </m:sSubPr>
                          <m:e>
                            <m:r>
                              <a:rPr lang="ja-JP" altLang="en-US" i="1"/>
                              <m:t>𝑥</m:t>
                            </m:r>
                          </m:e>
                          <m:sub>
                            <m:r>
                              <a:rPr lang="ja-JP" altLang="en-US" i="1"/>
                              <m:t>𝑗</m:t>
                            </m:r>
                          </m:sub>
                        </m:sSub>
                      </m:e>
                    </m:d>
                  </m:oMath>
                </a14:m>
                <a:r>
                  <a:rPr lang="zh-CN" altLang="en-US" dirty="0"/>
                  <a:t>。</a:t>
                </a:r>
                <a:r>
                  <a:rPr lang="ja-JP" altLang="ja-JP" dirty="0"/>
                  <a:t>最后求解类似下面的特征值问题：</a:t>
                </a:r>
                <a:endParaRPr lang="en-US" altLang="ja-JP" i="1" dirty="0"/>
              </a:p>
              <a:p>
                <a:pPr marL="0" indent="0">
                  <a:lnSpc>
                    <a:spcPct val="120000"/>
                  </a:lnSpc>
                  <a:buNone/>
                </a:pPr>
                <a14:m>
                  <m:oMathPara xmlns:m="http://schemas.openxmlformats.org/officeDocument/2006/math">
                    <m:oMathParaPr>
                      <m:jc m:val="centerGroup"/>
                    </m:oMathParaPr>
                    <m:oMath xmlns:m="http://schemas.openxmlformats.org/officeDocument/2006/math">
                      <m:r>
                        <a:rPr lang="ja-JP" altLang="en-US" i="1"/>
                        <m:t>𝐾</m:t>
                      </m:r>
                      <m:r>
                        <a:rPr lang="ja-JP" altLang="en-US" i="1"/>
                        <m:t>𝛼</m:t>
                      </m:r>
                      <m:r>
                        <a:rPr lang="en-US" altLang="ja-JP"/>
                        <m:t>=</m:t>
                      </m:r>
                      <m:r>
                        <a:rPr lang="ja-JP" altLang="en-US" i="1"/>
                        <m:t>𝑛</m:t>
                      </m:r>
                      <m:r>
                        <a:rPr lang="ja-JP" altLang="en-US" i="1"/>
                        <m:t>𝜆𝛼</m:t>
                      </m:r>
                    </m:oMath>
                  </m:oMathPara>
                </a14:m>
                <a:endParaRPr lang="ja-JP" altLang="en-US" dirty="0"/>
              </a:p>
              <a:p>
                <a:pPr>
                  <a:lnSpc>
                    <a:spcPct val="120000"/>
                  </a:lnSpc>
                </a:pPr>
                <a:r>
                  <a:rPr lang="ja-JP" altLang="ja-JP" dirty="0"/>
                  <a:t>实际计算时还需要对核矩阵中心化，因为 PCA 默认数据已经中心化。</a:t>
                </a:r>
                <a:endParaRPr lang="en-US" altLang="ja-JP" dirty="0"/>
              </a:p>
              <a:p>
                <a:pPr marL="0" indent="0">
                  <a:lnSpc>
                    <a:spcPct val="120000"/>
                  </a:lnSpc>
                  <a:buNone/>
                </a:pPr>
                <a:r>
                  <a:rPr lang="ja-JP" altLang="ja-JP" dirty="0"/>
                  <a:t>Kernel PCA 是在高维 Hilbert 空间中做线性 PCA，从原始空间看则表现为非线性 PCA。</a:t>
                </a:r>
              </a:p>
              <a:p>
                <a:pPr marL="0" indent="0">
                  <a:lnSpc>
                    <a:spcPct val="120000"/>
                  </a:lnSpc>
                  <a:buNone/>
                </a:pPr>
                <a:endParaRPr lang="en-US" altLang="zh-CN" dirty="0"/>
              </a:p>
            </p:txBody>
          </p:sp>
        </mc:Choice>
        <mc:Fallback>
          <p:sp>
            <p:nvSpPr>
              <p:cNvPr id="12" name="コンテンツ プレースホルダー 2">
                <a:extLst>
                  <a:ext uri="{FF2B5EF4-FFF2-40B4-BE49-F238E27FC236}">
                    <a16:creationId xmlns:a16="http://schemas.microsoft.com/office/drawing/2014/main" id="{45641463-819D-9465-72C5-D7E39C4018B4}"/>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448" r="-20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29712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121D8-FC86-D672-DAAC-1EF39DAF6B16}"/>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A3E54EBE-6D1C-A7D0-CB2A-D3F8DD701605}"/>
              </a:ext>
            </a:extLst>
          </p:cNvPr>
          <p:cNvSpPr>
            <a:spLocks noGrp="1" noChangeArrowheads="1"/>
          </p:cNvSpPr>
          <p:nvPr>
            <p:ph type="title"/>
          </p:nvPr>
        </p:nvSpPr>
        <p:spPr/>
        <p:txBody>
          <a:bodyPr/>
          <a:lstStyle/>
          <a:p>
            <a:r>
              <a:rPr lang="ja-JP" altLang="ja-JP" dirty="0"/>
              <a:t>常见核函数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A9DCA683-C54C-6FAF-0D5E-FD8834B302EA}"/>
                  </a:ext>
                </a:extLst>
              </p:cNvPr>
              <p:cNvSpPr>
                <a:spLocks noGrp="1"/>
              </p:cNvSpPr>
              <p:nvPr>
                <p:ph idx="1"/>
              </p:nvPr>
            </p:nvSpPr>
            <p:spPr>
              <a:xfrm>
                <a:off x="213360" y="1112520"/>
                <a:ext cx="11877040" cy="5440680"/>
              </a:xfrm>
            </p:spPr>
            <p:txBody>
              <a:bodyPr/>
              <a:lstStyle/>
              <a:p>
                <a:pPr marL="0" indent="0">
                  <a:buNone/>
                </a:pPr>
                <a:r>
                  <a:rPr lang="ja-JP" altLang="ja-JP" dirty="0"/>
                  <a:t>1. 线性核</a:t>
                </a:r>
                <a14:m>
                  <m:oMath xmlns:m="http://schemas.openxmlformats.org/officeDocument/2006/math">
                    <m:r>
                      <a:rPr lang="en-US" altLang="ja-JP" b="0" i="0" smtClean="0">
                        <a:latin typeface="Cambria Math" panose="02040503050406030204" pitchFamily="18" charset="0"/>
                      </a:rPr>
                      <m:t> </m:t>
                    </m:r>
                    <m:r>
                      <a:rPr lang="ja-JP" altLang="en-US" b="0" i="1"/>
                      <m:t>𝑘</m:t>
                    </m:r>
                    <m:d>
                      <m:dPr>
                        <m:sepChr m:val=","/>
                        <m:ctrlPr>
                          <a:rPr lang="ja-JP" altLang="en-US" i="1"/>
                        </m:ctrlPr>
                      </m:dPr>
                      <m:e>
                        <m:r>
                          <a:rPr lang="ja-JP" altLang="en-US" b="0" i="1"/>
                          <m:t>𝑥</m:t>
                        </m:r>
                      </m:e>
                      <m:e>
                        <m:r>
                          <a:rPr lang="ja-JP" altLang="en-US" b="0" i="1"/>
                          <m:t>𝑦</m:t>
                        </m:r>
                      </m:e>
                    </m:d>
                    <m:r>
                      <a:rPr lang="en-US" altLang="ja-JP" b="0"/>
                      <m:t>=</m:t>
                    </m:r>
                    <m:sSup>
                      <m:sSupPr>
                        <m:ctrlPr>
                          <a:rPr lang="ja-JP" altLang="en-US" i="1"/>
                        </m:ctrlPr>
                      </m:sSupPr>
                      <m:e>
                        <m:r>
                          <a:rPr lang="ja-JP" altLang="en-US" b="0" i="1"/>
                          <m:t>𝑥</m:t>
                        </m:r>
                      </m:e>
                      <m:sup>
                        <m:r>
                          <a:rPr lang="ja-JP" altLang="en-US" b="0"/>
                          <m:t>⊤</m:t>
                        </m:r>
                      </m:sup>
                    </m:sSup>
                    <m:r>
                      <a:rPr lang="ja-JP" altLang="en-US" b="0" i="1"/>
                      <m:t>𝑦</m:t>
                    </m:r>
                  </m:oMath>
                </a14:m>
                <a:r>
                  <a:rPr lang="zh-CN" altLang="en-US" dirty="0"/>
                  <a:t>。</a:t>
                </a:r>
                <a:r>
                  <a:rPr lang="ja-JP" altLang="ja-JP" dirty="0"/>
                  <a:t>这时 Kernel PCA 退化为普通 PCA。</a:t>
                </a:r>
              </a:p>
              <a:p>
                <a:pPr marL="0" indent="0">
                  <a:buNone/>
                </a:pPr>
                <a:r>
                  <a:rPr lang="ja-JP" altLang="ja-JP" dirty="0"/>
                  <a:t>2. 多项式核</a:t>
                </a:r>
                <a14:m>
                  <m:oMath xmlns:m="http://schemas.openxmlformats.org/officeDocument/2006/math">
                    <m:r>
                      <a:rPr lang="en-US" altLang="ja-JP" b="0" i="0" smtClean="0">
                        <a:latin typeface="Cambria Math" panose="02040503050406030204" pitchFamily="18" charset="0"/>
                      </a:rPr>
                      <m:t> </m:t>
                    </m:r>
                    <m:r>
                      <a:rPr lang="ja-JP" altLang="en-US" b="0" i="1"/>
                      <m:t>𝑘</m:t>
                    </m:r>
                    <m:d>
                      <m:dPr>
                        <m:sepChr m:val=","/>
                        <m:ctrlPr>
                          <a:rPr lang="ja-JP" altLang="en-US" i="1"/>
                        </m:ctrlPr>
                      </m:dPr>
                      <m:e>
                        <m:r>
                          <a:rPr lang="ja-JP" altLang="en-US" b="0" i="1"/>
                          <m:t>𝑥</m:t>
                        </m:r>
                      </m:e>
                      <m:e>
                        <m:r>
                          <a:rPr lang="ja-JP" altLang="en-US" b="0" i="1"/>
                          <m:t>𝑦</m:t>
                        </m:r>
                      </m:e>
                    </m:d>
                    <m:r>
                      <a:rPr lang="en-US" altLang="ja-JP" b="0"/>
                      <m:t>=</m:t>
                    </m:r>
                    <m:sSup>
                      <m:sSupPr>
                        <m:ctrlPr>
                          <a:rPr lang="ja-JP" altLang="en-US" i="1"/>
                        </m:ctrlPr>
                      </m:sSupPr>
                      <m:e>
                        <m:d>
                          <m:dPr>
                            <m:ctrlPr>
                              <a:rPr lang="ja-JP" altLang="en-US" i="1"/>
                            </m:ctrlPr>
                          </m:dPr>
                          <m:e>
                            <m:sSup>
                              <m:sSupPr>
                                <m:ctrlPr>
                                  <a:rPr lang="ja-JP" altLang="en-US" i="1"/>
                                </m:ctrlPr>
                              </m:sSupPr>
                              <m:e>
                                <m:r>
                                  <a:rPr lang="ja-JP" altLang="en-US" b="0" i="1"/>
                                  <m:t>𝑥</m:t>
                                </m:r>
                              </m:e>
                              <m:sup>
                                <m:r>
                                  <a:rPr lang="ja-JP" altLang="en-US" b="0"/>
                                  <m:t>⊤</m:t>
                                </m:r>
                              </m:sup>
                            </m:sSup>
                            <m:r>
                              <a:rPr lang="ja-JP" altLang="en-US" b="0" i="1"/>
                              <m:t>𝑦</m:t>
                            </m:r>
                            <m:r>
                              <a:rPr lang="en-US" altLang="ja-JP" b="0"/>
                              <m:t>+</m:t>
                            </m:r>
                            <m:r>
                              <a:rPr lang="ja-JP" altLang="en-US" b="0" i="1"/>
                              <m:t>𝑐</m:t>
                            </m:r>
                          </m:e>
                        </m:d>
                      </m:e>
                      <m:sup>
                        <m:r>
                          <a:rPr lang="ja-JP" altLang="en-US" b="0" i="1"/>
                          <m:t>𝑝</m:t>
                        </m:r>
                      </m:sup>
                    </m:sSup>
                  </m:oMath>
                </a14:m>
                <a:r>
                  <a:rPr lang="zh-CN" altLang="en-US" dirty="0"/>
                  <a:t>。</a:t>
                </a:r>
                <a:r>
                  <a:rPr lang="ja-JP" altLang="ja-JP" dirty="0"/>
                  <a:t>它对应于把数据映射到多项式特征空间中。</a:t>
                </a:r>
              </a:p>
              <a:p>
                <a:pPr marL="0" indent="0">
                  <a:buNone/>
                </a:pPr>
                <a:r>
                  <a:rPr lang="ja-JP" altLang="ja-JP" dirty="0"/>
                  <a:t>3. Gaussian RBF 核</a:t>
                </a:r>
                <a:endParaRPr lang="en-US" altLang="ja-JP" i="1" dirty="0"/>
              </a:p>
              <a:p>
                <a:pPr marL="0" indent="0">
                  <a:buNone/>
                </a:pPr>
                <a14:m>
                  <m:oMathPara xmlns:m="http://schemas.openxmlformats.org/officeDocument/2006/math">
                    <m:oMathParaPr>
                      <m:jc m:val="centerGroup"/>
                    </m:oMathParaPr>
                    <m:oMath xmlns:m="http://schemas.openxmlformats.org/officeDocument/2006/math">
                      <m:r>
                        <a:rPr lang="ja-JP" altLang="en-US" b="0" i="1"/>
                        <m:t>𝑘</m:t>
                      </m:r>
                      <m:d>
                        <m:dPr>
                          <m:sepChr m:val=","/>
                          <m:ctrlPr>
                            <a:rPr lang="ja-JP" altLang="en-US" i="1"/>
                          </m:ctrlPr>
                        </m:dPr>
                        <m:e>
                          <m:r>
                            <a:rPr lang="ja-JP" altLang="en-US" b="0" i="1"/>
                            <m:t>𝑥</m:t>
                          </m:r>
                        </m:e>
                        <m:e>
                          <m:r>
                            <a:rPr lang="ja-JP" altLang="en-US" b="0" i="1"/>
                            <m:t>𝑦</m:t>
                          </m:r>
                        </m:e>
                      </m:d>
                      <m:r>
                        <a:rPr lang="en-US" altLang="ja-JP" b="0"/>
                        <m:t>=</m:t>
                      </m:r>
                      <m:func>
                        <m:funcPr>
                          <m:ctrlPr>
                            <a:rPr lang="ja-JP" altLang="en-US" i="1"/>
                          </m:ctrlPr>
                        </m:funcPr>
                        <m:fName>
                          <m:r>
                            <m:rPr>
                              <m:sty m:val="p"/>
                            </m:rPr>
                            <a:rPr lang="en-US" altLang="ja-JP" b="0"/>
                            <m:t>exp</m:t>
                          </m:r>
                        </m:fName>
                        <m:e>
                          <m:d>
                            <m:dPr>
                              <m:ctrlPr>
                                <a:rPr lang="ja-JP" altLang="en-US" i="1"/>
                              </m:ctrlPr>
                            </m:dPr>
                            <m:e>
                              <m:r>
                                <a:rPr lang="ja-JP" altLang="en-US" b="0"/>
                                <m:t>−</m:t>
                              </m:r>
                              <m:f>
                                <m:fPr>
                                  <m:ctrlPr>
                                    <a:rPr lang="ja-JP" altLang="en-US" i="1"/>
                                  </m:ctrlPr>
                                </m:fPr>
                                <m:num>
                                  <m:r>
                                    <a:rPr lang="ja-JP" altLang="en-US" b="0"/>
                                    <m:t>∥</m:t>
                                  </m:r>
                                  <m:r>
                                    <a:rPr lang="ja-JP" altLang="en-US" b="0" i="1"/>
                                    <m:t>𝑥</m:t>
                                  </m:r>
                                  <m:r>
                                    <a:rPr lang="ja-JP" altLang="en-US" b="0"/>
                                    <m:t>−</m:t>
                                  </m:r>
                                  <m:r>
                                    <a:rPr lang="ja-JP" altLang="en-US" b="0" i="1"/>
                                    <m:t>𝑦</m:t>
                                  </m:r>
                                  <m:sSup>
                                    <m:sSupPr>
                                      <m:ctrlPr>
                                        <a:rPr lang="ja-JP" altLang="en-US" i="1"/>
                                      </m:ctrlPr>
                                    </m:sSupPr>
                                    <m:e>
                                      <m:r>
                                        <a:rPr lang="ja-JP" altLang="en-US" b="0"/>
                                        <m:t>∥</m:t>
                                      </m:r>
                                    </m:e>
                                    <m:sup>
                                      <m:r>
                                        <a:rPr lang="en-US" altLang="ja-JP" b="0"/>
                                        <m:t>2</m:t>
                                      </m:r>
                                    </m:sup>
                                  </m:sSup>
                                </m:num>
                                <m:den>
                                  <m:r>
                                    <a:rPr lang="en-US" altLang="ja-JP" b="0"/>
                                    <m:t>2</m:t>
                                  </m:r>
                                  <m:sSup>
                                    <m:sSupPr>
                                      <m:ctrlPr>
                                        <a:rPr lang="ja-JP" altLang="en-US" i="1"/>
                                      </m:ctrlPr>
                                    </m:sSupPr>
                                    <m:e>
                                      <m:r>
                                        <a:rPr lang="ja-JP" altLang="en-US" b="0" i="1"/>
                                        <m:t>𝜎</m:t>
                                      </m:r>
                                    </m:e>
                                    <m:sup>
                                      <m:r>
                                        <a:rPr lang="en-US" altLang="ja-JP" b="0"/>
                                        <m:t>2</m:t>
                                      </m:r>
                                    </m:sup>
                                  </m:sSup>
                                </m:den>
                              </m:f>
                            </m:e>
                          </m:d>
                        </m:e>
                      </m:func>
                    </m:oMath>
                  </m:oMathPara>
                </a14:m>
                <a:endParaRPr lang="ja-JP" altLang="en-US" dirty="0"/>
              </a:p>
              <a:p>
                <a:r>
                  <a:rPr lang="ja-JP" altLang="ja-JP" dirty="0"/>
                  <a:t>RBF 核对应的特征空间可以是无限维 Hilbert 空间，因此它非常适合表达复杂非线性结构。</a:t>
                </a:r>
                <a:endParaRPr lang="en-US" altLang="ja-JP" dirty="0"/>
              </a:p>
              <a:p>
                <a:endParaRPr lang="ja-JP" altLang="ja-JP" dirty="0"/>
              </a:p>
            </p:txBody>
          </p:sp>
        </mc:Choice>
        <mc:Fallback>
          <p:sp>
            <p:nvSpPr>
              <p:cNvPr id="12" name="コンテンツ プレースホルダー 2">
                <a:extLst>
                  <a:ext uri="{FF2B5EF4-FFF2-40B4-BE49-F238E27FC236}">
                    <a16:creationId xmlns:a16="http://schemas.microsoft.com/office/drawing/2014/main" id="{A9DCA683-C54C-6FAF-0D5E-FD8834B302EA}"/>
                  </a:ext>
                </a:extLst>
              </p:cNvPr>
              <p:cNvSpPr>
                <a:spLocks noGrp="1" noRot="1" noChangeAspect="1" noMove="1" noResize="1" noEditPoints="1" noAdjustHandles="1" noChangeArrowheads="1" noChangeShapeType="1" noTextEdit="1"/>
              </p:cNvSpPr>
              <p:nvPr>
                <p:ph idx="1"/>
              </p:nvPr>
            </p:nvSpPr>
            <p:spPr>
              <a:xfrm>
                <a:off x="213360" y="1112520"/>
                <a:ext cx="11877040" cy="5440680"/>
              </a:xfrm>
              <a:blipFill>
                <a:blip r:embed="rId3"/>
                <a:stretch>
                  <a:fillRect l="-513" t="-1009"/>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graphicFrame>
            <p:nvGraphicFramePr>
              <p:cNvPr id="8" name="表 7">
                <a:extLst>
                  <a:ext uri="{FF2B5EF4-FFF2-40B4-BE49-F238E27FC236}">
                    <a16:creationId xmlns:a16="http://schemas.microsoft.com/office/drawing/2014/main" id="{FAF5C1D7-38EB-39CC-3FDF-B630B8682741}"/>
                  </a:ext>
                </a:extLst>
              </p:cNvPr>
              <p:cNvGraphicFramePr>
                <a:graphicFrameLocks noGrp="1"/>
              </p:cNvGraphicFramePr>
              <p:nvPr>
                <p:extLst>
                  <p:ext uri="{D42A27DB-BD31-4B8C-83A1-F6EECF244321}">
                    <p14:modId xmlns:p14="http://schemas.microsoft.com/office/powerpoint/2010/main" val="101074246"/>
                  </p:ext>
                </p:extLst>
              </p:nvPr>
            </p:nvGraphicFramePr>
            <p:xfrm>
              <a:off x="744278" y="3669527"/>
              <a:ext cx="10543481" cy="1473391"/>
            </p:xfrm>
            <a:graphic>
              <a:graphicData uri="http://schemas.openxmlformats.org/drawingml/2006/table">
                <a:tbl>
                  <a:tblPr/>
                  <a:tblGrid>
                    <a:gridCol w="1548117">
                      <a:extLst>
                        <a:ext uri="{9D8B030D-6E8A-4147-A177-3AD203B41FA5}">
                          <a16:colId xmlns:a16="http://schemas.microsoft.com/office/drawing/2014/main" val="2020949835"/>
                        </a:ext>
                      </a:extLst>
                    </a:gridCol>
                    <a:gridCol w="1822405">
                      <a:extLst>
                        <a:ext uri="{9D8B030D-6E8A-4147-A177-3AD203B41FA5}">
                          <a16:colId xmlns:a16="http://schemas.microsoft.com/office/drawing/2014/main" val="2618440812"/>
                        </a:ext>
                      </a:extLst>
                    </a:gridCol>
                    <a:gridCol w="2424223">
                      <a:extLst>
                        <a:ext uri="{9D8B030D-6E8A-4147-A177-3AD203B41FA5}">
                          <a16:colId xmlns:a16="http://schemas.microsoft.com/office/drawing/2014/main" val="2368187878"/>
                        </a:ext>
                      </a:extLst>
                    </a:gridCol>
                    <a:gridCol w="2668772">
                      <a:extLst>
                        <a:ext uri="{9D8B030D-6E8A-4147-A177-3AD203B41FA5}">
                          <a16:colId xmlns:a16="http://schemas.microsoft.com/office/drawing/2014/main" val="1556371347"/>
                        </a:ext>
                      </a:extLst>
                    </a:gridCol>
                    <a:gridCol w="2079964">
                      <a:extLst>
                        <a:ext uri="{9D8B030D-6E8A-4147-A177-3AD203B41FA5}">
                          <a16:colId xmlns:a16="http://schemas.microsoft.com/office/drawing/2014/main" val="445300519"/>
                        </a:ext>
                      </a:extLst>
                    </a:gridCol>
                  </a:tblGrid>
                  <a:tr h="0">
                    <a:tc>
                      <a:txBody>
                        <a:bodyPr/>
                        <a:lstStyle/>
                        <a:p>
                          <a:pPr>
                            <a:buNone/>
                          </a:pPr>
                          <a:r>
                            <a:rPr lang="ja-JP"/>
                            <a:t>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对象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Hilbert 空间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正交方向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投影系数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3715762"/>
                      </a:ext>
                    </a:extLst>
                  </a:tr>
                  <a:tr h="0">
                    <a:tc>
                      <a:txBody>
                        <a:bodyPr/>
                        <a:lstStyle/>
                        <a:p>
                          <a:pPr>
                            <a:buNone/>
                          </a:pPr>
                          <a:r>
                            <a:rPr lang="ja-JP"/>
                            <a:t>Fourier 分解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dirty="0"/>
                            <a:t>信号 </a:t>
                          </a:r>
                          <a14:m>
                            <m:oMath xmlns:m="http://schemas.openxmlformats.org/officeDocument/2006/math">
                              <m:r>
                                <a:rPr lang="ja-JP" altLang="en-US" i="1" dirty="0" smtClean="0">
                                  <a:latin typeface="Cambria Math" panose="02040503050406030204" pitchFamily="18" charset="0"/>
                                </a:rPr>
                                <m:t>𝑓</m:t>
                              </m:r>
                              <m:r>
                                <a:rPr lang="ja-JP" i="1" dirty="0">
                                  <a:latin typeface="Cambria Math" panose="02040503050406030204" pitchFamily="18" charset="0"/>
                                </a:rPr>
                                <m:t>(</m:t>
                              </m:r>
                              <m:r>
                                <a:rPr lang="ja-JP" altLang="en-US" i="1" dirty="0">
                                  <a:latin typeface="Cambria Math" panose="02040503050406030204" pitchFamily="18" charset="0"/>
                                </a:rPr>
                                <m:t>𝑡</m:t>
                              </m:r>
                              <m:r>
                                <a:rPr lang="ja-JP" i="1" dirty="0" smtClean="0">
                                  <a:latin typeface="Cambria Math" panose="02040503050406030204" pitchFamily="18" charset="0"/>
                                </a:rPr>
                                <m:t>)</m:t>
                              </m:r>
                            </m:oMath>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 xmlns:m="http://schemas.openxmlformats.org/officeDocument/2006/math">
                              <m:sSup>
                                <m:sSupPr>
                                  <m:ctrlPr>
                                    <a:rPr lang="ja-JP" altLang="en-US" i="1" dirty="0" smtClean="0">
                                      <a:latin typeface="Cambria Math" panose="02040503050406030204" pitchFamily="18" charset="0"/>
                                    </a:rPr>
                                  </m:ctrlPr>
                                </m:sSupPr>
                                <m:e>
                                  <m:r>
                                    <a:rPr lang="ja-JP" altLang="en-US" i="1" dirty="0" smtClean="0">
                                      <a:latin typeface="Cambria Math" panose="02040503050406030204" pitchFamily="18" charset="0"/>
                                    </a:rPr>
                                    <m:t>𝐿</m:t>
                                  </m:r>
                                </m:e>
                                <m:sup>
                                  <m:r>
                                    <a:rPr lang="ja-JP" i="1" dirty="0">
                                      <a:latin typeface="Cambria Math" panose="02040503050406030204" pitchFamily="18" charset="0"/>
                                    </a:rPr>
                                    <m:t>2</m:t>
                                  </m:r>
                                </m:sup>
                              </m:sSup>
                            </m:oMath>
                          </a14:m>
                          <a:r>
                            <a:rPr lang="ja-JP" dirty="0"/>
                            <a:t> 函数空间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dirty="0"/>
                            <a:t>Fourier 基 </a:t>
                          </a:r>
                          <a14:m>
                            <m:oMath xmlns:m="http://schemas.openxmlformats.org/officeDocument/2006/math">
                              <m:sSub>
                                <m:sSubPr>
                                  <m:ctrlPr>
                                    <a:rPr lang="ja-JP" altLang="en-US" i="1" dirty="0" smtClean="0">
                                      <a:latin typeface="Cambria Math" panose="02040503050406030204" pitchFamily="18" charset="0"/>
                                    </a:rPr>
                                  </m:ctrlPr>
                                </m:sSubPr>
                                <m:e>
                                  <m:r>
                                    <a:rPr lang="ja-JP" altLang="en-US" i="1" dirty="0" smtClean="0">
                                      <a:latin typeface="Cambria Math" panose="02040503050406030204" pitchFamily="18" charset="0"/>
                                    </a:rPr>
                                    <m:t>𝑒</m:t>
                                  </m:r>
                                </m:e>
                                <m:sub>
                                  <m:r>
                                    <a:rPr lang="ja-JP" altLang="en-US" i="1" dirty="0">
                                      <a:latin typeface="Cambria Math" panose="02040503050406030204" pitchFamily="18" charset="0"/>
                                    </a:rPr>
                                    <m:t>𝑘</m:t>
                                  </m:r>
                                </m:sub>
                              </m:sSub>
                            </m:oMath>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sSub>
                                  <m:sSubPr>
                                    <m:ctrlPr>
                                      <a:rPr lang="ja-JP" altLang="en-US" i="1" dirty="0" smtClean="0">
                                        <a:latin typeface="Cambria Math" panose="02040503050406030204" pitchFamily="18" charset="0"/>
                                      </a:rPr>
                                    </m:ctrlPr>
                                  </m:sSubPr>
                                  <m:e>
                                    <m:r>
                                      <a:rPr lang="ja-JP" altLang="en-US" i="1" dirty="0" smtClean="0">
                                        <a:latin typeface="Cambria Math" panose="02040503050406030204" pitchFamily="18" charset="0"/>
                                      </a:rPr>
                                      <m:t>𝑐</m:t>
                                    </m:r>
                                  </m:e>
                                  <m:sub>
                                    <m:r>
                                      <a:rPr lang="ja-JP" altLang="en-US" i="1" dirty="0">
                                        <a:latin typeface="Cambria Math" panose="02040503050406030204" pitchFamily="18" charset="0"/>
                                      </a:rPr>
                                      <m:t>𝑘</m:t>
                                    </m:r>
                                  </m:sub>
                                </m:sSub>
                                <m:r>
                                  <a:rPr lang="ja-JP" i="1" dirty="0">
                                    <a:latin typeface="Cambria Math" panose="02040503050406030204" pitchFamily="18" charset="0"/>
                                  </a:rPr>
                                  <m:t>=</m:t>
                                </m:r>
                                <m:d>
                                  <m:dPr>
                                    <m:begChr m:val="⟨"/>
                                    <m:endChr m:val="⟩"/>
                                    <m:ctrlPr>
                                      <a:rPr lang="en-US" altLang="ja-JP" i="1" dirty="0">
                                        <a:latin typeface="Cambria Math" panose="02040503050406030204" pitchFamily="18" charset="0"/>
                                      </a:rPr>
                                    </m:ctrlPr>
                                  </m:dPr>
                                  <m:e>
                                    <m:r>
                                      <a:rPr lang="ja-JP" altLang="en-US" i="1" dirty="0">
                                        <a:latin typeface="Cambria Math" panose="02040503050406030204" pitchFamily="18" charset="0"/>
                                      </a:rPr>
                                      <m:t>𝑓</m:t>
                                    </m:r>
                                    <m:r>
                                      <a:rPr lang="ja-JP" i="1" dirty="0">
                                        <a:latin typeface="Cambria Math" panose="02040503050406030204" pitchFamily="18" charset="0"/>
                                      </a:rPr>
                                      <m:t>,</m:t>
                                    </m:r>
                                    <m:sSub>
                                      <m:sSubPr>
                                        <m:ctrlPr>
                                          <a:rPr lang="ja-JP" altLang="en-US" i="1" dirty="0">
                                            <a:latin typeface="Cambria Math" panose="02040503050406030204" pitchFamily="18" charset="0"/>
                                          </a:rPr>
                                        </m:ctrlPr>
                                      </m:sSubPr>
                                      <m:e>
                                        <m:r>
                                          <a:rPr lang="ja-JP" altLang="en-US" i="1" dirty="0">
                                            <a:latin typeface="Cambria Math" panose="02040503050406030204" pitchFamily="18" charset="0"/>
                                          </a:rPr>
                                          <m:t>𝑒</m:t>
                                        </m:r>
                                      </m:e>
                                      <m:sub>
                                        <m:r>
                                          <a:rPr lang="ja-JP" altLang="en-US" i="1" dirty="0">
                                            <a:latin typeface="Cambria Math" panose="02040503050406030204" pitchFamily="18" charset="0"/>
                                          </a:rPr>
                                          <m:t>𝑘</m:t>
                                        </m:r>
                                      </m:sub>
                                    </m:sSub>
                                  </m:e>
                                </m:d>
                              </m:oMath>
                            </m:oMathPara>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0276103"/>
                      </a:ext>
                    </a:extLst>
                  </a:tr>
                  <a:tr h="0">
                    <a:tc>
                      <a:txBody>
                        <a:bodyPr/>
                        <a:lstStyle/>
                        <a:p>
                          <a:pPr>
                            <a:buNone/>
                          </a:pPr>
                          <a:r>
                            <a:rPr lang="ja-JP" dirty="0"/>
                            <a:t>PCA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dirty="0"/>
                            <a:t>数据向量 </a:t>
                          </a:r>
                          <a14:m>
                            <m:oMath xmlns:m="http://schemas.openxmlformats.org/officeDocument/2006/math">
                              <m:sSub>
                                <m:sSubPr>
                                  <m:ctrlPr>
                                    <a:rPr lang="ja-JP" altLang="en-US" i="1" dirty="0" smtClean="0">
                                      <a:latin typeface="Cambria Math" panose="02040503050406030204" pitchFamily="18" charset="0"/>
                                    </a:rPr>
                                  </m:ctrlPr>
                                </m:sSubPr>
                                <m:e>
                                  <m:r>
                                    <a:rPr lang="ja-JP" altLang="en-US" i="1" dirty="0" smtClean="0">
                                      <a:latin typeface="Cambria Math" panose="02040503050406030204" pitchFamily="18" charset="0"/>
                                    </a:rPr>
                                    <m:t>𝑥</m:t>
                                  </m:r>
                                </m:e>
                                <m:sub>
                                  <m:r>
                                    <a:rPr lang="ja-JP" altLang="en-US" i="1" dirty="0" smtClean="0">
                                      <a:latin typeface="Cambria Math" panose="02040503050406030204" pitchFamily="18" charset="0"/>
                                    </a:rPr>
                                    <m:t>𝑖</m:t>
                                  </m:r>
                                </m:sub>
                              </m:sSub>
                            </m:oMath>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sSup>
                                  <m:sSupPr>
                                    <m:ctrlPr>
                                      <a:rPr lang="ja-JP" altLang="en-US" i="1" dirty="0" smtClean="0">
                                        <a:latin typeface="Cambria Math" panose="02040503050406030204" pitchFamily="18" charset="0"/>
                                      </a:rPr>
                                    </m:ctrlPr>
                                  </m:sSupPr>
                                  <m:e>
                                    <m:r>
                                      <a:rPr lang="ja-JP" altLang="en-US" i="1" dirty="0">
                                        <a:latin typeface="Cambria Math" panose="02040503050406030204" pitchFamily="18" charset="0"/>
                                      </a:rPr>
                                      <m:t>ℝ</m:t>
                                    </m:r>
                                  </m:e>
                                  <m:sup>
                                    <m:r>
                                      <a:rPr lang="ja-JP" altLang="en-US" i="1" dirty="0">
                                        <a:latin typeface="Cambria Math" panose="02040503050406030204" pitchFamily="18" charset="0"/>
                                      </a:rPr>
                                      <m:t>𝕕</m:t>
                                    </m:r>
                                  </m:sup>
                                </m:sSup>
                              </m:oMath>
                            </m:oMathPara>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dirty="0"/>
                            <a:t>主成分 </a:t>
                          </a:r>
                          <a14:m>
                            <m:oMath xmlns:m="http://schemas.openxmlformats.org/officeDocument/2006/math">
                              <m:sSub>
                                <m:sSubPr>
                                  <m:ctrlPr>
                                    <a:rPr lang="ja-JP" altLang="en-US" i="1" dirty="0" smtClean="0">
                                      <a:latin typeface="Cambria Math" panose="02040503050406030204" pitchFamily="18" charset="0"/>
                                    </a:rPr>
                                  </m:ctrlPr>
                                </m:sSubPr>
                                <m:e>
                                  <m:r>
                                    <a:rPr lang="ja-JP" altLang="en-US" i="1" dirty="0" smtClean="0">
                                      <a:latin typeface="Cambria Math" panose="02040503050406030204" pitchFamily="18" charset="0"/>
                                    </a:rPr>
                                    <m:t>𝑢</m:t>
                                  </m:r>
                                </m:e>
                                <m:sub>
                                  <m:r>
                                    <a:rPr lang="ja-JP" altLang="en-US" i="1" dirty="0" smtClean="0">
                                      <a:latin typeface="Cambria Math" panose="02040503050406030204" pitchFamily="18" charset="0"/>
                                    </a:rPr>
                                    <m:t>𝑘</m:t>
                                  </m:r>
                                </m:sub>
                              </m:sSub>
                            </m:oMath>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d>
                                  <m:dPr>
                                    <m:begChr m:val="⟨"/>
                                    <m:endChr m:val="⟩"/>
                                    <m:ctrlPr>
                                      <a:rPr lang="en-US" altLang="ja-JP" i="1" dirty="0" smtClean="0">
                                        <a:latin typeface="Cambria Math" panose="02040503050406030204" pitchFamily="18" charset="0"/>
                                      </a:rPr>
                                    </m:ctrlPr>
                                  </m:dPr>
                                  <m:e>
                                    <m:sSub>
                                      <m:sSubPr>
                                        <m:ctrlPr>
                                          <a:rPr lang="ja-JP" altLang="en-US" i="1" dirty="0">
                                            <a:latin typeface="Cambria Math" panose="02040503050406030204" pitchFamily="18" charset="0"/>
                                          </a:rPr>
                                        </m:ctrlPr>
                                      </m:sSubPr>
                                      <m:e>
                                        <m:r>
                                          <a:rPr lang="ja-JP" altLang="en-US" i="1" dirty="0">
                                            <a:latin typeface="Cambria Math" panose="02040503050406030204" pitchFamily="18" charset="0"/>
                                          </a:rPr>
                                          <m:t>𝑥</m:t>
                                        </m:r>
                                      </m:e>
                                      <m:sub>
                                        <m:r>
                                          <a:rPr lang="ja-JP" altLang="en-US" i="1" dirty="0">
                                            <a:latin typeface="Cambria Math" panose="02040503050406030204" pitchFamily="18" charset="0"/>
                                          </a:rPr>
                                          <m:t>𝑖</m:t>
                                        </m:r>
                                      </m:sub>
                                    </m:sSub>
                                    <m:r>
                                      <a:rPr lang="ja-JP" i="1" dirty="0">
                                        <a:latin typeface="Cambria Math" panose="02040503050406030204" pitchFamily="18" charset="0"/>
                                      </a:rPr>
                                      <m:t>,</m:t>
                                    </m:r>
                                    <m:sSub>
                                      <m:sSubPr>
                                        <m:ctrlPr>
                                          <a:rPr lang="ja-JP" altLang="en-US" i="1" dirty="0">
                                            <a:latin typeface="Cambria Math" panose="02040503050406030204" pitchFamily="18" charset="0"/>
                                          </a:rPr>
                                        </m:ctrlPr>
                                      </m:sSubPr>
                                      <m:e>
                                        <m:r>
                                          <a:rPr lang="ja-JP" altLang="en-US" i="1" dirty="0">
                                            <a:latin typeface="Cambria Math" panose="02040503050406030204" pitchFamily="18" charset="0"/>
                                          </a:rPr>
                                          <m:t>𝑢</m:t>
                                        </m:r>
                                      </m:e>
                                      <m:sub>
                                        <m:r>
                                          <a:rPr lang="ja-JP" altLang="en-US" i="1" dirty="0">
                                            <a:latin typeface="Cambria Math" panose="02040503050406030204" pitchFamily="18" charset="0"/>
                                          </a:rPr>
                                          <m:t>𝑘</m:t>
                                        </m:r>
                                      </m:sub>
                                    </m:sSub>
                                  </m:e>
                                </m:d>
                              </m:oMath>
                            </m:oMathPara>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8298500"/>
                      </a:ext>
                    </a:extLst>
                  </a:tr>
                  <a:tr h="0">
                    <a:tc>
                      <a:txBody>
                        <a:bodyPr/>
                        <a:lstStyle/>
                        <a:p>
                          <a:pPr>
                            <a:buNone/>
                          </a:pPr>
                          <a:r>
                            <a:rPr lang="ja-JP"/>
                            <a:t>Kernel PCA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dirty="0"/>
                            <a:t>非线性数据 </a:t>
                          </a:r>
                          <a14:m>
                            <m:oMath xmlns:m="http://schemas.openxmlformats.org/officeDocument/2006/math">
                              <m:sSub>
                                <m:sSubPr>
                                  <m:ctrlPr>
                                    <a:rPr lang="ja-JP" altLang="en-US" i="1" dirty="0" smtClean="0">
                                      <a:latin typeface="Cambria Math" panose="02040503050406030204" pitchFamily="18" charset="0"/>
                                    </a:rPr>
                                  </m:ctrlPr>
                                </m:sSubPr>
                                <m:e>
                                  <m:r>
                                    <a:rPr lang="ja-JP" altLang="en-US" i="1" dirty="0" smtClean="0">
                                      <a:latin typeface="Cambria Math" panose="02040503050406030204" pitchFamily="18" charset="0"/>
                                    </a:rPr>
                                    <m:t>𝑥</m:t>
                                  </m:r>
                                </m:e>
                                <m:sub>
                                  <m:r>
                                    <a:rPr lang="ja-JP" altLang="en-US" i="1" dirty="0" smtClean="0">
                                      <a:latin typeface="Cambria Math" panose="02040503050406030204" pitchFamily="18" charset="0"/>
                                    </a:rPr>
                                    <m:t>𝑖</m:t>
                                  </m:r>
                                </m:sub>
                              </m:sSub>
                            </m:oMath>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dirty="0"/>
                            <a:t>特征 Hilbert 空间 </a:t>
                          </a:r>
                          <a14:m>
                            <m:oMath xmlns:m="http://schemas.openxmlformats.org/officeDocument/2006/math">
                              <m:r>
                                <a:rPr lang="ja-JP" altLang="en-US" i="1" dirty="0" smtClean="0">
                                  <a:latin typeface="Cambria Math" panose="02040503050406030204" pitchFamily="18" charset="0"/>
                                </a:rPr>
                                <m:t>ℋ</m:t>
                              </m:r>
                            </m:oMath>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dirty="0"/>
                            <a:t>特征空间中的主成分 </a:t>
                          </a:r>
                          <a14:m>
                            <m:oMath xmlns:m="http://schemas.openxmlformats.org/officeDocument/2006/math">
                              <m:sSub>
                                <m:sSubPr>
                                  <m:ctrlPr>
                                    <a:rPr lang="ja-JP" altLang="en-US" i="1" dirty="0" smtClean="0">
                                      <a:latin typeface="Cambria Math" panose="02040503050406030204" pitchFamily="18" charset="0"/>
                                    </a:rPr>
                                  </m:ctrlPr>
                                </m:sSubPr>
                                <m:e>
                                  <m:r>
                                    <a:rPr lang="ja-JP" altLang="en-US" i="1" dirty="0" smtClean="0">
                                      <a:latin typeface="Cambria Math" panose="02040503050406030204" pitchFamily="18" charset="0"/>
                                    </a:rPr>
                                    <m:t>𝑣</m:t>
                                  </m:r>
                                </m:e>
                                <m:sub>
                                  <m:r>
                                    <a:rPr lang="ja-JP" altLang="en-US" i="1" dirty="0" smtClean="0">
                                      <a:latin typeface="Cambria Math" panose="02040503050406030204" pitchFamily="18" charset="0"/>
                                    </a:rPr>
                                    <m:t>𝑘</m:t>
                                  </m:r>
                                </m:sub>
                              </m:sSub>
                            </m:oMath>
                          </a14:m>
                          <a:endParaRPr lang="ja-JP"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14:m>
                            <m:oMathPara xmlns:m="http://schemas.openxmlformats.org/officeDocument/2006/math">
                              <m:oMathParaPr>
                                <m:jc m:val="centerGroup"/>
                              </m:oMathParaPr>
                              <m:oMath xmlns:m="http://schemas.openxmlformats.org/officeDocument/2006/math">
                                <m:d>
                                  <m:dPr>
                                    <m:begChr m:val="⟨"/>
                                    <m:endChr m:val="⟩"/>
                                    <m:ctrlPr>
                                      <a:rPr lang="en-US" altLang="ja-JP" i="1" dirty="0" smtClean="0">
                                        <a:latin typeface="Cambria Math" panose="02040503050406030204" pitchFamily="18" charset="0"/>
                                      </a:rPr>
                                    </m:ctrlPr>
                                  </m:dPr>
                                  <m:e>
                                    <m:r>
                                      <a:rPr lang="en-US" altLang="ja-JP" i="1" dirty="0">
                                        <a:latin typeface="Cambria Math" panose="02040503050406030204" pitchFamily="18" charset="0"/>
                                      </a:rPr>
                                      <m:t>𝜙</m:t>
                                    </m:r>
                                    <m:d>
                                      <m:dPr>
                                        <m:ctrlPr>
                                          <a:rPr lang="ja-JP" altLang="en-US" i="1" dirty="0">
                                            <a:latin typeface="Cambria Math" panose="02040503050406030204" pitchFamily="18" charset="0"/>
                                          </a:rPr>
                                        </m:ctrlPr>
                                      </m:dPr>
                                      <m:e>
                                        <m:sSub>
                                          <m:sSubPr>
                                            <m:ctrlPr>
                                              <a:rPr lang="ja-JP" altLang="en-US" i="1" dirty="0">
                                                <a:latin typeface="Cambria Math" panose="02040503050406030204" pitchFamily="18" charset="0"/>
                                              </a:rPr>
                                            </m:ctrlPr>
                                          </m:sSubPr>
                                          <m:e>
                                            <m:r>
                                              <a:rPr lang="ja-JP" altLang="en-US" i="1" dirty="0">
                                                <a:latin typeface="Cambria Math" panose="02040503050406030204" pitchFamily="18" charset="0"/>
                                              </a:rPr>
                                              <m:t>𝑥</m:t>
                                            </m:r>
                                          </m:e>
                                          <m:sub>
                                            <m:r>
                                              <a:rPr lang="ja-JP" altLang="en-US" i="1" dirty="0">
                                                <a:latin typeface="Cambria Math" panose="02040503050406030204" pitchFamily="18" charset="0"/>
                                              </a:rPr>
                                              <m:t>𝑖</m:t>
                                            </m:r>
                                          </m:sub>
                                        </m:sSub>
                                      </m:e>
                                    </m:d>
                                    <m:r>
                                      <a:rPr lang="ja-JP" i="1" dirty="0">
                                        <a:latin typeface="Cambria Math" panose="02040503050406030204" pitchFamily="18" charset="0"/>
                                      </a:rPr>
                                      <m:t>,</m:t>
                                    </m:r>
                                    <m:sSub>
                                      <m:sSubPr>
                                        <m:ctrlPr>
                                          <a:rPr lang="ja-JP" altLang="en-US" i="1" dirty="0">
                                            <a:latin typeface="Cambria Math" panose="02040503050406030204" pitchFamily="18" charset="0"/>
                                          </a:rPr>
                                        </m:ctrlPr>
                                      </m:sSubPr>
                                      <m:e>
                                        <m:r>
                                          <a:rPr lang="ja-JP" altLang="en-US" i="1" dirty="0">
                                            <a:latin typeface="Cambria Math" panose="02040503050406030204" pitchFamily="18" charset="0"/>
                                          </a:rPr>
                                          <m:t>𝑣</m:t>
                                        </m:r>
                                      </m:e>
                                      <m:sub>
                                        <m:r>
                                          <a:rPr lang="ja-JP" altLang="en-US" i="1" dirty="0">
                                            <a:latin typeface="Cambria Math" panose="02040503050406030204" pitchFamily="18" charset="0"/>
                                          </a:rPr>
                                          <m:t>𝑘</m:t>
                                        </m:r>
                                      </m:sub>
                                    </m:sSub>
                                  </m:e>
                                </m:d>
                              </m:oMath>
                            </m:oMathPara>
                          </a14:m>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5905694"/>
                      </a:ext>
                    </a:extLst>
                  </a:tr>
                </a:tbl>
              </a:graphicData>
            </a:graphic>
          </p:graphicFrame>
        </mc:Choice>
        <mc:Fallback>
          <p:graphicFrame>
            <p:nvGraphicFramePr>
              <p:cNvPr id="8" name="表 7">
                <a:extLst>
                  <a:ext uri="{FF2B5EF4-FFF2-40B4-BE49-F238E27FC236}">
                    <a16:creationId xmlns:a16="http://schemas.microsoft.com/office/drawing/2014/main" id="{FAF5C1D7-38EB-39CC-3FDF-B630B8682741}"/>
                  </a:ext>
                </a:extLst>
              </p:cNvPr>
              <p:cNvGraphicFramePr>
                <a:graphicFrameLocks noGrp="1"/>
              </p:cNvGraphicFramePr>
              <p:nvPr>
                <p:extLst>
                  <p:ext uri="{D42A27DB-BD31-4B8C-83A1-F6EECF244321}">
                    <p14:modId xmlns:p14="http://schemas.microsoft.com/office/powerpoint/2010/main" val="101074246"/>
                  </p:ext>
                </p:extLst>
              </p:nvPr>
            </p:nvGraphicFramePr>
            <p:xfrm>
              <a:off x="744278" y="3669527"/>
              <a:ext cx="10543481" cy="1473391"/>
            </p:xfrm>
            <a:graphic>
              <a:graphicData uri="http://schemas.openxmlformats.org/drawingml/2006/table">
                <a:tbl>
                  <a:tblPr/>
                  <a:tblGrid>
                    <a:gridCol w="1548117">
                      <a:extLst>
                        <a:ext uri="{9D8B030D-6E8A-4147-A177-3AD203B41FA5}">
                          <a16:colId xmlns:a16="http://schemas.microsoft.com/office/drawing/2014/main" val="2020949835"/>
                        </a:ext>
                      </a:extLst>
                    </a:gridCol>
                    <a:gridCol w="1822405">
                      <a:extLst>
                        <a:ext uri="{9D8B030D-6E8A-4147-A177-3AD203B41FA5}">
                          <a16:colId xmlns:a16="http://schemas.microsoft.com/office/drawing/2014/main" val="2618440812"/>
                        </a:ext>
                      </a:extLst>
                    </a:gridCol>
                    <a:gridCol w="2424223">
                      <a:extLst>
                        <a:ext uri="{9D8B030D-6E8A-4147-A177-3AD203B41FA5}">
                          <a16:colId xmlns:a16="http://schemas.microsoft.com/office/drawing/2014/main" val="2368187878"/>
                        </a:ext>
                      </a:extLst>
                    </a:gridCol>
                    <a:gridCol w="2668772">
                      <a:extLst>
                        <a:ext uri="{9D8B030D-6E8A-4147-A177-3AD203B41FA5}">
                          <a16:colId xmlns:a16="http://schemas.microsoft.com/office/drawing/2014/main" val="1556371347"/>
                        </a:ext>
                      </a:extLst>
                    </a:gridCol>
                    <a:gridCol w="2079964">
                      <a:extLst>
                        <a:ext uri="{9D8B030D-6E8A-4147-A177-3AD203B41FA5}">
                          <a16:colId xmlns:a16="http://schemas.microsoft.com/office/drawing/2014/main" val="445300519"/>
                        </a:ext>
                      </a:extLst>
                    </a:gridCol>
                  </a:tblGrid>
                  <a:tr h="365760">
                    <a:tc>
                      <a:txBody>
                        <a:bodyPr/>
                        <a:lstStyle/>
                        <a:p>
                          <a:pPr>
                            <a:buNone/>
                          </a:pPr>
                          <a:r>
                            <a:rPr lang="ja-JP"/>
                            <a:t>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对象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Hilbert 空间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正交方向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t>投影系数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3715762"/>
                      </a:ext>
                    </a:extLst>
                  </a:tr>
                  <a:tr h="365760">
                    <a:tc>
                      <a:txBody>
                        <a:bodyPr/>
                        <a:lstStyle/>
                        <a:p>
                          <a:pPr>
                            <a:buNone/>
                          </a:pPr>
                          <a:r>
                            <a:rPr lang="ja-JP"/>
                            <a:t>Fourier 分解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5284" t="-111475" r="-394314" b="-227869"/>
                          </a:stretch>
                        </a:blip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9196" t="-111475" r="-196231" b="-227869"/>
                          </a:stretch>
                        </a:blip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7352" t="-111475" r="-78311" b="-227869"/>
                          </a:stretch>
                        </a:blip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7625" t="-111475" r="-587" b="-227869"/>
                          </a:stretch>
                        </a:blipFill>
                      </a:tcPr>
                    </a:tc>
                    <a:extLst>
                      <a:ext uri="{0D108BD9-81ED-4DB2-BD59-A6C34878D82A}">
                        <a16:rowId xmlns:a16="http://schemas.microsoft.com/office/drawing/2014/main" val="840276103"/>
                      </a:ext>
                    </a:extLst>
                  </a:tr>
                  <a:tr h="376111">
                    <a:tc>
                      <a:txBody>
                        <a:bodyPr/>
                        <a:lstStyle/>
                        <a:p>
                          <a:pPr>
                            <a:buNone/>
                          </a:pPr>
                          <a:r>
                            <a:rPr lang="ja-JP" dirty="0"/>
                            <a:t>PCA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5284" t="-208065" r="-394314" b="-124194"/>
                          </a:stretch>
                        </a:blip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9196" t="-208065" r="-196231" b="-124194"/>
                          </a:stretch>
                        </a:blip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7352" t="-208065" r="-78311" b="-124194"/>
                          </a:stretch>
                        </a:blip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7625" t="-208065" r="-587" b="-124194"/>
                          </a:stretch>
                        </a:blipFill>
                      </a:tcPr>
                    </a:tc>
                    <a:extLst>
                      <a:ext uri="{0D108BD9-81ED-4DB2-BD59-A6C34878D82A}">
                        <a16:rowId xmlns:a16="http://schemas.microsoft.com/office/drawing/2014/main" val="3908298500"/>
                      </a:ext>
                    </a:extLst>
                  </a:tr>
                  <a:tr h="365760">
                    <a:tc>
                      <a:txBody>
                        <a:bodyPr/>
                        <a:lstStyle/>
                        <a:p>
                          <a:pPr>
                            <a:buNone/>
                          </a:pPr>
                          <a:r>
                            <a:rPr lang="ja-JP"/>
                            <a:t>Kernel PCA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5284" t="-318333" r="-394314" b="-28333"/>
                          </a:stretch>
                        </a:blip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9196" t="-318333" r="-196231" b="-28333"/>
                          </a:stretch>
                        </a:blip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7352" t="-318333" r="-78311" b="-28333"/>
                          </a:stretch>
                        </a:blipFill>
                      </a:tcPr>
                    </a:tc>
                    <a:tc>
                      <a:txBody>
                        <a:bodyPr/>
                        <a:lstStyle/>
                        <a:p>
                          <a:endParaRPr lang="ja-JP"/>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07625" t="-318333" r="-587" b="-28333"/>
                          </a:stretch>
                        </a:blipFill>
                      </a:tcPr>
                    </a:tc>
                    <a:extLst>
                      <a:ext uri="{0D108BD9-81ED-4DB2-BD59-A6C34878D82A}">
                        <a16:rowId xmlns:a16="http://schemas.microsoft.com/office/drawing/2014/main" val="3555905694"/>
                      </a:ext>
                    </a:extLst>
                  </a:tr>
                </a:tbl>
              </a:graphicData>
            </a:graphic>
          </p:graphicFrame>
        </mc:Fallback>
      </mc:AlternateContent>
    </p:spTree>
    <p:extLst>
      <p:ext uri="{BB962C8B-B14F-4D97-AF65-F5344CB8AC3E}">
        <p14:creationId xmlns:p14="http://schemas.microsoft.com/office/powerpoint/2010/main" val="2888791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A2939-1A7A-81BF-F0EC-3C97E3BD7D4C}"/>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A1D7C4CA-EEB0-A4F3-BD63-733BF8FDACB3}"/>
              </a:ext>
            </a:extLst>
          </p:cNvPr>
          <p:cNvSpPr>
            <a:spLocks noGrp="1" noChangeArrowheads="1"/>
          </p:cNvSpPr>
          <p:nvPr>
            <p:ph type="title"/>
          </p:nvPr>
        </p:nvSpPr>
        <p:spPr/>
        <p:txBody>
          <a:bodyPr/>
          <a:lstStyle/>
          <a:p>
            <a:r>
              <a:rPr lang="ja-JP" altLang="ja-JP" b="1" dirty="0"/>
              <a:t>机器学习中的 Hilbert 空间：RKHS 与核方法</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BF43ED2A-65BE-06C9-E256-7329B0360163}"/>
                  </a:ext>
                </a:extLst>
              </p:cNvPr>
              <p:cNvSpPr>
                <a:spLocks noGrp="1"/>
              </p:cNvSpPr>
              <p:nvPr>
                <p:ph idx="1"/>
              </p:nvPr>
            </p:nvSpPr>
            <p:spPr>
              <a:xfrm>
                <a:off x="157480" y="990600"/>
                <a:ext cx="11877040" cy="5440680"/>
              </a:xfrm>
            </p:spPr>
            <p:txBody>
              <a:bodyPr/>
              <a:lstStyle/>
              <a:p>
                <a:pPr marL="0" indent="0">
                  <a:lnSpc>
                    <a:spcPct val="110000"/>
                  </a:lnSpc>
                  <a:buNone/>
                </a:pPr>
                <a:r>
                  <a:rPr lang="ja-JP" altLang="ja-JP" sz="1800" dirty="0"/>
                  <a:t>核方法不直接把数据 </a:t>
                </a:r>
                <a14:m>
                  <m:oMath xmlns:m="http://schemas.openxmlformats.org/officeDocument/2006/math">
                    <m:r>
                      <a:rPr lang="ja-JP" altLang="en-US" sz="1800" i="1"/>
                      <m:t>𝑥</m:t>
                    </m:r>
                  </m:oMath>
                </a14:m>
                <a:r>
                  <a:rPr lang="ja-JP" altLang="ja-JP" sz="1800" dirty="0"/>
                  <a:t>映射到高维空间 </a:t>
                </a:r>
                <a14:m>
                  <m:oMath xmlns:m="http://schemas.openxmlformats.org/officeDocument/2006/math">
                    <m:r>
                      <a:rPr lang="ja-JP" altLang="en-US" sz="1800" i="1"/>
                      <m:t>𝜙</m:t>
                    </m:r>
                    <m:d>
                      <m:dPr>
                        <m:ctrlPr>
                          <a:rPr lang="ja-JP" altLang="en-US" sz="1800" i="1"/>
                        </m:ctrlPr>
                      </m:dPr>
                      <m:e>
                        <m:r>
                          <a:rPr lang="ja-JP" altLang="en-US" sz="1800" i="1"/>
                          <m:t>𝑥</m:t>
                        </m:r>
                      </m:e>
                    </m:d>
                  </m:oMath>
                </a14:m>
                <a:r>
                  <a:rPr lang="ja-JP" altLang="ja-JP" sz="1800" dirty="0"/>
                  <a:t>，只通过一个函数 </a:t>
                </a:r>
                <a14:m>
                  <m:oMath xmlns:m="http://schemas.openxmlformats.org/officeDocument/2006/math">
                    <m:r>
                      <a:rPr lang="ja-JP" altLang="en-US" sz="1800" i="1"/>
                      <m:t>𝑘</m:t>
                    </m:r>
                    <m:d>
                      <m:dPr>
                        <m:sepChr m:val=","/>
                        <m:ctrlPr>
                          <a:rPr lang="ja-JP" altLang="en-US" sz="1800" i="1"/>
                        </m:ctrlPr>
                      </m:dPr>
                      <m:e>
                        <m:r>
                          <a:rPr lang="ja-JP" altLang="en-US" sz="1800" i="1"/>
                          <m:t>𝑥</m:t>
                        </m:r>
                      </m:e>
                      <m:e>
                        <m:sSup>
                          <m:sSupPr>
                            <m:ctrlPr>
                              <a:rPr lang="ja-JP" altLang="en-US" sz="1800" i="1"/>
                            </m:ctrlPr>
                          </m:sSupPr>
                          <m:e>
                            <m:r>
                              <a:rPr lang="ja-JP" altLang="en-US" sz="1800" i="1"/>
                              <m:t>𝑥</m:t>
                            </m:r>
                          </m:e>
                          <m:sup>
                            <m:r>
                              <a:rPr lang="en-US" altLang="ja-JP" sz="1800"/>
                              <m:t>′</m:t>
                            </m:r>
                          </m:sup>
                        </m:sSup>
                      </m:e>
                    </m:d>
                  </m:oMath>
                </a14:m>
                <a:r>
                  <a:rPr lang="ja-JP" altLang="ja-JP" sz="1800" dirty="0"/>
                  <a:t>来计算两个样本在高维空间中的“内积”。</a:t>
                </a:r>
                <a:endParaRPr lang="en-US" altLang="ja-JP" sz="1800" dirty="0"/>
              </a:p>
              <a:p>
                <a:pPr lvl="1">
                  <a:lnSpc>
                    <a:spcPct val="110000"/>
                  </a:lnSpc>
                  <a:buFont typeface="Wingdings" panose="05000000000000000000" pitchFamily="2" charset="2"/>
                  <a:buChar char="Ø"/>
                </a:pPr>
                <a:r>
                  <a:rPr lang="ja-JP" altLang="ja-JP" sz="1800" dirty="0"/>
                  <a:t>内积可以理解为一种“相似度”：</a:t>
                </a:r>
              </a:p>
              <a:p>
                <a:pPr lvl="1">
                  <a:lnSpc>
                    <a:spcPct val="110000"/>
                  </a:lnSpc>
                  <a:buFont typeface="Wingdings" panose="05000000000000000000" pitchFamily="2" charset="2"/>
                  <a:buChar char="Ø"/>
                </a:pPr>
                <a:r>
                  <a:rPr lang="ja-JP" altLang="ja-JP" sz="1800" dirty="0"/>
                  <a:t>如果两个向量方向接近，内积较大；如果方向差异很大，内积较小；如果正交，内积为 0。</a:t>
                </a:r>
              </a:p>
              <a:p>
                <a:pPr lvl="1">
                  <a:lnSpc>
                    <a:spcPct val="110000"/>
                  </a:lnSpc>
                  <a:buFont typeface="Wingdings" panose="05000000000000000000" pitchFamily="2" charset="2"/>
                  <a:buChar char="Ø"/>
                </a:pPr>
                <a:r>
                  <a:rPr lang="ja-JP" altLang="ja-JP" sz="1800" dirty="0"/>
                  <a:t>很多方法本质上都依赖于样本之间的内积，比如线性分类、线性回归、PCA、SVM 等</a:t>
                </a:r>
                <a:endParaRPr lang="en-US" altLang="ja-JP" sz="1800" dirty="0"/>
              </a:p>
              <a:p>
                <a:pPr marL="0" indent="0">
                  <a:lnSpc>
                    <a:spcPct val="110000"/>
                  </a:lnSpc>
                  <a:buNone/>
                </a:pPr>
                <a:r>
                  <a:rPr lang="ja-JP" altLang="ja-JP" sz="1800" dirty="0"/>
                  <a:t>在原空间中是非线性问题，在高维特征空间中可能变成线性问题</a:t>
                </a:r>
                <a:endParaRPr lang="en-US" altLang="ja-JP" sz="1800" dirty="0"/>
              </a:p>
              <a:p>
                <a:pPr>
                  <a:lnSpc>
                    <a:spcPct val="110000"/>
                  </a:lnSpc>
                </a:pPr>
                <a:r>
                  <a:rPr lang="ja-JP" altLang="ja-JP" sz="1800" dirty="0"/>
                  <a:t>很多实际数据在原始空间中不是线性可分的。</a:t>
                </a:r>
                <a:endParaRPr lang="en-US" altLang="ja-JP" sz="1800" dirty="0"/>
              </a:p>
              <a:p>
                <a:pPr lvl="1">
                  <a:lnSpc>
                    <a:spcPct val="110000"/>
                  </a:lnSpc>
                </a:pPr>
                <a:r>
                  <a:rPr lang="ja-JP" altLang="ja-JP" sz="1800" dirty="0"/>
                  <a:t>例如，在二维平面中有一组点：内圈是一个类别，外圈是另一个类别。</a:t>
                </a:r>
                <a:endParaRPr lang="en-US" altLang="ja-JP" sz="1800" dirty="0"/>
              </a:p>
              <a:p>
                <a:pPr lvl="1">
                  <a:lnSpc>
                    <a:spcPct val="110000"/>
                  </a:lnSpc>
                </a:pPr>
                <a:r>
                  <a:rPr lang="ja-JP" altLang="ja-JP" sz="1800" dirty="0"/>
                  <a:t>在原来的二维平面中，很难用一条直线把它们分开。</a:t>
                </a:r>
                <a:endParaRPr lang="en-US" altLang="ja-JP" sz="1800" dirty="0"/>
              </a:p>
              <a:p>
                <a:pPr lvl="1">
                  <a:lnSpc>
                    <a:spcPct val="110000"/>
                  </a:lnSpc>
                </a:pPr>
                <a:r>
                  <a:rPr lang="ja-JP" altLang="ja-JP" sz="1800" dirty="0"/>
                  <a:t>如果把数据映射到更高维空间，比如加入二次项：</a:t>
                </a:r>
                <a14:m>
                  <m:oMath xmlns:m="http://schemas.openxmlformats.org/officeDocument/2006/math">
                    <m:r>
                      <a:rPr lang="ja-JP" altLang="en-US" sz="1800" i="1"/>
                      <m:t>𝑥</m:t>
                    </m:r>
                    <m:r>
                      <a:rPr lang="en-US" altLang="ja-JP" sz="1800"/>
                      <m:t>=</m:t>
                    </m:r>
                    <m:d>
                      <m:dPr>
                        <m:sepChr m:val=","/>
                        <m:ctrlPr>
                          <a:rPr lang="ja-JP" altLang="en-US" sz="1800" i="1"/>
                        </m:ctrlPr>
                      </m:dPr>
                      <m:e>
                        <m:sSub>
                          <m:sSubPr>
                            <m:ctrlPr>
                              <a:rPr lang="ja-JP" altLang="en-US" sz="1800" i="1"/>
                            </m:ctrlPr>
                          </m:sSubPr>
                          <m:e>
                            <m:r>
                              <a:rPr lang="ja-JP" altLang="en-US" sz="1800" i="1"/>
                              <m:t>𝑥</m:t>
                            </m:r>
                          </m:e>
                          <m:sub>
                            <m:r>
                              <a:rPr lang="en-US" altLang="ja-JP" sz="1800"/>
                              <m:t>1</m:t>
                            </m:r>
                          </m:sub>
                        </m:sSub>
                      </m:e>
                      <m:e>
                        <m:sSub>
                          <m:sSubPr>
                            <m:ctrlPr>
                              <a:rPr lang="ja-JP" altLang="en-US" sz="1800" i="1"/>
                            </m:ctrlPr>
                          </m:sSubPr>
                          <m:e>
                            <m:r>
                              <a:rPr lang="ja-JP" altLang="en-US" sz="1800" i="1"/>
                              <m:t>𝑥</m:t>
                            </m:r>
                          </m:e>
                          <m:sub>
                            <m:r>
                              <a:rPr lang="en-US" altLang="ja-JP" sz="1800"/>
                              <m:t>2</m:t>
                            </m:r>
                          </m:sub>
                        </m:sSub>
                      </m:e>
                    </m:d>
                  </m:oMath>
                </a14:m>
                <a:r>
                  <a:rPr lang="en-US" altLang="ja-JP" sz="1800" dirty="0"/>
                  <a:t> </a:t>
                </a:r>
                <a:r>
                  <a:rPr lang="ja-JP" altLang="ja-JP" sz="1800" dirty="0"/>
                  <a:t>变成</a:t>
                </a:r>
                <a14:m>
                  <m:oMath xmlns:m="http://schemas.openxmlformats.org/officeDocument/2006/math">
                    <m:r>
                      <a:rPr lang="ja-JP" altLang="en-US" sz="1800" i="1"/>
                      <m:t>𝜙</m:t>
                    </m:r>
                    <m:d>
                      <m:dPr>
                        <m:ctrlPr>
                          <a:rPr lang="ja-JP" altLang="en-US" sz="1800" i="1"/>
                        </m:ctrlPr>
                      </m:dPr>
                      <m:e>
                        <m:r>
                          <a:rPr lang="ja-JP" altLang="en-US" sz="1800" i="1"/>
                          <m:t>𝑥</m:t>
                        </m:r>
                      </m:e>
                    </m:d>
                    <m:r>
                      <a:rPr lang="en-US" altLang="ja-JP" sz="1800"/>
                      <m:t>=</m:t>
                    </m:r>
                    <m:d>
                      <m:dPr>
                        <m:sepChr m:val=","/>
                        <m:ctrlPr>
                          <a:rPr lang="ja-JP" altLang="en-US" sz="1800" i="1"/>
                        </m:ctrlPr>
                      </m:dPr>
                      <m:e>
                        <m:sSub>
                          <m:sSubPr>
                            <m:ctrlPr>
                              <a:rPr lang="ja-JP" altLang="en-US" sz="1800" i="1"/>
                            </m:ctrlPr>
                          </m:sSubPr>
                          <m:e>
                            <m:r>
                              <a:rPr lang="ja-JP" altLang="en-US" sz="1800" i="1"/>
                              <m:t>𝑥</m:t>
                            </m:r>
                          </m:e>
                          <m:sub>
                            <m:r>
                              <a:rPr lang="en-US" altLang="ja-JP" sz="1800"/>
                              <m:t>1</m:t>
                            </m:r>
                          </m:sub>
                        </m:sSub>
                      </m:e>
                      <m:e>
                        <m:sSub>
                          <m:sSubPr>
                            <m:ctrlPr>
                              <a:rPr lang="ja-JP" altLang="en-US" sz="1800" i="1"/>
                            </m:ctrlPr>
                          </m:sSubPr>
                          <m:e>
                            <m:r>
                              <a:rPr lang="ja-JP" altLang="en-US" sz="1800" i="1"/>
                              <m:t>𝑥</m:t>
                            </m:r>
                          </m:e>
                          <m:sub>
                            <m:r>
                              <a:rPr lang="en-US" altLang="ja-JP" sz="1800"/>
                              <m:t>2</m:t>
                            </m:r>
                          </m:sub>
                        </m:sSub>
                      </m:e>
                      <m:e>
                        <m:sSubSup>
                          <m:sSubSupPr>
                            <m:ctrlPr>
                              <a:rPr lang="ja-JP" altLang="en-US" sz="1800" i="1"/>
                            </m:ctrlPr>
                          </m:sSubSupPr>
                          <m:e>
                            <m:r>
                              <a:rPr lang="ja-JP" altLang="en-US" sz="1800" i="1"/>
                              <m:t>𝑥</m:t>
                            </m:r>
                          </m:e>
                          <m:sub>
                            <m:r>
                              <a:rPr lang="en-US" altLang="ja-JP" sz="1800"/>
                              <m:t>1</m:t>
                            </m:r>
                          </m:sub>
                          <m:sup>
                            <m:r>
                              <a:rPr lang="en-US" altLang="ja-JP" sz="1800"/>
                              <m:t>2</m:t>
                            </m:r>
                          </m:sup>
                        </m:sSubSup>
                      </m:e>
                      <m:e>
                        <m:sSubSup>
                          <m:sSubSupPr>
                            <m:ctrlPr>
                              <a:rPr lang="ja-JP" altLang="en-US" sz="1800" i="1"/>
                            </m:ctrlPr>
                          </m:sSubSupPr>
                          <m:e>
                            <m:r>
                              <a:rPr lang="ja-JP" altLang="en-US" sz="1800" i="1"/>
                              <m:t>𝑥</m:t>
                            </m:r>
                          </m:e>
                          <m:sub>
                            <m:r>
                              <a:rPr lang="en-US" altLang="ja-JP" sz="1800"/>
                              <m:t>2</m:t>
                            </m:r>
                          </m:sub>
                          <m:sup>
                            <m:r>
                              <a:rPr lang="en-US" altLang="ja-JP" sz="1800"/>
                              <m:t>2</m:t>
                            </m:r>
                          </m:sup>
                        </m:sSubSup>
                      </m:e>
                      <m:e>
                        <m:sSub>
                          <m:sSubPr>
                            <m:ctrlPr>
                              <a:rPr lang="ja-JP" altLang="en-US" sz="1800" i="1"/>
                            </m:ctrlPr>
                          </m:sSubPr>
                          <m:e>
                            <m:r>
                              <a:rPr lang="ja-JP" altLang="en-US" sz="1800" i="1"/>
                              <m:t>𝑥</m:t>
                            </m:r>
                          </m:e>
                          <m:sub>
                            <m:r>
                              <a:rPr lang="en-US" altLang="ja-JP" sz="1800"/>
                              <m:t>1</m:t>
                            </m:r>
                          </m:sub>
                        </m:sSub>
                        <m:sSub>
                          <m:sSubPr>
                            <m:ctrlPr>
                              <a:rPr lang="ja-JP" altLang="en-US" sz="1800" i="1"/>
                            </m:ctrlPr>
                          </m:sSubPr>
                          <m:e>
                            <m:r>
                              <a:rPr lang="ja-JP" altLang="en-US" sz="1800" i="1"/>
                              <m:t>𝑥</m:t>
                            </m:r>
                          </m:e>
                          <m:sub>
                            <m:r>
                              <a:rPr lang="en-US" altLang="ja-JP" sz="1800"/>
                              <m:t>2</m:t>
                            </m:r>
                          </m:sub>
                        </m:sSub>
                      </m:e>
                    </m:d>
                    <m:r>
                      <a:rPr lang="en-US" altLang="ja-JP" sz="1800"/>
                      <m:t>,</m:t>
                    </m:r>
                  </m:oMath>
                </a14:m>
                <a:r>
                  <a:rPr lang="en-US" altLang="ja-JP" sz="1800" dirty="0"/>
                  <a:t> </a:t>
                </a:r>
                <a:r>
                  <a:rPr lang="ja-JP" altLang="ja-JP" sz="1800" dirty="0"/>
                  <a:t>那么原来无法线性分开的数据，在高维空间中可能就能用一个超平面分开。</a:t>
                </a:r>
                <a:endParaRPr lang="en-US" altLang="ja-JP" sz="1800" dirty="0"/>
              </a:p>
              <a:p>
                <a:pPr>
                  <a:lnSpc>
                    <a:spcPct val="110000"/>
                  </a:lnSpc>
                </a:pPr>
                <a:r>
                  <a:rPr lang="ja-JP" altLang="ja-JP" sz="1800" dirty="0"/>
                  <a:t>如果真把每个样本 </a:t>
                </a:r>
                <a14:m>
                  <m:oMath xmlns:m="http://schemas.openxmlformats.org/officeDocument/2006/math">
                    <m:r>
                      <a:rPr lang="ja-JP" altLang="en-US" sz="1800" i="1"/>
                      <m:t>𝑥</m:t>
                    </m:r>
                  </m:oMath>
                </a14:m>
                <a:r>
                  <a:rPr lang="ja-JP" altLang="ja-JP" sz="1800" dirty="0"/>
                  <a:t>都映射成 </a:t>
                </a:r>
                <a14:m>
                  <m:oMath xmlns:m="http://schemas.openxmlformats.org/officeDocument/2006/math">
                    <m:r>
                      <a:rPr lang="ja-JP" altLang="en-US" sz="1800" i="1"/>
                      <m:t>𝜙</m:t>
                    </m:r>
                    <m:d>
                      <m:dPr>
                        <m:ctrlPr>
                          <a:rPr lang="ja-JP" altLang="en-US" sz="1800" i="1"/>
                        </m:ctrlPr>
                      </m:dPr>
                      <m:e>
                        <m:r>
                          <a:rPr lang="ja-JP" altLang="en-US" sz="1800" i="1"/>
                          <m:t>𝑥</m:t>
                        </m:r>
                      </m:e>
                    </m:d>
                  </m:oMath>
                </a14:m>
                <a:r>
                  <a:rPr lang="ja-JP" altLang="ja-JP" sz="1800" dirty="0"/>
                  <a:t>，可能会遇到两个问题。</a:t>
                </a:r>
                <a:endParaRPr lang="en-US" altLang="ja-JP" sz="1800" dirty="0"/>
              </a:p>
              <a:p>
                <a:pPr lvl="1">
                  <a:lnSpc>
                    <a:spcPct val="110000"/>
                  </a:lnSpc>
                  <a:buFont typeface="Wingdings" panose="05000000000000000000" pitchFamily="2" charset="2"/>
                  <a:buChar char="Ø"/>
                </a:pPr>
                <a:r>
                  <a:rPr lang="ja-JP" altLang="ja-JP" sz="1800" dirty="0"/>
                  <a:t>第一，维度可能非常高。例如多项式特征会快速增加维数。</a:t>
                </a:r>
                <a:endParaRPr lang="en-US" altLang="ja-JP" sz="1800" dirty="0"/>
              </a:p>
              <a:p>
                <a:pPr lvl="1">
                  <a:lnSpc>
                    <a:spcPct val="110000"/>
                  </a:lnSpc>
                  <a:buFont typeface="Wingdings" panose="05000000000000000000" pitchFamily="2" charset="2"/>
                  <a:buChar char="Ø"/>
                </a:pPr>
                <a:r>
                  <a:rPr lang="ja-JP" altLang="ja-JP" sz="1800" dirty="0"/>
                  <a:t>第二，有些映射甚至是无限维的。例如高斯核对应的特征空间可以看作无限维 Hilbert 空间。所以直接计算 </a:t>
                </a:r>
                <a14:m>
                  <m:oMath xmlns:m="http://schemas.openxmlformats.org/officeDocument/2006/math">
                    <m:r>
                      <a:rPr lang="ja-JP" altLang="en-US" sz="1800" i="1"/>
                      <m:t>𝜙</m:t>
                    </m:r>
                    <m:d>
                      <m:dPr>
                        <m:ctrlPr>
                          <a:rPr lang="ja-JP" altLang="en-US" sz="1800" i="1"/>
                        </m:ctrlPr>
                      </m:dPr>
                      <m:e>
                        <m:r>
                          <a:rPr lang="ja-JP" altLang="en-US" sz="1800" i="1"/>
                          <m:t>𝑥</m:t>
                        </m:r>
                      </m:e>
                    </m:d>
                  </m:oMath>
                </a14:m>
                <a:r>
                  <a:rPr lang="ja-JP" altLang="ja-JP" sz="1800" dirty="0"/>
                  <a:t>可能非常困难，甚至不可能。</a:t>
                </a:r>
              </a:p>
              <a:p>
                <a:pPr>
                  <a:lnSpc>
                    <a:spcPct val="110000"/>
                  </a:lnSpc>
                </a:pPr>
                <a:r>
                  <a:rPr lang="ja-JP" altLang="ja-JP" sz="1800" dirty="0"/>
                  <a:t>核方法的聪明之处在于：</a:t>
                </a:r>
                <a:r>
                  <a:rPr lang="ja-JP" altLang="ja-JP" sz="1800" b="1" dirty="0"/>
                  <a:t>很多算法并不真的需要知道 </a:t>
                </a:r>
                <a14:m>
                  <m:oMath xmlns:m="http://schemas.openxmlformats.org/officeDocument/2006/math">
                    <m:r>
                      <a:rPr lang="ja-JP" altLang="en-US" sz="1800" i="1"/>
                      <m:t>𝜙</m:t>
                    </m:r>
                    <m:d>
                      <m:dPr>
                        <m:ctrlPr>
                          <a:rPr lang="ja-JP" altLang="en-US" sz="1800" i="1"/>
                        </m:ctrlPr>
                      </m:dPr>
                      <m:e>
                        <m:r>
                          <a:rPr lang="ja-JP" altLang="en-US" sz="1800" i="1"/>
                          <m:t>𝑥</m:t>
                        </m:r>
                      </m:e>
                    </m:d>
                  </m:oMath>
                </a14:m>
                <a:r>
                  <a:rPr lang="ja-JP" altLang="ja-JP" sz="1800" b="1" dirty="0"/>
                  <a:t>本身，只需要知道两个映射后向量的内积</a:t>
                </a:r>
                <a:endParaRPr lang="ja-JP" altLang="ja-JP" sz="1800" dirty="0"/>
              </a:p>
              <a:p>
                <a:pPr marL="0" indent="0">
                  <a:lnSpc>
                    <a:spcPct val="110000"/>
                  </a:lnSpc>
                  <a:buNone/>
                </a:pPr>
                <a:r>
                  <a:rPr lang="ja-JP" altLang="ja-JP" sz="1800" dirty="0"/>
                  <a:t>只需要</a:t>
                </a:r>
                <a14:m>
                  <m:oMath xmlns:m="http://schemas.openxmlformats.org/officeDocument/2006/math">
                    <m:sSub>
                      <m:sSubPr>
                        <m:ctrlPr>
                          <a:rPr lang="ja-JP" altLang="en-US" sz="1800"/>
                        </m:ctrlPr>
                      </m:sSubPr>
                      <m:e>
                        <m:d>
                          <m:dPr>
                            <m:begChr m:val="⟨"/>
                            <m:endChr m:val="⟩"/>
                            <m:sepChr m:val=","/>
                            <m:ctrlPr>
                              <a:rPr lang="ja-JP" altLang="en-US" sz="1800"/>
                            </m:ctrlPr>
                          </m:dPr>
                          <m:e>
                            <m:r>
                              <a:rPr lang="ja-JP" altLang="en-US" sz="1800" i="1"/>
                              <m:t>𝜙</m:t>
                            </m:r>
                            <m:d>
                              <m:dPr>
                                <m:ctrlPr>
                                  <a:rPr lang="ja-JP" altLang="en-US" sz="1800" i="1">
                                    <a:latin typeface="Cambria Math" panose="02040503050406030204" pitchFamily="18" charset="0"/>
                                  </a:rPr>
                                </m:ctrlPr>
                              </m:dPr>
                              <m:e>
                                <m:r>
                                  <a:rPr lang="ja-JP" altLang="en-US" sz="1800" i="1">
                                    <a:latin typeface="Cambria Math" panose="02040503050406030204" pitchFamily="18" charset="0"/>
                                  </a:rPr>
                                  <m:t>𝑥</m:t>
                                </m:r>
                              </m:e>
                            </m:d>
                          </m:e>
                          <m:e>
                            <m:r>
                              <a:rPr lang="ja-JP" altLang="en-US" sz="1800" i="1"/>
                              <m:t>𝜙</m:t>
                            </m:r>
                            <m:d>
                              <m:dPr>
                                <m:ctrlPr>
                                  <a:rPr lang="ja-JP" altLang="en-US" sz="1800" i="1"/>
                                </m:ctrlPr>
                              </m:dPr>
                              <m:e>
                                <m:sSup>
                                  <m:sSupPr>
                                    <m:ctrlPr>
                                      <a:rPr lang="ja-JP" altLang="en-US" sz="1800" i="1"/>
                                    </m:ctrlPr>
                                  </m:sSupPr>
                                  <m:e>
                                    <m:r>
                                      <a:rPr lang="ja-JP" altLang="en-US" sz="1800" i="1"/>
                                      <m:t>𝑥</m:t>
                                    </m:r>
                                  </m:e>
                                  <m:sup>
                                    <m:r>
                                      <a:rPr lang="en-US" altLang="ja-JP" sz="1800"/>
                                      <m:t>′</m:t>
                                    </m:r>
                                  </m:sup>
                                </m:sSup>
                              </m:e>
                            </m:d>
                          </m:e>
                        </m:d>
                      </m:e>
                      <m:sub>
                        <m:r>
                          <a:rPr lang="en-US" altLang="ja-JP" sz="1800"/>
                          <m:t>ℋ</m:t>
                        </m:r>
                      </m:sub>
                    </m:sSub>
                    <m:r>
                      <a:rPr lang="en-US" altLang="ja-JP" sz="1800"/>
                      <m:t>.</m:t>
                    </m:r>
                  </m:oMath>
                </a14:m>
                <a:r>
                  <a:rPr lang="en-US" altLang="ja-JP" sz="1800" dirty="0"/>
                  <a:t> </a:t>
                </a:r>
                <a:r>
                  <a:rPr lang="ja-JP" altLang="ja-JP" sz="1800" dirty="0"/>
                  <a:t>于是定义一个核函数：</a:t>
                </a:r>
                <a14:m>
                  <m:oMath xmlns:m="http://schemas.openxmlformats.org/officeDocument/2006/math">
                    <m:r>
                      <a:rPr lang="ja-JP" altLang="en-US" sz="1800" i="1"/>
                      <m:t>𝑘</m:t>
                    </m:r>
                    <m:d>
                      <m:dPr>
                        <m:sepChr m:val=","/>
                        <m:ctrlPr>
                          <a:rPr lang="ja-JP" altLang="en-US" sz="1800" i="1"/>
                        </m:ctrlPr>
                      </m:dPr>
                      <m:e>
                        <m:r>
                          <a:rPr lang="ja-JP" altLang="en-US" sz="1800" i="1"/>
                          <m:t>𝑥</m:t>
                        </m:r>
                      </m:e>
                      <m:e>
                        <m:sSup>
                          <m:sSupPr>
                            <m:ctrlPr>
                              <a:rPr lang="ja-JP" altLang="en-US" sz="1800" i="1"/>
                            </m:ctrlPr>
                          </m:sSupPr>
                          <m:e>
                            <m:r>
                              <a:rPr lang="ja-JP" altLang="en-US" sz="1800" i="1"/>
                              <m:t>𝑥</m:t>
                            </m:r>
                          </m:e>
                          <m:sup>
                            <m:r>
                              <a:rPr lang="en-US" altLang="ja-JP" sz="1800"/>
                              <m:t>′</m:t>
                            </m:r>
                          </m:sup>
                        </m:sSup>
                      </m:e>
                    </m:d>
                    <m:r>
                      <a:rPr lang="en-US" altLang="ja-JP" sz="1800"/>
                      <m:t>=</m:t>
                    </m:r>
                    <m:sSub>
                      <m:sSubPr>
                        <m:ctrlPr>
                          <a:rPr lang="ja-JP" altLang="en-US" sz="1800" i="1"/>
                        </m:ctrlPr>
                      </m:sSubPr>
                      <m:e>
                        <m:d>
                          <m:dPr>
                            <m:begChr m:val="⟨"/>
                            <m:endChr m:val="⟩"/>
                            <m:sepChr m:val=","/>
                            <m:ctrlPr>
                              <a:rPr lang="ja-JP" altLang="en-US" sz="1800" i="1"/>
                            </m:ctrlPr>
                          </m:dPr>
                          <m:e>
                            <m:r>
                              <a:rPr lang="ja-JP" altLang="en-US" sz="1800" i="1"/>
                              <m:t>𝜙</m:t>
                            </m:r>
                            <m:d>
                              <m:dPr>
                                <m:ctrlPr>
                                  <a:rPr lang="ja-JP" altLang="en-US" sz="1800" i="1">
                                    <a:latin typeface="Cambria Math" panose="02040503050406030204" pitchFamily="18" charset="0"/>
                                  </a:rPr>
                                </m:ctrlPr>
                              </m:dPr>
                              <m:e>
                                <m:r>
                                  <a:rPr lang="ja-JP" altLang="en-US" sz="1800" i="1">
                                    <a:latin typeface="Cambria Math" panose="02040503050406030204" pitchFamily="18" charset="0"/>
                                  </a:rPr>
                                  <m:t>𝑥</m:t>
                                </m:r>
                              </m:e>
                            </m:d>
                          </m:e>
                          <m:e>
                            <m:r>
                              <a:rPr lang="ja-JP" altLang="en-US" sz="1800" i="1"/>
                              <m:t>𝜙</m:t>
                            </m:r>
                            <m:d>
                              <m:dPr>
                                <m:ctrlPr>
                                  <a:rPr lang="ja-JP" altLang="en-US" sz="1800" i="1"/>
                                </m:ctrlPr>
                              </m:dPr>
                              <m:e>
                                <m:sSup>
                                  <m:sSupPr>
                                    <m:ctrlPr>
                                      <a:rPr lang="ja-JP" altLang="en-US" sz="1800" i="1"/>
                                    </m:ctrlPr>
                                  </m:sSupPr>
                                  <m:e>
                                    <m:r>
                                      <a:rPr lang="ja-JP" altLang="en-US" sz="1800" i="1"/>
                                      <m:t>𝑥</m:t>
                                    </m:r>
                                  </m:e>
                                  <m:sup>
                                    <m:r>
                                      <a:rPr lang="en-US" altLang="ja-JP" sz="1800"/>
                                      <m:t>′</m:t>
                                    </m:r>
                                  </m:sup>
                                </m:sSup>
                              </m:e>
                            </m:d>
                          </m:e>
                        </m:d>
                      </m:e>
                      <m:sub>
                        <m:r>
                          <a:rPr lang="en-US" altLang="ja-JP" sz="1800"/>
                          <m:t>ℋ</m:t>
                        </m:r>
                      </m:sub>
                    </m:sSub>
                    <m:r>
                      <a:rPr lang="en-US" altLang="ja-JP" sz="1800"/>
                      <m:t>.</m:t>
                    </m:r>
                  </m:oMath>
                </a14:m>
                <a:r>
                  <a:rPr lang="ja-JP" altLang="ja-JP" sz="1800" dirty="0"/>
                  <a:t>可以避免显式计算高维特征向量。</a:t>
                </a:r>
              </a:p>
              <a:p>
                <a:pPr>
                  <a:lnSpc>
                    <a:spcPct val="110000"/>
                  </a:lnSpc>
                </a:pPr>
                <a:endParaRPr lang="ja-JP" altLang="ja-JP" sz="1800" dirty="0"/>
              </a:p>
              <a:p>
                <a:pPr marL="0" indent="0">
                  <a:lnSpc>
                    <a:spcPct val="110000"/>
                  </a:lnSpc>
                  <a:buNone/>
                </a:pPr>
                <a:endParaRPr lang="ja-JP" altLang="ja-JP" sz="1800" dirty="0"/>
              </a:p>
            </p:txBody>
          </p:sp>
        </mc:Choice>
        <mc:Fallback>
          <p:sp>
            <p:nvSpPr>
              <p:cNvPr id="12" name="コンテンツ プレースホルダー 2">
                <a:extLst>
                  <a:ext uri="{FF2B5EF4-FFF2-40B4-BE49-F238E27FC236}">
                    <a16:creationId xmlns:a16="http://schemas.microsoft.com/office/drawing/2014/main" id="{BF43ED2A-65BE-06C9-E256-7329B0360163}"/>
                  </a:ext>
                </a:extLst>
              </p:cNvPr>
              <p:cNvSpPr>
                <a:spLocks noGrp="1" noRot="1" noChangeAspect="1" noMove="1" noResize="1" noEditPoints="1" noAdjustHandles="1" noChangeArrowheads="1" noChangeShapeType="1" noTextEdit="1"/>
              </p:cNvSpPr>
              <p:nvPr>
                <p:ph idx="1"/>
              </p:nvPr>
            </p:nvSpPr>
            <p:spPr>
              <a:xfrm>
                <a:off x="157480" y="990600"/>
                <a:ext cx="11877040" cy="5440680"/>
              </a:xfrm>
              <a:blipFill>
                <a:blip r:embed="rId3"/>
                <a:stretch>
                  <a:fillRect l="-462" t="-224" b="-762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94662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8E621-48DD-A20D-7B05-8F60FE2ED70F}"/>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6626" name="Rectangle 2">
                <a:extLst>
                  <a:ext uri="{FF2B5EF4-FFF2-40B4-BE49-F238E27FC236}">
                    <a16:creationId xmlns:a16="http://schemas.microsoft.com/office/drawing/2014/main" id="{30BB7A8D-8E0E-F2CB-5538-777655EA859B}"/>
                  </a:ext>
                </a:extLst>
              </p:cNvPr>
              <p:cNvSpPr>
                <a:spLocks noGrp="1" noChangeArrowheads="1"/>
              </p:cNvSpPr>
              <p:nvPr>
                <p:ph type="title"/>
              </p:nvPr>
            </p:nvSpPr>
            <p:spPr/>
            <p:txBody>
              <a:bodyPr/>
              <a:lstStyle/>
              <a:p>
                <a:r>
                  <a:rPr lang="ja-JP" altLang="ja-JP" b="1" dirty="0"/>
                  <a:t>核函数 </a:t>
                </a:r>
                <a14:m>
                  <m:oMath xmlns:m="http://schemas.openxmlformats.org/officeDocument/2006/math">
                    <m:r>
                      <a:rPr lang="ja-JP" altLang="en-US" b="1" i="1"/>
                      <m:t>𝒌</m:t>
                    </m:r>
                    <m:d>
                      <m:dPr>
                        <m:sepChr m:val=","/>
                        <m:ctrlPr>
                          <a:rPr lang="ja-JP" altLang="en-US" b="1" i="1"/>
                        </m:ctrlPr>
                      </m:dPr>
                      <m:e>
                        <m:r>
                          <a:rPr lang="ja-JP" altLang="en-US" b="1" i="1"/>
                          <m:t>𝒙</m:t>
                        </m:r>
                      </m:e>
                      <m:e>
                        <m:sSup>
                          <m:sSupPr>
                            <m:ctrlPr>
                              <a:rPr lang="ja-JP" altLang="en-US" b="1" i="1">
                                <a:latin typeface="Cambria Math" panose="02040503050406030204" pitchFamily="18" charset="0"/>
                              </a:rPr>
                            </m:ctrlPr>
                          </m:sSupPr>
                          <m:e>
                            <m:r>
                              <a:rPr lang="ja-JP" altLang="en-US" b="1" i="1">
                                <a:latin typeface="Cambria Math" panose="02040503050406030204" pitchFamily="18" charset="0"/>
                              </a:rPr>
                              <m:t>𝒙</m:t>
                            </m:r>
                          </m:e>
                          <m:sup>
                            <m:r>
                              <a:rPr lang="en-US" altLang="ja-JP" b="1">
                                <a:latin typeface="Cambria Math" panose="02040503050406030204" pitchFamily="18" charset="0"/>
                              </a:rPr>
                              <m:t>′</m:t>
                            </m:r>
                          </m:sup>
                        </m:sSup>
                      </m:e>
                    </m:d>
                  </m:oMath>
                </a14:m>
                <a:r>
                  <a:rPr lang="ja-JP" altLang="ja-JP" b="1" dirty="0"/>
                  <a:t>的含义</a:t>
                </a:r>
                <a:endParaRPr lang="ja-JP" altLang="en-US" b="1" dirty="0">
                  <a:latin typeface="+mj-ea"/>
                </a:endParaRPr>
              </a:p>
            </p:txBody>
          </p:sp>
        </mc:Choice>
        <mc:Fallback>
          <p:sp>
            <p:nvSpPr>
              <p:cNvPr id="26626" name="Rectangle 2">
                <a:extLst>
                  <a:ext uri="{FF2B5EF4-FFF2-40B4-BE49-F238E27FC236}">
                    <a16:creationId xmlns:a16="http://schemas.microsoft.com/office/drawing/2014/main" id="{30BB7A8D-8E0E-F2CB-5538-777655EA859B}"/>
                  </a:ext>
                </a:extLst>
              </p:cNvPr>
              <p:cNvSpPr>
                <a:spLocks noGrp="1" noRot="1" noChangeAspect="1" noMove="1" noResize="1" noEditPoints="1" noAdjustHandles="1" noChangeArrowheads="1" noChangeShapeType="1" noTextEdit="1"/>
              </p:cNvSpPr>
              <p:nvPr>
                <p:ph type="title"/>
              </p:nvPr>
            </p:nvSpPr>
            <p:spPr>
              <a:blipFill>
                <a:blip r:embed="rId3"/>
                <a:stretch>
                  <a:fillRect l="-826" b="-88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8F0E2377-8B3E-7658-5F67-500B04A0B42E}"/>
                  </a:ext>
                </a:extLst>
              </p:cNvPr>
              <p:cNvSpPr>
                <a:spLocks noGrp="1"/>
              </p:cNvSpPr>
              <p:nvPr>
                <p:ph idx="1"/>
              </p:nvPr>
            </p:nvSpPr>
            <p:spPr>
              <a:xfrm>
                <a:off x="157480" y="990600"/>
                <a:ext cx="11877040" cy="5440680"/>
              </a:xfrm>
            </p:spPr>
            <p:txBody>
              <a:bodyPr/>
              <a:lstStyle/>
              <a:p>
                <a:pPr marL="0" indent="0">
                  <a:lnSpc>
                    <a:spcPct val="110000"/>
                  </a:lnSpc>
                  <a:buNone/>
                </a:pPr>
                <a:r>
                  <a:rPr lang="ja-JP" altLang="ja-JP" dirty="0"/>
                  <a:t>k(x,x′) 可以理解为：</a:t>
                </a:r>
                <a:r>
                  <a:rPr lang="ja-JP" altLang="ja-JP" b="1" dirty="0"/>
                  <a:t>样本 </a:t>
                </a:r>
                <a14:m>
                  <m:oMath xmlns:m="http://schemas.openxmlformats.org/officeDocument/2006/math">
                    <m:r>
                      <a:rPr lang="ja-JP" altLang="en-US" i="1"/>
                      <m:t>𝑥</m:t>
                    </m:r>
                  </m:oMath>
                </a14:m>
                <a:r>
                  <a:rPr lang="ja-JP" altLang="ja-JP" b="1" dirty="0"/>
                  <a:t>和样本 </a:t>
                </a:r>
                <a14:m>
                  <m:oMath xmlns:m="http://schemas.openxmlformats.org/officeDocument/2006/math">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oMath>
                </a14:m>
                <a:r>
                  <a:rPr lang="ja-JP" altLang="ja-JP" b="1" dirty="0"/>
                  <a:t>在高维特征空间中的相似度。</a:t>
                </a:r>
                <a:endParaRPr lang="ja-JP" altLang="ja-JP" dirty="0"/>
              </a:p>
              <a:p>
                <a:pPr>
                  <a:lnSpc>
                    <a:spcPct val="110000"/>
                  </a:lnSpc>
                </a:pPr>
                <a:r>
                  <a:rPr lang="ja-JP" altLang="ja-JP" dirty="0"/>
                  <a:t>虽然没有真的把 </a:t>
                </a:r>
                <a14:m>
                  <m:oMath xmlns:m="http://schemas.openxmlformats.org/officeDocument/2006/math">
                    <m:r>
                      <a:rPr lang="ja-JP" altLang="en-US" i="1"/>
                      <m:t>𝑥</m:t>
                    </m:r>
                  </m:oMath>
                </a14:m>
                <a:r>
                  <a:rPr lang="ja-JP" altLang="ja-JP" dirty="0"/>
                  <a:t>和 </a:t>
                </a:r>
                <a14:m>
                  <m:oMath xmlns:m="http://schemas.openxmlformats.org/officeDocument/2006/math">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oMath>
                </a14:m>
                <a:r>
                  <a:rPr lang="ja-JP" altLang="ja-JP" dirty="0"/>
                  <a:t>映射到高维空间，但核函数直接告诉：如果它们被映射到高维空间后它们的内积是多少。</a:t>
                </a:r>
              </a:p>
              <a:p>
                <a:pPr>
                  <a:lnSpc>
                    <a:spcPct val="110000"/>
                  </a:lnSpc>
                </a:pPr>
                <a:r>
                  <a:rPr lang="ja-JP" altLang="ja-JP" dirty="0"/>
                  <a:t>核方法可以概括为一句话：</a:t>
                </a:r>
                <a:r>
                  <a:rPr lang="ja-JP" altLang="ja-JP" b="1" dirty="0"/>
                  <a:t>不显式构造高维特征，只通过核函数计算高维空间中的内积。</a:t>
                </a:r>
                <a:r>
                  <a:rPr lang="ja-JP" altLang="ja-JP" dirty="0"/>
                  <a:t>这也叫做 </a:t>
                </a:r>
                <a:r>
                  <a:rPr lang="ja-JP" altLang="ja-JP" b="1" dirty="0"/>
                  <a:t>kernel trick，核技巧</a:t>
                </a:r>
                <a:r>
                  <a:rPr lang="ja-JP" altLang="ja-JP" dirty="0"/>
                  <a:t>。</a:t>
                </a:r>
                <a:br>
                  <a:rPr lang="ja-JP" altLang="ja-JP" dirty="0"/>
                </a:br>
                <a:endParaRPr lang="ja-JP" altLang="ja-JP" dirty="0"/>
              </a:p>
              <a:p>
                <a:pPr marL="0" indent="0">
                  <a:lnSpc>
                    <a:spcPct val="110000"/>
                  </a:lnSpc>
                  <a:buNone/>
                </a:pPr>
                <a:r>
                  <a:rPr lang="ja-JP" altLang="ja-JP" b="1" dirty="0"/>
                  <a:t>一个简单例子：多项式核</a:t>
                </a:r>
                <a:r>
                  <a:rPr lang="en-US" altLang="ja-JP" b="1" dirty="0"/>
                  <a:t>   </a:t>
                </a:r>
                <a:r>
                  <a:rPr lang="ja-JP" altLang="ja-JP" dirty="0"/>
                  <a:t>假设原始输入是一维的 </a:t>
                </a:r>
                <a14:m>
                  <m:oMath xmlns:m="http://schemas.openxmlformats.org/officeDocument/2006/math">
                    <m:r>
                      <a:rPr lang="ja-JP" altLang="en-US" i="1"/>
                      <m:t>𝑥</m:t>
                    </m:r>
                    <m:r>
                      <a:rPr lang="ja-JP" altLang="en-US"/>
                      <m:t>∈</m:t>
                    </m:r>
                    <m:r>
                      <a:rPr lang="en-US" altLang="ja-JP"/>
                      <m:t>ℝ</m:t>
                    </m:r>
                  </m:oMath>
                </a14:m>
                <a:r>
                  <a:rPr lang="ja-JP" altLang="ja-JP" dirty="0"/>
                  <a:t>，考虑核函数</a:t>
                </a:r>
                <a14:m>
                  <m:oMath xmlns:m="http://schemas.openxmlformats.org/officeDocument/2006/math">
                    <m:r>
                      <a:rPr lang="ja-JP" altLang="en-US" i="1"/>
                      <m:t>𝑘</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sSup>
                      <m:sSupPr>
                        <m:ctrlPr>
                          <a:rPr lang="ja-JP" altLang="en-US" i="1"/>
                        </m:ctrlPr>
                      </m:sSupPr>
                      <m:e>
                        <m:d>
                          <m:dPr>
                            <m:ctrlPr>
                              <a:rPr lang="ja-JP" altLang="en-US" i="1"/>
                            </m:ctrlPr>
                          </m:dPr>
                          <m:e>
                            <m:r>
                              <a:rPr lang="en-US" altLang="ja-JP"/>
                              <m:t>1+</m:t>
                            </m:r>
                            <m:r>
                              <a:rPr lang="ja-JP" altLang="en-US" i="1"/>
                              <m:t>𝑥</m:t>
                            </m:r>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e>
                      <m:sup>
                        <m:r>
                          <a:rPr lang="en-US" altLang="ja-JP"/>
                          <m:t>2</m:t>
                        </m:r>
                      </m:sup>
                    </m:sSup>
                    <m:r>
                      <a:rPr lang="en-US" altLang="ja-JP"/>
                      <m:t>.</m:t>
                    </m:r>
                  </m:oMath>
                </a14:m>
                <a:r>
                  <a:rPr lang="en-US" altLang="ja-JP" dirty="0"/>
                  <a:t> </a:t>
                </a:r>
                <a:r>
                  <a:rPr lang="ja-JP" altLang="ja-JP" dirty="0"/>
                  <a:t>展开得到：</a:t>
                </a:r>
                <a14:m>
                  <m:oMath xmlns:m="http://schemas.openxmlformats.org/officeDocument/2006/math">
                    <m:sSup>
                      <m:sSupPr>
                        <m:ctrlPr>
                          <a:rPr lang="ja-JP" altLang="en-US"/>
                        </m:ctrlPr>
                      </m:sSupPr>
                      <m:e>
                        <m:d>
                          <m:dPr>
                            <m:ctrlPr>
                              <a:rPr lang="ja-JP" altLang="en-US"/>
                            </m:ctrlPr>
                          </m:dPr>
                          <m:e>
                            <m:r>
                              <a:rPr lang="en-US" altLang="ja-JP"/>
                              <m:t>1+</m:t>
                            </m:r>
                            <m:r>
                              <a:rPr lang="ja-JP" altLang="en-US" i="1"/>
                              <m:t>𝑥</m:t>
                            </m:r>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e>
                      <m:sup>
                        <m:r>
                          <a:rPr lang="en-US" altLang="ja-JP"/>
                          <m:t>2</m:t>
                        </m:r>
                      </m:sup>
                    </m:sSup>
                    <m:r>
                      <a:rPr lang="en-US" altLang="ja-JP"/>
                      <m:t>=1+2</m:t>
                    </m:r>
                    <m:r>
                      <a:rPr lang="ja-JP" altLang="en-US" i="1"/>
                      <m:t>𝑥</m:t>
                    </m:r>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r>
                      <a:rPr lang="en-US" altLang="ja-JP"/>
                      <m:t>+</m:t>
                    </m:r>
                    <m:sSup>
                      <m:sSupPr>
                        <m:ctrlPr>
                          <a:rPr lang="ja-JP" altLang="en-US" i="1"/>
                        </m:ctrlPr>
                      </m:sSupPr>
                      <m:e>
                        <m:r>
                          <a:rPr lang="ja-JP" altLang="en-US" i="1"/>
                          <m:t>𝑥</m:t>
                        </m:r>
                      </m:e>
                      <m:sup>
                        <m:r>
                          <a:rPr lang="en-US" altLang="ja-JP"/>
                          <m:t>2</m:t>
                        </m:r>
                      </m:sup>
                    </m:sSup>
                    <m:sSup>
                      <m:sSupPr>
                        <m:ctrlPr>
                          <a:rPr lang="ja-JP" altLang="en-US" i="1"/>
                        </m:ctrlPr>
                      </m:sSup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sup>
                        <m:r>
                          <a:rPr lang="en-US" altLang="ja-JP"/>
                          <m:t>2</m:t>
                        </m:r>
                      </m:sup>
                    </m:sSup>
                    <m:r>
                      <a:rPr lang="en-US" altLang="ja-JP"/>
                      <m:t>.</m:t>
                    </m:r>
                  </m:oMath>
                </a14:m>
                <a:endParaRPr lang="en-US" altLang="ja-JP" dirty="0"/>
              </a:p>
              <a:p>
                <a:pPr marL="0" indent="0">
                  <a:lnSpc>
                    <a:spcPct val="110000"/>
                  </a:lnSpc>
                  <a:buNone/>
                </a:pPr>
                <a:r>
                  <a:rPr lang="ja-JP" altLang="ja-JP" dirty="0"/>
                  <a:t>这其实等于下面两个三维向量的内积：</a:t>
                </a:r>
              </a:p>
              <a:p>
                <a:pPr marL="457200" lvl="1" indent="0">
                  <a:lnSpc>
                    <a:spcPct val="110000"/>
                  </a:lnSpc>
                  <a:buNone/>
                </a:pPr>
                <a14:m>
                  <m:oMathPara xmlns:m="http://schemas.openxmlformats.org/officeDocument/2006/math">
                    <m:oMathParaPr>
                      <m:jc m:val="centerGroup"/>
                    </m:oMathParaPr>
                    <m:oMath xmlns:m="http://schemas.openxmlformats.org/officeDocument/2006/math">
                      <m:r>
                        <a:rPr lang="ja-JP" altLang="en-US" i="1"/>
                        <m:t>𝜙</m:t>
                      </m:r>
                      <m:d>
                        <m:dPr>
                          <m:ctrlPr>
                            <a:rPr lang="ja-JP" altLang="en-US" i="1"/>
                          </m:ctrlPr>
                        </m:dPr>
                        <m:e>
                          <m:r>
                            <a:rPr lang="ja-JP" altLang="en-US" i="1"/>
                            <m:t>𝑥</m:t>
                          </m:r>
                        </m:e>
                      </m:d>
                      <m:r>
                        <a:rPr lang="en-US" altLang="ja-JP"/>
                        <m:t>=</m:t>
                      </m:r>
                      <m:d>
                        <m:dPr>
                          <m:sepChr m:val=","/>
                          <m:ctrlPr>
                            <a:rPr lang="ja-JP" altLang="en-US" i="1"/>
                          </m:ctrlPr>
                        </m:dPr>
                        <m:e>
                          <m:r>
                            <a:rPr lang="en-US" altLang="ja-JP"/>
                            <m:t>1</m:t>
                          </m:r>
                        </m:e>
                        <m:e>
                          <m:rad>
                            <m:radPr>
                              <m:degHide m:val="on"/>
                              <m:ctrlPr>
                                <a:rPr lang="ja-JP" altLang="en-US" i="1"/>
                              </m:ctrlPr>
                            </m:radPr>
                            <m:deg/>
                            <m:e>
                              <m:r>
                                <a:rPr lang="en-US" altLang="ja-JP"/>
                                <m:t>2</m:t>
                              </m:r>
                            </m:e>
                          </m:rad>
                          <m:r>
                            <a:rPr lang="ja-JP" altLang="en-US" i="1">
                              <a:latin typeface="Cambria Math" panose="02040503050406030204" pitchFamily="18" charset="0"/>
                            </a:rPr>
                            <m:t>𝑥</m:t>
                          </m:r>
                        </m:e>
                        <m:e>
                          <m:sSup>
                            <m:sSupPr>
                              <m:ctrlPr>
                                <a:rPr lang="ja-JP" altLang="en-US" i="1"/>
                              </m:ctrlPr>
                            </m:sSupPr>
                            <m:e>
                              <m:r>
                                <a:rPr lang="ja-JP" altLang="en-US" i="1"/>
                                <m:t>𝑥</m:t>
                              </m:r>
                            </m:e>
                            <m:sup>
                              <m:r>
                                <a:rPr lang="en-US" altLang="ja-JP"/>
                                <m:t>2</m:t>
                              </m:r>
                            </m:sup>
                          </m:sSup>
                        </m:e>
                      </m:d>
                      <m:r>
                        <a:rPr lang="en-US" altLang="ja-JP"/>
                        <m:t>,</m:t>
                      </m:r>
                    </m:oMath>
                  </m:oMathPara>
                </a14:m>
                <a:endParaRPr lang="en-US" altLang="ja-JP" dirty="0"/>
              </a:p>
              <a:p>
                <a:pPr marL="457200" lvl="1" indent="0">
                  <a:lnSpc>
                    <a:spcPct val="110000"/>
                  </a:lnSpc>
                  <a:buNone/>
                </a:pPr>
                <a14:m>
                  <m:oMathPara xmlns:m="http://schemas.openxmlformats.org/officeDocument/2006/math">
                    <m:oMathParaPr>
                      <m:jc m:val="centerGroup"/>
                    </m:oMathParaPr>
                    <m:oMath xmlns:m="http://schemas.openxmlformats.org/officeDocument/2006/math">
                      <m:r>
                        <a:rPr lang="ja-JP" altLang="en-US" i="1"/>
                        <m:t>𝜙</m:t>
                      </m:r>
                      <m:d>
                        <m:dPr>
                          <m:ctrlPr>
                            <a:rPr lang="ja-JP" altLang="en-US" i="1"/>
                          </m:ctrlPr>
                        </m:dPr>
                        <m:e>
                          <m:sSup>
                            <m:sSupPr>
                              <m:ctrlPr>
                                <a:rPr lang="ja-JP" altLang="en-US" i="1"/>
                              </m:ctrlPr>
                            </m:sSupPr>
                            <m:e>
                              <m:r>
                                <a:rPr lang="ja-JP" altLang="en-US" i="1"/>
                                <m:t>𝑥</m:t>
                              </m:r>
                            </m:e>
                            <m:sup>
                              <m:r>
                                <a:rPr lang="en-US" altLang="ja-JP"/>
                                <m:t>′</m:t>
                              </m:r>
                            </m:sup>
                          </m:sSup>
                        </m:e>
                      </m:d>
                      <m:r>
                        <a:rPr lang="en-US" altLang="ja-JP"/>
                        <m:t>=</m:t>
                      </m:r>
                      <m:d>
                        <m:dPr>
                          <m:sepChr m:val=","/>
                          <m:ctrlPr>
                            <a:rPr lang="ja-JP" altLang="en-US" i="1"/>
                          </m:ctrlPr>
                        </m:dPr>
                        <m:e>
                          <m:r>
                            <a:rPr lang="en-US" altLang="ja-JP"/>
                            <m:t>1</m:t>
                          </m:r>
                        </m:e>
                        <m:e>
                          <m:rad>
                            <m:radPr>
                              <m:degHide m:val="on"/>
                              <m:ctrlPr>
                                <a:rPr lang="ja-JP" altLang="en-US" i="1"/>
                              </m:ctrlPr>
                            </m:radPr>
                            <m:deg/>
                            <m:e>
                              <m:r>
                                <a:rPr lang="en-US" altLang="ja-JP"/>
                                <m:t>2</m:t>
                              </m:r>
                            </m:e>
                          </m:rad>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e>
                          <m:sSup>
                            <m:sSupPr>
                              <m:ctrlPr>
                                <a:rPr lang="ja-JP" altLang="en-US" i="1"/>
                              </m:ctrlPr>
                            </m:sSup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sup>
                              <m:r>
                                <a:rPr lang="en-US" altLang="ja-JP"/>
                                <m:t>2</m:t>
                              </m:r>
                            </m:sup>
                          </m:sSup>
                        </m:e>
                      </m:d>
                      <m:r>
                        <a:rPr lang="en-US" altLang="ja-JP"/>
                        <m:t>.</m:t>
                      </m:r>
                    </m:oMath>
                  </m:oMathPara>
                </a14:m>
                <a:endParaRPr lang="en-US" altLang="ja-JP" dirty="0"/>
              </a:p>
              <a:p>
                <a:pPr>
                  <a:lnSpc>
                    <a:spcPct val="110000"/>
                  </a:lnSpc>
                </a:pPr>
                <a:r>
                  <a:rPr lang="ja-JP" altLang="ja-JP" dirty="0"/>
                  <a:t>因为</a:t>
                </a:r>
                <a14:m>
                  <m:oMath xmlns:m="http://schemas.openxmlformats.org/officeDocument/2006/math">
                    <m:d>
                      <m:dPr>
                        <m:begChr m:val="⟨"/>
                        <m:endChr m:val="⟩"/>
                        <m:sepChr m:val=","/>
                        <m:ctrlPr>
                          <a:rPr lang="ja-JP" altLang="en-US"/>
                        </m:ctrlPr>
                      </m:dPr>
                      <m:e>
                        <m:r>
                          <a:rPr lang="ja-JP" altLang="en-US" i="1"/>
                          <m:t>𝜙</m:t>
                        </m:r>
                        <m:d>
                          <m:dPr>
                            <m:ctrlPr>
                              <a:rPr lang="ja-JP" altLang="en-US" i="1">
                                <a:latin typeface="Cambria Math" panose="02040503050406030204" pitchFamily="18" charset="0"/>
                              </a:rPr>
                            </m:ctrlPr>
                          </m:dPr>
                          <m:e>
                            <m:r>
                              <a:rPr lang="ja-JP" altLang="en-US" i="1">
                                <a:latin typeface="Cambria Math" panose="02040503050406030204" pitchFamily="18" charset="0"/>
                              </a:rPr>
                              <m:t>𝑥</m:t>
                            </m:r>
                          </m:e>
                        </m:d>
                      </m:e>
                      <m:e>
                        <m:r>
                          <a:rPr lang="ja-JP" altLang="en-US" i="1"/>
                          <m:t>𝜙</m:t>
                        </m:r>
                        <m:d>
                          <m:dPr>
                            <m:ctrlPr>
                              <a:rPr lang="ja-JP" altLang="en-US" i="1"/>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e>
                    </m:d>
                    <m:r>
                      <a:rPr lang="en-US" altLang="ja-JP"/>
                      <m:t>=1⋅1+</m:t>
                    </m:r>
                    <m:d>
                      <m:dPr>
                        <m:ctrlPr>
                          <a:rPr lang="ja-JP" altLang="en-US" i="1"/>
                        </m:ctrlPr>
                      </m:dPr>
                      <m:e>
                        <m:rad>
                          <m:radPr>
                            <m:degHide m:val="on"/>
                            <m:ctrlPr>
                              <a:rPr lang="ja-JP" altLang="en-US" i="1"/>
                            </m:ctrlPr>
                          </m:radPr>
                          <m:deg/>
                          <m:e>
                            <m:r>
                              <a:rPr lang="en-US" altLang="ja-JP"/>
                              <m:t>2</m:t>
                            </m:r>
                          </m:e>
                        </m:rad>
                        <m:r>
                          <a:rPr lang="ja-JP" altLang="en-US" i="1"/>
                          <m:t>𝑥</m:t>
                        </m:r>
                      </m:e>
                    </m:d>
                    <m:d>
                      <m:dPr>
                        <m:ctrlPr>
                          <a:rPr lang="ja-JP" altLang="en-US" i="1"/>
                        </m:ctrlPr>
                      </m:dPr>
                      <m:e>
                        <m:rad>
                          <m:radPr>
                            <m:degHide m:val="on"/>
                            <m:ctrlPr>
                              <a:rPr lang="ja-JP" altLang="en-US" i="1"/>
                            </m:ctrlPr>
                          </m:radPr>
                          <m:deg/>
                          <m:e>
                            <m:r>
                              <a:rPr lang="en-US" altLang="ja-JP"/>
                              <m:t>2</m:t>
                            </m:r>
                          </m:e>
                        </m:rad>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sSup>
                      <m:sSupPr>
                        <m:ctrlPr>
                          <a:rPr lang="ja-JP" altLang="en-US" i="1"/>
                        </m:ctrlPr>
                      </m:sSupPr>
                      <m:e>
                        <m:r>
                          <a:rPr lang="ja-JP" altLang="en-US" i="1"/>
                          <m:t>𝑥</m:t>
                        </m:r>
                      </m:e>
                      <m:sup>
                        <m:r>
                          <a:rPr lang="en-US" altLang="ja-JP"/>
                          <m:t>2</m:t>
                        </m:r>
                      </m:sup>
                    </m:sSup>
                    <m:sSup>
                      <m:sSupPr>
                        <m:ctrlPr>
                          <a:rPr lang="ja-JP" altLang="en-US" i="1"/>
                        </m:ctrlPr>
                      </m:sSup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sup>
                        <m:r>
                          <a:rPr lang="en-US" altLang="ja-JP"/>
                          <m:t>2</m:t>
                        </m:r>
                      </m:sup>
                    </m:sSup>
                    <m:r>
                      <a:rPr lang="en-US" altLang="ja-JP"/>
                      <m:t>=1+2</m:t>
                    </m:r>
                    <m:r>
                      <a:rPr lang="ja-JP" altLang="en-US" i="1"/>
                      <m:t>𝑥</m:t>
                    </m:r>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r>
                      <a:rPr lang="en-US" altLang="ja-JP"/>
                      <m:t>+</m:t>
                    </m:r>
                    <m:sSup>
                      <m:sSupPr>
                        <m:ctrlPr>
                          <a:rPr lang="ja-JP" altLang="en-US" i="1"/>
                        </m:ctrlPr>
                      </m:sSupPr>
                      <m:e>
                        <m:r>
                          <a:rPr lang="ja-JP" altLang="en-US" i="1"/>
                          <m:t>𝑥</m:t>
                        </m:r>
                      </m:e>
                      <m:sup>
                        <m:r>
                          <a:rPr lang="en-US" altLang="ja-JP"/>
                          <m:t>2</m:t>
                        </m:r>
                      </m:sup>
                    </m:sSup>
                    <m:sSup>
                      <m:sSupPr>
                        <m:ctrlPr>
                          <a:rPr lang="ja-JP" altLang="en-US" i="1"/>
                        </m:ctrlPr>
                      </m:sSup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sup>
                        <m:r>
                          <a:rPr lang="en-US" altLang="ja-JP"/>
                          <m:t>2</m:t>
                        </m:r>
                      </m:sup>
                    </m:sSup>
                    <m:r>
                      <a:rPr lang="en-US" altLang="ja-JP"/>
                      <m:t>.</m:t>
                    </m:r>
                    <m:r>
                      <a:rPr lang="ja-JP" altLang="en-US" i="1">
                        <a:latin typeface="Cambria Math" panose="02040503050406030204" pitchFamily="18" charset="0"/>
                      </a:rPr>
                      <m:t>　</m:t>
                    </m:r>
                  </m:oMath>
                </a14:m>
                <a:r>
                  <a:rPr lang="ja-JP" altLang="ja-JP" dirty="0"/>
                  <a:t>所以</a:t>
                </a:r>
                <a14:m>
                  <m:oMath xmlns:m="http://schemas.openxmlformats.org/officeDocument/2006/math">
                    <m:r>
                      <a:rPr lang="ja-JP" altLang="en-US" i="1"/>
                      <m:t>𝑘</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sSup>
                      <m:sSupPr>
                        <m:ctrlPr>
                          <a:rPr lang="ja-JP" altLang="en-US" i="1"/>
                        </m:ctrlPr>
                      </m:sSupPr>
                      <m:e>
                        <m:d>
                          <m:dPr>
                            <m:ctrlPr>
                              <a:rPr lang="ja-JP" altLang="en-US" i="1"/>
                            </m:ctrlPr>
                          </m:dPr>
                          <m:e>
                            <m:r>
                              <a:rPr lang="en-US" altLang="ja-JP"/>
                              <m:t>1+</m:t>
                            </m:r>
                            <m:r>
                              <a:rPr lang="ja-JP" altLang="en-US" i="1"/>
                              <m:t>𝑥</m:t>
                            </m:r>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e>
                      <m:sup>
                        <m:r>
                          <a:rPr lang="en-US" altLang="ja-JP"/>
                          <m:t>2</m:t>
                        </m:r>
                      </m:sup>
                    </m:sSup>
                    <m:r>
                      <a:rPr lang="en-US" altLang="ja-JP"/>
                      <m:t>=</m:t>
                    </m:r>
                    <m:d>
                      <m:dPr>
                        <m:begChr m:val="⟨"/>
                        <m:endChr m:val="⟩"/>
                        <m:sepChr m:val=","/>
                        <m:ctrlPr>
                          <a:rPr lang="ja-JP" altLang="en-US" i="1"/>
                        </m:ctrlPr>
                      </m:dPr>
                      <m:e>
                        <m:r>
                          <a:rPr lang="ja-JP" altLang="en-US" i="1"/>
                          <m:t>𝜙</m:t>
                        </m:r>
                      </m:e>
                      <m:e>
                        <m:d>
                          <m:dPr>
                            <m:ctrlPr>
                              <a:rPr lang="ja-JP" altLang="en-US" i="1"/>
                            </m:ctrlPr>
                          </m:dPr>
                          <m:e>
                            <m:r>
                              <a:rPr lang="ja-JP" altLang="en-US" i="1"/>
                              <m:t>𝑥</m:t>
                            </m:r>
                          </m:e>
                        </m:d>
                        <m:r>
                          <a:rPr lang="ja-JP" altLang="en-US" i="1"/>
                          <m:t>𝜙</m:t>
                        </m:r>
                        <m:d>
                          <m:dPr>
                            <m:ctrlPr>
                              <a:rPr lang="ja-JP" altLang="en-US" i="1"/>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e>
                    </m:d>
                    <m:r>
                      <a:rPr lang="en-US" altLang="ja-JP"/>
                      <m:t>.</m:t>
                    </m:r>
                  </m:oMath>
                </a14:m>
                <a:endParaRPr lang="en-US" altLang="ja-JP" dirty="0"/>
              </a:p>
              <a:p>
                <a:pPr>
                  <a:lnSpc>
                    <a:spcPct val="110000"/>
                  </a:lnSpc>
                </a:pPr>
                <a:r>
                  <a:rPr lang="ja-JP" altLang="ja-JP" dirty="0"/>
                  <a:t>核函数看起来只是一个简单公式，但它背后隐含了一个高维特征映射。</a:t>
                </a:r>
              </a:p>
            </p:txBody>
          </p:sp>
        </mc:Choice>
        <mc:Fallback>
          <p:sp>
            <p:nvSpPr>
              <p:cNvPr id="12" name="コンテンツ プレースホルダー 2">
                <a:extLst>
                  <a:ext uri="{FF2B5EF4-FFF2-40B4-BE49-F238E27FC236}">
                    <a16:creationId xmlns:a16="http://schemas.microsoft.com/office/drawing/2014/main" id="{8F0E2377-8B3E-7658-5F67-500B04A0B42E}"/>
                  </a:ext>
                </a:extLst>
              </p:cNvPr>
              <p:cNvSpPr>
                <a:spLocks noGrp="1" noRot="1" noChangeAspect="1" noMove="1" noResize="1" noEditPoints="1" noAdjustHandles="1" noChangeArrowheads="1" noChangeShapeType="1" noTextEdit="1"/>
              </p:cNvSpPr>
              <p:nvPr>
                <p:ph idx="1"/>
              </p:nvPr>
            </p:nvSpPr>
            <p:spPr>
              <a:xfrm>
                <a:off x="157480" y="990600"/>
                <a:ext cx="11877040" cy="5440680"/>
              </a:xfrm>
              <a:blipFill>
                <a:blip r:embed="rId4"/>
                <a:stretch>
                  <a:fillRect l="-565" t="-897" b="-89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367571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D34B3-38D9-50A4-3C59-FAA16376381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2B9E67CF-5A4C-0E57-24AD-DD4AF63D6CB9}"/>
              </a:ext>
            </a:extLst>
          </p:cNvPr>
          <p:cNvSpPr>
            <a:spLocks noGrp="1" noChangeArrowheads="1"/>
          </p:cNvSpPr>
          <p:nvPr>
            <p:ph type="title"/>
          </p:nvPr>
        </p:nvSpPr>
        <p:spPr/>
        <p:txBody>
          <a:bodyPr/>
          <a:lstStyle/>
          <a:p>
            <a:r>
              <a:rPr lang="zh-CN" altLang="en-US" b="1" dirty="0"/>
              <a:t>复习：</a:t>
            </a:r>
            <a:r>
              <a:rPr lang="ja-JP" altLang="ja-JP" b="1" dirty="0"/>
              <a:t>RKHS</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87804F2E-3102-C90F-277A-D0DCB2E8D042}"/>
                  </a:ext>
                </a:extLst>
              </p:cNvPr>
              <p:cNvSpPr>
                <a:spLocks noGrp="1"/>
              </p:cNvSpPr>
              <p:nvPr>
                <p:ph idx="1"/>
              </p:nvPr>
            </p:nvSpPr>
            <p:spPr>
              <a:xfrm>
                <a:off x="157480" y="1105786"/>
                <a:ext cx="11877040" cy="5325494"/>
              </a:xfrm>
            </p:spPr>
            <p:txBody>
              <a:bodyPr/>
              <a:lstStyle/>
              <a:p>
                <a:pPr marL="0" indent="0">
                  <a:lnSpc>
                    <a:spcPct val="120000"/>
                  </a:lnSpc>
                  <a:buNone/>
                </a:pPr>
                <a:r>
                  <a:rPr lang="ja-JP" altLang="ja-JP" dirty="0"/>
                  <a:t>RKHS 的全称是：</a:t>
                </a:r>
                <a14:m>
                  <m:oMath xmlns:m="http://schemas.openxmlformats.org/officeDocument/2006/math">
                    <m:r>
                      <m:rPr>
                        <m:nor/>
                      </m:rPr>
                      <a:rPr lang="en-US" altLang="ja-JP" b="0" i="1"/>
                      <m:t>Reproducing</m:t>
                    </m:r>
                    <m:r>
                      <m:rPr>
                        <m:nor/>
                      </m:rPr>
                      <a:rPr lang="ja-JP" altLang="en-US" b="0" i="1"/>
                      <m:t> </m:t>
                    </m:r>
                    <m:r>
                      <m:rPr>
                        <m:nor/>
                      </m:rPr>
                      <a:rPr lang="en-US" altLang="ja-JP" b="0" i="1"/>
                      <m:t>Kernel</m:t>
                    </m:r>
                    <m:r>
                      <m:rPr>
                        <m:nor/>
                      </m:rPr>
                      <a:rPr lang="en-US" altLang="ja-JP" b="0" i="1"/>
                      <m:t> </m:t>
                    </m:r>
                    <m:r>
                      <m:rPr>
                        <m:nor/>
                      </m:rPr>
                      <a:rPr lang="en-US" altLang="ja-JP" b="0" i="1"/>
                      <m:t>Hilbert</m:t>
                    </m:r>
                    <m:r>
                      <m:rPr>
                        <m:nor/>
                      </m:rPr>
                      <a:rPr lang="en-US" altLang="ja-JP" b="0" i="1"/>
                      <m:t> </m:t>
                    </m:r>
                    <m:r>
                      <m:rPr>
                        <m:nor/>
                      </m:rPr>
                      <a:rPr lang="en-US" altLang="ja-JP" b="0" i="1"/>
                      <m:t>Space</m:t>
                    </m:r>
                    <m:r>
                      <a:rPr lang="zh-CN" altLang="en-US" i="1" smtClean="0">
                        <a:latin typeface="Cambria Math" panose="02040503050406030204" pitchFamily="18" charset="0"/>
                      </a:rPr>
                      <m:t>，</m:t>
                    </m:r>
                  </m:oMath>
                </a14:m>
                <a:r>
                  <a:rPr lang="ja-JP" altLang="ja-JP" b="1" dirty="0"/>
                  <a:t>再生核 Hilbert 空间</a:t>
                </a:r>
                <a:r>
                  <a:rPr lang="ja-JP" altLang="ja-JP" dirty="0"/>
                  <a:t>。</a:t>
                </a:r>
              </a:p>
              <a:p>
                <a:pPr>
                  <a:lnSpc>
                    <a:spcPct val="120000"/>
                  </a:lnSpc>
                </a:pPr>
                <a:r>
                  <a:rPr lang="ja-JP" altLang="ja-JP" dirty="0"/>
                  <a:t>它首先是一个 Hilbert 空间，所以它里面有内积、范数、正交、投影等结构。但它又不是普通的向量空间，而是一个由函数组成的 Hilbert 空间。</a:t>
                </a:r>
              </a:p>
              <a:p>
                <a:pPr>
                  <a:lnSpc>
                    <a:spcPct val="120000"/>
                  </a:lnSpc>
                </a:pPr>
                <a:r>
                  <a:rPr lang="ja-JP" altLang="ja-JP" dirty="0"/>
                  <a:t>也就是说，RKHS 中的元素通常是函数：</a:t>
                </a:r>
                <a14:m>
                  <m:oMath xmlns:m="http://schemas.openxmlformats.org/officeDocument/2006/math">
                    <m:r>
                      <a:rPr lang="ja-JP" altLang="en-US" i="1"/>
                      <m:t>𝑓</m:t>
                    </m:r>
                    <m:r>
                      <a:rPr lang="en-US" altLang="ja-JP"/>
                      <m:t>:</m:t>
                    </m:r>
                    <m:r>
                      <a:rPr lang="ja-JP" altLang="en-US"/>
                      <m:t>𝒳</m:t>
                    </m:r>
                    <m:r>
                      <a:rPr lang="ja-JP" altLang="en-US"/>
                      <m:t>→</m:t>
                    </m:r>
                    <m:r>
                      <a:rPr lang="en-US" altLang="ja-JP"/>
                      <m:t>ℝ</m:t>
                    </m:r>
                  </m:oMath>
                </a14:m>
                <a:r>
                  <a:rPr lang="en-US" altLang="ja-JP" dirty="0"/>
                  <a:t> </a:t>
                </a:r>
                <a:r>
                  <a:rPr lang="ja-JP" altLang="ja-JP" dirty="0"/>
                  <a:t>或者</a:t>
                </a:r>
                <a:r>
                  <a:rPr lang="en-US" altLang="ja-JP" dirty="0"/>
                  <a:t> </a:t>
                </a:r>
                <a14:m>
                  <m:oMath xmlns:m="http://schemas.openxmlformats.org/officeDocument/2006/math">
                    <m:r>
                      <a:rPr lang="ja-JP" altLang="en-US" i="1"/>
                      <m:t>𝑓</m:t>
                    </m:r>
                    <m:r>
                      <a:rPr lang="en-US" altLang="ja-JP"/>
                      <m:t>:</m:t>
                    </m:r>
                    <m:r>
                      <a:rPr lang="ja-JP" altLang="en-US"/>
                      <m:t>𝒳</m:t>
                    </m:r>
                    <m:r>
                      <a:rPr lang="ja-JP" altLang="en-US"/>
                      <m:t>→</m:t>
                    </m:r>
                    <m:r>
                      <a:rPr lang="en-US" altLang="ja-JP"/>
                      <m:t>ℂ</m:t>
                    </m:r>
                    <m:r>
                      <a:rPr lang="en-US" altLang="ja-JP"/>
                      <m:t>.</m:t>
                    </m:r>
                  </m:oMath>
                </a14:m>
                <a:endParaRPr lang="en-US" altLang="ja-JP" dirty="0"/>
              </a:p>
              <a:p>
                <a:pPr marL="0" indent="0">
                  <a:lnSpc>
                    <a:spcPct val="120000"/>
                  </a:lnSpc>
                  <a:buNone/>
                </a:pPr>
                <a:r>
                  <a:rPr lang="ja-JP" altLang="ja-JP" dirty="0"/>
                  <a:t>核方法可以理解为：</a:t>
                </a:r>
                <a:r>
                  <a:rPr lang="ja-JP" altLang="ja-JP" b="1" dirty="0"/>
                  <a:t>把机器学习中的函数学习问题，放到一个具有 Hilbert 空间结构的函数空间中研究</a:t>
                </a:r>
                <a:endParaRPr lang="en-US" altLang="ja-JP" b="1" dirty="0"/>
              </a:p>
              <a:p>
                <a:pPr marL="0" indent="0">
                  <a:lnSpc>
                    <a:spcPct val="120000"/>
                  </a:lnSpc>
                  <a:buNone/>
                </a:pPr>
                <a:endParaRPr lang="en-US" altLang="ja-JP" b="1" dirty="0"/>
              </a:p>
              <a:p>
                <a:pPr marL="0" indent="0">
                  <a:lnSpc>
                    <a:spcPct val="120000"/>
                  </a:lnSpc>
                  <a:buNone/>
                </a:pPr>
                <a:r>
                  <a:rPr lang="ja-JP" altLang="ja-JP" dirty="0"/>
                  <a:t>RKHS 的关键性质是再生性质</a:t>
                </a:r>
                <a:r>
                  <a:rPr lang="zh-CN" altLang="en-US" dirty="0"/>
                  <a:t>：</a:t>
                </a:r>
                <a:r>
                  <a:rPr lang="ja-JP" altLang="ja-JP" dirty="0"/>
                  <a:t>对于每个点 </a:t>
                </a:r>
                <a14:m>
                  <m:oMath xmlns:m="http://schemas.openxmlformats.org/officeDocument/2006/math">
                    <m:r>
                      <a:rPr lang="ja-JP" altLang="en-US" i="1"/>
                      <m:t>𝑥</m:t>
                    </m:r>
                  </m:oMath>
                </a14:m>
                <a:r>
                  <a:rPr lang="ja-JP" altLang="ja-JP" dirty="0"/>
                  <a:t>，存在一个函数</a:t>
                </a:r>
                <a14:m>
                  <m:oMath xmlns:m="http://schemas.openxmlformats.org/officeDocument/2006/math">
                    <m:r>
                      <a:rPr lang="ja-JP" altLang="en-US" i="1"/>
                      <m:t>𝑘</m:t>
                    </m:r>
                    <m:d>
                      <m:dPr>
                        <m:sepChr m:val=","/>
                        <m:ctrlPr>
                          <a:rPr lang="ja-JP" altLang="en-US" i="1"/>
                        </m:ctrlPr>
                      </m:dPr>
                      <m:e>
                        <m:r>
                          <a:rPr lang="ja-JP" altLang="en-US" i="1"/>
                          <m:t>𝑥</m:t>
                        </m:r>
                      </m:e>
                      <m:e>
                        <m:r>
                          <a:rPr lang="ja-JP" altLang="en-US"/>
                          <m:t>⋅</m:t>
                        </m:r>
                      </m:e>
                    </m:d>
                    <m:r>
                      <a:rPr lang="ja-JP" altLang="en-US"/>
                      <m:t>∈</m:t>
                    </m:r>
                    <m:r>
                      <a:rPr lang="en-US" altLang="ja-JP"/>
                      <m:t>ℋ</m:t>
                    </m:r>
                    <m:r>
                      <a:rPr lang="en-US" altLang="ja-JP"/>
                      <m:t>,</m:t>
                    </m:r>
                    <m:r>
                      <a:rPr lang="en-US" altLang="ja-JP" b="0" i="0" smtClean="0">
                        <a:latin typeface="Cambria Math" panose="02040503050406030204" pitchFamily="18" charset="0"/>
                      </a:rPr>
                      <m:t> </m:t>
                    </m:r>
                  </m:oMath>
                </a14:m>
                <a:r>
                  <a:rPr lang="ja-JP" altLang="ja-JP" dirty="0"/>
                  <a:t>使得对任意函数 </a:t>
                </a:r>
                <a14:m>
                  <m:oMath xmlns:m="http://schemas.openxmlformats.org/officeDocument/2006/math">
                    <m:r>
                      <a:rPr lang="ja-JP" altLang="en-US" i="1"/>
                      <m:t>𝑓</m:t>
                    </m:r>
                    <m:r>
                      <a:rPr lang="ja-JP" altLang="en-US"/>
                      <m:t>∈</m:t>
                    </m:r>
                    <m:r>
                      <a:rPr lang="en-US" altLang="ja-JP"/>
                      <m:t>ℋ</m:t>
                    </m:r>
                  </m:oMath>
                </a14:m>
                <a:r>
                  <a:rPr lang="ja-JP" altLang="ja-JP" dirty="0"/>
                  <a:t>，都有</a:t>
                </a:r>
              </a:p>
              <a:p>
                <a:pPr marL="0" indent="0">
                  <a:lnSpc>
                    <a:spcPct val="120000"/>
                  </a:lnSpc>
                  <a:buNone/>
                </a:pPr>
                <a14:m>
                  <m:oMathPara xmlns:m="http://schemas.openxmlformats.org/officeDocument/2006/math">
                    <m:oMathParaPr>
                      <m:jc m:val="centerGroup"/>
                    </m:oMathParaPr>
                    <m:oMath xmlns:m="http://schemas.openxmlformats.org/officeDocument/2006/math">
                      <m:r>
                        <a:rPr lang="ja-JP" altLang="en-US" i="1"/>
                        <m:t>𝑓</m:t>
                      </m:r>
                      <m:d>
                        <m:dPr>
                          <m:ctrlPr>
                            <a:rPr lang="ja-JP" altLang="en-US" i="1"/>
                          </m:ctrlPr>
                        </m:dPr>
                        <m:e>
                          <m:r>
                            <a:rPr lang="ja-JP" altLang="en-US" i="1"/>
                            <m:t>𝑥</m:t>
                          </m:r>
                        </m:e>
                      </m:d>
                      <m:r>
                        <a:rPr lang="en-US" altLang="ja-JP"/>
                        <m:t>=</m:t>
                      </m:r>
                      <m:sSub>
                        <m:sSubPr>
                          <m:ctrlPr>
                            <a:rPr lang="ja-JP" altLang="en-US" i="1"/>
                          </m:ctrlPr>
                        </m:sSubPr>
                        <m:e>
                          <m:d>
                            <m:dPr>
                              <m:begChr m:val="⟨"/>
                              <m:endChr m:val="⟩"/>
                              <m:sepChr m:val=","/>
                              <m:ctrlPr>
                                <a:rPr lang="ja-JP" altLang="en-US" i="1"/>
                              </m:ctrlPr>
                            </m:dPr>
                            <m:e>
                              <m:r>
                                <a:rPr lang="ja-JP" altLang="en-US" i="1"/>
                                <m:t>𝑓</m:t>
                              </m:r>
                            </m:e>
                            <m:e>
                              <m:r>
                                <a:rPr lang="ja-JP" altLang="en-US" i="1"/>
                                <m:t>𝑘</m:t>
                              </m:r>
                              <m:d>
                                <m:dPr>
                                  <m:sepChr m:val=","/>
                                  <m:ctrlPr>
                                    <a:rPr lang="ja-JP" altLang="en-US" i="1"/>
                                  </m:ctrlPr>
                                </m:dPr>
                                <m:e>
                                  <m:r>
                                    <a:rPr lang="ja-JP" altLang="en-US" i="1"/>
                                    <m:t>𝑥</m:t>
                                  </m:r>
                                </m:e>
                                <m:e>
                                  <m:r>
                                    <a:rPr lang="ja-JP" altLang="en-US"/>
                                    <m:t>⋅</m:t>
                                  </m:r>
                                </m:e>
                              </m:d>
                            </m:e>
                          </m:d>
                        </m:e>
                        <m:sub>
                          <m:r>
                            <a:rPr lang="en-US" altLang="ja-JP"/>
                            <m:t>ℋ</m:t>
                          </m:r>
                        </m:sub>
                      </m:sSub>
                      <m:r>
                        <a:rPr lang="en-US" altLang="ja-JP"/>
                        <m:t>.</m:t>
                      </m:r>
                    </m:oMath>
                  </m:oMathPara>
                </a14:m>
                <a:endParaRPr lang="ja-JP" altLang="ja-JP" dirty="0"/>
              </a:p>
              <a:p>
                <a:pPr>
                  <a:lnSpc>
                    <a:spcPct val="120000"/>
                  </a:lnSpc>
                </a:pPr>
                <a:r>
                  <a:rPr lang="ja-JP" altLang="ja-JP" b="1" dirty="0"/>
                  <a:t>函数在点 </a:t>
                </a:r>
                <a14:m>
                  <m:oMath xmlns:m="http://schemas.openxmlformats.org/officeDocument/2006/math">
                    <m:r>
                      <a:rPr lang="ja-JP" altLang="en-US" i="1"/>
                      <m:t>𝑥</m:t>
                    </m:r>
                  </m:oMath>
                </a14:m>
                <a:r>
                  <a:rPr lang="ja-JP" altLang="ja-JP" b="1" dirty="0"/>
                  <a:t>处的取值，可以通过函数 </a:t>
                </a:r>
                <a14:m>
                  <m:oMath xmlns:m="http://schemas.openxmlformats.org/officeDocument/2006/math">
                    <m:r>
                      <a:rPr lang="ja-JP" altLang="en-US" i="1"/>
                      <m:t>𝑓</m:t>
                    </m:r>
                  </m:oMath>
                </a14:m>
                <a:r>
                  <a:rPr lang="ja-JP" altLang="ja-JP" b="1" dirty="0"/>
                  <a:t>与核函数 </a:t>
                </a:r>
                <a14:m>
                  <m:oMath xmlns:m="http://schemas.openxmlformats.org/officeDocument/2006/math">
                    <m:r>
                      <a:rPr lang="ja-JP" altLang="en-US" i="1"/>
                      <m:t>𝑘</m:t>
                    </m:r>
                    <m:d>
                      <m:dPr>
                        <m:sepChr m:val=","/>
                        <m:ctrlPr>
                          <a:rPr lang="ja-JP" altLang="en-US" i="1"/>
                        </m:ctrlPr>
                      </m:dPr>
                      <m:e>
                        <m:r>
                          <a:rPr lang="ja-JP" altLang="en-US" i="1"/>
                          <m:t>𝑥</m:t>
                        </m:r>
                      </m:e>
                      <m:e>
                        <m:r>
                          <a:rPr lang="ja-JP" altLang="en-US"/>
                          <m:t>⋅</m:t>
                        </m:r>
                      </m:e>
                    </m:d>
                  </m:oMath>
                </a14:m>
                <a:r>
                  <a:rPr lang="ja-JP" altLang="ja-JP" b="1" dirty="0"/>
                  <a:t>的内积得到。</a:t>
                </a:r>
                <a:endParaRPr lang="ja-JP" altLang="ja-JP" dirty="0"/>
              </a:p>
              <a:p>
                <a:pPr>
                  <a:lnSpc>
                    <a:spcPct val="120000"/>
                  </a:lnSpc>
                </a:pPr>
                <a:r>
                  <a:rPr lang="ja-JP" altLang="ja-JP" dirty="0"/>
                  <a:t>也就是说，核函数不仅表示样本之间的相似度，还可以“再生”函数的取值。</a:t>
                </a:r>
                <a:endParaRPr lang="en-US" altLang="ja-JP" dirty="0"/>
              </a:p>
              <a:p>
                <a:pPr marL="0" indent="0">
                  <a:lnSpc>
                    <a:spcPct val="120000"/>
                  </a:lnSpc>
                  <a:buNone/>
                </a:pPr>
                <a:endParaRPr lang="ja-JP" altLang="ja-JP" dirty="0"/>
              </a:p>
              <a:p>
                <a:pPr marL="0" indent="0">
                  <a:lnSpc>
                    <a:spcPct val="12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87804F2E-3102-C90F-277A-D0DCB2E8D042}"/>
                  </a:ext>
                </a:extLst>
              </p:cNvPr>
              <p:cNvSpPr>
                <a:spLocks noGrp="1" noRot="1" noChangeAspect="1" noMove="1" noResize="1" noEditPoints="1" noAdjustHandles="1" noChangeArrowheads="1" noChangeShapeType="1" noTextEdit="1"/>
              </p:cNvSpPr>
              <p:nvPr>
                <p:ph idx="1"/>
              </p:nvPr>
            </p:nvSpPr>
            <p:spPr>
              <a:xfrm>
                <a:off x="157480" y="1105786"/>
                <a:ext cx="11877040" cy="5325494"/>
              </a:xfrm>
              <a:blipFill>
                <a:blip r:embed="rId3"/>
                <a:stretch>
                  <a:fillRect l="-565" t="-22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63948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3310A-BFFA-2235-DEC0-B9EA1BA1AEF7}"/>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9F29E4B1-7A10-0305-007B-54092EAEE50A}"/>
              </a:ext>
            </a:extLst>
          </p:cNvPr>
          <p:cNvSpPr>
            <a:spLocks noGrp="1" noChangeArrowheads="1"/>
          </p:cNvSpPr>
          <p:nvPr>
            <p:ph type="title"/>
          </p:nvPr>
        </p:nvSpPr>
        <p:spPr/>
        <p:txBody>
          <a:bodyPr/>
          <a:lstStyle/>
          <a:p>
            <a:r>
              <a:rPr lang="zh-CN" altLang="en-US" b="1" dirty="0"/>
              <a:t>复习：</a:t>
            </a:r>
            <a:r>
              <a:rPr lang="ja-JP" altLang="ja-JP" b="1" dirty="0"/>
              <a:t>RKHS</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3B5C12F1-6BE7-CA58-4394-2E99D331EF53}"/>
                  </a:ext>
                </a:extLst>
              </p:cNvPr>
              <p:cNvSpPr>
                <a:spLocks noGrp="1"/>
              </p:cNvSpPr>
              <p:nvPr>
                <p:ph idx="1"/>
              </p:nvPr>
            </p:nvSpPr>
            <p:spPr>
              <a:xfrm>
                <a:off x="382772" y="1162878"/>
                <a:ext cx="11651748" cy="5268402"/>
              </a:xfrm>
            </p:spPr>
            <p:txBody>
              <a:bodyPr/>
              <a:lstStyle/>
              <a:p>
                <a:pPr marL="0" indent="0">
                  <a:lnSpc>
                    <a:spcPct val="120000"/>
                  </a:lnSpc>
                  <a:buNone/>
                </a:pPr>
                <a:r>
                  <a:rPr lang="ja-JP" altLang="ja-JP" dirty="0"/>
                  <a:t>机器学习经常要学习一个函数：</a:t>
                </a:r>
                <a14:m>
                  <m:oMath xmlns:m="http://schemas.openxmlformats.org/officeDocument/2006/math">
                    <m:r>
                      <a:rPr lang="ja-JP" altLang="en-US" i="1"/>
                      <m:t>𝑓</m:t>
                    </m:r>
                    <m:d>
                      <m:dPr>
                        <m:ctrlPr>
                          <a:rPr lang="ja-JP" altLang="en-US" i="1"/>
                        </m:ctrlPr>
                      </m:dPr>
                      <m:e>
                        <m:r>
                          <a:rPr lang="ja-JP" altLang="en-US" i="1"/>
                          <m:t>𝑥</m:t>
                        </m:r>
                      </m:e>
                    </m:d>
                    <m:r>
                      <a:rPr lang="ja-JP" altLang="en-US"/>
                      <m:t>≈</m:t>
                    </m:r>
                    <m:r>
                      <a:rPr lang="ja-JP" altLang="en-US" i="1"/>
                      <m:t>𝑦</m:t>
                    </m:r>
                    <m:r>
                      <a:rPr lang="en-US" altLang="ja-JP"/>
                      <m:t>.</m:t>
                    </m:r>
                  </m:oMath>
                </a14:m>
                <a:endParaRPr lang="en-US" altLang="ja-JP" dirty="0"/>
              </a:p>
              <a:p>
                <a:pPr marL="0" indent="0">
                  <a:lnSpc>
                    <a:spcPct val="120000"/>
                  </a:lnSpc>
                  <a:buNone/>
                </a:pPr>
                <a:r>
                  <a:rPr lang="ja-JP" altLang="ja-JP" dirty="0"/>
                  <a:t>例如：</a:t>
                </a:r>
                <a:endParaRPr lang="en-US" altLang="ja-JP" dirty="0"/>
              </a:p>
              <a:p>
                <a:pPr>
                  <a:lnSpc>
                    <a:spcPct val="120000"/>
                  </a:lnSpc>
                </a:pPr>
                <a:r>
                  <a:rPr lang="ja-JP" altLang="ja-JP" dirty="0"/>
                  <a:t>分类问题中，</a:t>
                </a:r>
                <a14:m>
                  <m:oMath xmlns:m="http://schemas.openxmlformats.org/officeDocument/2006/math">
                    <m:r>
                      <a:rPr lang="ja-JP" altLang="en-US" i="1"/>
                      <m:t>𝑓</m:t>
                    </m:r>
                    <m:d>
                      <m:dPr>
                        <m:ctrlPr>
                          <a:rPr lang="ja-JP" altLang="en-US" i="1"/>
                        </m:ctrlPr>
                      </m:dPr>
                      <m:e>
                        <m:r>
                          <a:rPr lang="ja-JP" altLang="en-US" i="1"/>
                          <m:t>𝑥</m:t>
                        </m:r>
                      </m:e>
                    </m:d>
                  </m:oMath>
                </a14:m>
                <a:r>
                  <a:rPr lang="ja-JP" altLang="ja-JP" dirty="0"/>
                  <a:t> 决定样本属于哪一类；</a:t>
                </a:r>
              </a:p>
              <a:p>
                <a:pPr>
                  <a:lnSpc>
                    <a:spcPct val="120000"/>
                  </a:lnSpc>
                </a:pPr>
                <a:r>
                  <a:rPr lang="ja-JP" altLang="ja-JP" dirty="0"/>
                  <a:t>回归问题中，</a:t>
                </a:r>
                <a14:m>
                  <m:oMath xmlns:m="http://schemas.openxmlformats.org/officeDocument/2006/math">
                    <m:r>
                      <a:rPr lang="ja-JP" altLang="en-US" i="1"/>
                      <m:t>𝑓</m:t>
                    </m:r>
                    <m:d>
                      <m:dPr>
                        <m:ctrlPr>
                          <a:rPr lang="ja-JP" altLang="en-US" i="1"/>
                        </m:ctrlPr>
                      </m:dPr>
                      <m:e>
                        <m:r>
                          <a:rPr lang="ja-JP" altLang="en-US" i="1"/>
                          <m:t>𝑥</m:t>
                        </m:r>
                      </m:e>
                    </m:d>
                  </m:oMath>
                </a14:m>
                <a:r>
                  <a:rPr lang="ja-JP" altLang="ja-JP" dirty="0"/>
                  <a:t> 预测一个数值；</a:t>
                </a:r>
              </a:p>
              <a:p>
                <a:pPr marL="0" indent="0">
                  <a:lnSpc>
                    <a:spcPct val="120000"/>
                  </a:lnSpc>
                  <a:buNone/>
                </a:pPr>
                <a:r>
                  <a:rPr lang="ja-JP" altLang="ja-JP" dirty="0"/>
                  <a:t>结构化数据学习中，</a:t>
                </a:r>
                <a14:m>
                  <m:oMath xmlns:m="http://schemas.openxmlformats.org/officeDocument/2006/math">
                    <m:r>
                      <a:rPr lang="ja-JP" altLang="en-US" i="1"/>
                      <m:t>𝑓</m:t>
                    </m:r>
                    <m:d>
                      <m:dPr>
                        <m:ctrlPr>
                          <a:rPr lang="ja-JP" altLang="en-US" i="1"/>
                        </m:ctrlPr>
                      </m:dPr>
                      <m:e>
                        <m:r>
                          <a:rPr lang="ja-JP" altLang="en-US" i="1"/>
                          <m:t>𝑥</m:t>
                        </m:r>
                      </m:e>
                    </m:d>
                  </m:oMath>
                </a14:m>
                <a:r>
                  <a:rPr lang="ja-JP" altLang="ja-JP" dirty="0"/>
                  <a:t> 用来预测图、序列、文本、分子结构等复杂对象的性质。</a:t>
                </a:r>
                <a:endParaRPr lang="en-US" altLang="ja-JP" dirty="0"/>
              </a:p>
              <a:p>
                <a:pPr marL="0" indent="0">
                  <a:lnSpc>
                    <a:spcPct val="120000"/>
                  </a:lnSpc>
                  <a:buNone/>
                </a:pPr>
                <a:endParaRPr lang="ja-JP" altLang="ja-JP" dirty="0"/>
              </a:p>
              <a:p>
                <a:pPr>
                  <a:lnSpc>
                    <a:spcPct val="120000"/>
                  </a:lnSpc>
                </a:pPr>
                <a:r>
                  <a:rPr lang="ja-JP" altLang="ja-JP" dirty="0"/>
                  <a:t>核方法把这个问题转化为：</a:t>
                </a:r>
                <a:r>
                  <a:rPr lang="ja-JP" altLang="ja-JP" b="1" dirty="0"/>
                  <a:t>在 RKHS </a:t>
                </a:r>
                <a14:m>
                  <m:oMath xmlns:m="http://schemas.openxmlformats.org/officeDocument/2006/math">
                    <m:r>
                      <a:rPr lang="en-US" altLang="ja-JP"/>
                      <m:t>ℋ</m:t>
                    </m:r>
                  </m:oMath>
                </a14:m>
                <a:r>
                  <a:rPr lang="ja-JP" altLang="ja-JP" b="1" dirty="0"/>
                  <a:t>中寻找一个合适的函数 </a:t>
                </a:r>
                <a14:m>
                  <m:oMath xmlns:m="http://schemas.openxmlformats.org/officeDocument/2006/math">
                    <m:r>
                      <a:rPr lang="ja-JP" altLang="en-US" i="1"/>
                      <m:t>𝑓</m:t>
                    </m:r>
                  </m:oMath>
                </a14:m>
                <a:r>
                  <a:rPr lang="ja-JP" altLang="ja-JP" b="1" dirty="0"/>
                  <a:t>。</a:t>
                </a:r>
                <a:endParaRPr lang="ja-JP" altLang="ja-JP" dirty="0"/>
              </a:p>
              <a:p>
                <a:pPr>
                  <a:lnSpc>
                    <a:spcPct val="120000"/>
                  </a:lnSpc>
                </a:pPr>
                <a:r>
                  <a:rPr lang="ja-JP" altLang="ja-JP" dirty="0"/>
                  <a:t>通常会求解类似：</a:t>
                </a:r>
                <a14:m>
                  <m:oMath xmlns:m="http://schemas.openxmlformats.org/officeDocument/2006/math">
                    <m:sSub>
                      <m:sSubPr>
                        <m:ctrlPr>
                          <a:rPr lang="ja-JP" altLang="en-US" i="1" smtClean="0">
                            <a:latin typeface="Cambria Math" panose="02040503050406030204" pitchFamily="18" charset="0"/>
                          </a:rPr>
                        </m:ctrlPr>
                      </m:sSubPr>
                      <m:e>
                        <m:r>
                          <m:rPr>
                            <m:sty m:val="p"/>
                          </m:rPr>
                          <a:rPr lang="en-US" altLang="ja-JP" b="0" i="1" smtClean="0">
                            <a:latin typeface="Cambria Math" panose="02040503050406030204" pitchFamily="18" charset="0"/>
                          </a:rPr>
                          <m:t>min</m:t>
                        </m:r>
                      </m:e>
                      <m:sub>
                        <m:r>
                          <a:rPr lang="ja-JP" altLang="en-US" i="1">
                            <a:latin typeface="Cambria Math" panose="02040503050406030204" pitchFamily="18" charset="0"/>
                          </a:rPr>
                          <m:t>𝑓</m:t>
                        </m:r>
                        <m:r>
                          <a:rPr lang="ja-JP" altLang="en-US">
                            <a:latin typeface="Cambria Math" panose="02040503050406030204" pitchFamily="18" charset="0"/>
                          </a:rPr>
                          <m:t>∈</m:t>
                        </m:r>
                        <m:r>
                          <a:rPr lang="en-US" altLang="ja-JP">
                            <a:latin typeface="Cambria Math" panose="02040503050406030204" pitchFamily="18" charset="0"/>
                          </a:rPr>
                          <m:t>ℋ</m:t>
                        </m:r>
                      </m:sub>
                    </m:sSub>
                    <m:nary>
                      <m:naryPr>
                        <m:chr m:val="∑"/>
                        <m:grow m:val="on"/>
                        <m:ctrlPr>
                          <a:rPr lang="ja-JP" altLang="en-US" i="1"/>
                        </m:ctrlPr>
                      </m:naryPr>
                      <m:sub>
                        <m:r>
                          <a:rPr lang="ja-JP" altLang="en-US" i="1"/>
                          <m:t>𝑖</m:t>
                        </m:r>
                        <m:r>
                          <a:rPr lang="en-US" altLang="ja-JP"/>
                          <m:t>=1</m:t>
                        </m:r>
                      </m:sub>
                      <m:sup>
                        <m:r>
                          <a:rPr lang="ja-JP" altLang="en-US" i="1"/>
                          <m:t>𝑛</m:t>
                        </m:r>
                      </m:sup>
                      <m:e>
                        <m:r>
                          <a:rPr lang="ja-JP" altLang="en-US" i="1"/>
                          <m:t>𝐿</m:t>
                        </m:r>
                      </m:e>
                    </m:nary>
                    <m:d>
                      <m:dPr>
                        <m:sepChr m:val=","/>
                        <m:ctrlPr>
                          <a:rPr lang="ja-JP" altLang="en-US" i="1"/>
                        </m:ctrlPr>
                      </m:dPr>
                      <m:e>
                        <m:sSub>
                          <m:sSubPr>
                            <m:ctrlPr>
                              <a:rPr lang="ja-JP" altLang="en-US" i="1"/>
                            </m:ctrlPr>
                          </m:sSubPr>
                          <m:e>
                            <m:r>
                              <a:rPr lang="ja-JP" altLang="en-US" i="1"/>
                              <m:t>𝑦</m:t>
                            </m:r>
                          </m:e>
                          <m:sub>
                            <m:r>
                              <a:rPr lang="ja-JP" altLang="en-US" i="1"/>
                              <m:t>𝑖</m:t>
                            </m:r>
                          </m:sub>
                        </m:sSub>
                      </m:e>
                      <m:e>
                        <m:r>
                          <a:rPr lang="ja-JP" altLang="en-US" i="1"/>
                          <m:t>𝑓</m:t>
                        </m:r>
                        <m:d>
                          <m:dPr>
                            <m:ctrlPr>
                              <a:rPr lang="ja-JP" altLang="en-US" i="1"/>
                            </m:ctrlPr>
                          </m:dPr>
                          <m:e>
                            <m:sSub>
                              <m:sSubPr>
                                <m:ctrlPr>
                                  <a:rPr lang="ja-JP" altLang="en-US" i="1"/>
                                </m:ctrlPr>
                              </m:sSubPr>
                              <m:e>
                                <m:r>
                                  <a:rPr lang="ja-JP" altLang="en-US" i="1"/>
                                  <m:t>𝑥</m:t>
                                </m:r>
                              </m:e>
                              <m:sub>
                                <m:r>
                                  <a:rPr lang="ja-JP" altLang="en-US" i="1"/>
                                  <m:t>𝑖</m:t>
                                </m:r>
                              </m:sub>
                            </m:sSub>
                          </m:e>
                        </m:d>
                      </m:e>
                    </m:d>
                    <m:r>
                      <a:rPr lang="en-US" altLang="ja-JP"/>
                      <m:t>+</m:t>
                    </m:r>
                    <m:r>
                      <a:rPr lang="ja-JP" altLang="en-US" i="1"/>
                      <m:t>𝜆</m:t>
                    </m:r>
                    <m:r>
                      <a:rPr lang="ja-JP" altLang="en-US"/>
                      <m:t>∥</m:t>
                    </m:r>
                    <m:r>
                      <a:rPr lang="ja-JP" altLang="en-US" i="1"/>
                      <m:t>𝑓</m:t>
                    </m:r>
                    <m:sSubSup>
                      <m:sSubSupPr>
                        <m:ctrlPr>
                          <a:rPr lang="ja-JP" altLang="en-US" i="1"/>
                        </m:ctrlPr>
                      </m:sSubSupPr>
                      <m:e>
                        <m:r>
                          <a:rPr lang="ja-JP" altLang="en-US"/>
                          <m:t>∥</m:t>
                        </m:r>
                      </m:e>
                      <m:sub>
                        <m:r>
                          <a:rPr lang="en-US" altLang="ja-JP"/>
                          <m:t>ℋ</m:t>
                        </m:r>
                      </m:sub>
                      <m:sup>
                        <m:r>
                          <a:rPr lang="en-US" altLang="ja-JP"/>
                          <m:t>2</m:t>
                        </m:r>
                      </m:sup>
                    </m:sSubSup>
                    <m:r>
                      <a:rPr lang="en-US" altLang="ja-JP"/>
                      <m:t>.</m:t>
                    </m:r>
                  </m:oMath>
                </a14:m>
                <a:endParaRPr lang="en-US" altLang="ja-JP" dirty="0"/>
              </a:p>
              <a:p>
                <a:pPr marL="0" indent="0">
                  <a:lnSpc>
                    <a:spcPct val="120000"/>
                  </a:lnSpc>
                  <a:buNone/>
                </a:pPr>
                <a:r>
                  <a:rPr lang="ja-JP" altLang="ja-JP" dirty="0"/>
                  <a:t>这里</a:t>
                </a:r>
                <a14:m>
                  <m:oMath xmlns:m="http://schemas.openxmlformats.org/officeDocument/2006/math">
                    <m:r>
                      <a:rPr lang="ja-JP" altLang="en-US" i="1"/>
                      <m:t>𝐿</m:t>
                    </m:r>
                    <m:d>
                      <m:dPr>
                        <m:sepChr m:val=","/>
                        <m:ctrlPr>
                          <a:rPr lang="ja-JP" altLang="en-US" i="1"/>
                        </m:ctrlPr>
                      </m:dPr>
                      <m:e>
                        <m:sSub>
                          <m:sSubPr>
                            <m:ctrlPr>
                              <a:rPr lang="ja-JP" altLang="en-US" i="1"/>
                            </m:ctrlPr>
                          </m:sSubPr>
                          <m:e>
                            <m:r>
                              <a:rPr lang="ja-JP" altLang="en-US" i="1"/>
                              <m:t>𝑦</m:t>
                            </m:r>
                          </m:e>
                          <m:sub>
                            <m:r>
                              <a:rPr lang="ja-JP" altLang="en-US" i="1"/>
                              <m:t>𝑖</m:t>
                            </m:r>
                          </m:sub>
                        </m:sSub>
                      </m:e>
                      <m:e>
                        <m:r>
                          <a:rPr lang="ja-JP" altLang="en-US" i="1"/>
                          <m:t>𝑓</m:t>
                        </m:r>
                        <m:d>
                          <m:dPr>
                            <m:ctrlPr>
                              <a:rPr lang="ja-JP" altLang="en-US" i="1"/>
                            </m:ctrlPr>
                          </m:dPr>
                          <m:e>
                            <m:sSub>
                              <m:sSubPr>
                                <m:ctrlPr>
                                  <a:rPr lang="ja-JP" altLang="en-US" i="1"/>
                                </m:ctrlPr>
                              </m:sSubPr>
                              <m:e>
                                <m:r>
                                  <a:rPr lang="ja-JP" altLang="en-US" i="1"/>
                                  <m:t>𝑥</m:t>
                                </m:r>
                              </m:e>
                              <m:sub>
                                <m:r>
                                  <a:rPr lang="ja-JP" altLang="en-US" i="1"/>
                                  <m:t>𝑖</m:t>
                                </m:r>
                              </m:sub>
                            </m:sSub>
                          </m:e>
                        </m:d>
                      </m:e>
                    </m:d>
                  </m:oMath>
                </a14:m>
                <a:r>
                  <a:rPr lang="ja-JP" altLang="ja-JP" dirty="0"/>
                  <a:t>表示预测误差；</a:t>
                </a:r>
                <a14:m>
                  <m:oMath xmlns:m="http://schemas.openxmlformats.org/officeDocument/2006/math">
                    <m:r>
                      <a:rPr lang="ja-JP" altLang="en-US"/>
                      <m:t>∥</m:t>
                    </m:r>
                    <m:r>
                      <a:rPr lang="ja-JP" altLang="en-US" i="1"/>
                      <m:t>𝑓</m:t>
                    </m:r>
                    <m:sSubSup>
                      <m:sSubSupPr>
                        <m:ctrlPr>
                          <a:rPr lang="ja-JP" altLang="en-US" i="1"/>
                        </m:ctrlPr>
                      </m:sSubSupPr>
                      <m:e>
                        <m:r>
                          <a:rPr lang="ja-JP" altLang="en-US"/>
                          <m:t>∥</m:t>
                        </m:r>
                      </m:e>
                      <m:sub>
                        <m:r>
                          <a:rPr lang="en-US" altLang="ja-JP"/>
                          <m:t>ℋ</m:t>
                        </m:r>
                      </m:sub>
                      <m:sup>
                        <m:r>
                          <a:rPr lang="en-US" altLang="ja-JP"/>
                          <m:t>2</m:t>
                        </m:r>
                      </m:sup>
                    </m:sSubSup>
                  </m:oMath>
                </a14:m>
                <a:r>
                  <a:rPr lang="ja-JP" altLang="ja-JP" dirty="0"/>
                  <a:t>表示函数的复杂度；</a:t>
                </a:r>
                <a14:m>
                  <m:oMath xmlns:m="http://schemas.openxmlformats.org/officeDocument/2006/math">
                    <m:r>
                      <a:rPr lang="ja-JP" altLang="en-US" i="1"/>
                      <m:t>𝜆</m:t>
                    </m:r>
                  </m:oMath>
                </a14:m>
                <a:r>
                  <a:rPr lang="ja-JP" altLang="ja-JP" dirty="0"/>
                  <a:t>控制拟合数据和控制复杂度之间的平衡。</a:t>
                </a:r>
                <a:endParaRPr lang="en-US" altLang="ja-JP" dirty="0"/>
              </a:p>
              <a:p>
                <a:pPr marL="0" indent="0">
                  <a:lnSpc>
                    <a:spcPct val="120000"/>
                  </a:lnSpc>
                  <a:buNone/>
                </a:pPr>
                <a:r>
                  <a:rPr lang="ja-JP" altLang="ja-JP" dirty="0"/>
                  <a:t>不是只研究有限维参数，而是在一个函数空间中研究最优化问题。</a:t>
                </a:r>
              </a:p>
              <a:p>
                <a:pPr marL="0" indent="0">
                  <a:lnSpc>
                    <a:spcPct val="120000"/>
                  </a:lnSpc>
                  <a:buNone/>
                </a:pPr>
                <a:endParaRPr lang="ja-JP" altLang="ja-JP" dirty="0"/>
              </a:p>
              <a:p>
                <a:pPr marL="0" indent="0">
                  <a:lnSpc>
                    <a:spcPct val="12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3B5C12F1-6BE7-CA58-4394-2E99D331EF53}"/>
                  </a:ext>
                </a:extLst>
              </p:cNvPr>
              <p:cNvSpPr>
                <a:spLocks noGrp="1" noRot="1" noChangeAspect="1" noMove="1" noResize="1" noEditPoints="1" noAdjustHandles="1" noChangeArrowheads="1" noChangeShapeType="1" noTextEdit="1"/>
              </p:cNvSpPr>
              <p:nvPr>
                <p:ph idx="1"/>
              </p:nvPr>
            </p:nvSpPr>
            <p:spPr>
              <a:xfrm>
                <a:off x="382772" y="1162878"/>
                <a:ext cx="11651748" cy="5268402"/>
              </a:xfrm>
              <a:blipFill>
                <a:blip r:embed="rId3"/>
                <a:stretch>
                  <a:fillRect l="-576" t="-46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30533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31DB-DAE8-5FCC-42E7-4AC555F07927}"/>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3061D909-5B7D-A9EA-6A7B-A19F50AE3874}"/>
              </a:ext>
            </a:extLst>
          </p:cNvPr>
          <p:cNvSpPr>
            <a:spLocks noGrp="1" noChangeArrowheads="1"/>
          </p:cNvSpPr>
          <p:nvPr>
            <p:ph type="title"/>
          </p:nvPr>
        </p:nvSpPr>
        <p:spPr/>
        <p:txBody>
          <a:bodyPr/>
          <a:lstStyle/>
          <a:p>
            <a:r>
              <a:rPr lang="ja-JP" altLang="ja-JP" dirty="0"/>
              <a:t>Representer Theorem：为什么最后只需要有限个核函数？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25749044-2248-6ED2-1E13-D1DF2BBF9F24}"/>
                  </a:ext>
                </a:extLst>
              </p:cNvPr>
              <p:cNvSpPr>
                <a:spLocks noGrp="1"/>
              </p:cNvSpPr>
              <p:nvPr>
                <p:ph idx="1"/>
              </p:nvPr>
            </p:nvSpPr>
            <p:spPr>
              <a:xfrm>
                <a:off x="157480" y="1162878"/>
                <a:ext cx="11877040" cy="5268402"/>
              </a:xfrm>
            </p:spPr>
            <p:txBody>
              <a:bodyPr/>
              <a:lstStyle/>
              <a:p>
                <a:pPr>
                  <a:lnSpc>
                    <a:spcPct val="110000"/>
                  </a:lnSpc>
                </a:pPr>
                <a:r>
                  <a:rPr lang="ja-JP" altLang="ja-JP" dirty="0"/>
                  <a:t>RKHS 中虽然可能是无限维的，但有一个非常重要的定理，叫做表示定理。</a:t>
                </a:r>
              </a:p>
              <a:p>
                <a:pPr marL="0" indent="0">
                  <a:lnSpc>
                    <a:spcPct val="110000"/>
                  </a:lnSpc>
                  <a:buNone/>
                </a:pPr>
                <a:r>
                  <a:rPr lang="ja-JP" altLang="ja-JP" dirty="0"/>
                  <a:t>说明，在很多正则化学习问题中，最优解 </a:t>
                </a:r>
                <a14:m>
                  <m:oMath xmlns:m="http://schemas.openxmlformats.org/officeDocument/2006/math">
                    <m:sSup>
                      <m:sSupPr>
                        <m:ctrlPr>
                          <a:rPr lang="ja-JP" altLang="en-US"/>
                        </m:ctrlPr>
                      </m:sSupPr>
                      <m:e>
                        <m:r>
                          <a:rPr lang="ja-JP" altLang="en-US" i="1"/>
                          <m:t>𝑓</m:t>
                        </m:r>
                      </m:e>
                      <m:sup>
                        <m:r>
                          <a:rPr lang="ja-JP" altLang="en-US"/>
                          <m:t>∗</m:t>
                        </m:r>
                      </m:sup>
                    </m:sSup>
                  </m:oMath>
                </a14:m>
                <a:r>
                  <a:rPr lang="ja-JP" altLang="ja-JP" dirty="0"/>
                  <a:t>可以写成：</a:t>
                </a:r>
                <a14:m>
                  <m:oMath xmlns:m="http://schemas.openxmlformats.org/officeDocument/2006/math">
                    <m:sSup>
                      <m:sSupPr>
                        <m:ctrlPr>
                          <a:rPr lang="ja-JP" altLang="en-US"/>
                        </m:ctrlPr>
                      </m:sSupPr>
                      <m:e>
                        <m:r>
                          <a:rPr lang="ja-JP" altLang="en-US" i="1"/>
                          <m:t>𝑓</m:t>
                        </m:r>
                      </m:e>
                      <m:sup>
                        <m:r>
                          <a:rPr lang="ja-JP" altLang="en-US"/>
                          <m:t>∗</m:t>
                        </m:r>
                      </m:sup>
                    </m:sSup>
                    <m:d>
                      <m:dPr>
                        <m:ctrlPr>
                          <a:rPr lang="ja-JP" altLang="en-US" i="1"/>
                        </m:ctrlPr>
                      </m:dPr>
                      <m:e>
                        <m:r>
                          <a:rPr lang="ja-JP" altLang="en-US" i="1"/>
                          <m:t>𝑥</m:t>
                        </m:r>
                      </m:e>
                    </m:d>
                    <m:r>
                      <a:rPr lang="en-US" altLang="ja-JP"/>
                      <m:t>=</m:t>
                    </m:r>
                    <m:nary>
                      <m:naryPr>
                        <m:chr m:val="∑"/>
                        <m:grow m:val="on"/>
                        <m:ctrlPr>
                          <a:rPr lang="ja-JP" altLang="en-US" i="1"/>
                        </m:ctrlPr>
                      </m:naryPr>
                      <m:sub>
                        <m:r>
                          <a:rPr lang="ja-JP" altLang="en-US" i="1"/>
                          <m:t>𝑖</m:t>
                        </m:r>
                        <m:r>
                          <a:rPr lang="en-US" altLang="ja-JP"/>
                          <m:t>=</m:t>
                        </m:r>
                        <m:r>
                          <a:rPr lang="en-US" altLang="ja-JP"/>
                          <m:t>1</m:t>
                        </m:r>
                      </m:sub>
                      <m:sup>
                        <m:r>
                          <a:rPr lang="ja-JP" altLang="en-US" i="1"/>
                          <m:t>𝑛</m:t>
                        </m:r>
                      </m:sup>
                      <m:e>
                        <m:sSub>
                          <m:sSubPr>
                            <m:ctrlPr>
                              <a:rPr lang="ja-JP" altLang="en-US" i="1"/>
                            </m:ctrlPr>
                          </m:sSubPr>
                          <m:e>
                            <m:r>
                              <a:rPr lang="ja-JP" altLang="en-US" i="1"/>
                              <m:t>𝛼</m:t>
                            </m:r>
                          </m:e>
                          <m:sub>
                            <m:r>
                              <a:rPr lang="ja-JP" altLang="en-US" i="1"/>
                              <m:t>𝑖</m:t>
                            </m:r>
                          </m:sub>
                        </m:sSub>
                      </m:e>
                    </m:nary>
                    <m:r>
                      <a:rPr lang="ja-JP" altLang="en-US" i="1"/>
                      <m:t>𝑘</m:t>
                    </m:r>
                    <m:d>
                      <m:dPr>
                        <m:sepChr m:val=","/>
                        <m:ctrlPr>
                          <a:rPr lang="ja-JP" altLang="en-US" i="1"/>
                        </m:ctrlPr>
                      </m:dPr>
                      <m:e>
                        <m:sSub>
                          <m:sSubPr>
                            <m:ctrlPr>
                              <a:rPr lang="ja-JP" altLang="en-US" i="1"/>
                            </m:ctrlPr>
                          </m:sSubPr>
                          <m:e>
                            <m:r>
                              <a:rPr lang="ja-JP" altLang="en-US" i="1"/>
                              <m:t>𝑥</m:t>
                            </m:r>
                          </m:e>
                          <m:sub>
                            <m:r>
                              <a:rPr lang="ja-JP" altLang="en-US" i="1"/>
                              <m:t>𝑖</m:t>
                            </m:r>
                          </m:sub>
                        </m:sSub>
                      </m:e>
                      <m:e>
                        <m:r>
                          <a:rPr lang="ja-JP" altLang="en-US" i="1"/>
                          <m:t>𝑥</m:t>
                        </m:r>
                      </m:e>
                    </m:d>
                    <m:r>
                      <a:rPr lang="en-US" altLang="ja-JP"/>
                      <m:t>.</m:t>
                    </m:r>
                  </m:oMath>
                </a14:m>
                <a:endParaRPr lang="en-US" altLang="ja-JP" dirty="0"/>
              </a:p>
              <a:p>
                <a:pPr marL="0" indent="0">
                  <a:lnSpc>
                    <a:spcPct val="110000"/>
                  </a:lnSpc>
                  <a:buNone/>
                </a:pPr>
                <a:r>
                  <a:rPr lang="ja-JP" altLang="ja-JP" dirty="0"/>
                  <a:t>虽然我们在整个 RKHS 中寻找函数，但最终得到的函数只需要由训练样本对应的核函数线性组合出来。</a:t>
                </a:r>
              </a:p>
              <a:p>
                <a:pPr marL="0" indent="0">
                  <a:lnSpc>
                    <a:spcPct val="110000"/>
                  </a:lnSpc>
                  <a:buNone/>
                </a:pPr>
                <a:r>
                  <a:rPr lang="ja-JP" altLang="ja-JP" dirty="0"/>
                  <a:t>它把无限维函数空间中的优化问题，转化成了有限维参数</a:t>
                </a:r>
                <a14:m>
                  <m:oMath xmlns:m="http://schemas.openxmlformats.org/officeDocument/2006/math">
                    <m:sSub>
                      <m:sSubPr>
                        <m:ctrlPr>
                          <a:rPr lang="ja-JP" altLang="en-US"/>
                        </m:ctrlPr>
                      </m:sSubPr>
                      <m:e>
                        <m:r>
                          <a:rPr lang="ja-JP" altLang="en-US" i="1"/>
                          <m:t>𝛼</m:t>
                        </m:r>
                      </m:e>
                      <m:sub>
                        <m:r>
                          <a:rPr lang="en-US" altLang="ja-JP"/>
                          <m:t>1</m:t>
                        </m:r>
                      </m:sub>
                    </m:sSub>
                    <m:r>
                      <a:rPr lang="en-US" altLang="ja-JP"/>
                      <m:t>,…,</m:t>
                    </m:r>
                    <m:sSub>
                      <m:sSubPr>
                        <m:ctrlPr>
                          <a:rPr lang="ja-JP" altLang="en-US" i="1"/>
                        </m:ctrlPr>
                      </m:sSubPr>
                      <m:e>
                        <m:r>
                          <a:rPr lang="ja-JP" altLang="en-US" i="1"/>
                          <m:t>𝛼</m:t>
                        </m:r>
                      </m:e>
                      <m:sub>
                        <m:r>
                          <a:rPr lang="ja-JP" altLang="en-US" i="1"/>
                          <m:t>𝑛</m:t>
                        </m:r>
                      </m:sub>
                    </m:sSub>
                  </m:oMath>
                </a14:m>
                <a:r>
                  <a:rPr lang="ja-JP" altLang="ja-JP" dirty="0"/>
                  <a:t>的优化问题。</a:t>
                </a:r>
                <a:endParaRPr lang="en-US" altLang="ja-JP" dirty="0"/>
              </a:p>
              <a:p>
                <a:pPr marL="0" indent="0">
                  <a:lnSpc>
                    <a:spcPct val="110000"/>
                  </a:lnSpc>
                  <a:buNone/>
                </a:pPr>
                <a:r>
                  <a:rPr lang="ja-JP" altLang="ja-JP" dirty="0"/>
                  <a:t>所以核方法既有函数空间的理论表达力，又可以在有限数据上计算。</a:t>
                </a:r>
                <a:endParaRPr lang="en-US" altLang="ja-JP" dirty="0"/>
              </a:p>
              <a:p>
                <a:pPr marL="0" indent="0">
                  <a:lnSpc>
                    <a:spcPct val="110000"/>
                  </a:lnSpc>
                  <a:buNone/>
                </a:pPr>
                <a:endParaRPr lang="en-US" altLang="ja-JP" dirty="0"/>
              </a:p>
              <a:p>
                <a:pPr marL="0" indent="0">
                  <a:lnSpc>
                    <a:spcPct val="110000"/>
                  </a:lnSpc>
                  <a:buNone/>
                </a:pPr>
                <a:r>
                  <a:rPr lang="ja-JP" altLang="ja-JP" dirty="0"/>
                  <a:t>给定训练样本</a:t>
                </a:r>
                <a14:m>
                  <m:oMath xmlns:m="http://schemas.openxmlformats.org/officeDocument/2006/math">
                    <m:sSub>
                      <m:sSubPr>
                        <m:ctrlPr>
                          <a:rPr lang="ja-JP" altLang="en-US"/>
                        </m:ctrlPr>
                      </m:sSubPr>
                      <m:e>
                        <m:r>
                          <a:rPr lang="ja-JP" altLang="en-US" i="1"/>
                          <m:t>𝑥</m:t>
                        </m:r>
                      </m:e>
                      <m:sub>
                        <m:r>
                          <a:rPr lang="en-US" altLang="ja-JP"/>
                          <m:t>1</m:t>
                        </m:r>
                      </m:sub>
                    </m:sSub>
                    <m:r>
                      <a:rPr lang="en-US" altLang="ja-JP"/>
                      <m:t>,</m:t>
                    </m:r>
                    <m:sSub>
                      <m:sSubPr>
                        <m:ctrlPr>
                          <a:rPr lang="ja-JP" altLang="en-US" i="1"/>
                        </m:ctrlPr>
                      </m:sSubPr>
                      <m:e>
                        <m:r>
                          <a:rPr lang="ja-JP" altLang="en-US" i="1"/>
                          <m:t>𝑥</m:t>
                        </m:r>
                      </m:e>
                      <m:sub>
                        <m:r>
                          <a:rPr lang="en-US" altLang="ja-JP"/>
                          <m:t>2</m:t>
                        </m:r>
                      </m:sub>
                    </m:sSub>
                    <m:r>
                      <a:rPr lang="en-US" altLang="ja-JP"/>
                      <m:t>,…,</m:t>
                    </m:r>
                    <m:sSub>
                      <m:sSubPr>
                        <m:ctrlPr>
                          <a:rPr lang="ja-JP" altLang="en-US" i="1"/>
                        </m:ctrlPr>
                      </m:sSubPr>
                      <m:e>
                        <m:r>
                          <a:rPr lang="ja-JP" altLang="en-US" i="1"/>
                          <m:t>𝑥</m:t>
                        </m:r>
                      </m:e>
                      <m:sub>
                        <m:r>
                          <a:rPr lang="ja-JP" altLang="en-US" i="1"/>
                          <m:t>𝑛</m:t>
                        </m:r>
                      </m:sub>
                    </m:sSub>
                    <m:r>
                      <a:rPr lang="en-US" altLang="ja-JP"/>
                      <m:t>,</m:t>
                    </m:r>
                    <m:r>
                      <a:rPr lang="en-US" altLang="ja-JP" b="0" i="0" smtClean="0">
                        <a:latin typeface="Cambria Math" panose="02040503050406030204" pitchFamily="18" charset="0"/>
                      </a:rPr>
                      <m:t> </m:t>
                    </m:r>
                  </m:oMath>
                </a14:m>
                <a:r>
                  <a:rPr lang="ja-JP" altLang="ja-JP" dirty="0"/>
                  <a:t>可以计算任意两个样本之间的核函数值：</a:t>
                </a:r>
                <a14:m>
                  <m:oMath xmlns:m="http://schemas.openxmlformats.org/officeDocument/2006/math">
                    <m:sSub>
                      <m:sSubPr>
                        <m:ctrlPr>
                          <a:rPr lang="ja-JP" altLang="en-US"/>
                        </m:ctrlPr>
                      </m:sSubPr>
                      <m:e>
                        <m:r>
                          <a:rPr lang="ja-JP" altLang="en-US" i="1"/>
                          <m:t>𝐾</m:t>
                        </m:r>
                      </m:e>
                      <m:sub>
                        <m:r>
                          <a:rPr lang="ja-JP" altLang="en-US" i="1"/>
                          <m:t>𝑖𝑗</m:t>
                        </m:r>
                      </m:sub>
                    </m:sSub>
                    <m:r>
                      <a:rPr lang="en-US" altLang="ja-JP"/>
                      <m:t>=</m:t>
                    </m:r>
                    <m:r>
                      <a:rPr lang="ja-JP" altLang="en-US" i="1"/>
                      <m:t>𝑘</m:t>
                    </m:r>
                    <m:d>
                      <m:dPr>
                        <m:sepChr m:val=","/>
                        <m:ctrlPr>
                          <a:rPr lang="ja-JP" altLang="en-US" i="1"/>
                        </m:ctrlPr>
                      </m:dPr>
                      <m:e>
                        <m:sSub>
                          <m:sSubPr>
                            <m:ctrlPr>
                              <a:rPr lang="ja-JP" altLang="en-US" i="1"/>
                            </m:ctrlPr>
                          </m:sSubPr>
                          <m:e>
                            <m:r>
                              <a:rPr lang="ja-JP" altLang="en-US" i="1"/>
                              <m:t>𝑥</m:t>
                            </m:r>
                          </m:e>
                          <m:sub>
                            <m:r>
                              <a:rPr lang="ja-JP" altLang="en-US" i="1"/>
                              <m:t>𝑖</m:t>
                            </m:r>
                          </m:sub>
                        </m:sSub>
                      </m:e>
                      <m:e>
                        <m:sSub>
                          <m:sSubPr>
                            <m:ctrlPr>
                              <a:rPr lang="ja-JP" altLang="en-US" i="1"/>
                            </m:ctrlPr>
                          </m:sSubPr>
                          <m:e>
                            <m:r>
                              <a:rPr lang="ja-JP" altLang="en-US" i="1"/>
                              <m:t>𝑥</m:t>
                            </m:r>
                          </m:e>
                          <m:sub>
                            <m:r>
                              <a:rPr lang="ja-JP" altLang="en-US" i="1"/>
                              <m:t>𝑗</m:t>
                            </m:r>
                          </m:sub>
                        </m:sSub>
                      </m:e>
                    </m:d>
                    <m:r>
                      <a:rPr lang="en-US" altLang="ja-JP"/>
                      <m:t>.</m:t>
                    </m:r>
                  </m:oMath>
                </a14:m>
                <a:r>
                  <a:rPr lang="en-US" altLang="ja-JP" dirty="0"/>
                  <a:t> </a:t>
                </a:r>
                <a:r>
                  <a:rPr lang="ja-JP" altLang="ja-JP" dirty="0"/>
                  <a:t>得到一个矩阵：</a:t>
                </a:r>
                <a:endParaRPr lang="en-US" altLang="ja-JP" dirty="0"/>
              </a:p>
              <a:p>
                <a:pPr marL="0" indent="0">
                  <a:lnSpc>
                    <a:spcPct val="110000"/>
                  </a:lnSpc>
                  <a:buNone/>
                </a:pPr>
                <a:endParaRPr lang="en-US" altLang="ja-JP" dirty="0"/>
              </a:p>
              <a:p>
                <a:pPr marL="0" indent="0">
                  <a:lnSpc>
                    <a:spcPct val="110000"/>
                  </a:lnSpc>
                  <a:buNone/>
                </a:pPr>
                <a:endParaRPr lang="en-US" altLang="ja-JP" dirty="0"/>
              </a:p>
              <a:p>
                <a:pPr marL="0" indent="0">
                  <a:lnSpc>
                    <a:spcPct val="110000"/>
                  </a:lnSpc>
                  <a:buNone/>
                </a:pPr>
                <a:endParaRPr lang="en-US" altLang="ja-JP" dirty="0"/>
              </a:p>
              <a:p>
                <a:pPr marL="0" indent="0">
                  <a:lnSpc>
                    <a:spcPct val="110000"/>
                  </a:lnSpc>
                  <a:buNone/>
                </a:pPr>
                <a:endParaRPr lang="en-US" altLang="ja-JP" dirty="0"/>
              </a:p>
              <a:p>
                <a:pPr marL="0" indent="0">
                  <a:lnSpc>
                    <a:spcPct val="110000"/>
                  </a:lnSpc>
                  <a:buNone/>
                </a:pPr>
                <a:endParaRPr lang="en-US" altLang="ja-JP" dirty="0"/>
              </a:p>
              <a:p>
                <a:pPr marL="0" indent="0">
                  <a:lnSpc>
                    <a:spcPct val="110000"/>
                  </a:lnSpc>
                  <a:buNone/>
                </a:pPr>
                <a:r>
                  <a:rPr lang="ja-JP" altLang="ja-JP" dirty="0"/>
                  <a:t>这个矩阵叫做核矩阵，也叫 Gram 矩阵。它记录了所有训练样本在高维特征空间中的两两内积。</a:t>
                </a:r>
              </a:p>
              <a:p>
                <a:pPr>
                  <a:lnSpc>
                    <a:spcPct val="110000"/>
                  </a:lnSpc>
                </a:pPr>
                <a:r>
                  <a:rPr lang="ja-JP" altLang="ja-JP" dirty="0"/>
                  <a:t>很多核方法最终都只需要这个核矩阵，而不需要显式知道 </a:t>
                </a:r>
                <a14:m>
                  <m:oMath xmlns:m="http://schemas.openxmlformats.org/officeDocument/2006/math">
                    <m:r>
                      <a:rPr lang="ja-JP" altLang="en-US" i="1"/>
                      <m:t>𝜙</m:t>
                    </m:r>
                    <m:d>
                      <m:dPr>
                        <m:ctrlPr>
                          <a:rPr lang="ja-JP" altLang="en-US" i="1"/>
                        </m:ctrlPr>
                      </m:dPr>
                      <m:e>
                        <m:r>
                          <a:rPr lang="ja-JP" altLang="en-US" i="1"/>
                          <m:t>𝑥</m:t>
                        </m:r>
                      </m:e>
                    </m:d>
                  </m:oMath>
                </a14:m>
                <a:r>
                  <a:rPr lang="ja-JP" altLang="ja-JP" dirty="0"/>
                  <a:t>。</a:t>
                </a:r>
              </a:p>
              <a:p>
                <a:pPr marL="0" indent="0">
                  <a:lnSpc>
                    <a:spcPct val="110000"/>
                  </a:lnSpc>
                  <a:buNone/>
                </a:pPr>
                <a:endParaRPr lang="ja-JP" altLang="ja-JP" dirty="0"/>
              </a:p>
              <a:p>
                <a:pPr marL="0" indent="0">
                  <a:lnSpc>
                    <a:spcPct val="11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25749044-2248-6ED2-1E13-D1DF2BBF9F24}"/>
                  </a:ext>
                </a:extLst>
              </p:cNvPr>
              <p:cNvSpPr>
                <a:spLocks noGrp="1" noRot="1" noChangeAspect="1" noMove="1" noResize="1" noEditPoints="1" noAdjustHandles="1" noChangeArrowheads="1" noChangeShapeType="1" noTextEdit="1"/>
              </p:cNvSpPr>
              <p:nvPr>
                <p:ph idx="1"/>
              </p:nvPr>
            </p:nvSpPr>
            <p:spPr>
              <a:xfrm>
                <a:off x="157480" y="1162878"/>
                <a:ext cx="11877040" cy="5268402"/>
              </a:xfrm>
              <a:blipFill>
                <a:blip r:embed="rId3"/>
                <a:stretch>
                  <a:fillRect l="-565" t="-1620" b="-8449"/>
                </a:stretch>
              </a:blipFill>
            </p:spPr>
            <p:txBody>
              <a:bodyPr/>
              <a:lstStyle/>
              <a:p>
                <a:r>
                  <a:rPr lang="ja-JP" altLang="en-US">
                    <a:noFill/>
                  </a:rPr>
                  <a:t> </a:t>
                </a:r>
              </a:p>
            </p:txBody>
          </p:sp>
        </mc:Fallback>
      </mc:AlternateContent>
      <p:pic>
        <p:nvPicPr>
          <p:cNvPr id="3" name="図 2">
            <a:extLst>
              <a:ext uri="{FF2B5EF4-FFF2-40B4-BE49-F238E27FC236}">
                <a16:creationId xmlns:a16="http://schemas.microsoft.com/office/drawing/2014/main" id="{5C13BA3B-BC3C-7434-682D-314794C858BD}"/>
              </a:ext>
            </a:extLst>
          </p:cNvPr>
          <p:cNvPicPr>
            <a:picLocks noChangeAspect="1"/>
          </p:cNvPicPr>
          <p:nvPr/>
        </p:nvPicPr>
        <p:blipFill>
          <a:blip r:embed="rId4"/>
          <a:stretch>
            <a:fillRect/>
          </a:stretch>
        </p:blipFill>
        <p:spPr>
          <a:xfrm>
            <a:off x="2965630" y="4115499"/>
            <a:ext cx="5224907" cy="1579623"/>
          </a:xfrm>
          <a:prstGeom prst="rect">
            <a:avLst/>
          </a:prstGeom>
        </p:spPr>
      </p:pic>
    </p:spTree>
    <p:extLst>
      <p:ext uri="{BB962C8B-B14F-4D97-AF65-F5344CB8AC3E}">
        <p14:creationId xmlns:p14="http://schemas.microsoft.com/office/powerpoint/2010/main" val="25667201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79484-2767-9689-B5C1-64F2BDEBD67E}"/>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503C1856-DCFF-3543-E8CA-2626FF3DE358}"/>
              </a:ext>
            </a:extLst>
          </p:cNvPr>
          <p:cNvSpPr>
            <a:spLocks noGrp="1" noChangeArrowheads="1"/>
          </p:cNvSpPr>
          <p:nvPr>
            <p:ph type="title"/>
          </p:nvPr>
        </p:nvSpPr>
        <p:spPr/>
        <p:txBody>
          <a:bodyPr/>
          <a:lstStyle/>
          <a:p>
            <a:r>
              <a:rPr lang="ja-JP" altLang="ja-JP" b="1" dirty="0"/>
              <a:t>常见核函数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B51BF127-50F4-AE74-5557-A2E4A21F1C29}"/>
                  </a:ext>
                </a:extLst>
              </p:cNvPr>
              <p:cNvSpPr>
                <a:spLocks noGrp="1"/>
              </p:cNvSpPr>
              <p:nvPr>
                <p:ph idx="1"/>
              </p:nvPr>
            </p:nvSpPr>
            <p:spPr>
              <a:xfrm>
                <a:off x="157480" y="1162878"/>
                <a:ext cx="11877040" cy="5268402"/>
              </a:xfrm>
            </p:spPr>
            <p:txBody>
              <a:bodyPr/>
              <a:lstStyle/>
              <a:p>
                <a:pPr marL="0" indent="0">
                  <a:lnSpc>
                    <a:spcPct val="120000"/>
                  </a:lnSpc>
                  <a:buNone/>
                </a:pPr>
                <a:r>
                  <a:rPr lang="ja-JP" altLang="ja-JP" dirty="0"/>
                  <a:t>常见的核函数包括：</a:t>
                </a:r>
                <a:endParaRPr lang="en-US" altLang="ja-JP" dirty="0"/>
              </a:p>
              <a:p>
                <a:pPr>
                  <a:lnSpc>
                    <a:spcPct val="120000"/>
                  </a:lnSpc>
                </a:pPr>
                <a:r>
                  <a:rPr lang="ja-JP" altLang="ja-JP" b="1" dirty="0"/>
                  <a:t>线性核</a:t>
                </a:r>
                <a:r>
                  <a:rPr lang="ja-JP" altLang="en-US" b="1" dirty="0"/>
                  <a:t>：</a:t>
                </a:r>
                <a:r>
                  <a:rPr lang="en-US" altLang="ja-JP" b="1" dirty="0"/>
                  <a:t> </a:t>
                </a:r>
                <a14:m>
                  <m:oMath xmlns:m="http://schemas.openxmlformats.org/officeDocument/2006/math">
                    <m:r>
                      <a:rPr lang="ja-JP" altLang="en-US" i="1"/>
                      <m:t>𝑘</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sSup>
                      <m:sSupPr>
                        <m:ctrlPr>
                          <a:rPr lang="ja-JP" altLang="en-US" i="1"/>
                        </m:ctrlPr>
                      </m:sSupPr>
                      <m:e>
                        <m:r>
                          <a:rPr lang="ja-JP" altLang="en-US" i="1"/>
                          <m:t>𝑥</m:t>
                        </m:r>
                      </m:e>
                      <m:sup>
                        <m:r>
                          <a:rPr lang="ja-JP" altLang="en-US"/>
                          <m:t>⊤</m:t>
                        </m:r>
                      </m:sup>
                    </m:sSup>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r>
                      <a:rPr lang="en-US" altLang="ja-JP"/>
                      <m:t>.</m:t>
                    </m:r>
                  </m:oMath>
                </a14:m>
                <a:r>
                  <a:rPr lang="en-US" altLang="ja-JP" dirty="0"/>
                  <a:t> </a:t>
                </a:r>
                <a:r>
                  <a:rPr lang="ja-JP" altLang="ja-JP" dirty="0"/>
                  <a:t>这对应于没有真正升维，仍然是在原始空间做线性学习。</a:t>
                </a:r>
              </a:p>
              <a:p>
                <a:pPr>
                  <a:lnSpc>
                    <a:spcPct val="120000"/>
                  </a:lnSpc>
                </a:pPr>
                <a:r>
                  <a:rPr lang="ja-JP" altLang="ja-JP" b="1" dirty="0"/>
                  <a:t>多项式核</a:t>
                </a:r>
                <a:r>
                  <a:rPr lang="ja-JP" altLang="en-US" b="1" dirty="0"/>
                  <a:t>：</a:t>
                </a:r>
                <a14:m>
                  <m:oMath xmlns:m="http://schemas.openxmlformats.org/officeDocument/2006/math">
                    <m:r>
                      <a:rPr lang="ja-JP" altLang="en-US" i="1"/>
                      <m:t>𝑘</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sSup>
                      <m:sSupPr>
                        <m:ctrlPr>
                          <a:rPr lang="ja-JP" altLang="en-US" i="1"/>
                        </m:ctrlPr>
                      </m:sSupPr>
                      <m:e>
                        <m:d>
                          <m:dPr>
                            <m:ctrlPr>
                              <a:rPr lang="ja-JP" altLang="en-US" i="1"/>
                            </m:ctrlPr>
                          </m:dPr>
                          <m:e>
                            <m:sSup>
                              <m:sSupPr>
                                <m:ctrlPr>
                                  <a:rPr lang="ja-JP" altLang="en-US" i="1"/>
                                </m:ctrlPr>
                              </m:sSupPr>
                              <m:e>
                                <m:r>
                                  <a:rPr lang="ja-JP" altLang="en-US" i="1"/>
                                  <m:t>𝑥</m:t>
                                </m:r>
                              </m:e>
                              <m:sup>
                                <m:r>
                                  <a:rPr lang="ja-JP" altLang="en-US"/>
                                  <m:t>⊤</m:t>
                                </m:r>
                              </m:sup>
                            </m:sSup>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r>
                              <a:rPr lang="en-US" altLang="ja-JP"/>
                              <m:t>+</m:t>
                            </m:r>
                            <m:r>
                              <a:rPr lang="ja-JP" altLang="en-US" i="1"/>
                              <m:t>𝑐</m:t>
                            </m:r>
                          </m:e>
                        </m:d>
                      </m:e>
                      <m:sup>
                        <m:r>
                          <a:rPr lang="ja-JP" altLang="en-US" i="1"/>
                          <m:t>𝑑</m:t>
                        </m:r>
                      </m:sup>
                    </m:sSup>
                    <m:r>
                      <a:rPr lang="en-US" altLang="ja-JP"/>
                      <m:t>.</m:t>
                    </m:r>
                  </m:oMath>
                </a14:m>
                <a:r>
                  <a:rPr lang="ja-JP" altLang="en-US" dirty="0"/>
                  <a:t>　</a:t>
                </a:r>
                <a:r>
                  <a:rPr lang="ja-JP" altLang="ja-JP" dirty="0"/>
                  <a:t>它对应于把输入映射到包含多项式特征的高维空间。</a:t>
                </a:r>
              </a:p>
              <a:p>
                <a:pPr>
                  <a:lnSpc>
                    <a:spcPct val="120000"/>
                  </a:lnSpc>
                </a:pPr>
                <a:r>
                  <a:rPr lang="ja-JP" altLang="ja-JP" b="1" dirty="0"/>
                  <a:t>高斯核 / RBF 核</a:t>
                </a:r>
                <a:r>
                  <a:rPr lang="ja-JP" altLang="en-US" b="1" dirty="0"/>
                  <a:t>：</a:t>
                </a:r>
                <a14:m>
                  <m:oMath xmlns:m="http://schemas.openxmlformats.org/officeDocument/2006/math">
                    <m:r>
                      <a:rPr lang="ja-JP" altLang="en-US" i="1"/>
                      <m:t>𝑘</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func>
                      <m:funcPr>
                        <m:ctrlPr>
                          <a:rPr lang="ja-JP" altLang="en-US" i="1"/>
                        </m:ctrlPr>
                      </m:funcPr>
                      <m:fName>
                        <m:r>
                          <m:rPr>
                            <m:sty m:val="p"/>
                          </m:rPr>
                          <a:rPr lang="en-US" altLang="ja-JP"/>
                          <m:t>exp</m:t>
                        </m:r>
                      </m:fName>
                      <m:e>
                        <m:d>
                          <m:dPr>
                            <m:ctrlPr>
                              <a:rPr lang="ja-JP" altLang="en-US" i="1"/>
                            </m:ctrlPr>
                          </m:dPr>
                          <m:e>
                            <m:r>
                              <a:rPr lang="ja-JP" altLang="en-US"/>
                              <m:t>−</m:t>
                            </m:r>
                            <m:f>
                              <m:fPr>
                                <m:ctrlPr>
                                  <a:rPr lang="ja-JP" altLang="en-US" i="1"/>
                                </m:ctrlPr>
                              </m:fPr>
                              <m:num>
                                <m:r>
                                  <a:rPr lang="ja-JP" altLang="en-US"/>
                                  <m:t>∥</m:t>
                                </m:r>
                                <m:r>
                                  <a:rPr lang="ja-JP" altLang="en-US" i="1"/>
                                  <m:t>𝑥</m:t>
                                </m:r>
                                <m:r>
                                  <a:rPr lang="ja-JP" altLang="en-US"/>
                                  <m:t>−</m:t>
                                </m:r>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sSup>
                                  <m:sSupPr>
                                    <m:ctrlPr>
                                      <a:rPr lang="ja-JP" altLang="en-US" i="1"/>
                                    </m:ctrlPr>
                                  </m:sSupPr>
                                  <m:e>
                                    <m:r>
                                      <a:rPr lang="ja-JP" altLang="en-US"/>
                                      <m:t>∥</m:t>
                                    </m:r>
                                  </m:e>
                                  <m:sup>
                                    <m:r>
                                      <a:rPr lang="en-US" altLang="ja-JP"/>
                                      <m:t>2</m:t>
                                    </m:r>
                                  </m:sup>
                                </m:sSup>
                              </m:num>
                              <m:den>
                                <m:r>
                                  <a:rPr lang="en-US" altLang="ja-JP"/>
                                  <m:t>2</m:t>
                                </m:r>
                                <m:sSup>
                                  <m:sSupPr>
                                    <m:ctrlPr>
                                      <a:rPr lang="ja-JP" altLang="en-US" i="1"/>
                                    </m:ctrlPr>
                                  </m:sSupPr>
                                  <m:e>
                                    <m:r>
                                      <a:rPr lang="ja-JP" altLang="en-US" i="1"/>
                                      <m:t>𝜎</m:t>
                                    </m:r>
                                  </m:e>
                                  <m:sup>
                                    <m:r>
                                      <a:rPr lang="en-US" altLang="ja-JP"/>
                                      <m:t>2</m:t>
                                    </m:r>
                                  </m:sup>
                                </m:sSup>
                              </m:den>
                            </m:f>
                          </m:e>
                        </m:d>
                      </m:e>
                    </m:func>
                    <m:r>
                      <a:rPr lang="en-US" altLang="ja-JP"/>
                      <m:t>.</m:t>
                    </m:r>
                    <m:r>
                      <a:rPr lang="ja-JP" altLang="en-US" i="1">
                        <a:latin typeface="Cambria Math" panose="02040503050406030204" pitchFamily="18" charset="0"/>
                      </a:rPr>
                      <m:t>　</m:t>
                    </m:r>
                  </m:oMath>
                </a14:m>
                <a:r>
                  <a:rPr lang="ja-JP" altLang="ja-JP" dirty="0"/>
                  <a:t>它衡量两个点的距离远近。如果 </a:t>
                </a:r>
                <a14:m>
                  <m:oMath xmlns:m="http://schemas.openxmlformats.org/officeDocument/2006/math">
                    <m:r>
                      <a:rPr lang="ja-JP" altLang="en-US" i="1"/>
                      <m:t>𝑥</m:t>
                    </m:r>
                  </m:oMath>
                </a14:m>
                <a:r>
                  <a:rPr lang="ja-JP" altLang="ja-JP" dirty="0"/>
                  <a:t>和 </a:t>
                </a:r>
                <a14:m>
                  <m:oMath xmlns:m="http://schemas.openxmlformats.org/officeDocument/2006/math">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oMath>
                </a14:m>
                <a:r>
                  <a:rPr lang="ja-JP" altLang="ja-JP" dirty="0"/>
                  <a:t>很接近，则</a:t>
                </a:r>
                <a14:m>
                  <m:oMath xmlns:m="http://schemas.openxmlformats.org/officeDocument/2006/math">
                    <m:r>
                      <a:rPr lang="ja-JP" altLang="en-US" i="1"/>
                      <m:t>𝑘</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oMath>
                </a14:m>
                <a:r>
                  <a:rPr lang="ja-JP" altLang="ja-JP" dirty="0"/>
                  <a:t>接近 1；如果它们距离很远，则</a:t>
                </a:r>
                <a14:m>
                  <m:oMath xmlns:m="http://schemas.openxmlformats.org/officeDocument/2006/math">
                    <m:r>
                      <a:rPr lang="ja-JP" altLang="en-US" i="1"/>
                      <m:t>𝑘</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oMath>
                </a14:m>
                <a:r>
                  <a:rPr lang="ja-JP" altLang="ja-JP" dirty="0"/>
                  <a:t>接近 0。高斯核非常常用，可以表达复杂的非线性关系</a:t>
                </a:r>
                <a:endParaRPr lang="en-US" altLang="ja-JP" dirty="0"/>
              </a:p>
              <a:p>
                <a:pPr marL="0" indent="0">
                  <a:lnSpc>
                    <a:spcPct val="120000"/>
                  </a:lnSpc>
                  <a:buNone/>
                </a:pPr>
                <a:endParaRPr lang="en-US" altLang="ja-JP" dirty="0"/>
              </a:p>
              <a:p>
                <a:pPr marL="0" indent="0">
                  <a:lnSpc>
                    <a:spcPct val="120000"/>
                  </a:lnSpc>
                  <a:buNone/>
                </a:pPr>
                <a:r>
                  <a:rPr lang="ja-JP" altLang="ja-JP" dirty="0"/>
                  <a:t>以支持向量机 SVM 为例。线性 SVM 在原始空间中寻找一个超平面：</a:t>
                </a:r>
                <a14:m>
                  <m:oMath xmlns:m="http://schemas.openxmlformats.org/officeDocument/2006/math">
                    <m:sSup>
                      <m:sSupPr>
                        <m:ctrlPr>
                          <a:rPr lang="ja-JP" altLang="en-US"/>
                        </m:ctrlPr>
                      </m:sSupPr>
                      <m:e>
                        <m:r>
                          <a:rPr lang="ja-JP" altLang="en-US" i="1"/>
                          <m:t>𝑤</m:t>
                        </m:r>
                      </m:e>
                      <m:sup>
                        <m:r>
                          <a:rPr lang="ja-JP" altLang="en-US"/>
                          <m:t>⊤</m:t>
                        </m:r>
                      </m:sup>
                    </m:sSup>
                    <m:r>
                      <a:rPr lang="ja-JP" altLang="en-US" i="1"/>
                      <m:t>𝑥</m:t>
                    </m:r>
                    <m:r>
                      <a:rPr lang="en-US" altLang="ja-JP"/>
                      <m:t>+</m:t>
                    </m:r>
                    <m:r>
                      <a:rPr lang="ja-JP" altLang="en-US" i="1"/>
                      <m:t>𝑏</m:t>
                    </m:r>
                    <m:r>
                      <a:rPr lang="en-US" altLang="ja-JP"/>
                      <m:t>=0.</m:t>
                    </m:r>
                  </m:oMath>
                </a14:m>
                <a:endParaRPr lang="en-US" altLang="ja-JP" dirty="0"/>
              </a:p>
              <a:p>
                <a:pPr>
                  <a:lnSpc>
                    <a:spcPct val="120000"/>
                  </a:lnSpc>
                </a:pPr>
                <a:r>
                  <a:rPr lang="ja-JP" altLang="ja-JP" dirty="0"/>
                  <a:t>如果数据不是线性可分的，可以先映射到高维空间：</a:t>
                </a:r>
                <a14:m>
                  <m:oMath xmlns:m="http://schemas.openxmlformats.org/officeDocument/2006/math">
                    <m:r>
                      <a:rPr lang="ja-JP" altLang="en-US" i="1"/>
                      <m:t>𝜙</m:t>
                    </m:r>
                    <m:d>
                      <m:dPr>
                        <m:ctrlPr>
                          <a:rPr lang="ja-JP" altLang="en-US" i="1"/>
                        </m:ctrlPr>
                      </m:dPr>
                      <m:e>
                        <m:r>
                          <a:rPr lang="ja-JP" altLang="en-US" i="1"/>
                          <m:t>𝑥</m:t>
                        </m:r>
                      </m:e>
                    </m:d>
                    <m:r>
                      <a:rPr lang="en-US" altLang="ja-JP"/>
                      <m:t>,</m:t>
                    </m:r>
                  </m:oMath>
                </a14:m>
                <a:r>
                  <a:rPr lang="ja-JP" altLang="en-US" dirty="0"/>
                  <a:t>　</a:t>
                </a:r>
                <a:r>
                  <a:rPr lang="ja-JP" altLang="ja-JP" dirty="0"/>
                  <a:t>然后在高维空间中寻找线性分类面：</a:t>
                </a:r>
                <a:endParaRPr lang="en-US" altLang="ja-JP" dirty="0"/>
              </a:p>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ja-JP" altLang="en-US"/>
                          </m:ctrlPr>
                        </m:sSubPr>
                        <m:e>
                          <m:d>
                            <m:dPr>
                              <m:begChr m:val="⟨"/>
                              <m:endChr m:val="⟩"/>
                              <m:sepChr m:val=","/>
                              <m:ctrlPr>
                                <a:rPr lang="ja-JP" altLang="en-US"/>
                              </m:ctrlPr>
                            </m:dPr>
                            <m:e>
                              <m:r>
                                <a:rPr lang="ja-JP" altLang="en-US" i="1"/>
                                <m:t>𝑤</m:t>
                              </m:r>
                            </m:e>
                            <m:e>
                              <m:r>
                                <a:rPr lang="ja-JP" altLang="en-US" i="1"/>
                                <m:t>𝜙</m:t>
                              </m:r>
                              <m:d>
                                <m:dPr>
                                  <m:ctrlPr>
                                    <a:rPr lang="ja-JP" altLang="en-US" i="1"/>
                                  </m:ctrlPr>
                                </m:dPr>
                                <m:e>
                                  <m:r>
                                    <a:rPr lang="ja-JP" altLang="en-US" i="1"/>
                                    <m:t>𝑥</m:t>
                                  </m:r>
                                </m:e>
                              </m:d>
                            </m:e>
                          </m:d>
                        </m:e>
                        <m:sub>
                          <m:r>
                            <a:rPr lang="en-US" altLang="ja-JP"/>
                            <m:t>ℋ</m:t>
                          </m:r>
                        </m:sub>
                      </m:sSub>
                      <m:r>
                        <a:rPr lang="en-US" altLang="ja-JP"/>
                        <m:t>+</m:t>
                      </m:r>
                      <m:r>
                        <a:rPr lang="ja-JP" altLang="en-US" i="1"/>
                        <m:t>𝑏</m:t>
                      </m:r>
                      <m:r>
                        <a:rPr lang="en-US" altLang="ja-JP"/>
                        <m:t>=0.</m:t>
                      </m:r>
                    </m:oMath>
                  </m:oMathPara>
                </a14:m>
                <a:endParaRPr lang="en-US" altLang="ja-JP" dirty="0"/>
              </a:p>
              <a:p>
                <a:pPr marL="0" indent="0">
                  <a:lnSpc>
                    <a:spcPct val="120000"/>
                  </a:lnSpc>
                  <a:buNone/>
                </a:pPr>
                <a:r>
                  <a:rPr lang="ja-JP" altLang="ja-JP" dirty="0"/>
                  <a:t>但是通过核方法不需要显式计算 </a:t>
                </a:r>
                <a14:m>
                  <m:oMath xmlns:m="http://schemas.openxmlformats.org/officeDocument/2006/math">
                    <m:r>
                      <a:rPr lang="ja-JP" altLang="en-US" i="1"/>
                      <m:t>𝜙</m:t>
                    </m:r>
                    <m:d>
                      <m:dPr>
                        <m:ctrlPr>
                          <a:rPr lang="ja-JP" altLang="en-US" i="1"/>
                        </m:ctrlPr>
                      </m:dPr>
                      <m:e>
                        <m:r>
                          <a:rPr lang="ja-JP" altLang="en-US" i="1"/>
                          <m:t>𝑥</m:t>
                        </m:r>
                      </m:e>
                    </m:d>
                  </m:oMath>
                </a14:m>
                <a:r>
                  <a:rPr lang="ja-JP" altLang="ja-JP" dirty="0"/>
                  <a:t>，只需要使用</a:t>
                </a:r>
                <a14:m>
                  <m:oMath xmlns:m="http://schemas.openxmlformats.org/officeDocument/2006/math">
                    <m:r>
                      <a:rPr lang="ja-JP" altLang="en-US" i="1"/>
                      <m:t>𝑘</m:t>
                    </m:r>
                    <m:d>
                      <m:dPr>
                        <m:sepChr m:val=","/>
                        <m:ctrlPr>
                          <a:rPr lang="ja-JP" altLang="en-US" i="1"/>
                        </m:ctrlPr>
                      </m:dPr>
                      <m:e>
                        <m:sSub>
                          <m:sSubPr>
                            <m:ctrlPr>
                              <a:rPr lang="ja-JP" altLang="en-US" i="1"/>
                            </m:ctrlPr>
                          </m:sSubPr>
                          <m:e>
                            <m:r>
                              <a:rPr lang="ja-JP" altLang="en-US" i="1"/>
                              <m:t>𝑥</m:t>
                            </m:r>
                          </m:e>
                          <m:sub>
                            <m:r>
                              <a:rPr lang="ja-JP" altLang="en-US" i="1"/>
                              <m:t>𝑖</m:t>
                            </m:r>
                          </m:sub>
                        </m:sSub>
                      </m:e>
                      <m:e>
                        <m:sSub>
                          <m:sSubPr>
                            <m:ctrlPr>
                              <a:rPr lang="ja-JP" altLang="en-US" i="1"/>
                            </m:ctrlPr>
                          </m:sSubPr>
                          <m:e>
                            <m:r>
                              <a:rPr lang="ja-JP" altLang="en-US" i="1"/>
                              <m:t>𝑥</m:t>
                            </m:r>
                          </m:e>
                          <m:sub>
                            <m:r>
                              <a:rPr lang="ja-JP" altLang="en-US" i="1"/>
                              <m:t>𝑗</m:t>
                            </m:r>
                          </m:sub>
                        </m:sSub>
                      </m:e>
                    </m:d>
                    <m:r>
                      <a:rPr lang="en-US" altLang="ja-JP"/>
                      <m:t>=</m:t>
                    </m:r>
                    <m:sSub>
                      <m:sSubPr>
                        <m:ctrlPr>
                          <a:rPr lang="ja-JP" altLang="en-US" i="1"/>
                        </m:ctrlPr>
                      </m:sSubPr>
                      <m:e>
                        <m:d>
                          <m:dPr>
                            <m:begChr m:val="⟨"/>
                            <m:endChr m:val="⟩"/>
                            <m:sepChr m:val=","/>
                            <m:ctrlPr>
                              <a:rPr lang="ja-JP" altLang="en-US" i="1"/>
                            </m:ctrlPr>
                          </m:dPr>
                          <m:e>
                            <m:r>
                              <a:rPr lang="ja-JP" altLang="en-US" i="1"/>
                              <m:t>𝜙</m:t>
                            </m:r>
                            <m:d>
                              <m:dPr>
                                <m:ctrlPr>
                                  <a:rPr lang="ja-JP" altLang="en-US" i="1">
                                    <a:latin typeface="Cambria Math" panose="02040503050406030204" pitchFamily="18" charset="0"/>
                                  </a:rPr>
                                </m:ctrlPr>
                              </m:dPr>
                              <m:e>
                                <m:sSub>
                                  <m:sSubPr>
                                    <m:ctrlPr>
                                      <a:rPr lang="ja-JP" altLang="en-US" i="1">
                                        <a:latin typeface="Cambria Math" panose="02040503050406030204" pitchFamily="18" charset="0"/>
                                      </a:rPr>
                                    </m:ctrlPr>
                                  </m:sSubPr>
                                  <m:e>
                                    <m:r>
                                      <a:rPr lang="ja-JP" altLang="en-US" i="1">
                                        <a:latin typeface="Cambria Math" panose="02040503050406030204" pitchFamily="18" charset="0"/>
                                      </a:rPr>
                                      <m:t>𝑥</m:t>
                                    </m:r>
                                  </m:e>
                                  <m:sub>
                                    <m:r>
                                      <a:rPr lang="ja-JP" altLang="en-US" i="1">
                                        <a:latin typeface="Cambria Math" panose="02040503050406030204" pitchFamily="18" charset="0"/>
                                      </a:rPr>
                                      <m:t>𝑖</m:t>
                                    </m:r>
                                  </m:sub>
                                </m:sSub>
                              </m:e>
                            </m:d>
                          </m:e>
                          <m:e>
                            <m:r>
                              <a:rPr lang="ja-JP" altLang="en-US" i="1"/>
                              <m:t>𝜙</m:t>
                            </m:r>
                            <m:d>
                              <m:dPr>
                                <m:ctrlPr>
                                  <a:rPr lang="ja-JP" altLang="en-US" i="1"/>
                                </m:ctrlPr>
                              </m:dPr>
                              <m:e>
                                <m:sSub>
                                  <m:sSubPr>
                                    <m:ctrlPr>
                                      <a:rPr lang="ja-JP" altLang="en-US" i="1"/>
                                    </m:ctrlPr>
                                  </m:sSubPr>
                                  <m:e>
                                    <m:r>
                                      <a:rPr lang="ja-JP" altLang="en-US" i="1"/>
                                      <m:t>𝑥</m:t>
                                    </m:r>
                                  </m:e>
                                  <m:sub>
                                    <m:r>
                                      <a:rPr lang="ja-JP" altLang="en-US" i="1"/>
                                      <m:t>𝑗</m:t>
                                    </m:r>
                                  </m:sub>
                                </m:sSub>
                              </m:e>
                            </m:d>
                          </m:e>
                        </m:d>
                      </m:e>
                      <m:sub>
                        <m:r>
                          <a:rPr lang="en-US" altLang="ja-JP"/>
                          <m:t>ℋ</m:t>
                        </m:r>
                      </m:sub>
                    </m:sSub>
                    <m:r>
                      <a:rPr lang="en-US" altLang="ja-JP"/>
                      <m:t>.</m:t>
                    </m:r>
                  </m:oMath>
                </a14:m>
                <a:endParaRPr lang="en-US" altLang="ja-JP" dirty="0"/>
              </a:p>
              <a:p>
                <a:pPr marL="0" indent="0">
                  <a:lnSpc>
                    <a:spcPct val="120000"/>
                  </a:lnSpc>
                  <a:buNone/>
                </a:pPr>
                <a:r>
                  <a:rPr lang="ja-JP" altLang="ja-JP" dirty="0"/>
                  <a:t>因此，核 SVM 的本质是：</a:t>
                </a:r>
                <a:r>
                  <a:rPr lang="ja-JP" altLang="ja-JP" b="1" dirty="0"/>
                  <a:t>在高维特征空间中做线性分类，但在计算上只使用核函数。</a:t>
                </a:r>
                <a:r>
                  <a:rPr lang="ja-JP" altLang="ja-JP" dirty="0"/>
                  <a:t>从原始空间看，这对应于一个非线性分类边界。</a:t>
                </a:r>
              </a:p>
              <a:p>
                <a:pPr marL="0" indent="0">
                  <a:lnSpc>
                    <a:spcPct val="12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B51BF127-50F4-AE74-5557-A2E4A21F1C29}"/>
                  </a:ext>
                </a:extLst>
              </p:cNvPr>
              <p:cNvSpPr>
                <a:spLocks noGrp="1" noRot="1" noChangeAspect="1" noMove="1" noResize="1" noEditPoints="1" noAdjustHandles="1" noChangeArrowheads="1" noChangeShapeType="1" noTextEdit="1"/>
              </p:cNvSpPr>
              <p:nvPr>
                <p:ph idx="1"/>
              </p:nvPr>
            </p:nvSpPr>
            <p:spPr>
              <a:xfrm>
                <a:off x="157480" y="1162878"/>
                <a:ext cx="11877040" cy="5268402"/>
              </a:xfrm>
              <a:blipFill>
                <a:blip r:embed="rId3"/>
                <a:stretch>
                  <a:fillRect l="-565" t="-463" r="-513" b="-416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14624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91F8A-2369-2F59-6C14-B3A9E295AFE6}"/>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93F8EB05-F0D2-68AA-EEBF-87C7E89AD2B0}"/>
              </a:ext>
            </a:extLst>
          </p:cNvPr>
          <p:cNvSpPr>
            <a:spLocks noGrp="1" noChangeArrowheads="1"/>
          </p:cNvSpPr>
          <p:nvPr>
            <p:ph type="title"/>
          </p:nvPr>
        </p:nvSpPr>
        <p:spPr/>
        <p:txBody>
          <a:bodyPr/>
          <a:lstStyle/>
          <a:p>
            <a:r>
              <a:rPr lang="zh-CN" altLang="en-US" b="1" dirty="0"/>
              <a:t>核函数在</a:t>
            </a:r>
            <a:r>
              <a:rPr lang="ja-JP" altLang="ja-JP" b="1" dirty="0"/>
              <a:t>核回归中的含义</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4DBD6F54-BA9A-D3B5-C7F5-93F760FE2DE9}"/>
                  </a:ext>
                </a:extLst>
              </p:cNvPr>
              <p:cNvSpPr>
                <a:spLocks noGrp="1"/>
              </p:cNvSpPr>
              <p:nvPr>
                <p:ph idx="1"/>
              </p:nvPr>
            </p:nvSpPr>
            <p:spPr>
              <a:xfrm>
                <a:off x="157480" y="1162878"/>
                <a:ext cx="11877040" cy="5268402"/>
              </a:xfrm>
            </p:spPr>
            <p:txBody>
              <a:bodyPr/>
              <a:lstStyle/>
              <a:p>
                <a:pPr marL="0" indent="0">
                  <a:lnSpc>
                    <a:spcPct val="110000"/>
                  </a:lnSpc>
                  <a:buNone/>
                </a:pPr>
                <a:r>
                  <a:rPr lang="ja-JP" altLang="ja-JP" dirty="0"/>
                  <a:t>在核回归中，想从数据</a:t>
                </a:r>
                <a14:m>
                  <m:oMath xmlns:m="http://schemas.openxmlformats.org/officeDocument/2006/math">
                    <m:d>
                      <m:dPr>
                        <m:sepChr m:val=","/>
                        <m:ctrlPr>
                          <a:rPr lang="ja-JP" altLang="en-US"/>
                        </m:ctrlPr>
                      </m:dPr>
                      <m:e>
                        <m:sSub>
                          <m:sSubPr>
                            <m:ctrlPr>
                              <a:rPr lang="ja-JP" altLang="en-US" i="1"/>
                            </m:ctrlPr>
                          </m:sSubPr>
                          <m:e>
                            <m:r>
                              <a:rPr lang="ja-JP" altLang="en-US" i="1"/>
                              <m:t>𝑥</m:t>
                            </m:r>
                          </m:e>
                          <m:sub>
                            <m:r>
                              <a:rPr lang="en-US" altLang="ja-JP"/>
                              <m:t>1</m:t>
                            </m:r>
                          </m:sub>
                        </m:sSub>
                      </m:e>
                      <m:e>
                        <m:sSub>
                          <m:sSubPr>
                            <m:ctrlPr>
                              <a:rPr lang="ja-JP" altLang="en-US" i="1"/>
                            </m:ctrlPr>
                          </m:sSubPr>
                          <m:e>
                            <m:r>
                              <a:rPr lang="ja-JP" altLang="en-US" i="1"/>
                              <m:t>𝑦</m:t>
                            </m:r>
                          </m:e>
                          <m:sub>
                            <m:r>
                              <a:rPr lang="en-US" altLang="ja-JP"/>
                              <m:t>1</m:t>
                            </m:r>
                          </m:sub>
                        </m:sSub>
                      </m:e>
                    </m:d>
                    <m:r>
                      <a:rPr lang="en-US" altLang="ja-JP"/>
                      <m:t>,…,</m:t>
                    </m:r>
                    <m:d>
                      <m:dPr>
                        <m:sepChr m:val=","/>
                        <m:ctrlPr>
                          <a:rPr lang="ja-JP" altLang="en-US" i="1"/>
                        </m:ctrlPr>
                      </m:dPr>
                      <m:e>
                        <m:sSub>
                          <m:sSubPr>
                            <m:ctrlPr>
                              <a:rPr lang="ja-JP" altLang="en-US" i="1"/>
                            </m:ctrlPr>
                          </m:sSubPr>
                          <m:e>
                            <m:r>
                              <a:rPr lang="ja-JP" altLang="en-US" i="1"/>
                              <m:t>𝑥</m:t>
                            </m:r>
                          </m:e>
                          <m:sub>
                            <m:r>
                              <a:rPr lang="ja-JP" altLang="en-US" i="1"/>
                              <m:t>𝑛</m:t>
                            </m:r>
                          </m:sub>
                        </m:sSub>
                      </m:e>
                      <m:e>
                        <m:sSub>
                          <m:sSubPr>
                            <m:ctrlPr>
                              <a:rPr lang="ja-JP" altLang="en-US" i="1"/>
                            </m:ctrlPr>
                          </m:sSubPr>
                          <m:e>
                            <m:r>
                              <a:rPr lang="ja-JP" altLang="en-US" i="1"/>
                              <m:t>𝑦</m:t>
                            </m:r>
                          </m:e>
                          <m:sub>
                            <m:r>
                              <a:rPr lang="ja-JP" altLang="en-US" i="1"/>
                              <m:t>𝑛</m:t>
                            </m:r>
                          </m:sub>
                        </m:sSub>
                      </m:e>
                    </m:d>
                  </m:oMath>
                </a14:m>
                <a:r>
                  <a:rPr lang="ja-JP" altLang="ja-JP" dirty="0"/>
                  <a:t>学习一个函数</a:t>
                </a:r>
                <a14:m>
                  <m:oMath xmlns:m="http://schemas.openxmlformats.org/officeDocument/2006/math">
                    <m:r>
                      <a:rPr lang="ja-JP" altLang="en-US" i="1"/>
                      <m:t>𝑓</m:t>
                    </m:r>
                    <m:d>
                      <m:dPr>
                        <m:ctrlPr>
                          <a:rPr lang="ja-JP" altLang="en-US" i="1"/>
                        </m:ctrlPr>
                      </m:dPr>
                      <m:e>
                        <m:r>
                          <a:rPr lang="ja-JP" altLang="en-US" i="1"/>
                          <m:t>𝑥</m:t>
                        </m:r>
                      </m:e>
                    </m:d>
                  </m:oMath>
                </a14:m>
                <a:r>
                  <a:rPr lang="ja-JP" altLang="ja-JP" dirty="0"/>
                  <a:t>来预测新的输入。</a:t>
                </a:r>
              </a:p>
              <a:p>
                <a:pPr>
                  <a:lnSpc>
                    <a:spcPct val="110000"/>
                  </a:lnSpc>
                </a:pPr>
                <a:r>
                  <a:rPr lang="ja-JP" altLang="ja-JP" dirty="0"/>
                  <a:t>据表示定理，函数写成：</a:t>
                </a:r>
                <a14:m>
                  <m:oMath xmlns:m="http://schemas.openxmlformats.org/officeDocument/2006/math">
                    <m:r>
                      <a:rPr lang="ja-JP" altLang="en-US" i="1"/>
                      <m:t>𝑓</m:t>
                    </m:r>
                    <m:d>
                      <m:dPr>
                        <m:ctrlPr>
                          <a:rPr lang="ja-JP" altLang="en-US" i="1"/>
                        </m:ctrlPr>
                      </m:dPr>
                      <m:e>
                        <m:r>
                          <a:rPr lang="ja-JP" altLang="en-US" i="1"/>
                          <m:t>𝑥</m:t>
                        </m:r>
                      </m:e>
                    </m:d>
                    <m:r>
                      <a:rPr lang="en-US" altLang="ja-JP"/>
                      <m:t>=</m:t>
                    </m:r>
                    <m:nary>
                      <m:naryPr>
                        <m:chr m:val="∑"/>
                        <m:grow m:val="on"/>
                        <m:ctrlPr>
                          <a:rPr lang="ja-JP" altLang="en-US" i="1"/>
                        </m:ctrlPr>
                      </m:naryPr>
                      <m:sub>
                        <m:r>
                          <a:rPr lang="ja-JP" altLang="en-US" i="1"/>
                          <m:t>𝑖</m:t>
                        </m:r>
                        <m:r>
                          <a:rPr lang="en-US" altLang="ja-JP"/>
                          <m:t>=1</m:t>
                        </m:r>
                      </m:sub>
                      <m:sup>
                        <m:r>
                          <a:rPr lang="ja-JP" altLang="en-US" i="1"/>
                          <m:t>𝑛</m:t>
                        </m:r>
                      </m:sup>
                      <m:e>
                        <m:sSub>
                          <m:sSubPr>
                            <m:ctrlPr>
                              <a:rPr lang="ja-JP" altLang="en-US" i="1"/>
                            </m:ctrlPr>
                          </m:sSubPr>
                          <m:e>
                            <m:r>
                              <a:rPr lang="ja-JP" altLang="en-US" i="1"/>
                              <m:t>𝛼</m:t>
                            </m:r>
                          </m:e>
                          <m:sub>
                            <m:r>
                              <a:rPr lang="ja-JP" altLang="en-US" i="1"/>
                              <m:t>𝑖</m:t>
                            </m:r>
                          </m:sub>
                        </m:sSub>
                      </m:e>
                    </m:nary>
                    <m:r>
                      <a:rPr lang="ja-JP" altLang="en-US" i="1"/>
                      <m:t>𝑘</m:t>
                    </m:r>
                    <m:d>
                      <m:dPr>
                        <m:sepChr m:val=","/>
                        <m:ctrlPr>
                          <a:rPr lang="ja-JP" altLang="en-US" i="1"/>
                        </m:ctrlPr>
                      </m:dPr>
                      <m:e>
                        <m:sSub>
                          <m:sSubPr>
                            <m:ctrlPr>
                              <a:rPr lang="ja-JP" altLang="en-US" i="1"/>
                            </m:ctrlPr>
                          </m:sSubPr>
                          <m:e>
                            <m:r>
                              <a:rPr lang="ja-JP" altLang="en-US" i="1"/>
                              <m:t>𝑥</m:t>
                            </m:r>
                          </m:e>
                          <m:sub>
                            <m:r>
                              <a:rPr lang="ja-JP" altLang="en-US" i="1"/>
                              <m:t>𝑖</m:t>
                            </m:r>
                          </m:sub>
                        </m:sSub>
                      </m:e>
                      <m:e>
                        <m:r>
                          <a:rPr lang="ja-JP" altLang="en-US" i="1"/>
                          <m:t>𝑥</m:t>
                        </m:r>
                      </m:e>
                    </m:d>
                    <m:r>
                      <a:rPr lang="en-US" altLang="ja-JP"/>
                      <m:t>.</m:t>
                    </m:r>
                  </m:oMath>
                </a14:m>
                <a:r>
                  <a:rPr lang="ja-JP" altLang="en-US" dirty="0"/>
                  <a:t>　</a:t>
                </a:r>
                <a:r>
                  <a:rPr lang="ja-JP" altLang="ja-JP" dirty="0"/>
                  <a:t>说明新点 </a:t>
                </a:r>
                <a14:m>
                  <m:oMath xmlns:m="http://schemas.openxmlformats.org/officeDocument/2006/math">
                    <m:r>
                      <a:rPr lang="ja-JP" altLang="en-US" i="1"/>
                      <m:t>𝑥</m:t>
                    </m:r>
                  </m:oMath>
                </a14:m>
                <a:r>
                  <a:rPr lang="ja-JP" altLang="ja-JP" dirty="0"/>
                  <a:t>的预测值由所有训练样本共同决定。</a:t>
                </a:r>
              </a:p>
              <a:p>
                <a:pPr>
                  <a:lnSpc>
                    <a:spcPct val="110000"/>
                  </a:lnSpc>
                </a:pPr>
                <a:r>
                  <a:rPr lang="ja-JP" altLang="ja-JP" dirty="0"/>
                  <a:t>其中</a:t>
                </a:r>
                <a14:m>
                  <m:oMath xmlns:m="http://schemas.openxmlformats.org/officeDocument/2006/math">
                    <m:r>
                      <a:rPr lang="ja-JP" altLang="en-US" i="1"/>
                      <m:t>𝑘</m:t>
                    </m:r>
                    <m:d>
                      <m:dPr>
                        <m:sepChr m:val=","/>
                        <m:ctrlPr>
                          <a:rPr lang="ja-JP" altLang="en-US" i="1"/>
                        </m:ctrlPr>
                      </m:dPr>
                      <m:e>
                        <m:sSub>
                          <m:sSubPr>
                            <m:ctrlPr>
                              <a:rPr lang="ja-JP" altLang="en-US" i="1"/>
                            </m:ctrlPr>
                          </m:sSubPr>
                          <m:e>
                            <m:r>
                              <a:rPr lang="ja-JP" altLang="en-US" i="1"/>
                              <m:t>𝑥</m:t>
                            </m:r>
                          </m:e>
                          <m:sub>
                            <m:r>
                              <a:rPr lang="ja-JP" altLang="en-US" i="1"/>
                              <m:t>𝑖</m:t>
                            </m:r>
                          </m:sub>
                        </m:sSub>
                      </m:e>
                      <m:e>
                        <m:r>
                          <a:rPr lang="ja-JP" altLang="en-US" i="1"/>
                          <m:t>𝑥</m:t>
                        </m:r>
                      </m:e>
                    </m:d>
                  </m:oMath>
                </a14:m>
                <a:r>
                  <a:rPr lang="ja-JP" altLang="ja-JP" dirty="0"/>
                  <a:t>表示训练样本 </a:t>
                </a:r>
                <a14:m>
                  <m:oMath xmlns:m="http://schemas.openxmlformats.org/officeDocument/2006/math">
                    <m:sSub>
                      <m:sSubPr>
                        <m:ctrlPr>
                          <a:rPr lang="ja-JP" altLang="en-US"/>
                        </m:ctrlPr>
                      </m:sSubPr>
                      <m:e>
                        <m:r>
                          <a:rPr lang="ja-JP" altLang="en-US" i="1"/>
                          <m:t>𝑥</m:t>
                        </m:r>
                      </m:e>
                      <m:sub>
                        <m:r>
                          <a:rPr lang="ja-JP" altLang="en-US" i="1"/>
                          <m:t>𝑖</m:t>
                        </m:r>
                      </m:sub>
                    </m:sSub>
                  </m:oMath>
                </a14:m>
                <a:r>
                  <a:rPr lang="ja-JP" altLang="ja-JP" dirty="0"/>
                  <a:t>和新样本 </a:t>
                </a:r>
                <a14:m>
                  <m:oMath xmlns:m="http://schemas.openxmlformats.org/officeDocument/2006/math">
                    <m:r>
                      <a:rPr lang="ja-JP" altLang="en-US" i="1"/>
                      <m:t>𝑥</m:t>
                    </m:r>
                  </m:oMath>
                </a14:m>
                <a:r>
                  <a:rPr lang="ja-JP" altLang="ja-JP" dirty="0"/>
                  <a:t>的相似度。如果某个训练样本与 </a:t>
                </a:r>
                <a14:m>
                  <m:oMath xmlns:m="http://schemas.openxmlformats.org/officeDocument/2006/math">
                    <m:r>
                      <a:rPr lang="ja-JP" altLang="en-US" i="1"/>
                      <m:t>𝑥</m:t>
                    </m:r>
                  </m:oMath>
                </a14:m>
                <a:r>
                  <a:rPr lang="ja-JP" altLang="ja-JP" dirty="0"/>
                  <a:t>很相似，它对预测结果的影响就更大。</a:t>
                </a:r>
                <a:endParaRPr lang="en-US" altLang="ja-JP" dirty="0"/>
              </a:p>
              <a:p>
                <a:pPr marL="0" indent="0">
                  <a:lnSpc>
                    <a:spcPct val="110000"/>
                  </a:lnSpc>
                  <a:buNone/>
                </a:pPr>
                <a:endParaRPr lang="en-US" altLang="ja-JP" dirty="0"/>
              </a:p>
              <a:p>
                <a:pPr marL="0" indent="0">
                  <a:lnSpc>
                    <a:spcPct val="110000"/>
                  </a:lnSpc>
                  <a:buNone/>
                </a:pPr>
                <a:r>
                  <a:rPr lang="ja-JP" altLang="ja-JP" dirty="0"/>
                  <a:t>结构化数据包括：图结构数据、字符串、文本、树、分子结构、网络结构等。这些对象不一定能自然地表示成普通欧氏向量。</a:t>
                </a:r>
                <a:endParaRPr lang="en-US" altLang="ja-JP" dirty="0"/>
              </a:p>
              <a:p>
                <a:pPr marL="0" indent="0">
                  <a:lnSpc>
                    <a:spcPct val="110000"/>
                  </a:lnSpc>
                  <a:buNone/>
                </a:pPr>
                <a:r>
                  <a:rPr lang="ja-JP" altLang="ja-JP" dirty="0"/>
                  <a:t>但是只要能定义一个合理的核函数</a:t>
                </a:r>
                <a14:m>
                  <m:oMath xmlns:m="http://schemas.openxmlformats.org/officeDocument/2006/math">
                    <m:r>
                      <a:rPr lang="ja-JP" altLang="en-US" i="1"/>
                      <m:t>𝑘</m:t>
                    </m:r>
                    <m:d>
                      <m:dPr>
                        <m:sepChr m:val=","/>
                        <m:ctrlPr>
                          <a:rPr lang="ja-JP" altLang="en-US" i="1"/>
                        </m:ctrlPr>
                      </m:dPr>
                      <m:e>
                        <m:r>
                          <a:rPr lang="ja-JP" altLang="en-US" i="1"/>
                          <m:t>𝑥</m:t>
                        </m:r>
                      </m:e>
                      <m:e>
                        <m:sSup>
                          <m:sSupPr>
                            <m:ctrlPr>
                              <a:rPr lang="ja-JP" altLang="en-US" i="1"/>
                            </m:ctrlPr>
                          </m:sSupPr>
                          <m:e>
                            <m:r>
                              <a:rPr lang="ja-JP" altLang="en-US" i="1"/>
                              <m:t>𝑥</m:t>
                            </m:r>
                          </m:e>
                          <m:sup>
                            <m:r>
                              <a:rPr lang="en-US" altLang="ja-JP"/>
                              <m:t>′</m:t>
                            </m:r>
                          </m:sup>
                        </m:sSup>
                      </m:e>
                    </m:d>
                  </m:oMath>
                </a14:m>
                <a:r>
                  <a:rPr lang="ja-JP" altLang="ja-JP" dirty="0"/>
                  <a:t>来衡量两个结构对象之间的相似度，就可以使用核方法。</a:t>
                </a:r>
              </a:p>
              <a:p>
                <a:pPr marL="0" indent="0">
                  <a:lnSpc>
                    <a:spcPct val="110000"/>
                  </a:lnSpc>
                  <a:buNone/>
                </a:pPr>
                <a:r>
                  <a:rPr lang="ja-JP" altLang="ja-JP" dirty="0"/>
                  <a:t>例如：</a:t>
                </a:r>
              </a:p>
              <a:p>
                <a:pPr lvl="1">
                  <a:lnSpc>
                    <a:spcPct val="110000"/>
                  </a:lnSpc>
                  <a:buFont typeface="Wingdings" panose="05000000000000000000" pitchFamily="2" charset="2"/>
                  <a:buChar char="Ø"/>
                </a:pPr>
                <a:r>
                  <a:rPr lang="ja-JP" altLang="ja-JP" dirty="0"/>
                  <a:t>图核可以衡量两个图结构的相似度；</a:t>
                </a:r>
              </a:p>
              <a:p>
                <a:pPr lvl="1">
                  <a:lnSpc>
                    <a:spcPct val="110000"/>
                  </a:lnSpc>
                  <a:buFont typeface="Wingdings" panose="05000000000000000000" pitchFamily="2" charset="2"/>
                  <a:buChar char="Ø"/>
                </a:pPr>
                <a:r>
                  <a:rPr lang="ja-JP" altLang="ja-JP" dirty="0"/>
                  <a:t>字符串核可以衡量两个文本或序列的相似度；</a:t>
                </a:r>
              </a:p>
              <a:p>
                <a:pPr lvl="1">
                  <a:lnSpc>
                    <a:spcPct val="110000"/>
                  </a:lnSpc>
                  <a:buFont typeface="Wingdings" panose="05000000000000000000" pitchFamily="2" charset="2"/>
                  <a:buChar char="Ø"/>
                </a:pPr>
                <a:r>
                  <a:rPr lang="ja-JP" altLang="ja-JP" dirty="0"/>
                  <a:t>树核可以衡量两个树结构对象的相似度。</a:t>
                </a:r>
              </a:p>
              <a:p>
                <a:pPr marL="0" indent="0">
                  <a:lnSpc>
                    <a:spcPct val="110000"/>
                  </a:lnSpc>
                  <a:buNone/>
                </a:pPr>
                <a:r>
                  <a:rPr lang="ja-JP" altLang="ja-JP" dirty="0"/>
                  <a:t>核方法的一个重要优点是：</a:t>
                </a:r>
                <a:r>
                  <a:rPr lang="ja-JP" altLang="ja-JP" b="1" dirty="0"/>
                  <a:t>即使数据不是普通向量，只要能定义核函数，也可以进行机器学习。</a:t>
                </a:r>
                <a:endParaRPr lang="ja-JP" altLang="ja-JP" dirty="0"/>
              </a:p>
              <a:p>
                <a:pPr marL="0" indent="0">
                  <a:lnSpc>
                    <a:spcPct val="11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4DBD6F54-BA9A-D3B5-C7F5-93F760FE2DE9}"/>
                  </a:ext>
                </a:extLst>
              </p:cNvPr>
              <p:cNvSpPr>
                <a:spLocks noGrp="1" noRot="1" noChangeAspect="1" noMove="1" noResize="1" noEditPoints="1" noAdjustHandles="1" noChangeArrowheads="1" noChangeShapeType="1" noTextEdit="1"/>
              </p:cNvSpPr>
              <p:nvPr>
                <p:ph idx="1"/>
              </p:nvPr>
            </p:nvSpPr>
            <p:spPr>
              <a:xfrm>
                <a:off x="157480" y="1162878"/>
                <a:ext cx="11877040" cy="5268402"/>
              </a:xfrm>
              <a:blipFill>
                <a:blip r:embed="rId3"/>
                <a:stretch>
                  <a:fillRect l="-565" t="-1620" r="-46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611568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46792B-58AA-917E-7309-DE5CE00ADC32}"/>
              </a:ext>
            </a:extLst>
          </p:cNvPr>
          <p:cNvSpPr>
            <a:spLocks noGrp="1"/>
          </p:cNvSpPr>
          <p:nvPr>
            <p:ph type="title"/>
          </p:nvPr>
        </p:nvSpPr>
        <p:spPr/>
        <p:txBody>
          <a:bodyPr/>
          <a:lstStyle/>
          <a:p>
            <a:r>
              <a:rPr lang="ja-JP" altLang="ja-JP" dirty="0"/>
              <a:t>复 Hilbert 空间与量子机器学习</a:t>
            </a:r>
            <a:endParaRPr kumimoji="1" lang="ja-JP" altLang="en-US" dirty="0"/>
          </a:p>
        </p:txBody>
      </p:sp>
      <p:sp>
        <p:nvSpPr>
          <p:cNvPr id="3" name="テキスト プレースホルダー 2">
            <a:extLst>
              <a:ext uri="{FF2B5EF4-FFF2-40B4-BE49-F238E27FC236}">
                <a16:creationId xmlns:a16="http://schemas.microsoft.com/office/drawing/2014/main" id="{C83ED3CE-7082-CFFD-A0E9-E1ED56A3EDD6}"/>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1408379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78DF4-6539-0AFA-4159-26FEA2F929CE}"/>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AED6D634-642C-F49F-BD48-8465016A3CDA}"/>
              </a:ext>
            </a:extLst>
          </p:cNvPr>
          <p:cNvSpPr>
            <a:spLocks noGrp="1" noChangeArrowheads="1"/>
          </p:cNvSpPr>
          <p:nvPr>
            <p:ph type="title"/>
          </p:nvPr>
        </p:nvSpPr>
        <p:spPr/>
        <p:txBody>
          <a:bodyPr/>
          <a:lstStyle/>
          <a:p>
            <a:r>
              <a:rPr lang="zh-CN" altLang="en-US" dirty="0"/>
              <a:t>相关论文</a:t>
            </a:r>
            <a:endParaRPr lang="ja-JP" altLang="en-US" b="1" dirty="0">
              <a:latin typeface="+mj-ea"/>
            </a:endParaRPr>
          </a:p>
        </p:txBody>
      </p:sp>
      <mc:AlternateContent xmlns:mc="http://schemas.openxmlformats.org/markup-compatibility/2006">
        <mc:Choice xmlns:a14="http://schemas.microsoft.com/office/drawing/2010/main" Requires="a14">
          <p:graphicFrame>
            <p:nvGraphicFramePr>
              <p:cNvPr id="3" name="表 2">
                <a:extLst>
                  <a:ext uri="{FF2B5EF4-FFF2-40B4-BE49-F238E27FC236}">
                    <a16:creationId xmlns:a16="http://schemas.microsoft.com/office/drawing/2014/main" id="{10837424-A076-7A8A-0A87-B6B38067C1FA}"/>
                  </a:ext>
                </a:extLst>
              </p:cNvPr>
              <p:cNvGraphicFramePr>
                <a:graphicFrameLocks noGrp="1"/>
              </p:cNvGraphicFramePr>
              <p:nvPr>
                <p:extLst>
                  <p:ext uri="{D42A27DB-BD31-4B8C-83A1-F6EECF244321}">
                    <p14:modId xmlns:p14="http://schemas.microsoft.com/office/powerpoint/2010/main" val="3354309926"/>
                  </p:ext>
                </p:extLst>
              </p:nvPr>
            </p:nvGraphicFramePr>
            <p:xfrm>
              <a:off x="647300" y="1243640"/>
              <a:ext cx="10795800" cy="4827920"/>
            </p:xfrm>
            <a:graphic>
              <a:graphicData uri="http://schemas.openxmlformats.org/drawingml/2006/table">
                <a:tbl>
                  <a:tblPr/>
                  <a:tblGrid>
                    <a:gridCol w="2698950">
                      <a:extLst>
                        <a:ext uri="{9D8B030D-6E8A-4147-A177-3AD203B41FA5}">
                          <a16:colId xmlns:a16="http://schemas.microsoft.com/office/drawing/2014/main" val="3870101139"/>
                        </a:ext>
                      </a:extLst>
                    </a:gridCol>
                    <a:gridCol w="2698950">
                      <a:extLst>
                        <a:ext uri="{9D8B030D-6E8A-4147-A177-3AD203B41FA5}">
                          <a16:colId xmlns:a16="http://schemas.microsoft.com/office/drawing/2014/main" val="2057269992"/>
                        </a:ext>
                      </a:extLst>
                    </a:gridCol>
                    <a:gridCol w="2698950">
                      <a:extLst>
                        <a:ext uri="{9D8B030D-6E8A-4147-A177-3AD203B41FA5}">
                          <a16:colId xmlns:a16="http://schemas.microsoft.com/office/drawing/2014/main" val="309121527"/>
                        </a:ext>
                      </a:extLst>
                    </a:gridCol>
                    <a:gridCol w="2698950">
                      <a:extLst>
                        <a:ext uri="{9D8B030D-6E8A-4147-A177-3AD203B41FA5}">
                          <a16:colId xmlns:a16="http://schemas.microsoft.com/office/drawing/2014/main" val="4286704869"/>
                        </a:ext>
                      </a:extLst>
                    </a:gridCol>
                  </a:tblGrid>
                  <a:tr h="356558">
                    <a:tc>
                      <a:txBody>
                        <a:bodyPr/>
                        <a:lstStyle/>
                        <a:p>
                          <a:pPr>
                            <a:buNone/>
                          </a:pPr>
                          <a:r>
                            <a:rPr lang="ja-JP" sz="1800"/>
                            <a:t>论文</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本质</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最好的地方</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Hilbert / 泛函视角</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9864557"/>
                      </a:ext>
                    </a:extLst>
                  </a:tr>
                  <a:tr h="623977">
                    <a:tc>
                      <a:txBody>
                        <a:bodyPr/>
                        <a:lstStyle/>
                        <a:p>
                          <a:pPr>
                            <a:buNone/>
                          </a:pPr>
                          <a:r>
                            <a:rPr lang="ja-JP" sz="1800" dirty="0"/>
                            <a:t>Schuld &amp; Killoran</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量子编码 = 特征映射</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建立 QML 与核方法的统一框架</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核是 Hilbert 内积；分类器是线性泛函</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831598"/>
                      </a:ext>
                    </a:extLst>
                  </a:tr>
                  <a:tr h="623977">
                    <a:tc>
                      <a:txBody>
                        <a:bodyPr/>
                        <a:lstStyle/>
                        <a:p>
                          <a:pPr>
                            <a:buNone/>
                          </a:pPr>
                          <a:r>
                            <a:rPr lang="ja-JP" sz="1800"/>
                            <a:t>Havlíček et al.</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在硬件上实现量子特征空间分类</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给出 NISQ 量子核与变分分类实验</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测量和核都是态空间上的泛函</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246650"/>
                      </a:ext>
                    </a:extLst>
                  </a:tr>
                  <a:tr h="623977">
                    <a:tc>
                      <a:txBody>
                        <a:bodyPr/>
                        <a:lstStyle/>
                        <a:p>
                          <a:pPr>
                            <a:buNone/>
                          </a:pPr>
                          <a:r>
                            <a:rPr lang="ja-JP" sz="1800"/>
                            <a:t>Liu–Arunachalam–Temme</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构造严格量子监督学习加速</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有完整可学习性分离和鲁棒性证明</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大间隔 Hilbert 线性分类 + 核矩阵扰动稳定性</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0529146"/>
                      </a:ext>
                    </a:extLst>
                  </a:tr>
                  <a:tr h="623977">
                    <a:tc>
                      <a:txBody>
                        <a:bodyPr/>
                        <a:lstStyle/>
                        <a:p>
                          <a:pPr>
                            <a:buNone/>
                          </a:pPr>
                          <a:r>
                            <a:rPr lang="ja-JP" sz="1800"/>
                            <a:t>Carleo &amp; Troyer</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神经网络表示多体波函数</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用 RBM 压缩复杂量子态并优化能量</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dirty="0"/>
                            <a:t>波函数是 (</a:t>
                          </a:r>
                          <a14:m>
                            <m:oMath xmlns:m="http://schemas.openxmlformats.org/officeDocument/2006/math">
                              <m:sSup>
                                <m:sSupPr>
                                  <m:ctrlPr>
                                    <a:rPr lang="ja-JP" altLang="en-US" sz="1800" i="1" dirty="0" smtClean="0">
                                      <a:latin typeface="Cambria Math" panose="02040503050406030204" pitchFamily="18" charset="0"/>
                                    </a:rPr>
                                  </m:ctrlPr>
                                </m:sSupPr>
                                <m:e>
                                  <m:r>
                                    <a:rPr lang="en-US" altLang="ja-JP" sz="1800" i="1" dirty="0" smtClean="0">
                                      <a:latin typeface="Cambria Math" panose="02040503050406030204" pitchFamily="18" charset="0"/>
                                    </a:rPr>
                                    <m:t>ℓ</m:t>
                                  </m:r>
                                </m:e>
                                <m:sup>
                                  <m:r>
                                    <a:rPr lang="ja-JP" sz="1800" i="1" dirty="0" smtClean="0">
                                      <a:latin typeface="Cambria Math" panose="02040503050406030204" pitchFamily="18" charset="0"/>
                                    </a:rPr>
                                    <m:t>2</m:t>
                                  </m:r>
                                </m:sup>
                              </m:sSup>
                            </m:oMath>
                          </a14:m>
                          <a:r>
                            <a:rPr lang="ja-JP" sz="1800" dirty="0"/>
                            <a:t>) 向量；能量是二次泛函</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0849492"/>
                      </a:ext>
                    </a:extLst>
                  </a:tr>
                  <a:tr h="623977">
                    <a:tc>
                      <a:txBody>
                        <a:bodyPr/>
                        <a:lstStyle/>
                        <a:p>
                          <a:pPr>
                            <a:buNone/>
                          </a:pPr>
                          <a:r>
                            <a:rPr lang="ja-JP" sz="1800"/>
                            <a:t>Torlai et al.</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从测量样本学习量子态</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用 RBM 做高维量子态层析</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测量概率是态上的线性/二次泛函</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1170647"/>
                      </a:ext>
                    </a:extLst>
                  </a:tr>
                  <a:tr h="623977">
                    <a:tc>
                      <a:txBody>
                        <a:bodyPr/>
                        <a:lstStyle/>
                        <a:p>
                          <a:pPr>
                            <a:buNone/>
                          </a:pPr>
                          <a:r>
                            <a:rPr lang="ja-JP" sz="1800"/>
                            <a:t>Stoudenmire &amp; Schwab</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MPS 压缩监督学习权重张量</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无需量子硬件，结构清晰、可正则</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分类器是张量积 Hilbert 空间上的线性泛函</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5468533"/>
                      </a:ext>
                    </a:extLst>
                  </a:tr>
                  <a:tr h="623977">
                    <a:tc>
                      <a:txBody>
                        <a:bodyPr/>
                        <a:lstStyle/>
                        <a:p>
                          <a:pPr>
                            <a:buNone/>
                          </a:pPr>
                          <a:r>
                            <a:rPr lang="ja-JP" sz="1800"/>
                            <a:t>Huang et al.</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数据和核几何决定量子优势</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纠正“高维 Hilbert 空间必有优势”的误解</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dirty="0"/>
                            <a:t>泛化由核谱、有效维度、投影泛函决定</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800844"/>
                      </a:ext>
                    </a:extLst>
                  </a:tr>
                </a:tbl>
              </a:graphicData>
            </a:graphic>
          </p:graphicFrame>
        </mc:Choice>
        <mc:Fallback>
          <p:graphicFrame>
            <p:nvGraphicFramePr>
              <p:cNvPr id="3" name="表 2">
                <a:extLst>
                  <a:ext uri="{FF2B5EF4-FFF2-40B4-BE49-F238E27FC236}">
                    <a16:creationId xmlns:a16="http://schemas.microsoft.com/office/drawing/2014/main" id="{10837424-A076-7A8A-0A87-B6B38067C1FA}"/>
                  </a:ext>
                </a:extLst>
              </p:cNvPr>
              <p:cNvGraphicFramePr>
                <a:graphicFrameLocks noGrp="1"/>
              </p:cNvGraphicFramePr>
              <p:nvPr>
                <p:extLst>
                  <p:ext uri="{D42A27DB-BD31-4B8C-83A1-F6EECF244321}">
                    <p14:modId xmlns:p14="http://schemas.microsoft.com/office/powerpoint/2010/main" val="3354309926"/>
                  </p:ext>
                </p:extLst>
              </p:nvPr>
            </p:nvGraphicFramePr>
            <p:xfrm>
              <a:off x="647300" y="1243640"/>
              <a:ext cx="10795800" cy="4827920"/>
            </p:xfrm>
            <a:graphic>
              <a:graphicData uri="http://schemas.openxmlformats.org/drawingml/2006/table">
                <a:tbl>
                  <a:tblPr/>
                  <a:tblGrid>
                    <a:gridCol w="2698950">
                      <a:extLst>
                        <a:ext uri="{9D8B030D-6E8A-4147-A177-3AD203B41FA5}">
                          <a16:colId xmlns:a16="http://schemas.microsoft.com/office/drawing/2014/main" val="3870101139"/>
                        </a:ext>
                      </a:extLst>
                    </a:gridCol>
                    <a:gridCol w="2698950">
                      <a:extLst>
                        <a:ext uri="{9D8B030D-6E8A-4147-A177-3AD203B41FA5}">
                          <a16:colId xmlns:a16="http://schemas.microsoft.com/office/drawing/2014/main" val="2057269992"/>
                        </a:ext>
                      </a:extLst>
                    </a:gridCol>
                    <a:gridCol w="2698950">
                      <a:extLst>
                        <a:ext uri="{9D8B030D-6E8A-4147-A177-3AD203B41FA5}">
                          <a16:colId xmlns:a16="http://schemas.microsoft.com/office/drawing/2014/main" val="309121527"/>
                        </a:ext>
                      </a:extLst>
                    </a:gridCol>
                    <a:gridCol w="2698950">
                      <a:extLst>
                        <a:ext uri="{9D8B030D-6E8A-4147-A177-3AD203B41FA5}">
                          <a16:colId xmlns:a16="http://schemas.microsoft.com/office/drawing/2014/main" val="4286704869"/>
                        </a:ext>
                      </a:extLst>
                    </a:gridCol>
                  </a:tblGrid>
                  <a:tr h="363460">
                    <a:tc>
                      <a:txBody>
                        <a:bodyPr/>
                        <a:lstStyle/>
                        <a:p>
                          <a:pPr>
                            <a:buNone/>
                          </a:pPr>
                          <a:r>
                            <a:rPr lang="ja-JP" sz="1800"/>
                            <a:t>论文</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本质</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最好的地方</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Hilbert / 泛函视角</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9864557"/>
                      </a:ext>
                    </a:extLst>
                  </a:tr>
                  <a:tr h="637780">
                    <a:tc>
                      <a:txBody>
                        <a:bodyPr/>
                        <a:lstStyle/>
                        <a:p>
                          <a:pPr>
                            <a:buNone/>
                          </a:pPr>
                          <a:r>
                            <a:rPr lang="ja-JP" sz="1800" dirty="0"/>
                            <a:t>Schuld &amp; Killoran</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量子编码 = 特征映射</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建立 QML 与核方法的统一框架</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核是 Hilbert 内积；分类器是线性泛函</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8831598"/>
                      </a:ext>
                    </a:extLst>
                  </a:tr>
                  <a:tr h="637780">
                    <a:tc>
                      <a:txBody>
                        <a:bodyPr/>
                        <a:lstStyle/>
                        <a:p>
                          <a:pPr>
                            <a:buNone/>
                          </a:pPr>
                          <a:r>
                            <a:rPr lang="ja-JP" sz="1800"/>
                            <a:t>Havlíček et al.</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在硬件上实现量子特征空间分类</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给出 NISQ 量子核与变分分类实验</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测量和核都是态空间上的泛函</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246650"/>
                      </a:ext>
                    </a:extLst>
                  </a:tr>
                  <a:tr h="637780">
                    <a:tc>
                      <a:txBody>
                        <a:bodyPr/>
                        <a:lstStyle/>
                        <a:p>
                          <a:pPr>
                            <a:buNone/>
                          </a:pPr>
                          <a:r>
                            <a:rPr lang="ja-JP" sz="1800"/>
                            <a:t>Liu–Arunachalam–Temme</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构造严格量子监督学习加速</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有完整可学习性分离和鲁棒性证明</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大间隔 Hilbert 线性分类 + 核矩阵扰动稳定性</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0529146"/>
                      </a:ext>
                    </a:extLst>
                  </a:tr>
                  <a:tr h="637780">
                    <a:tc>
                      <a:txBody>
                        <a:bodyPr/>
                        <a:lstStyle/>
                        <a:p>
                          <a:pPr>
                            <a:buNone/>
                          </a:pPr>
                          <a:r>
                            <a:rPr lang="ja-JP" sz="1800"/>
                            <a:t>Carleo &amp; Troyer</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神经网络表示多体波函数</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用 RBM 压缩复杂量子态并优化能量</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ja-JP"/>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226" t="-363810" r="-451" b="-311429"/>
                          </a:stretch>
                        </a:blipFill>
                      </a:tcPr>
                    </a:tc>
                    <a:extLst>
                      <a:ext uri="{0D108BD9-81ED-4DB2-BD59-A6C34878D82A}">
                        <a16:rowId xmlns:a16="http://schemas.microsoft.com/office/drawing/2014/main" val="3460849492"/>
                      </a:ext>
                    </a:extLst>
                  </a:tr>
                  <a:tr h="637780">
                    <a:tc>
                      <a:txBody>
                        <a:bodyPr/>
                        <a:lstStyle/>
                        <a:p>
                          <a:pPr>
                            <a:buNone/>
                          </a:pPr>
                          <a:r>
                            <a:rPr lang="ja-JP" sz="1800"/>
                            <a:t>Torlai et al.</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从测量样本学习量子态</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用 RBM 做高维量子态层析</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测量概率是态上的线性/二次泛函</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1170647"/>
                      </a:ext>
                    </a:extLst>
                  </a:tr>
                  <a:tr h="637780">
                    <a:tc>
                      <a:txBody>
                        <a:bodyPr/>
                        <a:lstStyle/>
                        <a:p>
                          <a:pPr>
                            <a:buNone/>
                          </a:pPr>
                          <a:r>
                            <a:rPr lang="ja-JP" sz="1800"/>
                            <a:t>Stoudenmire &amp; Schwab</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MPS 压缩监督学习权重张量</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无需量子硬件，结构清晰、可正则</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分类器是张量积 Hilbert 空间上的线性泛函</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5468533"/>
                      </a:ext>
                    </a:extLst>
                  </a:tr>
                  <a:tr h="637780">
                    <a:tc>
                      <a:txBody>
                        <a:bodyPr/>
                        <a:lstStyle/>
                        <a:p>
                          <a:pPr>
                            <a:buNone/>
                          </a:pPr>
                          <a:r>
                            <a:rPr lang="ja-JP" sz="1800"/>
                            <a:t>Huang et al.</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数据和核几何决定量子优势</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a:t>纠正“高维 Hilbert 空间必有优势”的误解</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sz="1800" dirty="0"/>
                            <a:t>泛化由核谱、有效维度、投影泛函决定</a:t>
                          </a:r>
                        </a:p>
                      </a:txBody>
                      <a:tcPr marL="89140" marR="89140" marT="44570" marB="445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800844"/>
                      </a:ext>
                    </a:extLst>
                  </a:tr>
                </a:tbl>
              </a:graphicData>
            </a:graphic>
          </p:graphicFrame>
        </mc:Fallback>
      </mc:AlternateContent>
    </p:spTree>
    <p:extLst>
      <p:ext uri="{BB962C8B-B14F-4D97-AF65-F5344CB8AC3E}">
        <p14:creationId xmlns:p14="http://schemas.microsoft.com/office/powerpoint/2010/main" val="3990743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3298B-17A3-DC7A-895D-EB54BC914B9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7A8C51CE-9D23-B8CD-4DAC-05E9F292554E}"/>
              </a:ext>
            </a:extLst>
          </p:cNvPr>
          <p:cNvSpPr>
            <a:spLocks noGrp="1" noChangeArrowheads="1"/>
          </p:cNvSpPr>
          <p:nvPr>
            <p:ph type="title"/>
          </p:nvPr>
        </p:nvSpPr>
        <p:spPr/>
        <p:txBody>
          <a:bodyPr/>
          <a:lstStyle/>
          <a:p>
            <a:r>
              <a:rPr lang="ja-JP" altLang="ja-JP" b="1" dirty="0"/>
              <a:t>量子态为什么是复 Hilbert 空间中的向量</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01B3F5B6-517F-A5C0-E33B-9BCFD88AF9AB}"/>
                  </a:ext>
                </a:extLst>
              </p:cNvPr>
              <p:cNvSpPr>
                <a:spLocks noGrp="1"/>
              </p:cNvSpPr>
              <p:nvPr>
                <p:ph idx="1"/>
              </p:nvPr>
            </p:nvSpPr>
            <p:spPr>
              <a:xfrm>
                <a:off x="157480" y="1162878"/>
                <a:ext cx="11877040" cy="5268402"/>
              </a:xfrm>
            </p:spPr>
            <p:txBody>
              <a:bodyPr/>
              <a:lstStyle/>
              <a:p>
                <a:pPr marL="0" indent="0">
                  <a:buNone/>
                </a:pPr>
                <a:r>
                  <a:rPr lang="ja-JP" altLang="ja-JP" dirty="0"/>
                  <a:t>在量子力学中，一个纯态写作：</a:t>
                </a:r>
                <a14:m>
                  <m:oMath xmlns:m="http://schemas.openxmlformats.org/officeDocument/2006/math">
                    <m:d>
                      <m:dPr>
                        <m:begChr m:val=""/>
                        <m:endChr m:val="⟩"/>
                        <m:ctrlPr>
                          <a:rPr lang="ja-JP" altLang="en-US"/>
                        </m:ctrlPr>
                      </m:dPr>
                      <m:e>
                        <m:r>
                          <a:rPr lang="ja-JP" altLang="en-US"/>
                          <m:t>∣</m:t>
                        </m:r>
                        <m:r>
                          <a:rPr lang="ja-JP" altLang="en-US" i="1"/>
                          <m:t>𝜓</m:t>
                        </m:r>
                      </m:e>
                    </m:d>
                    <m:r>
                      <a:rPr lang="ja-JP" altLang="en-US"/>
                      <m:t>∈</m:t>
                    </m:r>
                    <m:r>
                      <a:rPr lang="en-US" altLang="ja-JP"/>
                      <m:t>ℋ</m:t>
                    </m:r>
                  </m:oMath>
                </a14:m>
                <a:r>
                  <a:rPr lang="zh-CN" altLang="en-US" dirty="0"/>
                  <a:t>，</a:t>
                </a:r>
                <a:r>
                  <a:rPr lang="ja-JP" altLang="ja-JP" dirty="0"/>
                  <a:t>这里的 </a:t>
                </a:r>
                <a14:m>
                  <m:oMath xmlns:m="http://schemas.openxmlformats.org/officeDocument/2006/math">
                    <m:r>
                      <a:rPr lang="en-US" altLang="ja-JP">
                        <a:latin typeface="Cambria Math" panose="02040503050406030204" pitchFamily="18" charset="0"/>
                      </a:rPr>
                      <m:t>ℋ</m:t>
                    </m:r>
                  </m:oMath>
                </a14:m>
                <a:r>
                  <a:rPr lang="ja-JP" altLang="ja-JP" dirty="0"/>
                  <a:t>是复 Hilbert 空间。</a:t>
                </a:r>
                <a:endParaRPr lang="en-US" altLang="ja-JP" dirty="0"/>
              </a:p>
              <a:p>
                <a:pPr marL="0" indent="0">
                  <a:buNone/>
                </a:pPr>
                <a:r>
                  <a:rPr lang="ja-JP" altLang="ja-JP" dirty="0"/>
                  <a:t>例如一个 qubit 的状态为：</a:t>
                </a:r>
                <a14:m>
                  <m:oMath xmlns:m="http://schemas.openxmlformats.org/officeDocument/2006/math">
                    <m:d>
                      <m:dPr>
                        <m:begChr m:val=""/>
                        <m:endChr m:val="⟩"/>
                        <m:ctrlPr>
                          <a:rPr lang="ja-JP" altLang="en-US" i="1">
                            <a:latin typeface="Cambria Math" panose="02040503050406030204" pitchFamily="18" charset="0"/>
                          </a:rPr>
                        </m:ctrlPr>
                      </m:dPr>
                      <m:e>
                        <m:r>
                          <a:rPr lang="ja-JP" altLang="en-US">
                            <a:latin typeface="Cambria Math" panose="02040503050406030204" pitchFamily="18" charset="0"/>
                          </a:rPr>
                          <m:t>∣</m:t>
                        </m:r>
                        <m:r>
                          <a:rPr lang="ja-JP" altLang="en-US" i="1">
                            <a:latin typeface="Cambria Math" panose="02040503050406030204" pitchFamily="18" charset="0"/>
                          </a:rPr>
                          <m:t>𝜓</m:t>
                        </m:r>
                      </m:e>
                    </m:d>
                    <m:r>
                      <a:rPr lang="en-US" altLang="ja-JP">
                        <a:latin typeface="Cambria Math" panose="02040503050406030204" pitchFamily="18" charset="0"/>
                      </a:rPr>
                      <m:t>=</m:t>
                    </m:r>
                    <m:r>
                      <a:rPr lang="ja-JP" altLang="en-US" i="1">
                        <a:latin typeface="Cambria Math" panose="02040503050406030204" pitchFamily="18" charset="0"/>
                      </a:rPr>
                      <m:t>𝛼</m:t>
                    </m:r>
                    <m:d>
                      <m:dPr>
                        <m:begChr m:val=""/>
                        <m:endChr m:val="⟩"/>
                        <m:ctrlPr>
                          <a:rPr lang="ja-JP" altLang="en-US" i="1">
                            <a:latin typeface="Cambria Math" panose="02040503050406030204" pitchFamily="18" charset="0"/>
                          </a:rPr>
                        </m:ctrlPr>
                      </m:dPr>
                      <m:e>
                        <m:r>
                          <a:rPr lang="ja-JP" altLang="en-US">
                            <a:latin typeface="Cambria Math" panose="02040503050406030204" pitchFamily="18" charset="0"/>
                          </a:rPr>
                          <m:t>∣</m:t>
                        </m:r>
                        <m:r>
                          <a:rPr lang="en-US" altLang="ja-JP" b="0" i="1" smtClean="0">
                            <a:latin typeface="Cambria Math" panose="02040503050406030204" pitchFamily="18" charset="0"/>
                          </a:rPr>
                          <m:t>0</m:t>
                        </m:r>
                      </m:e>
                    </m:d>
                    <m:r>
                      <a:rPr lang="en-US" altLang="ja-JP">
                        <a:latin typeface="Cambria Math" panose="02040503050406030204" pitchFamily="18" charset="0"/>
                      </a:rPr>
                      <m:t>+</m:t>
                    </m:r>
                    <m:r>
                      <a:rPr lang="ja-JP" altLang="en-US" i="1">
                        <a:latin typeface="Cambria Math" panose="02040503050406030204" pitchFamily="18" charset="0"/>
                      </a:rPr>
                      <m:t>𝛽</m:t>
                    </m:r>
                    <m:d>
                      <m:dPr>
                        <m:begChr m:val=""/>
                        <m:endChr m:val="⟩"/>
                        <m:ctrlPr>
                          <a:rPr lang="ja-JP" altLang="en-US" i="1">
                            <a:latin typeface="Cambria Math" panose="02040503050406030204" pitchFamily="18" charset="0"/>
                          </a:rPr>
                        </m:ctrlPr>
                      </m:dPr>
                      <m:e>
                        <m:r>
                          <a:rPr lang="ja-JP" altLang="en-US">
                            <a:latin typeface="Cambria Math" panose="02040503050406030204" pitchFamily="18" charset="0"/>
                          </a:rPr>
                          <m:t>∣</m:t>
                        </m:r>
                        <m:r>
                          <a:rPr lang="en-US" altLang="ja-JP" b="0" i="1" smtClean="0">
                            <a:latin typeface="Cambria Math" panose="02040503050406030204" pitchFamily="18" charset="0"/>
                          </a:rPr>
                          <m:t>1</m:t>
                        </m:r>
                      </m:e>
                    </m:d>
                  </m:oMath>
                </a14:m>
                <a:r>
                  <a:rPr lang="zh-CN" altLang="en-US" dirty="0"/>
                  <a:t>，</a:t>
                </a:r>
                <a:r>
                  <a:rPr lang="ja-JP" altLang="ja-JP" dirty="0"/>
                  <a:t>其中：</a:t>
                </a:r>
                <a14:m>
                  <m:oMath xmlns:m="http://schemas.openxmlformats.org/officeDocument/2006/math">
                    <m:r>
                      <a:rPr lang="ja-JP" altLang="en-US" i="1"/>
                      <m:t>𝛼</m:t>
                    </m:r>
                    <m:r>
                      <a:rPr lang="en-US" altLang="ja-JP"/>
                      <m:t>,</m:t>
                    </m:r>
                    <m:r>
                      <a:rPr lang="ja-JP" altLang="en-US" i="1"/>
                      <m:t>𝛽</m:t>
                    </m:r>
                    <m:r>
                      <a:rPr lang="ja-JP" altLang="en-US"/>
                      <m:t>∈</m:t>
                    </m:r>
                    <m:r>
                      <a:rPr lang="en-US" altLang="ja-JP"/>
                      <m:t>ℂ</m:t>
                    </m:r>
                    <m:r>
                      <a:rPr lang="en-US" altLang="ja-JP"/>
                      <m:t>, ∣</m:t>
                    </m:r>
                    <m:r>
                      <a:rPr lang="ja-JP" altLang="en-US" i="1"/>
                      <m:t>𝛼</m:t>
                    </m:r>
                    <m:sSup>
                      <m:sSupPr>
                        <m:ctrlPr>
                          <a:rPr lang="ja-JP" altLang="en-US" i="1"/>
                        </m:ctrlPr>
                      </m:sSupPr>
                      <m:e>
                        <m:r>
                          <a:rPr lang="ja-JP" altLang="en-US"/>
                          <m:t>∣</m:t>
                        </m:r>
                      </m:e>
                      <m:sup>
                        <m:r>
                          <a:rPr lang="en-US" altLang="ja-JP"/>
                          <m:t>2</m:t>
                        </m:r>
                      </m:sup>
                    </m:sSup>
                    <m:r>
                      <a:rPr lang="en-US" altLang="ja-JP"/>
                      <m:t>+∣</m:t>
                    </m:r>
                    <m:r>
                      <a:rPr lang="ja-JP" altLang="en-US" i="1"/>
                      <m:t>𝛽</m:t>
                    </m:r>
                    <m:sSup>
                      <m:sSupPr>
                        <m:ctrlPr>
                          <a:rPr lang="ja-JP" altLang="en-US" i="1"/>
                        </m:ctrlPr>
                      </m:sSupPr>
                      <m:e>
                        <m:r>
                          <a:rPr lang="ja-JP" altLang="en-US"/>
                          <m:t>∣</m:t>
                        </m:r>
                      </m:e>
                      <m:sup>
                        <m:r>
                          <a:rPr lang="en-US" altLang="ja-JP"/>
                          <m:t>2</m:t>
                        </m:r>
                      </m:sup>
                    </m:sSup>
                    <m:r>
                      <a:rPr lang="en-US" altLang="ja-JP"/>
                      <m:t>=</m:t>
                    </m:r>
                    <m:r>
                      <a:rPr lang="en-US" altLang="ja-JP"/>
                      <m:t>1</m:t>
                    </m:r>
                  </m:oMath>
                </a14:m>
                <a:endParaRPr lang="ja-JP" altLang="ja-JP" dirty="0"/>
              </a:p>
              <a:p>
                <a:pPr marL="0" indent="0">
                  <a:buNone/>
                </a:pPr>
                <a:endParaRPr lang="ja-JP" altLang="ja-JP" dirty="0"/>
              </a:p>
              <a:p>
                <a:pPr lvl="1">
                  <a:buFont typeface="Wingdings" panose="05000000000000000000" pitchFamily="2" charset="2"/>
                  <a:buChar char="Ø"/>
                </a:pPr>
                <a:r>
                  <a:rPr lang="ja-JP" altLang="ja-JP" dirty="0"/>
                  <a:t>量子态是向量，但不是普通实向量，而是复 Hilbert 空间中的单位向量。 </a:t>
                </a:r>
              </a:p>
              <a:p>
                <a:pPr lvl="1">
                  <a:buFont typeface="Wingdings" panose="05000000000000000000" pitchFamily="2" charset="2"/>
                  <a:buChar char="Ø"/>
                </a:pPr>
                <a:r>
                  <a:rPr lang="ja-JP" altLang="ja-JP" dirty="0"/>
                  <a:t>量子测量概率由内积和范数决定。 </a:t>
                </a:r>
              </a:p>
              <a:p>
                <a:pPr lvl="1">
                  <a:buFont typeface="Wingdings" panose="05000000000000000000" pitchFamily="2" charset="2"/>
                  <a:buChar char="Ø"/>
                </a:pPr>
                <a:r>
                  <a:rPr lang="ja-JP" altLang="ja-JP" dirty="0"/>
                  <a:t>量子演化通常由酉算子描述： </a:t>
                </a:r>
                <a14:m>
                  <m:oMath xmlns:m="http://schemas.openxmlformats.org/officeDocument/2006/math">
                    <m:sSup>
                      <m:sSupPr>
                        <m:ctrlPr>
                          <a:rPr lang="ja-JP" altLang="en-US"/>
                        </m:ctrlPr>
                      </m:sSupPr>
                      <m:e>
                        <m:r>
                          <a:rPr lang="ja-JP" altLang="en-US" i="1"/>
                          <m:t>𝑈</m:t>
                        </m:r>
                      </m:e>
                      <m:sup>
                        <m:r>
                          <a:rPr lang="en-US" altLang="ja-JP"/>
                          <m:t>†</m:t>
                        </m:r>
                      </m:sup>
                    </m:sSup>
                    <m:r>
                      <a:rPr lang="ja-JP" altLang="en-US" i="1"/>
                      <m:t>𝑈</m:t>
                    </m:r>
                    <m:r>
                      <a:rPr lang="en-US" altLang="ja-JP"/>
                      <m:t>=</m:t>
                    </m:r>
                    <m:r>
                      <a:rPr lang="ja-JP" altLang="en-US" i="1"/>
                      <m:t>𝐼</m:t>
                    </m:r>
                  </m:oMath>
                </a14:m>
                <a:endParaRPr lang="ja-JP" altLang="en-US" dirty="0"/>
              </a:p>
              <a:p>
                <a:pPr marL="0" indent="0">
                  <a:buNone/>
                </a:pPr>
                <a14:m>
                  <m:oMath xmlns:m="http://schemas.openxmlformats.org/officeDocument/2006/math">
                    <m:r>
                      <a:rPr lang="en-US" altLang="ja-JP"/>
                      <m:t>†</m:t>
                    </m:r>
                  </m:oMath>
                </a14:m>
                <a:r>
                  <a:rPr lang="ja-JP" altLang="ja-JP" dirty="0"/>
                  <a:t>、内积、正交投影、复共轭这些概念是量子计算中的基本语言</a:t>
                </a:r>
              </a:p>
            </p:txBody>
          </p:sp>
        </mc:Choice>
        <mc:Fallback>
          <p:sp>
            <p:nvSpPr>
              <p:cNvPr id="12" name="コンテンツ プレースホルダー 2">
                <a:extLst>
                  <a:ext uri="{FF2B5EF4-FFF2-40B4-BE49-F238E27FC236}">
                    <a16:creationId xmlns:a16="http://schemas.microsoft.com/office/drawing/2014/main" id="{01B3F5B6-517F-A5C0-E33B-9BCFD88AF9AB}"/>
                  </a:ext>
                </a:extLst>
              </p:cNvPr>
              <p:cNvSpPr>
                <a:spLocks noGrp="1" noRot="1" noChangeAspect="1" noMove="1" noResize="1" noEditPoints="1" noAdjustHandles="1" noChangeArrowheads="1" noChangeShapeType="1" noTextEdit="1"/>
              </p:cNvSpPr>
              <p:nvPr>
                <p:ph idx="1"/>
              </p:nvPr>
            </p:nvSpPr>
            <p:spPr>
              <a:xfrm>
                <a:off x="157480" y="1162878"/>
                <a:ext cx="11877040" cy="5268402"/>
              </a:xfrm>
              <a:blipFill>
                <a:blip r:embed="rId3"/>
                <a:stretch>
                  <a:fillRect l="-565" t="-925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158111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F4455-C86B-99BC-FD0A-D26910CA6A16}"/>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6A245B4C-0D19-6B35-CC7D-2B3B77EF967B}"/>
              </a:ext>
            </a:extLst>
          </p:cNvPr>
          <p:cNvSpPr>
            <a:spLocks noGrp="1" noChangeArrowheads="1"/>
          </p:cNvSpPr>
          <p:nvPr>
            <p:ph type="title"/>
          </p:nvPr>
        </p:nvSpPr>
        <p:spPr/>
        <p:txBody>
          <a:bodyPr/>
          <a:lstStyle/>
          <a:p>
            <a:r>
              <a:rPr lang="ja-JP" altLang="ja-JP" b="1" dirty="0"/>
              <a:t>量子特征 Hilbert 空间与量子核方法</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9909A495-B2BD-C752-1104-0AE55818154D}"/>
                  </a:ext>
                </a:extLst>
              </p:cNvPr>
              <p:cNvSpPr>
                <a:spLocks noGrp="1"/>
              </p:cNvSpPr>
              <p:nvPr>
                <p:ph idx="1"/>
              </p:nvPr>
            </p:nvSpPr>
            <p:spPr>
              <a:xfrm>
                <a:off x="157480" y="1162878"/>
                <a:ext cx="11877040" cy="5268402"/>
              </a:xfrm>
            </p:spPr>
            <p:txBody>
              <a:bodyPr/>
              <a:lstStyle/>
              <a:p>
                <a:pPr marL="0" indent="0">
                  <a:lnSpc>
                    <a:spcPct val="110000"/>
                  </a:lnSpc>
                  <a:buNone/>
                </a:pPr>
                <a:r>
                  <a:rPr lang="ja-JP" altLang="ja-JP" dirty="0"/>
                  <a:t>核心是：</a:t>
                </a:r>
                <a14:m>
                  <m:oMath xmlns:m="http://schemas.openxmlformats.org/officeDocument/2006/math">
                    <m:d>
                      <m:dPr>
                        <m:begChr m:val=""/>
                        <m:endChr m:val="⟩"/>
                        <m:ctrlPr>
                          <a:rPr lang="ja-JP" altLang="en-US"/>
                        </m:ctrlPr>
                      </m:dPr>
                      <m:e>
                        <m:r>
                          <a:rPr lang="ja-JP" altLang="en-US" i="1"/>
                          <m:t>𝑥</m:t>
                        </m:r>
                        <m:r>
                          <a:rPr lang="ja-JP" altLang="en-US"/>
                          <m:t>⟼∣</m:t>
                        </m:r>
                        <m:r>
                          <a:rPr lang="ja-JP" altLang="en-US" i="1"/>
                          <m:t>𝜙</m:t>
                        </m:r>
                        <m:d>
                          <m:dPr>
                            <m:ctrlPr>
                              <a:rPr lang="ja-JP" altLang="en-US" i="1"/>
                            </m:ctrlPr>
                          </m:dPr>
                          <m:e>
                            <m:r>
                              <a:rPr lang="ja-JP" altLang="en-US" i="1"/>
                              <m:t>𝑥</m:t>
                            </m:r>
                          </m:e>
                        </m:d>
                      </m:e>
                    </m:d>
                    <m:r>
                      <a:rPr lang="ja-JP" altLang="en-US"/>
                      <m:t>∈</m:t>
                    </m:r>
                    <m:r>
                      <a:rPr lang="en-US" altLang="ja-JP"/>
                      <m:t>ℋ</m:t>
                    </m:r>
                    <m:r>
                      <a:rPr lang="zh-CN" altLang="en-US" i="1">
                        <a:latin typeface="Cambria Math" panose="02040503050406030204" pitchFamily="18" charset="0"/>
                      </a:rPr>
                      <m:t>。</m:t>
                    </m:r>
                  </m:oMath>
                </a14:m>
                <a:endParaRPr lang="en-US" altLang="zh-CN" dirty="0"/>
              </a:p>
              <a:p>
                <a:pPr marL="0" indent="0">
                  <a:lnSpc>
                    <a:spcPct val="110000"/>
                  </a:lnSpc>
                  <a:buNone/>
                </a:pPr>
                <a:r>
                  <a:rPr lang="ja-JP" altLang="ja-JP" dirty="0"/>
                  <a:t>也就是把经典数据 </a:t>
                </a:r>
                <a14:m>
                  <m:oMath xmlns:m="http://schemas.openxmlformats.org/officeDocument/2006/math">
                    <m:r>
                      <a:rPr lang="ja-JP" altLang="en-US" i="1"/>
                      <m:t>𝑥</m:t>
                    </m:r>
                  </m:oMath>
                </a14:m>
                <a:r>
                  <a:rPr lang="ja-JP" altLang="ja-JP" dirty="0"/>
                  <a:t>编码成量子态，量子态所在的 Hilbert 空间 </a:t>
                </a:r>
                <a14:m>
                  <m:oMath xmlns:m="http://schemas.openxmlformats.org/officeDocument/2006/math">
                    <m:r>
                      <a:rPr lang="en-US" altLang="ja-JP"/>
                      <m:t>ℋ</m:t>
                    </m:r>
                  </m:oMath>
                </a14:m>
                <a:r>
                  <a:rPr lang="ja-JP" altLang="ja-JP" dirty="0"/>
                  <a:t>就成为“特征空间”。</a:t>
                </a:r>
                <a:endParaRPr lang="en-US" altLang="ja-JP" dirty="0"/>
              </a:p>
              <a:p>
                <a:pPr marL="0" indent="0">
                  <a:lnSpc>
                    <a:spcPct val="110000"/>
                  </a:lnSpc>
                  <a:buNone/>
                </a:pPr>
                <a:r>
                  <a:rPr lang="ja-JP" altLang="ja-JP" dirty="0"/>
                  <a:t>然后用内积或保真度定义核：</a:t>
                </a:r>
                <a:endParaRPr lang="en-US" altLang="ja-JP" i="1" dirty="0"/>
              </a:p>
              <a:p>
                <a:pPr marL="0" indent="0">
                  <a:lnSpc>
                    <a:spcPct val="110000"/>
                  </a:lnSpc>
                  <a:buNone/>
                </a:pPr>
                <a14:m>
                  <m:oMathPara xmlns:m="http://schemas.openxmlformats.org/officeDocument/2006/math">
                    <m:oMathParaPr>
                      <m:jc m:val="centerGroup"/>
                    </m:oMathParaPr>
                    <m:oMath xmlns:m="http://schemas.openxmlformats.org/officeDocument/2006/math">
                      <m:r>
                        <a:rPr lang="ja-JP" altLang="en-US" i="1"/>
                        <m:t>𝐾</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r>
                            <a:rPr lang="ja-JP" altLang="en-US" i="1"/>
                            <m:t>𝜙</m:t>
                          </m:r>
                          <m:d>
                            <m:dPr>
                              <m:ctrlPr>
                                <a:rPr lang="ja-JP" altLang="en-US" i="1"/>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e>
                      </m:d>
                      <m:r>
                        <a:rPr lang="ja-JP" altLang="en-US"/>
                        <m:t> </m:t>
                      </m:r>
                      <m:r>
                        <m:rPr>
                          <m:nor/>
                        </m:rPr>
                        <a:rPr lang="ja-JP" altLang="en-US" i="1"/>
                        <m:t>或</m:t>
                      </m:r>
                    </m:oMath>
                  </m:oMathPara>
                </a14:m>
                <a:endParaRPr lang="en-US" altLang="ja-JP" i="1" dirty="0"/>
              </a:p>
              <a:p>
                <a:pPr marL="0" indent="0">
                  <a:lnSpc>
                    <a:spcPct val="110000"/>
                  </a:lnSpc>
                  <a:buNone/>
                </a:pPr>
                <a14:m>
                  <m:oMathPara xmlns:m="http://schemas.openxmlformats.org/officeDocument/2006/math">
                    <m:oMathParaPr>
                      <m:jc m:val="centerGroup"/>
                    </m:oMathParaPr>
                    <m:oMath xmlns:m="http://schemas.openxmlformats.org/officeDocument/2006/math">
                      <m:r>
                        <a:rPr lang="ja-JP" altLang="en-US"/>
                        <m:t> </m:t>
                      </m:r>
                      <m:r>
                        <a:rPr lang="ja-JP" altLang="en-US" i="1"/>
                        <m:t>𝐾</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r>
                            <a:rPr lang="ja-JP" altLang="en-US" i="1"/>
                            <m:t>𝜙</m:t>
                          </m:r>
                          <m:d>
                            <m:dPr>
                              <m:ctrlPr>
                                <a:rPr lang="ja-JP" altLang="en-US" i="1"/>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e>
                      </m:d>
                      <m:sSup>
                        <m:sSupPr>
                          <m:ctrlPr>
                            <a:rPr lang="ja-JP" altLang="en-US" i="1"/>
                          </m:ctrlPr>
                        </m:sSupPr>
                        <m:e>
                          <m:r>
                            <a:rPr lang="ja-JP" altLang="en-US"/>
                            <m:t>∣</m:t>
                          </m:r>
                        </m:e>
                        <m:sup>
                          <m:r>
                            <a:rPr lang="en-US" altLang="ja-JP"/>
                            <m:t>2</m:t>
                          </m:r>
                        </m:sup>
                      </m:sSup>
                      <m:r>
                        <a:rPr lang="en-US" altLang="ja-JP"/>
                        <m:t>.</m:t>
                      </m:r>
                    </m:oMath>
                  </m:oMathPara>
                </a14:m>
                <a:endParaRPr lang="en-US" altLang="ja-JP" b="0" dirty="0"/>
              </a:p>
              <a:p>
                <a:pPr marL="0" indent="0">
                  <a:lnSpc>
                    <a:spcPct val="110000"/>
                  </a:lnSpc>
                  <a:buNone/>
                </a:pPr>
                <a:endParaRPr lang="en-US" altLang="ja-JP" b="0" dirty="0"/>
              </a:p>
              <a:p>
                <a:pPr marL="0" indent="0">
                  <a:lnSpc>
                    <a:spcPct val="110000"/>
                  </a:lnSpc>
                  <a:buNone/>
                </a:pPr>
                <a:r>
                  <a:rPr lang="ja-JP" altLang="ja-JP" dirty="0"/>
                  <a:t>Schuld &amp; Killoran </a:t>
                </a:r>
                <a:r>
                  <a:rPr lang="zh-CN" altLang="en-US" dirty="0"/>
                  <a:t>的论文</a:t>
                </a:r>
                <a:r>
                  <a:rPr lang="ja-JP" altLang="ja-JP" dirty="0"/>
                  <a:t>是理论框架</a:t>
                </a:r>
                <a:r>
                  <a:rPr lang="zh-CN" altLang="en-US" dirty="0"/>
                  <a:t>，</a:t>
                </a:r>
                <a:r>
                  <a:rPr lang="ja-JP" altLang="ja-JP" dirty="0"/>
                  <a:t>明确把“输入编码为量子态”解释为非线性特征映射，并提出两种路线：</a:t>
                </a:r>
                <a:r>
                  <a:rPr lang="ja-JP" altLang="ja-JP" dirty="0">
                    <a:solidFill>
                      <a:srgbClr val="C00000"/>
                    </a:solidFill>
                  </a:rPr>
                  <a:t>量子设备估计核</a:t>
                </a:r>
                <a:r>
                  <a:rPr lang="ja-JP" altLang="ja-JP" dirty="0"/>
                  <a:t>、或用</a:t>
                </a:r>
                <a:r>
                  <a:rPr lang="ja-JP" altLang="ja-JP" dirty="0">
                    <a:solidFill>
                      <a:srgbClr val="C00000"/>
                    </a:solidFill>
                  </a:rPr>
                  <a:t>变分量子线路直接在 Hilbert 空间中学习线性分类器</a:t>
                </a:r>
              </a:p>
              <a:p>
                <a:pPr marL="0" indent="0">
                  <a:lnSpc>
                    <a:spcPct val="110000"/>
                  </a:lnSpc>
                  <a:buNone/>
                </a:pPr>
                <a:r>
                  <a:rPr lang="ja-JP" altLang="ja-JP" dirty="0"/>
                  <a:t>Havlíček 等把这个框架做成 NISQ 量子设备上的分类器；</a:t>
                </a:r>
                <a:endParaRPr lang="en-US" altLang="ja-JP" dirty="0"/>
              </a:p>
              <a:p>
                <a:pPr marL="0" indent="0">
                  <a:lnSpc>
                    <a:spcPct val="110000"/>
                  </a:lnSpc>
                  <a:buNone/>
                </a:pPr>
                <a:r>
                  <a:rPr lang="ja-JP" altLang="ja-JP" dirty="0"/>
                  <a:t>Liu–Arunachalam–Temme 给出一个严格量子加速例子；</a:t>
                </a:r>
                <a:endParaRPr lang="en-US" altLang="ja-JP" dirty="0"/>
              </a:p>
              <a:p>
                <a:pPr marL="0" indent="0">
                  <a:lnSpc>
                    <a:spcPct val="110000"/>
                  </a:lnSpc>
                  <a:buNone/>
                </a:pPr>
                <a:r>
                  <a:rPr lang="ja-JP" altLang="ja-JP" dirty="0"/>
                  <a:t>Huang 等则提醒：巨大 Hilbert 空间本身不等于优势，数据和核几何才决定泛化能力</a:t>
                </a:r>
                <a:r>
                  <a:rPr lang="ja-JP" altLang="ja-JP" b="1" dirty="0"/>
                  <a:t>。</a:t>
                </a:r>
                <a:r>
                  <a:rPr lang="ja-JP" altLang="ja-JP" dirty="0"/>
                  <a:t> </a:t>
                </a:r>
                <a:endParaRPr lang="en-US" altLang="ja-JP" dirty="0"/>
              </a:p>
            </p:txBody>
          </p:sp>
        </mc:Choice>
        <mc:Fallback>
          <p:sp>
            <p:nvSpPr>
              <p:cNvPr id="12" name="コンテンツ プレースホルダー 2">
                <a:extLst>
                  <a:ext uri="{FF2B5EF4-FFF2-40B4-BE49-F238E27FC236}">
                    <a16:creationId xmlns:a16="http://schemas.microsoft.com/office/drawing/2014/main" id="{9909A495-B2BD-C752-1104-0AE55818154D}"/>
                  </a:ext>
                </a:extLst>
              </p:cNvPr>
              <p:cNvSpPr>
                <a:spLocks noGrp="1" noRot="1" noChangeAspect="1" noMove="1" noResize="1" noEditPoints="1" noAdjustHandles="1" noChangeArrowheads="1" noChangeShapeType="1" noTextEdit="1"/>
              </p:cNvSpPr>
              <p:nvPr>
                <p:ph idx="1"/>
              </p:nvPr>
            </p:nvSpPr>
            <p:spPr>
              <a:xfrm>
                <a:off x="157480" y="1162878"/>
                <a:ext cx="11877040" cy="5268402"/>
              </a:xfrm>
              <a:blipFill>
                <a:blip r:embed="rId3"/>
                <a:stretch>
                  <a:fillRect l="-565" t="-914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917399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CD4F2-1ACE-5C4C-C360-F6F74F5E6493}"/>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5A98EBD8-4CF2-0436-E009-E90C44DFFD94}"/>
              </a:ext>
            </a:extLst>
          </p:cNvPr>
          <p:cNvSpPr>
            <a:spLocks noGrp="1" noChangeArrowheads="1"/>
          </p:cNvSpPr>
          <p:nvPr>
            <p:ph type="title"/>
          </p:nvPr>
        </p:nvSpPr>
        <p:spPr/>
        <p:txBody>
          <a:bodyPr/>
          <a:lstStyle/>
          <a:p>
            <a:r>
              <a:rPr lang="ja-JP" altLang="ja-JP" dirty="0"/>
              <a:t>Schuld &amp; Killoran：量子编码就是 Hilbert 空间特征映射</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663CC625-44E5-6312-3195-282B8AF0BFD1}"/>
                  </a:ext>
                </a:extLst>
              </p:cNvPr>
              <p:cNvSpPr>
                <a:spLocks noGrp="1"/>
              </p:cNvSpPr>
              <p:nvPr>
                <p:ph idx="1"/>
              </p:nvPr>
            </p:nvSpPr>
            <p:spPr>
              <a:xfrm>
                <a:off x="27940" y="1088450"/>
                <a:ext cx="12034520" cy="5268402"/>
              </a:xfrm>
            </p:spPr>
            <p:txBody>
              <a:bodyPr/>
              <a:lstStyle/>
              <a:p>
                <a:pPr marL="0" indent="0">
                  <a:buNone/>
                </a:pPr>
                <a:r>
                  <a:rPr lang="ja-JP" altLang="ja-JP" dirty="0"/>
                  <a:t>论文的核心公式是：</a:t>
                </a:r>
                <a14:m>
                  <m:oMath xmlns:m="http://schemas.openxmlformats.org/officeDocument/2006/math">
                    <m:d>
                      <m:dPr>
                        <m:begChr m:val=""/>
                        <m:endChr m:val="⟩"/>
                        <m:ctrlPr>
                          <a:rPr lang="ja-JP" altLang="en-US"/>
                        </m:ctrlPr>
                      </m:dPr>
                      <m:e>
                        <m:r>
                          <a:rPr lang="ja-JP" altLang="en-US" i="1"/>
                          <m:t>𝑥</m:t>
                        </m:r>
                        <m:r>
                          <a:rPr lang="ja-JP" altLang="en-US"/>
                          <m:t>↦∣</m:t>
                        </m:r>
                        <m:r>
                          <a:rPr lang="ja-JP" altLang="en-US" i="1"/>
                          <m:t>𝜙</m:t>
                        </m:r>
                        <m:d>
                          <m:dPr>
                            <m:ctrlPr>
                              <a:rPr lang="ja-JP" altLang="en-US" i="1"/>
                            </m:ctrlPr>
                          </m:dPr>
                          <m:e>
                            <m:r>
                              <a:rPr lang="ja-JP" altLang="en-US" i="1"/>
                              <m:t>𝑥</m:t>
                            </m:r>
                          </m:e>
                        </m:d>
                      </m:e>
                    </m:d>
                  </m:oMath>
                </a14:m>
                <a:endParaRPr lang="en-US" altLang="ja-JP" dirty="0"/>
              </a:p>
              <a:p>
                <a:pPr marL="0" indent="0">
                  <a:buNone/>
                </a:pPr>
                <a:r>
                  <a:rPr lang="ja-JP" altLang="ja-JP" dirty="0"/>
                  <a:t> </a:t>
                </a:r>
                <a14:m>
                  <m:oMath xmlns:m="http://schemas.openxmlformats.org/officeDocument/2006/math">
                    <m:r>
                      <a:rPr lang="ja-JP" altLang="en-US" i="1"/>
                      <m:t>𝑥</m:t>
                    </m:r>
                  </m:oMath>
                </a14:m>
                <a:r>
                  <a:rPr lang="ja-JP" altLang="ja-JP" dirty="0"/>
                  <a:t>是经典输入，</a:t>
                </a:r>
                <a14:m>
                  <m:oMath xmlns:m="http://schemas.openxmlformats.org/officeDocument/2006/math">
                    <m:d>
                      <m:dPr>
                        <m:begChr m:val=""/>
                        <m:endChr m:val="⟩"/>
                        <m:ctrlPr>
                          <a:rPr lang="ja-JP" altLang="en-US"/>
                        </m:ctrlPr>
                      </m:dPr>
                      <m:e>
                        <m:r>
                          <a:rPr lang="ja-JP" altLang="en-US"/>
                          <m:t>∣</m:t>
                        </m:r>
                        <m:r>
                          <a:rPr lang="ja-JP" altLang="en-US" i="1"/>
                          <m:t>𝜙</m:t>
                        </m:r>
                        <m:d>
                          <m:dPr>
                            <m:ctrlPr>
                              <a:rPr lang="ja-JP" altLang="en-US" i="1"/>
                            </m:ctrlPr>
                          </m:dPr>
                          <m:e>
                            <m:r>
                              <a:rPr lang="ja-JP" altLang="en-US" i="1"/>
                              <m:t>𝑥</m:t>
                            </m:r>
                          </m:e>
                        </m:d>
                      </m:e>
                    </m:d>
                  </m:oMath>
                </a14:m>
                <a:r>
                  <a:rPr lang="ja-JP" altLang="ja-JP" dirty="0"/>
                  <a:t> 是量子态。</a:t>
                </a:r>
                <a:endParaRPr lang="en-US" altLang="ja-JP" dirty="0"/>
              </a:p>
              <a:p>
                <a:pPr marL="0" indent="0">
                  <a:buNone/>
                </a:pPr>
                <a:r>
                  <a:rPr lang="ja-JP" altLang="ja-JP" dirty="0"/>
                  <a:t>量子态所在的 Hilbert 空间被解释成机器学习里的 feature space。</a:t>
                </a:r>
                <a:r>
                  <a:rPr lang="ja-JP" altLang="en-US" dirty="0"/>
                  <a:t>（</a:t>
                </a:r>
                <a:r>
                  <a:rPr lang="ja-JP" altLang="ja-JP" dirty="0"/>
                  <a:t>量子态空间可以被理解为一种特殊的、由量子系统实现的特征空间</a:t>
                </a:r>
                <a:r>
                  <a:rPr lang="ja-JP" altLang="en-US" dirty="0"/>
                  <a:t>）</a:t>
                </a:r>
                <a:endParaRPr lang="ja-JP" altLang="ja-JP" dirty="0"/>
              </a:p>
              <a:p>
                <a:pPr marL="0" indent="0">
                  <a:buNone/>
                </a:pPr>
                <a:endParaRPr lang="en-US" altLang="ja-JP" dirty="0"/>
              </a:p>
              <a:p>
                <a:pPr marL="0" indent="0">
                  <a:buNone/>
                </a:pPr>
                <a:r>
                  <a:rPr lang="ja-JP" altLang="ja-JP" dirty="0"/>
                  <a:t>提出两种量子分类方法：</a:t>
                </a:r>
              </a:p>
              <a:p>
                <a:r>
                  <a:rPr lang="ja-JP" altLang="ja-JP" b="1" dirty="0"/>
                  <a:t>第一种：隐式核方法。</a:t>
                </a:r>
                <a:endParaRPr lang="ja-JP" altLang="ja-JP" dirty="0"/>
              </a:p>
              <a:p>
                <a:pPr marL="400050" lvl="1" indent="0">
                  <a:buNone/>
                </a:pPr>
                <a:r>
                  <a:rPr lang="ja-JP" altLang="ja-JP" dirty="0"/>
                  <a:t>量子计算机只负责估计：</a:t>
                </a:r>
                <a14:m>
                  <m:oMath xmlns:m="http://schemas.openxmlformats.org/officeDocument/2006/math">
                    <m:r>
                      <a:rPr lang="ja-JP" altLang="en-US" i="1"/>
                      <m:t>𝐾</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r>
                          <a:rPr lang="ja-JP" altLang="en-US" i="1"/>
                          <m:t>𝜙</m:t>
                        </m:r>
                        <m:d>
                          <m:dPr>
                            <m:ctrlPr>
                              <a:rPr lang="ja-JP" altLang="en-US" i="1"/>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e>
                    </m:d>
                  </m:oMath>
                </a14:m>
                <a:r>
                  <a:rPr lang="en-US" altLang="ja-JP" dirty="0"/>
                  <a:t> </a:t>
                </a:r>
                <a:r>
                  <a:rPr lang="ja-JP" altLang="ja-JP" dirty="0"/>
                  <a:t>或</a:t>
                </a:r>
                <a:r>
                  <a:rPr lang="en-US" altLang="ja-JP" dirty="0"/>
                  <a:t> </a:t>
                </a:r>
                <a14:m>
                  <m:oMath xmlns:m="http://schemas.openxmlformats.org/officeDocument/2006/math">
                    <m:r>
                      <a:rPr lang="ja-JP" altLang="en-US" i="1"/>
                      <m:t>𝐾</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r>
                          <a:rPr lang="ja-JP" altLang="en-US" i="1"/>
                          <m:t>𝜙</m:t>
                        </m:r>
                        <m:d>
                          <m:dPr>
                            <m:ctrlPr>
                              <a:rPr lang="ja-JP" altLang="en-US" i="1"/>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e>
                    </m:d>
                    <m:sSup>
                      <m:sSupPr>
                        <m:ctrlPr>
                          <a:rPr lang="ja-JP" altLang="en-US" i="1"/>
                        </m:ctrlPr>
                      </m:sSupPr>
                      <m:e>
                        <m:r>
                          <a:rPr lang="ja-JP" altLang="en-US"/>
                          <m:t>∣</m:t>
                        </m:r>
                      </m:e>
                      <m:sup>
                        <m:r>
                          <a:rPr lang="en-US" altLang="ja-JP"/>
                          <m:t>2</m:t>
                        </m:r>
                      </m:sup>
                    </m:sSup>
                    <m:r>
                      <a:rPr lang="en-US" altLang="ja-JP"/>
                      <m:t>.</m:t>
                    </m:r>
                  </m:oMath>
                </a14:m>
                <a:r>
                  <a:rPr lang="en-US" altLang="ja-JP" dirty="0"/>
                  <a:t> </a:t>
                </a:r>
                <a:r>
                  <a:rPr lang="ja-JP" altLang="ja-JP" dirty="0"/>
                  <a:t>然后把这个核矩阵交给经典 SVM、kernel ridge regression 等方法。</a:t>
                </a:r>
              </a:p>
              <a:p>
                <a:r>
                  <a:rPr lang="ja-JP" altLang="ja-JP" b="1" dirty="0"/>
                  <a:t>第二种：显式 Hilbert 空间分类。</a:t>
                </a:r>
                <a:endParaRPr lang="ja-JP" altLang="ja-JP" dirty="0"/>
              </a:p>
              <a:p>
                <a:pPr marL="400050" lvl="1" indent="0">
                  <a:buNone/>
                </a:pPr>
                <a:r>
                  <a:rPr lang="ja-JP" altLang="ja-JP" dirty="0"/>
                  <a:t>直接训练一个变分量子线路，让它在量子 Hilbert 空间中实现类似</a:t>
                </a:r>
                <a14:m>
                  <m:oMath xmlns:m="http://schemas.openxmlformats.org/officeDocument/2006/math">
                    <m:r>
                      <a:rPr lang="ja-JP" altLang="en-US" i="1"/>
                      <m:t>𝑓</m:t>
                    </m:r>
                    <m:d>
                      <m:dPr>
                        <m:ctrlPr>
                          <a:rPr lang="ja-JP" altLang="en-US" i="1"/>
                        </m:ctrlPr>
                      </m:dPr>
                      <m:e>
                        <m:r>
                          <a:rPr lang="ja-JP" altLang="en-US" i="1"/>
                          <m:t>𝑥</m:t>
                        </m:r>
                      </m:e>
                    </m:d>
                    <m:r>
                      <a:rPr lang="en-US" altLang="ja-JP"/>
                      <m:t>=</m:t>
                    </m:r>
                    <m:d>
                      <m:dPr>
                        <m:begChr m:val="⟨"/>
                        <m:endChr m:val="⟩"/>
                        <m:sepChr m:val=","/>
                        <m:ctrlPr>
                          <a:rPr lang="ja-JP" altLang="en-US" i="1"/>
                        </m:ctrlPr>
                      </m:dPr>
                      <m:e>
                        <m:r>
                          <a:rPr lang="ja-JP" altLang="en-US" i="1"/>
                          <m:t>𝑤</m:t>
                        </m:r>
                      </m:e>
                      <m:e>
                        <m:r>
                          <a:rPr lang="ja-JP" altLang="en-US" i="1"/>
                          <m:t>𝜙</m:t>
                        </m:r>
                        <m:d>
                          <m:dPr>
                            <m:ctrlPr>
                              <a:rPr lang="ja-JP" altLang="en-US" i="1"/>
                            </m:ctrlPr>
                          </m:dPr>
                          <m:e>
                            <m:r>
                              <a:rPr lang="ja-JP" altLang="en-US" i="1"/>
                              <m:t>𝑥</m:t>
                            </m:r>
                          </m:e>
                        </m:d>
                      </m:e>
                    </m:d>
                  </m:oMath>
                </a14:m>
                <a:r>
                  <a:rPr lang="ja-JP" altLang="ja-JP" dirty="0"/>
                  <a:t>的分类器。</a:t>
                </a:r>
                <a:endParaRPr lang="en-US" altLang="ja-JP" dirty="0"/>
              </a:p>
              <a:p>
                <a:pPr marL="0" indent="0">
                  <a:buNone/>
                </a:pPr>
                <a:endParaRPr lang="en-US" altLang="ja-JP" dirty="0"/>
              </a:p>
              <a:p>
                <a:pPr marL="0" indent="0">
                  <a:buNone/>
                </a:pPr>
                <a:r>
                  <a:rPr lang="ja-JP" altLang="ja-JP" dirty="0"/>
                  <a:t>第一种方法用量子设备估计经典上难算的核，第二种方法把变分量子线路看成 Hilbert 空间中的线性模型</a:t>
                </a:r>
                <a:endParaRPr lang="en-US" altLang="ja-JP" dirty="0"/>
              </a:p>
              <a:p>
                <a:pPr marL="0" indent="0">
                  <a:buNone/>
                </a:pPr>
                <a:r>
                  <a:rPr lang="zh-CN" altLang="en-US" dirty="0"/>
                  <a:t>贡献：</a:t>
                </a:r>
                <a:r>
                  <a:rPr lang="ja-JP" altLang="ja-JP" dirty="0"/>
                  <a:t>给量子机器学习建立一个概念桥梁：</a:t>
                </a:r>
                <a14:m>
                  <m:oMath xmlns:m="http://schemas.openxmlformats.org/officeDocument/2006/math">
                    <m:r>
                      <m:rPr>
                        <m:nor/>
                      </m:rPr>
                      <a:rPr lang="ja-JP" altLang="en-US" b="0"/>
                      <m:t>量子态空间</m:t>
                    </m:r>
                    <m:r>
                      <a:rPr lang="ja-JP" altLang="en-US"/>
                      <m:t>≈</m:t>
                    </m:r>
                    <m:r>
                      <m:rPr>
                        <m:nor/>
                      </m:rPr>
                      <a:rPr lang="ja-JP" altLang="en-US" i="1"/>
                      <m:t>机器学习特征空间</m:t>
                    </m:r>
                    <m:r>
                      <a:rPr lang="en-US" altLang="ja-JP"/>
                      <m:t>.</m:t>
                    </m:r>
                  </m:oMath>
                </a14:m>
                <a:endParaRPr lang="en-US" altLang="ja-JP" b="0" dirty="0"/>
              </a:p>
              <a:p>
                <a:r>
                  <a:rPr lang="ja-JP" altLang="ja-JP" dirty="0"/>
                  <a:t>经典核方法的思想是</a:t>
                </a:r>
                <a:r>
                  <a:rPr lang="ja-JP" altLang="ja-JP" dirty="0">
                    <a:solidFill>
                      <a:srgbClr val="7030A0"/>
                    </a:solidFill>
                  </a:rPr>
                  <a:t>把数据映射到高维甚至无限维空间，使其线性可分，但不显式计算高维向量</a:t>
                </a:r>
                <a:r>
                  <a:rPr lang="ja-JP" altLang="ja-JP" dirty="0"/>
                  <a:t>，只计算核。量子计算的思想是</a:t>
                </a:r>
                <a:r>
                  <a:rPr lang="ja-JP" altLang="ja-JP" dirty="0">
                    <a:solidFill>
                      <a:srgbClr val="7030A0"/>
                    </a:solidFill>
                  </a:rPr>
                  <a:t>自然地操作指数维 Hilbert 空间中的态</a:t>
                </a:r>
                <a:r>
                  <a:rPr lang="ja-JP" altLang="ja-JP" dirty="0"/>
                  <a:t>。Schuld &amp; Killoran 把这两件事对齐。</a:t>
                </a:r>
              </a:p>
              <a:p>
                <a:pPr marL="0" indent="0">
                  <a:buNone/>
                </a:pPr>
                <a:endParaRPr lang="ja-JP" altLang="ja-JP" dirty="0"/>
              </a:p>
            </p:txBody>
          </p:sp>
        </mc:Choice>
        <mc:Fallback>
          <p:sp>
            <p:nvSpPr>
              <p:cNvPr id="12" name="コンテンツ プレースホルダー 2">
                <a:extLst>
                  <a:ext uri="{FF2B5EF4-FFF2-40B4-BE49-F238E27FC236}">
                    <a16:creationId xmlns:a16="http://schemas.microsoft.com/office/drawing/2014/main" id="{663CC625-44E5-6312-3195-282B8AF0BFD1}"/>
                  </a:ext>
                </a:extLst>
              </p:cNvPr>
              <p:cNvSpPr>
                <a:spLocks noGrp="1" noRot="1" noChangeAspect="1" noMove="1" noResize="1" noEditPoints="1" noAdjustHandles="1" noChangeArrowheads="1" noChangeShapeType="1" noTextEdit="1"/>
              </p:cNvSpPr>
              <p:nvPr>
                <p:ph idx="1"/>
              </p:nvPr>
            </p:nvSpPr>
            <p:spPr>
              <a:xfrm>
                <a:off x="27940" y="1088450"/>
                <a:ext cx="12034520" cy="5268402"/>
              </a:xfrm>
              <a:blipFill>
                <a:blip r:embed="rId3"/>
                <a:stretch>
                  <a:fillRect l="-557" t="-9259" r="-456" b="-1030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294844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E7A14-7694-CF08-0353-242EB7DBB58F}"/>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8B174791-72DB-682E-CB51-4F79A033E5BD}"/>
              </a:ext>
            </a:extLst>
          </p:cNvPr>
          <p:cNvSpPr>
            <a:spLocks noGrp="1" noChangeArrowheads="1"/>
          </p:cNvSpPr>
          <p:nvPr>
            <p:ph type="title"/>
          </p:nvPr>
        </p:nvSpPr>
        <p:spPr/>
        <p:txBody>
          <a:bodyPr/>
          <a:lstStyle/>
          <a:p>
            <a:r>
              <a:rPr lang="ja-JP" altLang="ja-JP" dirty="0"/>
              <a:t>Schuld &amp; Killoran：量子编码就是 Hilbert 空间特征映射</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C4B6688-89E7-D75D-84B0-09DEED2973DC}"/>
                  </a:ext>
                </a:extLst>
              </p:cNvPr>
              <p:cNvSpPr>
                <a:spLocks noGrp="1"/>
              </p:cNvSpPr>
              <p:nvPr>
                <p:ph idx="1"/>
              </p:nvPr>
            </p:nvSpPr>
            <p:spPr>
              <a:xfrm>
                <a:off x="157480" y="1212151"/>
                <a:ext cx="11877040" cy="5268402"/>
              </a:xfrm>
            </p:spPr>
            <p:txBody>
              <a:bodyPr/>
              <a:lstStyle/>
              <a:p>
                <a:pPr marL="0" indent="0">
                  <a:lnSpc>
                    <a:spcPct val="110000"/>
                  </a:lnSpc>
                  <a:buNone/>
                </a:pPr>
                <a:r>
                  <a:rPr lang="ja-JP" altLang="ja-JP" b="1" dirty="0"/>
                  <a:t>量子机器学习不一定要模仿神经网络，量子计算机天然适合做“核机器”</a:t>
                </a:r>
                <a:endParaRPr lang="en-US" altLang="ja-JP" b="1" dirty="0"/>
              </a:p>
              <a:p>
                <a:pPr marL="0" indent="0">
                  <a:lnSpc>
                    <a:spcPct val="110000"/>
                  </a:lnSpc>
                  <a:buNone/>
                </a:pPr>
                <a:r>
                  <a:rPr lang="zh-CN" altLang="en-US" b="1" dirty="0"/>
                  <a:t>理由：</a:t>
                </a:r>
                <a:r>
                  <a:rPr lang="ja-JP" altLang="ja-JP" b="1" dirty="0"/>
                  <a:t>量子计算机天然就在 Hilbert 空间中工作</a:t>
                </a:r>
              </a:p>
              <a:p>
                <a:pPr>
                  <a:lnSpc>
                    <a:spcPct val="110000"/>
                  </a:lnSpc>
                </a:pPr>
                <a:r>
                  <a:rPr lang="ja-JP" altLang="ja-JP" dirty="0"/>
                  <a:t>一个 </a:t>
                </a:r>
                <a14:m>
                  <m:oMath xmlns:m="http://schemas.openxmlformats.org/officeDocument/2006/math">
                    <m:r>
                      <a:rPr lang="ja-JP" altLang="en-US" i="1"/>
                      <m:t>𝑛</m:t>
                    </m:r>
                  </m:oMath>
                </a14:m>
                <a:r>
                  <a:rPr lang="ja-JP" altLang="ja-JP" dirty="0"/>
                  <a:t>比特经典系统的状态只是 </a:t>
                </a:r>
                <a14:m>
                  <m:oMath xmlns:m="http://schemas.openxmlformats.org/officeDocument/2006/math">
                    <m:r>
                      <a:rPr lang="ja-JP" altLang="en-US" i="1"/>
                      <m:t>𝑛</m:t>
                    </m:r>
                  </m:oMath>
                </a14:m>
                <a:r>
                  <a:rPr lang="ja-JP" altLang="ja-JP" dirty="0"/>
                  <a:t>个 0/1 值。但一个 </a:t>
                </a:r>
                <a14:m>
                  <m:oMath xmlns:m="http://schemas.openxmlformats.org/officeDocument/2006/math">
                    <m:r>
                      <a:rPr lang="ja-JP" altLang="en-US" i="1"/>
                      <m:t>𝑛</m:t>
                    </m:r>
                  </m:oMath>
                </a14:m>
                <a:r>
                  <a:rPr lang="ja-JP" altLang="ja-JP" dirty="0"/>
                  <a:t>量子比特系统的状态是：</a:t>
                </a:r>
                <a:endParaRPr lang="en-US" altLang="ja-JP" dirty="0"/>
              </a:p>
              <a:p>
                <a:pPr marL="0" indent="0" algn="ctr">
                  <a:buNone/>
                </a:pPr>
                <a14:m>
                  <m:oMath xmlns:m="http://schemas.openxmlformats.org/officeDocument/2006/math">
                    <m:d>
                      <m:dPr>
                        <m:begChr m:val=""/>
                        <m:endChr m:val="⟩"/>
                        <m:ctrlPr>
                          <a:rPr lang="ja-JP" altLang="en-US" i="1">
                            <a:latin typeface="Cambria Math" panose="02040503050406030204" pitchFamily="18" charset="0"/>
                          </a:rPr>
                        </m:ctrlPr>
                      </m:dPr>
                      <m:e>
                        <m:r>
                          <a:rPr lang="ja-JP" altLang="en-US">
                            <a:latin typeface="Cambria Math" panose="02040503050406030204" pitchFamily="18" charset="0"/>
                          </a:rPr>
                          <m:t>∣</m:t>
                        </m:r>
                        <m:r>
                          <a:rPr lang="ja-JP" altLang="en-US" i="1">
                            <a:latin typeface="Cambria Math" panose="02040503050406030204" pitchFamily="18" charset="0"/>
                          </a:rPr>
                          <m:t>𝜓</m:t>
                        </m:r>
                      </m:e>
                    </m:d>
                    <m:r>
                      <a:rPr lang="en-US" altLang="ja-JP">
                        <a:latin typeface="Cambria Math" panose="02040503050406030204" pitchFamily="18" charset="0"/>
                      </a:rPr>
                      <m:t>=</m:t>
                    </m:r>
                    <m:nary>
                      <m:naryPr>
                        <m:chr m:val="∑"/>
                        <m:grow m:val="on"/>
                        <m:supHide m:val="on"/>
                        <m:ctrlPr>
                          <a:rPr lang="ja-JP" altLang="en-US" i="1">
                            <a:latin typeface="Cambria Math" panose="02040503050406030204" pitchFamily="18" charset="0"/>
                          </a:rPr>
                        </m:ctrlPr>
                      </m:naryPr>
                      <m:sub>
                        <m:r>
                          <a:rPr lang="ja-JP" altLang="en-US" i="1">
                            <a:latin typeface="Cambria Math" panose="02040503050406030204" pitchFamily="18" charset="0"/>
                          </a:rPr>
                          <m:t>𝑧</m:t>
                        </m:r>
                        <m:r>
                          <a:rPr lang="ja-JP" altLang="en-US">
                            <a:latin typeface="Cambria Math" panose="02040503050406030204" pitchFamily="18" charset="0"/>
                          </a:rPr>
                          <m:t>∈</m:t>
                        </m:r>
                        <m:sSup>
                          <m:sSupPr>
                            <m:ctrlPr>
                              <a:rPr lang="ja-JP" altLang="en-US" i="1">
                                <a:latin typeface="Cambria Math" panose="02040503050406030204" pitchFamily="18" charset="0"/>
                              </a:rPr>
                            </m:ctrlPr>
                          </m:sSupPr>
                          <m:e>
                            <m:d>
                              <m:dPr>
                                <m:begChr m:val="{"/>
                                <m:endChr m:val="}"/>
                                <m:sepChr m:val=","/>
                                <m:ctrlPr>
                                  <a:rPr lang="ja-JP" altLang="en-US" i="1">
                                    <a:latin typeface="Cambria Math" panose="02040503050406030204" pitchFamily="18" charset="0"/>
                                  </a:rPr>
                                </m:ctrlPr>
                              </m:dPr>
                              <m:e>
                                <m:r>
                                  <a:rPr lang="en-US" altLang="ja-JP">
                                    <a:latin typeface="Cambria Math" panose="02040503050406030204" pitchFamily="18" charset="0"/>
                                  </a:rPr>
                                  <m:t>0</m:t>
                                </m:r>
                              </m:e>
                              <m:e>
                                <m:r>
                                  <a:rPr lang="en-US" altLang="ja-JP">
                                    <a:latin typeface="Cambria Math" panose="02040503050406030204" pitchFamily="18" charset="0"/>
                                  </a:rPr>
                                  <m:t>1</m:t>
                                </m:r>
                              </m:e>
                            </m:d>
                          </m:e>
                          <m:sup>
                            <m:r>
                              <a:rPr lang="ja-JP" altLang="en-US" i="1">
                                <a:latin typeface="Cambria Math" panose="02040503050406030204" pitchFamily="18" charset="0"/>
                              </a:rPr>
                              <m:t>𝑛</m:t>
                            </m:r>
                          </m:sup>
                        </m:sSup>
                      </m:sub>
                      <m:sup/>
                      <m:e>
                        <m:sSub>
                          <m:sSubPr>
                            <m:ctrlPr>
                              <a:rPr lang="ja-JP" altLang="en-US" i="1">
                                <a:latin typeface="Cambria Math" panose="02040503050406030204" pitchFamily="18" charset="0"/>
                              </a:rPr>
                            </m:ctrlPr>
                          </m:sSubPr>
                          <m:e>
                            <m:r>
                              <a:rPr lang="ja-JP" altLang="en-US" i="1">
                                <a:latin typeface="Cambria Math" panose="02040503050406030204" pitchFamily="18" charset="0"/>
                              </a:rPr>
                              <m:t>𝛼</m:t>
                            </m:r>
                          </m:e>
                          <m:sub>
                            <m:r>
                              <a:rPr lang="ja-JP" altLang="en-US" i="1">
                                <a:latin typeface="Cambria Math" panose="02040503050406030204" pitchFamily="18" charset="0"/>
                              </a:rPr>
                              <m:t>𝑧</m:t>
                            </m:r>
                          </m:sub>
                        </m:sSub>
                      </m:e>
                    </m:nary>
                    <m:d>
                      <m:dPr>
                        <m:begChr m:val=""/>
                        <m:endChr m:val="⟩"/>
                        <m:ctrlPr>
                          <a:rPr lang="ja-JP" altLang="en-US" i="1">
                            <a:latin typeface="Cambria Math" panose="02040503050406030204" pitchFamily="18" charset="0"/>
                          </a:rPr>
                        </m:ctrlPr>
                      </m:dPr>
                      <m:e>
                        <m:r>
                          <a:rPr lang="ja-JP" altLang="en-US">
                            <a:latin typeface="Cambria Math" panose="02040503050406030204" pitchFamily="18" charset="0"/>
                          </a:rPr>
                          <m:t>∣</m:t>
                        </m:r>
                        <m:r>
                          <m:rPr>
                            <m:sty m:val="p"/>
                          </m:rPr>
                          <a:rPr lang="en-US" altLang="ja-JP" i="1">
                            <a:latin typeface="Cambria Math" panose="02040503050406030204" pitchFamily="18" charset="0"/>
                          </a:rPr>
                          <m:t>z</m:t>
                        </m:r>
                      </m:e>
                    </m:d>
                  </m:oMath>
                </a14:m>
                <a:r>
                  <a:rPr lang="en-US" altLang="ja-JP" dirty="0"/>
                  <a:t>,</a:t>
                </a:r>
                <a:r>
                  <a:rPr lang="ja-JP" altLang="ja-JP" dirty="0"/>
                  <a:t>如果有 </a:t>
                </a:r>
                <a14:m>
                  <m:oMath xmlns:m="http://schemas.openxmlformats.org/officeDocument/2006/math">
                    <m:r>
                      <a:rPr lang="ja-JP" altLang="en-US" i="1"/>
                      <m:t>𝑛</m:t>
                    </m:r>
                  </m:oMath>
                </a14:m>
                <a:r>
                  <a:rPr lang="ja-JP" altLang="ja-JP" dirty="0"/>
                  <a:t>个 qubit，那么：</a:t>
                </a:r>
                <a14:m>
                  <m:oMath xmlns:m="http://schemas.openxmlformats.org/officeDocument/2006/math">
                    <m:r>
                      <a:rPr lang="en-US" altLang="ja-JP"/>
                      <m:t>ℋ</m:t>
                    </m:r>
                    <m:r>
                      <a:rPr lang="en-US" altLang="ja-JP"/>
                      <m:t>=</m:t>
                    </m:r>
                    <m:sSup>
                      <m:sSupPr>
                        <m:ctrlPr>
                          <a:rPr lang="ja-JP" altLang="en-US" i="1"/>
                        </m:ctrlPr>
                      </m:sSupPr>
                      <m:e>
                        <m:d>
                          <m:dPr>
                            <m:ctrlPr>
                              <a:rPr lang="ja-JP" altLang="en-US" i="1"/>
                            </m:ctrlPr>
                          </m:dPr>
                          <m:e>
                            <m:sSup>
                              <m:sSupPr>
                                <m:ctrlPr>
                                  <a:rPr lang="ja-JP" altLang="en-US" i="1"/>
                                </m:ctrlPr>
                              </m:sSupPr>
                              <m:e>
                                <m:r>
                                  <a:rPr lang="en-US" altLang="ja-JP"/>
                                  <m:t>ℂ</m:t>
                                </m:r>
                              </m:e>
                              <m:sup>
                                <m:r>
                                  <a:rPr lang="en-US" altLang="ja-JP"/>
                                  <m:t>2</m:t>
                                </m:r>
                              </m:sup>
                            </m:sSup>
                          </m:e>
                        </m:d>
                      </m:e>
                      <m:sup>
                        <m:nary>
                          <m:naryPr>
                            <m:chr m:val="⊗"/>
                            <m:subHide m:val="on"/>
                            <m:supHide m:val="on"/>
                            <m:ctrlPr>
                              <a:rPr lang="ja-JP" altLang="en-US" i="1"/>
                            </m:ctrlPr>
                          </m:naryPr>
                          <m:sub/>
                          <m:sup/>
                          <m:e>
                            <m:r>
                              <a:rPr lang="ja-JP" altLang="en-US" i="1"/>
                              <m:t>𝑛</m:t>
                            </m:r>
                          </m:e>
                        </m:nary>
                      </m:sup>
                    </m:sSup>
                    <m:r>
                      <a:rPr lang="en-US" altLang="ja-JP"/>
                      <m:t>,</m:t>
                    </m:r>
                  </m:oMath>
                </a14:m>
                <a:endParaRPr lang="en-US" altLang="ja-JP" dirty="0"/>
              </a:p>
              <a:p>
                <a:pPr>
                  <a:lnSpc>
                    <a:spcPct val="110000"/>
                  </a:lnSpc>
                </a:pPr>
                <a:r>
                  <a:rPr lang="ja-JP" altLang="ja-JP" dirty="0"/>
                  <a:t>这个向量生活在维度为 </a:t>
                </a:r>
                <a14:m>
                  <m:oMath xmlns:m="http://schemas.openxmlformats.org/officeDocument/2006/math">
                    <m:sSup>
                      <m:sSupPr>
                        <m:ctrlPr>
                          <a:rPr lang="ja-JP" altLang="en-US"/>
                        </m:ctrlPr>
                      </m:sSupPr>
                      <m:e>
                        <m:r>
                          <a:rPr lang="en-US" altLang="ja-JP"/>
                          <m:t>2</m:t>
                        </m:r>
                      </m:e>
                      <m:sup>
                        <m:r>
                          <a:rPr lang="ja-JP" altLang="en-US" i="1"/>
                          <m:t>𝑛</m:t>
                        </m:r>
                      </m:sup>
                    </m:sSup>
                  </m:oMath>
                </a14:m>
                <a:r>
                  <a:rPr lang="ja-JP" altLang="ja-JP" dirty="0"/>
                  <a:t>的复 Hilbert 空间中。所以量子计算机天然可以表示和操作一个指数维 Hilbert 空间中的向量。这正好对应核方法中的“高维特征空间”</a:t>
                </a:r>
                <a:r>
                  <a:rPr lang="en-US" altLang="ja-JP" dirty="0"/>
                  <a:t>(</a:t>
                </a:r>
                <a:r>
                  <a:rPr lang="ja-JP" altLang="ja-JP" dirty="0"/>
                  <a:t>量子计算机可以在这个量子 Hilbert 空间中分析数据</a:t>
                </a:r>
                <a:r>
                  <a:rPr lang="en-US" altLang="ja-JP" dirty="0"/>
                  <a:t>)</a:t>
                </a:r>
                <a:r>
                  <a:rPr lang="ja-JP" altLang="ja-JP" dirty="0"/>
                  <a:t>。</a:t>
                </a:r>
                <a:endParaRPr lang="en-US" altLang="ja-JP" dirty="0"/>
              </a:p>
              <a:p>
                <a:pPr marL="0" indent="0">
                  <a:buNone/>
                </a:pPr>
                <a:r>
                  <a:rPr lang="ja-JP" altLang="ja-JP" dirty="0"/>
                  <a:t>核机器最需要的是计算：</a:t>
                </a:r>
                <a14:m>
                  <m:oMath xmlns:m="http://schemas.openxmlformats.org/officeDocument/2006/math">
                    <m:r>
                      <a:rPr lang="ja-JP" altLang="en-US" i="1"/>
                      <m:t>𝐾</m:t>
                    </m:r>
                    <m:d>
                      <m:dPr>
                        <m:sepChr m:val=","/>
                        <m:ctrlPr>
                          <a:rPr lang="ja-JP" altLang="en-US" i="1"/>
                        </m:ctrlPr>
                      </m:dPr>
                      <m:e>
                        <m:r>
                          <a:rPr lang="ja-JP" altLang="en-US" i="1"/>
                          <m:t>𝑥</m:t>
                        </m:r>
                      </m:e>
                      <m:e>
                        <m:sSup>
                          <m:sSupPr>
                            <m:ctrlPr>
                              <a:rPr lang="ja-JP" altLang="en-US" i="1"/>
                            </m:ctrlPr>
                          </m:sSupPr>
                          <m:e>
                            <m:r>
                              <a:rPr lang="ja-JP" altLang="en-US" i="1"/>
                              <m:t>𝑥</m:t>
                            </m:r>
                          </m:e>
                          <m:sup>
                            <m:r>
                              <a:rPr lang="en-US" altLang="ja-JP"/>
                              <m:t>′</m:t>
                            </m:r>
                          </m:sup>
                        </m:sSup>
                      </m:e>
                    </m:d>
                    <m:r>
                      <a:rPr lang="en-US" altLang="ja-JP"/>
                      <m:t>=</m:t>
                    </m:r>
                    <m:d>
                      <m:dPr>
                        <m:begChr m:val="⟨"/>
                        <m:endChr m:val="⟩"/>
                        <m:sepChr m:val=","/>
                        <m:ctrlPr>
                          <a:rPr lang="ja-JP" altLang="en-US" i="1"/>
                        </m:ctrlPr>
                      </m:dPr>
                      <m:e>
                        <m:r>
                          <m:rPr>
                            <m:sty m:val="p"/>
                          </m:rPr>
                          <a:rPr lang="en-US" altLang="ja-JP"/>
                          <m:t>Φ</m:t>
                        </m:r>
                        <m:d>
                          <m:dPr>
                            <m:ctrlPr>
                              <a:rPr lang="ja-JP" altLang="en-US" i="1">
                                <a:latin typeface="Cambria Math" panose="02040503050406030204" pitchFamily="18" charset="0"/>
                              </a:rPr>
                            </m:ctrlPr>
                          </m:dPr>
                          <m:e>
                            <m:r>
                              <a:rPr lang="ja-JP" altLang="en-US" i="1">
                                <a:latin typeface="Cambria Math" panose="02040503050406030204" pitchFamily="18" charset="0"/>
                              </a:rPr>
                              <m:t>𝑥</m:t>
                            </m:r>
                          </m:e>
                        </m:d>
                      </m:e>
                      <m:e>
                        <m:r>
                          <m:rPr>
                            <m:sty m:val="p"/>
                          </m:rPr>
                          <a:rPr lang="en-US" altLang="ja-JP"/>
                          <m:t>Φ</m:t>
                        </m:r>
                        <m:d>
                          <m:dPr>
                            <m:ctrlPr>
                              <a:rPr lang="ja-JP" altLang="en-US" i="1"/>
                            </m:ctrlPr>
                          </m:dPr>
                          <m:e>
                            <m:sSup>
                              <m:sSupPr>
                                <m:ctrlPr>
                                  <a:rPr lang="ja-JP" altLang="en-US" i="1"/>
                                </m:ctrlPr>
                              </m:sSupPr>
                              <m:e>
                                <m:r>
                                  <a:rPr lang="ja-JP" altLang="en-US" i="1"/>
                                  <m:t>𝑥</m:t>
                                </m:r>
                              </m:e>
                              <m:sup>
                                <m:r>
                                  <a:rPr lang="en-US" altLang="ja-JP"/>
                                  <m:t>′</m:t>
                                </m:r>
                              </m:sup>
                            </m:sSup>
                          </m:e>
                        </m:d>
                      </m:e>
                    </m:d>
                    <m:r>
                      <a:rPr lang="en-US" altLang="ja-JP"/>
                      <m:t>.</m:t>
                    </m:r>
                  </m:oMath>
                </a14:m>
                <a:r>
                  <a:rPr lang="en-US" altLang="ja-JP" dirty="0"/>
                  <a:t> </a:t>
                </a:r>
                <a:r>
                  <a:rPr lang="ja-JP" altLang="ja-JP" dirty="0"/>
                  <a:t>而量子态之间也有天然内积：</a:t>
                </a:r>
                <a14:m>
                  <m:oMath xmlns:m="http://schemas.openxmlformats.org/officeDocument/2006/math">
                    <m:d>
                      <m:dPr>
                        <m:begChr m:val="⟨"/>
                        <m:endChr m:val="⟩"/>
                        <m:ctrlPr>
                          <a:rPr lang="ja-JP" altLang="en-US"/>
                        </m:ctrlPr>
                      </m:dPr>
                      <m:e>
                        <m:r>
                          <a:rPr lang="ja-JP" altLang="en-US" i="1"/>
                          <m:t>𝜙</m:t>
                        </m:r>
                        <m:d>
                          <m:dPr>
                            <m:ctrlPr>
                              <a:rPr lang="ja-JP" altLang="en-US" i="1"/>
                            </m:ctrlPr>
                          </m:dPr>
                          <m:e>
                            <m:r>
                              <a:rPr lang="ja-JP" altLang="en-US" i="1"/>
                              <m:t>𝑥</m:t>
                            </m:r>
                          </m:e>
                        </m:d>
                        <m:r>
                          <a:rPr lang="ja-JP" altLang="en-US"/>
                          <m:t>∣</m:t>
                        </m:r>
                        <m:r>
                          <a:rPr lang="ja-JP" altLang="en-US" i="1"/>
                          <m:t>𝜙</m:t>
                        </m:r>
                        <m:d>
                          <m:dPr>
                            <m:ctrlPr>
                              <a:rPr lang="ja-JP" altLang="en-US" i="1"/>
                            </m:ctrlPr>
                          </m:dPr>
                          <m:e>
                            <m:sSup>
                              <m:sSupPr>
                                <m:ctrlPr>
                                  <a:rPr lang="ja-JP" altLang="en-US" i="1"/>
                                </m:ctrlPr>
                              </m:sSupPr>
                              <m:e>
                                <m:r>
                                  <a:rPr lang="ja-JP" altLang="en-US" i="1"/>
                                  <m:t>𝑥</m:t>
                                </m:r>
                              </m:e>
                              <m:sup>
                                <m:r>
                                  <a:rPr lang="en-US" altLang="ja-JP"/>
                                  <m:t>′</m:t>
                                </m:r>
                              </m:sup>
                            </m:sSup>
                          </m:e>
                        </m:d>
                      </m:e>
                    </m:d>
                    <m:r>
                      <a:rPr lang="en-US" altLang="ja-JP"/>
                      <m:t>.</m:t>
                    </m:r>
                  </m:oMath>
                </a14:m>
                <a:endParaRPr lang="en-US" altLang="ja-JP" dirty="0"/>
              </a:p>
              <a:p>
                <a:pPr marL="0" indent="0">
                  <a:buNone/>
                </a:pPr>
                <a:r>
                  <a:rPr lang="ja-JP" altLang="ja-JP" dirty="0"/>
                  <a:t>所以可以定义量子核：</a:t>
                </a:r>
                <a14:m>
                  <m:oMath xmlns:m="http://schemas.openxmlformats.org/officeDocument/2006/math">
                    <m:r>
                      <a:rPr lang="ja-JP" altLang="en-US" i="1"/>
                      <m:t>𝐾</m:t>
                    </m:r>
                    <m:d>
                      <m:dPr>
                        <m:sepChr m:val=","/>
                        <m:ctrlPr>
                          <a:rPr lang="ja-JP" altLang="en-US" i="1"/>
                        </m:ctrlPr>
                      </m:dPr>
                      <m:e>
                        <m:r>
                          <a:rPr lang="ja-JP" altLang="en-US" i="1"/>
                          <m:t>𝑥</m:t>
                        </m:r>
                      </m:e>
                      <m:e>
                        <m:sSup>
                          <m:sSupPr>
                            <m:ctrlPr>
                              <a:rPr lang="ja-JP" altLang="en-US" i="1"/>
                            </m:ctrlPr>
                          </m:sSupPr>
                          <m:e>
                            <m:r>
                              <a:rPr lang="ja-JP" altLang="en-US" i="1"/>
                              <m:t>𝑥</m:t>
                            </m:r>
                          </m:e>
                          <m:sup>
                            <m:r>
                              <a:rPr lang="en-US" altLang="ja-JP"/>
                              <m:t>′</m:t>
                            </m:r>
                          </m:sup>
                        </m:sSup>
                      </m:e>
                    </m:d>
                    <m:r>
                      <a:rPr lang="en-US" altLang="ja-JP"/>
                      <m:t>=∣</m:t>
                    </m:r>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r>
                          <a:rPr lang="ja-JP" altLang="en-US" i="1"/>
                          <m:t>𝜙</m:t>
                        </m:r>
                        <m:d>
                          <m:dPr>
                            <m:ctrlPr>
                              <a:rPr lang="ja-JP" altLang="en-US" i="1"/>
                            </m:ctrlPr>
                          </m:dPr>
                          <m:e>
                            <m:sSup>
                              <m:sSupPr>
                                <m:ctrlPr>
                                  <a:rPr lang="ja-JP" altLang="en-US" i="1"/>
                                </m:ctrlPr>
                              </m:sSupPr>
                              <m:e>
                                <m:r>
                                  <a:rPr lang="ja-JP" altLang="en-US" i="1"/>
                                  <m:t>𝑥</m:t>
                                </m:r>
                              </m:e>
                              <m:sup>
                                <m:r>
                                  <a:rPr lang="en-US" altLang="ja-JP"/>
                                  <m:t>′</m:t>
                                </m:r>
                              </m:sup>
                            </m:sSup>
                          </m:e>
                        </m:d>
                      </m:e>
                    </m:d>
                    <m:sSup>
                      <m:sSupPr>
                        <m:ctrlPr>
                          <a:rPr lang="ja-JP" altLang="en-US" i="1"/>
                        </m:ctrlPr>
                      </m:sSupPr>
                      <m:e>
                        <m:r>
                          <a:rPr lang="ja-JP" altLang="en-US"/>
                          <m:t>∣</m:t>
                        </m:r>
                      </m:e>
                      <m:sup>
                        <m:r>
                          <a:rPr lang="en-US" altLang="ja-JP"/>
                          <m:t>2</m:t>
                        </m:r>
                      </m:sup>
                    </m:sSup>
                    <m:r>
                      <a:rPr lang="en-US" altLang="ja-JP"/>
                      <m:t>.</m:t>
                    </m:r>
                  </m:oMath>
                </a14:m>
                <a:r>
                  <a:rPr lang="en-US" altLang="ja-JP" dirty="0"/>
                  <a:t> </a:t>
                </a:r>
                <a:r>
                  <a:rPr lang="ja-JP" altLang="ja-JP" dirty="0"/>
                  <a:t>这表示两个量子特征态的相似度。</a:t>
                </a:r>
              </a:p>
              <a:p>
                <a:pPr marL="0" indent="0">
                  <a:buNone/>
                </a:pPr>
                <a:r>
                  <a:rPr lang="ja-JP" altLang="ja-JP" dirty="0"/>
                  <a:t>量子计算机可以通过 overlap test、swap test 或线路反演等方式估计这种相似度。流程：</a:t>
                </a:r>
              </a:p>
              <a:p>
                <a:pPr marL="0" indent="0">
                  <a:buNone/>
                </a:pPr>
                <a14:m>
                  <m:oMathPara xmlns:m="http://schemas.openxmlformats.org/officeDocument/2006/math">
                    <m:oMathParaPr>
                      <m:jc m:val="centerGroup"/>
                    </m:oMathParaPr>
                    <m:oMath xmlns:m="http://schemas.openxmlformats.org/officeDocument/2006/math">
                      <m:d>
                        <m:dPr>
                          <m:begChr m:val=""/>
                          <m:endChr m:val="⟩"/>
                          <m:ctrlPr>
                            <a:rPr lang="ja-JP" altLang="en-US" i="1"/>
                          </m:ctrlPr>
                        </m:dPr>
                        <m:e>
                          <m:r>
                            <a:rPr lang="ja-JP" altLang="en-US" i="1"/>
                            <m:t>𝑥</m:t>
                          </m:r>
                          <m:r>
                            <a:rPr lang="ja-JP" altLang="en-US" i="1"/>
                            <m:t>↦∣</m:t>
                          </m:r>
                          <m:r>
                            <a:rPr lang="ja-JP" altLang="en-US" i="1"/>
                            <m:t>𝜙</m:t>
                          </m:r>
                          <m:d>
                            <m:dPr>
                              <m:ctrlPr>
                                <a:rPr lang="ja-JP" altLang="en-US" i="1"/>
                              </m:ctrlPr>
                            </m:dPr>
                            <m:e>
                              <m:r>
                                <a:rPr lang="ja-JP" altLang="en-US" i="1"/>
                                <m:t>𝑥</m:t>
                              </m:r>
                            </m:e>
                          </m:d>
                        </m:e>
                      </m:d>
                      <m:r>
                        <a:rPr lang="ja-JP" altLang="en-US" i="1"/>
                        <m:t>↦</m:t>
                      </m:r>
                      <m:r>
                        <a:rPr lang="ja-JP" altLang="en-US" i="1"/>
                        <m:t>𝐾</m:t>
                      </m:r>
                      <m:d>
                        <m:dPr>
                          <m:sepChr m:val=","/>
                          <m:ctrlPr>
                            <a:rPr lang="ja-JP" altLang="en-US" i="1"/>
                          </m:ctrlPr>
                        </m:dPr>
                        <m:e>
                          <m:r>
                            <a:rPr lang="ja-JP" altLang="en-US" i="1"/>
                            <m:t>𝑥</m:t>
                          </m:r>
                        </m:e>
                        <m:e>
                          <m:sSup>
                            <m:sSupPr>
                              <m:ctrlPr>
                                <a:rPr lang="ja-JP" altLang="en-US" i="1"/>
                              </m:ctrlPr>
                            </m:sSupPr>
                            <m:e>
                              <m:r>
                                <a:rPr lang="ja-JP" altLang="en-US" i="1"/>
                                <m:t>𝑥</m:t>
                              </m:r>
                            </m:e>
                            <m:sup>
                              <m:r>
                                <a:rPr lang="en-US" altLang="ja-JP" i="1"/>
                                <m:t>′</m:t>
                              </m:r>
                            </m:sup>
                          </m:sSup>
                        </m:e>
                      </m:d>
                      <m:r>
                        <a:rPr lang="ja-JP" altLang="en-US" i="1"/>
                        <m:t>↦</m:t>
                      </m:r>
                      <m:r>
                        <m:rPr>
                          <m:nor/>
                        </m:rPr>
                        <a:rPr lang="en-US" altLang="ja-JP" i="1"/>
                        <m:t>SVM</m:t>
                      </m:r>
                      <m:r>
                        <m:rPr>
                          <m:nor/>
                        </m:rPr>
                        <a:rPr lang="en-US" altLang="ja-JP" i="1"/>
                        <m:t> </m:t>
                      </m:r>
                      <m:r>
                        <m:rPr>
                          <m:nor/>
                        </m:rPr>
                        <a:rPr lang="ja-JP" altLang="en-US"/>
                        <m:t>等经典核方法</m:t>
                      </m:r>
                      <m:r>
                        <a:rPr lang="en-US" altLang="ja-JP" i="1"/>
                        <m:t>.</m:t>
                      </m:r>
                    </m:oMath>
                  </m:oMathPara>
                </a14:m>
                <a:endParaRPr lang="en-US" altLang="ja-JP" b="0" i="1" dirty="0"/>
              </a:p>
              <a:p>
                <a:r>
                  <a:rPr lang="ja-JP" altLang="ja-JP" dirty="0"/>
                  <a:t>这就是为什么可以说量子计算机像一台“核计算器”或“核机器”：它不一定负责整个学习过程，而是负责生成一个经典上可能很难计算的核矩阵。</a:t>
                </a:r>
              </a:p>
              <a:p>
                <a:pPr>
                  <a:lnSpc>
                    <a:spcPct val="110000"/>
                  </a:lnSpc>
                </a:pPr>
                <a:endParaRPr lang="en-US" altLang="ja-JP" b="1" dirty="0"/>
              </a:p>
            </p:txBody>
          </p:sp>
        </mc:Choice>
        <mc:Fallback>
          <p:sp>
            <p:nvSpPr>
              <p:cNvPr id="12" name="コンテンツ プレースホルダー 2">
                <a:extLst>
                  <a:ext uri="{FF2B5EF4-FFF2-40B4-BE49-F238E27FC236}">
                    <a16:creationId xmlns:a16="http://schemas.microsoft.com/office/drawing/2014/main" id="{CC4B6688-89E7-D75D-84B0-09DEED2973DC}"/>
                  </a:ext>
                </a:extLst>
              </p:cNvPr>
              <p:cNvSpPr>
                <a:spLocks noGrp="1" noRot="1" noChangeAspect="1" noMove="1" noResize="1" noEditPoints="1" noAdjustHandles="1" noChangeArrowheads="1" noChangeShapeType="1" noTextEdit="1"/>
              </p:cNvSpPr>
              <p:nvPr>
                <p:ph idx="1"/>
              </p:nvPr>
            </p:nvSpPr>
            <p:spPr>
              <a:xfrm>
                <a:off x="157480" y="1212151"/>
                <a:ext cx="11877040" cy="5268402"/>
              </a:xfrm>
              <a:blipFill>
                <a:blip r:embed="rId3"/>
                <a:stretch>
                  <a:fillRect l="-565" t="-926"/>
                </a:stretch>
              </a:blipFill>
            </p:spPr>
            <p:txBody>
              <a:bodyPr/>
              <a:lstStyle/>
              <a:p>
                <a:r>
                  <a:rPr lang="ja-JP" altLang="en-US">
                    <a:noFill/>
                  </a:rPr>
                  <a:t> </a:t>
                </a:r>
              </a:p>
            </p:txBody>
          </p:sp>
        </mc:Fallback>
      </mc:AlternateContent>
      <p:pic>
        <p:nvPicPr>
          <p:cNvPr id="3" name="図 2">
            <a:extLst>
              <a:ext uri="{FF2B5EF4-FFF2-40B4-BE49-F238E27FC236}">
                <a16:creationId xmlns:a16="http://schemas.microsoft.com/office/drawing/2014/main" id="{0E227D81-3E6F-AB2F-16EA-23B29492D1A7}"/>
              </a:ext>
            </a:extLst>
          </p:cNvPr>
          <p:cNvPicPr>
            <a:picLocks noChangeAspect="1"/>
          </p:cNvPicPr>
          <p:nvPr/>
        </p:nvPicPr>
        <p:blipFill>
          <a:blip r:embed="rId4"/>
          <a:stretch>
            <a:fillRect/>
          </a:stretch>
        </p:blipFill>
        <p:spPr>
          <a:xfrm>
            <a:off x="5777264" y="772592"/>
            <a:ext cx="6257256" cy="439559"/>
          </a:xfrm>
          <a:prstGeom prst="rect">
            <a:avLst/>
          </a:prstGeom>
        </p:spPr>
      </p:pic>
    </p:spTree>
    <p:extLst>
      <p:ext uri="{BB962C8B-B14F-4D97-AF65-F5344CB8AC3E}">
        <p14:creationId xmlns:p14="http://schemas.microsoft.com/office/powerpoint/2010/main" val="4410502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A4BB4-BDFA-4DA3-DF30-AD61E8E16519}"/>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684C026D-20C5-E463-C6AF-AE17045A49BE}"/>
              </a:ext>
            </a:extLst>
          </p:cNvPr>
          <p:cNvSpPr>
            <a:spLocks noGrp="1" noChangeArrowheads="1"/>
          </p:cNvSpPr>
          <p:nvPr>
            <p:ph type="title"/>
          </p:nvPr>
        </p:nvSpPr>
        <p:spPr/>
        <p:txBody>
          <a:bodyPr/>
          <a:lstStyle/>
          <a:p>
            <a:r>
              <a:rPr lang="ja-JP" altLang="ja-JP" dirty="0"/>
              <a:t>Schuld &amp; Killoran：量子编码就是 Hilbert 空间特征映射</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6B4C25F2-1A16-F7F9-CF63-B22E9546741B}"/>
                  </a:ext>
                </a:extLst>
              </p:cNvPr>
              <p:cNvSpPr>
                <a:spLocks noGrp="1"/>
              </p:cNvSpPr>
              <p:nvPr>
                <p:ph idx="1"/>
              </p:nvPr>
            </p:nvSpPr>
            <p:spPr>
              <a:xfrm>
                <a:off x="157480" y="1162878"/>
                <a:ext cx="11877040" cy="5268402"/>
              </a:xfrm>
            </p:spPr>
            <p:txBody>
              <a:bodyPr/>
              <a:lstStyle/>
              <a:p>
                <a:pPr marL="0" indent="0">
                  <a:lnSpc>
                    <a:spcPct val="120000"/>
                  </a:lnSpc>
                  <a:buNone/>
                </a:pPr>
                <a:r>
                  <a:rPr lang="ja-JP" altLang="ja-JP" dirty="0"/>
                  <a:t>核方法中的分类器是 Hilbert 空间上的线性泛函：</a:t>
                </a:r>
                <a14:m>
                  <m:oMath xmlns:m="http://schemas.openxmlformats.org/officeDocument/2006/math">
                    <m:r>
                      <a:rPr lang="ja-JP" altLang="en-US" i="1"/>
                      <m:t>𝑓</m:t>
                    </m:r>
                    <m:d>
                      <m:dPr>
                        <m:ctrlPr>
                          <a:rPr lang="ja-JP" altLang="en-US" i="1"/>
                        </m:ctrlPr>
                      </m:dPr>
                      <m:e>
                        <m:r>
                          <a:rPr lang="ja-JP" altLang="en-US" i="1"/>
                          <m:t>𝑥</m:t>
                        </m:r>
                      </m:e>
                    </m:d>
                    <m:r>
                      <a:rPr lang="en-US" altLang="ja-JP"/>
                      <m:t>=</m:t>
                    </m:r>
                    <m:d>
                      <m:dPr>
                        <m:begChr m:val="⟨"/>
                        <m:endChr m:val="⟩"/>
                        <m:sepChr m:val=","/>
                        <m:ctrlPr>
                          <a:rPr lang="ja-JP" altLang="en-US" i="1"/>
                        </m:ctrlPr>
                      </m:dPr>
                      <m:e>
                        <m:r>
                          <a:rPr lang="ja-JP" altLang="en-US" i="1"/>
                          <m:t>𝑤</m:t>
                        </m:r>
                      </m:e>
                      <m:e>
                        <m:r>
                          <m:rPr>
                            <m:sty m:val="p"/>
                          </m:rPr>
                          <a:rPr lang="en-US" altLang="ja-JP"/>
                          <m:t>Φ</m:t>
                        </m:r>
                        <m:d>
                          <m:dPr>
                            <m:ctrlPr>
                              <a:rPr lang="ja-JP" altLang="en-US" i="1"/>
                            </m:ctrlPr>
                          </m:dPr>
                          <m:e>
                            <m:r>
                              <a:rPr lang="ja-JP" altLang="en-US" i="1"/>
                              <m:t>𝑥</m:t>
                            </m:r>
                          </m:e>
                        </m:d>
                      </m:e>
                    </m:d>
                    <m:r>
                      <a:rPr lang="en-US" altLang="ja-JP"/>
                      <m:t>.</m:t>
                    </m:r>
                  </m:oMath>
                </a14:m>
                <a:endParaRPr lang="en-US" altLang="ja-JP" dirty="0"/>
              </a:p>
              <a:p>
                <a:pPr marL="0" indent="0">
                  <a:lnSpc>
                    <a:spcPct val="120000"/>
                  </a:lnSpc>
                  <a:buNone/>
                </a:pPr>
                <a:r>
                  <a:rPr lang="ja-JP" altLang="ja-JP" dirty="0"/>
                  <a:t>量子核方法中，数据态是：</a:t>
                </a:r>
                <a14:m>
                  <m:oMath xmlns:m="http://schemas.openxmlformats.org/officeDocument/2006/math">
                    <m:d>
                      <m:dPr>
                        <m:begChr m:val=""/>
                        <m:endChr m:val="⟩"/>
                        <m:ctrlPr>
                          <a:rPr lang="ja-JP" altLang="en-US"/>
                        </m:ctrlPr>
                      </m:dPr>
                      <m:e>
                        <m:r>
                          <a:rPr lang="ja-JP" altLang="en-US"/>
                          <m:t>∣</m:t>
                        </m:r>
                        <m:r>
                          <a:rPr lang="ja-JP" altLang="en-US" i="1"/>
                          <m:t>𝜙</m:t>
                        </m:r>
                        <m:d>
                          <m:dPr>
                            <m:ctrlPr>
                              <a:rPr lang="ja-JP" altLang="en-US" i="1"/>
                            </m:ctrlPr>
                          </m:dPr>
                          <m:e>
                            <m:r>
                              <a:rPr lang="ja-JP" altLang="en-US" i="1"/>
                              <m:t>𝑥</m:t>
                            </m:r>
                          </m:e>
                        </m:d>
                      </m:e>
                    </m:d>
                    <m:r>
                      <a:rPr lang="ja-JP" altLang="en-US"/>
                      <m:t>∈</m:t>
                    </m:r>
                    <m:r>
                      <a:rPr lang="en-US" altLang="ja-JP"/>
                      <m:t>ℋ</m:t>
                    </m:r>
                    <m:r>
                      <a:rPr lang="en-US" altLang="ja-JP"/>
                      <m:t>.</m:t>
                    </m:r>
                  </m:oMath>
                </a14:m>
                <a:r>
                  <a:rPr lang="en-US" altLang="ja-JP" dirty="0"/>
                  <a:t> </a:t>
                </a:r>
              </a:p>
              <a:p>
                <a:pPr marL="0" indent="0">
                  <a:lnSpc>
                    <a:spcPct val="120000"/>
                  </a:lnSpc>
                  <a:buNone/>
                </a:pPr>
                <a:r>
                  <a:rPr lang="ja-JP" altLang="ja-JP" dirty="0"/>
                  <a:t>用密度矩阵表示</a:t>
                </a:r>
                <a:r>
                  <a:rPr lang="en-US" altLang="ja-JP" dirty="0"/>
                  <a:t>(</a:t>
                </a:r>
                <a:r>
                  <a:rPr lang="ja-JP" altLang="ja-JP" dirty="0"/>
                  <a:t>外积</a:t>
                </a:r>
                <a:r>
                  <a:rPr lang="en-US" altLang="ja-JP" dirty="0"/>
                  <a:t>)</a:t>
                </a:r>
                <a:r>
                  <a:rPr lang="ja-JP" altLang="ja-JP" dirty="0"/>
                  <a:t>：</a:t>
                </a:r>
                <a14:m>
                  <m:oMath xmlns:m="http://schemas.openxmlformats.org/officeDocument/2006/math">
                    <m:d>
                      <m:dPr>
                        <m:begChr m:val=""/>
                        <m:endChr m:val="⟩"/>
                        <m:ctrlPr>
                          <a:rPr lang="ja-JP" altLang="en-US" smtClean="0">
                            <a:solidFill>
                              <a:srgbClr val="7030A0"/>
                            </a:solidFill>
                          </a:rPr>
                        </m:ctrlPr>
                      </m:dPr>
                      <m:e>
                        <m:r>
                          <a:rPr lang="ja-JP" altLang="en-US" i="1">
                            <a:solidFill>
                              <a:srgbClr val="7030A0"/>
                            </a:solidFill>
                          </a:rPr>
                          <m:t>𝜌</m:t>
                        </m:r>
                        <m:d>
                          <m:dPr>
                            <m:ctrlPr>
                              <a:rPr lang="ja-JP" altLang="en-US" i="1">
                                <a:solidFill>
                                  <a:srgbClr val="7030A0"/>
                                </a:solidFill>
                              </a:rPr>
                            </m:ctrlPr>
                          </m:dPr>
                          <m:e>
                            <m:r>
                              <a:rPr lang="ja-JP" altLang="en-US" i="1">
                                <a:solidFill>
                                  <a:srgbClr val="7030A0"/>
                                </a:solidFill>
                              </a:rPr>
                              <m:t>𝑥</m:t>
                            </m:r>
                          </m:e>
                        </m:d>
                        <m:r>
                          <a:rPr lang="en-US" altLang="ja-JP">
                            <a:solidFill>
                              <a:srgbClr val="7030A0"/>
                            </a:solidFill>
                          </a:rPr>
                          <m:t>=∣</m:t>
                        </m:r>
                        <m:r>
                          <a:rPr lang="ja-JP" altLang="en-US" i="1">
                            <a:solidFill>
                              <a:srgbClr val="7030A0"/>
                            </a:solidFill>
                          </a:rPr>
                          <m:t>𝜙</m:t>
                        </m:r>
                        <m:d>
                          <m:dPr>
                            <m:ctrlPr>
                              <a:rPr lang="ja-JP" altLang="en-US" i="1">
                                <a:solidFill>
                                  <a:srgbClr val="7030A0"/>
                                </a:solidFill>
                              </a:rPr>
                            </m:ctrlPr>
                          </m:dPr>
                          <m:e>
                            <m:r>
                              <a:rPr lang="ja-JP" altLang="en-US" i="1">
                                <a:solidFill>
                                  <a:srgbClr val="7030A0"/>
                                </a:solidFill>
                              </a:rPr>
                              <m:t>𝑥</m:t>
                            </m:r>
                          </m:e>
                        </m:d>
                      </m:e>
                    </m:d>
                    <m:d>
                      <m:dPr>
                        <m:begChr m:val="⟨"/>
                        <m:endChr m:val=""/>
                        <m:ctrlPr>
                          <a:rPr lang="ja-JP" altLang="en-US" i="1">
                            <a:solidFill>
                              <a:srgbClr val="7030A0"/>
                            </a:solidFill>
                            <a:latin typeface="Cambria Math" panose="02040503050406030204" pitchFamily="18" charset="0"/>
                          </a:rPr>
                        </m:ctrlPr>
                      </m:dPr>
                      <m:e>
                        <m:r>
                          <a:rPr lang="ja-JP" altLang="en-US" i="1">
                            <a:solidFill>
                              <a:srgbClr val="7030A0"/>
                            </a:solidFill>
                            <a:latin typeface="Cambria Math" panose="02040503050406030204" pitchFamily="18" charset="0"/>
                          </a:rPr>
                          <m:t>𝜙</m:t>
                        </m:r>
                        <m:d>
                          <m:dPr>
                            <m:ctrlPr>
                              <a:rPr lang="ja-JP" altLang="en-US" i="1">
                                <a:solidFill>
                                  <a:srgbClr val="7030A0"/>
                                </a:solidFill>
                                <a:latin typeface="Cambria Math" panose="02040503050406030204" pitchFamily="18" charset="0"/>
                              </a:rPr>
                            </m:ctrlPr>
                          </m:dPr>
                          <m:e>
                            <m:r>
                              <a:rPr lang="ja-JP" altLang="en-US" i="1">
                                <a:solidFill>
                                  <a:srgbClr val="7030A0"/>
                                </a:solidFill>
                                <a:latin typeface="Cambria Math" panose="02040503050406030204" pitchFamily="18" charset="0"/>
                              </a:rPr>
                              <m:t>𝑥</m:t>
                            </m:r>
                          </m:e>
                        </m:d>
                        <m:r>
                          <a:rPr lang="ja-JP" altLang="en-US">
                            <a:solidFill>
                              <a:srgbClr val="7030A0"/>
                            </a:solidFill>
                            <a:latin typeface="Cambria Math" panose="02040503050406030204" pitchFamily="18" charset="0"/>
                          </a:rPr>
                          <m:t>∣</m:t>
                        </m:r>
                      </m:e>
                    </m:d>
                  </m:oMath>
                </a14:m>
                <a:endParaRPr lang="en-US" altLang="ja-JP" dirty="0"/>
              </a:p>
              <a:p>
                <a:pPr marL="0" indent="0">
                  <a:lnSpc>
                    <a:spcPct val="120000"/>
                  </a:lnSpc>
                  <a:buNone/>
                </a:pPr>
                <a:r>
                  <a:rPr lang="en-US" altLang="ja-JP" dirty="0"/>
                  <a:t>(</a:t>
                </a:r>
                <a:r>
                  <a:rPr lang="ja-JP" altLang="ja-JP" dirty="0"/>
                  <a:t>如果把 </a:t>
                </a:r>
                <a14:m>
                  <m:oMath xmlns:m="http://schemas.openxmlformats.org/officeDocument/2006/math">
                    <m:d>
                      <m:dPr>
                        <m:begChr m:val=""/>
                        <m:endChr m:val="⟩"/>
                        <m:ctrlPr>
                          <a:rPr lang="ja-JP" altLang="en-US"/>
                        </m:ctrlPr>
                      </m:dPr>
                      <m:e>
                        <m:r>
                          <a:rPr lang="ja-JP" altLang="en-US"/>
                          <m:t>∣</m:t>
                        </m:r>
                        <m:r>
                          <a:rPr lang="ja-JP" altLang="en-US" i="1"/>
                          <m:t>𝜙</m:t>
                        </m:r>
                        <m:d>
                          <m:dPr>
                            <m:ctrlPr>
                              <a:rPr lang="ja-JP" altLang="en-US" i="1"/>
                            </m:ctrlPr>
                          </m:dPr>
                          <m:e>
                            <m:r>
                              <a:rPr lang="ja-JP" altLang="en-US" i="1"/>
                              <m:t>𝑥</m:t>
                            </m:r>
                          </m:e>
                        </m:d>
                      </m:e>
                    </m:d>
                  </m:oMath>
                </a14:m>
                <a:r>
                  <a:rPr lang="ja-JP" altLang="ja-JP" dirty="0"/>
                  <a:t>看成列向量，那么 </a:t>
                </a:r>
                <a14:m>
                  <m:oMath xmlns:m="http://schemas.openxmlformats.org/officeDocument/2006/math">
                    <m:d>
                      <m:dPr>
                        <m:begChr m:val="⟨"/>
                        <m:endChr m:val=""/>
                        <m:ctrlPr>
                          <a:rPr lang="ja-JP" altLang="en-US"/>
                        </m:ctrlPr>
                      </m:dPr>
                      <m:e>
                        <m:r>
                          <a:rPr lang="ja-JP" altLang="en-US" i="1"/>
                          <m:t>𝜙</m:t>
                        </m:r>
                        <m:d>
                          <m:dPr>
                            <m:ctrlPr>
                              <a:rPr lang="ja-JP" altLang="en-US" i="1"/>
                            </m:ctrlPr>
                          </m:dPr>
                          <m:e>
                            <m:r>
                              <a:rPr lang="ja-JP" altLang="en-US" i="1"/>
                              <m:t>𝑥</m:t>
                            </m:r>
                          </m:e>
                        </m:d>
                        <m:r>
                          <a:rPr lang="ja-JP" altLang="en-US"/>
                          <m:t>∣</m:t>
                        </m:r>
                      </m:e>
                    </m:d>
                  </m:oMath>
                </a14:m>
                <a:r>
                  <a:rPr lang="ja-JP" altLang="ja-JP" dirty="0"/>
                  <a:t>就是它的共轭转置行向量</a:t>
                </a:r>
                <a:r>
                  <a:rPr lang="en-US" altLang="ja-JP" dirty="0"/>
                  <a:t>), </a:t>
                </a:r>
              </a:p>
              <a:p>
                <a:pPr marL="0" indent="0">
                  <a:lnSpc>
                    <a:spcPct val="120000"/>
                  </a:lnSpc>
                  <a:buNone/>
                </a:pPr>
                <a:r>
                  <a:rPr lang="ja-JP" altLang="ja-JP" dirty="0"/>
                  <a:t>那么量子测量输出可以写成：</a:t>
                </a:r>
                <a14:m>
                  <m:oMath xmlns:m="http://schemas.openxmlformats.org/officeDocument/2006/math">
                    <m:r>
                      <a:rPr lang="ja-JP" altLang="en-US" i="1"/>
                      <m:t>𝑓</m:t>
                    </m:r>
                    <m:d>
                      <m:dPr>
                        <m:ctrlPr>
                          <a:rPr lang="ja-JP" altLang="en-US" i="1"/>
                        </m:ctrlPr>
                      </m:dPr>
                      <m:e>
                        <m:r>
                          <a:rPr lang="ja-JP" altLang="en-US" i="1"/>
                          <m:t>𝑥</m:t>
                        </m:r>
                      </m:e>
                    </m:d>
                    <m:r>
                      <a:rPr lang="en-US" altLang="ja-JP"/>
                      <m:t>=</m:t>
                    </m:r>
                    <m:r>
                      <m:rPr>
                        <m:sty m:val="p"/>
                      </m:rPr>
                      <a:rPr lang="en-US" altLang="ja-JP"/>
                      <m:t>Tr</m:t>
                    </m:r>
                    <m:r>
                      <a:rPr lang="en-US" altLang="ja-JP"/>
                      <m:t>⁡</m:t>
                    </m:r>
                    <m:d>
                      <m:dPr>
                        <m:ctrlPr>
                          <a:rPr lang="ja-JP" altLang="en-US" i="1"/>
                        </m:ctrlPr>
                      </m:dPr>
                      <m:e>
                        <m:r>
                          <a:rPr lang="ja-JP" altLang="en-US" i="1"/>
                          <m:t>𝑀</m:t>
                        </m:r>
                        <m:r>
                          <a:rPr lang="ja-JP" altLang="en-US" i="1"/>
                          <m:t>𝜌</m:t>
                        </m:r>
                        <m:d>
                          <m:dPr>
                            <m:ctrlPr>
                              <a:rPr lang="ja-JP" altLang="en-US" i="1"/>
                            </m:ctrlPr>
                          </m:dPr>
                          <m:e>
                            <m:r>
                              <a:rPr lang="ja-JP" altLang="en-US" i="1"/>
                              <m:t>𝑥</m:t>
                            </m:r>
                          </m:e>
                        </m:d>
                      </m:e>
                    </m:d>
                    <m:r>
                      <a:rPr lang="en-US" altLang="ja-JP"/>
                      <m:t>.</m:t>
                    </m:r>
                  </m:oMath>
                </a14:m>
                <a:r>
                  <a:rPr lang="en-US" altLang="ja-JP" dirty="0"/>
                  <a:t> </a:t>
                </a:r>
                <a:r>
                  <a:rPr lang="ja-JP" altLang="ja-JP" dirty="0"/>
                  <a:t>这也是一个作用在量子态上的线性泛函。</a:t>
                </a:r>
                <a:endParaRPr lang="en-US" altLang="ja-JP" dirty="0"/>
              </a:p>
              <a:p>
                <a:pPr marL="0" indent="0">
                  <a:lnSpc>
                    <a:spcPct val="120000"/>
                  </a:lnSpc>
                  <a:buNone/>
                </a:pPr>
                <a:r>
                  <a:rPr lang="ja-JP" altLang="ja-JP" dirty="0"/>
                  <a:t>量子力学中，测量由一个算符 </a:t>
                </a:r>
                <a14:m>
                  <m:oMath xmlns:m="http://schemas.openxmlformats.org/officeDocument/2006/math">
                    <m:r>
                      <a:rPr lang="ja-JP" altLang="en-US" i="1"/>
                      <m:t>𝑀</m:t>
                    </m:r>
                  </m:oMath>
                </a14:m>
                <a:r>
                  <a:rPr lang="ja-JP" altLang="ja-JP" dirty="0"/>
                  <a:t>表示。如果系统处于量子态 </a:t>
                </a:r>
                <a14:m>
                  <m:oMath xmlns:m="http://schemas.openxmlformats.org/officeDocument/2006/math">
                    <m:d>
                      <m:dPr>
                        <m:begChr m:val=""/>
                        <m:endChr m:val="⟩"/>
                        <m:ctrlPr>
                          <a:rPr lang="ja-JP" altLang="en-US"/>
                        </m:ctrlPr>
                      </m:dPr>
                      <m:e>
                        <m:r>
                          <a:rPr lang="ja-JP" altLang="en-US"/>
                          <m:t>∣</m:t>
                        </m:r>
                        <m:r>
                          <a:rPr lang="ja-JP" altLang="en-US" i="1"/>
                          <m:t>𝜙</m:t>
                        </m:r>
                        <m:d>
                          <m:dPr>
                            <m:ctrlPr>
                              <a:rPr lang="ja-JP" altLang="en-US" i="1"/>
                            </m:ctrlPr>
                          </m:dPr>
                          <m:e>
                            <m:r>
                              <a:rPr lang="ja-JP" altLang="en-US" i="1"/>
                              <m:t>𝑥</m:t>
                            </m:r>
                          </m:e>
                        </m:d>
                      </m:e>
                    </m:d>
                  </m:oMath>
                </a14:m>
                <a:r>
                  <a:rPr lang="ja-JP" altLang="ja-JP" dirty="0"/>
                  <a:t>，那么测量 </a:t>
                </a:r>
                <a14:m>
                  <m:oMath xmlns:m="http://schemas.openxmlformats.org/officeDocument/2006/math">
                    <m:r>
                      <a:rPr lang="ja-JP" altLang="en-US" i="1"/>
                      <m:t>𝑀</m:t>
                    </m:r>
                  </m:oMath>
                </a14:m>
                <a:r>
                  <a:rPr lang="ja-JP" altLang="ja-JP" dirty="0"/>
                  <a:t>的期望值是：</a:t>
                </a:r>
                <a:endParaRPr lang="en-US" altLang="ja-JP" i="1" dirty="0"/>
              </a:p>
              <a:p>
                <a:pPr marL="0" indent="0">
                  <a:lnSpc>
                    <a:spcPct val="120000"/>
                  </a:lnSpc>
                  <a:buNone/>
                </a:pPr>
                <a14:m>
                  <m:oMathPara xmlns:m="http://schemas.openxmlformats.org/officeDocument/2006/math">
                    <m:oMathParaPr>
                      <m:jc m:val="centerGroup"/>
                    </m:oMathParaPr>
                    <m:oMath xmlns:m="http://schemas.openxmlformats.org/officeDocument/2006/math">
                      <m:r>
                        <a:rPr lang="ja-JP" altLang="en-US" i="1"/>
                        <m:t>𝑓</m:t>
                      </m:r>
                      <m:d>
                        <m:dPr>
                          <m:ctrlPr>
                            <a:rPr lang="ja-JP" altLang="en-US" i="1"/>
                          </m:ctrlPr>
                        </m:dPr>
                        <m:e>
                          <m:r>
                            <a:rPr lang="ja-JP" altLang="en-US" i="1"/>
                            <m:t>𝑥</m:t>
                          </m:r>
                        </m:e>
                      </m:d>
                      <m:r>
                        <a:rPr lang="en-US" altLang="ja-JP"/>
                        <m:t>=</m:t>
                      </m:r>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r>
                            <a:rPr lang="ja-JP" altLang="en-US" i="1"/>
                            <m:t>𝑀</m:t>
                          </m:r>
                          <m:r>
                            <a:rPr lang="ja-JP" altLang="en-US"/>
                            <m:t>∣</m:t>
                          </m:r>
                          <m:r>
                            <a:rPr lang="ja-JP" altLang="en-US" i="1"/>
                            <m:t>𝜙</m:t>
                          </m:r>
                          <m:d>
                            <m:dPr>
                              <m:ctrlPr>
                                <a:rPr lang="ja-JP" altLang="en-US" i="1"/>
                              </m:ctrlPr>
                            </m:dPr>
                            <m:e>
                              <m:r>
                                <a:rPr lang="ja-JP" altLang="en-US" i="1"/>
                                <m:t>𝑥</m:t>
                              </m:r>
                            </m:e>
                          </m:d>
                        </m:e>
                      </m:d>
                      <m:r>
                        <a:rPr lang="en-US" altLang="ja-JP"/>
                        <m:t>.</m:t>
                      </m:r>
                    </m:oMath>
                  </m:oMathPara>
                </a14:m>
                <a:endParaRPr lang="en-US" altLang="ja-JP" dirty="0"/>
              </a:p>
              <a:p>
                <a:pPr marL="0" indent="0">
                  <a:lnSpc>
                    <a:spcPct val="120000"/>
                  </a:lnSpc>
                  <a:buNone/>
                </a:pPr>
                <a:r>
                  <a:rPr lang="ja-JP" altLang="ja-JP" dirty="0"/>
                  <a:t>这表示：先用 </a:t>
                </a:r>
                <a14:m>
                  <m:oMath xmlns:m="http://schemas.openxmlformats.org/officeDocument/2006/math">
                    <m:r>
                      <a:rPr lang="ja-JP" altLang="en-US" i="1"/>
                      <m:t>𝑀</m:t>
                    </m:r>
                  </m:oMath>
                </a14:m>
                <a:r>
                  <a:rPr lang="ja-JP" altLang="ja-JP" dirty="0"/>
                  <a:t>作用在量子态上，然后与原来的量子态取内积。这个式子也可以改写成密度矩阵形式：</a:t>
                </a:r>
                <a14:m>
                  <m:oMath xmlns:m="http://schemas.openxmlformats.org/officeDocument/2006/math">
                    <m:r>
                      <a:rPr lang="ja-JP" altLang="en-US" i="1"/>
                      <m:t>𝑓</m:t>
                    </m:r>
                    <m:d>
                      <m:dPr>
                        <m:ctrlPr>
                          <a:rPr lang="ja-JP" altLang="en-US" i="1"/>
                        </m:ctrlPr>
                      </m:dPr>
                      <m:e>
                        <m:r>
                          <a:rPr lang="ja-JP" altLang="en-US" i="1"/>
                          <m:t>𝑥</m:t>
                        </m:r>
                      </m:e>
                    </m:d>
                    <m:r>
                      <a:rPr lang="en-US" altLang="ja-JP"/>
                      <m:t>=</m:t>
                    </m:r>
                    <m:r>
                      <m:rPr>
                        <m:sty m:val="p"/>
                      </m:rPr>
                      <a:rPr lang="en-US" altLang="ja-JP"/>
                      <m:t>Tr</m:t>
                    </m:r>
                    <m:r>
                      <a:rPr lang="en-US" altLang="ja-JP"/>
                      <m:t>⁡</m:t>
                    </m:r>
                    <m:d>
                      <m:dPr>
                        <m:ctrlPr>
                          <a:rPr lang="ja-JP" altLang="en-US" i="1"/>
                        </m:ctrlPr>
                      </m:dPr>
                      <m:e>
                        <m:r>
                          <a:rPr lang="ja-JP" altLang="en-US" i="1"/>
                          <m:t>𝑀</m:t>
                        </m:r>
                        <m:r>
                          <a:rPr lang="ja-JP" altLang="en-US" i="1"/>
                          <m:t>𝜌</m:t>
                        </m:r>
                        <m:d>
                          <m:dPr>
                            <m:ctrlPr>
                              <a:rPr lang="ja-JP" altLang="en-US" i="1"/>
                            </m:ctrlPr>
                          </m:dPr>
                          <m:e>
                            <m:r>
                              <a:rPr lang="ja-JP" altLang="en-US" i="1"/>
                              <m:t>𝑥</m:t>
                            </m:r>
                          </m:e>
                        </m:d>
                      </m:e>
                    </m:d>
                    <m:r>
                      <a:rPr lang="en-US" altLang="ja-JP"/>
                      <m:t>.</m:t>
                    </m:r>
                  </m:oMath>
                </a14:m>
                <a:r>
                  <a:rPr lang="en-US" altLang="ja-JP" dirty="0"/>
                  <a:t> </a:t>
                </a:r>
                <a:r>
                  <a:rPr lang="ja-JP" altLang="ja-JP" dirty="0"/>
                  <a:t>因为：</a:t>
                </a:r>
                <a14:m>
                  <m:oMath xmlns:m="http://schemas.openxmlformats.org/officeDocument/2006/math">
                    <m:d>
                      <m:dPr>
                        <m:begChr m:val=""/>
                        <m:endChr m:val="⟩"/>
                        <m:ctrlPr>
                          <a:rPr lang="ja-JP" altLang="en-US"/>
                        </m:ctrlPr>
                      </m:dPr>
                      <m:e>
                        <m:r>
                          <a:rPr lang="ja-JP" altLang="en-US" i="1"/>
                          <m:t>𝜌</m:t>
                        </m:r>
                        <m:d>
                          <m:dPr>
                            <m:ctrlPr>
                              <a:rPr lang="ja-JP" altLang="en-US" i="1"/>
                            </m:ctrlPr>
                          </m:dPr>
                          <m:e>
                            <m:r>
                              <a:rPr lang="ja-JP" altLang="en-US" i="1"/>
                              <m:t>𝑥</m:t>
                            </m:r>
                          </m:e>
                        </m:d>
                        <m:r>
                          <a:rPr lang="en-US" altLang="ja-JP"/>
                          <m:t>=∣</m:t>
                        </m:r>
                        <m:r>
                          <a:rPr lang="ja-JP" altLang="en-US" i="1"/>
                          <m:t>𝜙</m:t>
                        </m:r>
                        <m:d>
                          <m:dPr>
                            <m:ctrlPr>
                              <a:rPr lang="ja-JP" altLang="en-US" i="1"/>
                            </m:ctrlPr>
                          </m:dPr>
                          <m:e>
                            <m:r>
                              <a:rPr lang="ja-JP" altLang="en-US" i="1"/>
                              <m:t>𝑥</m:t>
                            </m:r>
                          </m:e>
                        </m:d>
                      </m:e>
                    </m:d>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r>
                          <a:rPr lang="en-US" altLang="ja-JP"/>
                          <m:t>.</m:t>
                        </m:r>
                      </m:e>
                    </m:d>
                  </m:oMath>
                </a14:m>
                <a:r>
                  <a:rPr lang="ja-JP" altLang="en-US" dirty="0"/>
                  <a:t> </a:t>
                </a:r>
                <a:r>
                  <a:rPr lang="ja-JP" altLang="ja-JP" dirty="0"/>
                  <a:t>所以</a:t>
                </a:r>
                <a14:m>
                  <m:oMath xmlns:m="http://schemas.openxmlformats.org/officeDocument/2006/math">
                    <m:r>
                      <m:rPr>
                        <m:sty m:val="p"/>
                      </m:rPr>
                      <a:rPr lang="en-US" altLang="ja-JP"/>
                      <m:t>Tr</m:t>
                    </m:r>
                    <m:r>
                      <a:rPr lang="ja-JP" altLang="en-US"/>
                      <m:t>⁡</m:t>
                    </m:r>
                    <m:d>
                      <m:dPr>
                        <m:ctrlPr>
                          <a:rPr lang="ja-JP" altLang="en-US" i="1"/>
                        </m:ctrlPr>
                      </m:dPr>
                      <m:e>
                        <m:r>
                          <a:rPr lang="ja-JP" altLang="en-US" i="1"/>
                          <m:t>𝑀</m:t>
                        </m:r>
                        <m:r>
                          <a:rPr lang="ja-JP" altLang="en-US" i="1"/>
                          <m:t>𝜌</m:t>
                        </m:r>
                        <m:d>
                          <m:dPr>
                            <m:ctrlPr>
                              <a:rPr lang="ja-JP" altLang="en-US" i="1"/>
                            </m:ctrlPr>
                          </m:dPr>
                          <m:e>
                            <m:r>
                              <a:rPr lang="ja-JP" altLang="en-US" i="1"/>
                              <m:t>𝑥</m:t>
                            </m:r>
                          </m:e>
                        </m:d>
                      </m:e>
                    </m:d>
                    <m:r>
                      <a:rPr lang="en-US" altLang="ja-JP"/>
                      <m:t>=</m:t>
                    </m:r>
                    <m:r>
                      <m:rPr>
                        <m:sty m:val="p"/>
                      </m:rPr>
                      <a:rPr lang="en-US" altLang="ja-JP"/>
                      <m:t>Tr</m:t>
                    </m:r>
                    <m:r>
                      <a:rPr lang="en-US" altLang="ja-JP"/>
                      <m:t>⁡</m:t>
                    </m:r>
                    <m:d>
                      <m:dPr>
                        <m:endChr m:val="⟩"/>
                        <m:ctrlPr>
                          <a:rPr lang="ja-JP" altLang="en-US" i="1"/>
                        </m:ctrlPr>
                      </m:dPr>
                      <m:e>
                        <m:r>
                          <a:rPr lang="ja-JP" altLang="en-US" i="1"/>
                          <m:t>𝑀</m:t>
                        </m:r>
                        <m:r>
                          <a:rPr lang="ja-JP" altLang="en-US"/>
                          <m:t>∣</m:t>
                        </m:r>
                        <m:r>
                          <a:rPr lang="ja-JP" altLang="en-US" i="1"/>
                          <m:t>𝜙</m:t>
                        </m:r>
                        <m:d>
                          <m:dPr>
                            <m:ctrlPr>
                              <a:rPr lang="ja-JP" altLang="en-US" i="1"/>
                            </m:ctrlPr>
                          </m:dPr>
                          <m:e>
                            <m:r>
                              <a:rPr lang="ja-JP" altLang="en-US" i="1"/>
                              <m:t>𝑥</m:t>
                            </m:r>
                          </m:e>
                        </m:d>
                      </m:e>
                    </m:d>
                    <m:d>
                      <m:dPr>
                        <m:begChr m:val="⟨"/>
                        <m:ctrlPr>
                          <a:rPr lang="ja-JP" altLang="en-US" i="1"/>
                        </m:ctrlPr>
                      </m:dPr>
                      <m:e>
                        <m:r>
                          <a:rPr lang="ja-JP" altLang="en-US" i="1"/>
                          <m:t>𝜙</m:t>
                        </m:r>
                        <m:d>
                          <m:dPr>
                            <m:ctrlPr>
                              <a:rPr lang="ja-JP" altLang="en-US" i="1"/>
                            </m:ctrlPr>
                          </m:dPr>
                          <m:e>
                            <m:r>
                              <a:rPr lang="ja-JP" altLang="en-US" i="1"/>
                              <m:t>𝑥</m:t>
                            </m:r>
                          </m:e>
                        </m:d>
                        <m:r>
                          <a:rPr lang="ja-JP" altLang="en-US"/>
                          <m:t>∣</m:t>
                        </m:r>
                      </m:e>
                    </m:d>
                    <m:r>
                      <a:rPr lang="en-US" altLang="ja-JP"/>
                      <m:t>.</m:t>
                    </m:r>
                  </m:oMath>
                </a14:m>
                <a:r>
                  <a:rPr lang="en-US" altLang="ja-JP" dirty="0"/>
                  <a:t> </a:t>
                </a:r>
                <a:r>
                  <a:rPr lang="ja-JP" altLang="ja-JP" dirty="0"/>
                  <a:t>利用 trace 的循环性质，可以得到：</a:t>
                </a:r>
                <a14:m>
                  <m:oMath xmlns:m="http://schemas.openxmlformats.org/officeDocument/2006/math">
                    <m:r>
                      <m:rPr>
                        <m:sty m:val="p"/>
                      </m:rPr>
                      <a:rPr lang="en-US" altLang="ja-JP"/>
                      <m:t>Tr</m:t>
                    </m:r>
                    <m:r>
                      <a:rPr lang="ja-JP" altLang="en-US"/>
                      <m:t>⁡</m:t>
                    </m:r>
                    <m:d>
                      <m:dPr>
                        <m:endChr m:val="⟩"/>
                        <m:ctrlPr>
                          <a:rPr lang="ja-JP" altLang="en-US" i="1"/>
                        </m:ctrlPr>
                      </m:dPr>
                      <m:e>
                        <m:r>
                          <a:rPr lang="ja-JP" altLang="en-US" i="1"/>
                          <m:t>𝑀</m:t>
                        </m:r>
                        <m:r>
                          <a:rPr lang="ja-JP" altLang="en-US"/>
                          <m:t>∣</m:t>
                        </m:r>
                        <m:r>
                          <a:rPr lang="ja-JP" altLang="en-US" i="1"/>
                          <m:t>𝜙</m:t>
                        </m:r>
                        <m:d>
                          <m:dPr>
                            <m:ctrlPr>
                              <a:rPr lang="ja-JP" altLang="en-US" i="1"/>
                            </m:ctrlPr>
                          </m:dPr>
                          <m:e>
                            <m:r>
                              <a:rPr lang="ja-JP" altLang="en-US" i="1"/>
                              <m:t>𝑥</m:t>
                            </m:r>
                          </m:e>
                        </m:d>
                      </m:e>
                    </m:d>
                    <m:d>
                      <m:dPr>
                        <m:begChr m:val="⟨"/>
                        <m:ctrlPr>
                          <a:rPr lang="ja-JP" altLang="en-US" i="1"/>
                        </m:ctrlPr>
                      </m:dPr>
                      <m:e>
                        <m:r>
                          <a:rPr lang="ja-JP" altLang="en-US" i="1"/>
                          <m:t>𝜙</m:t>
                        </m:r>
                        <m:d>
                          <m:dPr>
                            <m:ctrlPr>
                              <a:rPr lang="ja-JP" altLang="en-US" i="1"/>
                            </m:ctrlPr>
                          </m:dPr>
                          <m:e>
                            <m:r>
                              <a:rPr lang="ja-JP" altLang="en-US" i="1"/>
                              <m:t>𝑥</m:t>
                            </m:r>
                          </m:e>
                        </m:d>
                        <m:r>
                          <a:rPr lang="ja-JP" altLang="en-US"/>
                          <m:t>∣</m:t>
                        </m:r>
                      </m:e>
                    </m:d>
                    <m:r>
                      <a:rPr lang="en-US" altLang="ja-JP"/>
                      <m:t>=</m:t>
                    </m:r>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r>
                          <a:rPr lang="ja-JP" altLang="en-US" i="1"/>
                          <m:t>𝑀</m:t>
                        </m:r>
                        <m:r>
                          <a:rPr lang="ja-JP" altLang="en-US"/>
                          <m:t>∣</m:t>
                        </m:r>
                        <m:r>
                          <a:rPr lang="ja-JP" altLang="en-US" i="1"/>
                          <m:t>𝜙</m:t>
                        </m:r>
                        <m:d>
                          <m:dPr>
                            <m:ctrlPr>
                              <a:rPr lang="ja-JP" altLang="en-US" i="1"/>
                            </m:ctrlPr>
                          </m:dPr>
                          <m:e>
                            <m:r>
                              <a:rPr lang="ja-JP" altLang="en-US" i="1"/>
                              <m:t>𝑥</m:t>
                            </m:r>
                          </m:e>
                        </m:d>
                      </m:e>
                    </m:d>
                    <m:r>
                      <a:rPr lang="en-US" altLang="ja-JP"/>
                      <m:t>.</m:t>
                    </m:r>
                  </m:oMath>
                </a14:m>
                <a:endParaRPr lang="en-US" altLang="ja-JP" dirty="0"/>
              </a:p>
              <a:p>
                <a:pPr marL="0" indent="0">
                  <a:lnSpc>
                    <a:spcPct val="120000"/>
                  </a:lnSpc>
                  <a:buNone/>
                </a:pPr>
                <a:br>
                  <a:rPr lang="ja-JP" altLang="ja-JP" dirty="0"/>
                </a:br>
                <a:r>
                  <a:rPr lang="ja-JP" altLang="ja-JP" dirty="0"/>
                  <a:t>因此，</a:t>
                </a:r>
                <a:r>
                  <a:rPr lang="ja-JP" altLang="ja-JP" dirty="0">
                    <a:solidFill>
                      <a:srgbClr val="C00000"/>
                    </a:solidFill>
                  </a:rPr>
                  <a:t>量子机器学习可以被理解为：</a:t>
                </a:r>
                <a14:m>
                  <m:oMath xmlns:m="http://schemas.openxmlformats.org/officeDocument/2006/math">
                    <m:r>
                      <m:rPr>
                        <m:nor/>
                      </m:rPr>
                      <a:rPr lang="ja-JP" altLang="en-US" b="0">
                        <a:solidFill>
                          <a:srgbClr val="C00000"/>
                        </a:solidFill>
                      </a:rPr>
                      <m:t>选择量子特征映射</m:t>
                    </m:r>
                    <m:r>
                      <a:rPr lang="en-US" altLang="ja-JP" i="0">
                        <a:solidFill>
                          <a:srgbClr val="C00000"/>
                        </a:solidFill>
                      </a:rPr>
                      <m:t>+</m:t>
                    </m:r>
                    <m:r>
                      <m:rPr>
                        <m:nor/>
                      </m:rPr>
                      <a:rPr lang="ja-JP" altLang="en-US">
                        <a:solidFill>
                          <a:srgbClr val="C00000"/>
                        </a:solidFill>
                      </a:rPr>
                      <m:t>计算量子核或测量泛函</m:t>
                    </m:r>
                    <m:r>
                      <a:rPr lang="en-US" altLang="ja-JP" i="0">
                        <a:solidFill>
                          <a:srgbClr val="C00000"/>
                        </a:solidFill>
                      </a:rPr>
                      <m:t>+</m:t>
                    </m:r>
                    <m:r>
                      <m:rPr>
                        <m:nor/>
                      </m:rPr>
                      <a:rPr lang="ja-JP" altLang="en-US">
                        <a:solidFill>
                          <a:srgbClr val="C00000"/>
                        </a:solidFill>
                      </a:rPr>
                      <m:t>完成分类</m:t>
                    </m:r>
                    <m:r>
                      <m:rPr>
                        <m:nor/>
                      </m:rPr>
                      <a:rPr lang="en-US" altLang="ja-JP">
                        <a:solidFill>
                          <a:srgbClr val="C00000"/>
                        </a:solidFill>
                      </a:rPr>
                      <m:t>/</m:t>
                    </m:r>
                    <m:r>
                      <m:rPr>
                        <m:nor/>
                      </m:rPr>
                      <a:rPr lang="ja-JP" altLang="en-US">
                        <a:solidFill>
                          <a:srgbClr val="C00000"/>
                        </a:solidFill>
                      </a:rPr>
                      <m:t>回归</m:t>
                    </m:r>
                    <m:r>
                      <a:rPr lang="en-US" altLang="ja-JP"/>
                      <m:t>.</m:t>
                    </m:r>
                  </m:oMath>
                </a14:m>
                <a:endParaRPr lang="en-US" altLang="ja-JP" b="0" dirty="0"/>
              </a:p>
              <a:p>
                <a:pPr marL="0" indent="0">
                  <a:lnSpc>
                    <a:spcPct val="120000"/>
                  </a:lnSpc>
                  <a:buNone/>
                </a:pPr>
                <a:r>
                  <a:rPr lang="ja-JP" altLang="ja-JP" dirty="0"/>
                  <a:t>这比“量子版神经网络”更贴近 Hilbert 空间、内积、核、泛函这些数学结构。</a:t>
                </a:r>
              </a:p>
              <a:p>
                <a:pPr marL="0" indent="0">
                  <a:lnSpc>
                    <a:spcPct val="120000"/>
                  </a:lnSpc>
                  <a:buNone/>
                </a:pPr>
                <a:endParaRPr lang="en-US" altLang="ja-JP" dirty="0"/>
              </a:p>
              <a:p>
                <a:pPr marL="0" indent="0">
                  <a:lnSpc>
                    <a:spcPct val="12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6B4C25F2-1A16-F7F9-CF63-B22E9546741B}"/>
                  </a:ext>
                </a:extLst>
              </p:cNvPr>
              <p:cNvSpPr>
                <a:spLocks noGrp="1" noRot="1" noChangeAspect="1" noMove="1" noResize="1" noEditPoints="1" noAdjustHandles="1" noChangeArrowheads="1" noChangeShapeType="1" noTextEdit="1"/>
              </p:cNvSpPr>
              <p:nvPr>
                <p:ph idx="1"/>
              </p:nvPr>
            </p:nvSpPr>
            <p:spPr>
              <a:xfrm>
                <a:off x="157480" y="1162878"/>
                <a:ext cx="11877040" cy="5268402"/>
              </a:xfrm>
              <a:blipFill>
                <a:blip r:embed="rId3"/>
                <a:stretch>
                  <a:fillRect l="-565" t="-579" b="-4745"/>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B9A10D1D-76CC-111D-02DB-85FF724E79FE}"/>
              </a:ext>
            </a:extLst>
          </p:cNvPr>
          <p:cNvPicPr>
            <a:picLocks noChangeAspect="1"/>
          </p:cNvPicPr>
          <p:nvPr/>
        </p:nvPicPr>
        <p:blipFill>
          <a:blip r:embed="rId4"/>
          <a:stretch>
            <a:fillRect/>
          </a:stretch>
        </p:blipFill>
        <p:spPr>
          <a:xfrm>
            <a:off x="6240308" y="1633590"/>
            <a:ext cx="5219048" cy="847619"/>
          </a:xfrm>
          <a:prstGeom prst="rect">
            <a:avLst/>
          </a:prstGeom>
        </p:spPr>
      </p:pic>
    </p:spTree>
    <p:extLst>
      <p:ext uri="{BB962C8B-B14F-4D97-AF65-F5344CB8AC3E}">
        <p14:creationId xmlns:p14="http://schemas.microsoft.com/office/powerpoint/2010/main" val="3016560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15872-1265-671F-DCD0-3863C1ACDE53}"/>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386CF39C-515B-6ABC-6CBF-38950632BE18}"/>
              </a:ext>
            </a:extLst>
          </p:cNvPr>
          <p:cNvSpPr>
            <a:spLocks noGrp="1" noChangeArrowheads="1"/>
          </p:cNvSpPr>
          <p:nvPr>
            <p:ph type="title"/>
          </p:nvPr>
        </p:nvSpPr>
        <p:spPr/>
        <p:txBody>
          <a:bodyPr/>
          <a:lstStyle/>
          <a:p>
            <a:r>
              <a:rPr lang="ja-JP" altLang="ja-JP" dirty="0"/>
              <a:t>Schuld &amp; Killoran：量子编码就是 Hilbert 空间特征映射</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F3B83CB5-03D1-9D38-A88B-C397138A3B46}"/>
                  </a:ext>
                </a:extLst>
              </p:cNvPr>
              <p:cNvSpPr>
                <a:spLocks noGrp="1"/>
              </p:cNvSpPr>
              <p:nvPr>
                <p:ph idx="1"/>
              </p:nvPr>
            </p:nvSpPr>
            <p:spPr>
              <a:xfrm>
                <a:off x="157480" y="1162878"/>
                <a:ext cx="11877040" cy="5268402"/>
              </a:xfrm>
            </p:spPr>
            <p:txBody>
              <a:bodyPr/>
              <a:lstStyle/>
              <a:p>
                <a:pPr marL="0" indent="0">
                  <a:lnSpc>
                    <a:spcPct val="120000"/>
                  </a:lnSpc>
                  <a:buNone/>
                </a:pPr>
                <a:endParaRPr lang="en-US" altLang="ja-JP" dirty="0"/>
              </a:p>
              <a:p>
                <a:pPr marL="0" indent="0">
                  <a:lnSpc>
                    <a:spcPct val="120000"/>
                  </a:lnSpc>
                  <a:buNone/>
                </a:pPr>
                <a:r>
                  <a:rPr lang="ja-JP" altLang="ja-JP" dirty="0"/>
                  <a:t>此外，它把非线性问题转移到编码阶段。</a:t>
                </a:r>
                <a:endParaRPr lang="en-US" altLang="ja-JP" dirty="0"/>
              </a:p>
              <a:p>
                <a:pPr marL="0" indent="0">
                  <a:lnSpc>
                    <a:spcPct val="120000"/>
                  </a:lnSpc>
                  <a:buNone/>
                </a:pPr>
                <a:r>
                  <a:rPr lang="ja-JP" altLang="ja-JP" dirty="0"/>
                  <a:t>量子演化本身是线性的，但 </a:t>
                </a:r>
                <a14:m>
                  <m:oMath xmlns:m="http://schemas.openxmlformats.org/officeDocument/2006/math">
                    <m:d>
                      <m:dPr>
                        <m:begChr m:val=""/>
                        <m:endChr m:val="⟩"/>
                        <m:ctrlPr>
                          <a:rPr lang="ja-JP" altLang="en-US"/>
                        </m:ctrlPr>
                      </m:dPr>
                      <m:e>
                        <m:r>
                          <a:rPr lang="ja-JP" altLang="en-US" i="1"/>
                          <m:t>𝑥</m:t>
                        </m:r>
                        <m:r>
                          <a:rPr lang="ja-JP" altLang="en-US"/>
                          <m:t>↦∣</m:t>
                        </m:r>
                        <m:r>
                          <a:rPr lang="ja-JP" altLang="en-US" i="1"/>
                          <m:t>𝜙</m:t>
                        </m:r>
                        <m:d>
                          <m:dPr>
                            <m:ctrlPr>
                              <a:rPr lang="ja-JP" altLang="en-US" i="1"/>
                            </m:ctrlPr>
                          </m:dPr>
                          <m:e>
                            <m:r>
                              <a:rPr lang="ja-JP" altLang="en-US" i="1"/>
                              <m:t>𝑥</m:t>
                            </m:r>
                          </m:e>
                        </m:d>
                      </m:e>
                    </m:d>
                  </m:oMath>
                </a14:m>
                <a:r>
                  <a:rPr lang="ja-JP" altLang="ja-JP" dirty="0"/>
                  <a:t>可以是非线性的；这样就不用在量子线路内部强行实现经典神经网络式的非线性激活。</a:t>
                </a:r>
                <a:endParaRPr lang="en-US" altLang="ja-JP" dirty="0"/>
              </a:p>
              <a:p>
                <a:pPr marL="0" indent="0">
                  <a:lnSpc>
                    <a:spcPct val="120000"/>
                  </a:lnSpc>
                  <a:buNone/>
                </a:pPr>
                <a:r>
                  <a:rPr lang="ja-JP" altLang="ja-JP" dirty="0"/>
                  <a:t>论文也强调，feature-map 方法把非线性“外包”到输入编码中，是解决 amplitude encoding 非线性困难的一种优雅方式</a:t>
                </a:r>
                <a:endParaRPr lang="en-US" altLang="ja-JP" dirty="0"/>
              </a:p>
              <a:p>
                <a:pPr marL="0" indent="0">
                  <a:lnSpc>
                    <a:spcPct val="120000"/>
                  </a:lnSpc>
                  <a:buNone/>
                </a:pPr>
                <a:endParaRPr lang="en-US" altLang="ja-JP" dirty="0"/>
              </a:p>
              <a:p>
                <a:pPr marL="0" indent="0">
                  <a:lnSpc>
                    <a:spcPct val="12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F3B83CB5-03D1-9D38-A88B-C397138A3B46}"/>
                  </a:ext>
                </a:extLst>
              </p:cNvPr>
              <p:cNvSpPr>
                <a:spLocks noGrp="1" noRot="1" noChangeAspect="1" noMove="1" noResize="1" noEditPoints="1" noAdjustHandles="1" noChangeArrowheads="1" noChangeShapeType="1" noTextEdit="1"/>
              </p:cNvSpPr>
              <p:nvPr>
                <p:ph idx="1"/>
              </p:nvPr>
            </p:nvSpPr>
            <p:spPr>
              <a:xfrm>
                <a:off x="157480" y="1162878"/>
                <a:ext cx="11877040" cy="5268402"/>
              </a:xfrm>
              <a:blipFill>
                <a:blip r:embed="rId3"/>
                <a:stretch>
                  <a:fillRect l="-56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511625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9CC1-7027-C0F2-B019-B06913CA0845}"/>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920427FD-7AE6-5715-9C7E-2F999115FCF8}"/>
              </a:ext>
            </a:extLst>
          </p:cNvPr>
          <p:cNvSpPr>
            <a:spLocks noGrp="1" noChangeArrowheads="1"/>
          </p:cNvSpPr>
          <p:nvPr>
            <p:ph type="title"/>
          </p:nvPr>
        </p:nvSpPr>
        <p:spPr/>
        <p:txBody>
          <a:bodyPr/>
          <a:lstStyle/>
          <a:p>
            <a:r>
              <a:rPr lang="ja-JP" altLang="ja-JP" dirty="0"/>
              <a:t>Havlíček et al.：把量子增强特征空间做成 NISQ 分类器</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3A5DECD2-1428-15C6-4CE3-EE72A9DA0EE6}"/>
                  </a:ext>
                </a:extLst>
              </p:cNvPr>
              <p:cNvSpPr>
                <a:spLocks noGrp="1"/>
              </p:cNvSpPr>
              <p:nvPr>
                <p:ph idx="1"/>
              </p:nvPr>
            </p:nvSpPr>
            <p:spPr>
              <a:xfrm>
                <a:off x="393404" y="990600"/>
                <a:ext cx="11641115" cy="5268402"/>
              </a:xfrm>
            </p:spPr>
            <p:txBody>
              <a:bodyPr/>
              <a:lstStyle/>
              <a:p>
                <a:pPr marL="0" indent="0">
                  <a:lnSpc>
                    <a:spcPct val="120000"/>
                  </a:lnSpc>
                  <a:buNone/>
                </a:pPr>
                <a:r>
                  <a:rPr lang="ja-JP" altLang="ja-JP" sz="1900" dirty="0"/>
                  <a:t>Havlíček 等的工作可以看成 Schuld &amp; Killoran 框架的实验化版本。它也使用：</a:t>
                </a:r>
                <a14:m>
                  <m:oMath xmlns:m="http://schemas.openxmlformats.org/officeDocument/2006/math">
                    <m:d>
                      <m:dPr>
                        <m:begChr m:val=""/>
                        <m:endChr m:val="⟩"/>
                        <m:ctrlPr>
                          <a:rPr lang="ja-JP" altLang="en-US" sz="1900"/>
                        </m:ctrlPr>
                      </m:dPr>
                      <m:e>
                        <m:r>
                          <a:rPr lang="ja-JP" altLang="en-US" sz="1900" b="0" i="1"/>
                          <m:t>𝑥</m:t>
                        </m:r>
                        <m:r>
                          <a:rPr lang="ja-JP" altLang="en-US" sz="1900" b="0"/>
                          <m:t>↦∣</m:t>
                        </m:r>
                        <m:r>
                          <a:rPr lang="ja-JP" altLang="en-US" sz="1900" b="0" i="1"/>
                          <m:t>𝜙</m:t>
                        </m:r>
                        <m:d>
                          <m:dPr>
                            <m:ctrlPr>
                              <a:rPr lang="ja-JP" altLang="en-US" sz="1900" i="1"/>
                            </m:ctrlPr>
                          </m:dPr>
                          <m:e>
                            <m:r>
                              <a:rPr lang="ja-JP" altLang="en-US" sz="1900" b="0" i="1"/>
                              <m:t>𝑥</m:t>
                            </m:r>
                          </m:e>
                        </m:d>
                      </m:e>
                    </m:d>
                    <m:r>
                      <a:rPr lang="en-US" altLang="ja-JP" sz="1900" b="0"/>
                      <m:t>,</m:t>
                    </m:r>
                  </m:oMath>
                </a14:m>
                <a:r>
                  <a:rPr lang="en-US" altLang="ja-JP" sz="1900" dirty="0"/>
                  <a:t> </a:t>
                </a:r>
                <a:r>
                  <a:rPr lang="ja-JP" altLang="ja-JP" sz="1900" dirty="0"/>
                  <a:t>但更强调如何选择一个量子特征映射 </a:t>
                </a:r>
                <a14:m>
                  <m:oMath xmlns:m="http://schemas.openxmlformats.org/officeDocument/2006/math">
                    <m:sSub>
                      <m:sSubPr>
                        <m:ctrlPr>
                          <a:rPr lang="ja-JP" altLang="en-US" sz="1900"/>
                        </m:ctrlPr>
                      </m:sSubPr>
                      <m:e>
                        <m:r>
                          <a:rPr lang="ja-JP" altLang="en-US" sz="1900" b="0" i="1"/>
                          <m:t>𝑈</m:t>
                        </m:r>
                      </m:e>
                      <m:sub>
                        <m:r>
                          <a:rPr lang="ja-JP" altLang="en-US" sz="1900" b="0" i="1"/>
                          <m:t>𝜙</m:t>
                        </m:r>
                      </m:sub>
                    </m:sSub>
                    <m:d>
                      <m:dPr>
                        <m:ctrlPr>
                          <a:rPr lang="ja-JP" altLang="en-US" sz="1900" i="1"/>
                        </m:ctrlPr>
                      </m:dPr>
                      <m:e>
                        <m:r>
                          <a:rPr lang="ja-JP" altLang="en-US" sz="1900" b="0" i="1"/>
                          <m:t>𝑥</m:t>
                        </m:r>
                      </m:e>
                    </m:d>
                  </m:oMath>
                </a14:m>
                <a:r>
                  <a:rPr lang="ja-JP" altLang="ja-JP" sz="1900" dirty="0"/>
                  <a:t>，使得核难以经典模拟。</a:t>
                </a:r>
                <a:endParaRPr lang="en-US" altLang="ja-JP" sz="1900" dirty="0"/>
              </a:p>
              <a:p>
                <a:pPr marL="0" indent="0">
                  <a:lnSpc>
                    <a:spcPct val="120000"/>
                  </a:lnSpc>
                  <a:buNone/>
                </a:pPr>
                <a:r>
                  <a:rPr lang="ja-JP" altLang="ja-JP" sz="1900" dirty="0"/>
                  <a:t>论文提出两个分类器：</a:t>
                </a:r>
              </a:p>
              <a:p>
                <a:pPr marL="457200" indent="-457200">
                  <a:lnSpc>
                    <a:spcPct val="120000"/>
                  </a:lnSpc>
                  <a:buFont typeface="+mj-lt"/>
                  <a:buAutoNum type="arabicPeriod"/>
                </a:pPr>
                <a:r>
                  <a:rPr lang="ja-JP" altLang="ja-JP" sz="1900" dirty="0"/>
                  <a:t>Quantum Variational Classifier。流程是：</a:t>
                </a:r>
                <a:endParaRPr lang="en-US" altLang="ja-JP" sz="1900" dirty="0"/>
              </a:p>
              <a:p>
                <a:pPr marL="0" indent="0">
                  <a:lnSpc>
                    <a:spcPct val="120000"/>
                  </a:lnSpc>
                  <a:buNone/>
                </a:pPr>
                <a14:m>
                  <m:oMathPara xmlns:m="http://schemas.openxmlformats.org/officeDocument/2006/math">
                    <m:oMathParaPr>
                      <m:jc m:val="centerGroup"/>
                    </m:oMathParaPr>
                    <m:oMath xmlns:m="http://schemas.openxmlformats.org/officeDocument/2006/math">
                      <m:d>
                        <m:dPr>
                          <m:begChr m:val=""/>
                          <m:endChr m:val="⟩"/>
                          <m:ctrlPr>
                            <a:rPr lang="ja-JP" altLang="en-US" sz="1900" i="1">
                              <a:latin typeface="Cambria Math" panose="02040503050406030204" pitchFamily="18" charset="0"/>
                            </a:rPr>
                          </m:ctrlPr>
                        </m:dPr>
                        <m:e>
                          <m:r>
                            <a:rPr lang="ja-JP" altLang="en-US" sz="1900">
                              <a:latin typeface="Cambria Math" panose="02040503050406030204" pitchFamily="18" charset="0"/>
                            </a:rPr>
                            <m:t>∣</m:t>
                          </m:r>
                          <m:r>
                            <a:rPr lang="en-US" altLang="ja-JP" sz="1900" i="1">
                              <a:latin typeface="Cambria Math" panose="02040503050406030204" pitchFamily="18" charset="0"/>
                            </a:rPr>
                            <m:t>0</m:t>
                          </m:r>
                        </m:e>
                      </m:d>
                      <m:r>
                        <a:rPr lang="ja-JP" altLang="en-US" sz="1900">
                          <a:latin typeface="Cambria Math" panose="02040503050406030204" pitchFamily="18" charset="0"/>
                        </a:rPr>
                        <m:t>→</m:t>
                      </m:r>
                      <m:sSub>
                        <m:sSubPr>
                          <m:ctrlPr>
                            <a:rPr lang="ja-JP" altLang="en-US" sz="1900" i="1">
                              <a:latin typeface="Cambria Math" panose="02040503050406030204" pitchFamily="18" charset="0"/>
                            </a:rPr>
                          </m:ctrlPr>
                        </m:sSubPr>
                        <m:e>
                          <m:r>
                            <a:rPr lang="ja-JP" altLang="en-US" sz="1900" i="1">
                              <a:latin typeface="Cambria Math" panose="02040503050406030204" pitchFamily="18" charset="0"/>
                            </a:rPr>
                            <m:t>𝑈</m:t>
                          </m:r>
                        </m:e>
                        <m:sub>
                          <m:r>
                            <a:rPr lang="ja-JP" altLang="en-US" sz="1900" i="1">
                              <a:latin typeface="Cambria Math" panose="02040503050406030204" pitchFamily="18" charset="0"/>
                            </a:rPr>
                            <m:t>𝜙</m:t>
                          </m:r>
                        </m:sub>
                      </m:sSub>
                      <m:d>
                        <m:dPr>
                          <m:ctrlPr>
                            <a:rPr lang="ja-JP" altLang="en-US" sz="1900" i="1">
                              <a:latin typeface="Cambria Math" panose="02040503050406030204" pitchFamily="18" charset="0"/>
                            </a:rPr>
                          </m:ctrlPr>
                        </m:dPr>
                        <m:e>
                          <m:r>
                            <a:rPr lang="ja-JP" altLang="en-US" sz="1900" i="1">
                              <a:latin typeface="Cambria Math" panose="02040503050406030204" pitchFamily="18" charset="0"/>
                            </a:rPr>
                            <m:t>𝑥</m:t>
                          </m:r>
                        </m:e>
                      </m:d>
                      <m:d>
                        <m:dPr>
                          <m:begChr m:val=""/>
                          <m:endChr m:val="⟩"/>
                          <m:ctrlPr>
                            <a:rPr lang="ja-JP" altLang="en-US" sz="1900" i="1">
                              <a:latin typeface="Cambria Math" panose="02040503050406030204" pitchFamily="18" charset="0"/>
                            </a:rPr>
                          </m:ctrlPr>
                        </m:dPr>
                        <m:e>
                          <m:r>
                            <a:rPr lang="ja-JP" altLang="en-US" sz="1900">
                              <a:latin typeface="Cambria Math" panose="02040503050406030204" pitchFamily="18" charset="0"/>
                            </a:rPr>
                            <m:t>∣</m:t>
                          </m:r>
                          <m:r>
                            <a:rPr lang="en-US" altLang="ja-JP" sz="1900" i="1">
                              <a:latin typeface="Cambria Math" panose="02040503050406030204" pitchFamily="18" charset="0"/>
                            </a:rPr>
                            <m:t>0</m:t>
                          </m:r>
                        </m:e>
                      </m:d>
                      <m:r>
                        <a:rPr lang="ja-JP" altLang="en-US" sz="1900">
                          <a:latin typeface="Cambria Math" panose="02040503050406030204" pitchFamily="18" charset="0"/>
                        </a:rPr>
                        <m:t>→</m:t>
                      </m:r>
                      <m:r>
                        <a:rPr lang="ja-JP" altLang="en-US" sz="1900" i="1">
                          <a:latin typeface="Cambria Math" panose="02040503050406030204" pitchFamily="18" charset="0"/>
                        </a:rPr>
                        <m:t>𝑊</m:t>
                      </m:r>
                      <m:d>
                        <m:dPr>
                          <m:ctrlPr>
                            <a:rPr lang="ja-JP" altLang="en-US" sz="1900" i="1">
                              <a:latin typeface="Cambria Math" panose="02040503050406030204" pitchFamily="18" charset="0"/>
                            </a:rPr>
                          </m:ctrlPr>
                        </m:dPr>
                        <m:e>
                          <m:r>
                            <a:rPr lang="ja-JP" altLang="en-US" sz="1900" i="1">
                              <a:latin typeface="Cambria Math" panose="02040503050406030204" pitchFamily="18" charset="0"/>
                            </a:rPr>
                            <m:t>𝜃</m:t>
                          </m:r>
                        </m:e>
                      </m:d>
                      <m:sSub>
                        <m:sSubPr>
                          <m:ctrlPr>
                            <a:rPr lang="ja-JP" altLang="en-US" sz="1900" i="1">
                              <a:latin typeface="Cambria Math" panose="02040503050406030204" pitchFamily="18" charset="0"/>
                            </a:rPr>
                          </m:ctrlPr>
                        </m:sSubPr>
                        <m:e>
                          <m:r>
                            <a:rPr lang="ja-JP" altLang="en-US" sz="1900" i="1">
                              <a:latin typeface="Cambria Math" panose="02040503050406030204" pitchFamily="18" charset="0"/>
                            </a:rPr>
                            <m:t>𝑈</m:t>
                          </m:r>
                        </m:e>
                        <m:sub>
                          <m:r>
                            <a:rPr lang="ja-JP" altLang="en-US" sz="1900" i="1">
                              <a:latin typeface="Cambria Math" panose="02040503050406030204" pitchFamily="18" charset="0"/>
                            </a:rPr>
                            <m:t>𝜙</m:t>
                          </m:r>
                        </m:sub>
                      </m:sSub>
                      <m:d>
                        <m:dPr>
                          <m:ctrlPr>
                            <a:rPr lang="ja-JP" altLang="en-US" sz="1900" i="1">
                              <a:latin typeface="Cambria Math" panose="02040503050406030204" pitchFamily="18" charset="0"/>
                            </a:rPr>
                          </m:ctrlPr>
                        </m:dPr>
                        <m:e>
                          <m:r>
                            <a:rPr lang="ja-JP" altLang="en-US" sz="1900" i="1">
                              <a:latin typeface="Cambria Math" panose="02040503050406030204" pitchFamily="18" charset="0"/>
                            </a:rPr>
                            <m:t>𝑥</m:t>
                          </m:r>
                        </m:e>
                      </m:d>
                      <m:d>
                        <m:dPr>
                          <m:begChr m:val=""/>
                          <m:endChr m:val="⟩"/>
                          <m:ctrlPr>
                            <a:rPr lang="ja-JP" altLang="en-US" sz="1900" i="1">
                              <a:latin typeface="Cambria Math" panose="02040503050406030204" pitchFamily="18" charset="0"/>
                            </a:rPr>
                          </m:ctrlPr>
                        </m:dPr>
                        <m:e>
                          <m:r>
                            <a:rPr lang="ja-JP" altLang="en-US" sz="1900">
                              <a:latin typeface="Cambria Math" panose="02040503050406030204" pitchFamily="18" charset="0"/>
                            </a:rPr>
                            <m:t>∣</m:t>
                          </m:r>
                          <m:r>
                            <a:rPr lang="en-US" altLang="ja-JP" sz="1900" i="1">
                              <a:latin typeface="Cambria Math" panose="02040503050406030204" pitchFamily="18" charset="0"/>
                            </a:rPr>
                            <m:t>0</m:t>
                          </m:r>
                        </m:e>
                      </m:d>
                      <m:r>
                        <a:rPr lang="ja-JP" altLang="en-US" sz="1900" b="0"/>
                        <m:t>→</m:t>
                      </m:r>
                      <m:r>
                        <m:rPr>
                          <m:nor/>
                        </m:rPr>
                        <a:rPr lang="en-US" altLang="ja-JP" sz="1900" i="1"/>
                        <m:t>measurement</m:t>
                      </m:r>
                      <m:r>
                        <a:rPr lang="ja-JP" altLang="en-US" sz="1900" b="0"/>
                        <m:t>→</m:t>
                      </m:r>
                      <m:r>
                        <m:rPr>
                          <m:nor/>
                        </m:rPr>
                        <a:rPr lang="en-US" altLang="ja-JP" sz="1900" i="1"/>
                        <m:t>label</m:t>
                      </m:r>
                      <m:r>
                        <a:rPr lang="en-US" altLang="ja-JP" sz="1900" b="0"/>
                        <m:t>.</m:t>
                      </m:r>
                    </m:oMath>
                  </m:oMathPara>
                </a14:m>
                <a:endParaRPr lang="en-US" altLang="ja-JP" sz="1900" dirty="0"/>
              </a:p>
              <a:p>
                <a:pPr marL="0" indent="0">
                  <a:lnSpc>
                    <a:spcPct val="120000"/>
                  </a:lnSpc>
                  <a:buNone/>
                </a:pPr>
                <a:r>
                  <a:rPr lang="ja-JP" altLang="ja-JP" sz="1900" dirty="0"/>
                  <a:t>这里 </a:t>
                </a:r>
                <a14:m>
                  <m:oMath xmlns:m="http://schemas.openxmlformats.org/officeDocument/2006/math">
                    <m:sSub>
                      <m:sSubPr>
                        <m:ctrlPr>
                          <a:rPr lang="ja-JP" altLang="en-US" sz="1900"/>
                        </m:ctrlPr>
                      </m:sSubPr>
                      <m:e>
                        <m:r>
                          <a:rPr lang="ja-JP" altLang="en-US" sz="1900" b="0" i="1"/>
                          <m:t>𝑈</m:t>
                        </m:r>
                      </m:e>
                      <m:sub>
                        <m:r>
                          <a:rPr lang="ja-JP" altLang="en-US" sz="1900" b="0" i="1"/>
                          <m:t>𝜙</m:t>
                        </m:r>
                      </m:sub>
                    </m:sSub>
                    <m:d>
                      <m:dPr>
                        <m:ctrlPr>
                          <a:rPr lang="ja-JP" altLang="en-US" sz="1900" i="1"/>
                        </m:ctrlPr>
                      </m:dPr>
                      <m:e>
                        <m:r>
                          <a:rPr lang="ja-JP" altLang="en-US" sz="1900" b="0" i="1"/>
                          <m:t>𝑥</m:t>
                        </m:r>
                      </m:e>
                    </m:d>
                  </m:oMath>
                </a14:m>
                <a:r>
                  <a:rPr lang="ja-JP" altLang="ja-JP" sz="1900" dirty="0"/>
                  <a:t>是固定的特征映射，</a:t>
                </a:r>
                <a14:m>
                  <m:oMath xmlns:m="http://schemas.openxmlformats.org/officeDocument/2006/math">
                    <m:r>
                      <a:rPr lang="ja-JP" altLang="en-US" sz="1900" b="0" i="1"/>
                      <m:t>𝑊</m:t>
                    </m:r>
                    <m:d>
                      <m:dPr>
                        <m:ctrlPr>
                          <a:rPr lang="ja-JP" altLang="en-US" sz="1900" i="1"/>
                        </m:ctrlPr>
                      </m:dPr>
                      <m:e>
                        <m:r>
                          <a:rPr lang="ja-JP" altLang="en-US" sz="1900" b="0" i="1"/>
                          <m:t>𝜃</m:t>
                        </m:r>
                      </m:e>
                    </m:d>
                  </m:oMath>
                </a14:m>
                <a:r>
                  <a:rPr lang="ja-JP" altLang="ja-JP" sz="1900" dirty="0"/>
                  <a:t> 是可训练变分线路。</a:t>
                </a:r>
              </a:p>
              <a:p>
                <a:pPr marL="457200" indent="-457200">
                  <a:lnSpc>
                    <a:spcPct val="120000"/>
                  </a:lnSpc>
                  <a:buFont typeface="+mj-lt"/>
                  <a:buAutoNum type="arabicPeriod" startAt="2"/>
                </a:pPr>
                <a:r>
                  <a:rPr lang="ja-JP" altLang="ja-JP" sz="1900" dirty="0"/>
                  <a:t>Quantum Kernel Estimator。</a:t>
                </a:r>
              </a:p>
              <a:p>
                <a:pPr>
                  <a:lnSpc>
                    <a:spcPct val="120000"/>
                  </a:lnSpc>
                </a:pPr>
                <a:r>
                  <a:rPr lang="ja-JP" altLang="ja-JP" sz="1900" dirty="0"/>
                  <a:t>直接估计两个特征态的保真度：</a:t>
                </a:r>
                <a14:m>
                  <m:oMath xmlns:m="http://schemas.openxmlformats.org/officeDocument/2006/math">
                    <m:r>
                      <a:rPr lang="ja-JP" altLang="en-US" sz="1900" b="0" i="1"/>
                      <m:t>𝐾</m:t>
                    </m:r>
                    <m:d>
                      <m:dPr>
                        <m:sepChr m:val=","/>
                        <m:ctrlPr>
                          <a:rPr lang="ja-JP" altLang="en-US" sz="1900" i="1"/>
                        </m:ctrlPr>
                      </m:dPr>
                      <m:e>
                        <m:r>
                          <a:rPr lang="ja-JP" altLang="en-US" sz="1900" b="0" i="1"/>
                          <m:t>𝑥</m:t>
                        </m:r>
                      </m:e>
                      <m:e>
                        <m:sSup>
                          <m:sSupPr>
                            <m:ctrlPr>
                              <a:rPr lang="ja-JP" altLang="en-US" sz="1900" i="1"/>
                            </m:ctrlPr>
                          </m:sSupPr>
                          <m:e>
                            <m:r>
                              <a:rPr lang="ja-JP" altLang="en-US" sz="1900" b="0" i="1"/>
                              <m:t>𝑥</m:t>
                            </m:r>
                          </m:e>
                          <m:sup>
                            <m:r>
                              <a:rPr lang="en-US" altLang="ja-JP" sz="1900" b="0"/>
                              <m:t>′</m:t>
                            </m:r>
                          </m:sup>
                        </m:sSup>
                      </m:e>
                    </m:d>
                    <m:r>
                      <a:rPr lang="en-US" altLang="ja-JP" sz="1900" b="0"/>
                      <m:t>=∣</m:t>
                    </m:r>
                    <m:d>
                      <m:dPr>
                        <m:begChr m:val="⟨"/>
                        <m:endChr m:val="⟩"/>
                        <m:ctrlPr>
                          <a:rPr lang="ja-JP" altLang="en-US" sz="1900" i="1"/>
                        </m:ctrlPr>
                      </m:dPr>
                      <m:e>
                        <m:r>
                          <a:rPr lang="ja-JP" altLang="en-US" sz="1900" b="0" i="1"/>
                          <m:t>𝜙</m:t>
                        </m:r>
                        <m:d>
                          <m:dPr>
                            <m:ctrlPr>
                              <a:rPr lang="ja-JP" altLang="en-US" sz="1900" i="1"/>
                            </m:ctrlPr>
                          </m:dPr>
                          <m:e>
                            <m:r>
                              <a:rPr lang="ja-JP" altLang="en-US" sz="1900" b="0" i="1"/>
                              <m:t>𝑥</m:t>
                            </m:r>
                          </m:e>
                        </m:d>
                        <m:r>
                          <a:rPr lang="ja-JP" altLang="en-US" sz="1900" b="0"/>
                          <m:t>∣</m:t>
                        </m:r>
                        <m:r>
                          <a:rPr lang="ja-JP" altLang="en-US" sz="1900" b="0" i="1"/>
                          <m:t>𝜙</m:t>
                        </m:r>
                        <m:d>
                          <m:dPr>
                            <m:ctrlPr>
                              <a:rPr lang="ja-JP" altLang="en-US" sz="1900" i="1"/>
                            </m:ctrlPr>
                          </m:dPr>
                          <m:e>
                            <m:sSup>
                              <m:sSupPr>
                                <m:ctrlPr>
                                  <a:rPr lang="ja-JP" altLang="en-US" sz="1900" i="1">
                                    <a:latin typeface="Cambria Math" panose="02040503050406030204" pitchFamily="18" charset="0"/>
                                  </a:rPr>
                                </m:ctrlPr>
                              </m:sSupPr>
                              <m:e>
                                <m:r>
                                  <a:rPr lang="ja-JP" altLang="en-US" sz="1900" i="1">
                                    <a:latin typeface="Cambria Math" panose="02040503050406030204" pitchFamily="18" charset="0"/>
                                  </a:rPr>
                                  <m:t>𝑥</m:t>
                                </m:r>
                              </m:e>
                              <m:sup>
                                <m:r>
                                  <a:rPr lang="en-US" altLang="ja-JP" sz="1900">
                                    <a:latin typeface="Cambria Math" panose="02040503050406030204" pitchFamily="18" charset="0"/>
                                  </a:rPr>
                                  <m:t>′</m:t>
                                </m:r>
                              </m:sup>
                            </m:sSup>
                          </m:e>
                        </m:d>
                      </m:e>
                    </m:d>
                    <m:sSup>
                      <m:sSupPr>
                        <m:ctrlPr>
                          <a:rPr lang="ja-JP" altLang="en-US" sz="1900" i="1"/>
                        </m:ctrlPr>
                      </m:sSupPr>
                      <m:e>
                        <m:r>
                          <a:rPr lang="ja-JP" altLang="en-US" sz="1900" b="0"/>
                          <m:t>∣</m:t>
                        </m:r>
                      </m:e>
                      <m:sup>
                        <m:r>
                          <a:rPr lang="en-US" altLang="ja-JP" sz="1900" b="0" i="1"/>
                          <m:t>2</m:t>
                        </m:r>
                      </m:sup>
                    </m:sSup>
                    <m:r>
                      <a:rPr lang="en-US" altLang="ja-JP" sz="1900" b="0"/>
                      <m:t>.</m:t>
                    </m:r>
                  </m:oMath>
                </a14:m>
                <a:r>
                  <a:rPr lang="en-US" altLang="ja-JP" sz="1900" dirty="0"/>
                  <a:t> </a:t>
                </a:r>
                <a:r>
                  <a:rPr lang="ja-JP" altLang="ja-JP" sz="1900" dirty="0"/>
                  <a:t>实验上可以运行：</a:t>
                </a:r>
                <a14:m>
                  <m:oMath xmlns:m="http://schemas.openxmlformats.org/officeDocument/2006/math">
                    <m:sSubSup>
                      <m:sSubSupPr>
                        <m:ctrlPr>
                          <a:rPr lang="ja-JP" altLang="en-US" sz="1900" i="1">
                            <a:latin typeface="Cambria Math" panose="02040503050406030204" pitchFamily="18" charset="0"/>
                          </a:rPr>
                        </m:ctrlPr>
                      </m:sSubSupPr>
                      <m:e>
                        <m:r>
                          <a:rPr lang="ja-JP" altLang="en-US" sz="1900" i="1">
                            <a:latin typeface="Cambria Math" panose="02040503050406030204" pitchFamily="18" charset="0"/>
                          </a:rPr>
                          <m:t>𝑈</m:t>
                        </m:r>
                      </m:e>
                      <m:sub>
                        <m:r>
                          <a:rPr lang="ja-JP" altLang="en-US" sz="1900" i="1">
                            <a:latin typeface="Cambria Math" panose="02040503050406030204" pitchFamily="18" charset="0"/>
                          </a:rPr>
                          <m:t>𝜙</m:t>
                        </m:r>
                      </m:sub>
                      <m:sup>
                        <m:r>
                          <a:rPr lang="en-US" altLang="ja-JP" sz="1900">
                            <a:latin typeface="Cambria Math" panose="02040503050406030204" pitchFamily="18" charset="0"/>
                          </a:rPr>
                          <m:t>†</m:t>
                        </m:r>
                      </m:sup>
                    </m:sSubSup>
                    <m:d>
                      <m:dPr>
                        <m:ctrlPr>
                          <a:rPr lang="ja-JP" altLang="en-US" sz="1900" i="1">
                            <a:latin typeface="Cambria Math" panose="02040503050406030204" pitchFamily="18" charset="0"/>
                          </a:rPr>
                        </m:ctrlPr>
                      </m:dPr>
                      <m:e>
                        <m:sSup>
                          <m:sSupPr>
                            <m:ctrlPr>
                              <a:rPr lang="ja-JP" altLang="en-US" sz="1900" i="1">
                                <a:latin typeface="Cambria Math" panose="02040503050406030204" pitchFamily="18" charset="0"/>
                              </a:rPr>
                            </m:ctrlPr>
                          </m:sSupPr>
                          <m:e>
                            <m:r>
                              <a:rPr lang="ja-JP" altLang="en-US" sz="1900" i="1">
                                <a:latin typeface="Cambria Math" panose="02040503050406030204" pitchFamily="18" charset="0"/>
                              </a:rPr>
                              <m:t>𝑥</m:t>
                            </m:r>
                          </m:e>
                          <m:sup>
                            <m:r>
                              <a:rPr lang="en-US" altLang="ja-JP" sz="1900">
                                <a:latin typeface="Cambria Math" panose="02040503050406030204" pitchFamily="18" charset="0"/>
                              </a:rPr>
                              <m:t>′</m:t>
                            </m:r>
                          </m:sup>
                        </m:sSup>
                      </m:e>
                    </m:d>
                    <m:sSub>
                      <m:sSubPr>
                        <m:ctrlPr>
                          <a:rPr lang="ja-JP" altLang="en-US" sz="1900" i="1">
                            <a:latin typeface="Cambria Math" panose="02040503050406030204" pitchFamily="18" charset="0"/>
                          </a:rPr>
                        </m:ctrlPr>
                      </m:sSubPr>
                      <m:e>
                        <m:r>
                          <a:rPr lang="ja-JP" altLang="en-US" sz="1900" i="1">
                            <a:latin typeface="Cambria Math" panose="02040503050406030204" pitchFamily="18" charset="0"/>
                          </a:rPr>
                          <m:t>𝑈</m:t>
                        </m:r>
                      </m:e>
                      <m:sub>
                        <m:r>
                          <a:rPr lang="ja-JP" altLang="en-US" sz="1900" i="1">
                            <a:latin typeface="Cambria Math" panose="02040503050406030204" pitchFamily="18" charset="0"/>
                          </a:rPr>
                          <m:t>𝜙</m:t>
                        </m:r>
                      </m:sub>
                    </m:sSub>
                    <m:d>
                      <m:dPr>
                        <m:ctrlPr>
                          <a:rPr lang="ja-JP" altLang="en-US" sz="1900" i="1">
                            <a:latin typeface="Cambria Math" panose="02040503050406030204" pitchFamily="18" charset="0"/>
                          </a:rPr>
                        </m:ctrlPr>
                      </m:dPr>
                      <m:e>
                        <m:r>
                          <a:rPr lang="ja-JP" altLang="en-US" sz="1900" i="1">
                            <a:latin typeface="Cambria Math" panose="02040503050406030204" pitchFamily="18" charset="0"/>
                          </a:rPr>
                          <m:t>𝑥</m:t>
                        </m:r>
                      </m:e>
                    </m:d>
                    <m:d>
                      <m:dPr>
                        <m:begChr m:val=""/>
                        <m:endChr m:val="⟩"/>
                        <m:ctrlPr>
                          <a:rPr lang="ja-JP" altLang="en-US" sz="1900" i="1">
                            <a:latin typeface="Cambria Math" panose="02040503050406030204" pitchFamily="18" charset="0"/>
                          </a:rPr>
                        </m:ctrlPr>
                      </m:dPr>
                      <m:e>
                        <m:r>
                          <a:rPr lang="ja-JP" altLang="en-US" sz="1900">
                            <a:latin typeface="Cambria Math" panose="02040503050406030204" pitchFamily="18" charset="0"/>
                          </a:rPr>
                          <m:t>∣</m:t>
                        </m:r>
                        <m:r>
                          <a:rPr lang="en-US" altLang="ja-JP" sz="1900" i="1">
                            <a:latin typeface="Cambria Math" panose="02040503050406030204" pitchFamily="18" charset="0"/>
                          </a:rPr>
                          <m:t>0</m:t>
                        </m:r>
                      </m:e>
                    </m:d>
                    <m:r>
                      <a:rPr lang="en-US" altLang="ja-JP" sz="1900" b="0" i="0" smtClean="0">
                        <a:latin typeface="Cambria Math" panose="02040503050406030204" pitchFamily="18" charset="0"/>
                      </a:rPr>
                      <m:t>,</m:t>
                    </m:r>
                  </m:oMath>
                </a14:m>
                <a:r>
                  <a:rPr lang="en-US" altLang="ja-JP" sz="1900" dirty="0"/>
                  <a:t> </a:t>
                </a:r>
                <a:r>
                  <a:rPr lang="ja-JP" altLang="ja-JP" sz="1900" dirty="0"/>
                  <a:t>然后测量回到 </a:t>
                </a:r>
                <a14:m>
                  <m:oMath xmlns:m="http://schemas.openxmlformats.org/officeDocument/2006/math">
                    <m:d>
                      <m:dPr>
                        <m:begChr m:val=""/>
                        <m:endChr m:val="⟩"/>
                        <m:ctrlPr>
                          <a:rPr lang="ja-JP" altLang="en-US" sz="1900"/>
                        </m:ctrlPr>
                      </m:dPr>
                      <m:e>
                        <m:r>
                          <a:rPr lang="ja-JP" altLang="en-US" sz="1900" b="0"/>
                          <m:t>∣</m:t>
                        </m:r>
                        <m:r>
                          <a:rPr lang="en-US" altLang="ja-JP" sz="1900" b="0" i="1"/>
                          <m:t>0</m:t>
                        </m:r>
                      </m:e>
                    </m:d>
                  </m:oMath>
                </a14:m>
                <a:r>
                  <a:rPr lang="ja-JP" altLang="ja-JP" sz="1900" dirty="0"/>
                  <a:t>的概率。论文说明，量子计算机在训练阶段估计训练样本之间的核，在预测阶段估计测试点和支持向量之间的核。</a:t>
                </a:r>
              </a:p>
              <a:p>
                <a:pPr marL="0" indent="0">
                  <a:lnSpc>
                    <a:spcPct val="120000"/>
                  </a:lnSpc>
                  <a:buNone/>
                </a:pPr>
                <a:r>
                  <a:rPr lang="ja-JP" altLang="ja-JP" sz="1900" dirty="0"/>
                  <a:t>本质是：</a:t>
                </a:r>
                <a:r>
                  <a:rPr lang="ja-JP" altLang="ja-JP" sz="1900" dirty="0">
                    <a:solidFill>
                      <a:srgbClr val="C00000"/>
                    </a:solidFill>
                  </a:rPr>
                  <a:t>设计一个量子电路，让经典数据进入一个由纠缠和干涉产生的 Hilbert 空间特征表示；如果这个核经典上难以估计，那么 SVM 的核技巧可能获得量子优势</a:t>
                </a:r>
                <a:r>
                  <a:rPr lang="ja-JP" altLang="ja-JP" sz="1900" dirty="0"/>
                  <a:t>。它和 Schuld &amp; Killoran 的区别是，Schuld &amp; Killoran 给出一般理论，Havlíček 等给出具体电路、具体硬件实验、具体分类流程。论文在 superconducting processor 上实现了量子变分分类器和量子核估计器，并把二者都解释为使用量子态空间作为分类问题的特征空间。</a:t>
                </a:r>
              </a:p>
            </p:txBody>
          </p:sp>
        </mc:Choice>
        <mc:Fallback>
          <p:sp>
            <p:nvSpPr>
              <p:cNvPr id="12" name="コンテンツ プレースホルダー 2">
                <a:extLst>
                  <a:ext uri="{FF2B5EF4-FFF2-40B4-BE49-F238E27FC236}">
                    <a16:creationId xmlns:a16="http://schemas.microsoft.com/office/drawing/2014/main" id="{3A5DECD2-1428-15C6-4CE3-EE72A9DA0EE6}"/>
                  </a:ext>
                </a:extLst>
              </p:cNvPr>
              <p:cNvSpPr>
                <a:spLocks noGrp="1" noRot="1" noChangeAspect="1" noMove="1" noResize="1" noEditPoints="1" noAdjustHandles="1" noChangeArrowheads="1" noChangeShapeType="1" noTextEdit="1"/>
              </p:cNvSpPr>
              <p:nvPr>
                <p:ph idx="1"/>
              </p:nvPr>
            </p:nvSpPr>
            <p:spPr>
              <a:xfrm>
                <a:off x="393404" y="990600"/>
                <a:ext cx="11641115" cy="5268402"/>
              </a:xfrm>
              <a:blipFill>
                <a:blip r:embed="rId3"/>
                <a:stretch>
                  <a:fillRect l="-733" t="-7986" r="-52" b="-1261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8402897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BE5C8-4551-63FD-AA9E-13F257E0F83C}"/>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258B12E5-E04D-F29D-C828-BC842D303E67}"/>
              </a:ext>
            </a:extLst>
          </p:cNvPr>
          <p:cNvSpPr>
            <a:spLocks noGrp="1" noChangeArrowheads="1"/>
          </p:cNvSpPr>
          <p:nvPr>
            <p:ph type="title"/>
          </p:nvPr>
        </p:nvSpPr>
        <p:spPr/>
        <p:txBody>
          <a:bodyPr/>
          <a:lstStyle/>
          <a:p>
            <a:r>
              <a:rPr lang="ja-JP" altLang="ja-JP" dirty="0"/>
              <a:t>Havlíček et al.：把量子增强特征空间做成 NISQ 分类器</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A0C8B605-04F6-02D1-0E71-E4E42C85502D}"/>
                  </a:ext>
                </a:extLst>
              </p:cNvPr>
              <p:cNvSpPr>
                <a:spLocks noGrp="1"/>
              </p:cNvSpPr>
              <p:nvPr>
                <p:ph idx="1"/>
              </p:nvPr>
            </p:nvSpPr>
            <p:spPr>
              <a:xfrm>
                <a:off x="106680" y="1201478"/>
                <a:ext cx="11877040" cy="5057523"/>
              </a:xfrm>
            </p:spPr>
            <p:txBody>
              <a:bodyPr/>
              <a:lstStyle/>
              <a:p>
                <a:pPr marL="0" indent="0">
                  <a:lnSpc>
                    <a:spcPct val="120000"/>
                  </a:lnSpc>
                  <a:buNone/>
                </a:pPr>
                <a:r>
                  <a:rPr lang="zh-CN" altLang="en-US" dirty="0"/>
                  <a:t>论文指出，</a:t>
                </a:r>
                <a:r>
                  <a:rPr lang="ja-JP" altLang="ja-JP" dirty="0"/>
                  <a:t>量子优势的必要条件不是线路看起来复杂，而是特征核不能被经典高效估计。 论文讨论了特征映射如果只产生 product states，则可以经典模拟；若要有优势，需要更难模拟的量子电路。</a:t>
                </a:r>
              </a:p>
              <a:p>
                <a:pPr>
                  <a:lnSpc>
                    <a:spcPct val="120000"/>
                  </a:lnSpc>
                </a:pPr>
                <a:endParaRPr lang="en-US" altLang="ja-JP" dirty="0"/>
              </a:p>
              <a:p>
                <a:pPr marL="0" indent="0">
                  <a:lnSpc>
                    <a:spcPct val="120000"/>
                  </a:lnSpc>
                  <a:buNone/>
                </a:pPr>
                <a:r>
                  <a:rPr lang="zh-CN" altLang="en-US" dirty="0"/>
                  <a:t>并且，</a:t>
                </a:r>
                <a:r>
                  <a:rPr lang="ja-JP" altLang="ja-JP" dirty="0"/>
                  <a:t>它把变分量子分类器和传统 SVM 联系起来。</a:t>
                </a:r>
                <a:endParaRPr lang="en-US" altLang="ja-JP" dirty="0"/>
              </a:p>
              <a:p>
                <a:pPr marL="0" indent="0">
                  <a:lnSpc>
                    <a:spcPct val="120000"/>
                  </a:lnSpc>
                  <a:buNone/>
                </a:pPr>
                <a:r>
                  <a:rPr lang="ja-JP" altLang="ja-JP" dirty="0"/>
                  <a:t>变分线路加测量可以理解为在量子态空间中学习一个分离超平面；核估计器则直接进入 SVM 对偶问题</a:t>
                </a:r>
                <a:endParaRPr lang="en-US" altLang="ja-JP" dirty="0"/>
              </a:p>
              <a:p>
                <a:pPr marL="0" indent="0">
                  <a:lnSpc>
                    <a:spcPct val="120000"/>
                  </a:lnSpc>
                  <a:buNone/>
                </a:pPr>
                <a:endParaRPr lang="en-US" altLang="ja-JP" dirty="0"/>
              </a:p>
              <a:p>
                <a:pPr marL="0" indent="0">
                  <a:lnSpc>
                    <a:spcPct val="120000"/>
                  </a:lnSpc>
                  <a:buNone/>
                </a:pPr>
                <a:endParaRPr lang="en-US" altLang="ja-JP" dirty="0"/>
              </a:p>
              <a:p>
                <a:pPr marL="0" indent="0">
                  <a:lnSpc>
                    <a:spcPct val="120000"/>
                  </a:lnSpc>
                  <a:buNone/>
                </a:pPr>
                <a:endParaRPr lang="en-US" altLang="ja-JP" dirty="0"/>
              </a:p>
              <a:p>
                <a:pPr marL="0" indent="0">
                  <a:lnSpc>
                    <a:spcPct val="120000"/>
                  </a:lnSpc>
                  <a:buNone/>
                </a:pPr>
                <a:endParaRPr lang="en-US" altLang="ja-JP" dirty="0"/>
              </a:p>
              <a:p>
                <a:pPr marL="0" indent="0">
                  <a:lnSpc>
                    <a:spcPct val="120000"/>
                  </a:lnSpc>
                  <a:buNone/>
                </a:pPr>
                <a:endParaRPr lang="en-US" altLang="ja-JP" dirty="0"/>
              </a:p>
              <a:p>
                <a:pPr marL="0" indent="0">
                  <a:lnSpc>
                    <a:spcPct val="120000"/>
                  </a:lnSpc>
                  <a:buNone/>
                </a:pPr>
                <a:endParaRPr lang="en-US" altLang="ja-JP" dirty="0"/>
              </a:p>
              <a:p>
                <a:pPr marL="0" indent="0">
                  <a:lnSpc>
                    <a:spcPct val="120000"/>
                  </a:lnSpc>
                  <a:buNone/>
                </a:pPr>
                <a:r>
                  <a:rPr lang="ja-JP" altLang="ja-JP" dirty="0"/>
                  <a:t>论文还指出，直接把纯态 Hilbert 空间当特征空间会有全局相位问题，因此更自然的特征对象是量子态空间或密度矩阵，内积可写成 Hilbert–Schmidt 形式</a:t>
                </a:r>
                <a:r>
                  <a:rPr lang="en-US" altLang="ja-JP" dirty="0"/>
                  <a:t> </a:t>
                </a:r>
                <a14:m>
                  <m:oMath xmlns:m="http://schemas.openxmlformats.org/officeDocument/2006/math">
                    <m:r>
                      <a:rPr lang="ja-JP" altLang="en-US" b="0" i="1" smtClean="0">
                        <a:latin typeface="Cambria Math" panose="02040503050406030204" pitchFamily="18" charset="0"/>
                      </a:rPr>
                      <m:t>𝐾</m:t>
                    </m:r>
                    <m:d>
                      <m:dPr>
                        <m:sepChr m:val=","/>
                        <m:ctrlPr>
                          <a:rPr lang="ja-JP" altLang="en-US" i="1"/>
                        </m:ctrlPr>
                      </m:dPr>
                      <m:e>
                        <m:r>
                          <a:rPr lang="ja-JP" altLang="en-US" b="0" i="1" smtClean="0">
                            <a:latin typeface="Cambria Math" panose="02040503050406030204" pitchFamily="18" charset="0"/>
                          </a:rPr>
                          <m:t>𝑥</m:t>
                        </m:r>
                      </m:e>
                      <m:e>
                        <m:sSup>
                          <m:sSupPr>
                            <m:ctrlPr>
                              <a:rPr lang="ja-JP" altLang="en-US" i="1"/>
                            </m:ctrlPr>
                          </m:sSupPr>
                          <m:e>
                            <m:r>
                              <a:rPr lang="ja-JP" altLang="en-US" b="0" i="1" smtClean="0">
                                <a:latin typeface="Cambria Math" panose="02040503050406030204" pitchFamily="18" charset="0"/>
                              </a:rPr>
                              <m:t>𝑥</m:t>
                            </m:r>
                          </m:e>
                          <m:sup>
                            <m:r>
                              <a:rPr lang="en-US" altLang="ja-JP" b="0" smtClean="0">
                                <a:latin typeface="Cambria Math" panose="02040503050406030204" pitchFamily="18" charset="0"/>
                              </a:rPr>
                              <m:t>′</m:t>
                            </m:r>
                          </m:sup>
                        </m:sSup>
                      </m:e>
                    </m:d>
                    <m:r>
                      <a:rPr lang="en-US" altLang="ja-JP" b="0" smtClean="0">
                        <a:latin typeface="Cambria Math" panose="02040503050406030204" pitchFamily="18" charset="0"/>
                      </a:rPr>
                      <m:t>=</m:t>
                    </m:r>
                    <m:r>
                      <m:rPr>
                        <m:sty m:val="p"/>
                      </m:rPr>
                      <a:rPr lang="en-US" altLang="ja-JP" b="0" smtClean="0">
                        <a:latin typeface="Cambria Math" panose="02040503050406030204" pitchFamily="18" charset="0"/>
                      </a:rPr>
                      <m:t>Tr</m:t>
                    </m:r>
                    <m:r>
                      <a:rPr lang="en-US" altLang="ja-JP" b="0" smtClean="0">
                        <a:latin typeface="Cambria Math" panose="02040503050406030204" pitchFamily="18" charset="0"/>
                      </a:rPr>
                      <m:t>⁡</m:t>
                    </m:r>
                    <m:d>
                      <m:dPr>
                        <m:begChr m:val="["/>
                        <m:endChr m:val="]"/>
                        <m:ctrlPr>
                          <a:rPr lang="ja-JP" altLang="en-US" i="1"/>
                        </m:ctrlPr>
                      </m:dPr>
                      <m:e>
                        <m:r>
                          <a:rPr lang="ja-JP" altLang="en-US" b="0" i="1" smtClean="0">
                            <a:latin typeface="Cambria Math" panose="02040503050406030204" pitchFamily="18" charset="0"/>
                          </a:rPr>
                          <m:t>𝜌</m:t>
                        </m:r>
                        <m:d>
                          <m:dPr>
                            <m:ctrlPr>
                              <a:rPr lang="ja-JP" altLang="en-US" i="1"/>
                            </m:ctrlPr>
                          </m:dPr>
                          <m:e>
                            <m:r>
                              <a:rPr lang="ja-JP" altLang="en-US" b="0" i="1" smtClean="0">
                                <a:latin typeface="Cambria Math" panose="02040503050406030204" pitchFamily="18" charset="0"/>
                              </a:rPr>
                              <m:t>𝑥</m:t>
                            </m:r>
                          </m:e>
                        </m:d>
                        <m:r>
                          <a:rPr lang="ja-JP" altLang="en-US" b="0" i="1" smtClean="0">
                            <a:latin typeface="Cambria Math" panose="02040503050406030204" pitchFamily="18" charset="0"/>
                          </a:rPr>
                          <m:t>𝜌</m:t>
                        </m:r>
                        <m:d>
                          <m:dPr>
                            <m:ctrlPr>
                              <a:rPr lang="ja-JP" altLang="en-US" i="1"/>
                            </m:ctrlPr>
                          </m:dPr>
                          <m:e>
                            <m:sSup>
                              <m:sSupPr>
                                <m:ctrlPr>
                                  <a:rPr lang="ja-JP" altLang="en-US" i="1"/>
                                </m:ctrlPr>
                              </m:sSupPr>
                              <m:e>
                                <m:r>
                                  <a:rPr lang="ja-JP" altLang="en-US" b="0" i="1" smtClean="0">
                                    <a:latin typeface="Cambria Math" panose="02040503050406030204" pitchFamily="18" charset="0"/>
                                  </a:rPr>
                                  <m:t>𝑥</m:t>
                                </m:r>
                              </m:e>
                              <m:sup>
                                <m:r>
                                  <a:rPr lang="en-US" altLang="ja-JP" b="0" smtClean="0">
                                    <a:latin typeface="Cambria Math" panose="02040503050406030204" pitchFamily="18" charset="0"/>
                                  </a:rPr>
                                  <m:t>′</m:t>
                                </m:r>
                              </m:sup>
                            </m:sSup>
                          </m:e>
                        </m:d>
                      </m:e>
                    </m:d>
                    <m:r>
                      <a:rPr lang="en-US" altLang="ja-JP" b="0" smtClean="0">
                        <a:latin typeface="Cambria Math" panose="02040503050406030204" pitchFamily="18" charset="0"/>
                      </a:rPr>
                      <m:t>.</m:t>
                    </m:r>
                  </m:oMath>
                </a14:m>
                <a:endParaRPr lang="en-US" altLang="ja-JP" dirty="0"/>
              </a:p>
            </p:txBody>
          </p:sp>
        </mc:Choice>
        <mc:Fallback>
          <p:sp>
            <p:nvSpPr>
              <p:cNvPr id="12" name="コンテンツ プレースホルダー 2">
                <a:extLst>
                  <a:ext uri="{FF2B5EF4-FFF2-40B4-BE49-F238E27FC236}">
                    <a16:creationId xmlns:a16="http://schemas.microsoft.com/office/drawing/2014/main" id="{A0C8B605-04F6-02D1-0E71-E4E42C85502D}"/>
                  </a:ext>
                </a:extLst>
              </p:cNvPr>
              <p:cNvSpPr>
                <a:spLocks noGrp="1" noRot="1" noChangeAspect="1" noMove="1" noResize="1" noEditPoints="1" noAdjustHandles="1" noChangeArrowheads="1" noChangeShapeType="1" noTextEdit="1"/>
              </p:cNvSpPr>
              <p:nvPr>
                <p:ph idx="1"/>
              </p:nvPr>
            </p:nvSpPr>
            <p:spPr>
              <a:xfrm>
                <a:off x="106680" y="1201478"/>
                <a:ext cx="11877040" cy="5057523"/>
              </a:xfrm>
              <a:blipFill>
                <a:blip r:embed="rId3"/>
                <a:stretch>
                  <a:fillRect l="-565" t="-361" r="-513" b="-9398"/>
                </a:stretch>
              </a:blipFill>
            </p:spPr>
            <p:txBody>
              <a:bodyPr/>
              <a:lstStyle/>
              <a:p>
                <a:r>
                  <a:rPr lang="ja-JP" altLang="en-US">
                    <a:noFill/>
                  </a:rPr>
                  <a:t> </a:t>
                </a:r>
              </a:p>
            </p:txBody>
          </p:sp>
        </mc:Fallback>
      </mc:AlternateContent>
      <p:pic>
        <p:nvPicPr>
          <p:cNvPr id="3" name="図 2">
            <a:extLst>
              <a:ext uri="{FF2B5EF4-FFF2-40B4-BE49-F238E27FC236}">
                <a16:creationId xmlns:a16="http://schemas.microsoft.com/office/drawing/2014/main" id="{7747A041-63E5-6ECF-D30E-9E0CCD7B6F6E}"/>
              </a:ext>
            </a:extLst>
          </p:cNvPr>
          <p:cNvPicPr>
            <a:picLocks noChangeAspect="1"/>
          </p:cNvPicPr>
          <p:nvPr/>
        </p:nvPicPr>
        <p:blipFill>
          <a:blip r:embed="rId4"/>
          <a:stretch>
            <a:fillRect/>
          </a:stretch>
        </p:blipFill>
        <p:spPr>
          <a:xfrm>
            <a:off x="2483647" y="3429000"/>
            <a:ext cx="6085392" cy="2243776"/>
          </a:xfrm>
          <a:prstGeom prst="rect">
            <a:avLst/>
          </a:prstGeom>
        </p:spPr>
      </p:pic>
    </p:spTree>
    <p:extLst>
      <p:ext uri="{BB962C8B-B14F-4D97-AF65-F5344CB8AC3E}">
        <p14:creationId xmlns:p14="http://schemas.microsoft.com/office/powerpoint/2010/main" val="2581482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8C40A-2837-18D6-F0EA-DF14F4A9F7AB}"/>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094E5CF8-3561-6C9A-FDA4-AF760533FD31}"/>
              </a:ext>
            </a:extLst>
          </p:cNvPr>
          <p:cNvSpPr>
            <a:spLocks noGrp="1" noChangeArrowheads="1"/>
          </p:cNvSpPr>
          <p:nvPr>
            <p:ph type="title"/>
          </p:nvPr>
        </p:nvSpPr>
        <p:spPr/>
        <p:txBody>
          <a:bodyPr/>
          <a:lstStyle/>
          <a:p>
            <a:r>
              <a:rPr lang="ja-JP" altLang="ja-JP" dirty="0"/>
              <a:t>Havlíček et al.：把量子增强特征空间做成 NISQ 分类器</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883D931-9A87-2881-5235-700B3AF72F6C}"/>
                  </a:ext>
                </a:extLst>
              </p:cNvPr>
              <p:cNvSpPr>
                <a:spLocks noGrp="1"/>
              </p:cNvSpPr>
              <p:nvPr>
                <p:ph idx="1"/>
              </p:nvPr>
            </p:nvSpPr>
            <p:spPr>
              <a:xfrm>
                <a:off x="106680" y="1095152"/>
                <a:ext cx="11877040" cy="5057523"/>
              </a:xfrm>
            </p:spPr>
            <p:txBody>
              <a:bodyPr/>
              <a:lstStyle/>
              <a:p>
                <a:pPr marL="0" indent="0">
                  <a:lnSpc>
                    <a:spcPct val="120000"/>
                  </a:lnSpc>
                  <a:buNone/>
                </a:pPr>
                <a:r>
                  <a:rPr lang="ja-JP" altLang="ja-JP" dirty="0">
                    <a:solidFill>
                      <a:srgbClr val="C00000"/>
                    </a:solidFill>
                  </a:rPr>
                  <a:t>核估计器则直接进入 SVM 对偶问题</a:t>
                </a:r>
                <a:r>
                  <a:rPr lang="en-US" altLang="ja-JP" dirty="0">
                    <a:solidFill>
                      <a:srgbClr val="C00000"/>
                    </a:solidFill>
                  </a:rPr>
                  <a:t>   </a:t>
                </a:r>
                <a:r>
                  <a:rPr lang="ja-JP" altLang="ja-JP" dirty="0"/>
                  <a:t>SVM 还有另一种写法，叫</a:t>
                </a:r>
                <a:r>
                  <a:rPr lang="ja-JP" altLang="ja-JP" b="1" dirty="0"/>
                  <a:t>对偶形式</a:t>
                </a:r>
                <a:r>
                  <a:rPr lang="ja-JP" altLang="ja-JP" dirty="0"/>
                  <a:t>。</a:t>
                </a:r>
              </a:p>
              <a:p>
                <a:r>
                  <a:rPr lang="ja-JP" altLang="ja-JP" dirty="0"/>
                  <a:t>原始形式中直接学习 </a:t>
                </a:r>
                <a14:m>
                  <m:oMath xmlns:m="http://schemas.openxmlformats.org/officeDocument/2006/math">
                    <m:r>
                      <a:rPr lang="ja-JP" altLang="en-US" i="1"/>
                      <m:t>𝑤</m:t>
                    </m:r>
                  </m:oMath>
                </a14:m>
                <a:r>
                  <a:rPr lang="ja-JP" altLang="ja-JP" dirty="0"/>
                  <a:t>。对偶形式中不直接学习 </a:t>
                </a:r>
                <a14:m>
                  <m:oMath xmlns:m="http://schemas.openxmlformats.org/officeDocument/2006/math">
                    <m:r>
                      <a:rPr lang="ja-JP" altLang="en-US" i="1"/>
                      <m:t>𝑤</m:t>
                    </m:r>
                  </m:oMath>
                </a14:m>
                <a:r>
                  <a:rPr lang="ja-JP" altLang="ja-JP" dirty="0"/>
                  <a:t>，而是学习训练样本的系数 </a:t>
                </a:r>
                <a14:m>
                  <m:oMath xmlns:m="http://schemas.openxmlformats.org/officeDocument/2006/math">
                    <m:sSub>
                      <m:sSubPr>
                        <m:ctrlPr>
                          <a:rPr lang="ja-JP" altLang="en-US"/>
                        </m:ctrlPr>
                      </m:sSubPr>
                      <m:e>
                        <m:r>
                          <a:rPr lang="ja-JP" altLang="en-US" i="1"/>
                          <m:t>𝛼</m:t>
                        </m:r>
                      </m:e>
                      <m:sub>
                        <m:r>
                          <a:rPr lang="ja-JP" altLang="en-US" i="1"/>
                          <m:t>𝑖</m:t>
                        </m:r>
                      </m:sub>
                    </m:sSub>
                  </m:oMath>
                </a14:m>
                <a:r>
                  <a:rPr lang="ja-JP" altLang="ja-JP" dirty="0"/>
                  <a:t>。分类函数变成：</a:t>
                </a:r>
                <a:endParaRPr lang="en-US" altLang="ja-JP" i="1" dirty="0"/>
              </a:p>
              <a:p>
                <a:pPr marL="0" indent="0">
                  <a:buNone/>
                </a:pPr>
                <a14:m>
                  <m:oMathPara xmlns:m="http://schemas.openxmlformats.org/officeDocument/2006/math">
                    <m:oMathParaPr>
                      <m:jc m:val="centerGroup"/>
                    </m:oMathParaPr>
                    <m:oMath xmlns:m="http://schemas.openxmlformats.org/officeDocument/2006/math">
                      <m:r>
                        <a:rPr lang="ja-JP" altLang="en-US" i="1"/>
                        <m:t>𝑓</m:t>
                      </m:r>
                      <m:d>
                        <m:dPr>
                          <m:ctrlPr>
                            <a:rPr lang="ja-JP" altLang="en-US" i="1"/>
                          </m:ctrlPr>
                        </m:dPr>
                        <m:e>
                          <m:r>
                            <a:rPr lang="ja-JP" altLang="en-US" i="1"/>
                            <m:t>𝑥</m:t>
                          </m:r>
                        </m:e>
                      </m:d>
                      <m:r>
                        <a:rPr lang="en-US" altLang="ja-JP"/>
                        <m:t>=</m:t>
                      </m:r>
                      <m:func>
                        <m:funcPr>
                          <m:ctrlPr>
                            <a:rPr lang="ja-JP" altLang="en-US" i="1"/>
                          </m:ctrlPr>
                        </m:funcPr>
                        <m:fName>
                          <m:r>
                            <m:rPr>
                              <m:sty m:val="p"/>
                            </m:rPr>
                            <a:rPr lang="en-US" altLang="ja-JP"/>
                            <m:t>sign</m:t>
                          </m:r>
                        </m:fName>
                        <m:e>
                          <m:d>
                            <m:dPr>
                              <m:ctrlPr>
                                <a:rPr lang="ja-JP" altLang="en-US" i="1"/>
                              </m:ctrlPr>
                            </m:dPr>
                            <m:e>
                              <m:nary>
                                <m:naryPr>
                                  <m:chr m:val="∑"/>
                                  <m:grow m:val="on"/>
                                  <m:supHide m:val="on"/>
                                  <m:ctrlPr>
                                    <a:rPr lang="ja-JP" altLang="en-US" i="1"/>
                                  </m:ctrlPr>
                                </m:naryPr>
                                <m:sub>
                                  <m:r>
                                    <a:rPr lang="ja-JP" altLang="en-US" i="1"/>
                                    <m:t>𝑖</m:t>
                                  </m:r>
                                </m:sub>
                                <m:sup/>
                                <m:e>
                                  <m:sSub>
                                    <m:sSubPr>
                                      <m:ctrlPr>
                                        <a:rPr lang="ja-JP" altLang="en-US" i="1"/>
                                      </m:ctrlPr>
                                    </m:sSubPr>
                                    <m:e>
                                      <m:r>
                                        <a:rPr lang="ja-JP" altLang="en-US" i="1"/>
                                        <m:t>𝛼</m:t>
                                      </m:r>
                                    </m:e>
                                    <m:sub>
                                      <m:r>
                                        <a:rPr lang="ja-JP" altLang="en-US" i="1"/>
                                        <m:t>𝑖</m:t>
                                      </m:r>
                                    </m:sub>
                                  </m:sSub>
                                </m:e>
                              </m:nary>
                              <m:sSub>
                                <m:sSubPr>
                                  <m:ctrlPr>
                                    <a:rPr lang="ja-JP" altLang="en-US" i="1"/>
                                  </m:ctrlPr>
                                </m:sSubPr>
                                <m:e>
                                  <m:r>
                                    <a:rPr lang="ja-JP" altLang="en-US" i="1"/>
                                    <m:t>𝑦</m:t>
                                  </m:r>
                                </m:e>
                                <m:sub>
                                  <m:r>
                                    <a:rPr lang="ja-JP" altLang="en-US" i="1"/>
                                    <m:t>𝑖</m:t>
                                  </m:r>
                                </m:sub>
                              </m:sSub>
                              <m:r>
                                <a:rPr lang="ja-JP" altLang="en-US" i="1"/>
                                <m:t>𝐾</m:t>
                              </m:r>
                              <m:d>
                                <m:dPr>
                                  <m:sepChr m:val=","/>
                                  <m:ctrlPr>
                                    <a:rPr lang="ja-JP" altLang="en-US" i="1"/>
                                  </m:ctrlPr>
                                </m:dPr>
                                <m:e>
                                  <m:sSub>
                                    <m:sSubPr>
                                      <m:ctrlPr>
                                        <a:rPr lang="ja-JP" altLang="en-US" i="1"/>
                                      </m:ctrlPr>
                                    </m:sSubPr>
                                    <m:e>
                                      <m:r>
                                        <a:rPr lang="ja-JP" altLang="en-US" i="1"/>
                                        <m:t>𝑥</m:t>
                                      </m:r>
                                    </m:e>
                                    <m:sub>
                                      <m:r>
                                        <a:rPr lang="ja-JP" altLang="en-US" i="1"/>
                                        <m:t>𝑖</m:t>
                                      </m:r>
                                    </m:sub>
                                  </m:sSub>
                                </m:e>
                                <m:e>
                                  <m:r>
                                    <a:rPr lang="ja-JP" altLang="en-US" i="1"/>
                                    <m:t>𝑥</m:t>
                                  </m:r>
                                </m:e>
                              </m:d>
                              <m:r>
                                <a:rPr lang="en-US" altLang="ja-JP"/>
                                <m:t>+</m:t>
                              </m:r>
                              <m:r>
                                <a:rPr lang="ja-JP" altLang="en-US" i="1"/>
                                <m:t>𝑏</m:t>
                              </m:r>
                            </m:e>
                          </m:d>
                        </m:e>
                      </m:func>
                      <m:r>
                        <a:rPr lang="en-US" altLang="ja-JP"/>
                        <m:t>.</m:t>
                      </m:r>
                    </m:oMath>
                  </m:oMathPara>
                </a14:m>
                <a:endParaRPr lang="ja-JP" altLang="ja-JP" dirty="0"/>
              </a:p>
              <a:p>
                <a14:m>
                  <m:oMath xmlns:m="http://schemas.openxmlformats.org/officeDocument/2006/math">
                    <m:sSub>
                      <m:sSubPr>
                        <m:ctrlPr>
                          <a:rPr lang="ja-JP" altLang="en-US"/>
                        </m:ctrlPr>
                      </m:sSubPr>
                      <m:e>
                        <m:r>
                          <a:rPr lang="ja-JP" altLang="en-US" i="1"/>
                          <m:t>𝑥</m:t>
                        </m:r>
                      </m:e>
                      <m:sub>
                        <m:r>
                          <a:rPr lang="ja-JP" altLang="en-US" i="1"/>
                          <m:t>𝑖</m:t>
                        </m:r>
                      </m:sub>
                    </m:sSub>
                  </m:oMath>
                </a14:m>
                <a:r>
                  <a:rPr lang="ja-JP" altLang="ja-JP" dirty="0"/>
                  <a:t>是训练样本； </a:t>
                </a:r>
                <a14:m>
                  <m:oMath xmlns:m="http://schemas.openxmlformats.org/officeDocument/2006/math">
                    <m:sSub>
                      <m:sSubPr>
                        <m:ctrlPr>
                          <a:rPr lang="ja-JP" altLang="en-US"/>
                        </m:ctrlPr>
                      </m:sSubPr>
                      <m:e>
                        <m:r>
                          <a:rPr lang="ja-JP" altLang="en-US" i="1"/>
                          <m:t>𝑦</m:t>
                        </m:r>
                      </m:e>
                      <m:sub>
                        <m:r>
                          <a:rPr lang="ja-JP" altLang="en-US" i="1"/>
                          <m:t>𝑖</m:t>
                        </m:r>
                      </m:sub>
                    </m:sSub>
                    <m:r>
                      <a:rPr lang="ja-JP" altLang="en-US"/>
                      <m:t>∈</m:t>
                    </m:r>
                    <m:d>
                      <m:dPr>
                        <m:begChr m:val="{"/>
                        <m:endChr m:val="}"/>
                        <m:sepChr m:val=","/>
                        <m:ctrlPr>
                          <a:rPr lang="ja-JP" altLang="en-US" i="1"/>
                        </m:ctrlPr>
                      </m:dPr>
                      <m:e>
                        <m:r>
                          <a:rPr lang="en-US" altLang="ja-JP" b="0" i="0" smtClean="0">
                            <a:latin typeface="Cambria Math" panose="02040503050406030204" pitchFamily="18" charset="0"/>
                          </a:rPr>
                          <m:t>-</m:t>
                        </m:r>
                        <m:r>
                          <a:rPr lang="en-US" altLang="ja-JP">
                            <a:latin typeface="Cambria Math" panose="02040503050406030204" pitchFamily="18" charset="0"/>
                          </a:rPr>
                          <m:t>1</m:t>
                        </m:r>
                      </m:e>
                      <m:e>
                        <m:r>
                          <a:rPr lang="en-US" altLang="ja-JP"/>
                          <m:t>+</m:t>
                        </m:r>
                        <m:r>
                          <a:rPr lang="en-US" altLang="ja-JP"/>
                          <m:t>1</m:t>
                        </m:r>
                      </m:e>
                    </m:d>
                  </m:oMath>
                </a14:m>
                <a:r>
                  <a:rPr lang="ja-JP" altLang="ja-JP" dirty="0"/>
                  <a:t>是标签； </a:t>
                </a:r>
                <a:r>
                  <a:rPr lang="en-US" altLang="ja-JP" dirty="0"/>
                  <a:t> </a:t>
                </a:r>
                <a14:m>
                  <m:oMath xmlns:m="http://schemas.openxmlformats.org/officeDocument/2006/math">
                    <m:sSub>
                      <m:sSubPr>
                        <m:ctrlPr>
                          <a:rPr lang="ja-JP" altLang="en-US"/>
                        </m:ctrlPr>
                      </m:sSubPr>
                      <m:e>
                        <m:r>
                          <a:rPr lang="ja-JP" altLang="en-US" i="1"/>
                          <m:t>𝛼</m:t>
                        </m:r>
                      </m:e>
                      <m:sub>
                        <m:r>
                          <a:rPr lang="ja-JP" altLang="en-US" i="1"/>
                          <m:t>𝑖</m:t>
                        </m:r>
                      </m:sub>
                    </m:sSub>
                  </m:oMath>
                </a14:m>
                <a:r>
                  <a:rPr lang="ja-JP" altLang="ja-JP" dirty="0"/>
                  <a:t>是 SVM 学出来的系数； </a:t>
                </a:r>
                <a14:m>
                  <m:oMath xmlns:m="http://schemas.openxmlformats.org/officeDocument/2006/math">
                    <m:r>
                      <a:rPr lang="ja-JP" altLang="en-US" i="1"/>
                      <m:t>𝐾</m:t>
                    </m:r>
                    <m:d>
                      <m:dPr>
                        <m:sepChr m:val=","/>
                        <m:ctrlPr>
                          <a:rPr lang="ja-JP" altLang="en-US" i="1"/>
                        </m:ctrlPr>
                      </m:dPr>
                      <m:e>
                        <m:sSub>
                          <m:sSubPr>
                            <m:ctrlPr>
                              <a:rPr lang="ja-JP" altLang="en-US" i="1"/>
                            </m:ctrlPr>
                          </m:sSubPr>
                          <m:e>
                            <m:r>
                              <a:rPr lang="ja-JP" altLang="en-US" i="1"/>
                              <m:t>𝑥</m:t>
                            </m:r>
                          </m:e>
                          <m:sub>
                            <m:r>
                              <a:rPr lang="ja-JP" altLang="en-US" i="1"/>
                              <m:t>𝑖</m:t>
                            </m:r>
                          </m:sub>
                        </m:sSub>
                      </m:e>
                      <m:e>
                        <m:r>
                          <a:rPr lang="ja-JP" altLang="en-US" i="1"/>
                          <m:t>𝑥</m:t>
                        </m:r>
                      </m:e>
                    </m:d>
                  </m:oMath>
                </a14:m>
                <a:r>
                  <a:rPr lang="ja-JP" altLang="ja-JP" dirty="0"/>
                  <a:t>是核函数。 </a:t>
                </a:r>
              </a:p>
              <a:p>
                <a:pPr marL="0" indent="0">
                  <a:buNone/>
                </a:pPr>
                <a:r>
                  <a:rPr lang="ja-JP" altLang="ja-JP" dirty="0"/>
                  <a:t>对偶优化问题大致是：</a:t>
                </a:r>
                <a14:m>
                  <m:oMath xmlns:m="http://schemas.openxmlformats.org/officeDocument/2006/math">
                    <m:sSub>
                      <m:sSubPr>
                        <m:ctrlPr>
                          <a:rPr lang="ja-JP" altLang="en-US" i="1" smtClean="0">
                            <a:latin typeface="Cambria Math" panose="02040503050406030204" pitchFamily="18" charset="0"/>
                          </a:rPr>
                        </m:ctrlPr>
                      </m:sSubPr>
                      <m:e>
                        <m:r>
                          <m:rPr>
                            <m:sty m:val="p"/>
                          </m:rPr>
                          <a:rPr lang="en-US" altLang="ja-JP" b="0" i="1" smtClean="0">
                            <a:latin typeface="Cambria Math" panose="02040503050406030204" pitchFamily="18" charset="0"/>
                          </a:rPr>
                          <m:t>max</m:t>
                        </m:r>
                      </m:e>
                      <m:sub>
                        <m:r>
                          <a:rPr lang="ja-JP" altLang="en-US" i="1">
                            <a:latin typeface="Cambria Math" panose="02040503050406030204" pitchFamily="18" charset="0"/>
                          </a:rPr>
                          <m:t>𝛼</m:t>
                        </m:r>
                      </m:sub>
                    </m:sSub>
                    <m:nary>
                      <m:naryPr>
                        <m:chr m:val="∑"/>
                        <m:grow m:val="on"/>
                        <m:supHide m:val="on"/>
                        <m:ctrlPr>
                          <a:rPr lang="ja-JP" altLang="en-US" i="1"/>
                        </m:ctrlPr>
                      </m:naryPr>
                      <m:sub>
                        <m:r>
                          <a:rPr lang="ja-JP" altLang="en-US" i="1"/>
                          <m:t>𝑖</m:t>
                        </m:r>
                      </m:sub>
                      <m:sup/>
                      <m:e>
                        <m:sSub>
                          <m:sSubPr>
                            <m:ctrlPr>
                              <a:rPr lang="ja-JP" altLang="en-US" i="1"/>
                            </m:ctrlPr>
                          </m:sSubPr>
                          <m:e>
                            <m:r>
                              <a:rPr lang="ja-JP" altLang="en-US" i="1"/>
                              <m:t>𝛼</m:t>
                            </m:r>
                          </m:e>
                          <m:sub>
                            <m:r>
                              <a:rPr lang="ja-JP" altLang="en-US" i="1"/>
                              <m:t>𝑖</m:t>
                            </m:r>
                          </m:sub>
                        </m:sSub>
                      </m:e>
                    </m:nary>
                    <m:r>
                      <a:rPr lang="ja-JP" altLang="en-US"/>
                      <m:t>−</m:t>
                    </m:r>
                    <m:f>
                      <m:fPr>
                        <m:ctrlPr>
                          <a:rPr lang="ja-JP" altLang="en-US" i="1"/>
                        </m:ctrlPr>
                      </m:fPr>
                      <m:num>
                        <m:r>
                          <a:rPr lang="en-US" altLang="ja-JP"/>
                          <m:t>1</m:t>
                        </m:r>
                      </m:num>
                      <m:den>
                        <m:r>
                          <a:rPr lang="en-US" altLang="ja-JP"/>
                          <m:t>2</m:t>
                        </m:r>
                      </m:den>
                    </m:f>
                    <m:nary>
                      <m:naryPr>
                        <m:chr m:val="∑"/>
                        <m:grow m:val="on"/>
                        <m:supHide m:val="on"/>
                        <m:ctrlPr>
                          <a:rPr lang="ja-JP" altLang="en-US" i="1"/>
                        </m:ctrlPr>
                      </m:naryPr>
                      <m:sub>
                        <m:r>
                          <a:rPr lang="ja-JP" altLang="en-US" i="1"/>
                          <m:t>𝑖</m:t>
                        </m:r>
                        <m:r>
                          <a:rPr lang="en-US" altLang="ja-JP"/>
                          <m:t>,</m:t>
                        </m:r>
                        <m:r>
                          <a:rPr lang="ja-JP" altLang="en-US" i="1"/>
                          <m:t>𝑗</m:t>
                        </m:r>
                      </m:sub>
                      <m:sup/>
                      <m:e>
                        <m:sSub>
                          <m:sSubPr>
                            <m:ctrlPr>
                              <a:rPr lang="ja-JP" altLang="en-US" i="1"/>
                            </m:ctrlPr>
                          </m:sSubPr>
                          <m:e>
                            <m:r>
                              <a:rPr lang="ja-JP" altLang="en-US" i="1"/>
                              <m:t>𝛼</m:t>
                            </m:r>
                          </m:e>
                          <m:sub>
                            <m:r>
                              <a:rPr lang="ja-JP" altLang="en-US" i="1"/>
                              <m:t>𝑖</m:t>
                            </m:r>
                          </m:sub>
                        </m:sSub>
                      </m:e>
                    </m:nary>
                    <m:sSub>
                      <m:sSubPr>
                        <m:ctrlPr>
                          <a:rPr lang="ja-JP" altLang="en-US" i="1"/>
                        </m:ctrlPr>
                      </m:sSubPr>
                      <m:e>
                        <m:r>
                          <a:rPr lang="ja-JP" altLang="en-US" i="1"/>
                          <m:t>𝛼</m:t>
                        </m:r>
                      </m:e>
                      <m:sub>
                        <m:r>
                          <a:rPr lang="ja-JP" altLang="en-US" i="1"/>
                          <m:t>𝑗</m:t>
                        </m:r>
                      </m:sub>
                    </m:sSub>
                    <m:sSub>
                      <m:sSubPr>
                        <m:ctrlPr>
                          <a:rPr lang="ja-JP" altLang="en-US" i="1"/>
                        </m:ctrlPr>
                      </m:sSubPr>
                      <m:e>
                        <m:r>
                          <a:rPr lang="ja-JP" altLang="en-US" i="1"/>
                          <m:t>𝑦</m:t>
                        </m:r>
                      </m:e>
                      <m:sub>
                        <m:r>
                          <a:rPr lang="ja-JP" altLang="en-US" i="1"/>
                          <m:t>𝑖</m:t>
                        </m:r>
                      </m:sub>
                    </m:sSub>
                    <m:sSub>
                      <m:sSubPr>
                        <m:ctrlPr>
                          <a:rPr lang="ja-JP" altLang="en-US" i="1"/>
                        </m:ctrlPr>
                      </m:sSubPr>
                      <m:e>
                        <m:r>
                          <a:rPr lang="ja-JP" altLang="en-US" i="1"/>
                          <m:t>𝑦</m:t>
                        </m:r>
                      </m:e>
                      <m:sub>
                        <m:r>
                          <a:rPr lang="ja-JP" altLang="en-US" i="1"/>
                          <m:t>𝑗</m:t>
                        </m:r>
                      </m:sub>
                    </m:sSub>
                    <m:r>
                      <a:rPr lang="ja-JP" altLang="en-US" i="1"/>
                      <m:t>𝐾</m:t>
                    </m:r>
                    <m:d>
                      <m:dPr>
                        <m:sepChr m:val=","/>
                        <m:ctrlPr>
                          <a:rPr lang="ja-JP" altLang="en-US" i="1"/>
                        </m:ctrlPr>
                      </m:dPr>
                      <m:e>
                        <m:sSub>
                          <m:sSubPr>
                            <m:ctrlPr>
                              <a:rPr lang="ja-JP" altLang="en-US" i="1"/>
                            </m:ctrlPr>
                          </m:sSubPr>
                          <m:e>
                            <m:r>
                              <a:rPr lang="ja-JP" altLang="en-US" i="1"/>
                              <m:t>𝑥</m:t>
                            </m:r>
                          </m:e>
                          <m:sub>
                            <m:r>
                              <a:rPr lang="ja-JP" altLang="en-US" i="1"/>
                              <m:t>𝑖</m:t>
                            </m:r>
                          </m:sub>
                        </m:sSub>
                      </m:e>
                      <m:e>
                        <m:sSub>
                          <m:sSubPr>
                            <m:ctrlPr>
                              <a:rPr lang="ja-JP" altLang="en-US" i="1"/>
                            </m:ctrlPr>
                          </m:sSubPr>
                          <m:e>
                            <m:r>
                              <a:rPr lang="ja-JP" altLang="en-US" i="1"/>
                              <m:t>𝑥</m:t>
                            </m:r>
                          </m:e>
                          <m:sub>
                            <m:r>
                              <a:rPr lang="ja-JP" altLang="en-US" i="1"/>
                              <m:t>𝑗</m:t>
                            </m:r>
                          </m:sub>
                        </m:sSub>
                      </m:e>
                    </m:d>
                    <m:r>
                      <a:rPr lang="en-US" altLang="ja-JP"/>
                      <m:t>,</m:t>
                    </m:r>
                  </m:oMath>
                </a14:m>
                <a:r>
                  <a:rPr lang="en-US" altLang="ja-JP" dirty="0"/>
                  <a:t> </a:t>
                </a:r>
                <a:r>
                  <a:rPr lang="ja-JP" altLang="ja-JP" dirty="0"/>
                  <a:t>满足：</a:t>
                </a:r>
                <a14:m>
                  <m:oMath xmlns:m="http://schemas.openxmlformats.org/officeDocument/2006/math">
                    <m:sSub>
                      <m:sSubPr>
                        <m:ctrlPr>
                          <a:rPr lang="ja-JP" altLang="en-US"/>
                        </m:ctrlPr>
                      </m:sSubPr>
                      <m:e>
                        <m:r>
                          <a:rPr lang="ja-JP" altLang="en-US" i="1"/>
                          <m:t>𝛼</m:t>
                        </m:r>
                      </m:e>
                      <m:sub>
                        <m:r>
                          <a:rPr lang="ja-JP" altLang="en-US" i="1"/>
                          <m:t>𝑖</m:t>
                        </m:r>
                      </m:sub>
                    </m:sSub>
                    <m:r>
                      <a:rPr lang="ja-JP" altLang="en-US"/>
                      <m:t>≥</m:t>
                    </m:r>
                    <m:r>
                      <a:rPr lang="en-US" altLang="ja-JP"/>
                      <m:t>0</m:t>
                    </m:r>
                    <m:r>
                      <a:rPr lang="en-US" altLang="ja-JP"/>
                      <m:t>, </m:t>
                    </m:r>
                    <m:nary>
                      <m:naryPr>
                        <m:chr m:val="∑"/>
                        <m:grow m:val="on"/>
                        <m:supHide m:val="on"/>
                        <m:ctrlPr>
                          <a:rPr lang="ja-JP" altLang="en-US" i="1"/>
                        </m:ctrlPr>
                      </m:naryPr>
                      <m:sub>
                        <m:r>
                          <a:rPr lang="ja-JP" altLang="en-US" i="1"/>
                          <m:t>𝑖</m:t>
                        </m:r>
                      </m:sub>
                      <m:sup/>
                      <m:e>
                        <m:sSub>
                          <m:sSubPr>
                            <m:ctrlPr>
                              <a:rPr lang="ja-JP" altLang="en-US" i="1"/>
                            </m:ctrlPr>
                          </m:sSubPr>
                          <m:e>
                            <m:r>
                              <a:rPr lang="ja-JP" altLang="en-US" i="1"/>
                              <m:t>𝛼</m:t>
                            </m:r>
                          </m:e>
                          <m:sub>
                            <m:r>
                              <a:rPr lang="ja-JP" altLang="en-US" i="1"/>
                              <m:t>𝑖</m:t>
                            </m:r>
                          </m:sub>
                        </m:sSub>
                      </m:e>
                    </m:nary>
                    <m:sSub>
                      <m:sSubPr>
                        <m:ctrlPr>
                          <a:rPr lang="ja-JP" altLang="en-US" i="1"/>
                        </m:ctrlPr>
                      </m:sSubPr>
                      <m:e>
                        <m:r>
                          <a:rPr lang="ja-JP" altLang="en-US" i="1"/>
                          <m:t>𝑦</m:t>
                        </m:r>
                      </m:e>
                      <m:sub>
                        <m:r>
                          <a:rPr lang="ja-JP" altLang="en-US" i="1"/>
                          <m:t>𝑖</m:t>
                        </m:r>
                      </m:sub>
                    </m:sSub>
                    <m:r>
                      <a:rPr lang="en-US" altLang="ja-JP"/>
                      <m:t>=</m:t>
                    </m:r>
                    <m:r>
                      <a:rPr lang="en-US" altLang="ja-JP"/>
                      <m:t>0</m:t>
                    </m:r>
                    <m:r>
                      <a:rPr lang="en-US" altLang="ja-JP"/>
                      <m:t>.</m:t>
                    </m:r>
                  </m:oMath>
                </a14:m>
                <a:br>
                  <a:rPr lang="ja-JP" altLang="ja-JP" dirty="0"/>
                </a:br>
                <a:r>
                  <a:rPr lang="ja-JP" altLang="ja-JP" b="1" dirty="0"/>
                  <a:t>对偶问题只需要核矩阵</a:t>
                </a:r>
                <a14:m>
                  <m:oMath xmlns:m="http://schemas.openxmlformats.org/officeDocument/2006/math">
                    <m:sSub>
                      <m:sSubPr>
                        <m:ctrlPr>
                          <a:rPr lang="ja-JP" altLang="en-US"/>
                        </m:ctrlPr>
                      </m:sSubPr>
                      <m:e>
                        <m:r>
                          <a:rPr lang="ja-JP" altLang="en-US" i="1"/>
                          <m:t>𝐾</m:t>
                        </m:r>
                      </m:e>
                      <m:sub>
                        <m:r>
                          <a:rPr lang="ja-JP" altLang="en-US" i="1"/>
                          <m:t>𝑖𝑗</m:t>
                        </m:r>
                      </m:sub>
                    </m:sSub>
                    <m:r>
                      <a:rPr lang="en-US" altLang="ja-JP"/>
                      <m:t>=</m:t>
                    </m:r>
                    <m:r>
                      <a:rPr lang="ja-JP" altLang="en-US" i="1"/>
                      <m:t>𝐾</m:t>
                    </m:r>
                    <m:d>
                      <m:dPr>
                        <m:sepChr m:val=","/>
                        <m:ctrlPr>
                          <a:rPr lang="ja-JP" altLang="en-US" i="1"/>
                        </m:ctrlPr>
                      </m:dPr>
                      <m:e>
                        <m:sSub>
                          <m:sSubPr>
                            <m:ctrlPr>
                              <a:rPr lang="ja-JP" altLang="en-US" i="1"/>
                            </m:ctrlPr>
                          </m:sSubPr>
                          <m:e>
                            <m:r>
                              <a:rPr lang="ja-JP" altLang="en-US" i="1"/>
                              <m:t>𝑥</m:t>
                            </m:r>
                          </m:e>
                          <m:sub>
                            <m:r>
                              <a:rPr lang="ja-JP" altLang="en-US" i="1"/>
                              <m:t>𝑖</m:t>
                            </m:r>
                          </m:sub>
                        </m:sSub>
                      </m:e>
                      <m:e>
                        <m:sSub>
                          <m:sSubPr>
                            <m:ctrlPr>
                              <a:rPr lang="ja-JP" altLang="en-US" i="1"/>
                            </m:ctrlPr>
                          </m:sSubPr>
                          <m:e>
                            <m:r>
                              <a:rPr lang="ja-JP" altLang="en-US" i="1"/>
                              <m:t>𝑥</m:t>
                            </m:r>
                          </m:e>
                          <m:sub>
                            <m:r>
                              <a:rPr lang="ja-JP" altLang="en-US" i="1"/>
                              <m:t>𝑗</m:t>
                            </m:r>
                          </m:sub>
                        </m:sSub>
                      </m:e>
                    </m:d>
                    <m:r>
                      <a:rPr lang="en-US" altLang="ja-JP"/>
                      <m:t>.</m:t>
                    </m:r>
                  </m:oMath>
                </a14:m>
                <a:r>
                  <a:rPr lang="en-US" altLang="ja-JP" dirty="0"/>
                  <a:t> </a:t>
                </a:r>
                <a:r>
                  <a:rPr lang="ja-JP" altLang="ja-JP" dirty="0"/>
                  <a:t>不需要显式知道特征向量 </a:t>
                </a:r>
                <a14:m>
                  <m:oMath xmlns:m="http://schemas.openxmlformats.org/officeDocument/2006/math">
                    <m:r>
                      <m:rPr>
                        <m:sty m:val="p"/>
                      </m:rPr>
                      <a:rPr lang="en-US" altLang="ja-JP"/>
                      <m:t>Φ</m:t>
                    </m:r>
                    <m:d>
                      <m:dPr>
                        <m:ctrlPr>
                          <a:rPr lang="ja-JP" altLang="en-US" i="1"/>
                        </m:ctrlPr>
                      </m:dPr>
                      <m:e>
                        <m:r>
                          <a:rPr lang="ja-JP" altLang="en-US" i="1"/>
                          <m:t>𝑥</m:t>
                        </m:r>
                      </m:e>
                    </m:d>
                  </m:oMath>
                </a14:m>
                <a:r>
                  <a:rPr lang="ja-JP" altLang="ja-JP" dirty="0"/>
                  <a:t>，不需要显式知道高维空间中的 </a:t>
                </a:r>
                <a14:m>
                  <m:oMath xmlns:m="http://schemas.openxmlformats.org/officeDocument/2006/math">
                    <m:r>
                      <a:rPr lang="ja-JP" altLang="en-US" i="1"/>
                      <m:t>𝑤</m:t>
                    </m:r>
                  </m:oMath>
                </a14:m>
                <a:endParaRPr lang="ja-JP" altLang="ja-JP" dirty="0"/>
              </a:p>
              <a:p>
                <a:pPr marL="0" indent="0">
                  <a:buNone/>
                </a:pPr>
                <a:r>
                  <a:rPr lang="ja-JP" altLang="ja-JP" dirty="0"/>
                  <a:t>Havlíček et al. 的量子核估计器就是用量子电路估计：</a:t>
                </a:r>
                <a14:m>
                  <m:oMath xmlns:m="http://schemas.openxmlformats.org/officeDocument/2006/math">
                    <m:r>
                      <a:rPr lang="ja-JP" altLang="en-US" i="1"/>
                      <m:t>𝐾</m:t>
                    </m:r>
                    <m:d>
                      <m:dPr>
                        <m:sepChr m:val=","/>
                        <m:ctrlPr>
                          <a:rPr lang="ja-JP" altLang="en-US" i="1"/>
                        </m:ctrlPr>
                      </m:dPr>
                      <m:e>
                        <m:r>
                          <a:rPr lang="ja-JP" altLang="en-US" i="1"/>
                          <m:t>𝑥</m:t>
                        </m:r>
                      </m:e>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en-US" altLang="ja-JP"/>
                      <m:t>=∣</m:t>
                    </m:r>
                    <m:d>
                      <m:dPr>
                        <m:begChr m:val="⟨"/>
                        <m:endChr m:val="⟩"/>
                        <m:ctrlPr>
                          <a:rPr lang="ja-JP" altLang="en-US" i="1"/>
                        </m:ctrlPr>
                      </m:dPr>
                      <m:e>
                        <m:r>
                          <m:rPr>
                            <m:sty m:val="p"/>
                          </m:rPr>
                          <a:rPr lang="en-US" altLang="ja-JP"/>
                          <m:t>Φ</m:t>
                        </m:r>
                        <m:d>
                          <m:dPr>
                            <m:ctrlPr>
                              <a:rPr lang="ja-JP" altLang="en-US" i="1"/>
                            </m:ctrlPr>
                          </m:dPr>
                          <m:e>
                            <m:r>
                              <a:rPr lang="ja-JP" altLang="en-US" i="1"/>
                              <m:t>𝑥</m:t>
                            </m:r>
                          </m:e>
                        </m:d>
                        <m:r>
                          <a:rPr lang="ja-JP" altLang="en-US"/>
                          <m:t>∣</m:t>
                        </m:r>
                        <m:r>
                          <m:rPr>
                            <m:sty m:val="p"/>
                          </m:rPr>
                          <a:rPr lang="en-US" altLang="ja-JP"/>
                          <m:t>Φ</m:t>
                        </m:r>
                        <m:d>
                          <m:dPr>
                            <m:ctrlPr>
                              <a:rPr lang="ja-JP" altLang="en-US" i="1"/>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e>
                    </m:d>
                    <m:sSup>
                      <m:sSupPr>
                        <m:ctrlPr>
                          <a:rPr lang="ja-JP" altLang="en-US" i="1"/>
                        </m:ctrlPr>
                      </m:sSupPr>
                      <m:e>
                        <m:r>
                          <a:rPr lang="ja-JP" altLang="en-US"/>
                          <m:t>∣</m:t>
                        </m:r>
                      </m:e>
                      <m:sup>
                        <m:r>
                          <a:rPr lang="en-US" altLang="ja-JP"/>
                          <m:t>2</m:t>
                        </m:r>
                      </m:sup>
                    </m:sSup>
                    <m:r>
                      <a:rPr lang="en-US" altLang="ja-JP"/>
                      <m:t>.</m:t>
                    </m:r>
                  </m:oMath>
                </a14:m>
                <a:r>
                  <a:rPr lang="en-US" altLang="ja-JP" dirty="0"/>
                  <a:t> </a:t>
                </a:r>
                <a:r>
                  <a:rPr lang="ja-JP" altLang="ja-JP" dirty="0"/>
                  <a:t>由于</a:t>
                </a:r>
                <a14:m>
                  <m:oMath xmlns:m="http://schemas.openxmlformats.org/officeDocument/2006/math">
                    <m:d>
                      <m:dPr>
                        <m:begChr m:val=""/>
                        <m:endChr m:val="⟩"/>
                        <m:ctrlPr>
                          <a:rPr lang="ja-JP" altLang="en-US" i="1">
                            <a:latin typeface="Cambria Math" panose="02040503050406030204" pitchFamily="18" charset="0"/>
                          </a:rPr>
                        </m:ctrlPr>
                      </m:dPr>
                      <m:e>
                        <m:r>
                          <a:rPr lang="ja-JP" altLang="en-US">
                            <a:latin typeface="Cambria Math" panose="02040503050406030204" pitchFamily="18" charset="0"/>
                          </a:rPr>
                          <m:t>∣</m:t>
                        </m:r>
                        <m:r>
                          <m:rPr>
                            <m:sty m:val="p"/>
                          </m:rPr>
                          <a:rPr lang="en-US" altLang="ja-JP">
                            <a:latin typeface="Cambria Math" panose="02040503050406030204" pitchFamily="18" charset="0"/>
                          </a:rPr>
                          <m:t>Φ</m:t>
                        </m:r>
                        <m:d>
                          <m:dPr>
                            <m:ctrlPr>
                              <a:rPr lang="ja-JP" altLang="en-US" i="1">
                                <a:latin typeface="Cambria Math" panose="02040503050406030204" pitchFamily="18" charset="0"/>
                              </a:rPr>
                            </m:ctrlPr>
                          </m:dPr>
                          <m:e>
                            <m:r>
                              <a:rPr lang="ja-JP" altLang="en-US" i="1">
                                <a:latin typeface="Cambria Math" panose="02040503050406030204" pitchFamily="18" charset="0"/>
                              </a:rPr>
                              <m:t>𝑥</m:t>
                            </m:r>
                          </m:e>
                        </m:d>
                      </m:e>
                    </m:d>
                    <m:r>
                      <a:rPr lang="en-US" altLang="ja-JP">
                        <a:latin typeface="Cambria Math" panose="02040503050406030204" pitchFamily="18" charset="0"/>
                      </a:rPr>
                      <m:t>=</m:t>
                    </m:r>
                    <m:sSub>
                      <m:sSubPr>
                        <m:ctrlPr>
                          <a:rPr lang="ja-JP" altLang="en-US" i="1">
                            <a:latin typeface="Cambria Math" panose="02040503050406030204" pitchFamily="18" charset="0"/>
                          </a:rPr>
                        </m:ctrlPr>
                      </m:sSubPr>
                      <m:e>
                        <m:r>
                          <a:rPr lang="ja-JP" altLang="en-US" i="1">
                            <a:latin typeface="Cambria Math" panose="02040503050406030204" pitchFamily="18" charset="0"/>
                          </a:rPr>
                          <m:t>𝑈</m:t>
                        </m:r>
                      </m:e>
                      <m:sub>
                        <m:r>
                          <m:rPr>
                            <m:sty m:val="p"/>
                          </m:rPr>
                          <a:rPr lang="en-US" altLang="ja-JP">
                            <a:latin typeface="Cambria Math" panose="02040503050406030204" pitchFamily="18" charset="0"/>
                          </a:rPr>
                          <m:t>Φ</m:t>
                        </m:r>
                        <m:d>
                          <m:dPr>
                            <m:ctrlPr>
                              <a:rPr lang="ja-JP" altLang="en-US" i="1">
                                <a:latin typeface="Cambria Math" panose="02040503050406030204" pitchFamily="18" charset="0"/>
                              </a:rPr>
                            </m:ctrlPr>
                          </m:dPr>
                          <m:e>
                            <m:r>
                              <a:rPr lang="ja-JP" altLang="en-US" i="1">
                                <a:latin typeface="Cambria Math" panose="02040503050406030204" pitchFamily="18" charset="0"/>
                              </a:rPr>
                              <m:t>𝑥</m:t>
                            </m:r>
                          </m:e>
                        </m:d>
                      </m:sub>
                    </m:sSub>
                    <m:d>
                      <m:dPr>
                        <m:begChr m:val=""/>
                        <m:endChr m:val="⟩"/>
                        <m:ctrlPr>
                          <a:rPr lang="ja-JP" altLang="en-US" i="1">
                            <a:latin typeface="Cambria Math" panose="02040503050406030204" pitchFamily="18" charset="0"/>
                          </a:rPr>
                        </m:ctrlPr>
                      </m:dPr>
                      <m:e>
                        <m:r>
                          <a:rPr lang="ja-JP" altLang="en-US">
                            <a:latin typeface="Cambria Math" panose="02040503050406030204" pitchFamily="18" charset="0"/>
                          </a:rPr>
                          <m:t>∣</m:t>
                        </m:r>
                        <m:r>
                          <a:rPr lang="en-US" altLang="ja-JP" i="1">
                            <a:latin typeface="Cambria Math" panose="02040503050406030204" pitchFamily="18" charset="0"/>
                          </a:rPr>
                          <m:t>0</m:t>
                        </m:r>
                      </m:e>
                    </m:d>
                    <m:r>
                      <a:rPr lang="en-US" altLang="ja-JP" b="0" i="1" smtClean="0">
                        <a:latin typeface="Cambria Math" panose="02040503050406030204" pitchFamily="18" charset="0"/>
                      </a:rPr>
                      <m:t>,</m:t>
                    </m:r>
                  </m:oMath>
                </a14:m>
                <a:r>
                  <a:rPr lang="en-US" altLang="ja-JP" dirty="0"/>
                  <a:t>  </a:t>
                </a:r>
                <a14:m>
                  <m:oMath xmlns:m="http://schemas.openxmlformats.org/officeDocument/2006/math">
                    <m:d>
                      <m:dPr>
                        <m:begChr m:val="⟨"/>
                        <m:endChr m:val="⟩"/>
                        <m:ctrlPr>
                          <a:rPr lang="ja-JP" altLang="en-US"/>
                        </m:ctrlPr>
                      </m:dPr>
                      <m:e>
                        <m:r>
                          <m:rPr>
                            <m:sty m:val="p"/>
                          </m:rPr>
                          <a:rPr lang="en-US" altLang="ja-JP"/>
                          <m:t>Φ</m:t>
                        </m:r>
                        <m:d>
                          <m:dPr>
                            <m:ctrlPr>
                              <a:rPr lang="ja-JP" altLang="en-US" i="1"/>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r>
                          <a:rPr lang="ja-JP" altLang="en-US"/>
                          <m:t>∣</m:t>
                        </m:r>
                        <m:r>
                          <m:rPr>
                            <m:sty m:val="p"/>
                          </m:rPr>
                          <a:rPr lang="en-US" altLang="ja-JP"/>
                          <m:t>Φ</m:t>
                        </m:r>
                        <m:d>
                          <m:dPr>
                            <m:ctrlPr>
                              <a:rPr lang="ja-JP" altLang="en-US" i="1"/>
                            </m:ctrlPr>
                          </m:dPr>
                          <m:e>
                            <m:r>
                              <a:rPr lang="ja-JP" altLang="en-US" i="1"/>
                              <m:t>𝑥</m:t>
                            </m:r>
                          </m:e>
                        </m:d>
                      </m:e>
                    </m:d>
                    <m:r>
                      <a:rPr lang="en-US" altLang="ja-JP"/>
                      <m:t>=</m:t>
                    </m:r>
                    <m:d>
                      <m:dPr>
                        <m:begChr m:val="⟨"/>
                        <m:endChr m:val="⟩"/>
                        <m:ctrlPr>
                          <a:rPr lang="ja-JP" altLang="en-US" i="1"/>
                        </m:ctrlPr>
                      </m:dPr>
                      <m:e>
                        <m:r>
                          <a:rPr lang="en-US" altLang="ja-JP"/>
                          <m:t>0</m:t>
                        </m:r>
                        <m:r>
                          <a:rPr lang="en-US" altLang="ja-JP"/>
                          <m:t>∣</m:t>
                        </m:r>
                        <m:sSubSup>
                          <m:sSubSupPr>
                            <m:ctrlPr>
                              <a:rPr lang="ja-JP" altLang="en-US" i="1"/>
                            </m:ctrlPr>
                          </m:sSubSupPr>
                          <m:e>
                            <m:r>
                              <a:rPr lang="ja-JP" altLang="en-US" i="1"/>
                              <m:t>𝑈</m:t>
                            </m:r>
                          </m:e>
                          <m:sub>
                            <m:r>
                              <m:rPr>
                                <m:sty m:val="p"/>
                              </m:rPr>
                              <a:rPr lang="en-US" altLang="ja-JP"/>
                              <m:t>Φ</m:t>
                            </m:r>
                            <m:d>
                              <m:dPr>
                                <m:ctrlPr>
                                  <a:rPr lang="ja-JP" altLang="en-US" i="1"/>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sub>
                          <m:sup>
                            <m:r>
                              <a:rPr lang="en-US" altLang="ja-JP"/>
                              <m:t>†</m:t>
                            </m:r>
                          </m:sup>
                        </m:sSubSup>
                        <m:sSub>
                          <m:sSubPr>
                            <m:ctrlPr>
                              <a:rPr lang="ja-JP" altLang="en-US" i="1"/>
                            </m:ctrlPr>
                          </m:sSubPr>
                          <m:e>
                            <m:r>
                              <a:rPr lang="ja-JP" altLang="en-US" i="1"/>
                              <m:t>𝑈</m:t>
                            </m:r>
                          </m:e>
                          <m:sub>
                            <m:r>
                              <m:rPr>
                                <m:sty m:val="p"/>
                              </m:rPr>
                              <a:rPr lang="en-US" altLang="ja-JP"/>
                              <m:t>Φ</m:t>
                            </m:r>
                            <m:d>
                              <m:dPr>
                                <m:ctrlPr>
                                  <a:rPr lang="ja-JP" altLang="en-US" i="1"/>
                                </m:ctrlPr>
                              </m:dPr>
                              <m:e>
                                <m:r>
                                  <a:rPr lang="ja-JP" altLang="en-US" i="1"/>
                                  <m:t>𝑥</m:t>
                                </m:r>
                              </m:e>
                            </m:d>
                          </m:sub>
                        </m:sSub>
                        <m:r>
                          <a:rPr lang="ja-JP" altLang="en-US"/>
                          <m:t>∣</m:t>
                        </m:r>
                        <m:r>
                          <a:rPr lang="en-US" altLang="ja-JP"/>
                          <m:t>0</m:t>
                        </m:r>
                      </m:e>
                    </m:d>
                    <m:r>
                      <a:rPr lang="en-US" altLang="ja-JP"/>
                      <m:t>.</m:t>
                    </m:r>
                  </m:oMath>
                </a14:m>
                <a:r>
                  <a:rPr lang="en-US" altLang="ja-JP" dirty="0"/>
                  <a:t> </a:t>
                </a:r>
                <a:r>
                  <a:rPr lang="ja-JP" altLang="ja-JP" dirty="0"/>
                  <a:t>因此可以通过运行类似下面的线路估计核值：</a:t>
                </a:r>
                <a:endParaRPr lang="en-US" altLang="ja-JP"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ja-JP" altLang="en-US"/>
                          </m:ctrlPr>
                        </m:dPr>
                        <m:e>
                          <m:sSubSup>
                            <m:sSubSupPr>
                              <m:ctrlPr>
                                <a:rPr lang="ja-JP" altLang="en-US"/>
                              </m:ctrlPr>
                            </m:sSubSupPr>
                            <m:e>
                              <m:r>
                                <a:rPr lang="ja-JP" altLang="en-US" i="1"/>
                                <m:t>𝑈</m:t>
                              </m:r>
                            </m:e>
                            <m:sub>
                              <m:r>
                                <m:rPr>
                                  <m:sty m:val="p"/>
                                </m:rPr>
                                <a:rPr lang="en-US" altLang="ja-JP"/>
                                <m:t>Φ</m:t>
                              </m:r>
                              <m:d>
                                <m:dPr>
                                  <m:ctrlPr>
                                    <a:rPr lang="ja-JP" altLang="en-US" i="1"/>
                                  </m:ctrlPr>
                                </m:dPr>
                                <m:e>
                                  <m:sSup>
                                    <m:sSupPr>
                                      <m:ctrlPr>
                                        <a:rPr lang="ja-JP" altLang="en-US" i="1">
                                          <a:latin typeface="Cambria Math" panose="02040503050406030204" pitchFamily="18" charset="0"/>
                                        </a:rPr>
                                      </m:ctrlPr>
                                    </m:sSupPr>
                                    <m:e>
                                      <m:r>
                                        <a:rPr lang="ja-JP" altLang="en-US" i="1">
                                          <a:latin typeface="Cambria Math" panose="02040503050406030204" pitchFamily="18" charset="0"/>
                                        </a:rPr>
                                        <m:t>𝑥</m:t>
                                      </m:r>
                                    </m:e>
                                    <m:sup>
                                      <m:r>
                                        <a:rPr lang="en-US" altLang="ja-JP">
                                          <a:latin typeface="Cambria Math" panose="02040503050406030204" pitchFamily="18" charset="0"/>
                                        </a:rPr>
                                        <m:t>′</m:t>
                                      </m:r>
                                    </m:sup>
                                  </m:sSup>
                                </m:e>
                              </m:d>
                            </m:sub>
                            <m:sup>
                              <m:r>
                                <a:rPr lang="en-US" altLang="ja-JP"/>
                                <m:t>†</m:t>
                              </m:r>
                            </m:sup>
                          </m:sSubSup>
                          <m:sSub>
                            <m:sSubPr>
                              <m:ctrlPr>
                                <a:rPr lang="ja-JP" altLang="en-US" i="1"/>
                              </m:ctrlPr>
                            </m:sSubPr>
                            <m:e>
                              <m:r>
                                <a:rPr lang="ja-JP" altLang="en-US" i="1"/>
                                <m:t>𝑈</m:t>
                              </m:r>
                            </m:e>
                            <m:sub>
                              <m:r>
                                <m:rPr>
                                  <m:sty m:val="p"/>
                                </m:rPr>
                                <a:rPr lang="en-US" altLang="ja-JP"/>
                                <m:t>Φ</m:t>
                              </m:r>
                              <m:d>
                                <m:dPr>
                                  <m:ctrlPr>
                                    <a:rPr lang="ja-JP" altLang="en-US" i="1"/>
                                  </m:ctrlPr>
                                </m:dPr>
                                <m:e>
                                  <m:r>
                                    <a:rPr lang="ja-JP" altLang="en-US" i="1"/>
                                    <m:t>𝑥</m:t>
                                  </m:r>
                                </m:e>
                              </m:d>
                            </m:sub>
                          </m:sSub>
                          <m:r>
                            <a:rPr lang="ja-JP" altLang="en-US"/>
                            <m:t>∣</m:t>
                          </m:r>
                          <m:r>
                            <a:rPr lang="en-US" altLang="ja-JP"/>
                            <m:t>0</m:t>
                          </m:r>
                        </m:e>
                      </m:d>
                      <m:r>
                        <a:rPr lang="en-US" altLang="ja-JP"/>
                        <m:t>.</m:t>
                      </m:r>
                    </m:oMath>
                  </m:oMathPara>
                </a14:m>
                <a:endParaRPr lang="en-US" altLang="ja-JP" dirty="0"/>
              </a:p>
              <a:p>
                <a:r>
                  <a:rPr lang="ja-JP" altLang="ja-JP" dirty="0"/>
                  <a:t>测量回到 </a:t>
                </a:r>
                <a14:m>
                  <m:oMath xmlns:m="http://schemas.openxmlformats.org/officeDocument/2006/math">
                    <m:d>
                      <m:dPr>
                        <m:begChr m:val=""/>
                        <m:endChr m:val="⟩"/>
                        <m:ctrlPr>
                          <a:rPr lang="ja-JP" altLang="en-US"/>
                        </m:ctrlPr>
                      </m:dPr>
                      <m:e>
                        <m:r>
                          <a:rPr lang="ja-JP" altLang="en-US"/>
                          <m:t>∣</m:t>
                        </m:r>
                        <m:r>
                          <a:rPr lang="en-US" altLang="ja-JP"/>
                          <m:t>0</m:t>
                        </m:r>
                      </m:e>
                    </m:d>
                  </m:oMath>
                </a14:m>
                <a:r>
                  <a:rPr lang="ja-JP" altLang="ja-JP" dirty="0"/>
                  <a:t>的概率，就给出两个量子特征态的重叠程度，也就是量子核。论文说明，量子核估计器估计核函数，然后直接优化分类器；这就是把量子计算机放在 SVM 的核矩阵计算环节。换句话说，量子计算机负责生成：</a:t>
                </a:r>
                <a14:m>
                  <m:oMath xmlns:m="http://schemas.openxmlformats.org/officeDocument/2006/math">
                    <m:sSub>
                      <m:sSubPr>
                        <m:ctrlPr>
                          <a:rPr lang="ja-JP" altLang="en-US"/>
                        </m:ctrlPr>
                      </m:sSubPr>
                      <m:e>
                        <m:r>
                          <a:rPr lang="ja-JP" altLang="en-US" i="1"/>
                          <m:t>𝐾</m:t>
                        </m:r>
                      </m:e>
                      <m:sub>
                        <m:r>
                          <a:rPr lang="ja-JP" altLang="en-US" i="1"/>
                          <m:t>𝑖𝑗</m:t>
                        </m:r>
                      </m:sub>
                    </m:sSub>
                    <m:r>
                      <a:rPr lang="en-US" altLang="ja-JP"/>
                      <m:t>=∣</m:t>
                    </m:r>
                    <m:d>
                      <m:dPr>
                        <m:begChr m:val="⟨"/>
                        <m:endChr m:val="⟩"/>
                        <m:ctrlPr>
                          <a:rPr lang="ja-JP" altLang="en-US" i="1"/>
                        </m:ctrlPr>
                      </m:dPr>
                      <m:e>
                        <m:r>
                          <m:rPr>
                            <m:sty m:val="p"/>
                          </m:rPr>
                          <a:rPr lang="en-US" altLang="ja-JP"/>
                          <m:t>Φ</m:t>
                        </m:r>
                        <m:d>
                          <m:dPr>
                            <m:ctrlPr>
                              <a:rPr lang="ja-JP" altLang="en-US" i="1"/>
                            </m:ctrlPr>
                          </m:dPr>
                          <m:e>
                            <m:sSub>
                              <m:sSubPr>
                                <m:ctrlPr>
                                  <a:rPr lang="ja-JP" altLang="en-US" i="1"/>
                                </m:ctrlPr>
                              </m:sSubPr>
                              <m:e>
                                <m:r>
                                  <a:rPr lang="ja-JP" altLang="en-US" i="1"/>
                                  <m:t>𝑥</m:t>
                                </m:r>
                              </m:e>
                              <m:sub>
                                <m:r>
                                  <a:rPr lang="ja-JP" altLang="en-US" i="1"/>
                                  <m:t>𝑖</m:t>
                                </m:r>
                              </m:sub>
                            </m:sSub>
                          </m:e>
                        </m:d>
                        <m:r>
                          <a:rPr lang="ja-JP" altLang="en-US"/>
                          <m:t>∣</m:t>
                        </m:r>
                        <m:r>
                          <m:rPr>
                            <m:sty m:val="p"/>
                          </m:rPr>
                          <a:rPr lang="en-US" altLang="ja-JP"/>
                          <m:t>Φ</m:t>
                        </m:r>
                        <m:d>
                          <m:dPr>
                            <m:ctrlPr>
                              <a:rPr lang="ja-JP" altLang="en-US" i="1"/>
                            </m:ctrlPr>
                          </m:dPr>
                          <m:e>
                            <m:sSub>
                              <m:sSubPr>
                                <m:ctrlPr>
                                  <a:rPr lang="ja-JP" altLang="en-US" i="1"/>
                                </m:ctrlPr>
                              </m:sSubPr>
                              <m:e>
                                <m:r>
                                  <a:rPr lang="ja-JP" altLang="en-US" i="1"/>
                                  <m:t>𝑥</m:t>
                                </m:r>
                              </m:e>
                              <m:sub>
                                <m:r>
                                  <a:rPr lang="ja-JP" altLang="en-US" i="1"/>
                                  <m:t>𝑗</m:t>
                                </m:r>
                              </m:sub>
                            </m:sSub>
                          </m:e>
                        </m:d>
                      </m:e>
                    </m:d>
                    <m:sSup>
                      <m:sSupPr>
                        <m:ctrlPr>
                          <a:rPr lang="ja-JP" altLang="en-US" i="1"/>
                        </m:ctrlPr>
                      </m:sSupPr>
                      <m:e>
                        <m:r>
                          <a:rPr lang="ja-JP" altLang="en-US"/>
                          <m:t>∣</m:t>
                        </m:r>
                      </m:e>
                      <m:sup>
                        <m:r>
                          <a:rPr lang="en-US" altLang="ja-JP"/>
                          <m:t>2</m:t>
                        </m:r>
                      </m:sup>
                    </m:sSup>
                    <m:r>
                      <a:rPr lang="en-US" altLang="ja-JP"/>
                      <m:t>.</m:t>
                    </m:r>
                  </m:oMath>
                </a14:m>
                <a:r>
                  <a:rPr lang="en-US" altLang="ja-JP" dirty="0"/>
                  <a:t> </a:t>
                </a:r>
                <a:r>
                  <a:rPr lang="ja-JP" altLang="ja-JP" dirty="0"/>
                  <a:t>然后经典计算机用这个 </a:t>
                </a:r>
                <a14:m>
                  <m:oMath xmlns:m="http://schemas.openxmlformats.org/officeDocument/2006/math">
                    <m:sSub>
                      <m:sSubPr>
                        <m:ctrlPr>
                          <a:rPr lang="ja-JP" altLang="en-US"/>
                        </m:ctrlPr>
                      </m:sSubPr>
                      <m:e>
                        <m:r>
                          <a:rPr lang="ja-JP" altLang="en-US" i="1"/>
                          <m:t>𝐾</m:t>
                        </m:r>
                      </m:e>
                      <m:sub>
                        <m:r>
                          <a:rPr lang="ja-JP" altLang="en-US" i="1"/>
                          <m:t>𝑖𝑗</m:t>
                        </m:r>
                      </m:sub>
                    </m:sSub>
                  </m:oMath>
                </a14:m>
                <a:r>
                  <a:rPr lang="ja-JP" altLang="ja-JP" dirty="0"/>
                  <a:t>解 SVM 对偶问题：</a:t>
                </a:r>
                <a:r>
                  <a:rPr lang="ja-JP" altLang="en-US" dirty="0"/>
                  <a:t> </a:t>
                </a:r>
                <a14:m>
                  <m:oMath xmlns:m="http://schemas.openxmlformats.org/officeDocument/2006/math">
                    <m:sSub>
                      <m:sSubPr>
                        <m:ctrlPr>
                          <a:rPr lang="ja-JP" altLang="en-US" i="1">
                            <a:latin typeface="Cambria Math" panose="02040503050406030204" pitchFamily="18" charset="0"/>
                          </a:rPr>
                        </m:ctrlPr>
                      </m:sSubPr>
                      <m:e>
                        <m:r>
                          <m:rPr>
                            <m:sty m:val="p"/>
                          </m:rPr>
                          <a:rPr lang="en-US" altLang="ja-JP" i="1">
                            <a:latin typeface="Cambria Math" panose="02040503050406030204" pitchFamily="18" charset="0"/>
                          </a:rPr>
                          <m:t>max</m:t>
                        </m:r>
                      </m:e>
                      <m:sub>
                        <m:r>
                          <a:rPr lang="ja-JP" altLang="en-US" i="1">
                            <a:latin typeface="Cambria Math" panose="02040503050406030204" pitchFamily="18" charset="0"/>
                          </a:rPr>
                          <m:t>𝛼</m:t>
                        </m:r>
                      </m:sub>
                    </m:sSub>
                    <m:r>
                      <a:rPr lang="ja-JP" altLang="en-US" i="1">
                        <a:latin typeface="Cambria Math" panose="02040503050406030204" pitchFamily="18" charset="0"/>
                      </a:rPr>
                      <m:t> </m:t>
                    </m:r>
                    <m:nary>
                      <m:naryPr>
                        <m:chr m:val="∑"/>
                        <m:grow m:val="on"/>
                        <m:supHide m:val="on"/>
                        <m:ctrlPr>
                          <a:rPr lang="ja-JP" altLang="en-US" i="1"/>
                        </m:ctrlPr>
                      </m:naryPr>
                      <m:sub>
                        <m:r>
                          <a:rPr lang="ja-JP" altLang="en-US" i="1"/>
                          <m:t>𝑖</m:t>
                        </m:r>
                      </m:sub>
                      <m:sup/>
                      <m:e>
                        <m:sSub>
                          <m:sSubPr>
                            <m:ctrlPr>
                              <a:rPr lang="ja-JP" altLang="en-US" i="1"/>
                            </m:ctrlPr>
                          </m:sSubPr>
                          <m:e>
                            <m:r>
                              <a:rPr lang="ja-JP" altLang="en-US" i="1"/>
                              <m:t>𝛼</m:t>
                            </m:r>
                          </m:e>
                          <m:sub>
                            <m:r>
                              <a:rPr lang="ja-JP" altLang="en-US" i="1"/>
                              <m:t>𝑖</m:t>
                            </m:r>
                          </m:sub>
                        </m:sSub>
                      </m:e>
                    </m:nary>
                    <m:r>
                      <a:rPr lang="ja-JP" altLang="en-US"/>
                      <m:t>−</m:t>
                    </m:r>
                    <m:f>
                      <m:fPr>
                        <m:ctrlPr>
                          <a:rPr lang="ja-JP" altLang="en-US" i="1"/>
                        </m:ctrlPr>
                      </m:fPr>
                      <m:num>
                        <m:r>
                          <a:rPr lang="en-US" altLang="ja-JP"/>
                          <m:t>1</m:t>
                        </m:r>
                      </m:num>
                      <m:den>
                        <m:r>
                          <a:rPr lang="en-US" altLang="ja-JP"/>
                          <m:t>2</m:t>
                        </m:r>
                      </m:den>
                    </m:f>
                    <m:nary>
                      <m:naryPr>
                        <m:chr m:val="∑"/>
                        <m:grow m:val="on"/>
                        <m:supHide m:val="on"/>
                        <m:ctrlPr>
                          <a:rPr lang="ja-JP" altLang="en-US" i="1"/>
                        </m:ctrlPr>
                      </m:naryPr>
                      <m:sub>
                        <m:r>
                          <a:rPr lang="ja-JP" altLang="en-US" i="1"/>
                          <m:t>𝑖</m:t>
                        </m:r>
                        <m:r>
                          <a:rPr lang="en-US" altLang="ja-JP"/>
                          <m:t>,</m:t>
                        </m:r>
                        <m:r>
                          <a:rPr lang="ja-JP" altLang="en-US" i="1"/>
                          <m:t>𝑗</m:t>
                        </m:r>
                      </m:sub>
                      <m:sup/>
                      <m:e>
                        <m:sSub>
                          <m:sSubPr>
                            <m:ctrlPr>
                              <a:rPr lang="ja-JP" altLang="en-US" i="1"/>
                            </m:ctrlPr>
                          </m:sSubPr>
                          <m:e>
                            <m:r>
                              <a:rPr lang="ja-JP" altLang="en-US" i="1"/>
                              <m:t>𝛼</m:t>
                            </m:r>
                          </m:e>
                          <m:sub>
                            <m:r>
                              <a:rPr lang="ja-JP" altLang="en-US" i="1"/>
                              <m:t>𝑖</m:t>
                            </m:r>
                          </m:sub>
                        </m:sSub>
                      </m:e>
                    </m:nary>
                    <m:sSub>
                      <m:sSubPr>
                        <m:ctrlPr>
                          <a:rPr lang="ja-JP" altLang="en-US" i="1"/>
                        </m:ctrlPr>
                      </m:sSubPr>
                      <m:e>
                        <m:r>
                          <a:rPr lang="ja-JP" altLang="en-US" i="1"/>
                          <m:t>𝛼</m:t>
                        </m:r>
                      </m:e>
                      <m:sub>
                        <m:r>
                          <a:rPr lang="ja-JP" altLang="en-US" i="1"/>
                          <m:t>𝑗</m:t>
                        </m:r>
                      </m:sub>
                    </m:sSub>
                    <m:sSub>
                      <m:sSubPr>
                        <m:ctrlPr>
                          <a:rPr lang="ja-JP" altLang="en-US" i="1"/>
                        </m:ctrlPr>
                      </m:sSubPr>
                      <m:e>
                        <m:r>
                          <a:rPr lang="ja-JP" altLang="en-US" i="1"/>
                          <m:t>𝑦</m:t>
                        </m:r>
                      </m:e>
                      <m:sub>
                        <m:r>
                          <a:rPr lang="ja-JP" altLang="en-US" i="1"/>
                          <m:t>𝑖</m:t>
                        </m:r>
                      </m:sub>
                    </m:sSub>
                    <m:sSub>
                      <m:sSubPr>
                        <m:ctrlPr>
                          <a:rPr lang="ja-JP" altLang="en-US" i="1"/>
                        </m:ctrlPr>
                      </m:sSubPr>
                      <m:e>
                        <m:r>
                          <a:rPr lang="ja-JP" altLang="en-US" i="1"/>
                          <m:t>𝑦</m:t>
                        </m:r>
                      </m:e>
                      <m:sub>
                        <m:r>
                          <a:rPr lang="ja-JP" altLang="en-US" i="1"/>
                          <m:t>𝑗</m:t>
                        </m:r>
                      </m:sub>
                    </m:sSub>
                    <m:sSub>
                      <m:sSubPr>
                        <m:ctrlPr>
                          <a:rPr lang="ja-JP" altLang="en-US" i="1"/>
                        </m:ctrlPr>
                      </m:sSubPr>
                      <m:e>
                        <m:r>
                          <a:rPr lang="ja-JP" altLang="en-US" i="1"/>
                          <m:t>𝐾</m:t>
                        </m:r>
                      </m:e>
                      <m:sub>
                        <m:r>
                          <a:rPr lang="ja-JP" altLang="en-US" i="1"/>
                          <m:t>𝑖𝑗</m:t>
                        </m:r>
                      </m:sub>
                    </m:sSub>
                    <m:r>
                      <a:rPr lang="en-US" altLang="ja-JP"/>
                      <m:t>.</m:t>
                    </m:r>
                  </m:oMath>
                </a14:m>
                <a:endParaRPr lang="en-US" altLang="ja-JP" dirty="0"/>
              </a:p>
              <a:p>
                <a:pPr marL="0" indent="0">
                  <a:lnSpc>
                    <a:spcPct val="120000"/>
                  </a:lnSpc>
                  <a:buNone/>
                </a:pPr>
                <a:endParaRPr lang="en-US" altLang="ja-JP" dirty="0"/>
              </a:p>
              <a:p>
                <a:pPr marL="0" indent="0">
                  <a:lnSpc>
                    <a:spcPct val="120000"/>
                  </a:lnSpc>
                  <a:buNone/>
                </a:pPr>
                <a:endParaRPr lang="en-US" altLang="ja-JP" dirty="0"/>
              </a:p>
              <a:p>
                <a:pPr marL="0" indent="0">
                  <a:lnSpc>
                    <a:spcPct val="120000"/>
                  </a:lnSpc>
                  <a:buNone/>
                </a:pPr>
                <a:endParaRPr lang="en-US" altLang="ja-JP" dirty="0"/>
              </a:p>
              <a:p>
                <a:pPr marL="0" indent="0">
                  <a:lnSpc>
                    <a:spcPct val="120000"/>
                  </a:lnSpc>
                  <a:buNone/>
                </a:pPr>
                <a:endParaRPr lang="en-US" altLang="ja-JP" dirty="0"/>
              </a:p>
            </p:txBody>
          </p:sp>
        </mc:Choice>
        <mc:Fallback>
          <p:sp>
            <p:nvSpPr>
              <p:cNvPr id="12" name="コンテンツ プレースホルダー 2">
                <a:extLst>
                  <a:ext uri="{FF2B5EF4-FFF2-40B4-BE49-F238E27FC236}">
                    <a16:creationId xmlns:a16="http://schemas.microsoft.com/office/drawing/2014/main" id="{C883D931-9A87-2881-5235-700B3AF72F6C}"/>
                  </a:ext>
                </a:extLst>
              </p:cNvPr>
              <p:cNvSpPr>
                <a:spLocks noGrp="1" noRot="1" noChangeAspect="1" noMove="1" noResize="1" noEditPoints="1" noAdjustHandles="1" noChangeArrowheads="1" noChangeShapeType="1" noTextEdit="1"/>
              </p:cNvSpPr>
              <p:nvPr>
                <p:ph idx="1"/>
              </p:nvPr>
            </p:nvSpPr>
            <p:spPr>
              <a:xfrm>
                <a:off x="106680" y="1095152"/>
                <a:ext cx="11877040" cy="5057523"/>
              </a:xfrm>
              <a:blipFill>
                <a:blip r:embed="rId3"/>
                <a:stretch>
                  <a:fillRect l="-565" t="-483" b="-1351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198006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E9585-7E3A-EA10-F0E0-E58E6CED9071}"/>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C89B91A2-88BE-41F1-414A-565BB8EED227}"/>
              </a:ext>
            </a:extLst>
          </p:cNvPr>
          <p:cNvSpPr>
            <a:spLocks noGrp="1" noChangeArrowheads="1"/>
          </p:cNvSpPr>
          <p:nvPr>
            <p:ph type="title"/>
          </p:nvPr>
        </p:nvSpPr>
        <p:spPr/>
        <p:txBody>
          <a:bodyPr/>
          <a:lstStyle/>
          <a:p>
            <a:r>
              <a:rPr lang="ja-JP" altLang="ja-JP" dirty="0"/>
              <a:t>Havlíček et al.：把量子增强特征空间做成 NISQ 分类器</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26112CA4-0AE2-78D7-275C-A2553A32B20B}"/>
                  </a:ext>
                </a:extLst>
              </p:cNvPr>
              <p:cNvSpPr>
                <a:spLocks noGrp="1"/>
              </p:cNvSpPr>
              <p:nvPr>
                <p:ph idx="1"/>
              </p:nvPr>
            </p:nvSpPr>
            <p:spPr>
              <a:xfrm>
                <a:off x="106680" y="990600"/>
                <a:ext cx="11877040" cy="5268402"/>
              </a:xfrm>
            </p:spPr>
            <p:txBody>
              <a:bodyPr/>
              <a:lstStyle/>
              <a:p>
                <a:pPr marL="0" indent="0">
                  <a:lnSpc>
                    <a:spcPct val="120000"/>
                  </a:lnSpc>
                  <a:buNone/>
                </a:pPr>
                <a:r>
                  <a:rPr lang="ja-JP" altLang="ja-JP" dirty="0"/>
                  <a:t>论文还指出，直接把纯态 Hilbert 空间当特征空间会有全局相位问题，因此更自然的特征对象是量子态空间或密度矩阵，内积可写成 Hilbert–Schmidt 形式</a:t>
                </a:r>
                <a:endParaRPr lang="en-US" altLang="ja-JP" i="1" dirty="0"/>
              </a:p>
              <a:p>
                <a:pPr marL="0" indent="0">
                  <a:lnSpc>
                    <a:spcPct val="120000"/>
                  </a:lnSpc>
                  <a:buNone/>
                </a:pPr>
                <a14:m>
                  <m:oMathPara xmlns:m="http://schemas.openxmlformats.org/officeDocument/2006/math">
                    <m:oMathParaPr>
                      <m:jc m:val="centerGroup"/>
                    </m:oMathParaPr>
                    <m:oMath xmlns:m="http://schemas.openxmlformats.org/officeDocument/2006/math">
                      <m:r>
                        <a:rPr lang="ja-JP" altLang="en-US" i="1"/>
                        <m:t>𝐾</m:t>
                      </m:r>
                      <m:d>
                        <m:dPr>
                          <m:sepChr m:val=","/>
                          <m:ctrlPr>
                            <a:rPr lang="ja-JP" altLang="en-US" i="1"/>
                          </m:ctrlPr>
                        </m:dPr>
                        <m:e>
                          <m:r>
                            <a:rPr lang="ja-JP" altLang="en-US" i="1"/>
                            <m:t>𝑥</m:t>
                          </m:r>
                        </m:e>
                        <m:e>
                          <m:sSup>
                            <m:sSupPr>
                              <m:ctrlPr>
                                <a:rPr lang="ja-JP" altLang="en-US" i="1"/>
                              </m:ctrlPr>
                            </m:sSupPr>
                            <m:e>
                              <m:r>
                                <a:rPr lang="ja-JP" altLang="en-US" i="1"/>
                                <m:t>𝑥</m:t>
                              </m:r>
                            </m:e>
                            <m:sup>
                              <m:r>
                                <a:rPr lang="en-US" altLang="ja-JP"/>
                                <m:t>′</m:t>
                              </m:r>
                            </m:sup>
                          </m:sSup>
                        </m:e>
                      </m:d>
                      <m:r>
                        <a:rPr lang="en-US" altLang="ja-JP"/>
                        <m:t>=</m:t>
                      </m:r>
                      <m:r>
                        <m:rPr>
                          <m:sty m:val="p"/>
                        </m:rPr>
                        <a:rPr lang="en-US" altLang="ja-JP"/>
                        <m:t>Tr</m:t>
                      </m:r>
                      <m:r>
                        <a:rPr lang="en-US" altLang="ja-JP"/>
                        <m:t>⁡</m:t>
                      </m:r>
                      <m:d>
                        <m:dPr>
                          <m:begChr m:val="["/>
                          <m:endChr m:val="]"/>
                          <m:ctrlPr>
                            <a:rPr lang="ja-JP" altLang="en-US" i="1"/>
                          </m:ctrlPr>
                        </m:dPr>
                        <m:e>
                          <m:r>
                            <a:rPr lang="ja-JP" altLang="en-US" i="1"/>
                            <m:t>𝜌</m:t>
                          </m:r>
                          <m:d>
                            <m:dPr>
                              <m:ctrlPr>
                                <a:rPr lang="ja-JP" altLang="en-US" i="1"/>
                              </m:ctrlPr>
                            </m:dPr>
                            <m:e>
                              <m:r>
                                <a:rPr lang="ja-JP" altLang="en-US" i="1"/>
                                <m:t>𝑥</m:t>
                              </m:r>
                            </m:e>
                          </m:d>
                          <m:r>
                            <a:rPr lang="ja-JP" altLang="en-US" i="1"/>
                            <m:t>𝜌</m:t>
                          </m:r>
                          <m:d>
                            <m:dPr>
                              <m:ctrlPr>
                                <a:rPr lang="ja-JP" altLang="en-US" i="1"/>
                              </m:ctrlPr>
                            </m:dPr>
                            <m:e>
                              <m:sSup>
                                <m:sSupPr>
                                  <m:ctrlPr>
                                    <a:rPr lang="ja-JP" altLang="en-US" i="1"/>
                                  </m:ctrlPr>
                                </m:sSupPr>
                                <m:e>
                                  <m:r>
                                    <a:rPr lang="ja-JP" altLang="en-US" i="1"/>
                                    <m:t>𝑥</m:t>
                                  </m:r>
                                </m:e>
                                <m:sup>
                                  <m:r>
                                    <a:rPr lang="en-US" altLang="ja-JP"/>
                                    <m:t>′</m:t>
                                  </m:r>
                                </m:sup>
                              </m:sSup>
                            </m:e>
                          </m:d>
                        </m:e>
                      </m:d>
                      <m:r>
                        <a:rPr lang="en-US" altLang="ja-JP"/>
                        <m:t>.</m:t>
                      </m:r>
                    </m:oMath>
                  </m:oMathPara>
                </a14:m>
                <a:endParaRPr lang="en-US" altLang="ja-JP" dirty="0"/>
              </a:p>
              <a:p>
                <a:pPr marL="0" indent="0">
                  <a:lnSpc>
                    <a:spcPct val="120000"/>
                  </a:lnSpc>
                  <a:buNone/>
                </a:pPr>
                <a:endParaRPr lang="en-US" altLang="ja-JP" dirty="0"/>
              </a:p>
              <a:p>
                <a:pPr marL="0" indent="0">
                  <a:lnSpc>
                    <a:spcPct val="120000"/>
                  </a:lnSpc>
                  <a:buNone/>
                </a:pPr>
                <a:r>
                  <a:rPr lang="ja-JP" altLang="ja-JP" dirty="0"/>
                  <a:t>实际使用的是两个 Hilbert 空间层次：</a:t>
                </a:r>
              </a:p>
              <a:p>
                <a:pPr>
                  <a:lnSpc>
                    <a:spcPct val="120000"/>
                  </a:lnSpc>
                </a:pPr>
                <a:r>
                  <a:rPr lang="ja-JP" altLang="ja-JP" dirty="0"/>
                  <a:t>量子态所在的 Hilbert 空间 </a:t>
                </a:r>
                <a14:m>
                  <m:oMath xmlns:m="http://schemas.openxmlformats.org/officeDocument/2006/math">
                    <m:r>
                      <a:rPr lang="en-US" altLang="ja-JP"/>
                      <m:t>ℋ</m:t>
                    </m:r>
                  </m:oMath>
                </a14:m>
                <a:r>
                  <a:rPr lang="ja-JP" altLang="ja-JP" dirty="0"/>
                  <a:t>； </a:t>
                </a:r>
              </a:p>
              <a:p>
                <a:pPr>
                  <a:lnSpc>
                    <a:spcPct val="120000"/>
                  </a:lnSpc>
                </a:pPr>
                <a:r>
                  <a:rPr lang="ja-JP" altLang="ja-JP" dirty="0"/>
                  <a:t>密度矩阵所在的算子空间，带 Hilbert–Schmidt 内积： </a:t>
                </a:r>
                <a14:m>
                  <m:oMath xmlns:m="http://schemas.openxmlformats.org/officeDocument/2006/math">
                    <m:sSub>
                      <m:sSubPr>
                        <m:ctrlPr>
                          <a:rPr lang="ja-JP" altLang="en-US"/>
                        </m:ctrlPr>
                      </m:sSubPr>
                      <m:e>
                        <m:d>
                          <m:dPr>
                            <m:begChr m:val="⟨"/>
                            <m:endChr m:val="⟩"/>
                            <m:sepChr m:val=","/>
                            <m:ctrlPr>
                              <a:rPr lang="ja-JP" altLang="en-US"/>
                            </m:ctrlPr>
                          </m:dPr>
                          <m:e>
                            <m:r>
                              <a:rPr lang="ja-JP" altLang="en-US" i="1"/>
                              <m:t>𝐴</m:t>
                            </m:r>
                          </m:e>
                          <m:e>
                            <m:r>
                              <a:rPr lang="ja-JP" altLang="en-US" i="1"/>
                              <m:t>𝐵</m:t>
                            </m:r>
                          </m:e>
                        </m:d>
                      </m:e>
                      <m:sub>
                        <m:r>
                          <m:rPr>
                            <m:sty m:val="p"/>
                          </m:rPr>
                          <a:rPr lang="en-US" altLang="ja-JP"/>
                          <m:t>HS</m:t>
                        </m:r>
                      </m:sub>
                    </m:sSub>
                    <m:r>
                      <a:rPr lang="en-US" altLang="ja-JP"/>
                      <m:t>=</m:t>
                    </m:r>
                    <m:r>
                      <m:rPr>
                        <m:sty m:val="p"/>
                      </m:rPr>
                      <a:rPr lang="en-US" altLang="ja-JP"/>
                      <m:t>Tr</m:t>
                    </m:r>
                    <m:r>
                      <a:rPr lang="en-US" altLang="ja-JP"/>
                      <m:t>⁡</m:t>
                    </m:r>
                    <m:d>
                      <m:dPr>
                        <m:ctrlPr>
                          <a:rPr lang="ja-JP" altLang="en-US" i="1"/>
                        </m:ctrlPr>
                      </m:dPr>
                      <m:e>
                        <m:sSup>
                          <m:sSupPr>
                            <m:ctrlPr>
                              <a:rPr lang="ja-JP" altLang="en-US" i="1"/>
                            </m:ctrlPr>
                          </m:sSupPr>
                          <m:e>
                            <m:r>
                              <a:rPr lang="ja-JP" altLang="en-US" i="1"/>
                              <m:t>𝐴</m:t>
                            </m:r>
                          </m:e>
                          <m:sup>
                            <m:r>
                              <a:rPr lang="en-US" altLang="ja-JP"/>
                              <m:t>†</m:t>
                            </m:r>
                          </m:sup>
                        </m:sSup>
                        <m:r>
                          <a:rPr lang="ja-JP" altLang="en-US" i="1"/>
                          <m:t>𝐵</m:t>
                        </m:r>
                      </m:e>
                    </m:d>
                    <m:r>
                      <a:rPr lang="en-US" altLang="ja-JP"/>
                      <m:t>.</m:t>
                    </m:r>
                  </m:oMath>
                </a14:m>
                <a:endParaRPr lang="en-US" altLang="ja-JP" dirty="0"/>
              </a:p>
              <a:p>
                <a:pPr marL="0" indent="0">
                  <a:lnSpc>
                    <a:spcPct val="120000"/>
                  </a:lnSpc>
                  <a:buNone/>
                </a:pPr>
                <a:r>
                  <a:rPr lang="ja-JP" altLang="ja-JP" dirty="0"/>
                  <a:t>对于纯态 </a:t>
                </a:r>
                <a14:m>
                  <m:oMath xmlns:m="http://schemas.openxmlformats.org/officeDocument/2006/math">
                    <m:d>
                      <m:dPr>
                        <m:begChr m:val=""/>
                        <m:endChr m:val="⟩"/>
                        <m:ctrlPr>
                          <a:rPr lang="ja-JP" altLang="en-US"/>
                        </m:ctrlPr>
                      </m:dPr>
                      <m:e>
                        <m:r>
                          <a:rPr lang="ja-JP" altLang="en-US" i="1"/>
                          <m:t>𝜌</m:t>
                        </m:r>
                        <m:d>
                          <m:dPr>
                            <m:ctrlPr>
                              <a:rPr lang="ja-JP" altLang="en-US" i="1"/>
                            </m:ctrlPr>
                          </m:dPr>
                          <m:e>
                            <m:r>
                              <a:rPr lang="ja-JP" altLang="en-US" i="1"/>
                              <m:t>𝑥</m:t>
                            </m:r>
                          </m:e>
                        </m:d>
                        <m:r>
                          <a:rPr lang="en-US" altLang="ja-JP"/>
                          <m:t>=∣</m:t>
                        </m:r>
                        <m:r>
                          <a:rPr lang="ja-JP" altLang="en-US" i="1"/>
                          <m:t>𝜙</m:t>
                        </m:r>
                        <m:d>
                          <m:dPr>
                            <m:ctrlPr>
                              <a:rPr lang="ja-JP" altLang="en-US" i="1"/>
                            </m:ctrlPr>
                          </m:dPr>
                          <m:e>
                            <m:r>
                              <a:rPr lang="ja-JP" altLang="en-US" i="1"/>
                              <m:t>𝑥</m:t>
                            </m:r>
                          </m:e>
                        </m:d>
                      </m:e>
                    </m:d>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e>
                    </m:d>
                  </m:oMath>
                </a14:m>
                <a:r>
                  <a:rPr lang="ja-JP" altLang="ja-JP" dirty="0"/>
                  <a:t>，有：</a:t>
                </a:r>
                <a14:m>
                  <m:oMath xmlns:m="http://schemas.openxmlformats.org/officeDocument/2006/math">
                    <m:r>
                      <m:rPr>
                        <m:sty m:val="p"/>
                      </m:rPr>
                      <a:rPr lang="en-US" altLang="ja-JP"/>
                      <m:t>Tr</m:t>
                    </m:r>
                    <m:r>
                      <a:rPr lang="ja-JP" altLang="en-US"/>
                      <m:t>⁡</m:t>
                    </m:r>
                    <m:d>
                      <m:dPr>
                        <m:begChr m:val="["/>
                        <m:endChr m:val="]"/>
                        <m:ctrlPr>
                          <a:rPr lang="ja-JP" altLang="en-US" i="1"/>
                        </m:ctrlPr>
                      </m:dPr>
                      <m:e>
                        <m:r>
                          <a:rPr lang="ja-JP" altLang="en-US" i="1"/>
                          <m:t>𝜌</m:t>
                        </m:r>
                        <m:d>
                          <m:dPr>
                            <m:ctrlPr>
                              <a:rPr lang="ja-JP" altLang="en-US" i="1"/>
                            </m:ctrlPr>
                          </m:dPr>
                          <m:e>
                            <m:r>
                              <a:rPr lang="ja-JP" altLang="en-US" i="1"/>
                              <m:t>𝑥</m:t>
                            </m:r>
                          </m:e>
                        </m:d>
                        <m:r>
                          <a:rPr lang="ja-JP" altLang="en-US" i="1"/>
                          <m:t>𝜌</m:t>
                        </m:r>
                        <m:d>
                          <m:dPr>
                            <m:ctrlPr>
                              <a:rPr lang="ja-JP" altLang="en-US" i="1"/>
                            </m:ctrlPr>
                          </m:dPr>
                          <m:e>
                            <m:sSup>
                              <m:sSupPr>
                                <m:ctrlPr>
                                  <a:rPr lang="ja-JP" altLang="en-US" i="1"/>
                                </m:ctrlPr>
                              </m:sSupPr>
                              <m:e>
                                <m:r>
                                  <a:rPr lang="ja-JP" altLang="en-US" i="1"/>
                                  <m:t>𝑥</m:t>
                                </m:r>
                              </m:e>
                              <m:sup>
                                <m:r>
                                  <a:rPr lang="en-US" altLang="ja-JP"/>
                                  <m:t>′</m:t>
                                </m:r>
                              </m:sup>
                            </m:sSup>
                          </m:e>
                        </m:d>
                      </m:e>
                    </m:d>
                    <m:r>
                      <a:rPr lang="en-US" altLang="ja-JP"/>
                      <m:t>=∣</m:t>
                    </m:r>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r>
                          <a:rPr lang="ja-JP" altLang="en-US" i="1"/>
                          <m:t>𝜙</m:t>
                        </m:r>
                        <m:d>
                          <m:dPr>
                            <m:ctrlPr>
                              <a:rPr lang="ja-JP" altLang="en-US" i="1"/>
                            </m:ctrlPr>
                          </m:dPr>
                          <m:e>
                            <m:sSup>
                              <m:sSupPr>
                                <m:ctrlPr>
                                  <a:rPr lang="ja-JP" altLang="en-US" i="1"/>
                                </m:ctrlPr>
                              </m:sSupPr>
                              <m:e>
                                <m:r>
                                  <a:rPr lang="ja-JP" altLang="en-US" i="1"/>
                                  <m:t>𝑥</m:t>
                                </m:r>
                              </m:e>
                              <m:sup>
                                <m:r>
                                  <a:rPr lang="en-US" altLang="ja-JP"/>
                                  <m:t>′</m:t>
                                </m:r>
                              </m:sup>
                            </m:sSup>
                          </m:e>
                        </m:d>
                      </m:e>
                    </m:d>
                    <m:sSup>
                      <m:sSupPr>
                        <m:ctrlPr>
                          <a:rPr lang="ja-JP" altLang="en-US" i="1"/>
                        </m:ctrlPr>
                      </m:sSupPr>
                      <m:e>
                        <m:r>
                          <a:rPr lang="ja-JP" altLang="en-US"/>
                          <m:t>∣</m:t>
                        </m:r>
                      </m:e>
                      <m:sup>
                        <m:r>
                          <a:rPr lang="en-US" altLang="ja-JP"/>
                          <m:t>2</m:t>
                        </m:r>
                      </m:sup>
                    </m:sSup>
                    <m:r>
                      <a:rPr lang="en-US" altLang="ja-JP"/>
                      <m:t>.</m:t>
                    </m:r>
                  </m:oMath>
                </a14:m>
                <a:endParaRPr lang="en-US" altLang="ja-JP" dirty="0"/>
              </a:p>
              <a:p>
                <a:pPr marL="0" indent="0">
                  <a:lnSpc>
                    <a:spcPct val="120000"/>
                  </a:lnSpc>
                  <a:buNone/>
                </a:pPr>
                <a:r>
                  <a:rPr lang="ja-JP" altLang="ja-JP" dirty="0"/>
                  <a:t>所以量子核就是算子 Hilbert 空间中的内积。分类器的判别函数可以写成：</a:t>
                </a:r>
                <a14:m>
                  <m:oMath xmlns:m="http://schemas.openxmlformats.org/officeDocument/2006/math">
                    <m:r>
                      <a:rPr lang="ja-JP" altLang="en-US" i="1"/>
                      <m:t>𝑓</m:t>
                    </m:r>
                    <m:d>
                      <m:dPr>
                        <m:ctrlPr>
                          <a:rPr lang="ja-JP" altLang="en-US" i="1"/>
                        </m:ctrlPr>
                      </m:dPr>
                      <m:e>
                        <m:r>
                          <a:rPr lang="ja-JP" altLang="en-US" i="1"/>
                          <m:t>𝑥</m:t>
                        </m:r>
                      </m:e>
                    </m:d>
                    <m:r>
                      <a:rPr lang="en-US" altLang="ja-JP"/>
                      <m:t>=</m:t>
                    </m:r>
                    <m:r>
                      <m:rPr>
                        <m:sty m:val="p"/>
                      </m:rPr>
                      <a:rPr lang="en-US" altLang="ja-JP"/>
                      <m:t>Tr</m:t>
                    </m:r>
                    <m:r>
                      <a:rPr lang="en-US" altLang="ja-JP"/>
                      <m:t>⁡</m:t>
                    </m:r>
                    <m:d>
                      <m:dPr>
                        <m:begChr m:val="["/>
                        <m:endChr m:val="]"/>
                        <m:ctrlPr>
                          <a:rPr lang="ja-JP" altLang="en-US" i="1"/>
                        </m:ctrlPr>
                      </m:dPr>
                      <m:e>
                        <m:r>
                          <a:rPr lang="ja-JP" altLang="en-US" i="1"/>
                          <m:t>𝑀</m:t>
                        </m:r>
                        <m:r>
                          <a:rPr lang="ja-JP" altLang="en-US" i="1"/>
                          <m:t>𝜌</m:t>
                        </m:r>
                        <m:d>
                          <m:dPr>
                            <m:ctrlPr>
                              <a:rPr lang="ja-JP" altLang="en-US" i="1"/>
                            </m:ctrlPr>
                          </m:dPr>
                          <m:e>
                            <m:r>
                              <a:rPr lang="ja-JP" altLang="en-US" i="1"/>
                              <m:t>𝑥</m:t>
                            </m:r>
                          </m:e>
                        </m:d>
                      </m:e>
                    </m:d>
                    <m:r>
                      <a:rPr lang="en-US" altLang="ja-JP"/>
                      <m:t>,</m:t>
                    </m:r>
                  </m:oMath>
                </a14:m>
                <a:endParaRPr lang="en-US" altLang="ja-JP" dirty="0"/>
              </a:p>
              <a:p>
                <a:pPr marL="0" indent="0">
                  <a:lnSpc>
                    <a:spcPct val="120000"/>
                  </a:lnSpc>
                  <a:buNone/>
                </a:pPr>
                <a:r>
                  <a:rPr lang="ja-JP" altLang="ja-JP" dirty="0"/>
                  <a:t>其中 </a:t>
                </a:r>
                <a14:m>
                  <m:oMath xmlns:m="http://schemas.openxmlformats.org/officeDocument/2006/math">
                    <m:r>
                      <a:rPr lang="ja-JP" altLang="en-US" i="1"/>
                      <m:t>𝑀</m:t>
                    </m:r>
                  </m:oMath>
                </a14:m>
                <a:r>
                  <a:rPr lang="ja-JP" altLang="ja-JP" dirty="0"/>
                  <a:t>是测量算符。这个形式非常重要，因为它说明量子测量本身就是作用在态空间上的线性泛函。</a:t>
                </a:r>
              </a:p>
              <a:p>
                <a:pPr marL="0" indent="0">
                  <a:lnSpc>
                    <a:spcPct val="120000"/>
                  </a:lnSpc>
                  <a:buNone/>
                </a:pPr>
                <a:endParaRPr lang="en-US" altLang="ja-JP" dirty="0"/>
              </a:p>
            </p:txBody>
          </p:sp>
        </mc:Choice>
        <mc:Fallback>
          <p:sp>
            <p:nvSpPr>
              <p:cNvPr id="12" name="コンテンツ プレースホルダー 2">
                <a:extLst>
                  <a:ext uri="{FF2B5EF4-FFF2-40B4-BE49-F238E27FC236}">
                    <a16:creationId xmlns:a16="http://schemas.microsoft.com/office/drawing/2014/main" id="{26112CA4-0AE2-78D7-275C-A2553A32B20B}"/>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t="-463" r="-51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474523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8880B-AAAE-B54C-A43F-39CFB2C11935}"/>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8108E377-6B5C-4E90-DA54-BC6E71792365}"/>
              </a:ext>
            </a:extLst>
          </p:cNvPr>
          <p:cNvSpPr>
            <a:spLocks noGrp="1" noChangeArrowheads="1"/>
          </p:cNvSpPr>
          <p:nvPr>
            <p:ph type="title"/>
          </p:nvPr>
        </p:nvSpPr>
        <p:spPr/>
        <p:txBody>
          <a:bodyPr/>
          <a:lstStyle/>
          <a:p>
            <a:r>
              <a:rPr lang="ja-JP" altLang="ja-JP" dirty="0"/>
              <a:t>Liu–Arunachalam–Temme：严格、鲁棒的量子监督学习加速</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DB4E47D0-3E76-DC11-192F-5EA90649606B}"/>
                  </a:ext>
                </a:extLst>
              </p:cNvPr>
              <p:cNvSpPr>
                <a:spLocks noGrp="1"/>
              </p:cNvSpPr>
              <p:nvPr>
                <p:ph idx="1"/>
              </p:nvPr>
            </p:nvSpPr>
            <p:spPr>
              <a:xfrm>
                <a:off x="106680" y="990600"/>
                <a:ext cx="11877040" cy="5268402"/>
              </a:xfrm>
            </p:spPr>
            <p:txBody>
              <a:bodyPr/>
              <a:lstStyle/>
              <a:p>
                <a:pPr marL="0" indent="0">
                  <a:lnSpc>
                    <a:spcPct val="120000"/>
                  </a:lnSpc>
                  <a:buNone/>
                </a:pPr>
                <a:r>
                  <a:rPr lang="ja-JP" altLang="ja-JP" dirty="0"/>
                  <a:t>论文解决一个关键问题：很多量子机器学习论文只说明某个核难算，或者某个线路难模拟，但没有证明整个学习任务有量子优势。</a:t>
                </a:r>
                <a:endParaRPr lang="en-US" altLang="ja-JP" dirty="0"/>
              </a:p>
              <a:p>
                <a:pPr marL="0" indent="0">
                  <a:lnSpc>
                    <a:spcPct val="120000"/>
                  </a:lnSpc>
                  <a:buNone/>
                </a:pPr>
                <a:r>
                  <a:rPr lang="ja-JP" altLang="ja-JP" dirty="0"/>
                  <a:t>Liu–Arunachalam–Temme 构造了一个完整的监督分类问题，并证明量子核 SVM 能学，而经典学习器在离散对数困难假设下几乎不能比随机猜测更好。</a:t>
                </a:r>
              </a:p>
              <a:p>
                <a:pPr>
                  <a:lnSpc>
                    <a:spcPct val="120000"/>
                  </a:lnSpc>
                </a:pPr>
                <a:r>
                  <a:rPr lang="ja-JP" altLang="ja-JP" dirty="0"/>
                  <a:t>他们的算法仍然是：</a:t>
                </a:r>
                <a14:m>
                  <m:oMath xmlns:m="http://schemas.openxmlformats.org/officeDocument/2006/math">
                    <m:d>
                      <m:dPr>
                        <m:begChr m:val=""/>
                        <m:endChr m:val="⟩"/>
                        <m:ctrlPr>
                          <a:rPr lang="ja-JP" altLang="en-US"/>
                        </m:ctrlPr>
                      </m:dPr>
                      <m:e>
                        <m:r>
                          <a:rPr lang="ja-JP" altLang="en-US" i="1"/>
                          <m:t>𝑥</m:t>
                        </m:r>
                        <m:r>
                          <a:rPr lang="ja-JP" altLang="en-US"/>
                          <m:t>↦∣</m:t>
                        </m:r>
                        <m:r>
                          <a:rPr lang="ja-JP" altLang="en-US" i="1"/>
                          <m:t>𝜙</m:t>
                        </m:r>
                        <m:d>
                          <m:dPr>
                            <m:ctrlPr>
                              <a:rPr lang="ja-JP" altLang="en-US" i="1"/>
                            </m:ctrlPr>
                          </m:dPr>
                          <m:e>
                            <m:r>
                              <a:rPr lang="ja-JP" altLang="en-US" i="1"/>
                              <m:t>𝑥</m:t>
                            </m:r>
                          </m:e>
                        </m:d>
                      </m:e>
                    </m:d>
                    <m:r>
                      <a:rPr lang="en-US" altLang="ja-JP"/>
                      <m:t>,</m:t>
                    </m:r>
                  </m:oMath>
                </a14:m>
                <a:r>
                  <a:rPr lang="en-US" altLang="ja-JP" dirty="0"/>
                  <a:t> </a:t>
                </a:r>
                <a:r>
                  <a:rPr lang="ja-JP" altLang="ja-JP" dirty="0"/>
                  <a:t>然后用量子计算机估计核矩阵，再把核矩阵交给经典 SVM。</a:t>
                </a:r>
                <a:endParaRPr lang="en-US" altLang="ja-JP" dirty="0"/>
              </a:p>
              <a:p>
                <a:pPr>
                  <a:lnSpc>
                    <a:spcPct val="120000"/>
                  </a:lnSpc>
                </a:pPr>
                <a:r>
                  <a:rPr lang="ja-JP" altLang="ja-JP" dirty="0"/>
                  <a:t>关键区别是，他们选择了一个与 discrete logarithm problem 相关的概念类。对经典算法来说，标签看起来近似随机；但量子计算机可以利用 Shor 算法相关结构构造特征映射，使数据在量子 Hilbert 空间中大间隔线性可分。论文说明，量子特征映射把原空间中难以识别的标签结构变成 Hilbert 空间中的大间隔分离问题。</a:t>
                </a:r>
                <a:endParaRPr lang="en-US" altLang="ja-JP" dirty="0"/>
              </a:p>
              <a:p>
                <a:pPr>
                  <a:lnSpc>
                    <a:spcPct val="120000"/>
                  </a:lnSpc>
                </a:pPr>
                <a:endParaRPr lang="en-US" altLang="ja-JP" dirty="0"/>
              </a:p>
              <a:p>
                <a:pPr>
                  <a:lnSpc>
                    <a:spcPct val="120000"/>
                  </a:lnSpc>
                </a:pPr>
                <a:endParaRPr lang="en-US" altLang="ja-JP" dirty="0"/>
              </a:p>
              <a:p>
                <a:pPr marL="0" indent="0">
                  <a:lnSpc>
                    <a:spcPct val="12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DB4E47D0-3E76-DC11-192F-5EA90649606B}"/>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t="-463" r="-462"/>
                </a:stretch>
              </a:blipFill>
            </p:spPr>
            <p:txBody>
              <a:bodyPr/>
              <a:lstStyle/>
              <a:p>
                <a:r>
                  <a:rPr lang="ja-JP" altLang="en-US">
                    <a:noFill/>
                  </a:rPr>
                  <a:t> </a:t>
                </a:r>
              </a:p>
            </p:txBody>
          </p:sp>
        </mc:Fallback>
      </mc:AlternateContent>
      <p:pic>
        <p:nvPicPr>
          <p:cNvPr id="3" name="図 2">
            <a:extLst>
              <a:ext uri="{FF2B5EF4-FFF2-40B4-BE49-F238E27FC236}">
                <a16:creationId xmlns:a16="http://schemas.microsoft.com/office/drawing/2014/main" id="{1B07FD46-9881-51DB-87D1-60EA35FB8426}"/>
              </a:ext>
            </a:extLst>
          </p:cNvPr>
          <p:cNvPicPr>
            <a:picLocks noChangeAspect="1"/>
          </p:cNvPicPr>
          <p:nvPr/>
        </p:nvPicPr>
        <p:blipFill>
          <a:blip r:embed="rId4"/>
          <a:stretch>
            <a:fillRect/>
          </a:stretch>
        </p:blipFill>
        <p:spPr>
          <a:xfrm>
            <a:off x="1511267" y="4781390"/>
            <a:ext cx="8600032" cy="439775"/>
          </a:xfrm>
          <a:prstGeom prst="rect">
            <a:avLst/>
          </a:prstGeom>
        </p:spPr>
      </p:pic>
    </p:spTree>
    <p:extLst>
      <p:ext uri="{BB962C8B-B14F-4D97-AF65-F5344CB8AC3E}">
        <p14:creationId xmlns:p14="http://schemas.microsoft.com/office/powerpoint/2010/main" val="4432671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D17F0-8D22-145F-8DD7-C9A6218C6D83}"/>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99B5B37D-52A1-A5DC-9AEF-6A13B46891B1}"/>
              </a:ext>
            </a:extLst>
          </p:cNvPr>
          <p:cNvSpPr>
            <a:spLocks noGrp="1" noChangeArrowheads="1"/>
          </p:cNvSpPr>
          <p:nvPr>
            <p:ph type="title"/>
          </p:nvPr>
        </p:nvSpPr>
        <p:spPr/>
        <p:txBody>
          <a:bodyPr/>
          <a:lstStyle/>
          <a:p>
            <a:r>
              <a:rPr lang="ja-JP" altLang="ja-JP" dirty="0"/>
              <a:t>discrete logarithm problem</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7487EEF2-7F1A-9B58-55BB-B30FEBD2E0CC}"/>
                  </a:ext>
                </a:extLst>
              </p:cNvPr>
              <p:cNvSpPr>
                <a:spLocks noGrp="1"/>
              </p:cNvSpPr>
              <p:nvPr>
                <p:ph idx="1"/>
              </p:nvPr>
            </p:nvSpPr>
            <p:spPr>
              <a:xfrm>
                <a:off x="106680" y="990600"/>
                <a:ext cx="11877040" cy="5268402"/>
              </a:xfrm>
            </p:spPr>
            <p:txBody>
              <a:bodyPr/>
              <a:lstStyle/>
              <a:p>
                <a:pPr marL="0" indent="0">
                  <a:lnSpc>
                    <a:spcPct val="110000"/>
                  </a:lnSpc>
                  <a:buNone/>
                </a:pPr>
                <a:r>
                  <a:rPr lang="ja-JP" altLang="ja-JP" dirty="0"/>
                  <a:t>取一个大素数 </a:t>
                </a:r>
                <a14:m>
                  <m:oMath xmlns:m="http://schemas.openxmlformats.org/officeDocument/2006/math">
                    <m:r>
                      <a:rPr lang="ja-JP" altLang="en-US" i="1"/>
                      <m:t>𝑝</m:t>
                    </m:r>
                  </m:oMath>
                </a14:m>
                <a:r>
                  <a:rPr lang="ja-JP" altLang="ja-JP" dirty="0"/>
                  <a:t>，考虑模 </a:t>
                </a:r>
                <a14:m>
                  <m:oMath xmlns:m="http://schemas.openxmlformats.org/officeDocument/2006/math">
                    <m:r>
                      <a:rPr lang="ja-JP" altLang="en-US" i="1"/>
                      <m:t>𝑝</m:t>
                    </m:r>
                  </m:oMath>
                </a14:m>
                <a:r>
                  <a:rPr lang="ja-JP" altLang="ja-JP" dirty="0"/>
                  <a:t>的乘法群：</a:t>
                </a:r>
                <a:endParaRPr lang="en-US" altLang="ja-JP" dirty="0"/>
              </a:p>
              <a:p>
                <a:pPr marL="0" indent="0">
                  <a:lnSpc>
                    <a:spcPct val="110000"/>
                  </a:lnSpc>
                  <a:buNone/>
                </a:pPr>
                <a14:m>
                  <m:oMathPara xmlns:m="http://schemas.openxmlformats.org/officeDocument/2006/math">
                    <m:oMathParaPr>
                      <m:jc m:val="centerGroup"/>
                    </m:oMathParaPr>
                    <m:oMath xmlns:m="http://schemas.openxmlformats.org/officeDocument/2006/math">
                      <m:sSubSup>
                        <m:sSubSupPr>
                          <m:ctrlPr>
                            <a:rPr lang="ja-JP" altLang="en-US"/>
                          </m:ctrlPr>
                        </m:sSubSupPr>
                        <m:e>
                          <m:r>
                            <a:rPr lang="en-US" altLang="ja-JP"/>
                            <m:t>ℤ</m:t>
                          </m:r>
                        </m:e>
                        <m:sub>
                          <m:r>
                            <a:rPr lang="ja-JP" altLang="en-US" i="1"/>
                            <m:t>𝑝</m:t>
                          </m:r>
                        </m:sub>
                        <m:sup>
                          <m:r>
                            <a:rPr lang="ja-JP" altLang="en-US"/>
                            <m:t>∗</m:t>
                          </m:r>
                        </m:sup>
                      </m:sSubSup>
                      <m:r>
                        <a:rPr lang="en-US" altLang="ja-JP"/>
                        <m:t>=</m:t>
                      </m:r>
                      <m:d>
                        <m:dPr>
                          <m:begChr m:val="{"/>
                          <m:endChr m:val="}"/>
                          <m:sepChr m:val=","/>
                          <m:ctrlPr>
                            <a:rPr lang="ja-JP" altLang="en-US" i="1"/>
                          </m:ctrlPr>
                        </m:dPr>
                        <m:e>
                          <m:r>
                            <a:rPr lang="en-US" altLang="ja-JP"/>
                            <m:t>1</m:t>
                          </m:r>
                        </m:e>
                        <m:e>
                          <m:r>
                            <a:rPr lang="en-US" altLang="ja-JP"/>
                            <m:t>2</m:t>
                          </m:r>
                        </m:e>
                        <m:e>
                          <m:r>
                            <a:rPr lang="en-US" altLang="ja-JP"/>
                            <m:t>…</m:t>
                          </m:r>
                        </m:e>
                        <m:e>
                          <m:r>
                            <a:rPr lang="ja-JP" altLang="en-US" i="1"/>
                            <m:t>𝑝</m:t>
                          </m:r>
                          <m:r>
                            <a:rPr lang="ja-JP" altLang="en-US"/>
                            <m:t>−</m:t>
                          </m:r>
                          <m:r>
                            <a:rPr lang="en-US" altLang="ja-JP"/>
                            <m:t>1</m:t>
                          </m:r>
                        </m:e>
                      </m:d>
                      <m:r>
                        <a:rPr lang="en-US" altLang="ja-JP"/>
                        <m:t>.</m:t>
                      </m:r>
                    </m:oMath>
                  </m:oMathPara>
                </a14:m>
                <a:endParaRPr lang="en-US" altLang="ja-JP" dirty="0"/>
              </a:p>
              <a:p>
                <a:pPr marL="0" indent="0">
                  <a:lnSpc>
                    <a:spcPct val="110000"/>
                  </a:lnSpc>
                  <a:buNone/>
                </a:pPr>
                <a:r>
                  <a:rPr lang="ja-JP" altLang="ja-JP" dirty="0"/>
                  <a:t>选一个生成元 </a:t>
                </a:r>
                <a14:m>
                  <m:oMath xmlns:m="http://schemas.openxmlformats.org/officeDocument/2006/math">
                    <m:r>
                      <a:rPr lang="ja-JP" altLang="en-US" i="1"/>
                      <m:t>𝑔</m:t>
                    </m:r>
                  </m:oMath>
                </a14:m>
                <a:r>
                  <a:rPr lang="ja-JP" altLang="ja-JP" dirty="0"/>
                  <a:t>。这意味着每个非零元素 </a:t>
                </a:r>
                <a14:m>
                  <m:oMath xmlns:m="http://schemas.openxmlformats.org/officeDocument/2006/math">
                    <m:r>
                      <a:rPr lang="ja-JP" altLang="en-US" i="1"/>
                      <m:t>𝑥</m:t>
                    </m:r>
                    <m:r>
                      <a:rPr lang="ja-JP" altLang="en-US"/>
                      <m:t>∈</m:t>
                    </m:r>
                    <m:sSubSup>
                      <m:sSubSupPr>
                        <m:ctrlPr>
                          <a:rPr lang="ja-JP" altLang="en-US" i="1"/>
                        </m:ctrlPr>
                      </m:sSubSupPr>
                      <m:e>
                        <m:r>
                          <a:rPr lang="en-US" altLang="ja-JP"/>
                          <m:t>ℤ</m:t>
                        </m:r>
                      </m:e>
                      <m:sub>
                        <m:r>
                          <a:rPr lang="ja-JP" altLang="en-US" i="1"/>
                          <m:t>𝑝</m:t>
                        </m:r>
                      </m:sub>
                      <m:sup>
                        <m:r>
                          <a:rPr lang="ja-JP" altLang="en-US"/>
                          <m:t>∗</m:t>
                        </m:r>
                      </m:sup>
                    </m:sSubSup>
                  </m:oMath>
                </a14:m>
                <a:r>
                  <a:rPr lang="ja-JP" altLang="ja-JP" dirty="0"/>
                  <a:t>都可以写成：</a:t>
                </a:r>
                <a14:m>
                  <m:oMath xmlns:m="http://schemas.openxmlformats.org/officeDocument/2006/math">
                    <m:r>
                      <a:rPr lang="ja-JP" altLang="en-US" i="1"/>
                      <m:t>𝑥</m:t>
                    </m:r>
                    <m:r>
                      <a:rPr lang="ja-JP" altLang="en-US"/>
                      <m:t>≡</m:t>
                    </m:r>
                    <m:sSup>
                      <m:sSupPr>
                        <m:ctrlPr>
                          <a:rPr lang="ja-JP" altLang="en-US" i="1"/>
                        </m:ctrlPr>
                      </m:sSupPr>
                      <m:e>
                        <m:r>
                          <a:rPr lang="ja-JP" altLang="en-US" i="1"/>
                          <m:t>𝑔</m:t>
                        </m:r>
                      </m:e>
                      <m:sup>
                        <m:r>
                          <a:rPr lang="ja-JP" altLang="en-US" i="1"/>
                          <m:t>𝑦</m:t>
                        </m:r>
                      </m:sup>
                    </m:sSup>
                    <m:r>
                      <a:rPr lang="ja-JP" altLang="en-US"/>
                      <m:t>  </m:t>
                    </m:r>
                    <m:d>
                      <m:dPr>
                        <m:ctrlPr>
                          <a:rPr lang="ja-JP" altLang="en-US" i="1"/>
                        </m:ctrlPr>
                      </m:dPr>
                      <m:e>
                        <m:r>
                          <m:rPr>
                            <m:sty m:val="p"/>
                          </m:rPr>
                          <a:rPr lang="en-US" altLang="ja-JP"/>
                          <m:t>mod</m:t>
                        </m:r>
                        <m:r>
                          <a:rPr lang="en-US" altLang="ja-JP"/>
                          <m:t> </m:t>
                        </m:r>
                        <m:r>
                          <a:rPr lang="ja-JP" altLang="en-US" i="1"/>
                          <m:t>𝑝</m:t>
                        </m:r>
                      </m:e>
                    </m:d>
                    <m:r>
                      <a:rPr lang="en-US" altLang="ja-JP"/>
                      <m:t>.</m:t>
                    </m:r>
                  </m:oMath>
                </a14:m>
                <a:endParaRPr lang="en-US" altLang="ja-JP" dirty="0"/>
              </a:p>
              <a:p>
                <a:pPr marL="0" indent="0">
                  <a:lnSpc>
                    <a:spcPct val="110000"/>
                  </a:lnSpc>
                  <a:buNone/>
                </a:pPr>
                <a:r>
                  <a:rPr lang="ja-JP" altLang="ja-JP" dirty="0"/>
                  <a:t>这里的 </a:t>
                </a:r>
                <a14:m>
                  <m:oMath xmlns:m="http://schemas.openxmlformats.org/officeDocument/2006/math">
                    <m:r>
                      <a:rPr lang="ja-JP" altLang="en-US" i="1"/>
                      <m:t>𝑦</m:t>
                    </m:r>
                  </m:oMath>
                </a14:m>
                <a:r>
                  <a:rPr lang="ja-JP" altLang="ja-JP" dirty="0"/>
                  <a:t>就叫做 </a:t>
                </a:r>
                <a14:m>
                  <m:oMath xmlns:m="http://schemas.openxmlformats.org/officeDocument/2006/math">
                    <m:r>
                      <a:rPr lang="ja-JP" altLang="en-US" i="1"/>
                      <m:t>𝑥</m:t>
                    </m:r>
                  </m:oMath>
                </a14:m>
                <a:r>
                  <a:rPr lang="ja-JP" altLang="ja-JP" dirty="0"/>
                  <a:t>关于 </a:t>
                </a:r>
                <a14:m>
                  <m:oMath xmlns:m="http://schemas.openxmlformats.org/officeDocument/2006/math">
                    <m:r>
                      <a:rPr lang="ja-JP" altLang="en-US" i="1"/>
                      <m:t>𝑔</m:t>
                    </m:r>
                  </m:oMath>
                </a14:m>
                <a:r>
                  <a:rPr lang="ja-JP" altLang="ja-JP" dirty="0"/>
                  <a:t>的离散对数：</a:t>
                </a:r>
                <a14:m>
                  <m:oMath xmlns:m="http://schemas.openxmlformats.org/officeDocument/2006/math">
                    <m:r>
                      <a:rPr lang="ja-JP" altLang="en-US" i="1"/>
                      <m:t>𝑦</m:t>
                    </m:r>
                    <m:r>
                      <a:rPr lang="en-US" altLang="ja-JP"/>
                      <m:t>=</m:t>
                    </m:r>
                    <m:sSub>
                      <m:sSubPr>
                        <m:ctrlPr>
                          <a:rPr lang="ja-JP" altLang="en-US" i="1"/>
                        </m:ctrlPr>
                      </m:sSubPr>
                      <m:e>
                        <m:r>
                          <m:rPr>
                            <m:sty m:val="p"/>
                          </m:rPr>
                          <a:rPr lang="en-US" altLang="ja-JP" b="0" i="1" smtClean="0">
                            <a:latin typeface="Cambria Math" panose="02040503050406030204" pitchFamily="18" charset="0"/>
                          </a:rPr>
                          <m:t>log</m:t>
                        </m:r>
                      </m:e>
                      <m:sub>
                        <m:r>
                          <a:rPr lang="ja-JP" altLang="en-US" i="1"/>
                          <m:t>𝑔</m:t>
                        </m:r>
                      </m:sub>
                    </m:sSub>
                    <m:r>
                      <a:rPr lang="ja-JP" altLang="en-US" i="1"/>
                      <m:t>𝑥</m:t>
                    </m:r>
                    <m:r>
                      <a:rPr lang="en-US" altLang="ja-JP"/>
                      <m:t>.</m:t>
                    </m:r>
                  </m:oMath>
                </a14:m>
                <a:endParaRPr lang="en-US" altLang="ja-JP" dirty="0"/>
              </a:p>
              <a:p>
                <a:pPr marL="0" indent="0">
                  <a:lnSpc>
                    <a:spcPct val="110000"/>
                  </a:lnSpc>
                  <a:buNone/>
                </a:pPr>
                <a:r>
                  <a:rPr lang="ja-JP" altLang="ja-JP" dirty="0"/>
                  <a:t>普通指数方向：</a:t>
                </a:r>
                <a14:m>
                  <m:oMath xmlns:m="http://schemas.openxmlformats.org/officeDocument/2006/math">
                    <m:r>
                      <a:rPr lang="ja-JP" altLang="en-US" i="1"/>
                      <m:t>𝑦</m:t>
                    </m:r>
                    <m:r>
                      <a:rPr lang="ja-JP" altLang="en-US"/>
                      <m:t>↦</m:t>
                    </m:r>
                    <m:sSup>
                      <m:sSupPr>
                        <m:ctrlPr>
                          <a:rPr lang="ja-JP" altLang="en-US" i="1"/>
                        </m:ctrlPr>
                      </m:sSupPr>
                      <m:e>
                        <m:r>
                          <a:rPr lang="ja-JP" altLang="en-US" i="1"/>
                          <m:t>𝑔</m:t>
                        </m:r>
                      </m:e>
                      <m:sup>
                        <m:r>
                          <a:rPr lang="ja-JP" altLang="en-US" i="1"/>
                          <m:t>𝑦</m:t>
                        </m:r>
                      </m:sup>
                    </m:sSup>
                    <m:r>
                      <a:rPr lang="ja-JP" altLang="en-US"/>
                      <m:t>  </m:t>
                    </m:r>
                    <m:d>
                      <m:dPr>
                        <m:ctrlPr>
                          <a:rPr lang="ja-JP" altLang="en-US" i="1"/>
                        </m:ctrlPr>
                      </m:dPr>
                      <m:e>
                        <m:r>
                          <m:rPr>
                            <m:sty m:val="p"/>
                          </m:rPr>
                          <a:rPr lang="en-US" altLang="ja-JP"/>
                          <m:t>mod</m:t>
                        </m:r>
                        <m:r>
                          <a:rPr lang="en-US" altLang="ja-JP"/>
                          <m:t> </m:t>
                        </m:r>
                        <m:r>
                          <a:rPr lang="ja-JP" altLang="en-US" i="1"/>
                          <m:t>𝑝</m:t>
                        </m:r>
                      </m:e>
                    </m:d>
                    <m:r>
                      <m:rPr>
                        <m:nor/>
                      </m:rPr>
                      <a:rPr lang="ja-JP" altLang="en-US"/>
                      <m:t>是容易计算的；</m:t>
                    </m:r>
                  </m:oMath>
                </a14:m>
                <a:endParaRPr lang="en-US" altLang="ja-JP" dirty="0"/>
              </a:p>
              <a:p>
                <a:pPr marL="0" indent="0">
                  <a:lnSpc>
                    <a:spcPct val="110000"/>
                  </a:lnSpc>
                  <a:buNone/>
                </a:pPr>
                <a14:m>
                  <m:oMathPara xmlns:m="http://schemas.openxmlformats.org/officeDocument/2006/math">
                    <m:oMathParaPr>
                      <m:jc m:val="left"/>
                    </m:oMathParaPr>
                    <m:oMath xmlns:m="http://schemas.openxmlformats.org/officeDocument/2006/math">
                      <m:r>
                        <m:rPr>
                          <m:nor/>
                        </m:rPr>
                        <a:rPr lang="ja-JP" altLang="en-US"/>
                        <m:t>但反方向：</m:t>
                      </m:r>
                      <m:r>
                        <a:rPr lang="ja-JP" altLang="en-US" i="1"/>
                        <m:t>𝑥</m:t>
                      </m:r>
                      <m:r>
                        <a:rPr lang="ja-JP" altLang="en-US"/>
                        <m:t>↦</m:t>
                      </m:r>
                      <m:sSub>
                        <m:sSubPr>
                          <m:ctrlPr>
                            <a:rPr lang="ja-JP" altLang="en-US" i="1">
                              <a:latin typeface="Cambria Math" panose="02040503050406030204" pitchFamily="18" charset="0"/>
                            </a:rPr>
                          </m:ctrlPr>
                        </m:sSubPr>
                        <m:e>
                          <m:r>
                            <m:rPr>
                              <m:sty m:val="p"/>
                            </m:rPr>
                            <a:rPr lang="en-US" altLang="ja-JP" i="1">
                              <a:latin typeface="Cambria Math" panose="02040503050406030204" pitchFamily="18" charset="0"/>
                            </a:rPr>
                            <m:t>log</m:t>
                          </m:r>
                        </m:e>
                        <m:sub>
                          <m:r>
                            <a:rPr lang="ja-JP" altLang="en-US" i="1">
                              <a:latin typeface="Cambria Math" panose="02040503050406030204" pitchFamily="18" charset="0"/>
                            </a:rPr>
                            <m:t>𝑔</m:t>
                          </m:r>
                        </m:sub>
                      </m:sSub>
                      <m:r>
                        <a:rPr lang="ja-JP" altLang="en-US" i="1"/>
                        <m:t>𝑥</m:t>
                      </m:r>
                      <m:r>
                        <m:rPr>
                          <m:nor/>
                        </m:rPr>
                        <a:rPr lang="ja-JP" altLang="en-US"/>
                        <m:t>对经典计算机被认为很难。</m:t>
                      </m:r>
                    </m:oMath>
                  </m:oMathPara>
                </a14:m>
                <a:endParaRPr lang="en-US" altLang="ja-JP" dirty="0"/>
              </a:p>
              <a:p>
                <a:pPr marL="0" indent="0">
                  <a:lnSpc>
                    <a:spcPct val="110000"/>
                  </a:lnSpc>
                  <a:buNone/>
                </a:pPr>
                <a:endParaRPr lang="en-US" altLang="ja-JP" dirty="0"/>
              </a:p>
              <a:p>
                <a:pPr marL="0" indent="0">
                  <a:lnSpc>
                    <a:spcPct val="110000"/>
                  </a:lnSpc>
                  <a:buNone/>
                </a:pPr>
                <a14:m>
                  <m:oMathPara xmlns:m="http://schemas.openxmlformats.org/officeDocument/2006/math">
                    <m:oMathParaPr>
                      <m:jc m:val="left"/>
                    </m:oMathParaPr>
                    <m:oMath xmlns:m="http://schemas.openxmlformats.org/officeDocument/2006/math">
                      <m:r>
                        <m:rPr>
                          <m:nor/>
                        </m:rPr>
                        <a:rPr lang="ja-JP" altLang="en-US"/>
                        <m:t>论文中也说，在输入长度 </m:t>
                      </m:r>
                      <m:r>
                        <a:rPr lang="ja-JP" altLang="en-US" i="1" smtClean="0"/>
                        <m:t>𝑛</m:t>
                      </m:r>
                      <m:r>
                        <a:rPr lang="en-US" altLang="ja-JP"/>
                        <m:t>=</m:t>
                      </m:r>
                      <m:d>
                        <m:dPr>
                          <m:begChr m:val="⌈"/>
                          <m:endChr m:val="⌉"/>
                          <m:ctrlPr>
                            <a:rPr lang="ja-JP" altLang="en-US" i="1"/>
                          </m:ctrlPr>
                        </m:dPr>
                        <m:e>
                          <m:sSub>
                            <m:sSubPr>
                              <m:ctrlPr>
                                <a:rPr lang="ja-JP" altLang="en-US" i="1"/>
                              </m:ctrlPr>
                            </m:sSubPr>
                            <m:e>
                              <m:r>
                                <m:rPr>
                                  <m:sty m:val="p"/>
                                </m:rPr>
                                <a:rPr lang="en-US" altLang="ja-JP" b="0" i="1" smtClean="0">
                                  <a:latin typeface="Cambria Math" panose="02040503050406030204" pitchFamily="18" charset="0"/>
                                </a:rPr>
                                <m:t>log</m:t>
                              </m:r>
                            </m:e>
                            <m:sub>
                              <m:r>
                                <a:rPr lang="en-US" altLang="ja-JP"/>
                                <m:t>2</m:t>
                              </m:r>
                            </m:sub>
                          </m:sSub>
                          <m:r>
                            <a:rPr lang="ja-JP" altLang="en-US" i="1"/>
                            <m:t>𝑝</m:t>
                          </m:r>
                        </m:e>
                      </m:d>
                      <m:r>
                        <m:rPr>
                          <m:nor/>
                        </m:rPr>
                        <a:rPr lang="ja-JP" altLang="en-US"/>
                        <m:t>下，</m:t>
                      </m:r>
                    </m:oMath>
                  </m:oMathPara>
                </a14:m>
                <a:endParaRPr lang="en-US" altLang="ja-JP" dirty="0"/>
              </a:p>
              <a:p>
                <a:pPr marL="0" indent="0">
                  <a:lnSpc>
                    <a:spcPct val="110000"/>
                  </a:lnSpc>
                  <a:buNone/>
                </a:pPr>
                <a14:m>
                  <m:oMathPara xmlns:m="http://schemas.openxmlformats.org/officeDocument/2006/math">
                    <m:oMathParaPr>
                      <m:jc m:val="left"/>
                    </m:oMathParaPr>
                    <m:oMath xmlns:m="http://schemas.openxmlformats.org/officeDocument/2006/math">
                      <m:r>
                        <m:rPr>
                          <m:nor/>
                        </m:rPr>
                        <a:rPr lang="ja-JP" altLang="en-US"/>
                        <m:t>经典多项式时间计算 </m:t>
                      </m:r>
                      <m:sSub>
                        <m:sSubPr>
                          <m:ctrlPr>
                            <a:rPr lang="ja-JP" altLang="en-US"/>
                          </m:ctrlPr>
                        </m:sSubPr>
                        <m:e>
                          <m:r>
                            <m:rPr>
                              <m:sty m:val="p"/>
                            </m:rPr>
                            <a:rPr lang="en-US" altLang="ja-JP" b="0" i="1" smtClean="0">
                              <a:latin typeface="Cambria Math" panose="02040503050406030204" pitchFamily="18" charset="0"/>
                            </a:rPr>
                            <m:t>log</m:t>
                          </m:r>
                        </m:e>
                        <m:sub>
                          <m:r>
                            <a:rPr lang="ja-JP" altLang="en-US" i="1"/>
                            <m:t>𝑔</m:t>
                          </m:r>
                        </m:sub>
                      </m:sSub>
                      <m:r>
                        <a:rPr lang="ja-JP" altLang="en-US" i="1"/>
                        <m:t>𝑥</m:t>
                      </m:r>
                      <m:r>
                        <m:rPr>
                          <m:nor/>
                        </m:rPr>
                        <a:rPr lang="ja-JP" altLang="en-US"/>
                        <m:t>被广泛认为不可行；而 </m:t>
                      </m:r>
                      <m:r>
                        <m:rPr>
                          <m:nor/>
                        </m:rPr>
                        <a:rPr lang="en-US" altLang="ja-JP"/>
                        <m:t>Shor</m:t>
                      </m:r>
                      <m:r>
                        <m:rPr>
                          <m:nor/>
                        </m:rPr>
                        <a:rPr lang="en-US" altLang="ja-JP"/>
                        <m:t> </m:t>
                      </m:r>
                      <m:r>
                        <m:rPr>
                          <m:nor/>
                        </m:rPr>
                        <a:rPr lang="ja-JP" altLang="en-US"/>
                        <m:t>算法可以在量子计算机上多项式时间求解 </m:t>
                      </m:r>
                      <m:r>
                        <m:rPr>
                          <m:nor/>
                        </m:rPr>
                        <a:rPr lang="en-US" altLang="ja-JP"/>
                        <m:t>DLP</m:t>
                      </m:r>
                      <m:r>
                        <m:rPr>
                          <m:nor/>
                        </m:rPr>
                        <a:rPr lang="ja-JP" altLang="en-US"/>
                        <m:t>。</m:t>
                      </m:r>
                    </m:oMath>
                  </m:oMathPara>
                </a14:m>
                <a:endParaRPr lang="ja-JP" altLang="ja-JP" dirty="0"/>
              </a:p>
              <a:p>
                <a:pPr marL="0" indent="0">
                  <a:lnSpc>
                    <a:spcPct val="110000"/>
                  </a:lnSpc>
                  <a:buNone/>
                </a:pPr>
                <a:endParaRPr lang="en-US" altLang="ja-JP" dirty="0"/>
              </a:p>
              <a:p>
                <a:pPr>
                  <a:lnSpc>
                    <a:spcPct val="110000"/>
                  </a:lnSpc>
                </a:pPr>
                <a:r>
                  <a:rPr lang="zh-CN" altLang="en-US" dirty="0"/>
                  <a:t>关于</a:t>
                </a:r>
                <a:r>
                  <a:rPr lang="ja-JP" altLang="ja-JP" dirty="0"/>
                  <a:t>概念类</a:t>
                </a:r>
                <a:r>
                  <a:rPr lang="zh-CN" altLang="en-US" dirty="0"/>
                  <a:t>：</a:t>
                </a:r>
                <a:r>
                  <a:rPr lang="ja-JP" altLang="ja-JP" dirty="0"/>
                  <a:t>在计算学习理论里，</a:t>
                </a:r>
                <a:r>
                  <a:rPr lang="ja-JP" altLang="ja-JP" b="1" dirty="0"/>
                  <a:t>concept class</a:t>
                </a:r>
                <a:r>
                  <a:rPr lang="ja-JP" altLang="ja-JP" dirty="0"/>
                  <a:t> 是一组可能的标记规则：</a:t>
                </a:r>
                <a14:m>
                  <m:oMath xmlns:m="http://schemas.openxmlformats.org/officeDocument/2006/math">
                    <m:r>
                      <a:rPr lang="ja-JP" altLang="en-US"/>
                      <m:t>𝒞</m:t>
                    </m:r>
                    <m:r>
                      <a:rPr lang="en-US" altLang="ja-JP"/>
                      <m:t>=</m:t>
                    </m:r>
                    <m:d>
                      <m:dPr>
                        <m:begChr m:val="{"/>
                        <m:endChr m:val="}"/>
                        <m:ctrlPr>
                          <a:rPr lang="ja-JP" altLang="en-US" i="1"/>
                        </m:ctrlPr>
                      </m:dPr>
                      <m:e>
                        <m:sSub>
                          <m:sSubPr>
                            <m:ctrlPr>
                              <a:rPr lang="ja-JP" altLang="en-US" i="1"/>
                            </m:ctrlPr>
                          </m:sSubPr>
                          <m:e>
                            <m:r>
                              <a:rPr lang="ja-JP" altLang="en-US" i="1"/>
                              <m:t>𝑓</m:t>
                            </m:r>
                          </m:e>
                          <m:sub>
                            <m:r>
                              <a:rPr lang="ja-JP" altLang="en-US" i="1"/>
                              <m:t>𝑠</m:t>
                            </m:r>
                          </m:sub>
                        </m:sSub>
                      </m:e>
                    </m:d>
                    <m:r>
                      <a:rPr lang="en-US" altLang="ja-JP"/>
                      <m:t>.</m:t>
                    </m:r>
                  </m:oMath>
                </a14:m>
                <a:r>
                  <a:rPr lang="en-US" altLang="ja-JP" dirty="0"/>
                  <a:t> </a:t>
                </a:r>
                <a:r>
                  <a:rPr lang="ja-JP" altLang="ja-JP" dirty="0"/>
                  <a:t>每个 </a:t>
                </a:r>
                <a14:m>
                  <m:oMath xmlns:m="http://schemas.openxmlformats.org/officeDocument/2006/math">
                    <m:sSub>
                      <m:sSubPr>
                        <m:ctrlPr>
                          <a:rPr lang="ja-JP" altLang="en-US"/>
                        </m:ctrlPr>
                      </m:sSubPr>
                      <m:e>
                        <m:r>
                          <a:rPr lang="ja-JP" altLang="en-US" i="1"/>
                          <m:t>𝑓</m:t>
                        </m:r>
                      </m:e>
                      <m:sub>
                        <m:r>
                          <a:rPr lang="ja-JP" altLang="en-US" i="1"/>
                          <m:t>𝑠</m:t>
                        </m:r>
                      </m:sub>
                    </m:sSub>
                  </m:oMath>
                </a14:m>
                <a:r>
                  <a:rPr lang="ja-JP" altLang="ja-JP" dirty="0"/>
                  <a:t>都是一个二分类函数：</a:t>
                </a:r>
                <a14:m>
                  <m:oMath xmlns:m="http://schemas.openxmlformats.org/officeDocument/2006/math">
                    <m:sSub>
                      <m:sSubPr>
                        <m:ctrlPr>
                          <a:rPr lang="ja-JP" altLang="en-US"/>
                        </m:ctrlPr>
                      </m:sSubPr>
                      <m:e>
                        <m:r>
                          <a:rPr lang="ja-JP" altLang="en-US" i="1"/>
                          <m:t>𝑓</m:t>
                        </m:r>
                      </m:e>
                      <m:sub>
                        <m:r>
                          <a:rPr lang="ja-JP" altLang="en-US" i="1"/>
                          <m:t>𝑠</m:t>
                        </m:r>
                      </m:sub>
                    </m:sSub>
                    <m:r>
                      <a:rPr lang="en-US" altLang="ja-JP"/>
                      <m:t>:</m:t>
                    </m:r>
                    <m:r>
                      <a:rPr lang="ja-JP" altLang="en-US" i="1"/>
                      <m:t>𝑋</m:t>
                    </m:r>
                    <m:r>
                      <a:rPr lang="ja-JP" altLang="en-US"/>
                      <m:t>→</m:t>
                    </m:r>
                    <m:d>
                      <m:dPr>
                        <m:begChr m:val="{"/>
                        <m:endChr m:val="}"/>
                        <m:sepChr m:val=","/>
                        <m:ctrlPr>
                          <a:rPr lang="ja-JP" altLang="en-US" i="1"/>
                        </m:ctrlPr>
                      </m:dPr>
                      <m:e>
                        <m:r>
                          <a:rPr lang="ja-JP" altLang="en-US"/>
                          <m:t>−</m:t>
                        </m:r>
                      </m:e>
                      <m:e>
                        <m:r>
                          <a:rPr lang="en-US" altLang="ja-JP"/>
                          <m:t>1+1</m:t>
                        </m:r>
                      </m:e>
                    </m:d>
                    <m:r>
                      <a:rPr lang="en-US" altLang="ja-JP"/>
                      <m:t>.</m:t>
                    </m:r>
                  </m:oMath>
                </a14:m>
                <a:r>
                  <a:rPr lang="en-US" altLang="ja-JP" dirty="0"/>
                  <a:t> </a:t>
                </a:r>
                <a:r>
                  <a:rPr lang="ja-JP" altLang="ja-JP" dirty="0"/>
                  <a:t>Liu–Arunachalam–Temme 令数据空间为：</a:t>
                </a:r>
                <a14:m>
                  <m:oMath xmlns:m="http://schemas.openxmlformats.org/officeDocument/2006/math">
                    <m:r>
                      <a:rPr lang="ja-JP" altLang="en-US" i="1"/>
                      <m:t>𝑋</m:t>
                    </m:r>
                    <m:r>
                      <a:rPr lang="en-US" altLang="ja-JP"/>
                      <m:t>=</m:t>
                    </m:r>
                    <m:sSubSup>
                      <m:sSubSupPr>
                        <m:ctrlPr>
                          <a:rPr lang="ja-JP" altLang="en-US" i="1"/>
                        </m:ctrlPr>
                      </m:sSubSupPr>
                      <m:e>
                        <m:r>
                          <a:rPr lang="en-US" altLang="ja-JP"/>
                          <m:t>ℤ</m:t>
                        </m:r>
                      </m:e>
                      <m:sub>
                        <m:r>
                          <a:rPr lang="ja-JP" altLang="en-US" i="1"/>
                          <m:t>𝑝</m:t>
                        </m:r>
                      </m:sub>
                      <m:sup>
                        <m:r>
                          <a:rPr lang="ja-JP" altLang="en-US"/>
                          <m:t>∗</m:t>
                        </m:r>
                      </m:sup>
                    </m:sSubSup>
                    <m:r>
                      <a:rPr lang="en-US" altLang="ja-JP"/>
                      <m:t>.</m:t>
                    </m:r>
                  </m:oMath>
                </a14:m>
                <a:r>
                  <a:rPr lang="en-US" altLang="ja-JP" dirty="0"/>
                  <a:t> </a:t>
                </a:r>
                <a:r>
                  <a:rPr lang="ja-JP" altLang="ja-JP" dirty="0"/>
                  <a:t>然后用一个隐藏参数 </a:t>
                </a:r>
                <a14:m>
                  <m:oMath xmlns:m="http://schemas.openxmlformats.org/officeDocument/2006/math">
                    <m:r>
                      <a:rPr lang="ja-JP" altLang="en-US" i="1"/>
                      <m:t>𝑠</m:t>
                    </m:r>
                  </m:oMath>
                </a14:m>
                <a:r>
                  <a:rPr lang="ja-JP" altLang="ja-JP" dirty="0"/>
                  <a:t>定义标签规则：</a:t>
                </a:r>
              </a:p>
              <a:p>
                <a:pPr marL="0" indent="0">
                  <a:lnSpc>
                    <a:spcPct val="110000"/>
                  </a:lnSpc>
                  <a:buNone/>
                </a:pPr>
                <a:endParaRPr lang="en-US" altLang="zh-CN" dirty="0"/>
              </a:p>
              <a:p>
                <a:pPr marL="0" indent="0">
                  <a:lnSpc>
                    <a:spcPct val="110000"/>
                  </a:lnSpc>
                  <a:buNone/>
                </a:pPr>
                <a:endParaRPr lang="en-US" altLang="ja-JP" dirty="0"/>
              </a:p>
            </p:txBody>
          </p:sp>
        </mc:Choice>
        <mc:Fallback>
          <p:sp>
            <p:nvSpPr>
              <p:cNvPr id="12" name="コンテンツ プレースホルダー 2">
                <a:extLst>
                  <a:ext uri="{FF2B5EF4-FFF2-40B4-BE49-F238E27FC236}">
                    <a16:creationId xmlns:a16="http://schemas.microsoft.com/office/drawing/2014/main" id="{7487EEF2-7F1A-9B58-55BB-B30FEBD2E0CC}"/>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t="-926"/>
                </a:stretch>
              </a:blipFill>
            </p:spPr>
            <p:txBody>
              <a:bodyPr/>
              <a:lstStyle/>
              <a:p>
                <a:r>
                  <a:rPr lang="ja-JP" altLang="en-US">
                    <a:noFill/>
                  </a:rPr>
                  <a:t> </a:t>
                </a:r>
              </a:p>
            </p:txBody>
          </p:sp>
        </mc:Fallback>
      </mc:AlternateContent>
      <p:pic>
        <p:nvPicPr>
          <p:cNvPr id="4" name="図 3">
            <a:extLst>
              <a:ext uri="{FF2B5EF4-FFF2-40B4-BE49-F238E27FC236}">
                <a16:creationId xmlns:a16="http://schemas.microsoft.com/office/drawing/2014/main" id="{0DEEC0AA-511B-CEC4-F2FE-37EC760647FC}"/>
              </a:ext>
            </a:extLst>
          </p:cNvPr>
          <p:cNvPicPr>
            <a:picLocks noChangeAspect="1"/>
          </p:cNvPicPr>
          <p:nvPr/>
        </p:nvPicPr>
        <p:blipFill>
          <a:blip r:embed="rId4"/>
          <a:stretch>
            <a:fillRect/>
          </a:stretch>
        </p:blipFill>
        <p:spPr>
          <a:xfrm>
            <a:off x="2991677" y="5637530"/>
            <a:ext cx="4494183" cy="856035"/>
          </a:xfrm>
          <a:prstGeom prst="rect">
            <a:avLst/>
          </a:prstGeom>
        </p:spPr>
      </p:pic>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F2103A86-A773-E040-BAC2-93F3E35F936D}"/>
                  </a:ext>
                </a:extLst>
              </p:cNvPr>
              <p:cNvSpPr txBox="1"/>
              <p:nvPr/>
            </p:nvSpPr>
            <p:spPr>
              <a:xfrm>
                <a:off x="7485860" y="5702198"/>
                <a:ext cx="4329080" cy="851002"/>
              </a:xfrm>
              <a:prstGeom prst="rect">
                <a:avLst/>
              </a:prstGeom>
              <a:noFill/>
            </p:spPr>
            <p:txBody>
              <a:bodyPr wrap="square">
                <a:spAutoFit/>
              </a:bodyPr>
              <a:lstStyle/>
              <a:p>
                <a:r>
                  <a:rPr lang="ja-JP" altLang="ja-JP" sz="1600" dirty="0">
                    <a:solidFill>
                      <a:srgbClr val="7030A0"/>
                    </a:solidFill>
                  </a:rPr>
                  <a:t>先把 </a:t>
                </a:r>
                <a14:m>
                  <m:oMath xmlns:m="http://schemas.openxmlformats.org/officeDocument/2006/math">
                    <m:r>
                      <a:rPr lang="ja-JP" altLang="en-US" sz="1600" i="1">
                        <a:solidFill>
                          <a:srgbClr val="7030A0"/>
                        </a:solidFill>
                        <a:latin typeface="Cambria Math" panose="02040503050406030204" pitchFamily="18" charset="0"/>
                      </a:rPr>
                      <m:t>𝑥</m:t>
                    </m:r>
                  </m:oMath>
                </a14:m>
                <a:r>
                  <a:rPr lang="ja-JP" altLang="ja-JP" sz="1600" dirty="0">
                    <a:solidFill>
                      <a:srgbClr val="7030A0"/>
                    </a:solidFill>
                  </a:rPr>
                  <a:t>变成它的离散对数 </a:t>
                </a:r>
                <a14:m>
                  <m:oMath xmlns:m="http://schemas.openxmlformats.org/officeDocument/2006/math">
                    <m:r>
                      <a:rPr lang="ja-JP" altLang="en-US" sz="1600" i="1">
                        <a:solidFill>
                          <a:srgbClr val="7030A0"/>
                        </a:solidFill>
                        <a:latin typeface="Cambria Math" panose="02040503050406030204" pitchFamily="18" charset="0"/>
                      </a:rPr>
                      <m:t>𝑦</m:t>
                    </m:r>
                    <m:r>
                      <a:rPr lang="en-US" altLang="ja-JP" sz="1600" i="0">
                        <a:solidFill>
                          <a:srgbClr val="7030A0"/>
                        </a:solidFill>
                        <a:latin typeface="Cambria Math" panose="02040503050406030204" pitchFamily="18" charset="0"/>
                      </a:rPr>
                      <m:t>=</m:t>
                    </m:r>
                    <m:sSub>
                      <m:sSubPr>
                        <m:ctrlPr>
                          <a:rPr lang="ja-JP" altLang="en-US" sz="1600" i="1">
                            <a:solidFill>
                              <a:srgbClr val="7030A0"/>
                            </a:solidFill>
                            <a:latin typeface="Cambria Math" panose="02040503050406030204" pitchFamily="18" charset="0"/>
                          </a:rPr>
                        </m:ctrlPr>
                      </m:sSubPr>
                      <m:e>
                        <m:r>
                          <m:rPr>
                            <m:sty m:val="p"/>
                          </m:rPr>
                          <a:rPr lang="en-US" altLang="zh-CN" sz="1600" i="1">
                            <a:solidFill>
                              <a:srgbClr val="7030A0"/>
                            </a:solidFill>
                            <a:latin typeface="Cambria Math" panose="02040503050406030204" pitchFamily="18" charset="0"/>
                          </a:rPr>
                          <m:t>log</m:t>
                        </m:r>
                      </m:e>
                      <m:sub>
                        <m:r>
                          <a:rPr lang="ja-JP" altLang="en-US" sz="1600" i="1">
                            <a:solidFill>
                              <a:srgbClr val="7030A0"/>
                            </a:solidFill>
                            <a:latin typeface="Cambria Math" panose="02040503050406030204" pitchFamily="18" charset="0"/>
                          </a:rPr>
                          <m:t>𝑔</m:t>
                        </m:r>
                      </m:sub>
                    </m:sSub>
                    <m:r>
                      <a:rPr lang="ja-JP" altLang="en-US" sz="1600" i="1">
                        <a:solidFill>
                          <a:srgbClr val="7030A0"/>
                        </a:solidFill>
                        <a:latin typeface="Cambria Math" panose="02040503050406030204" pitchFamily="18" charset="0"/>
                      </a:rPr>
                      <m:t>𝑥</m:t>
                    </m:r>
                  </m:oMath>
                </a14:m>
                <a:r>
                  <a:rPr lang="ja-JP" altLang="ja-JP" sz="1600" dirty="0">
                    <a:solidFill>
                      <a:srgbClr val="7030A0"/>
                    </a:solidFill>
                  </a:rPr>
                  <a:t>，然后看 </a:t>
                </a:r>
                <a14:m>
                  <m:oMath xmlns:m="http://schemas.openxmlformats.org/officeDocument/2006/math">
                    <m:r>
                      <a:rPr lang="ja-JP" altLang="en-US" sz="1600" i="1">
                        <a:solidFill>
                          <a:srgbClr val="7030A0"/>
                        </a:solidFill>
                        <a:latin typeface="Cambria Math" panose="02040503050406030204" pitchFamily="18" charset="0"/>
                      </a:rPr>
                      <m:t>𝑦</m:t>
                    </m:r>
                  </m:oMath>
                </a14:m>
                <a:r>
                  <a:rPr lang="ja-JP" altLang="ja-JP" sz="1600" dirty="0">
                    <a:solidFill>
                      <a:srgbClr val="7030A0"/>
                    </a:solidFill>
                  </a:rPr>
                  <a:t>是否落在圆周上的某个半圆区间里。落在这个半圆里就标记为 </a:t>
                </a:r>
                <a14:m>
                  <m:oMath xmlns:m="http://schemas.openxmlformats.org/officeDocument/2006/math">
                    <m:r>
                      <a:rPr lang="en-US" altLang="ja-JP" sz="1600">
                        <a:solidFill>
                          <a:srgbClr val="7030A0"/>
                        </a:solidFill>
                        <a:latin typeface="Cambria Math" panose="02040503050406030204" pitchFamily="18" charset="0"/>
                      </a:rPr>
                      <m:t>+</m:t>
                    </m:r>
                    <m:r>
                      <a:rPr lang="en-US" altLang="ja-JP" sz="1600" i="0">
                        <a:solidFill>
                          <a:srgbClr val="7030A0"/>
                        </a:solidFill>
                        <a:latin typeface="Cambria Math" panose="02040503050406030204" pitchFamily="18" charset="0"/>
                      </a:rPr>
                      <m:t>1</m:t>
                    </m:r>
                  </m:oMath>
                </a14:m>
                <a:r>
                  <a:rPr lang="ja-JP" altLang="ja-JP" sz="1600" dirty="0">
                    <a:solidFill>
                      <a:srgbClr val="7030A0"/>
                    </a:solidFill>
                  </a:rPr>
                  <a:t>，不在就标记为 </a:t>
                </a:r>
                <a14:m>
                  <m:oMath xmlns:m="http://schemas.openxmlformats.org/officeDocument/2006/math">
                    <m:r>
                      <a:rPr lang="ja-JP" altLang="en-US" sz="1600">
                        <a:solidFill>
                          <a:srgbClr val="7030A0"/>
                        </a:solidFill>
                        <a:latin typeface="Cambria Math" panose="02040503050406030204" pitchFamily="18" charset="0"/>
                      </a:rPr>
                      <m:t>−</m:t>
                    </m:r>
                    <m:r>
                      <a:rPr lang="en-US" altLang="ja-JP" sz="1600" i="0">
                        <a:solidFill>
                          <a:srgbClr val="7030A0"/>
                        </a:solidFill>
                        <a:latin typeface="Cambria Math" panose="02040503050406030204" pitchFamily="18" charset="0"/>
                      </a:rPr>
                      <m:t>1</m:t>
                    </m:r>
                  </m:oMath>
                </a14:m>
                <a:r>
                  <a:rPr lang="ja-JP" altLang="ja-JP" sz="1600" dirty="0">
                    <a:solidFill>
                      <a:srgbClr val="7030A0"/>
                    </a:solidFill>
                  </a:rPr>
                  <a:t>。</a:t>
                </a:r>
                <a:endParaRPr lang="ja-JP" altLang="en-US" sz="1600" dirty="0">
                  <a:solidFill>
                    <a:srgbClr val="7030A0"/>
                  </a:solidFill>
                </a:endParaRPr>
              </a:p>
            </p:txBody>
          </p:sp>
        </mc:Choice>
        <mc:Fallback>
          <p:sp>
            <p:nvSpPr>
              <p:cNvPr id="6" name="テキスト ボックス 5">
                <a:extLst>
                  <a:ext uri="{FF2B5EF4-FFF2-40B4-BE49-F238E27FC236}">
                    <a16:creationId xmlns:a16="http://schemas.microsoft.com/office/drawing/2014/main" id="{F2103A86-A773-E040-BAC2-93F3E35F936D}"/>
                  </a:ext>
                </a:extLst>
              </p:cNvPr>
              <p:cNvSpPr txBox="1">
                <a:spLocks noRot="1" noChangeAspect="1" noMove="1" noResize="1" noEditPoints="1" noAdjustHandles="1" noChangeArrowheads="1" noChangeShapeType="1" noTextEdit="1"/>
              </p:cNvSpPr>
              <p:nvPr/>
            </p:nvSpPr>
            <p:spPr>
              <a:xfrm>
                <a:off x="7485860" y="5702198"/>
                <a:ext cx="4329080" cy="851002"/>
              </a:xfrm>
              <a:prstGeom prst="rect">
                <a:avLst/>
              </a:prstGeom>
              <a:blipFill>
                <a:blip r:embed="rId5"/>
                <a:stretch>
                  <a:fillRect l="-845" t="-3571" b="-7857"/>
                </a:stretch>
              </a:blipFill>
            </p:spPr>
            <p:txBody>
              <a:bodyPr/>
              <a:lstStyle/>
              <a:p>
                <a:r>
                  <a:rPr lang="ja-JP" altLang="en-US">
                    <a:noFill/>
                  </a:rPr>
                  <a:t> </a:t>
                </a:r>
              </a:p>
            </p:txBody>
          </p:sp>
        </mc:Fallback>
      </mc:AlternateContent>
      <p:pic>
        <p:nvPicPr>
          <p:cNvPr id="8" name="図 7">
            <a:extLst>
              <a:ext uri="{FF2B5EF4-FFF2-40B4-BE49-F238E27FC236}">
                <a16:creationId xmlns:a16="http://schemas.microsoft.com/office/drawing/2014/main" id="{F529FD2B-A522-7443-36EA-7E4A7E9ACFC8}"/>
              </a:ext>
            </a:extLst>
          </p:cNvPr>
          <p:cNvPicPr>
            <a:picLocks noChangeAspect="1"/>
          </p:cNvPicPr>
          <p:nvPr/>
        </p:nvPicPr>
        <p:blipFill>
          <a:blip r:embed="rId6"/>
          <a:stretch>
            <a:fillRect/>
          </a:stretch>
        </p:blipFill>
        <p:spPr>
          <a:xfrm>
            <a:off x="286668" y="6259002"/>
            <a:ext cx="2705009" cy="491820"/>
          </a:xfrm>
          <a:prstGeom prst="rect">
            <a:avLst/>
          </a:prstGeom>
        </p:spPr>
      </p:pic>
    </p:spTree>
    <p:extLst>
      <p:ext uri="{BB962C8B-B14F-4D97-AF65-F5344CB8AC3E}">
        <p14:creationId xmlns:p14="http://schemas.microsoft.com/office/powerpoint/2010/main" val="12305407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B6A69-BAAB-A3B1-8EC7-C15D11B1135A}"/>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7DC10878-0C0E-9CA1-309E-6B58638C812C}"/>
              </a:ext>
            </a:extLst>
          </p:cNvPr>
          <p:cNvSpPr>
            <a:spLocks noGrp="1" noChangeArrowheads="1"/>
          </p:cNvSpPr>
          <p:nvPr>
            <p:ph type="title"/>
          </p:nvPr>
        </p:nvSpPr>
        <p:spPr/>
        <p:txBody>
          <a:bodyPr/>
          <a:lstStyle/>
          <a:p>
            <a:r>
              <a:rPr lang="ja-JP" altLang="ja-JP" dirty="0"/>
              <a:t>discrete logarithm problem</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219F84C0-3982-6F3B-5AFD-6937B04C0A9D}"/>
                  </a:ext>
                </a:extLst>
              </p:cNvPr>
              <p:cNvSpPr>
                <a:spLocks noGrp="1"/>
              </p:cNvSpPr>
              <p:nvPr>
                <p:ph idx="1"/>
              </p:nvPr>
            </p:nvSpPr>
            <p:spPr>
              <a:xfrm>
                <a:off x="106680" y="990600"/>
                <a:ext cx="11877040" cy="5268402"/>
              </a:xfrm>
            </p:spPr>
            <p:txBody>
              <a:bodyPr/>
              <a:lstStyle/>
              <a:p>
                <a:pPr marL="0" indent="0">
                  <a:lnSpc>
                    <a:spcPct val="120000"/>
                  </a:lnSpc>
                  <a:buNone/>
                </a:pPr>
                <a:r>
                  <a:rPr lang="ja-JP" altLang="ja-JP" dirty="0"/>
                  <a:t>经典算法看到的是 </a:t>
                </a:r>
                <a14:m>
                  <m:oMath xmlns:m="http://schemas.openxmlformats.org/officeDocument/2006/math">
                    <m:r>
                      <a:rPr lang="ja-JP" altLang="en-US" i="1"/>
                      <m:t>𝑥</m:t>
                    </m:r>
                  </m:oMath>
                </a14:m>
                <a:r>
                  <a:rPr lang="ja-JP" altLang="ja-JP" dirty="0"/>
                  <a:t>，不是 </a:t>
                </a:r>
                <a14:m>
                  <m:oMath xmlns:m="http://schemas.openxmlformats.org/officeDocument/2006/math">
                    <m:r>
                      <a:rPr lang="ja-JP" altLang="en-US" i="1"/>
                      <m:t>𝑦</m:t>
                    </m:r>
                    <m:r>
                      <a:rPr lang="en-US" altLang="ja-JP"/>
                      <m:t>=</m:t>
                    </m:r>
                    <m:sSub>
                      <m:sSubPr>
                        <m:ctrlPr>
                          <a:rPr lang="ja-JP" altLang="en-US" i="1"/>
                        </m:ctrlPr>
                      </m:sSubPr>
                      <m:e>
                        <m:r>
                          <m:rPr>
                            <m:sty m:val="p"/>
                          </m:rPr>
                          <a:rPr lang="en-US" altLang="zh-CN" i="1">
                            <a:latin typeface="Cambria Math" panose="02040503050406030204" pitchFamily="18" charset="0"/>
                          </a:rPr>
                          <m:t>log</m:t>
                        </m:r>
                      </m:e>
                      <m:sub>
                        <m:r>
                          <a:rPr lang="ja-JP" altLang="en-US" i="1"/>
                          <m:t>𝑔</m:t>
                        </m:r>
                      </m:sub>
                    </m:sSub>
                    <m:r>
                      <a:rPr lang="ja-JP" altLang="en-US" i="1"/>
                      <m:t>𝑥</m:t>
                    </m:r>
                  </m:oMath>
                </a14:m>
                <a:r>
                  <a:rPr lang="ja-JP" altLang="ja-JP" dirty="0"/>
                  <a:t>。</a:t>
                </a:r>
                <a:r>
                  <a:rPr lang="en-US" altLang="ja-JP" dirty="0"/>
                  <a:t> </a:t>
                </a:r>
                <a:r>
                  <a:rPr lang="ja-JP" altLang="ja-JP" dirty="0"/>
                  <a:t>而从 </a:t>
                </a:r>
                <a14:m>
                  <m:oMath xmlns:m="http://schemas.openxmlformats.org/officeDocument/2006/math">
                    <m:r>
                      <a:rPr lang="ja-JP" altLang="en-US" i="1"/>
                      <m:t>𝑥</m:t>
                    </m:r>
                  </m:oMath>
                </a14:m>
                <a:r>
                  <a:rPr lang="ja-JP" altLang="ja-JP" dirty="0"/>
                  <a:t>恢复 </a:t>
                </a:r>
                <a14:m>
                  <m:oMath xmlns:m="http://schemas.openxmlformats.org/officeDocument/2006/math">
                    <m:r>
                      <a:rPr lang="ja-JP" altLang="en-US" i="1"/>
                      <m:t>𝑦</m:t>
                    </m:r>
                  </m:oMath>
                </a14:m>
                <a:r>
                  <a:rPr lang="ja-JP" altLang="ja-JP" dirty="0"/>
                  <a:t>就是离散对数问题。</a:t>
                </a:r>
              </a:p>
              <a:p>
                <a:pPr marL="0" indent="0">
                  <a:lnSpc>
                    <a:spcPct val="120000"/>
                  </a:lnSpc>
                  <a:buNone/>
                </a:pPr>
                <a:r>
                  <a:rPr lang="ja-JP" altLang="ja-JP" dirty="0"/>
                  <a:t>真实规律是：</a:t>
                </a:r>
                <a14:m>
                  <m:oMath xmlns:m="http://schemas.openxmlformats.org/officeDocument/2006/math">
                    <m:sSub>
                      <m:sSubPr>
                        <m:ctrlPr>
                          <a:rPr lang="ja-JP" altLang="en-US"/>
                        </m:ctrlPr>
                      </m:sSubPr>
                      <m:e>
                        <m:r>
                          <m:rPr>
                            <m:sty m:val="p"/>
                          </m:rPr>
                          <a:rPr lang="en-US" altLang="ja-JP" b="0" i="1" smtClean="0">
                            <a:latin typeface="Cambria Math" panose="02040503050406030204" pitchFamily="18" charset="0"/>
                          </a:rPr>
                          <m:t>log</m:t>
                        </m:r>
                      </m:e>
                      <m:sub>
                        <m:r>
                          <a:rPr lang="ja-JP" altLang="en-US" i="1"/>
                          <m:t>𝑔</m:t>
                        </m:r>
                      </m:sub>
                    </m:sSub>
                    <m:r>
                      <a:rPr lang="ja-JP" altLang="en-US" i="1"/>
                      <m:t>𝑥</m:t>
                    </m:r>
                    <m:r>
                      <m:rPr>
                        <m:nor/>
                      </m:rPr>
                      <a:rPr lang="ja-JP" altLang="en-US" i="1"/>
                      <m:t> </m:t>
                    </m:r>
                    <m:r>
                      <m:rPr>
                        <m:nor/>
                      </m:rPr>
                      <a:rPr lang="ja-JP" altLang="en-US"/>
                      <m:t>落在哪个区间</m:t>
                    </m:r>
                    <m:r>
                      <m:rPr>
                        <m:nor/>
                      </m:rPr>
                      <a:rPr lang="ja-JP" altLang="en-US"/>
                      <m:t>？</m:t>
                    </m:r>
                  </m:oMath>
                </a14:m>
                <a:r>
                  <a:rPr lang="ja-JP" altLang="ja-JP" dirty="0"/>
                  <a:t>但经典算法只能看到：</a:t>
                </a:r>
                <a14:m>
                  <m:oMath xmlns:m="http://schemas.openxmlformats.org/officeDocument/2006/math">
                    <m:r>
                      <a:rPr lang="ja-JP" altLang="en-US" i="1"/>
                      <m:t>𝑥</m:t>
                    </m:r>
                    <m:r>
                      <a:rPr lang="en-US" altLang="ja-JP"/>
                      <m:t>=</m:t>
                    </m:r>
                    <m:sSup>
                      <m:sSupPr>
                        <m:ctrlPr>
                          <a:rPr lang="ja-JP" altLang="en-US" i="1"/>
                        </m:ctrlPr>
                      </m:sSupPr>
                      <m:e>
                        <m:r>
                          <a:rPr lang="ja-JP" altLang="en-US" i="1"/>
                          <m:t>𝑔</m:t>
                        </m:r>
                      </m:e>
                      <m:sup>
                        <m:r>
                          <a:rPr lang="ja-JP" altLang="en-US" i="1"/>
                          <m:t>𝑦</m:t>
                        </m:r>
                      </m:sup>
                    </m:sSup>
                    <m:r>
                      <a:rPr lang="ja-JP" altLang="en-US"/>
                      <m:t>  </m:t>
                    </m:r>
                    <m:d>
                      <m:dPr>
                        <m:ctrlPr>
                          <a:rPr lang="ja-JP" altLang="en-US" i="1"/>
                        </m:ctrlPr>
                      </m:dPr>
                      <m:e>
                        <m:r>
                          <m:rPr>
                            <m:sty m:val="p"/>
                          </m:rPr>
                          <a:rPr lang="en-US" altLang="ja-JP"/>
                          <m:t>mod</m:t>
                        </m:r>
                        <m:r>
                          <a:rPr lang="en-US" altLang="ja-JP"/>
                          <m:t> </m:t>
                        </m:r>
                        <m:r>
                          <a:rPr lang="ja-JP" altLang="en-US" i="1"/>
                          <m:t>𝑝</m:t>
                        </m:r>
                      </m:e>
                    </m:d>
                    <m:r>
                      <a:rPr lang="en-US" altLang="ja-JP"/>
                      <m:t>.</m:t>
                    </m:r>
                  </m:oMath>
                </a14:m>
                <a:endParaRPr lang="en-US" altLang="ja-JP" dirty="0"/>
              </a:p>
              <a:p>
                <a:pPr marL="0" indent="0">
                  <a:lnSpc>
                    <a:spcPct val="120000"/>
                  </a:lnSpc>
                  <a:buNone/>
                </a:pPr>
                <a:r>
                  <a:rPr lang="ja-JP" altLang="ja-JP" dirty="0"/>
                  <a:t>指数映射 </a:t>
                </a:r>
                <a14:m>
                  <m:oMath xmlns:m="http://schemas.openxmlformats.org/officeDocument/2006/math">
                    <m:r>
                      <a:rPr lang="ja-JP" altLang="en-US" i="1"/>
                      <m:t>𝑦</m:t>
                    </m:r>
                    <m:r>
                      <a:rPr lang="ja-JP" altLang="en-US"/>
                      <m:t>↦</m:t>
                    </m:r>
                    <m:sSup>
                      <m:sSupPr>
                        <m:ctrlPr>
                          <a:rPr lang="ja-JP" altLang="en-US" i="1"/>
                        </m:ctrlPr>
                      </m:sSupPr>
                      <m:e>
                        <m:r>
                          <a:rPr lang="ja-JP" altLang="en-US" i="1"/>
                          <m:t>𝑔</m:t>
                        </m:r>
                      </m:e>
                      <m:sup>
                        <m:r>
                          <a:rPr lang="ja-JP" altLang="en-US" i="1"/>
                          <m:t>𝑦</m:t>
                        </m:r>
                      </m:sup>
                    </m:sSup>
                    <m:r>
                      <a:rPr lang="ja-JP" altLang="en-US"/>
                      <m:t>  </m:t>
                    </m:r>
                    <m:d>
                      <m:dPr>
                        <m:ctrlPr>
                          <a:rPr lang="ja-JP" altLang="en-US" i="1"/>
                        </m:ctrlPr>
                      </m:dPr>
                      <m:e>
                        <m:r>
                          <m:rPr>
                            <m:sty m:val="p"/>
                          </m:rPr>
                          <a:rPr lang="en-US" altLang="ja-JP"/>
                          <m:t>mod</m:t>
                        </m:r>
                        <m:r>
                          <a:rPr lang="en-US" altLang="ja-JP"/>
                          <m:t> </m:t>
                        </m:r>
                        <m:r>
                          <a:rPr lang="ja-JP" altLang="en-US" i="1"/>
                          <m:t>𝑝</m:t>
                        </m:r>
                      </m:e>
                    </m:d>
                  </m:oMath>
                </a14:m>
                <a:r>
                  <a:rPr lang="ja-JP" altLang="ja-JP" dirty="0"/>
                  <a:t>会把原本连续的区间打散到 </a:t>
                </a:r>
                <a14:m>
                  <m:oMath xmlns:m="http://schemas.openxmlformats.org/officeDocument/2006/math">
                    <m:sSubSup>
                      <m:sSubSupPr>
                        <m:ctrlPr>
                          <a:rPr lang="ja-JP" altLang="en-US"/>
                        </m:ctrlPr>
                      </m:sSubSupPr>
                      <m:e>
                        <m:r>
                          <a:rPr lang="en-US" altLang="ja-JP"/>
                          <m:t>ℤ</m:t>
                        </m:r>
                      </m:e>
                      <m:sub>
                        <m:r>
                          <a:rPr lang="ja-JP" altLang="en-US" i="1"/>
                          <m:t>𝑝</m:t>
                        </m:r>
                      </m:sub>
                      <m:sup>
                        <m:r>
                          <a:rPr lang="ja-JP" altLang="en-US"/>
                          <m:t>∗</m:t>
                        </m:r>
                      </m:sup>
                    </m:sSubSup>
                  </m:oMath>
                </a14:m>
                <a:r>
                  <a:rPr lang="ja-JP" altLang="ja-JP" dirty="0"/>
                  <a:t>中。于是，在原始 </a:t>
                </a:r>
                <a14:m>
                  <m:oMath xmlns:m="http://schemas.openxmlformats.org/officeDocument/2006/math">
                    <m:r>
                      <a:rPr lang="ja-JP" altLang="en-US" i="1"/>
                      <m:t>𝑥</m:t>
                    </m:r>
                  </m:oMath>
                </a14:m>
                <a:r>
                  <a:rPr lang="ja-JP" altLang="ja-JP" dirty="0"/>
                  <a:t>-空间里，正负标签看起来像被随机散布了一样。</a:t>
                </a:r>
                <a:endParaRPr lang="en-US" altLang="ja-JP" dirty="0"/>
              </a:p>
              <a:p>
                <a:pPr marL="0" indent="0">
                  <a:lnSpc>
                    <a:spcPct val="120000"/>
                  </a:lnSpc>
                  <a:buNone/>
                </a:pPr>
                <a:endParaRPr lang="en-US" altLang="ja-JP" dirty="0"/>
              </a:p>
              <a:p>
                <a:pPr marL="0" indent="0">
                  <a:lnSpc>
                    <a:spcPct val="120000"/>
                  </a:lnSpc>
                  <a:buNone/>
                </a:pPr>
                <a:r>
                  <a:rPr lang="ja-JP" altLang="ja-JP" dirty="0"/>
                  <a:t>在原始数据空间中，样本看起来像随机标记，不能被高效经典算法学习；形式化结果是，在 DLP 经典困难的假设下，没有高效经典学习器能达到比随机猜测多一个逆多项式优势的准确率</a:t>
                </a:r>
                <a:endParaRPr lang="en-US" altLang="ja-JP" dirty="0"/>
              </a:p>
              <a:p>
                <a:pPr marL="0" indent="0">
                  <a:lnSpc>
                    <a:spcPct val="120000"/>
                  </a:lnSpc>
                  <a:buNone/>
                </a:pPr>
                <a:r>
                  <a:rPr lang="ja-JP" altLang="ja-JP" b="1" dirty="0"/>
                  <a:t>量子计算机为什么能看出结构？</a:t>
                </a:r>
              </a:p>
              <a:p>
                <a:pPr>
                  <a:lnSpc>
                    <a:spcPct val="120000"/>
                  </a:lnSpc>
                </a:pPr>
                <a:r>
                  <a:rPr lang="ja-JP" altLang="ja-JP" dirty="0"/>
                  <a:t>量子计算机可以用 Shor 算法求离散对数。如果量子计算机能把每个输入 </a:t>
                </a:r>
                <a14:m>
                  <m:oMath xmlns:m="http://schemas.openxmlformats.org/officeDocument/2006/math">
                    <m:r>
                      <a:rPr lang="ja-JP" altLang="en-US" i="1"/>
                      <m:t>𝑥</m:t>
                    </m:r>
                  </m:oMath>
                </a14:m>
                <a:r>
                  <a:rPr lang="ja-JP" altLang="ja-JP" dirty="0"/>
                  <a:t>变成：</a:t>
                </a:r>
                <a14:m>
                  <m:oMath xmlns:m="http://schemas.openxmlformats.org/officeDocument/2006/math">
                    <m:r>
                      <a:rPr lang="ja-JP" altLang="en-US" i="1"/>
                      <m:t>𝑦</m:t>
                    </m:r>
                    <m:r>
                      <a:rPr lang="en-US" altLang="ja-JP"/>
                      <m:t>=</m:t>
                    </m:r>
                    <m:sSub>
                      <m:sSubPr>
                        <m:ctrlPr>
                          <a:rPr lang="ja-JP" altLang="en-US" i="1"/>
                        </m:ctrlPr>
                      </m:sSubPr>
                      <m:e>
                        <m:r>
                          <m:rPr>
                            <m:sty m:val="p"/>
                          </m:rPr>
                          <a:rPr lang="en-US" altLang="ja-JP" b="0" i="1" smtClean="0">
                            <a:latin typeface="Cambria Math" panose="02040503050406030204" pitchFamily="18" charset="0"/>
                          </a:rPr>
                          <m:t>log</m:t>
                        </m:r>
                      </m:e>
                      <m:sub>
                        <m:r>
                          <a:rPr lang="ja-JP" altLang="en-US" i="1"/>
                          <m:t>𝑔</m:t>
                        </m:r>
                      </m:sub>
                    </m:sSub>
                    <m:r>
                      <a:rPr lang="ja-JP" altLang="en-US" i="1"/>
                      <m:t>𝑥</m:t>
                    </m:r>
                    <m:r>
                      <a:rPr lang="en-US" altLang="ja-JP"/>
                      <m:t>,</m:t>
                    </m:r>
                  </m:oMath>
                </a14:m>
                <a:endParaRPr lang="en-US" altLang="ja-JP" dirty="0"/>
              </a:p>
              <a:p>
                <a:pPr>
                  <a:lnSpc>
                    <a:spcPct val="120000"/>
                  </a:lnSpc>
                </a:pPr>
                <a:r>
                  <a:rPr lang="ja-JP" altLang="ja-JP" dirty="0"/>
                  <a:t>那么问题立即变成一维圆周上的区间聚类问题。论文也指出，使用离散对数的量子算法后，这个 concept class 在 BQP 中可多项式时间学习；取 log 以后，训练样本聚成两个区间，一个区间标记 </a:t>
                </a:r>
                <a14:m>
                  <m:oMath xmlns:m="http://schemas.openxmlformats.org/officeDocument/2006/math">
                    <m:r>
                      <a:rPr lang="en-US" altLang="ja-JP"/>
                      <m:t>+</m:t>
                    </m:r>
                    <m:r>
                      <a:rPr lang="en-US" altLang="ja-JP"/>
                      <m:t>1</m:t>
                    </m:r>
                  </m:oMath>
                </a14:m>
                <a:r>
                  <a:rPr lang="ja-JP" altLang="ja-JP" dirty="0"/>
                  <a:t>另一个区间标记 </a:t>
                </a:r>
                <a14:m>
                  <m:oMath xmlns:m="http://schemas.openxmlformats.org/officeDocument/2006/math">
                    <m:r>
                      <a:rPr lang="ja-JP" altLang="en-US"/>
                      <m:t>−</m:t>
                    </m:r>
                    <m:r>
                      <a:rPr lang="en-US" altLang="ja-JP"/>
                      <m:t>1</m:t>
                    </m:r>
                  </m:oMath>
                </a14:m>
                <a:r>
                  <a:rPr lang="ja-JP" altLang="ja-JP" dirty="0"/>
                  <a:t>。</a:t>
                </a:r>
                <a:endParaRPr lang="en-US" altLang="ja-JP" dirty="0"/>
              </a:p>
              <a:p>
                <a:pPr>
                  <a:lnSpc>
                    <a:spcPct val="120000"/>
                  </a:lnSpc>
                </a:pPr>
                <a:r>
                  <a:rPr lang="ja-JP" altLang="ja-JP" dirty="0"/>
                  <a:t>这篇论文更有意思的地方是：它不仅说“用 Shor 算法直接算 log 然后分类”，而是构造了一个</a:t>
                </a:r>
                <a:r>
                  <a:rPr lang="ja-JP" altLang="ja-JP" b="1" dirty="0"/>
                  <a:t>量子特征映射</a:t>
                </a:r>
                <a:r>
                  <a:rPr lang="ja-JP" altLang="ja-JP" dirty="0"/>
                  <a:t>，让普通 SVM 通过量子核估计完成学习。</a:t>
                </a:r>
              </a:p>
              <a:p>
                <a:pPr marL="0" indent="0">
                  <a:lnSpc>
                    <a:spcPct val="120000"/>
                  </a:lnSpc>
                  <a:buNone/>
                </a:pPr>
                <a:endParaRPr lang="ja-JP" altLang="ja-JP" dirty="0"/>
              </a:p>
            </p:txBody>
          </p:sp>
        </mc:Choice>
        <mc:Fallback>
          <p:sp>
            <p:nvSpPr>
              <p:cNvPr id="12" name="コンテンツ プレースホルダー 2">
                <a:extLst>
                  <a:ext uri="{FF2B5EF4-FFF2-40B4-BE49-F238E27FC236}">
                    <a16:creationId xmlns:a16="http://schemas.microsoft.com/office/drawing/2014/main" id="{219F84C0-3982-6F3B-5AFD-6937B04C0A9D}"/>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b="-1261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139953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A4785-198A-ACDA-220F-4DF312F6AA05}"/>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A3FE418E-8AC0-EC91-E593-31F996A0997D}"/>
              </a:ext>
            </a:extLst>
          </p:cNvPr>
          <p:cNvSpPr>
            <a:spLocks noGrp="1" noChangeArrowheads="1"/>
          </p:cNvSpPr>
          <p:nvPr>
            <p:ph type="title"/>
          </p:nvPr>
        </p:nvSpPr>
        <p:spPr/>
        <p:txBody>
          <a:bodyPr/>
          <a:lstStyle/>
          <a:p>
            <a:r>
              <a:rPr lang="ja-JP" altLang="ja-JP" dirty="0"/>
              <a:t>Liu–Arunachalam–Temme：严格、鲁棒的量子监督学习加速</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5984EAB2-CC7F-A372-C3C5-57938A482F7C}"/>
                  </a:ext>
                </a:extLst>
              </p:cNvPr>
              <p:cNvSpPr>
                <a:spLocks noGrp="1"/>
              </p:cNvSpPr>
              <p:nvPr>
                <p:ph idx="1"/>
              </p:nvPr>
            </p:nvSpPr>
            <p:spPr>
              <a:xfrm>
                <a:off x="106680" y="990600"/>
                <a:ext cx="11877040" cy="5268402"/>
              </a:xfrm>
            </p:spPr>
            <p:txBody>
              <a:bodyPr/>
              <a:lstStyle/>
              <a:p>
                <a:pPr marL="0" indent="0">
                  <a:lnSpc>
                    <a:spcPct val="110000"/>
                  </a:lnSpc>
                  <a:buNone/>
                </a:pPr>
                <a:r>
                  <a:rPr lang="ja-JP" altLang="ja-JP" dirty="0"/>
                  <a:t>构造一个量子特征映射：</a:t>
                </a:r>
                <a14:m>
                  <m:oMath xmlns:m="http://schemas.openxmlformats.org/officeDocument/2006/math">
                    <m:d>
                      <m:dPr>
                        <m:begChr m:val=""/>
                        <m:endChr m:val="⟩"/>
                        <m:ctrlPr>
                          <a:rPr lang="ja-JP" altLang="en-US"/>
                        </m:ctrlPr>
                      </m:dPr>
                      <m:e>
                        <m:r>
                          <a:rPr lang="ja-JP" altLang="en-US" i="1"/>
                          <m:t>𝑥</m:t>
                        </m:r>
                        <m:r>
                          <a:rPr lang="ja-JP" altLang="en-US"/>
                          <m:t>↦∣</m:t>
                        </m:r>
                        <m:r>
                          <a:rPr lang="ja-JP" altLang="en-US" i="1"/>
                          <m:t>𝜙</m:t>
                        </m:r>
                        <m:d>
                          <m:dPr>
                            <m:ctrlPr>
                              <a:rPr lang="ja-JP" altLang="en-US" i="1"/>
                            </m:ctrlPr>
                          </m:dPr>
                          <m:e>
                            <m:r>
                              <a:rPr lang="ja-JP" altLang="en-US" i="1"/>
                              <m:t>𝑥</m:t>
                            </m:r>
                          </m:e>
                        </m:d>
                      </m:e>
                    </m:d>
                    <m:r>
                      <a:rPr lang="en-US" altLang="ja-JP"/>
                      <m:t>.</m:t>
                    </m:r>
                  </m:oMath>
                </a14:m>
                <a:r>
                  <a:rPr lang="en-US" altLang="ja-JP" dirty="0"/>
                  <a:t> </a:t>
                </a:r>
                <a:r>
                  <a:rPr lang="ja-JP" altLang="ja-JP" dirty="0"/>
                  <a:t>这个态可以直观理解为：</a:t>
                </a:r>
                <a:r>
                  <a:rPr lang="ja-JP" altLang="ja-JP" b="1" dirty="0"/>
                  <a:t>从 </a:t>
                </a:r>
                <a14:m>
                  <m:oMath xmlns:m="http://schemas.openxmlformats.org/officeDocument/2006/math">
                    <m:sSub>
                      <m:sSubPr>
                        <m:ctrlPr>
                          <a:rPr lang="ja-JP" altLang="en-US"/>
                        </m:ctrlPr>
                      </m:sSubPr>
                      <m:e>
                        <m:r>
                          <m:rPr>
                            <m:sty m:val="p"/>
                          </m:rPr>
                          <a:rPr lang="en-US" altLang="ja-JP" b="0" i="1" smtClean="0">
                            <a:latin typeface="Cambria Math" panose="02040503050406030204" pitchFamily="18" charset="0"/>
                          </a:rPr>
                          <m:t>log</m:t>
                        </m:r>
                      </m:e>
                      <m:sub>
                        <m:r>
                          <a:rPr lang="ja-JP" altLang="en-US" i="1"/>
                          <m:t>𝑔</m:t>
                        </m:r>
                      </m:sub>
                    </m:sSub>
                    <m:r>
                      <a:rPr lang="ja-JP" altLang="en-US" i="1"/>
                      <m:t>𝑥</m:t>
                    </m:r>
                  </m:oMath>
                </a14:m>
                <a:r>
                  <a:rPr lang="ja-JP" altLang="ja-JP" b="1" dirty="0"/>
                  <a:t>开始，在 log 空间中取一个连续区间，然后把这个区间做成量子叠加态。</a:t>
                </a:r>
                <a:endParaRPr lang="ja-JP" altLang="ja-JP" dirty="0"/>
              </a:p>
              <a:p>
                <a:pPr>
                  <a:lnSpc>
                    <a:spcPct val="110000"/>
                  </a:lnSpc>
                </a:pPr>
                <a:r>
                  <a:rPr lang="ja-JP" altLang="ja-JP" dirty="0"/>
                  <a:t>每个 </a:t>
                </a:r>
                <a14:m>
                  <m:oMath xmlns:m="http://schemas.openxmlformats.org/officeDocument/2006/math">
                    <m:r>
                      <a:rPr lang="ja-JP" altLang="en-US" i="1"/>
                      <m:t>𝑥</m:t>
                    </m:r>
                    <m:r>
                      <a:rPr lang="ja-JP" altLang="en-US"/>
                      <m:t>∈</m:t>
                    </m:r>
                    <m:sSubSup>
                      <m:sSubSupPr>
                        <m:ctrlPr>
                          <a:rPr lang="ja-JP" altLang="en-US" i="1"/>
                        </m:ctrlPr>
                      </m:sSubSupPr>
                      <m:e>
                        <m:r>
                          <a:rPr lang="en-US" altLang="ja-JP"/>
                          <m:t>ℤ</m:t>
                        </m:r>
                      </m:e>
                      <m:sub>
                        <m:r>
                          <a:rPr lang="ja-JP" altLang="en-US" i="1"/>
                          <m:t>𝑝</m:t>
                        </m:r>
                      </m:sub>
                      <m:sup>
                        <m:r>
                          <a:rPr lang="ja-JP" altLang="en-US"/>
                          <m:t>∗</m:t>
                        </m:r>
                      </m:sup>
                    </m:sSubSup>
                  </m:oMath>
                </a14:m>
                <a:r>
                  <a:rPr lang="ja-JP" altLang="ja-JP" dirty="0"/>
                  <a:t>被映射到量子态 </a:t>
                </a:r>
                <a14:m>
                  <m:oMath xmlns:m="http://schemas.openxmlformats.org/officeDocument/2006/math">
                    <m:d>
                      <m:dPr>
                        <m:begChr m:val=""/>
                        <m:endChr m:val="⟩"/>
                        <m:ctrlPr>
                          <a:rPr lang="ja-JP" altLang="en-US"/>
                        </m:ctrlPr>
                      </m:dPr>
                      <m:e>
                        <m:r>
                          <a:rPr lang="ja-JP" altLang="en-US"/>
                          <m:t>∣</m:t>
                        </m:r>
                        <m:r>
                          <a:rPr lang="ja-JP" altLang="en-US" i="1"/>
                          <m:t>𝜙</m:t>
                        </m:r>
                        <m:d>
                          <m:dPr>
                            <m:ctrlPr>
                              <a:rPr lang="ja-JP" altLang="en-US" i="1"/>
                            </m:ctrlPr>
                          </m:dPr>
                          <m:e>
                            <m:r>
                              <a:rPr lang="ja-JP" altLang="en-US" i="1"/>
                              <m:t>𝑥</m:t>
                            </m:r>
                          </m:e>
                        </m:d>
                      </m:e>
                    </m:d>
                  </m:oMath>
                </a14:m>
                <a:r>
                  <a:rPr lang="ja-JP" altLang="ja-JP" dirty="0"/>
                  <a:t>，该量子态对应于从 </a:t>
                </a:r>
                <a14:m>
                  <m:oMath xmlns:m="http://schemas.openxmlformats.org/officeDocument/2006/math">
                    <m:sSub>
                      <m:sSubPr>
                        <m:ctrlPr>
                          <a:rPr lang="ja-JP" altLang="en-US"/>
                        </m:ctrlPr>
                      </m:sSubPr>
                      <m:e>
                        <m:r>
                          <m:rPr>
                            <m:sty m:val="p"/>
                          </m:rPr>
                          <a:rPr lang="en-US" altLang="ja-JP" b="0" i="1" smtClean="0">
                            <a:latin typeface="Cambria Math" panose="02040503050406030204" pitchFamily="18" charset="0"/>
                          </a:rPr>
                          <m:t>log</m:t>
                        </m:r>
                      </m:e>
                      <m:sub>
                        <m:r>
                          <a:rPr lang="ja-JP" altLang="en-US" i="1"/>
                          <m:t>𝑔</m:t>
                        </m:r>
                      </m:sub>
                    </m:sSub>
                    <m:r>
                      <a:rPr lang="ja-JP" altLang="en-US" i="1"/>
                      <m:t>𝑥</m:t>
                    </m:r>
                  </m:oMath>
                </a14:m>
                <a:r>
                  <a:rPr lang="ja-JP" altLang="ja-JP" dirty="0"/>
                  <a:t>开始的一个 log 空间区间的均匀叠加。</a:t>
                </a:r>
                <a:endParaRPr lang="en-US" altLang="ja-JP" dirty="0"/>
              </a:p>
              <a:p>
                <a:pPr>
                  <a:lnSpc>
                    <a:spcPct val="110000"/>
                  </a:lnSpc>
                </a:pPr>
                <a:endParaRPr lang="en-US" altLang="ja-JP" dirty="0"/>
              </a:p>
              <a:p>
                <a:pPr>
                  <a:lnSpc>
                    <a:spcPct val="110000"/>
                  </a:lnSpc>
                </a:pPr>
                <a:endParaRPr lang="en-US" altLang="ja-JP" dirty="0"/>
              </a:p>
              <a:p>
                <a:pPr marL="0" indent="0">
                  <a:lnSpc>
                    <a:spcPct val="110000"/>
                  </a:lnSpc>
                  <a:buNone/>
                </a:pPr>
                <a:endParaRPr lang="en-US" altLang="ja-JP" dirty="0"/>
              </a:p>
              <a:p>
                <a:pPr>
                  <a:lnSpc>
                    <a:spcPct val="110000"/>
                  </a:lnSpc>
                </a:pPr>
                <a:r>
                  <a:rPr lang="ja-JP" altLang="ja-JP" dirty="0"/>
                  <a:t>因此这个量子态实际上是在表示 log 空间中的区间：</a:t>
                </a:r>
              </a:p>
              <a:p>
                <a:pPr>
                  <a:lnSpc>
                    <a:spcPct val="110000"/>
                  </a:lnSpc>
                </a:pPr>
                <a14:m>
                  <m:oMath xmlns:m="http://schemas.openxmlformats.org/officeDocument/2006/math">
                    <m:sSub>
                      <m:sSubPr>
                        <m:ctrlPr>
                          <a:rPr lang="ja-JP" altLang="en-US"/>
                        </m:ctrlPr>
                      </m:sSubPr>
                      <m:e>
                        <m:r>
                          <m:rPr>
                            <m:sty m:val="p"/>
                          </m:rPr>
                          <a:rPr lang="en-US" altLang="ja-JP" b="0" i="1" smtClean="0">
                            <a:latin typeface="Cambria Math" panose="02040503050406030204" pitchFamily="18" charset="0"/>
                          </a:rPr>
                          <m:t>log</m:t>
                        </m:r>
                      </m:e>
                      <m:sub>
                        <m:r>
                          <a:rPr lang="ja-JP" altLang="en-US" i="1"/>
                          <m:t>𝑔</m:t>
                        </m:r>
                      </m:sub>
                    </m:sSub>
                    <m:r>
                      <a:rPr lang="ja-JP" altLang="en-US" i="1"/>
                      <m:t>𝑥</m:t>
                    </m:r>
                    <m:r>
                      <a:rPr lang="en-US" altLang="ja-JP"/>
                      <m:t>,</m:t>
                    </m:r>
                    <m:sSub>
                      <m:sSubPr>
                        <m:ctrlPr>
                          <a:rPr lang="ja-JP" altLang="en-US" i="1">
                            <a:latin typeface="Cambria Math" panose="02040503050406030204" pitchFamily="18" charset="0"/>
                          </a:rPr>
                        </m:ctrlPr>
                      </m:sSubPr>
                      <m:e>
                        <m:r>
                          <m:rPr>
                            <m:sty m:val="p"/>
                          </m:rPr>
                          <a:rPr lang="en-US" altLang="ja-JP" i="1">
                            <a:latin typeface="Cambria Math" panose="02040503050406030204" pitchFamily="18" charset="0"/>
                          </a:rPr>
                          <m:t>log</m:t>
                        </m:r>
                      </m:e>
                      <m:sub>
                        <m:r>
                          <a:rPr lang="ja-JP" altLang="en-US" i="1">
                            <a:latin typeface="Cambria Math" panose="02040503050406030204" pitchFamily="18" charset="0"/>
                          </a:rPr>
                          <m:t>𝑔</m:t>
                        </m:r>
                      </m:sub>
                    </m:sSub>
                    <m:r>
                      <a:rPr lang="ja-JP" altLang="en-US" i="1"/>
                      <m:t>𝑥</m:t>
                    </m:r>
                    <m:r>
                      <a:rPr lang="en-US" altLang="ja-JP"/>
                      <m:t>+1,</m:t>
                    </m:r>
                    <m:r>
                      <m:rPr>
                        <m:nor/>
                      </m:rPr>
                      <a:rPr lang="ja-JP" altLang="en-US" i="1"/>
                      <m:t> </m:t>
                    </m:r>
                    <m:r>
                      <a:rPr lang="en-US" altLang="ja-JP"/>
                      <m:t>…,</m:t>
                    </m:r>
                    <m:sSub>
                      <m:sSubPr>
                        <m:ctrlPr>
                          <a:rPr lang="ja-JP" altLang="en-US" i="1">
                            <a:latin typeface="Cambria Math" panose="02040503050406030204" pitchFamily="18" charset="0"/>
                          </a:rPr>
                        </m:ctrlPr>
                      </m:sSubPr>
                      <m:e>
                        <m:r>
                          <m:rPr>
                            <m:sty m:val="p"/>
                          </m:rPr>
                          <a:rPr lang="en-US" altLang="ja-JP" i="1">
                            <a:latin typeface="Cambria Math" panose="02040503050406030204" pitchFamily="18" charset="0"/>
                          </a:rPr>
                          <m:t>log</m:t>
                        </m:r>
                      </m:e>
                      <m:sub>
                        <m:r>
                          <a:rPr lang="ja-JP" altLang="en-US" i="1">
                            <a:latin typeface="Cambria Math" panose="02040503050406030204" pitchFamily="18" charset="0"/>
                          </a:rPr>
                          <m:t>𝑔</m:t>
                        </m:r>
                      </m:sub>
                    </m:sSub>
                    <m:r>
                      <a:rPr lang="ja-JP" altLang="en-US" i="1"/>
                      <m:t>𝑥</m:t>
                    </m:r>
                    <m:r>
                      <a:rPr lang="en-US" altLang="ja-JP"/>
                      <m:t>+</m:t>
                    </m:r>
                    <m:r>
                      <a:rPr lang="ja-JP" altLang="en-US" i="1"/>
                      <m:t>𝐿</m:t>
                    </m:r>
                    <m:r>
                      <a:rPr lang="ja-JP" altLang="en-US"/>
                      <m:t>−</m:t>
                    </m:r>
                    <m:r>
                      <a:rPr lang="en-US" altLang="ja-JP"/>
                      <m:t>1.</m:t>
                    </m:r>
                  </m:oMath>
                </a14:m>
                <a:br>
                  <a:rPr lang="ja-JP" altLang="ja-JP" dirty="0"/>
                </a:br>
                <a:r>
                  <a:rPr lang="ja-JP" altLang="ja-JP" dirty="0"/>
                  <a:t>虽然输入仍然是 </a:t>
                </a:r>
                <a14:m>
                  <m:oMath xmlns:m="http://schemas.openxmlformats.org/officeDocument/2006/math">
                    <m:r>
                      <a:rPr lang="ja-JP" altLang="en-US" i="1"/>
                      <m:t>𝑥</m:t>
                    </m:r>
                  </m:oMath>
                </a14:m>
                <a:r>
                  <a:rPr lang="ja-JP" altLang="ja-JP" dirty="0"/>
                  <a:t>，但量子态的结构隐含了</a:t>
                </a:r>
                <a14:m>
                  <m:oMath xmlns:m="http://schemas.openxmlformats.org/officeDocument/2006/math">
                    <m:sSub>
                      <m:sSubPr>
                        <m:ctrlPr>
                          <a:rPr lang="ja-JP" altLang="en-US" i="1">
                            <a:latin typeface="Cambria Math" panose="02040503050406030204" pitchFamily="18" charset="0"/>
                          </a:rPr>
                        </m:ctrlPr>
                      </m:sSubPr>
                      <m:e>
                        <m:r>
                          <m:rPr>
                            <m:sty m:val="p"/>
                          </m:rPr>
                          <a:rPr lang="en-US" altLang="ja-JP" i="1">
                            <a:latin typeface="Cambria Math" panose="02040503050406030204" pitchFamily="18" charset="0"/>
                          </a:rPr>
                          <m:t>log</m:t>
                        </m:r>
                      </m:e>
                      <m:sub>
                        <m:r>
                          <a:rPr lang="ja-JP" altLang="en-US" i="1">
                            <a:latin typeface="Cambria Math" panose="02040503050406030204" pitchFamily="18" charset="0"/>
                          </a:rPr>
                          <m:t>𝑔</m:t>
                        </m:r>
                      </m:sub>
                    </m:sSub>
                    <m:r>
                      <a:rPr lang="ja-JP" altLang="en-US" i="1"/>
                      <m:t>𝑥</m:t>
                    </m:r>
                  </m:oMath>
                </a14:m>
                <a:r>
                  <a:rPr lang="ja-JP" altLang="ja-JP" dirty="0"/>
                  <a:t>的区间信息。论文说，该特征映射在看见训练样本之前就构造好，并且可以由使用 Shor 算法作为子程序的量子线路高效制备。</a:t>
                </a:r>
              </a:p>
              <a:p>
                <a:pPr marL="0" indent="0">
                  <a:lnSpc>
                    <a:spcPct val="110000"/>
                  </a:lnSpc>
                  <a:buNone/>
                </a:pPr>
                <a:r>
                  <a:rPr lang="ja-JP" altLang="ja-JP" dirty="0">
                    <a:solidFill>
                      <a:srgbClr val="C00000"/>
                    </a:solidFill>
                  </a:rPr>
                  <a:t>映射后会“大间隔线性可分”</a:t>
                </a:r>
                <a:r>
                  <a:rPr lang="zh-CN" altLang="en-US" dirty="0"/>
                  <a:t>：</a:t>
                </a:r>
                <a:r>
                  <a:rPr lang="ja-JP" altLang="ja-JP" dirty="0"/>
                  <a:t>在量子特征空间里，每个样本不再是普通数 </a:t>
                </a:r>
                <a14:m>
                  <m:oMath xmlns:m="http://schemas.openxmlformats.org/officeDocument/2006/math">
                    <m:r>
                      <a:rPr lang="ja-JP" altLang="en-US" i="1"/>
                      <m:t>𝑥</m:t>
                    </m:r>
                  </m:oMath>
                </a14:m>
                <a:r>
                  <a:rPr lang="ja-JP" altLang="ja-JP" dirty="0"/>
                  <a:t>，而是量子态</a:t>
                </a:r>
                <a14:m>
                  <m:oMath xmlns:m="http://schemas.openxmlformats.org/officeDocument/2006/math">
                    <m:d>
                      <m:dPr>
                        <m:begChr m:val=""/>
                        <m:endChr m:val="⟩"/>
                        <m:ctrlPr>
                          <a:rPr lang="ja-JP" altLang="en-US"/>
                        </m:ctrlPr>
                      </m:dPr>
                      <m:e>
                        <m:r>
                          <a:rPr lang="ja-JP" altLang="en-US"/>
                          <m:t>∣</m:t>
                        </m:r>
                        <m:r>
                          <a:rPr lang="ja-JP" altLang="en-US" i="1"/>
                          <m:t>𝜙</m:t>
                        </m:r>
                        <m:d>
                          <m:dPr>
                            <m:ctrlPr>
                              <a:rPr lang="ja-JP" altLang="en-US" i="1"/>
                            </m:ctrlPr>
                          </m:dPr>
                          <m:e>
                            <m:r>
                              <a:rPr lang="ja-JP" altLang="en-US" i="1"/>
                              <m:t>𝑥</m:t>
                            </m:r>
                          </m:e>
                        </m:d>
                      </m:e>
                    </m:d>
                    <m:r>
                      <a:rPr lang="en-US" altLang="ja-JP"/>
                      <m:t>.</m:t>
                    </m:r>
                  </m:oMath>
                </a14:m>
                <a:r>
                  <a:rPr lang="en-US" altLang="ja-JP" dirty="0"/>
                  <a:t> </a:t>
                </a:r>
                <a:r>
                  <a:rPr lang="ja-JP" altLang="ja-JP" dirty="0"/>
                  <a:t>也可以用密度矩阵表示：</a:t>
                </a:r>
                <a14:m>
                  <m:oMath xmlns:m="http://schemas.openxmlformats.org/officeDocument/2006/math">
                    <m:d>
                      <m:dPr>
                        <m:begChr m:val=""/>
                        <m:endChr m:val="⟩"/>
                        <m:ctrlPr>
                          <a:rPr lang="ja-JP" altLang="en-US"/>
                        </m:ctrlPr>
                      </m:dPr>
                      <m:e>
                        <m:r>
                          <a:rPr lang="ja-JP" altLang="en-US" i="1"/>
                          <m:t>𝜌</m:t>
                        </m:r>
                        <m:d>
                          <m:dPr>
                            <m:ctrlPr>
                              <a:rPr lang="ja-JP" altLang="en-US" i="1"/>
                            </m:ctrlPr>
                          </m:dPr>
                          <m:e>
                            <m:r>
                              <a:rPr lang="ja-JP" altLang="en-US" i="1"/>
                              <m:t>𝑥</m:t>
                            </m:r>
                          </m:e>
                        </m:d>
                        <m:r>
                          <a:rPr lang="en-US" altLang="ja-JP"/>
                          <m:t>=∣</m:t>
                        </m:r>
                        <m:r>
                          <a:rPr lang="ja-JP" altLang="en-US" i="1"/>
                          <m:t>𝜙</m:t>
                        </m:r>
                        <m:d>
                          <m:dPr>
                            <m:ctrlPr>
                              <a:rPr lang="ja-JP" altLang="en-US" i="1"/>
                            </m:ctrlPr>
                          </m:dPr>
                          <m:e>
                            <m:r>
                              <a:rPr lang="ja-JP" altLang="en-US" i="1"/>
                              <m:t>𝑥</m:t>
                            </m:r>
                          </m:e>
                        </m:d>
                      </m:e>
                    </m:d>
                    <m:d>
                      <m:dPr>
                        <m:begChr m:val="⟨"/>
                        <m:endChr m:val=""/>
                        <m:ctrlPr>
                          <a:rPr lang="ja-JP" altLang="en-US" i="1"/>
                        </m:ctrlPr>
                      </m:dPr>
                      <m:e>
                        <m:r>
                          <a:rPr lang="ja-JP" altLang="en-US" i="1"/>
                          <m:t>𝜙</m:t>
                        </m:r>
                        <m:d>
                          <m:dPr>
                            <m:ctrlPr>
                              <a:rPr lang="ja-JP" altLang="en-US" i="1"/>
                            </m:ctrlPr>
                          </m:dPr>
                          <m:e>
                            <m:r>
                              <a:rPr lang="ja-JP" altLang="en-US" i="1"/>
                              <m:t>𝑥</m:t>
                            </m:r>
                          </m:e>
                        </m:d>
                        <m:r>
                          <a:rPr lang="ja-JP" altLang="en-US"/>
                          <m:t>∣</m:t>
                        </m:r>
                        <m:r>
                          <a:rPr lang="en-US" altLang="ja-JP"/>
                          <m:t>.</m:t>
                        </m:r>
                      </m:e>
                    </m:d>
                  </m:oMath>
                </a14:m>
                <a:r>
                  <a:rPr lang="ja-JP" altLang="en-US" dirty="0"/>
                  <a:t> </a:t>
                </a:r>
                <a:endParaRPr lang="en-US" altLang="ja-JP" dirty="0"/>
              </a:p>
              <a:p>
                <a:pPr marL="0" indent="0">
                  <a:lnSpc>
                    <a:spcPct val="110000"/>
                  </a:lnSpc>
                  <a:buNone/>
                </a:pPr>
                <a:r>
                  <a:rPr lang="ja-JP" altLang="ja-JP" dirty="0"/>
                  <a:t>对某个隐藏 concept </a:t>
                </a:r>
                <a14:m>
                  <m:oMath xmlns:m="http://schemas.openxmlformats.org/officeDocument/2006/math">
                    <m:sSub>
                      <m:sSubPr>
                        <m:ctrlPr>
                          <a:rPr lang="ja-JP" altLang="en-US"/>
                        </m:ctrlPr>
                      </m:sSubPr>
                      <m:e>
                        <m:r>
                          <a:rPr lang="ja-JP" altLang="en-US" i="1"/>
                          <m:t>𝑓</m:t>
                        </m:r>
                      </m:e>
                      <m:sub>
                        <m:r>
                          <a:rPr lang="ja-JP" altLang="en-US" i="1"/>
                          <m:t>𝑠</m:t>
                        </m:r>
                      </m:sub>
                    </m:sSub>
                  </m:oMath>
                </a14:m>
                <a:r>
                  <a:rPr lang="ja-JP" altLang="ja-JP" dirty="0"/>
                  <a:t>，存在一个与 </a:t>
                </a:r>
                <a14:m>
                  <m:oMath xmlns:m="http://schemas.openxmlformats.org/officeDocument/2006/math">
                    <m:r>
                      <a:rPr lang="ja-JP" altLang="en-US" i="1"/>
                      <m:t>𝑠</m:t>
                    </m:r>
                  </m:oMath>
                </a14:m>
                <a:r>
                  <a:rPr lang="ja-JP" altLang="ja-JP" dirty="0"/>
                  <a:t>对应的“分离方向”</a:t>
                </a:r>
                <a14:m>
                  <m:oMath xmlns:m="http://schemas.openxmlformats.org/officeDocument/2006/math">
                    <m:d>
                      <m:dPr>
                        <m:begChr m:val=""/>
                        <m:endChr m:val="⟩"/>
                        <m:ctrlPr>
                          <a:rPr lang="ja-JP" altLang="en-US"/>
                        </m:ctrlPr>
                      </m:dPr>
                      <m:e>
                        <m:sSub>
                          <m:sSubPr>
                            <m:ctrlPr>
                              <a:rPr lang="ja-JP" altLang="en-US"/>
                            </m:ctrlPr>
                          </m:sSubPr>
                          <m:e>
                            <m:r>
                              <a:rPr lang="ja-JP" altLang="en-US" i="1"/>
                              <m:t>𝑤</m:t>
                            </m:r>
                          </m:e>
                          <m:sub>
                            <m:r>
                              <a:rPr lang="ja-JP" altLang="en-US" i="1"/>
                              <m:t>𝑠</m:t>
                            </m:r>
                          </m:sub>
                        </m:sSub>
                        <m:r>
                          <a:rPr lang="en-US" altLang="ja-JP"/>
                          <m:t>=∣</m:t>
                        </m:r>
                        <m:sSub>
                          <m:sSubPr>
                            <m:ctrlPr>
                              <a:rPr lang="ja-JP" altLang="en-US" i="1"/>
                            </m:ctrlPr>
                          </m:sSubPr>
                          <m:e>
                            <m:r>
                              <a:rPr lang="ja-JP" altLang="en-US" i="1"/>
                              <m:t>𝜙</m:t>
                            </m:r>
                          </m:e>
                          <m:sub>
                            <m:r>
                              <a:rPr lang="ja-JP" altLang="en-US" i="1"/>
                              <m:t>𝑠</m:t>
                            </m:r>
                          </m:sub>
                        </m:sSub>
                      </m:e>
                    </m:d>
                    <m:d>
                      <m:dPr>
                        <m:begChr m:val="⟨"/>
                        <m:endChr m:val=""/>
                        <m:ctrlPr>
                          <a:rPr lang="ja-JP" altLang="en-US" i="1"/>
                        </m:ctrlPr>
                      </m:dPr>
                      <m:e>
                        <m:sSub>
                          <m:sSubPr>
                            <m:ctrlPr>
                              <a:rPr lang="ja-JP" altLang="en-US" i="1"/>
                            </m:ctrlPr>
                          </m:sSubPr>
                          <m:e>
                            <m:r>
                              <a:rPr lang="ja-JP" altLang="en-US" i="1"/>
                              <m:t>𝜙</m:t>
                            </m:r>
                          </m:e>
                          <m:sub>
                            <m:r>
                              <a:rPr lang="ja-JP" altLang="en-US" i="1"/>
                              <m:t>𝑠</m:t>
                            </m:r>
                          </m:sub>
                        </m:sSub>
                        <m:r>
                          <a:rPr lang="ja-JP" altLang="en-US"/>
                          <m:t>∣</m:t>
                        </m:r>
                        <m:r>
                          <a:rPr lang="en-US" altLang="ja-JP"/>
                          <m:t>.</m:t>
                        </m:r>
                      </m:e>
                    </m:d>
                  </m:oMath>
                </a14:m>
                <a:r>
                  <a:rPr lang="ja-JP" altLang="en-US" dirty="0"/>
                  <a:t> </a:t>
                </a:r>
                <a:r>
                  <a:rPr lang="ja-JP" altLang="ja-JP" dirty="0"/>
                  <a:t>然后分类打分可以写成 Hilbert–Schmidt 内积形式：</a:t>
                </a:r>
                <a14:m>
                  <m:oMath xmlns:m="http://schemas.openxmlformats.org/officeDocument/2006/math">
                    <m:r>
                      <m:rPr>
                        <m:sty m:val="p"/>
                      </m:rPr>
                      <a:rPr lang="en-US" altLang="ja-JP"/>
                      <m:t>Tr</m:t>
                    </m:r>
                    <m:r>
                      <a:rPr lang="ja-JP" altLang="en-US"/>
                      <m:t>⁡</m:t>
                    </m:r>
                    <m:d>
                      <m:dPr>
                        <m:ctrlPr>
                          <a:rPr lang="ja-JP" altLang="en-US" i="1"/>
                        </m:ctrlPr>
                      </m:dPr>
                      <m:e>
                        <m:sSub>
                          <m:sSubPr>
                            <m:ctrlPr>
                              <a:rPr lang="ja-JP" altLang="en-US" i="1"/>
                            </m:ctrlPr>
                          </m:sSubPr>
                          <m:e>
                            <m:r>
                              <a:rPr lang="ja-JP" altLang="en-US" i="1"/>
                              <m:t>𝑤</m:t>
                            </m:r>
                          </m:e>
                          <m:sub>
                            <m:r>
                              <a:rPr lang="ja-JP" altLang="en-US" i="1"/>
                              <m:t>𝑠</m:t>
                            </m:r>
                          </m:sub>
                        </m:sSub>
                        <m:r>
                          <a:rPr lang="ja-JP" altLang="en-US" i="1"/>
                          <m:t>𝜌</m:t>
                        </m:r>
                        <m:d>
                          <m:dPr>
                            <m:ctrlPr>
                              <a:rPr lang="ja-JP" altLang="en-US" i="1"/>
                            </m:ctrlPr>
                          </m:dPr>
                          <m:e>
                            <m:r>
                              <a:rPr lang="ja-JP" altLang="en-US" i="1"/>
                              <m:t>𝑥</m:t>
                            </m:r>
                          </m:e>
                        </m:d>
                      </m:e>
                    </m:d>
                    <m:r>
                      <a:rPr lang="en-US" altLang="ja-JP"/>
                      <m:t>=</m:t>
                    </m:r>
                    <m:func>
                      <m:funcPr>
                        <m:ctrlPr>
                          <a:rPr lang="ja-JP" altLang="en-US" i="1"/>
                        </m:ctrlPr>
                      </m:funcPr>
                      <m:fName>
                        <m:r>
                          <m:rPr>
                            <m:sty m:val="p"/>
                          </m:rPr>
                          <a:rPr lang="en-US" altLang="ja-JP"/>
                          <m:t>Tr</m:t>
                        </m:r>
                      </m:fName>
                      <m:e>
                        <m:d>
                          <m:dPr>
                            <m:endChr m:val="⟩"/>
                            <m:ctrlPr>
                              <a:rPr lang="ja-JP" altLang="en-US" i="1"/>
                            </m:ctrlPr>
                          </m:dPr>
                          <m:e>
                            <m:r>
                              <a:rPr lang="ja-JP" altLang="en-US"/>
                              <m:t>∣</m:t>
                            </m:r>
                            <m:sSub>
                              <m:sSubPr>
                                <m:ctrlPr>
                                  <a:rPr lang="ja-JP" altLang="en-US" i="1"/>
                                </m:ctrlPr>
                              </m:sSubPr>
                              <m:e>
                                <m:r>
                                  <a:rPr lang="ja-JP" altLang="en-US" i="1"/>
                                  <m:t>𝜙</m:t>
                                </m:r>
                              </m:e>
                              <m:sub>
                                <m:r>
                                  <a:rPr lang="ja-JP" altLang="en-US" i="1"/>
                                  <m:t>𝑠</m:t>
                                </m:r>
                              </m:sub>
                            </m:sSub>
                          </m:e>
                        </m:d>
                        <m:d>
                          <m:dPr>
                            <m:begChr m:val="⟨"/>
                            <m:endChr m:val="⟩"/>
                            <m:ctrlPr>
                              <a:rPr lang="ja-JP" altLang="en-US" i="1"/>
                            </m:ctrlPr>
                          </m:dPr>
                          <m:e>
                            <m:sSub>
                              <m:sSubPr>
                                <m:ctrlPr>
                                  <a:rPr lang="ja-JP" altLang="en-US" i="1"/>
                                </m:ctrlPr>
                              </m:sSubPr>
                              <m:e>
                                <m:r>
                                  <a:rPr lang="ja-JP" altLang="en-US" i="1"/>
                                  <m:t>𝜙</m:t>
                                </m:r>
                              </m:e>
                              <m:sub>
                                <m:r>
                                  <a:rPr lang="ja-JP" altLang="en-US" i="1"/>
                                  <m:t>𝑠</m:t>
                                </m:r>
                              </m:sub>
                            </m:sSub>
                            <m:r>
                              <a:rPr lang="ja-JP" altLang="en-US"/>
                              <m:t>∣∣</m:t>
                            </m:r>
                            <m:r>
                              <a:rPr lang="ja-JP" altLang="en-US" i="1"/>
                              <m:t>𝜙</m:t>
                            </m:r>
                            <m:d>
                              <m:dPr>
                                <m:ctrlPr>
                                  <a:rPr lang="ja-JP" altLang="en-US" i="1"/>
                                </m:ctrlPr>
                              </m:dPr>
                              <m:e>
                                <m:r>
                                  <a:rPr lang="ja-JP" altLang="en-US" i="1"/>
                                  <m:t>𝑥</m:t>
                                </m:r>
                              </m:e>
                            </m:d>
                          </m:e>
                        </m:d>
                        <m:d>
                          <m:dPr>
                            <m:begChr m:val="⟨"/>
                            <m:ctrlPr>
                              <a:rPr lang="ja-JP" altLang="en-US" i="1"/>
                            </m:ctrlPr>
                          </m:dPr>
                          <m:e>
                            <m:r>
                              <a:rPr lang="ja-JP" altLang="en-US" i="1"/>
                              <m:t>𝜙</m:t>
                            </m:r>
                            <m:d>
                              <m:dPr>
                                <m:ctrlPr>
                                  <a:rPr lang="ja-JP" altLang="en-US" i="1"/>
                                </m:ctrlPr>
                              </m:dPr>
                              <m:e>
                                <m:r>
                                  <a:rPr lang="ja-JP" altLang="en-US" i="1"/>
                                  <m:t>𝑥</m:t>
                                </m:r>
                              </m:e>
                            </m:d>
                            <m:r>
                              <a:rPr lang="ja-JP" altLang="en-US"/>
                              <m:t>∣</m:t>
                            </m:r>
                          </m:e>
                        </m:d>
                      </m:e>
                    </m:func>
                    <m:r>
                      <a:rPr lang="en-US" altLang="ja-JP"/>
                      <m:t>=∣</m:t>
                    </m:r>
                    <m:d>
                      <m:dPr>
                        <m:begChr m:val="⟨"/>
                        <m:endChr m:val="⟩"/>
                        <m:ctrlPr>
                          <a:rPr lang="ja-JP" altLang="en-US" i="1"/>
                        </m:ctrlPr>
                      </m:dPr>
                      <m:e>
                        <m:sSub>
                          <m:sSubPr>
                            <m:ctrlPr>
                              <a:rPr lang="ja-JP" altLang="en-US" i="1"/>
                            </m:ctrlPr>
                          </m:sSubPr>
                          <m:e>
                            <m:r>
                              <a:rPr lang="ja-JP" altLang="en-US" i="1"/>
                              <m:t>𝜙</m:t>
                            </m:r>
                          </m:e>
                          <m:sub>
                            <m:r>
                              <a:rPr lang="ja-JP" altLang="en-US" i="1"/>
                              <m:t>𝑠</m:t>
                            </m:r>
                          </m:sub>
                        </m:sSub>
                        <m:r>
                          <a:rPr lang="ja-JP" altLang="en-US"/>
                          <m:t>∣</m:t>
                        </m:r>
                        <m:r>
                          <a:rPr lang="ja-JP" altLang="en-US" i="1"/>
                          <m:t>𝜙</m:t>
                        </m:r>
                        <m:d>
                          <m:dPr>
                            <m:ctrlPr>
                              <a:rPr lang="ja-JP" altLang="en-US" i="1"/>
                            </m:ctrlPr>
                          </m:dPr>
                          <m:e>
                            <m:r>
                              <a:rPr lang="ja-JP" altLang="en-US" i="1"/>
                              <m:t>𝑥</m:t>
                            </m:r>
                          </m:e>
                        </m:d>
                      </m:e>
                    </m:d>
                    <m:sSup>
                      <m:sSupPr>
                        <m:ctrlPr>
                          <a:rPr lang="ja-JP" altLang="en-US" i="1"/>
                        </m:ctrlPr>
                      </m:sSupPr>
                      <m:e>
                        <m:r>
                          <a:rPr lang="ja-JP" altLang="en-US"/>
                          <m:t>∣</m:t>
                        </m:r>
                      </m:e>
                      <m:sup>
                        <m:r>
                          <a:rPr lang="en-US" altLang="ja-JP"/>
                          <m:t>2</m:t>
                        </m:r>
                      </m:sup>
                    </m:sSup>
                    <m:r>
                      <a:rPr lang="en-US" altLang="ja-JP"/>
                      <m:t>.</m:t>
                    </m:r>
                  </m:oMath>
                </a14:m>
                <a:r>
                  <a:rPr lang="ja-JP" altLang="ja-JP" dirty="0"/>
                  <a:t>这就是量子态之间的重叠程度。</a:t>
                </a:r>
              </a:p>
              <a:p>
                <a:pPr marL="0" indent="0">
                  <a:lnSpc>
                    <a:spcPct val="110000"/>
                  </a:lnSpc>
                  <a:buNone/>
                </a:pPr>
                <a:endParaRPr lang="en-US" altLang="ja-JP" dirty="0"/>
              </a:p>
              <a:p>
                <a:pPr>
                  <a:lnSpc>
                    <a:spcPct val="110000"/>
                  </a:lnSpc>
                </a:pPr>
                <a:endParaRPr lang="ja-JP" altLang="ja-JP" dirty="0"/>
              </a:p>
            </p:txBody>
          </p:sp>
        </mc:Choice>
        <mc:Fallback>
          <p:sp>
            <p:nvSpPr>
              <p:cNvPr id="12" name="コンテンツ プレースホルダー 2">
                <a:extLst>
                  <a:ext uri="{FF2B5EF4-FFF2-40B4-BE49-F238E27FC236}">
                    <a16:creationId xmlns:a16="http://schemas.microsoft.com/office/drawing/2014/main" id="{5984EAB2-CC7F-A372-C3C5-57938A482F7C}"/>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t="-8681" r="-51" b="-10764"/>
                </a:stretch>
              </a:blipFill>
            </p:spPr>
            <p:txBody>
              <a:bodyPr/>
              <a:lstStyle/>
              <a:p>
                <a:r>
                  <a:rPr lang="ja-JP" altLang="en-US">
                    <a:noFill/>
                  </a:rPr>
                  <a:t> </a:t>
                </a:r>
              </a:p>
            </p:txBody>
          </p:sp>
        </mc:Fallback>
      </mc:AlternateContent>
      <p:pic>
        <p:nvPicPr>
          <p:cNvPr id="3" name="図 2">
            <a:extLst>
              <a:ext uri="{FF2B5EF4-FFF2-40B4-BE49-F238E27FC236}">
                <a16:creationId xmlns:a16="http://schemas.microsoft.com/office/drawing/2014/main" id="{708AE164-2E40-974C-A750-153AE6185D01}"/>
              </a:ext>
            </a:extLst>
          </p:cNvPr>
          <p:cNvPicPr>
            <a:picLocks noChangeAspect="1"/>
          </p:cNvPicPr>
          <p:nvPr/>
        </p:nvPicPr>
        <p:blipFill>
          <a:blip r:embed="rId4"/>
          <a:stretch>
            <a:fillRect/>
          </a:stretch>
        </p:blipFill>
        <p:spPr>
          <a:xfrm>
            <a:off x="3858706" y="2285567"/>
            <a:ext cx="3675155" cy="931729"/>
          </a:xfrm>
          <a:prstGeom prst="rect">
            <a:avLst/>
          </a:prstGeom>
        </p:spPr>
      </p:pic>
    </p:spTree>
    <p:extLst>
      <p:ext uri="{BB962C8B-B14F-4D97-AF65-F5344CB8AC3E}">
        <p14:creationId xmlns:p14="http://schemas.microsoft.com/office/powerpoint/2010/main" val="7732739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ECF4C-BAE3-6019-6FF6-63D374FD2DE5}"/>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EA3E36CF-9ECA-34E1-E68C-373427EBB7D2}"/>
              </a:ext>
            </a:extLst>
          </p:cNvPr>
          <p:cNvSpPr>
            <a:spLocks noGrp="1" noChangeArrowheads="1"/>
          </p:cNvSpPr>
          <p:nvPr>
            <p:ph type="title"/>
          </p:nvPr>
        </p:nvSpPr>
        <p:spPr/>
        <p:txBody>
          <a:bodyPr/>
          <a:lstStyle/>
          <a:p>
            <a:r>
              <a:rPr lang="ja-JP" altLang="ja-JP" dirty="0"/>
              <a:t>Liu–Arunachalam–Temme：严格、鲁棒的量子监督学习加速</a:t>
            </a:r>
            <a:endParaRPr lang="ja-JP" altLang="en-US" b="1" dirty="0">
              <a:latin typeface="+mj-ea"/>
            </a:endParaRPr>
          </a:p>
        </p:txBody>
      </p:sp>
      <p:sp>
        <p:nvSpPr>
          <p:cNvPr id="12" name="コンテンツ プレースホルダー 2">
            <a:extLst>
              <a:ext uri="{FF2B5EF4-FFF2-40B4-BE49-F238E27FC236}">
                <a16:creationId xmlns:a16="http://schemas.microsoft.com/office/drawing/2014/main" id="{4258646A-7D14-8A6C-B700-4605D5A6374D}"/>
              </a:ext>
            </a:extLst>
          </p:cNvPr>
          <p:cNvSpPr>
            <a:spLocks noGrp="1"/>
          </p:cNvSpPr>
          <p:nvPr>
            <p:ph idx="1"/>
          </p:nvPr>
        </p:nvSpPr>
        <p:spPr>
          <a:xfrm>
            <a:off x="106680" y="990600"/>
            <a:ext cx="11877040" cy="5268402"/>
          </a:xfrm>
        </p:spPr>
        <p:txBody>
          <a:bodyPr/>
          <a:lstStyle/>
          <a:p>
            <a:pPr marL="0" indent="0">
              <a:lnSpc>
                <a:spcPct val="120000"/>
              </a:lnSpc>
              <a:buNone/>
            </a:pPr>
            <a:r>
              <a:rPr lang="ja-JP" altLang="ja-JP" dirty="0"/>
              <a:t>在特征空间中，正负样本可以被一个超平面分开，而且间隔不是指数小，而是逆多项式大小，这就足够让 SVM 用多项式样本学习</a:t>
            </a:r>
            <a:endParaRPr lang="en-US" altLang="ja-JP" dirty="0"/>
          </a:p>
          <a:p>
            <a:pPr marL="0" indent="0">
              <a:lnSpc>
                <a:spcPct val="120000"/>
              </a:lnSpc>
              <a:buNone/>
            </a:pPr>
            <a:endParaRPr lang="en-US" altLang="ja-JP" dirty="0"/>
          </a:p>
          <a:p>
            <a:pPr marL="0" indent="0">
              <a:lnSpc>
                <a:spcPct val="120000"/>
              </a:lnSpc>
              <a:buNone/>
            </a:pPr>
            <a:r>
              <a:rPr lang="zh-CN" altLang="en-US" dirty="0"/>
              <a:t>论文算法</a:t>
            </a:r>
            <a:r>
              <a:rPr lang="ja-JP" altLang="ja-JP" dirty="0"/>
              <a:t>满足几个重要要求：</a:t>
            </a:r>
          </a:p>
          <a:p>
            <a:pPr>
              <a:lnSpc>
                <a:spcPct val="120000"/>
              </a:lnSpc>
            </a:pPr>
            <a:r>
              <a:rPr lang="ja-JP" altLang="ja-JP" dirty="0"/>
              <a:t>只需要经典访问数据，而不是假设数据已经以量子态形式给出； </a:t>
            </a:r>
          </a:p>
          <a:p>
            <a:pPr>
              <a:lnSpc>
                <a:spcPct val="120000"/>
              </a:lnSpc>
            </a:pPr>
            <a:r>
              <a:rPr lang="ja-JP" altLang="ja-JP" dirty="0"/>
              <a:t>使用标准 SVM，而不是完全启发式变分模型； </a:t>
            </a:r>
          </a:p>
          <a:p>
            <a:pPr>
              <a:lnSpc>
                <a:spcPct val="120000"/>
              </a:lnSpc>
            </a:pPr>
            <a:r>
              <a:rPr lang="ja-JP" altLang="ja-JP" dirty="0"/>
              <a:t>给出大间隔泛化分析； </a:t>
            </a:r>
          </a:p>
          <a:p>
            <a:pPr>
              <a:lnSpc>
                <a:spcPct val="120000"/>
              </a:lnSpc>
            </a:pPr>
            <a:r>
              <a:rPr lang="ja-JP" altLang="ja-JP" dirty="0"/>
              <a:t>考虑了有限 shots 造成的核矩阵加性误差，并证明算法对这种误差鲁棒。论文明确指出，核估计误差可建模为独立加性噪声，并证明 quantum-kernel SVM 在这种噪声下仍保持性能保证。</a:t>
            </a:r>
          </a:p>
          <a:p>
            <a:pPr marL="0" indent="0">
              <a:lnSpc>
                <a:spcPct val="120000"/>
              </a:lnSpc>
              <a:buNone/>
            </a:pPr>
            <a:endParaRPr lang="ja-JP" altLang="ja-JP" dirty="0"/>
          </a:p>
        </p:txBody>
      </p:sp>
      <p:pic>
        <p:nvPicPr>
          <p:cNvPr id="3" name="図 2">
            <a:extLst>
              <a:ext uri="{FF2B5EF4-FFF2-40B4-BE49-F238E27FC236}">
                <a16:creationId xmlns:a16="http://schemas.microsoft.com/office/drawing/2014/main" id="{9AD5D512-41F5-B8CF-13A0-38C89EB1B4F4}"/>
              </a:ext>
            </a:extLst>
          </p:cNvPr>
          <p:cNvPicPr>
            <a:picLocks noChangeAspect="1"/>
          </p:cNvPicPr>
          <p:nvPr/>
        </p:nvPicPr>
        <p:blipFill>
          <a:blip r:embed="rId3"/>
          <a:stretch>
            <a:fillRect/>
          </a:stretch>
        </p:blipFill>
        <p:spPr>
          <a:xfrm>
            <a:off x="1564430" y="5261490"/>
            <a:ext cx="8600032" cy="439775"/>
          </a:xfrm>
          <a:prstGeom prst="rect">
            <a:avLst/>
          </a:prstGeom>
        </p:spPr>
      </p:pic>
    </p:spTree>
    <p:extLst>
      <p:ext uri="{BB962C8B-B14F-4D97-AF65-F5344CB8AC3E}">
        <p14:creationId xmlns:p14="http://schemas.microsoft.com/office/powerpoint/2010/main" val="1749215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23D0F-1123-9842-8FCA-5545C67026F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8A67089E-27E0-0B28-DA86-CA25C1AE5691}"/>
              </a:ext>
            </a:extLst>
          </p:cNvPr>
          <p:cNvSpPr>
            <a:spLocks noGrp="1" noChangeArrowheads="1"/>
          </p:cNvSpPr>
          <p:nvPr>
            <p:ph type="title"/>
          </p:nvPr>
        </p:nvSpPr>
        <p:spPr/>
        <p:txBody>
          <a:bodyPr/>
          <a:lstStyle/>
          <a:p>
            <a:r>
              <a:rPr lang="ja-JP" altLang="ja-JP" dirty="0"/>
              <a:t>Liu–Arunachalam–Temme：严格、鲁棒的量子监督学习加速</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43D0166-0986-F9D6-0247-CFAC2AEC6F0A}"/>
                  </a:ext>
                </a:extLst>
              </p:cNvPr>
              <p:cNvSpPr>
                <a:spLocks noGrp="1"/>
              </p:cNvSpPr>
              <p:nvPr>
                <p:ph idx="1"/>
              </p:nvPr>
            </p:nvSpPr>
            <p:spPr>
              <a:xfrm>
                <a:off x="106680" y="990600"/>
                <a:ext cx="11877040" cy="5268402"/>
              </a:xfrm>
            </p:spPr>
            <p:txBody>
              <a:bodyPr/>
              <a:lstStyle/>
              <a:p>
                <a:pPr marL="0" indent="0">
                  <a:lnSpc>
                    <a:spcPct val="110000"/>
                  </a:lnSpc>
                  <a:buNone/>
                </a:pPr>
                <a:r>
                  <a:rPr lang="ja-JP" altLang="ja-JP" dirty="0"/>
                  <a:t>这篇论文</a:t>
                </a:r>
                <a:r>
                  <a:rPr lang="zh-CN" altLang="en-US" dirty="0"/>
                  <a:t>使用</a:t>
                </a:r>
                <a:r>
                  <a:rPr lang="ja-JP" altLang="ja-JP" b="1" dirty="0"/>
                  <a:t>大间隔线性分类。</a:t>
                </a:r>
                <a:endParaRPr lang="ja-JP" altLang="ja-JP" dirty="0"/>
              </a:p>
              <a:p>
                <a:pPr marL="0" indent="0">
                  <a:lnSpc>
                    <a:spcPct val="110000"/>
                  </a:lnSpc>
                  <a:buNone/>
                </a:pPr>
                <a:r>
                  <a:rPr lang="ja-JP" altLang="ja-JP" dirty="0"/>
                  <a:t>在 Hilbert 空间中，分类器是</a:t>
                </a:r>
                <a:r>
                  <a:rPr lang="en-US" altLang="ja-JP" dirty="0"/>
                  <a:t>(</a:t>
                </a:r>
                <a:r>
                  <a:rPr lang="ja-JP" altLang="ja-JP" dirty="0"/>
                  <a:t> SVM 不在原始空间里找分类边界，而是在 Hilbert 空间中找一个超平面</a:t>
                </a:r>
                <a14:m>
                  <m:oMath xmlns:m="http://schemas.openxmlformats.org/officeDocument/2006/math">
                    <m:d>
                      <m:dPr>
                        <m:begChr m:val="⟨"/>
                        <m:endChr m:val="⟩"/>
                        <m:ctrlPr>
                          <a:rPr lang="ja-JP" altLang="ja-JP" i="1" dirty="0" smtClean="0">
                            <a:latin typeface="Cambria Math" panose="02040503050406030204" pitchFamily="18" charset="0"/>
                          </a:rPr>
                        </m:ctrlPr>
                      </m:dPr>
                      <m:e>
                        <m:r>
                          <a:rPr lang="ja-JP" altLang="ja-JP" i="1" dirty="0" smtClean="0">
                            <a:latin typeface="Cambria Math" panose="02040503050406030204" pitchFamily="18" charset="0"/>
                          </a:rPr>
                          <m:t>𝑤</m:t>
                        </m:r>
                        <m:r>
                          <a:rPr lang="ja-JP" altLang="ja-JP" i="1" dirty="0" smtClean="0">
                            <a:latin typeface="Cambria Math" panose="02040503050406030204" pitchFamily="18" charset="0"/>
                          </a:rPr>
                          <m:t>,</m:t>
                        </m:r>
                        <m:r>
                          <a:rPr lang="ja-JP" altLang="ja-JP" i="1" dirty="0" smtClean="0">
                            <a:latin typeface="Cambria Math" panose="02040503050406030204" pitchFamily="18" charset="0"/>
                          </a:rPr>
                          <m:t>𝜙</m:t>
                        </m:r>
                        <m:d>
                          <m:dPr>
                            <m:ctrlPr>
                              <a:rPr lang="ja-JP" altLang="ja-JP" i="1" dirty="0" smtClean="0">
                                <a:latin typeface="Cambria Math" panose="02040503050406030204" pitchFamily="18" charset="0"/>
                              </a:rPr>
                            </m:ctrlPr>
                          </m:dPr>
                          <m:e>
                            <m:r>
                              <a:rPr lang="ja-JP" altLang="ja-JP" i="1" dirty="0" smtClean="0">
                                <a:latin typeface="Cambria Math" panose="02040503050406030204" pitchFamily="18" charset="0"/>
                              </a:rPr>
                              <m:t>𝑥</m:t>
                            </m:r>
                          </m:e>
                        </m:d>
                      </m:e>
                    </m:d>
                    <m:r>
                      <a:rPr lang="ja-JP" altLang="ja-JP" i="1" dirty="0" smtClean="0">
                        <a:latin typeface="Cambria Math" panose="02040503050406030204" pitchFamily="18" charset="0"/>
                      </a:rPr>
                      <m:t>​+</m:t>
                    </m:r>
                    <m:r>
                      <a:rPr lang="ja-JP" altLang="ja-JP" i="1" dirty="0" smtClean="0">
                        <a:latin typeface="Cambria Math" panose="02040503050406030204" pitchFamily="18" charset="0"/>
                      </a:rPr>
                      <m:t>𝑏</m:t>
                    </m:r>
                    <m:r>
                      <a:rPr lang="ja-JP" altLang="ja-JP" i="1" dirty="0" smtClean="0">
                        <a:latin typeface="Cambria Math" panose="02040503050406030204" pitchFamily="18" charset="0"/>
                      </a:rPr>
                      <m:t>=</m:t>
                    </m:r>
                    <m:r>
                      <a:rPr lang="ja-JP" altLang="ja-JP" i="1" dirty="0" smtClean="0">
                        <a:latin typeface="Cambria Math" panose="02040503050406030204" pitchFamily="18" charset="0"/>
                      </a:rPr>
                      <m:t>0</m:t>
                    </m:r>
                  </m:oMath>
                </a14:m>
                <a:r>
                  <a:rPr lang="ja-JP" altLang="ja-JP" dirty="0"/>
                  <a:t>.</a:t>
                </a:r>
                <a:r>
                  <a:rPr lang="en-US" altLang="ja-JP" dirty="0"/>
                  <a:t>)</a:t>
                </a:r>
                <a:r>
                  <a:rPr lang="ja-JP" altLang="ja-JP" dirty="0"/>
                  <a:t>：</a:t>
                </a:r>
                <a:endParaRPr lang="en-US" altLang="ja-JP" i="1" dirty="0"/>
              </a:p>
              <a:p>
                <a:pPr marL="0" indent="0">
                  <a:lnSpc>
                    <a:spcPct val="110000"/>
                  </a:lnSpc>
                  <a:buNone/>
                </a:pPr>
                <a14:m>
                  <m:oMathPara xmlns:m="http://schemas.openxmlformats.org/officeDocument/2006/math">
                    <m:oMathParaPr>
                      <m:jc m:val="centerGroup"/>
                    </m:oMathParaPr>
                    <m:oMath xmlns:m="http://schemas.openxmlformats.org/officeDocument/2006/math">
                      <m:r>
                        <a:rPr lang="ja-JP" altLang="en-US" i="1"/>
                        <m:t>𝑓</m:t>
                      </m:r>
                      <m:d>
                        <m:dPr>
                          <m:ctrlPr>
                            <a:rPr lang="ja-JP" altLang="en-US" i="1"/>
                          </m:ctrlPr>
                        </m:dPr>
                        <m:e>
                          <m:r>
                            <a:rPr lang="ja-JP" altLang="en-US" i="1"/>
                            <m:t>𝑥</m:t>
                          </m:r>
                        </m:e>
                      </m:d>
                      <m:r>
                        <a:rPr lang="en-US" altLang="ja-JP"/>
                        <m:t>=</m:t>
                      </m:r>
                      <m:r>
                        <m:rPr>
                          <m:sty m:val="p"/>
                        </m:rPr>
                        <a:rPr lang="en-US" altLang="ja-JP"/>
                        <m:t>sign</m:t>
                      </m:r>
                      <m:r>
                        <a:rPr lang="en-US" altLang="ja-JP"/>
                        <m:t>⁡</m:t>
                      </m:r>
                      <m:d>
                        <m:dPr>
                          <m:ctrlPr>
                            <a:rPr lang="ja-JP" altLang="en-US" i="1"/>
                          </m:ctrlPr>
                        </m:dPr>
                        <m:e>
                          <m:d>
                            <m:dPr>
                              <m:begChr m:val="⟨"/>
                              <m:endChr m:val="⟩"/>
                              <m:sepChr m:val=","/>
                              <m:ctrlPr>
                                <a:rPr lang="ja-JP" altLang="en-US" i="1" smtClean="0"/>
                              </m:ctrlPr>
                            </m:dPr>
                            <m:e>
                              <m:r>
                                <a:rPr lang="ja-JP" altLang="en-US" i="1"/>
                                <m:t>𝑤</m:t>
                              </m:r>
                            </m:e>
                            <m:e>
                              <m:r>
                                <a:rPr lang="ja-JP" altLang="en-US" i="1"/>
                                <m:t>𝜙</m:t>
                              </m:r>
                              <m:d>
                                <m:dPr>
                                  <m:ctrlPr>
                                    <a:rPr lang="ja-JP" altLang="en-US" i="1"/>
                                  </m:ctrlPr>
                                </m:dPr>
                                <m:e>
                                  <m:r>
                                    <a:rPr lang="ja-JP" altLang="en-US" i="1"/>
                                    <m:t>𝑥</m:t>
                                  </m:r>
                                </m:e>
                              </m:d>
                            </m:e>
                          </m:d>
                          <m:r>
                            <a:rPr lang="en-US" altLang="ja-JP"/>
                            <m:t>+</m:t>
                          </m:r>
                          <m:r>
                            <a:rPr lang="ja-JP" altLang="en-US" i="1"/>
                            <m:t>𝑏</m:t>
                          </m:r>
                        </m:e>
                      </m:d>
                      <m:r>
                        <a:rPr lang="en-US" altLang="ja-JP"/>
                        <m:t>.</m:t>
                      </m:r>
                    </m:oMath>
                  </m:oMathPara>
                </a14:m>
                <a:endParaRPr lang="en-US" altLang="ja-JP" dirty="0"/>
              </a:p>
              <a:p>
                <a:pPr marL="0" indent="0">
                  <a:lnSpc>
                    <a:spcPct val="110000"/>
                  </a:lnSpc>
                  <a:buNone/>
                </a:pPr>
                <a:r>
                  <a:rPr lang="ja-JP" altLang="ja-JP" dirty="0"/>
                  <a:t>SVM 优化的是：</a:t>
                </a:r>
                <a:endParaRPr lang="en-US" altLang="ja-JP" dirty="0"/>
              </a:p>
              <a:p>
                <a:pPr marL="0" indent="0">
                  <a:lnSpc>
                    <a:spcPct val="110000"/>
                  </a:lnSpc>
                  <a:buNone/>
                </a:pPr>
                <a14:m>
                  <m:oMathPara xmlns:m="http://schemas.openxmlformats.org/officeDocument/2006/math">
                    <m:oMathParaPr>
                      <m:jc m:val="centerGroup"/>
                    </m:oMathParaPr>
                    <m:oMath xmlns:m="http://schemas.openxmlformats.org/officeDocument/2006/math">
                      <m:sSub>
                        <m:sSubPr>
                          <m:ctrlPr>
                            <a:rPr lang="ja-JP" altLang="en-US" i="1" smtClean="0">
                              <a:latin typeface="Cambria Math" panose="02040503050406030204" pitchFamily="18" charset="0"/>
                            </a:rPr>
                          </m:ctrlPr>
                        </m:sSubPr>
                        <m:e>
                          <m:r>
                            <m:rPr>
                              <m:sty m:val="p"/>
                            </m:rPr>
                            <a:rPr lang="en-US" altLang="ja-JP" b="0" i="1" smtClean="0">
                              <a:latin typeface="Cambria Math" panose="02040503050406030204" pitchFamily="18" charset="0"/>
                            </a:rPr>
                            <m:t>min</m:t>
                          </m:r>
                        </m:e>
                        <m:sub>
                          <m:r>
                            <a:rPr lang="ja-JP" altLang="en-US" i="1">
                              <a:latin typeface="Cambria Math" panose="02040503050406030204" pitchFamily="18" charset="0"/>
                            </a:rPr>
                            <m:t>𝑤</m:t>
                          </m:r>
                          <m:r>
                            <a:rPr lang="en-US" altLang="ja-JP">
                              <a:latin typeface="Cambria Math" panose="02040503050406030204" pitchFamily="18" charset="0"/>
                            </a:rPr>
                            <m:t>,</m:t>
                          </m:r>
                          <m:r>
                            <a:rPr lang="ja-JP" altLang="en-US" i="1">
                              <a:latin typeface="Cambria Math" panose="02040503050406030204" pitchFamily="18" charset="0"/>
                            </a:rPr>
                            <m:t>𝑏</m:t>
                          </m:r>
                          <m:r>
                            <a:rPr lang="en-US" altLang="ja-JP">
                              <a:latin typeface="Cambria Math" panose="02040503050406030204" pitchFamily="18" charset="0"/>
                            </a:rPr>
                            <m:t>,</m:t>
                          </m:r>
                          <m:r>
                            <a:rPr lang="ja-JP" altLang="en-US" i="1">
                              <a:latin typeface="Cambria Math" panose="02040503050406030204" pitchFamily="18" charset="0"/>
                            </a:rPr>
                            <m:t>𝜉</m:t>
                          </m:r>
                        </m:sub>
                      </m:sSub>
                      <m:f>
                        <m:fPr>
                          <m:ctrlPr>
                            <a:rPr lang="ja-JP" altLang="en-US" i="1"/>
                          </m:ctrlPr>
                        </m:fPr>
                        <m:num>
                          <m:r>
                            <a:rPr lang="en-US" altLang="ja-JP"/>
                            <m:t>1</m:t>
                          </m:r>
                        </m:num>
                        <m:den>
                          <m:r>
                            <a:rPr lang="en-US" altLang="ja-JP"/>
                            <m:t>2</m:t>
                          </m:r>
                        </m:den>
                      </m:f>
                      <m:r>
                        <a:rPr lang="ja-JP" altLang="en-US"/>
                        <m:t>∥</m:t>
                      </m:r>
                      <m:r>
                        <a:rPr lang="ja-JP" altLang="en-US" i="1"/>
                        <m:t>𝑤</m:t>
                      </m:r>
                      <m:sSubSup>
                        <m:sSubSupPr>
                          <m:ctrlPr>
                            <a:rPr lang="ja-JP" altLang="en-US" i="1"/>
                          </m:ctrlPr>
                        </m:sSubSupPr>
                        <m:e>
                          <m:r>
                            <a:rPr lang="ja-JP" altLang="en-US"/>
                            <m:t>∥</m:t>
                          </m:r>
                        </m:e>
                        <m:sub>
                          <m:r>
                            <a:rPr lang="en-US" altLang="ja-JP"/>
                            <m:t>ℋ</m:t>
                          </m:r>
                        </m:sub>
                        <m:sup>
                          <m:r>
                            <a:rPr lang="en-US" altLang="ja-JP"/>
                            <m:t>2</m:t>
                          </m:r>
                        </m:sup>
                      </m:sSubSup>
                      <m:r>
                        <a:rPr lang="en-US" altLang="ja-JP"/>
                        <m:t>+</m:t>
                      </m:r>
                      <m:r>
                        <a:rPr lang="ja-JP" altLang="en-US" i="1"/>
                        <m:t>𝐶</m:t>
                      </m:r>
                      <m:nary>
                        <m:naryPr>
                          <m:chr m:val="∑"/>
                          <m:grow m:val="on"/>
                          <m:supHide m:val="on"/>
                          <m:ctrlPr>
                            <a:rPr lang="ja-JP" altLang="en-US" i="1"/>
                          </m:ctrlPr>
                        </m:naryPr>
                        <m:sub>
                          <m:r>
                            <a:rPr lang="ja-JP" altLang="en-US" i="1"/>
                            <m:t>𝑖</m:t>
                          </m:r>
                        </m:sub>
                        <m:sup/>
                        <m:e>
                          <m:sSub>
                            <m:sSubPr>
                              <m:ctrlPr>
                                <a:rPr lang="ja-JP" altLang="en-US" i="1"/>
                              </m:ctrlPr>
                            </m:sSubPr>
                            <m:e>
                              <m:r>
                                <a:rPr lang="ja-JP" altLang="en-US" i="1"/>
                                <m:t>𝜉</m:t>
                              </m:r>
                            </m:e>
                            <m:sub>
                              <m:r>
                                <a:rPr lang="ja-JP" altLang="en-US" i="1"/>
                                <m:t>𝑖</m:t>
                              </m:r>
                            </m:sub>
                          </m:sSub>
                        </m:e>
                      </m:nary>
                    </m:oMath>
                  </m:oMathPara>
                </a14:m>
                <a:endParaRPr lang="ja-JP" altLang="en-US" dirty="0"/>
              </a:p>
              <a:p>
                <a:pPr marL="0" indent="0">
                  <a:lnSpc>
                    <a:spcPct val="110000"/>
                  </a:lnSpc>
                  <a:buNone/>
                </a:pPr>
                <a:r>
                  <a:rPr lang="ja-JP" altLang="ja-JP" dirty="0"/>
                  <a:t>并要求：</a:t>
                </a:r>
                <a14:m>
                  <m:oMath xmlns:m="http://schemas.openxmlformats.org/officeDocument/2006/math">
                    <m:sSub>
                      <m:sSubPr>
                        <m:ctrlPr>
                          <a:rPr lang="ja-JP" altLang="en-US"/>
                        </m:ctrlPr>
                      </m:sSubPr>
                      <m:e>
                        <m:r>
                          <a:rPr lang="ja-JP" altLang="en-US" i="1"/>
                          <m:t>𝑦</m:t>
                        </m:r>
                      </m:e>
                      <m:sub>
                        <m:r>
                          <a:rPr lang="ja-JP" altLang="en-US" i="1"/>
                          <m:t>𝑖</m:t>
                        </m:r>
                      </m:sub>
                    </m:sSub>
                    <m:d>
                      <m:dPr>
                        <m:ctrlPr>
                          <a:rPr lang="ja-JP" altLang="en-US" i="1"/>
                        </m:ctrlPr>
                      </m:dPr>
                      <m:e>
                        <m:d>
                          <m:dPr>
                            <m:begChr m:val="⟨"/>
                            <m:endChr m:val="⟩"/>
                            <m:sepChr m:val=","/>
                            <m:ctrlPr>
                              <a:rPr lang="ja-JP" altLang="en-US" i="1"/>
                            </m:ctrlPr>
                          </m:dPr>
                          <m:e>
                            <m:r>
                              <a:rPr lang="ja-JP" altLang="en-US" i="1"/>
                              <m:t>𝑤</m:t>
                            </m:r>
                          </m:e>
                          <m:e>
                            <m:r>
                              <a:rPr lang="ja-JP" altLang="en-US" i="1"/>
                              <m:t>𝜙</m:t>
                            </m:r>
                            <m:d>
                              <m:dPr>
                                <m:ctrlPr>
                                  <a:rPr lang="ja-JP" altLang="en-US" i="1"/>
                                </m:ctrlPr>
                              </m:dPr>
                              <m:e>
                                <m:sSub>
                                  <m:sSubPr>
                                    <m:ctrlPr>
                                      <a:rPr lang="ja-JP" altLang="en-US" i="1"/>
                                    </m:ctrlPr>
                                  </m:sSubPr>
                                  <m:e>
                                    <m:r>
                                      <a:rPr lang="ja-JP" altLang="en-US" i="1"/>
                                      <m:t>𝑥</m:t>
                                    </m:r>
                                  </m:e>
                                  <m:sub>
                                    <m:r>
                                      <a:rPr lang="ja-JP" altLang="en-US" i="1"/>
                                      <m:t>𝑖</m:t>
                                    </m:r>
                                  </m:sub>
                                </m:sSub>
                              </m:e>
                            </m:d>
                          </m:e>
                        </m:d>
                        <m:r>
                          <a:rPr lang="en-US" altLang="ja-JP"/>
                          <m:t>+</m:t>
                        </m:r>
                        <m:r>
                          <a:rPr lang="ja-JP" altLang="en-US" i="1"/>
                          <m:t>𝑏</m:t>
                        </m:r>
                      </m:e>
                    </m:d>
                    <m:r>
                      <a:rPr lang="ja-JP" altLang="en-US"/>
                      <m:t>≥</m:t>
                    </m:r>
                    <m:r>
                      <a:rPr lang="en-US" altLang="ja-JP"/>
                      <m:t>1</m:t>
                    </m:r>
                    <m:r>
                      <a:rPr lang="en-US" altLang="ja-JP"/>
                      <m:t>−</m:t>
                    </m:r>
                    <m:sSub>
                      <m:sSubPr>
                        <m:ctrlPr>
                          <a:rPr lang="ja-JP" altLang="en-US" i="1"/>
                        </m:ctrlPr>
                      </m:sSubPr>
                      <m:e>
                        <m:r>
                          <a:rPr lang="ja-JP" altLang="en-US" i="1"/>
                          <m:t>𝜉</m:t>
                        </m:r>
                      </m:e>
                      <m:sub>
                        <m:r>
                          <a:rPr lang="ja-JP" altLang="en-US" i="1"/>
                          <m:t>𝑖</m:t>
                        </m:r>
                      </m:sub>
                    </m:sSub>
                    <m:r>
                      <a:rPr lang="en-US" altLang="ja-JP"/>
                      <m:t>.</m:t>
                    </m:r>
                  </m:oMath>
                </a14:m>
                <a:endParaRPr lang="en-US" altLang="ja-JP" dirty="0"/>
              </a:p>
              <a:p>
                <a:pPr marL="0" indent="0">
                  <a:lnSpc>
                    <a:spcPct val="110000"/>
                  </a:lnSpc>
                  <a:buNone/>
                </a:pPr>
                <a:endParaRPr lang="en-US" altLang="ja-JP" dirty="0"/>
              </a:p>
              <a:p>
                <a:pPr marL="0" indent="0">
                  <a:lnSpc>
                    <a:spcPct val="110000"/>
                  </a:lnSpc>
                  <a:buNone/>
                </a:pPr>
                <a:r>
                  <a:rPr lang="ja-JP" altLang="ja-JP" dirty="0"/>
                  <a:t>这里 </a:t>
                </a:r>
                <a14:m>
                  <m:oMath xmlns:m="http://schemas.openxmlformats.org/officeDocument/2006/math">
                    <m:r>
                      <a:rPr lang="ja-JP" altLang="en-US"/>
                      <m:t>∥</m:t>
                    </m:r>
                    <m:r>
                      <a:rPr lang="ja-JP" altLang="en-US" i="1"/>
                      <m:t>𝑤</m:t>
                    </m:r>
                    <m:sSub>
                      <m:sSubPr>
                        <m:ctrlPr>
                          <a:rPr lang="ja-JP" altLang="en-US" i="1"/>
                        </m:ctrlPr>
                      </m:sSubPr>
                      <m:e>
                        <m:r>
                          <a:rPr lang="ja-JP" altLang="en-US"/>
                          <m:t>∥</m:t>
                        </m:r>
                      </m:e>
                      <m:sub>
                        <m:r>
                          <a:rPr lang="en-US" altLang="ja-JP"/>
                          <m:t>ℋ</m:t>
                        </m:r>
                      </m:sub>
                    </m:sSub>
                  </m:oMath>
                </a14:m>
                <a:r>
                  <a:rPr lang="ja-JP" altLang="ja-JP" dirty="0"/>
                  <a:t>是 Hilbert 空间范数。小范数、大间隔对应更好的泛化控制。</a:t>
                </a:r>
                <a:br>
                  <a:rPr lang="ja-JP" altLang="ja-JP" dirty="0"/>
                </a:br>
                <a:r>
                  <a:rPr lang="ja-JP" altLang="ja-JP" dirty="0"/>
                  <a:t>通过核技巧，对偶问题只依赖：</a:t>
                </a:r>
                <a:endParaRPr lang="en-US" altLang="ja-JP" dirty="0"/>
              </a:p>
              <a:p>
                <a:pPr marL="0" indent="0">
                  <a:lnSpc>
                    <a:spcPct val="110000"/>
                  </a:lnSpc>
                  <a:buNone/>
                </a:pPr>
                <a14:m>
                  <m:oMathPara xmlns:m="http://schemas.openxmlformats.org/officeDocument/2006/math">
                    <m:oMathParaPr>
                      <m:jc m:val="centerGroup"/>
                    </m:oMathParaPr>
                    <m:oMath xmlns:m="http://schemas.openxmlformats.org/officeDocument/2006/math">
                      <m:sSub>
                        <m:sSubPr>
                          <m:ctrlPr>
                            <a:rPr lang="ja-JP" altLang="en-US"/>
                          </m:ctrlPr>
                        </m:sSubPr>
                        <m:e>
                          <m:r>
                            <a:rPr lang="ja-JP" altLang="en-US" i="1"/>
                            <m:t>𝐾</m:t>
                          </m:r>
                        </m:e>
                        <m:sub>
                          <m:r>
                            <a:rPr lang="ja-JP" altLang="en-US" i="1"/>
                            <m:t>𝑖𝑗</m:t>
                          </m:r>
                        </m:sub>
                      </m:sSub>
                      <m:r>
                        <a:rPr lang="en-US" altLang="ja-JP"/>
                        <m:t>=</m:t>
                      </m:r>
                      <m:d>
                        <m:dPr>
                          <m:begChr m:val="⟨"/>
                          <m:endChr m:val="⟩"/>
                          <m:sepChr m:val=","/>
                          <m:ctrlPr>
                            <a:rPr lang="ja-JP" altLang="en-US" i="1"/>
                          </m:ctrlPr>
                        </m:dPr>
                        <m:e>
                          <m:r>
                            <a:rPr lang="ja-JP" altLang="en-US" i="1"/>
                            <m:t>𝜙</m:t>
                          </m:r>
                        </m:e>
                        <m:e>
                          <m:d>
                            <m:dPr>
                              <m:ctrlPr>
                                <a:rPr lang="ja-JP" altLang="en-US" i="1"/>
                              </m:ctrlPr>
                            </m:dPr>
                            <m:e>
                              <m:sSub>
                                <m:sSubPr>
                                  <m:ctrlPr>
                                    <a:rPr lang="ja-JP" altLang="en-US" i="1"/>
                                  </m:ctrlPr>
                                </m:sSubPr>
                                <m:e>
                                  <m:r>
                                    <a:rPr lang="ja-JP" altLang="en-US" i="1"/>
                                    <m:t>𝑥</m:t>
                                  </m:r>
                                </m:e>
                                <m:sub>
                                  <m:r>
                                    <a:rPr lang="ja-JP" altLang="en-US" i="1"/>
                                    <m:t>𝑖</m:t>
                                  </m:r>
                                </m:sub>
                              </m:sSub>
                            </m:e>
                          </m:d>
                          <m:r>
                            <a:rPr lang="ja-JP" altLang="en-US" i="1"/>
                            <m:t>𝜙</m:t>
                          </m:r>
                          <m:d>
                            <m:dPr>
                              <m:ctrlPr>
                                <a:rPr lang="ja-JP" altLang="en-US" i="1"/>
                              </m:ctrlPr>
                            </m:dPr>
                            <m:e>
                              <m:sSub>
                                <m:sSubPr>
                                  <m:ctrlPr>
                                    <a:rPr lang="ja-JP" altLang="en-US" i="1"/>
                                  </m:ctrlPr>
                                </m:sSubPr>
                                <m:e>
                                  <m:r>
                                    <a:rPr lang="ja-JP" altLang="en-US" i="1"/>
                                    <m:t>𝑥</m:t>
                                  </m:r>
                                </m:e>
                                <m:sub>
                                  <m:r>
                                    <a:rPr lang="ja-JP" altLang="en-US" i="1"/>
                                    <m:t>𝑗</m:t>
                                  </m:r>
                                </m:sub>
                              </m:sSub>
                            </m:e>
                          </m:d>
                        </m:e>
                      </m:d>
                      <m:r>
                        <a:rPr lang="en-US" altLang="ja-JP"/>
                        <m:t>.</m:t>
                      </m:r>
                    </m:oMath>
                  </m:oMathPara>
                </a14:m>
                <a:endParaRPr lang="en-US" altLang="ja-JP" dirty="0"/>
              </a:p>
              <a:p>
                <a:pPr>
                  <a:lnSpc>
                    <a:spcPct val="110000"/>
                  </a:lnSpc>
                </a:pPr>
                <a:r>
                  <a:rPr lang="ja-JP" altLang="ja-JP" dirty="0"/>
                  <a:t>Liu 等的证明核心就是：量子特征映射保证存在大间隔超平面，而 SVM 的 Hilbert 范数正则化能找到足够好的泛函；即使核矩阵有小扰动，优化问题和分类结果仍然稳定。</a:t>
                </a:r>
              </a:p>
            </p:txBody>
          </p:sp>
        </mc:Choice>
        <mc:Fallback>
          <p:sp>
            <p:nvSpPr>
              <p:cNvPr id="12" name="コンテンツ プレースホルダー 2">
                <a:extLst>
                  <a:ext uri="{FF2B5EF4-FFF2-40B4-BE49-F238E27FC236}">
                    <a16:creationId xmlns:a16="http://schemas.microsoft.com/office/drawing/2014/main" id="{C43D0166-0986-F9D6-0247-CFAC2AEC6F0A}"/>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t="-926" r="-257" b="-2778"/>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 name="テキスト ボックス 3">
                <a:extLst>
                  <a:ext uri="{FF2B5EF4-FFF2-40B4-BE49-F238E27FC236}">
                    <a16:creationId xmlns:a16="http://schemas.microsoft.com/office/drawing/2014/main" id="{D6F6E834-0095-796D-46B4-6C747C43C854}"/>
                  </a:ext>
                </a:extLst>
              </p:cNvPr>
              <p:cNvSpPr txBox="1"/>
              <p:nvPr/>
            </p:nvSpPr>
            <p:spPr>
              <a:xfrm>
                <a:off x="7981122" y="2224417"/>
                <a:ext cx="4104198" cy="2062103"/>
              </a:xfrm>
              <a:prstGeom prst="rect">
                <a:avLst/>
              </a:prstGeom>
              <a:noFill/>
            </p:spPr>
            <p:txBody>
              <a:bodyPr wrap="square">
                <a:spAutoFit/>
              </a:bodyPr>
              <a:lstStyle/>
              <a:p>
                <a:pPr>
                  <a:buNone/>
                </a:pPr>
                <a:r>
                  <a:rPr lang="ja-JP" altLang="ja-JP" sz="1600" dirty="0">
                    <a:solidFill>
                      <a:srgbClr val="7030A0"/>
                    </a:solidFill>
                    <a:latin typeface="+mj-ea"/>
                    <a:ea typeface="+mj-ea"/>
                  </a:rPr>
                  <a:t>w 是 Hilbert 空间中的分类方向，也就是超平面的法向量。</a:t>
                </a:r>
              </a:p>
              <a:p>
                <a:pPr>
                  <a:buNone/>
                </a:pPr>
                <a14:m>
                  <m:oMath xmlns:m="http://schemas.openxmlformats.org/officeDocument/2006/math">
                    <m:r>
                      <a:rPr lang="ja-JP" altLang="en-US" sz="1600" i="1">
                        <a:solidFill>
                          <a:srgbClr val="7030A0"/>
                        </a:solidFill>
                        <a:latin typeface="Cambria Math" panose="02040503050406030204" pitchFamily="18" charset="0"/>
                        <a:ea typeface="+mj-ea"/>
                      </a:rPr>
                      <m:t>𝑏</m:t>
                    </m:r>
                  </m:oMath>
                </a14:m>
                <a:r>
                  <a:rPr lang="ja-JP" altLang="ja-JP" sz="1600" dirty="0">
                    <a:solidFill>
                      <a:srgbClr val="7030A0"/>
                    </a:solidFill>
                    <a:latin typeface="+mj-ea"/>
                    <a:ea typeface="+mj-ea"/>
                  </a:rPr>
                  <a:t>是偏置，决定超平面的位置。</a:t>
                </a:r>
              </a:p>
              <a:p>
                <a:pPr>
                  <a:buNone/>
                </a:pPr>
                <a14:m>
                  <m:oMath xmlns:m="http://schemas.openxmlformats.org/officeDocument/2006/math">
                    <m:sSub>
                      <m:sSubPr>
                        <m:ctrlPr>
                          <a:rPr lang="ja-JP" altLang="en-US" sz="1600" i="1">
                            <a:solidFill>
                              <a:srgbClr val="7030A0"/>
                            </a:solidFill>
                            <a:latin typeface="Cambria Math" panose="02040503050406030204" pitchFamily="18" charset="0"/>
                            <a:ea typeface="+mj-ea"/>
                          </a:rPr>
                        </m:ctrlPr>
                      </m:sSubPr>
                      <m:e>
                        <m:r>
                          <a:rPr lang="ja-JP" altLang="en-US" sz="1600" i="1">
                            <a:solidFill>
                              <a:srgbClr val="7030A0"/>
                            </a:solidFill>
                            <a:latin typeface="Cambria Math" panose="02040503050406030204" pitchFamily="18" charset="0"/>
                            <a:ea typeface="+mj-ea"/>
                          </a:rPr>
                          <m:t>𝜉</m:t>
                        </m:r>
                      </m:e>
                      <m:sub>
                        <m:r>
                          <a:rPr lang="ja-JP" altLang="en-US" sz="1600" i="1">
                            <a:solidFill>
                              <a:srgbClr val="7030A0"/>
                            </a:solidFill>
                            <a:latin typeface="Cambria Math" panose="02040503050406030204" pitchFamily="18" charset="0"/>
                            <a:ea typeface="+mj-ea"/>
                          </a:rPr>
                          <m:t>𝑖</m:t>
                        </m:r>
                      </m:sub>
                    </m:sSub>
                  </m:oMath>
                </a14:m>
                <a:r>
                  <a:rPr lang="ja-JP" altLang="ja-JP" sz="1600" dirty="0">
                    <a:solidFill>
                      <a:srgbClr val="7030A0"/>
                    </a:solidFill>
                    <a:latin typeface="+mj-ea"/>
                    <a:ea typeface="+mj-ea"/>
                  </a:rPr>
                  <a:t>是 slack variable，叫松弛变量。它允许少量样本违反分类间隔要求。</a:t>
                </a:r>
                <a14:m>
                  <m:oMath xmlns:m="http://schemas.openxmlformats.org/officeDocument/2006/math">
                    <m:r>
                      <a:rPr lang="ja-JP" altLang="en-US" sz="1600" i="1">
                        <a:solidFill>
                          <a:srgbClr val="7030A0"/>
                        </a:solidFill>
                        <a:latin typeface="Cambria Math" panose="02040503050406030204" pitchFamily="18" charset="0"/>
                        <a:ea typeface="+mj-ea"/>
                      </a:rPr>
                      <m:t>𝐶</m:t>
                    </m:r>
                  </m:oMath>
                </a14:m>
                <a:r>
                  <a:rPr lang="ja-JP" altLang="ja-JP" sz="1600" dirty="0">
                    <a:solidFill>
                      <a:srgbClr val="7030A0"/>
                    </a:solidFill>
                    <a:latin typeface="+mj-ea"/>
                    <a:ea typeface="+mj-ea"/>
                  </a:rPr>
                  <a:t>是惩罚系数</a:t>
                </a:r>
                <a:br>
                  <a:rPr lang="ja-JP" altLang="ja-JP" sz="1600" dirty="0">
                    <a:solidFill>
                      <a:srgbClr val="7030A0"/>
                    </a:solidFill>
                    <a:latin typeface="+mj-ea"/>
                    <a:ea typeface="+mj-ea"/>
                  </a:rPr>
                </a:br>
                <a:r>
                  <a:rPr lang="ja-JP" altLang="ja-JP" sz="1600" dirty="0">
                    <a:solidFill>
                      <a:srgbClr val="7030A0"/>
                    </a:solidFill>
                    <a:latin typeface="+mj-ea"/>
                    <a:ea typeface="+mj-ea"/>
                  </a:rPr>
                  <a:t>如果 </a:t>
                </a:r>
                <a14:m>
                  <m:oMath xmlns:m="http://schemas.openxmlformats.org/officeDocument/2006/math">
                    <m:r>
                      <a:rPr lang="ja-JP" altLang="en-US" sz="1600" i="1">
                        <a:solidFill>
                          <a:srgbClr val="7030A0"/>
                        </a:solidFill>
                        <a:latin typeface="Cambria Math" panose="02040503050406030204" pitchFamily="18" charset="0"/>
                        <a:ea typeface="+mj-ea"/>
                      </a:rPr>
                      <m:t>𝐶</m:t>
                    </m:r>
                  </m:oMath>
                </a14:m>
                <a:r>
                  <a:rPr lang="ja-JP" altLang="ja-JP" sz="1600" dirty="0">
                    <a:solidFill>
                      <a:srgbClr val="7030A0"/>
                    </a:solidFill>
                    <a:latin typeface="+mj-ea"/>
                    <a:ea typeface="+mj-ea"/>
                  </a:rPr>
                  <a:t>很大，模型会强烈惩罚分类错误；如果 </a:t>
                </a:r>
                <a14:m>
                  <m:oMath xmlns:m="http://schemas.openxmlformats.org/officeDocument/2006/math">
                    <m:r>
                      <a:rPr lang="ja-JP" altLang="en-US" sz="1600" i="1">
                        <a:solidFill>
                          <a:srgbClr val="7030A0"/>
                        </a:solidFill>
                        <a:latin typeface="Cambria Math" panose="02040503050406030204" pitchFamily="18" charset="0"/>
                        <a:ea typeface="+mj-ea"/>
                      </a:rPr>
                      <m:t>𝐶</m:t>
                    </m:r>
                  </m:oMath>
                </a14:m>
                <a:r>
                  <a:rPr lang="ja-JP" altLang="ja-JP" sz="1600" dirty="0">
                    <a:solidFill>
                      <a:srgbClr val="7030A0"/>
                    </a:solidFill>
                    <a:latin typeface="+mj-ea"/>
                    <a:ea typeface="+mj-ea"/>
                  </a:rPr>
                  <a:t>较小，模型允许一些错误，以换取更大的间隔和更好的泛化。</a:t>
                </a:r>
              </a:p>
            </p:txBody>
          </p:sp>
        </mc:Choice>
        <mc:Fallback>
          <p:sp>
            <p:nvSpPr>
              <p:cNvPr id="4" name="テキスト ボックス 3">
                <a:extLst>
                  <a:ext uri="{FF2B5EF4-FFF2-40B4-BE49-F238E27FC236}">
                    <a16:creationId xmlns:a16="http://schemas.microsoft.com/office/drawing/2014/main" id="{D6F6E834-0095-796D-46B4-6C747C43C854}"/>
                  </a:ext>
                </a:extLst>
              </p:cNvPr>
              <p:cNvSpPr txBox="1">
                <a:spLocks noRot="1" noChangeAspect="1" noMove="1" noResize="1" noEditPoints="1" noAdjustHandles="1" noChangeArrowheads="1" noChangeShapeType="1" noTextEdit="1"/>
              </p:cNvSpPr>
              <p:nvPr/>
            </p:nvSpPr>
            <p:spPr>
              <a:xfrm>
                <a:off x="7981122" y="2224417"/>
                <a:ext cx="4104198" cy="2062103"/>
              </a:xfrm>
              <a:prstGeom prst="rect">
                <a:avLst/>
              </a:prstGeom>
              <a:blipFill>
                <a:blip r:embed="rId4"/>
                <a:stretch>
                  <a:fillRect l="-742" t="-888" r="-742" b="-2959"/>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4FE6A6F6-EBAC-E7F0-1485-2B63E7CCB866}"/>
                  </a:ext>
                </a:extLst>
              </p:cNvPr>
              <p:cNvSpPr txBox="1"/>
              <p:nvPr/>
            </p:nvSpPr>
            <p:spPr>
              <a:xfrm>
                <a:off x="298174" y="2839969"/>
                <a:ext cx="3912705" cy="830997"/>
              </a:xfrm>
              <a:prstGeom prst="rect">
                <a:avLst/>
              </a:prstGeom>
              <a:noFill/>
            </p:spPr>
            <p:txBody>
              <a:bodyPr wrap="square">
                <a:spAutoFit/>
              </a:bodyPr>
              <a:lstStyle/>
              <a:p>
                <a:pPr>
                  <a:buNone/>
                </a:pPr>
                <a:r>
                  <a:rPr lang="ja-JP" altLang="ja-JP" sz="1600" dirty="0">
                    <a:solidFill>
                      <a:srgbClr val="7030A0"/>
                    </a:solidFill>
                  </a:rPr>
                  <a:t>yi​∈{−1,+1} 是样本标签。如果 </a:t>
                </a:r>
                <a14:m>
                  <m:oMath xmlns:m="http://schemas.openxmlformats.org/officeDocument/2006/math">
                    <m:sSub>
                      <m:sSubPr>
                        <m:ctrlPr>
                          <a:rPr lang="ja-JP" altLang="en-US" sz="1600" i="1">
                            <a:solidFill>
                              <a:srgbClr val="7030A0"/>
                            </a:solidFill>
                            <a:latin typeface="Cambria Math" panose="02040503050406030204" pitchFamily="18" charset="0"/>
                          </a:rPr>
                        </m:ctrlPr>
                      </m:sSubPr>
                      <m:e>
                        <m:r>
                          <a:rPr lang="ja-JP" altLang="en-US" sz="1600" i="1">
                            <a:solidFill>
                              <a:srgbClr val="7030A0"/>
                            </a:solidFill>
                            <a:latin typeface="Cambria Math" panose="02040503050406030204" pitchFamily="18" charset="0"/>
                          </a:rPr>
                          <m:t>𝑦</m:t>
                        </m:r>
                      </m:e>
                      <m:sub>
                        <m:r>
                          <a:rPr lang="ja-JP" altLang="en-US" sz="1600" i="1">
                            <a:solidFill>
                              <a:srgbClr val="7030A0"/>
                            </a:solidFill>
                            <a:latin typeface="Cambria Math" panose="02040503050406030204" pitchFamily="18" charset="0"/>
                          </a:rPr>
                          <m:t>𝑖</m:t>
                        </m:r>
                      </m:sub>
                    </m:sSub>
                    <m:r>
                      <a:rPr lang="en-US" altLang="ja-JP" sz="1600" i="0">
                        <a:solidFill>
                          <a:srgbClr val="7030A0"/>
                        </a:solidFill>
                        <a:latin typeface="Cambria Math" panose="02040503050406030204" pitchFamily="18" charset="0"/>
                      </a:rPr>
                      <m:t>=+</m:t>
                    </m:r>
                    <m:r>
                      <a:rPr lang="en-US" altLang="ja-JP" sz="1600" i="0">
                        <a:solidFill>
                          <a:srgbClr val="7030A0"/>
                        </a:solidFill>
                        <a:latin typeface="Cambria Math" panose="02040503050406030204" pitchFamily="18" charset="0"/>
                      </a:rPr>
                      <m:t>1</m:t>
                    </m:r>
                  </m:oMath>
                </a14:m>
                <a:r>
                  <a:rPr lang="ja-JP" altLang="ja-JP" sz="1600" dirty="0">
                    <a:solidFill>
                      <a:srgbClr val="7030A0"/>
                    </a:solidFill>
                  </a:rPr>
                  <a:t>，那么希望：</a:t>
                </a:r>
                <a14:m>
                  <m:oMath xmlns:m="http://schemas.openxmlformats.org/officeDocument/2006/math">
                    <m:sSub>
                      <m:sSubPr>
                        <m:ctrlPr>
                          <a:rPr lang="ja-JP" altLang="en-US" sz="1600" i="1">
                            <a:solidFill>
                              <a:srgbClr val="7030A0"/>
                            </a:solidFill>
                            <a:latin typeface="Cambria Math" panose="02040503050406030204" pitchFamily="18" charset="0"/>
                          </a:rPr>
                        </m:ctrlPr>
                      </m:sSubPr>
                      <m:e>
                        <m:d>
                          <m:dPr>
                            <m:begChr m:val="⟨"/>
                            <m:endChr m:val="⟩"/>
                            <m:sepChr m:val=","/>
                            <m:ctrlPr>
                              <a:rPr lang="ja-JP" altLang="en-US" sz="1600" i="1">
                                <a:solidFill>
                                  <a:srgbClr val="7030A0"/>
                                </a:solidFill>
                                <a:latin typeface="Cambria Math" panose="02040503050406030204" pitchFamily="18" charset="0"/>
                              </a:rPr>
                            </m:ctrlPr>
                          </m:dPr>
                          <m:e>
                            <m:r>
                              <a:rPr lang="ja-JP" altLang="en-US" sz="1600" i="1">
                                <a:solidFill>
                                  <a:srgbClr val="7030A0"/>
                                </a:solidFill>
                                <a:latin typeface="Cambria Math" panose="02040503050406030204" pitchFamily="18" charset="0"/>
                              </a:rPr>
                              <m:t>𝑤</m:t>
                            </m:r>
                          </m:e>
                          <m:e>
                            <m:r>
                              <a:rPr lang="ja-JP" altLang="en-US" sz="1600" i="1">
                                <a:solidFill>
                                  <a:srgbClr val="7030A0"/>
                                </a:solidFill>
                                <a:latin typeface="Cambria Math" panose="02040503050406030204" pitchFamily="18" charset="0"/>
                              </a:rPr>
                              <m:t>𝜙</m:t>
                            </m:r>
                            <m:d>
                              <m:dPr>
                                <m:ctrlPr>
                                  <a:rPr lang="ja-JP" altLang="en-US" sz="1600" i="1">
                                    <a:solidFill>
                                      <a:srgbClr val="7030A0"/>
                                    </a:solidFill>
                                    <a:latin typeface="Cambria Math" panose="02040503050406030204" pitchFamily="18" charset="0"/>
                                  </a:rPr>
                                </m:ctrlPr>
                              </m:dPr>
                              <m:e>
                                <m:sSub>
                                  <m:sSubPr>
                                    <m:ctrlPr>
                                      <a:rPr lang="ja-JP" altLang="en-US" sz="1600" i="1">
                                        <a:solidFill>
                                          <a:srgbClr val="7030A0"/>
                                        </a:solidFill>
                                        <a:latin typeface="Cambria Math" panose="02040503050406030204" pitchFamily="18" charset="0"/>
                                      </a:rPr>
                                    </m:ctrlPr>
                                  </m:sSubPr>
                                  <m:e>
                                    <m:r>
                                      <a:rPr lang="ja-JP" altLang="en-US" sz="1600" i="1">
                                        <a:solidFill>
                                          <a:srgbClr val="7030A0"/>
                                        </a:solidFill>
                                        <a:latin typeface="Cambria Math" panose="02040503050406030204" pitchFamily="18" charset="0"/>
                                      </a:rPr>
                                      <m:t>𝑥</m:t>
                                    </m:r>
                                  </m:e>
                                  <m:sub>
                                    <m:r>
                                      <a:rPr lang="ja-JP" altLang="en-US" sz="1600" i="1">
                                        <a:solidFill>
                                          <a:srgbClr val="7030A0"/>
                                        </a:solidFill>
                                        <a:latin typeface="Cambria Math" panose="02040503050406030204" pitchFamily="18" charset="0"/>
                                      </a:rPr>
                                      <m:t>𝑖</m:t>
                                    </m:r>
                                  </m:sub>
                                </m:sSub>
                              </m:e>
                            </m:d>
                          </m:e>
                        </m:d>
                      </m:e>
                      <m:sub>
                        <m:r>
                          <a:rPr lang="en-US" altLang="ja-JP" sz="1600" i="0">
                            <a:solidFill>
                              <a:srgbClr val="7030A0"/>
                            </a:solidFill>
                            <a:latin typeface="Cambria Math" panose="02040503050406030204" pitchFamily="18" charset="0"/>
                          </a:rPr>
                          <m:t>ℋ</m:t>
                        </m:r>
                      </m:sub>
                    </m:sSub>
                    <m:r>
                      <a:rPr lang="en-US" altLang="ja-JP" sz="1600" i="0">
                        <a:solidFill>
                          <a:srgbClr val="7030A0"/>
                        </a:solidFill>
                        <a:latin typeface="Cambria Math" panose="02040503050406030204" pitchFamily="18" charset="0"/>
                      </a:rPr>
                      <m:t>+</m:t>
                    </m:r>
                    <m:r>
                      <a:rPr lang="ja-JP" altLang="en-US" sz="1600" i="1">
                        <a:solidFill>
                          <a:srgbClr val="7030A0"/>
                        </a:solidFill>
                        <a:latin typeface="Cambria Math" panose="02040503050406030204" pitchFamily="18" charset="0"/>
                      </a:rPr>
                      <m:t>𝑏</m:t>
                    </m:r>
                    <m:r>
                      <a:rPr lang="ja-JP" altLang="en-US" sz="1600" i="0">
                        <a:solidFill>
                          <a:srgbClr val="7030A0"/>
                        </a:solidFill>
                        <a:latin typeface="Cambria Math" panose="02040503050406030204" pitchFamily="18" charset="0"/>
                      </a:rPr>
                      <m:t>≥</m:t>
                    </m:r>
                    <m:r>
                      <a:rPr lang="en-US" altLang="ja-JP" sz="1600" i="0">
                        <a:solidFill>
                          <a:srgbClr val="7030A0"/>
                        </a:solidFill>
                        <a:latin typeface="Cambria Math" panose="02040503050406030204" pitchFamily="18" charset="0"/>
                      </a:rPr>
                      <m:t>1</m:t>
                    </m:r>
                    <m:r>
                      <a:rPr lang="en-US" altLang="ja-JP" sz="1600" i="0">
                        <a:solidFill>
                          <a:srgbClr val="7030A0"/>
                        </a:solidFill>
                        <a:latin typeface="Cambria Math" panose="02040503050406030204" pitchFamily="18" charset="0"/>
                      </a:rPr>
                      <m:t>.</m:t>
                    </m:r>
                  </m:oMath>
                </a14:m>
                <a:r>
                  <a:rPr lang="ja-JP" altLang="ja-JP" sz="1600" dirty="0">
                    <a:solidFill>
                      <a:srgbClr val="7030A0"/>
                    </a:solidFill>
                  </a:rPr>
                  <a:t>如果 </a:t>
                </a:r>
                <a14:m>
                  <m:oMath xmlns:m="http://schemas.openxmlformats.org/officeDocument/2006/math">
                    <m:sSub>
                      <m:sSubPr>
                        <m:ctrlPr>
                          <a:rPr lang="ja-JP" altLang="en-US" sz="1600" i="1">
                            <a:solidFill>
                              <a:srgbClr val="7030A0"/>
                            </a:solidFill>
                            <a:latin typeface="Cambria Math" panose="02040503050406030204" pitchFamily="18" charset="0"/>
                          </a:rPr>
                        </m:ctrlPr>
                      </m:sSubPr>
                      <m:e>
                        <m:r>
                          <a:rPr lang="ja-JP" altLang="en-US" sz="1600" i="1">
                            <a:solidFill>
                              <a:srgbClr val="7030A0"/>
                            </a:solidFill>
                            <a:latin typeface="Cambria Math" panose="02040503050406030204" pitchFamily="18" charset="0"/>
                          </a:rPr>
                          <m:t>𝑦</m:t>
                        </m:r>
                      </m:e>
                      <m:sub>
                        <m:r>
                          <a:rPr lang="ja-JP" altLang="en-US" sz="1600" i="1">
                            <a:solidFill>
                              <a:srgbClr val="7030A0"/>
                            </a:solidFill>
                            <a:latin typeface="Cambria Math" panose="02040503050406030204" pitchFamily="18" charset="0"/>
                          </a:rPr>
                          <m:t>𝑖</m:t>
                        </m:r>
                      </m:sub>
                    </m:sSub>
                    <m:r>
                      <a:rPr lang="en-US" altLang="ja-JP" sz="1600" i="0">
                        <a:solidFill>
                          <a:srgbClr val="7030A0"/>
                        </a:solidFill>
                        <a:latin typeface="Cambria Math" panose="02040503050406030204" pitchFamily="18" charset="0"/>
                      </a:rPr>
                      <m:t>=−</m:t>
                    </m:r>
                    <m:r>
                      <a:rPr lang="en-US" altLang="ja-JP" sz="1600" i="0">
                        <a:solidFill>
                          <a:srgbClr val="7030A0"/>
                        </a:solidFill>
                        <a:latin typeface="Cambria Math" panose="02040503050406030204" pitchFamily="18" charset="0"/>
                      </a:rPr>
                      <m:t>1</m:t>
                    </m:r>
                  </m:oMath>
                </a14:m>
                <a:r>
                  <a:rPr lang="ja-JP" altLang="ja-JP" sz="1600" dirty="0">
                    <a:solidFill>
                      <a:srgbClr val="7030A0"/>
                    </a:solidFill>
                  </a:rPr>
                  <a:t>，那么希望：</a:t>
                </a:r>
                <a14:m>
                  <m:oMath xmlns:m="http://schemas.openxmlformats.org/officeDocument/2006/math">
                    <m:sSub>
                      <m:sSubPr>
                        <m:ctrlPr>
                          <a:rPr lang="ja-JP" altLang="en-US" sz="1600" i="1">
                            <a:solidFill>
                              <a:srgbClr val="7030A0"/>
                            </a:solidFill>
                            <a:latin typeface="Cambria Math" panose="02040503050406030204" pitchFamily="18" charset="0"/>
                          </a:rPr>
                        </m:ctrlPr>
                      </m:sSubPr>
                      <m:e>
                        <m:d>
                          <m:dPr>
                            <m:begChr m:val="⟨"/>
                            <m:endChr m:val="⟩"/>
                            <m:sepChr m:val=","/>
                            <m:ctrlPr>
                              <a:rPr lang="ja-JP" altLang="en-US" sz="1600" i="1">
                                <a:solidFill>
                                  <a:srgbClr val="7030A0"/>
                                </a:solidFill>
                                <a:latin typeface="Cambria Math" panose="02040503050406030204" pitchFamily="18" charset="0"/>
                              </a:rPr>
                            </m:ctrlPr>
                          </m:dPr>
                          <m:e>
                            <m:r>
                              <a:rPr lang="ja-JP" altLang="en-US" sz="1600" i="1">
                                <a:solidFill>
                                  <a:srgbClr val="7030A0"/>
                                </a:solidFill>
                                <a:latin typeface="Cambria Math" panose="02040503050406030204" pitchFamily="18" charset="0"/>
                              </a:rPr>
                              <m:t>𝑤</m:t>
                            </m:r>
                          </m:e>
                          <m:e>
                            <m:r>
                              <a:rPr lang="ja-JP" altLang="en-US" sz="1600" i="1">
                                <a:solidFill>
                                  <a:srgbClr val="7030A0"/>
                                </a:solidFill>
                                <a:latin typeface="Cambria Math" panose="02040503050406030204" pitchFamily="18" charset="0"/>
                              </a:rPr>
                              <m:t>𝜙</m:t>
                            </m:r>
                            <m:d>
                              <m:dPr>
                                <m:ctrlPr>
                                  <a:rPr lang="ja-JP" altLang="en-US" sz="1600" i="1">
                                    <a:solidFill>
                                      <a:srgbClr val="7030A0"/>
                                    </a:solidFill>
                                    <a:latin typeface="Cambria Math" panose="02040503050406030204" pitchFamily="18" charset="0"/>
                                  </a:rPr>
                                </m:ctrlPr>
                              </m:dPr>
                              <m:e>
                                <m:sSub>
                                  <m:sSubPr>
                                    <m:ctrlPr>
                                      <a:rPr lang="ja-JP" altLang="en-US" sz="1600" i="1">
                                        <a:solidFill>
                                          <a:srgbClr val="7030A0"/>
                                        </a:solidFill>
                                        <a:latin typeface="Cambria Math" panose="02040503050406030204" pitchFamily="18" charset="0"/>
                                      </a:rPr>
                                    </m:ctrlPr>
                                  </m:sSubPr>
                                  <m:e>
                                    <m:r>
                                      <a:rPr lang="ja-JP" altLang="en-US" sz="1600" i="1">
                                        <a:solidFill>
                                          <a:srgbClr val="7030A0"/>
                                        </a:solidFill>
                                        <a:latin typeface="Cambria Math" panose="02040503050406030204" pitchFamily="18" charset="0"/>
                                      </a:rPr>
                                      <m:t>𝑥</m:t>
                                    </m:r>
                                  </m:e>
                                  <m:sub>
                                    <m:r>
                                      <a:rPr lang="ja-JP" altLang="en-US" sz="1600" i="1">
                                        <a:solidFill>
                                          <a:srgbClr val="7030A0"/>
                                        </a:solidFill>
                                        <a:latin typeface="Cambria Math" panose="02040503050406030204" pitchFamily="18" charset="0"/>
                                      </a:rPr>
                                      <m:t>𝑖</m:t>
                                    </m:r>
                                  </m:sub>
                                </m:sSub>
                              </m:e>
                            </m:d>
                          </m:e>
                        </m:d>
                      </m:e>
                      <m:sub>
                        <m:r>
                          <a:rPr lang="en-US" altLang="ja-JP" sz="1600" i="0">
                            <a:solidFill>
                              <a:srgbClr val="7030A0"/>
                            </a:solidFill>
                            <a:latin typeface="Cambria Math" panose="02040503050406030204" pitchFamily="18" charset="0"/>
                          </a:rPr>
                          <m:t>ℋ</m:t>
                        </m:r>
                      </m:sub>
                    </m:sSub>
                    <m:r>
                      <a:rPr lang="en-US" altLang="ja-JP" sz="1600" i="0">
                        <a:solidFill>
                          <a:srgbClr val="7030A0"/>
                        </a:solidFill>
                        <a:latin typeface="Cambria Math" panose="02040503050406030204" pitchFamily="18" charset="0"/>
                      </a:rPr>
                      <m:t>+</m:t>
                    </m:r>
                    <m:r>
                      <a:rPr lang="ja-JP" altLang="en-US" sz="1600" i="1">
                        <a:solidFill>
                          <a:srgbClr val="7030A0"/>
                        </a:solidFill>
                        <a:latin typeface="Cambria Math" panose="02040503050406030204" pitchFamily="18" charset="0"/>
                      </a:rPr>
                      <m:t>𝑏</m:t>
                    </m:r>
                    <m:r>
                      <a:rPr lang="ja-JP" altLang="en-US" sz="1600" i="0">
                        <a:solidFill>
                          <a:srgbClr val="7030A0"/>
                        </a:solidFill>
                        <a:latin typeface="Cambria Math" panose="02040503050406030204" pitchFamily="18" charset="0"/>
                      </a:rPr>
                      <m:t>≤−</m:t>
                    </m:r>
                    <m:r>
                      <a:rPr lang="en-US" altLang="ja-JP" sz="1600" i="0">
                        <a:solidFill>
                          <a:srgbClr val="7030A0"/>
                        </a:solidFill>
                        <a:latin typeface="Cambria Math" panose="02040503050406030204" pitchFamily="18" charset="0"/>
                      </a:rPr>
                      <m:t>1</m:t>
                    </m:r>
                    <m:r>
                      <a:rPr lang="en-US" altLang="ja-JP" sz="1600" i="0">
                        <a:solidFill>
                          <a:srgbClr val="7030A0"/>
                        </a:solidFill>
                        <a:latin typeface="Cambria Math" panose="02040503050406030204" pitchFamily="18" charset="0"/>
                      </a:rPr>
                      <m:t>.</m:t>
                    </m:r>
                  </m:oMath>
                </a14:m>
                <a:endParaRPr lang="en-US" altLang="ja-JP" sz="1600" dirty="0">
                  <a:solidFill>
                    <a:srgbClr val="7030A0"/>
                  </a:solidFill>
                </a:endParaRPr>
              </a:p>
            </p:txBody>
          </p:sp>
        </mc:Choice>
        <mc:Fallback>
          <p:sp>
            <p:nvSpPr>
              <p:cNvPr id="6" name="テキスト ボックス 5">
                <a:extLst>
                  <a:ext uri="{FF2B5EF4-FFF2-40B4-BE49-F238E27FC236}">
                    <a16:creationId xmlns:a16="http://schemas.microsoft.com/office/drawing/2014/main" id="{4FE6A6F6-EBAC-E7F0-1485-2B63E7CCB866}"/>
                  </a:ext>
                </a:extLst>
              </p:cNvPr>
              <p:cNvSpPr txBox="1">
                <a:spLocks noRot="1" noChangeAspect="1" noMove="1" noResize="1" noEditPoints="1" noAdjustHandles="1" noChangeArrowheads="1" noChangeShapeType="1" noTextEdit="1"/>
              </p:cNvSpPr>
              <p:nvPr/>
            </p:nvSpPr>
            <p:spPr>
              <a:xfrm>
                <a:off x="298174" y="2839969"/>
                <a:ext cx="3912705" cy="830997"/>
              </a:xfrm>
              <a:prstGeom prst="rect">
                <a:avLst/>
              </a:prstGeom>
              <a:blipFill>
                <a:blip r:embed="rId5"/>
                <a:stretch>
                  <a:fillRect l="-935" t="-3676" b="-735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6754098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A69A5-D1E4-A6B0-CF86-3E75CC0F7E5B}"/>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2C8C6163-80DB-6DEA-8459-BAC70D187EC4}"/>
              </a:ext>
            </a:extLst>
          </p:cNvPr>
          <p:cNvSpPr>
            <a:spLocks noGrp="1" noChangeArrowheads="1"/>
          </p:cNvSpPr>
          <p:nvPr>
            <p:ph type="title"/>
          </p:nvPr>
        </p:nvSpPr>
        <p:spPr/>
        <p:txBody>
          <a:bodyPr/>
          <a:lstStyle/>
          <a:p>
            <a:r>
              <a:rPr lang="ja-JP" altLang="ja-JP" dirty="0"/>
              <a:t>Carleo &amp; Troyer：神经网络量子态，把波函数当作可学习函数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4A442F59-3EFF-5D9D-957D-1056A0C98E92}"/>
                  </a:ext>
                </a:extLst>
              </p:cNvPr>
              <p:cNvSpPr>
                <a:spLocks noGrp="1"/>
              </p:cNvSpPr>
              <p:nvPr>
                <p:ph idx="1"/>
              </p:nvPr>
            </p:nvSpPr>
            <p:spPr>
              <a:xfrm>
                <a:off x="106680" y="990600"/>
                <a:ext cx="11877040" cy="5268402"/>
              </a:xfrm>
            </p:spPr>
            <p:txBody>
              <a:bodyPr/>
              <a:lstStyle/>
              <a:p>
                <a:pPr marL="0" indent="0">
                  <a:buNone/>
                </a:pPr>
                <a:r>
                  <a:rPr lang="ja-JP" altLang="ja-JP" sz="1800" dirty="0"/>
                  <a:t>Carleo &amp; Troyer 研究的不是经典数据分类，而是量子多体问题。一个多体量子态可以写成：</a:t>
                </a:r>
                <a14:m>
                  <m:oMath xmlns:m="http://schemas.openxmlformats.org/officeDocument/2006/math">
                    <m:d>
                      <m:dPr>
                        <m:begChr m:val=""/>
                        <m:endChr m:val="⟩"/>
                        <m:ctrlPr>
                          <a:rPr lang="ja-JP" altLang="en-US" sz="1800"/>
                        </m:ctrlPr>
                      </m:dPr>
                      <m:e>
                        <m:d>
                          <m:dPr>
                            <m:begChr m:val=""/>
                            <m:endChr m:val="⟩"/>
                            <m:ctrlPr>
                              <a:rPr lang="ja-JP" altLang="en-US" sz="1800"/>
                            </m:ctrlPr>
                          </m:dPr>
                          <m:e>
                            <m:r>
                              <a:rPr lang="ja-JP" altLang="en-US" sz="1800"/>
                              <m:t>∣</m:t>
                            </m:r>
                            <m:r>
                              <a:rPr lang="ja-JP" altLang="en-US" sz="1800" i="1"/>
                              <m:t>𝜓</m:t>
                            </m:r>
                          </m:e>
                        </m:d>
                        <m:r>
                          <a:rPr lang="en-US" altLang="ja-JP" sz="1800"/>
                          <m:t>=</m:t>
                        </m:r>
                        <m:nary>
                          <m:naryPr>
                            <m:chr m:val="∑"/>
                            <m:grow m:val="on"/>
                            <m:supHide m:val="on"/>
                            <m:ctrlPr>
                              <a:rPr lang="ja-JP" altLang="en-US" sz="1800" i="1"/>
                            </m:ctrlPr>
                          </m:naryPr>
                          <m:sub>
                            <m:r>
                              <a:rPr lang="ja-JP" altLang="en-US" sz="1800" i="1"/>
                              <m:t>𝜎</m:t>
                            </m:r>
                          </m:sub>
                          <m:sup/>
                          <m:e>
                            <m:r>
                              <a:rPr lang="ja-JP" altLang="en-US" sz="1800" i="1"/>
                              <m:t>𝜓</m:t>
                            </m:r>
                          </m:e>
                        </m:nary>
                        <m:d>
                          <m:dPr>
                            <m:ctrlPr>
                              <a:rPr lang="ja-JP" altLang="en-US" sz="1800" i="1"/>
                            </m:ctrlPr>
                          </m:dPr>
                          <m:e>
                            <m:r>
                              <a:rPr lang="ja-JP" altLang="en-US" sz="1800" i="1"/>
                              <m:t>𝜎</m:t>
                            </m:r>
                          </m:e>
                        </m:d>
                        <m:r>
                          <a:rPr lang="ja-JP" altLang="en-US" sz="1800"/>
                          <m:t>∣</m:t>
                        </m:r>
                        <m:r>
                          <a:rPr lang="ja-JP" altLang="en-US" sz="1800" i="1"/>
                          <m:t>𝜎</m:t>
                        </m:r>
                      </m:e>
                    </m:d>
                    <m:r>
                      <a:rPr lang="en-US" altLang="ja-JP" sz="1800"/>
                      <m:t>.</m:t>
                    </m:r>
                  </m:oMath>
                </a14:m>
                <a:endParaRPr lang="en-US" altLang="ja-JP" sz="1800" dirty="0"/>
              </a:p>
              <a:p>
                <a:pPr marL="0" indent="0">
                  <a:buNone/>
                </a:pPr>
                <a:r>
                  <a:rPr lang="ja-JP" altLang="ja-JP" sz="1800" dirty="0"/>
                  <a:t>这里 </a:t>
                </a:r>
                <a14:m>
                  <m:oMath xmlns:m="http://schemas.openxmlformats.org/officeDocument/2006/math">
                    <m:r>
                      <a:rPr lang="ja-JP" altLang="en-US" sz="1800" i="1"/>
                      <m:t>𝜎</m:t>
                    </m:r>
                  </m:oMath>
                </a14:m>
                <a:r>
                  <a:rPr lang="ja-JP" altLang="ja-JP" sz="1800" dirty="0"/>
                  <a:t>是一个自旋构型，例如：</a:t>
                </a:r>
                <a14:m>
                  <m:oMath xmlns:m="http://schemas.openxmlformats.org/officeDocument/2006/math">
                    <m:r>
                      <a:rPr lang="ja-JP" altLang="en-US" sz="1800" i="1"/>
                      <m:t>𝜎</m:t>
                    </m:r>
                    <m:r>
                      <a:rPr lang="en-US" altLang="ja-JP" sz="1800"/>
                      <m:t>=</m:t>
                    </m:r>
                    <m:d>
                      <m:dPr>
                        <m:sepChr m:val=","/>
                        <m:ctrlPr>
                          <a:rPr lang="ja-JP" altLang="en-US" sz="1800" i="1"/>
                        </m:ctrlPr>
                      </m:dPr>
                      <m:e>
                        <m:sSub>
                          <m:sSubPr>
                            <m:ctrlPr>
                              <a:rPr lang="ja-JP" altLang="en-US" sz="1800" i="1"/>
                            </m:ctrlPr>
                          </m:sSubPr>
                          <m:e>
                            <m:r>
                              <a:rPr lang="ja-JP" altLang="en-US" sz="1800" i="1"/>
                              <m:t>𝜎</m:t>
                            </m:r>
                          </m:e>
                          <m:sub>
                            <m:r>
                              <a:rPr lang="en-US" altLang="ja-JP" sz="1800"/>
                              <m:t>1</m:t>
                            </m:r>
                          </m:sub>
                        </m:sSub>
                      </m:e>
                      <m:e>
                        <m:sSub>
                          <m:sSubPr>
                            <m:ctrlPr>
                              <a:rPr lang="ja-JP" altLang="en-US" sz="1800" i="1"/>
                            </m:ctrlPr>
                          </m:sSubPr>
                          <m:e>
                            <m:r>
                              <a:rPr lang="ja-JP" altLang="en-US" sz="1800" i="1"/>
                              <m:t>𝜎</m:t>
                            </m:r>
                          </m:e>
                          <m:sub>
                            <m:r>
                              <a:rPr lang="en-US" altLang="ja-JP" sz="1800"/>
                              <m:t>2</m:t>
                            </m:r>
                          </m:sub>
                        </m:sSub>
                      </m:e>
                      <m:e>
                        <m:r>
                          <a:rPr lang="en-US" altLang="ja-JP" sz="1800"/>
                          <m:t>…</m:t>
                        </m:r>
                      </m:e>
                      <m:e>
                        <m:sSub>
                          <m:sSubPr>
                            <m:ctrlPr>
                              <a:rPr lang="ja-JP" altLang="en-US" sz="1800" i="1"/>
                            </m:ctrlPr>
                          </m:sSubPr>
                          <m:e>
                            <m:r>
                              <a:rPr lang="ja-JP" altLang="en-US" sz="1800" i="1"/>
                              <m:t>𝜎</m:t>
                            </m:r>
                          </m:e>
                          <m:sub>
                            <m:r>
                              <a:rPr lang="ja-JP" altLang="en-US" sz="1800" i="1"/>
                              <m:t>𝑁</m:t>
                            </m:r>
                          </m:sub>
                        </m:sSub>
                      </m:e>
                    </m:d>
                    <m:r>
                      <a:rPr lang="en-US" altLang="ja-JP" sz="1800"/>
                      <m:t>.</m:t>
                    </m:r>
                  </m:oMath>
                </a14:m>
                <a:endParaRPr lang="en-US" altLang="ja-JP" sz="1800" dirty="0"/>
              </a:p>
              <a:p>
                <a:pPr marL="0" indent="0">
                  <a:buNone/>
                </a:pPr>
                <a:endParaRPr lang="en-US" altLang="ja-JP" sz="1800" dirty="0"/>
              </a:p>
              <a:p>
                <a:pPr marL="0" indent="0">
                  <a:buNone/>
                </a:pPr>
                <a:r>
                  <a:rPr lang="ja-JP" altLang="ja-JP" sz="1800" dirty="0"/>
                  <a:t>一个量子系统如果只有一个粒子或一个 qubit，状态可以比较简单地写成：</a:t>
                </a:r>
                <a14:m>
                  <m:oMath xmlns:m="http://schemas.openxmlformats.org/officeDocument/2006/math">
                    <m:d>
                      <m:dPr>
                        <m:begChr m:val=""/>
                        <m:endChr m:val="⟩"/>
                        <m:ctrlPr>
                          <a:rPr lang="ja-JP" altLang="en-US" i="1">
                            <a:latin typeface="Cambria Math" panose="02040503050406030204" pitchFamily="18" charset="0"/>
                          </a:rPr>
                        </m:ctrlPr>
                      </m:dPr>
                      <m:e>
                        <m:d>
                          <m:dPr>
                            <m:begChr m:val=""/>
                            <m:endChr m:val="⟩"/>
                            <m:ctrlPr>
                              <a:rPr lang="ja-JP" altLang="en-US" i="1">
                                <a:latin typeface="Cambria Math" panose="02040503050406030204" pitchFamily="18" charset="0"/>
                              </a:rPr>
                            </m:ctrlPr>
                          </m:dPr>
                          <m:e>
                            <m:d>
                              <m:dPr>
                                <m:begChr m:val=""/>
                                <m:endChr m:val="⟩"/>
                                <m:ctrlPr>
                                  <a:rPr lang="ja-JP" altLang="en-US" i="1">
                                    <a:latin typeface="Cambria Math" panose="02040503050406030204" pitchFamily="18" charset="0"/>
                                  </a:rPr>
                                </m:ctrlPr>
                              </m:dPr>
                              <m:e>
                                <m:r>
                                  <a:rPr lang="ja-JP" altLang="en-US">
                                    <a:latin typeface="Cambria Math" panose="02040503050406030204" pitchFamily="18" charset="0"/>
                                  </a:rPr>
                                  <m:t>∣</m:t>
                                </m:r>
                                <m:r>
                                  <a:rPr lang="ja-JP" altLang="en-US" i="1">
                                    <a:latin typeface="Cambria Math" panose="02040503050406030204" pitchFamily="18" charset="0"/>
                                  </a:rPr>
                                  <m:t>𝜓</m:t>
                                </m:r>
                              </m:e>
                            </m:d>
                            <m:r>
                              <a:rPr lang="en-US" altLang="ja-JP">
                                <a:latin typeface="Cambria Math" panose="02040503050406030204" pitchFamily="18" charset="0"/>
                              </a:rPr>
                              <m:t>=</m:t>
                            </m:r>
                            <m:r>
                              <a:rPr lang="ja-JP" altLang="en-US" i="1">
                                <a:latin typeface="Cambria Math" panose="02040503050406030204" pitchFamily="18" charset="0"/>
                              </a:rPr>
                              <m:t>𝑎</m:t>
                            </m:r>
                            <m:r>
                              <a:rPr lang="ja-JP" altLang="en-US">
                                <a:latin typeface="Cambria Math" panose="02040503050406030204" pitchFamily="18" charset="0"/>
                              </a:rPr>
                              <m:t>∣</m:t>
                            </m:r>
                            <m:r>
                              <a:rPr lang="en-US" altLang="ja-JP">
                                <a:latin typeface="Cambria Math" panose="02040503050406030204" pitchFamily="18" charset="0"/>
                              </a:rPr>
                              <m:t>0</m:t>
                            </m:r>
                          </m:e>
                        </m:d>
                        <m:r>
                          <a:rPr lang="en-US" altLang="ja-JP">
                            <a:latin typeface="Cambria Math" panose="02040503050406030204" pitchFamily="18" charset="0"/>
                          </a:rPr>
                          <m:t>+</m:t>
                        </m:r>
                        <m:r>
                          <a:rPr lang="ja-JP" altLang="en-US" i="1">
                            <a:latin typeface="Cambria Math" panose="02040503050406030204" pitchFamily="18" charset="0"/>
                          </a:rPr>
                          <m:t>𝑏</m:t>
                        </m:r>
                        <m:r>
                          <a:rPr lang="ja-JP" altLang="en-US">
                            <a:latin typeface="Cambria Math" panose="02040503050406030204" pitchFamily="18" charset="0"/>
                          </a:rPr>
                          <m:t>∣</m:t>
                        </m:r>
                        <m:r>
                          <a:rPr lang="en-US" altLang="ja-JP">
                            <a:latin typeface="Cambria Math" panose="02040503050406030204" pitchFamily="18" charset="0"/>
                          </a:rPr>
                          <m:t>1</m:t>
                        </m:r>
                      </m:e>
                    </m:d>
                    <m:r>
                      <a:rPr lang="en-US" altLang="ja-JP"/>
                      <m:t>.</m:t>
                    </m:r>
                  </m:oMath>
                </a14:m>
                <a:endParaRPr lang="en-US" altLang="ja-JP" sz="1800" dirty="0"/>
              </a:p>
              <a:p>
                <a:pPr marL="0" indent="0">
                  <a:buNone/>
                </a:pPr>
                <a:r>
                  <a:rPr lang="ja-JP" altLang="ja-JP" sz="1800" dirty="0"/>
                  <a:t>但是如果有很多个自旋，比如 </a:t>
                </a:r>
                <a14:m>
                  <m:oMath xmlns:m="http://schemas.openxmlformats.org/officeDocument/2006/math">
                    <m:r>
                      <a:rPr lang="ja-JP" altLang="en-US" i="1"/>
                      <m:t>𝑁</m:t>
                    </m:r>
                  </m:oMath>
                </a14:m>
                <a:r>
                  <a:rPr lang="ja-JP" altLang="ja-JP" sz="1800" dirty="0"/>
                  <a:t>个自旋，每个自旋可以是：</a:t>
                </a:r>
                <a14:m>
                  <m:oMath xmlns:m="http://schemas.openxmlformats.org/officeDocument/2006/math">
                    <m:sSub>
                      <m:sSubPr>
                        <m:ctrlPr>
                          <a:rPr lang="ja-JP" altLang="en-US"/>
                        </m:ctrlPr>
                      </m:sSubPr>
                      <m:e>
                        <m:r>
                          <a:rPr lang="ja-JP" altLang="en-US" i="1"/>
                          <m:t>𝜎</m:t>
                        </m:r>
                      </m:e>
                      <m:sub>
                        <m:r>
                          <a:rPr lang="ja-JP" altLang="en-US" i="1"/>
                          <m:t>𝑖</m:t>
                        </m:r>
                      </m:sub>
                    </m:sSub>
                    <m:r>
                      <a:rPr lang="en-US" altLang="ja-JP"/>
                      <m:t>=+1</m:t>
                    </m:r>
                  </m:oMath>
                </a14:m>
                <a:r>
                  <a:rPr lang="ja-JP" altLang="ja-JP" sz="1800" dirty="0"/>
                  <a:t>或者</a:t>
                </a:r>
                <a14:m>
                  <m:oMath xmlns:m="http://schemas.openxmlformats.org/officeDocument/2006/math">
                    <m:sSub>
                      <m:sSubPr>
                        <m:ctrlPr>
                          <a:rPr lang="ja-JP" altLang="en-US"/>
                        </m:ctrlPr>
                      </m:sSubPr>
                      <m:e>
                        <m:r>
                          <a:rPr lang="ja-JP" altLang="en-US" i="1"/>
                          <m:t>𝜎</m:t>
                        </m:r>
                      </m:e>
                      <m:sub>
                        <m:r>
                          <a:rPr lang="ja-JP" altLang="en-US" i="1"/>
                          <m:t>𝑖</m:t>
                        </m:r>
                      </m:sub>
                    </m:sSub>
                    <m:r>
                      <a:rPr lang="en-US" altLang="ja-JP"/>
                      <m:t>=−1.</m:t>
                    </m:r>
                  </m:oMath>
                </a14:m>
                <a:r>
                  <a:rPr lang="en-US" altLang="ja-JP" sz="1800" dirty="0"/>
                  <a:t> </a:t>
                </a:r>
                <a:r>
                  <a:rPr lang="ja-JP" altLang="ja-JP" sz="1800" dirty="0"/>
                  <a:t>那么一个完整的自旋构型可以写成：</a:t>
                </a:r>
                <a14:m>
                  <m:oMath xmlns:m="http://schemas.openxmlformats.org/officeDocument/2006/math">
                    <m:r>
                      <a:rPr lang="ja-JP" altLang="en-US" i="1"/>
                      <m:t>𝜎</m:t>
                    </m:r>
                    <m:r>
                      <a:rPr lang="en-US" altLang="ja-JP"/>
                      <m:t>=</m:t>
                    </m:r>
                    <m:d>
                      <m:dPr>
                        <m:sepChr m:val=","/>
                        <m:ctrlPr>
                          <a:rPr lang="ja-JP" altLang="en-US" i="1"/>
                        </m:ctrlPr>
                      </m:dPr>
                      <m:e>
                        <m:sSub>
                          <m:sSubPr>
                            <m:ctrlPr>
                              <a:rPr lang="ja-JP" altLang="en-US" i="1"/>
                            </m:ctrlPr>
                          </m:sSubPr>
                          <m:e>
                            <m:r>
                              <a:rPr lang="ja-JP" altLang="en-US" i="1"/>
                              <m:t>𝜎</m:t>
                            </m:r>
                          </m:e>
                          <m:sub>
                            <m:r>
                              <a:rPr lang="en-US" altLang="ja-JP"/>
                              <m:t>1</m:t>
                            </m:r>
                          </m:sub>
                        </m:sSub>
                      </m:e>
                      <m:e>
                        <m:sSub>
                          <m:sSubPr>
                            <m:ctrlPr>
                              <a:rPr lang="ja-JP" altLang="en-US" i="1"/>
                            </m:ctrlPr>
                          </m:sSubPr>
                          <m:e>
                            <m:r>
                              <a:rPr lang="ja-JP" altLang="en-US" i="1"/>
                              <m:t>𝜎</m:t>
                            </m:r>
                          </m:e>
                          <m:sub>
                            <m:r>
                              <a:rPr lang="en-US" altLang="ja-JP"/>
                              <m:t>2</m:t>
                            </m:r>
                          </m:sub>
                        </m:sSub>
                      </m:e>
                      <m:e>
                        <m:r>
                          <a:rPr lang="en-US" altLang="ja-JP"/>
                          <m:t>…</m:t>
                        </m:r>
                      </m:e>
                      <m:e>
                        <m:sSub>
                          <m:sSubPr>
                            <m:ctrlPr>
                              <a:rPr lang="ja-JP" altLang="en-US" i="1"/>
                            </m:ctrlPr>
                          </m:sSubPr>
                          <m:e>
                            <m:r>
                              <a:rPr lang="ja-JP" altLang="en-US" i="1"/>
                              <m:t>𝜎</m:t>
                            </m:r>
                          </m:e>
                          <m:sub>
                            <m:r>
                              <a:rPr lang="ja-JP" altLang="en-US" i="1"/>
                              <m:t>𝑁</m:t>
                            </m:r>
                          </m:sub>
                        </m:sSub>
                      </m:e>
                    </m:d>
                    <m:r>
                      <a:rPr lang="en-US" altLang="ja-JP"/>
                      <m:t>.</m:t>
                    </m:r>
                  </m:oMath>
                </a14:m>
                <a:r>
                  <a:rPr lang="en-US" altLang="ja-JP" sz="1800" dirty="0"/>
                  <a:t> </a:t>
                </a:r>
                <a:r>
                  <a:rPr lang="ja-JP" altLang="ja-JP" sz="1800" dirty="0"/>
                  <a:t>例如：</a:t>
                </a:r>
                <a14:m>
                  <m:oMath xmlns:m="http://schemas.openxmlformats.org/officeDocument/2006/math">
                    <m:r>
                      <a:rPr lang="ja-JP" altLang="en-US" i="1"/>
                      <m:t>𝜎</m:t>
                    </m:r>
                    <m:r>
                      <a:rPr lang="en-US" altLang="ja-JP"/>
                      <m:t>=</m:t>
                    </m:r>
                    <m:d>
                      <m:dPr>
                        <m:sepChr m:val=","/>
                        <m:ctrlPr>
                          <a:rPr lang="ja-JP" altLang="en-US" i="1"/>
                        </m:ctrlPr>
                      </m:dPr>
                      <m:e>
                        <m:r>
                          <a:rPr lang="en-US" altLang="ja-JP"/>
                          <m:t>+</m:t>
                        </m:r>
                      </m:e>
                      <m:e>
                        <m:r>
                          <a:rPr lang="en-US" altLang="ja-JP"/>
                          <m:t>1</m:t>
                        </m:r>
                      </m:e>
                      <m:e>
                        <m:r>
                          <a:rPr lang="ja-JP" altLang="en-US"/>
                          <m:t>−</m:t>
                        </m:r>
                      </m:e>
                      <m:e>
                        <m:r>
                          <a:rPr lang="en-US" altLang="ja-JP"/>
                          <m:t>1</m:t>
                        </m:r>
                      </m:e>
                      <m:e>
                        <m:r>
                          <a:rPr lang="en-US" altLang="ja-JP"/>
                          <m:t>+1+1−1</m:t>
                        </m:r>
                      </m:e>
                    </m:d>
                    <m:r>
                      <a:rPr lang="en-US" altLang="ja-JP"/>
                      <m:t>.</m:t>
                    </m:r>
                  </m:oMath>
                </a14:m>
                <a:r>
                  <a:rPr lang="en-US" altLang="ja-JP" sz="1800" dirty="0"/>
                  <a:t> </a:t>
                </a:r>
                <a:r>
                  <a:rPr lang="ja-JP" altLang="ja-JP" sz="1800" dirty="0"/>
                  <a:t>这个 </a:t>
                </a:r>
                <a14:m>
                  <m:oMath xmlns:m="http://schemas.openxmlformats.org/officeDocument/2006/math">
                    <m:r>
                      <a:rPr lang="ja-JP" altLang="en-US" i="1"/>
                      <m:t>𝜎</m:t>
                    </m:r>
                  </m:oMath>
                </a14:m>
                <a:r>
                  <a:rPr lang="ja-JP" altLang="ja-JP" sz="1800" dirty="0"/>
                  <a:t>表示系统中每个位置的自旋状态。</a:t>
                </a:r>
                <a:endParaRPr lang="en-US" altLang="ja-JP" sz="1800" dirty="0"/>
              </a:p>
              <a:p>
                <a:pPr marL="0" indent="0">
                  <a:buNone/>
                </a:pPr>
                <a:r>
                  <a:rPr lang="ja-JP" altLang="ja-JP" sz="1800" dirty="0"/>
                  <a:t>波函数 </a:t>
                </a:r>
                <a14:m>
                  <m:oMath xmlns:m="http://schemas.openxmlformats.org/officeDocument/2006/math">
                    <m:r>
                      <a:rPr lang="ja-JP" altLang="en-US" sz="1800" i="1"/>
                      <m:t>𝜓</m:t>
                    </m:r>
                    <m:d>
                      <m:dPr>
                        <m:ctrlPr>
                          <a:rPr lang="ja-JP" altLang="en-US" sz="1800" i="1"/>
                        </m:ctrlPr>
                      </m:dPr>
                      <m:e>
                        <m:r>
                          <a:rPr lang="ja-JP" altLang="en-US" sz="1800" i="1"/>
                          <m:t>𝜎</m:t>
                        </m:r>
                      </m:e>
                    </m:d>
                  </m:oMath>
                </a14:m>
                <a:r>
                  <a:rPr lang="ja-JP" altLang="ja-JP" sz="1800" dirty="0"/>
                  <a:t>是一个高维复值函数。问题是，一般有 </a:t>
                </a:r>
                <a14:m>
                  <m:oMath xmlns:m="http://schemas.openxmlformats.org/officeDocument/2006/math">
                    <m:sSup>
                      <m:sSupPr>
                        <m:ctrlPr>
                          <a:rPr lang="ja-JP" altLang="en-US" sz="1800"/>
                        </m:ctrlPr>
                      </m:sSupPr>
                      <m:e>
                        <m:r>
                          <a:rPr lang="en-US" altLang="ja-JP" sz="1800"/>
                          <m:t>2</m:t>
                        </m:r>
                      </m:e>
                      <m:sup>
                        <m:r>
                          <a:rPr lang="ja-JP" altLang="en-US" sz="1800" i="1"/>
                          <m:t>𝑁</m:t>
                        </m:r>
                      </m:sup>
                    </m:sSup>
                  </m:oMath>
                </a14:m>
                <a:r>
                  <a:rPr lang="ja-JP" altLang="ja-JP" sz="1800" dirty="0"/>
                  <a:t>个构型，完整存储 </a:t>
                </a:r>
                <a14:m>
                  <m:oMath xmlns:m="http://schemas.openxmlformats.org/officeDocument/2006/math">
                    <m:r>
                      <a:rPr lang="ja-JP" altLang="en-US" sz="1800" i="1"/>
                      <m:t>𝜓</m:t>
                    </m:r>
                    <m:d>
                      <m:dPr>
                        <m:ctrlPr>
                          <a:rPr lang="ja-JP" altLang="en-US" sz="1800" i="1"/>
                        </m:ctrlPr>
                      </m:dPr>
                      <m:e>
                        <m:r>
                          <a:rPr lang="ja-JP" altLang="en-US" sz="1800" i="1"/>
                          <m:t>𝜎</m:t>
                        </m:r>
                      </m:e>
                    </m:d>
                  </m:oMath>
                </a14:m>
                <a:r>
                  <a:rPr lang="ja-JP" altLang="ja-JP" sz="1800" dirty="0"/>
                  <a:t>需要指数资源。</a:t>
                </a:r>
                <a:endParaRPr lang="en-US" altLang="ja-JP" sz="1800" dirty="0"/>
              </a:p>
              <a:p>
                <a:pPr marL="0" indent="0">
                  <a:buNone/>
                </a:pPr>
                <a:r>
                  <a:rPr lang="ja-JP" altLang="ja-JP" sz="1800" dirty="0"/>
                  <a:t>一个一般量子态可以写成：</a:t>
                </a:r>
                <a14:m>
                  <m:oMath xmlns:m="http://schemas.openxmlformats.org/officeDocument/2006/math">
                    <m:d>
                      <m:dPr>
                        <m:begChr m:val=""/>
                        <m:endChr m:val="⟩"/>
                        <m:ctrlPr>
                          <a:rPr lang="ja-JP" altLang="en-US"/>
                        </m:ctrlPr>
                      </m:dPr>
                      <m:e>
                        <m:d>
                          <m:dPr>
                            <m:begChr m:val=""/>
                            <m:endChr m:val="⟩"/>
                            <m:ctrlPr>
                              <a:rPr lang="ja-JP" altLang="en-US"/>
                            </m:ctrlPr>
                          </m:dPr>
                          <m:e>
                            <m:d>
                              <m:dPr>
                                <m:begChr m:val=""/>
                                <m:endChr m:val="⟩"/>
                                <m:ctrlPr>
                                  <a:rPr lang="ja-JP" altLang="en-US"/>
                                </m:ctrlPr>
                              </m:dPr>
                              <m:e>
                                <m:d>
                                  <m:dPr>
                                    <m:begChr m:val=""/>
                                    <m:endChr m:val="⟩"/>
                                    <m:ctrlPr>
                                      <a:rPr lang="ja-JP" altLang="en-US"/>
                                    </m:ctrlPr>
                                  </m:dPr>
                                  <m:e>
                                    <m:r>
                                      <a:rPr lang="ja-JP" altLang="en-US"/>
                                      <m:t>∣</m:t>
                                    </m:r>
                                    <m:r>
                                      <a:rPr lang="ja-JP" altLang="en-US" i="1"/>
                                      <m:t>𝜓</m:t>
                                    </m:r>
                                  </m:e>
                                </m:d>
                                <m:r>
                                  <a:rPr lang="en-US" altLang="ja-JP"/>
                                  <m:t>=</m:t>
                                </m:r>
                                <m:r>
                                  <a:rPr lang="ja-JP" altLang="en-US" i="1"/>
                                  <m:t>𝜓</m:t>
                                </m:r>
                                <m:d>
                                  <m:dPr>
                                    <m:ctrlPr>
                                      <a:rPr lang="ja-JP" altLang="en-US" i="1"/>
                                    </m:ctrlPr>
                                  </m:dPr>
                                  <m:e>
                                    <m:r>
                                      <a:rPr lang="en-US" altLang="ja-JP"/>
                                      <m:t>+++</m:t>
                                    </m:r>
                                  </m:e>
                                </m:d>
                                <m:r>
                                  <a:rPr lang="ja-JP" altLang="en-US"/>
                                  <m:t>∣</m:t>
                                </m:r>
                                <m:r>
                                  <a:rPr lang="en-US" altLang="ja-JP"/>
                                  <m:t>+++</m:t>
                                </m:r>
                              </m:e>
                            </m:d>
                            <m:r>
                              <a:rPr lang="en-US" altLang="ja-JP"/>
                              <m:t>+</m:t>
                            </m:r>
                            <m:r>
                              <a:rPr lang="ja-JP" altLang="en-US" i="1"/>
                              <m:t>𝜓</m:t>
                            </m:r>
                            <m:d>
                              <m:dPr>
                                <m:ctrlPr>
                                  <a:rPr lang="ja-JP" altLang="en-US" i="1"/>
                                </m:ctrlPr>
                              </m:dPr>
                              <m:e>
                                <m:r>
                                  <a:rPr lang="en-US" altLang="ja-JP"/>
                                  <m:t>++−</m:t>
                                </m:r>
                              </m:e>
                            </m:d>
                            <m:r>
                              <a:rPr lang="ja-JP" altLang="en-US"/>
                              <m:t>∣</m:t>
                            </m:r>
                            <m:r>
                              <a:rPr lang="en-US" altLang="ja-JP"/>
                              <m:t>++−</m:t>
                            </m:r>
                          </m:e>
                        </m:d>
                        <m:r>
                          <a:rPr lang="en-US" altLang="ja-JP"/>
                          <m:t>+⋯+</m:t>
                        </m:r>
                        <m:r>
                          <a:rPr lang="ja-JP" altLang="en-US" i="1"/>
                          <m:t>𝜓</m:t>
                        </m:r>
                        <m:d>
                          <m:dPr>
                            <m:ctrlPr>
                              <a:rPr lang="ja-JP" altLang="en-US" i="1"/>
                            </m:ctrlPr>
                          </m:dPr>
                          <m:e>
                            <m:r>
                              <a:rPr lang="ja-JP" altLang="en-US"/>
                              <m:t>−−−</m:t>
                            </m:r>
                          </m:e>
                        </m:d>
                        <m:r>
                          <a:rPr lang="ja-JP" altLang="en-US"/>
                          <m:t>∣−−−</m:t>
                        </m:r>
                      </m:e>
                    </m:d>
                    <m:r>
                      <a:rPr lang="en-US" altLang="ja-JP"/>
                      <m:t>.</m:t>
                    </m:r>
                  </m:oMath>
                </a14:m>
                <a:r>
                  <a:rPr lang="ja-JP" altLang="ja-JP" sz="1800" dirty="0"/>
                  <a:t>其中每个</a:t>
                </a:r>
                <a14:m>
                  <m:oMath xmlns:m="http://schemas.openxmlformats.org/officeDocument/2006/math">
                    <m:r>
                      <a:rPr lang="ja-JP" altLang="en-US" i="1"/>
                      <m:t>𝜓</m:t>
                    </m:r>
                    <m:d>
                      <m:dPr>
                        <m:ctrlPr>
                          <a:rPr lang="ja-JP" altLang="en-US" i="1"/>
                        </m:ctrlPr>
                      </m:dPr>
                      <m:e>
                        <m:r>
                          <a:rPr lang="ja-JP" altLang="en-US" i="1"/>
                          <m:t>𝜎</m:t>
                        </m:r>
                      </m:e>
                    </m:d>
                  </m:oMath>
                </a14:m>
                <a:r>
                  <a:rPr lang="ja-JP" altLang="ja-JP" sz="1800" dirty="0"/>
                  <a:t>都是一个复数，叫做这个构型的</a:t>
                </a:r>
                <a:r>
                  <a:rPr lang="ja-JP" altLang="ja-JP" sz="1800" b="1" dirty="0"/>
                  <a:t>波函数振幅</a:t>
                </a:r>
                <a:r>
                  <a:rPr lang="ja-JP" altLang="ja-JP" sz="1800" dirty="0"/>
                  <a:t>。</a:t>
                </a:r>
                <a:endParaRPr lang="en-US" altLang="ja-JP" sz="1800" dirty="0"/>
              </a:p>
              <a:p>
                <a:pPr marL="0" indent="0">
                  <a:buNone/>
                </a:pPr>
                <a:endParaRPr lang="en-US" altLang="ja-JP" sz="1800" dirty="0"/>
              </a:p>
              <a:p>
                <a:pPr marL="0" indent="0">
                  <a:buNone/>
                </a:pPr>
                <a14:m>
                  <m:oMath xmlns:m="http://schemas.openxmlformats.org/officeDocument/2006/math">
                    <m:r>
                      <a:rPr lang="ja-JP" altLang="ja-JP" sz="1800" i="1" dirty="0" smtClean="0">
                        <a:latin typeface="Cambria Math" panose="02040503050406030204" pitchFamily="18" charset="0"/>
                      </a:rPr>
                      <m:t>𝜓</m:t>
                    </m:r>
                    <m:r>
                      <a:rPr lang="ja-JP" altLang="ja-JP" sz="1800" i="1" dirty="0">
                        <a:latin typeface="Cambria Math" panose="02040503050406030204" pitchFamily="18" charset="0"/>
                      </a:rPr>
                      <m:t>(</m:t>
                    </m:r>
                    <m:r>
                      <a:rPr lang="ja-JP" altLang="ja-JP" sz="1800" i="1" dirty="0">
                        <a:latin typeface="Cambria Math" panose="02040503050406030204" pitchFamily="18" charset="0"/>
                      </a:rPr>
                      <m:t>𝜎</m:t>
                    </m:r>
                    <m:r>
                      <a:rPr lang="ja-JP" altLang="ja-JP" sz="1800" i="1" dirty="0">
                        <a:latin typeface="Cambria Math" panose="02040503050406030204" pitchFamily="18" charset="0"/>
                      </a:rPr>
                      <m:t>) </m:t>
                    </m:r>
                  </m:oMath>
                </a14:m>
                <a:r>
                  <a:rPr lang="ja-JP" altLang="ja-JP" sz="1800" dirty="0"/>
                  <a:t>包含两部分信息：</a:t>
                </a:r>
              </a:p>
              <a:p>
                <a:r>
                  <a:rPr lang="ja-JP" altLang="ja-JP" sz="1800" dirty="0"/>
                  <a:t>第一，振幅大小：</a:t>
                </a:r>
                <a14:m>
                  <m:oMath xmlns:m="http://schemas.openxmlformats.org/officeDocument/2006/math">
                    <m:r>
                      <a:rPr lang="ja-JP" altLang="en-US"/>
                      <m:t>∣</m:t>
                    </m:r>
                    <m:r>
                      <a:rPr lang="ja-JP" altLang="en-US" i="1"/>
                      <m:t>𝜓</m:t>
                    </m:r>
                    <m:d>
                      <m:dPr>
                        <m:ctrlPr>
                          <a:rPr lang="ja-JP" altLang="en-US" i="1"/>
                        </m:ctrlPr>
                      </m:dPr>
                      <m:e>
                        <m:r>
                          <a:rPr lang="ja-JP" altLang="en-US" i="1"/>
                          <m:t>𝜎</m:t>
                        </m:r>
                      </m:e>
                    </m:d>
                    <m:r>
                      <a:rPr lang="ja-JP" altLang="en-US"/>
                      <m:t>∣</m:t>
                    </m:r>
                  </m:oMath>
                </a14:m>
                <a:r>
                  <a:rPr lang="ja-JP" altLang="en-US" sz="1800" dirty="0"/>
                  <a:t> </a:t>
                </a:r>
                <a:r>
                  <a:rPr lang="ja-JP" altLang="ja-JP" sz="1800" dirty="0"/>
                  <a:t>决定测量概率大小。</a:t>
                </a:r>
              </a:p>
              <a:p>
                <a:r>
                  <a:rPr lang="ja-JP" altLang="ja-JP" sz="1800" dirty="0"/>
                  <a:t>第二，相位：</a:t>
                </a:r>
                <a14:m>
                  <m:oMath xmlns:m="http://schemas.openxmlformats.org/officeDocument/2006/math">
                    <m:r>
                      <m:rPr>
                        <m:sty m:val="p"/>
                      </m:rPr>
                      <a:rPr lang="en-US" altLang="ja-JP"/>
                      <m:t>arg</m:t>
                    </m:r>
                    <m:r>
                      <a:rPr lang="ja-JP" altLang="en-US"/>
                      <m:t>⁡</m:t>
                    </m:r>
                    <m:d>
                      <m:dPr>
                        <m:ctrlPr>
                          <a:rPr lang="ja-JP" altLang="en-US" i="1"/>
                        </m:ctrlPr>
                      </m:dPr>
                      <m:e>
                        <m:r>
                          <a:rPr lang="ja-JP" altLang="en-US" i="1"/>
                          <m:t>𝜓</m:t>
                        </m:r>
                        <m:d>
                          <m:dPr>
                            <m:ctrlPr>
                              <a:rPr lang="ja-JP" altLang="en-US" i="1"/>
                            </m:ctrlPr>
                          </m:dPr>
                          <m:e>
                            <m:r>
                              <a:rPr lang="ja-JP" altLang="en-US" i="1"/>
                              <m:t>𝜎</m:t>
                            </m:r>
                          </m:e>
                        </m:d>
                      </m:e>
                    </m:d>
                  </m:oMath>
                </a14:m>
                <a:r>
                  <a:rPr lang="ja-JP" altLang="en-US" sz="1800" dirty="0"/>
                  <a:t> </a:t>
                </a:r>
                <a:r>
                  <a:rPr lang="ja-JP" altLang="ja-JP" sz="1800" dirty="0"/>
                  <a:t>决定量子干涉结构。</a:t>
                </a:r>
              </a:p>
              <a:p>
                <a:pPr marL="0" indent="0">
                  <a:buNone/>
                </a:pPr>
                <a:endParaRPr lang="en-US" altLang="ja-JP" sz="1800" dirty="0"/>
              </a:p>
              <a:p>
                <a:pPr marL="0" indent="0">
                  <a:buNone/>
                </a:pPr>
                <a:endParaRPr lang="ja-JP" altLang="ja-JP" sz="1800" dirty="0"/>
              </a:p>
            </p:txBody>
          </p:sp>
        </mc:Choice>
        <mc:Fallback>
          <p:sp>
            <p:nvSpPr>
              <p:cNvPr id="12" name="コンテンツ プレースホルダー 2">
                <a:extLst>
                  <a:ext uri="{FF2B5EF4-FFF2-40B4-BE49-F238E27FC236}">
                    <a16:creationId xmlns:a16="http://schemas.microsoft.com/office/drawing/2014/main" id="{4A442F59-3EFF-5D9D-957D-1056A0C98E92}"/>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462" t="-11921" r="-1489" b="-208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629016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E34C4-7FEE-DB8E-6CD6-30C033235911}"/>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5765138A-BD99-6136-F549-CF220A2BF7C9}"/>
              </a:ext>
            </a:extLst>
          </p:cNvPr>
          <p:cNvSpPr>
            <a:spLocks noGrp="1" noChangeArrowheads="1"/>
          </p:cNvSpPr>
          <p:nvPr>
            <p:ph type="title"/>
          </p:nvPr>
        </p:nvSpPr>
        <p:spPr/>
        <p:txBody>
          <a:bodyPr/>
          <a:lstStyle/>
          <a:p>
            <a:r>
              <a:rPr lang="ja-JP" altLang="ja-JP" dirty="0"/>
              <a:t>Carleo &amp; Troyer：神经网络量子态，把波函数当作可学习函数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72A4DD33-BF52-8C52-8D53-5C2F8D220747}"/>
                  </a:ext>
                </a:extLst>
              </p:cNvPr>
              <p:cNvSpPr>
                <a:spLocks noGrp="1"/>
              </p:cNvSpPr>
              <p:nvPr>
                <p:ph idx="1"/>
              </p:nvPr>
            </p:nvSpPr>
            <p:spPr>
              <a:xfrm>
                <a:off x="106680" y="990600"/>
                <a:ext cx="11877040" cy="5268402"/>
              </a:xfrm>
            </p:spPr>
            <p:txBody>
              <a:bodyPr/>
              <a:lstStyle/>
              <a:p>
                <a:pPr marL="0" indent="0">
                  <a:buNone/>
                </a:pPr>
                <a:r>
                  <a:rPr lang="ja-JP" altLang="ja-JP" sz="1800" dirty="0"/>
                  <a:t>他们不是用神经网络做分类，而是用神经网络来近似一个复杂的量子态：</a:t>
                </a:r>
                <a14:m>
                  <m:oMath xmlns:m="http://schemas.openxmlformats.org/officeDocument/2006/math">
                    <m:d>
                      <m:dPr>
                        <m:begChr m:val=""/>
                        <m:endChr m:val="⟩"/>
                        <m:ctrlPr>
                          <a:rPr lang="ja-JP" altLang="en-US"/>
                        </m:ctrlPr>
                      </m:dPr>
                      <m:e>
                        <m:d>
                          <m:dPr>
                            <m:begChr m:val=""/>
                            <m:endChr m:val="⟩"/>
                            <m:ctrlPr>
                              <a:rPr lang="ja-JP" altLang="en-US"/>
                            </m:ctrlPr>
                          </m:dPr>
                          <m:e>
                            <m:r>
                              <a:rPr lang="ja-JP" altLang="en-US"/>
                              <m:t>∣</m:t>
                            </m:r>
                            <m:r>
                              <a:rPr lang="ja-JP" altLang="en-US" i="1"/>
                              <m:t>𝜓</m:t>
                            </m:r>
                          </m:e>
                        </m:d>
                        <m:r>
                          <a:rPr lang="en-US" altLang="ja-JP"/>
                          <m:t>=</m:t>
                        </m:r>
                        <m:nary>
                          <m:naryPr>
                            <m:chr m:val="∑"/>
                            <m:grow m:val="on"/>
                            <m:supHide m:val="on"/>
                            <m:ctrlPr>
                              <a:rPr lang="ja-JP" altLang="en-US" i="1"/>
                            </m:ctrlPr>
                          </m:naryPr>
                          <m:sub>
                            <m:r>
                              <a:rPr lang="ja-JP" altLang="en-US" i="1"/>
                              <m:t>𝜎</m:t>
                            </m:r>
                          </m:sub>
                          <m:sup/>
                          <m:e>
                            <m:r>
                              <a:rPr lang="ja-JP" altLang="en-US" i="1"/>
                              <m:t>𝜓</m:t>
                            </m:r>
                          </m:e>
                        </m:nary>
                        <m:d>
                          <m:dPr>
                            <m:ctrlPr>
                              <a:rPr lang="ja-JP" altLang="en-US" i="1"/>
                            </m:ctrlPr>
                          </m:dPr>
                          <m:e>
                            <m:r>
                              <a:rPr lang="ja-JP" altLang="en-US" i="1"/>
                              <m:t>𝜎</m:t>
                            </m:r>
                          </m:e>
                        </m:d>
                        <m:r>
                          <a:rPr lang="ja-JP" altLang="en-US"/>
                          <m:t>∣</m:t>
                        </m:r>
                        <m:r>
                          <a:rPr lang="ja-JP" altLang="en-US" i="1"/>
                          <m:t>𝜎</m:t>
                        </m:r>
                      </m:e>
                    </m:d>
                    <m:r>
                      <a:rPr lang="en-US" altLang="ja-JP"/>
                      <m:t>.</m:t>
                    </m:r>
                  </m:oMath>
                </a14:m>
                <a:endParaRPr lang="en-US" altLang="ja-JP" sz="1800" dirty="0"/>
              </a:p>
              <a:p>
                <a:pPr marL="0" indent="0">
                  <a:buNone/>
                </a:pPr>
                <a:r>
                  <a:rPr lang="ja-JP" altLang="ja-JP" sz="1800" dirty="0"/>
                  <a:t>用 Restricted Boltzmann Machine, RBM 表示波函数：</a:t>
                </a:r>
                <a:endParaRPr lang="en-US" altLang="ja-JP" sz="1800" dirty="0"/>
              </a:p>
              <a:p>
                <a:pPr marL="0" indent="0">
                  <a:buNone/>
                </a:pPr>
                <a14:m>
                  <m:oMathPara xmlns:m="http://schemas.openxmlformats.org/officeDocument/2006/math">
                    <m:oMathParaPr>
                      <m:jc m:val="centerGroup"/>
                    </m:oMathParaPr>
                    <m:oMath xmlns:m="http://schemas.openxmlformats.org/officeDocument/2006/math">
                      <m:sSub>
                        <m:sSubPr>
                          <m:ctrlPr>
                            <a:rPr lang="ja-JP" altLang="en-US" sz="1800"/>
                          </m:ctrlPr>
                        </m:sSubPr>
                        <m:e>
                          <m:r>
                            <a:rPr lang="ja-JP" altLang="en-US" sz="1800" i="1"/>
                            <m:t>𝜓</m:t>
                          </m:r>
                        </m:e>
                        <m:sub>
                          <m:r>
                            <a:rPr lang="ja-JP" altLang="en-US" sz="1800" i="1"/>
                            <m:t>𝜃</m:t>
                          </m:r>
                        </m:sub>
                      </m:sSub>
                      <m:d>
                        <m:dPr>
                          <m:ctrlPr>
                            <a:rPr lang="ja-JP" altLang="en-US" sz="1800" i="1"/>
                          </m:ctrlPr>
                        </m:dPr>
                        <m:e>
                          <m:r>
                            <a:rPr lang="ja-JP" altLang="en-US" sz="1800" i="1"/>
                            <m:t>𝜎</m:t>
                          </m:r>
                        </m:e>
                      </m:d>
                      <m:r>
                        <a:rPr lang="en-US" altLang="ja-JP" sz="1800"/>
                        <m:t>=</m:t>
                      </m:r>
                      <m:nary>
                        <m:naryPr>
                          <m:chr m:val="∑"/>
                          <m:grow m:val="on"/>
                          <m:supHide m:val="on"/>
                          <m:ctrlPr>
                            <a:rPr lang="ja-JP" altLang="en-US" sz="1800" i="1"/>
                          </m:ctrlPr>
                        </m:naryPr>
                        <m:sub>
                          <m:r>
                            <a:rPr lang="en-US" altLang="ja-JP" sz="1800" i="1"/>
                            <m:t>h</m:t>
                          </m:r>
                        </m:sub>
                        <m:sup/>
                        <m:e>
                          <m:r>
                            <m:rPr>
                              <m:sty m:val="p"/>
                            </m:rPr>
                            <a:rPr lang="en-US" altLang="ja-JP" sz="1800"/>
                            <m:t>exp</m:t>
                          </m:r>
                        </m:e>
                      </m:nary>
                      <m:r>
                        <a:rPr lang="ja-JP" altLang="en-US" sz="1800"/>
                        <m:t>⁡</m:t>
                      </m:r>
                      <m:d>
                        <m:dPr>
                          <m:ctrlPr>
                            <a:rPr lang="ja-JP" altLang="en-US" sz="1800" i="1"/>
                          </m:ctrlPr>
                        </m:dPr>
                        <m:e>
                          <m:r>
                            <a:rPr lang="ja-JP" altLang="en-US" sz="1800" i="1"/>
                            <m:t>𝑎</m:t>
                          </m:r>
                          <m:r>
                            <a:rPr lang="ja-JP" altLang="en-US" sz="1800"/>
                            <m:t>⋅</m:t>
                          </m:r>
                          <m:r>
                            <a:rPr lang="ja-JP" altLang="en-US" sz="1800" i="1"/>
                            <m:t>𝜎</m:t>
                          </m:r>
                          <m:r>
                            <a:rPr lang="en-US" altLang="ja-JP" sz="1800"/>
                            <m:t>+</m:t>
                          </m:r>
                          <m:r>
                            <a:rPr lang="ja-JP" altLang="en-US" sz="1800" i="1"/>
                            <m:t>𝑏</m:t>
                          </m:r>
                          <m:r>
                            <a:rPr lang="ja-JP" altLang="en-US" sz="1800"/>
                            <m:t>⋅</m:t>
                          </m:r>
                          <m:r>
                            <a:rPr lang="en-US" altLang="ja-JP" sz="1800" i="1"/>
                            <m:t>h</m:t>
                          </m:r>
                          <m:r>
                            <a:rPr lang="en-US" altLang="ja-JP" sz="1800"/>
                            <m:t>+</m:t>
                          </m:r>
                          <m:sSup>
                            <m:sSupPr>
                              <m:ctrlPr>
                                <a:rPr lang="ja-JP" altLang="en-US" sz="1800" i="1"/>
                              </m:ctrlPr>
                            </m:sSupPr>
                            <m:e>
                              <m:r>
                                <a:rPr lang="ja-JP" altLang="en-US" sz="1800" i="1"/>
                                <m:t>𝜎</m:t>
                              </m:r>
                            </m:e>
                            <m:sup>
                              <m:r>
                                <a:rPr lang="ja-JP" altLang="en-US" sz="1800" i="1"/>
                                <m:t>𝑇</m:t>
                              </m:r>
                            </m:sup>
                          </m:sSup>
                          <m:r>
                            <a:rPr lang="ja-JP" altLang="en-US" sz="1800" i="1"/>
                            <m:t>𝑊</m:t>
                          </m:r>
                          <m:r>
                            <a:rPr lang="en-US" altLang="ja-JP" sz="1800" i="1"/>
                            <m:t>h</m:t>
                          </m:r>
                        </m:e>
                      </m:d>
                      <m:r>
                        <a:rPr lang="en-US" altLang="ja-JP" sz="1800"/>
                        <m:t>,</m:t>
                      </m:r>
                    </m:oMath>
                  </m:oMathPara>
                </a14:m>
                <a:endParaRPr lang="en-US" altLang="ja-JP" sz="1800" dirty="0"/>
              </a:p>
              <a:p>
                <a:pPr marL="0" indent="0">
                  <a:buNone/>
                </a:pPr>
                <a:r>
                  <a:rPr lang="ja-JP" altLang="ja-JP" sz="1800" dirty="0"/>
                  <a:t>σ=(σ1​,σ2​,…,σN​) 是可见变量，表示真实物理系统中的自旋构型。例如每个自旋可以取：</a:t>
                </a:r>
                <a14:m>
                  <m:oMath xmlns:m="http://schemas.openxmlformats.org/officeDocument/2006/math">
                    <m:sSub>
                      <m:sSubPr>
                        <m:ctrlPr>
                          <a:rPr lang="ja-JP" altLang="en-US"/>
                        </m:ctrlPr>
                      </m:sSubPr>
                      <m:e>
                        <m:r>
                          <a:rPr lang="ja-JP" altLang="en-US" i="1"/>
                          <m:t>𝜎</m:t>
                        </m:r>
                      </m:e>
                      <m:sub>
                        <m:r>
                          <a:rPr lang="ja-JP" altLang="en-US" i="1"/>
                          <m:t>𝑖</m:t>
                        </m:r>
                      </m:sub>
                    </m:sSub>
                    <m:r>
                      <a:rPr lang="en-US" altLang="ja-JP"/>
                      <m:t>=±</m:t>
                    </m:r>
                    <m:r>
                      <a:rPr lang="en-US" altLang="ja-JP"/>
                      <m:t>1</m:t>
                    </m:r>
                    <m:r>
                      <a:rPr lang="en-US" altLang="ja-JP"/>
                      <m:t>.</m:t>
                    </m:r>
                  </m:oMath>
                </a14:m>
                <a:endParaRPr lang="en-US" altLang="ja-JP" sz="1800" dirty="0"/>
              </a:p>
              <a:p>
                <a:pPr marL="0" indent="0">
                  <a:buNone/>
                </a:pPr>
                <a14:m>
                  <m:oMath xmlns:m="http://schemas.openxmlformats.org/officeDocument/2006/math">
                    <m:r>
                      <a:rPr lang="en-US" altLang="ja-JP" i="1"/>
                      <m:t>h</m:t>
                    </m:r>
                    <m:r>
                      <a:rPr lang="en-US" altLang="ja-JP"/>
                      <m:t>=</m:t>
                    </m:r>
                    <m:d>
                      <m:dPr>
                        <m:sepChr m:val=","/>
                        <m:ctrlPr>
                          <a:rPr lang="ja-JP" altLang="en-US" i="1"/>
                        </m:ctrlPr>
                      </m:dPr>
                      <m:e>
                        <m:sSub>
                          <m:sSubPr>
                            <m:ctrlPr>
                              <a:rPr lang="ja-JP" altLang="en-US" i="1"/>
                            </m:ctrlPr>
                          </m:sSubPr>
                          <m:e>
                            <m:r>
                              <a:rPr lang="en-US" altLang="ja-JP" i="1"/>
                              <m:t>h</m:t>
                            </m:r>
                          </m:e>
                          <m:sub>
                            <m:r>
                              <a:rPr lang="en-US" altLang="ja-JP"/>
                              <m:t>1</m:t>
                            </m:r>
                          </m:sub>
                        </m:sSub>
                      </m:e>
                      <m:e>
                        <m:sSub>
                          <m:sSubPr>
                            <m:ctrlPr>
                              <a:rPr lang="ja-JP" altLang="en-US" i="1"/>
                            </m:ctrlPr>
                          </m:sSubPr>
                          <m:e>
                            <m:r>
                              <a:rPr lang="en-US" altLang="ja-JP" i="1"/>
                              <m:t>h</m:t>
                            </m:r>
                          </m:e>
                          <m:sub>
                            <m:r>
                              <a:rPr lang="en-US" altLang="ja-JP"/>
                              <m:t>2</m:t>
                            </m:r>
                          </m:sub>
                        </m:sSub>
                      </m:e>
                      <m:e>
                        <m:r>
                          <a:rPr lang="en-US" altLang="ja-JP"/>
                          <m:t>…</m:t>
                        </m:r>
                      </m:e>
                      <m:e>
                        <m:sSub>
                          <m:sSubPr>
                            <m:ctrlPr>
                              <a:rPr lang="ja-JP" altLang="en-US" i="1"/>
                            </m:ctrlPr>
                          </m:sSubPr>
                          <m:e>
                            <m:r>
                              <a:rPr lang="en-US" altLang="ja-JP" i="1"/>
                              <m:t>h</m:t>
                            </m:r>
                          </m:e>
                          <m:sub>
                            <m:r>
                              <a:rPr lang="ja-JP" altLang="en-US" i="1"/>
                              <m:t>𝑀</m:t>
                            </m:r>
                          </m:sub>
                        </m:sSub>
                      </m:e>
                    </m:d>
                  </m:oMath>
                </a14:m>
                <a:r>
                  <a:rPr lang="ja-JP" altLang="ja-JP" sz="1800" dirty="0"/>
                  <a:t>是隐藏变量。隐藏变量不是物理系统中真实可见的自旋，而是神经网络额外引入的辅助自由度，用来表达复杂相关性。</a:t>
                </a:r>
                <a:endParaRPr lang="en-US" altLang="ja-JP" sz="1800" dirty="0"/>
              </a:p>
              <a:p>
                <a:pPr marL="0" indent="0">
                  <a:buNone/>
                </a:pPr>
                <a:r>
                  <a:rPr lang="ja-JP" altLang="ja-JP" sz="1800" dirty="0"/>
                  <a:t>RBM 的结构是：</a:t>
                </a:r>
              </a:p>
              <a:p>
                <a:pPr marL="0" indent="0">
                  <a:buNone/>
                </a:pPr>
                <a14:m>
                  <m:oMathPara xmlns:m="http://schemas.openxmlformats.org/officeDocument/2006/math">
                    <m:oMathParaPr>
                      <m:jc m:val="centerGroup"/>
                    </m:oMathParaPr>
                    <m:oMath xmlns:m="http://schemas.openxmlformats.org/officeDocument/2006/math">
                      <m:r>
                        <m:rPr>
                          <m:nor/>
                        </m:rPr>
                        <a:rPr lang="ja-JP" altLang="en-US" sz="1800" b="0"/>
                        <m:t>物理自旋</m:t>
                      </m:r>
                      <m:r>
                        <m:rPr>
                          <m:nor/>
                        </m:rPr>
                        <a:rPr lang="ja-JP" altLang="en-US" sz="1800" b="0" i="1"/>
                        <m:t> </m:t>
                      </m:r>
                      <m:r>
                        <a:rPr lang="ja-JP" altLang="en-US" sz="1800" b="0" i="1"/>
                        <m:t>𝜎</m:t>
                      </m:r>
                      <m:r>
                        <a:rPr lang="ja-JP" altLang="en-US"/>
                        <m:t> ⟷ </m:t>
                      </m:r>
                      <m:r>
                        <m:rPr>
                          <m:nor/>
                        </m:rPr>
                        <a:rPr lang="ja-JP" altLang="en-US" i="1"/>
                        <m:t>隐藏变量 </m:t>
                      </m:r>
                      <m:r>
                        <a:rPr lang="en-US" altLang="ja-JP" i="1"/>
                        <m:t>h</m:t>
                      </m:r>
                      <m:r>
                        <a:rPr lang="en-US" altLang="ja-JP"/>
                        <m:t>.</m:t>
                      </m:r>
                    </m:oMath>
                  </m:oMathPara>
                </a14:m>
                <a:endParaRPr lang="en-US" altLang="ja-JP" sz="1800" b="0" dirty="0"/>
              </a:p>
              <a:p>
                <a:pPr marL="0" indent="0">
                  <a:buNone/>
                </a:pPr>
                <a:r>
                  <a:rPr lang="ja-JP" altLang="ja-JP" sz="1800" dirty="0"/>
                  <a:t>参数包括：</a:t>
                </a:r>
              </a:p>
              <a:p>
                <a14:m>
                  <m:oMath xmlns:m="http://schemas.openxmlformats.org/officeDocument/2006/math">
                    <m:r>
                      <a:rPr lang="ja-JP" altLang="en-US" i="1"/>
                      <m:t>𝑎</m:t>
                    </m:r>
                    <m:r>
                      <a:rPr lang="en-US" altLang="ja-JP"/>
                      <m:t>=</m:t>
                    </m:r>
                    <m:d>
                      <m:dPr>
                        <m:sepChr m:val=","/>
                        <m:ctrlPr>
                          <a:rPr lang="ja-JP" altLang="en-US" i="1"/>
                        </m:ctrlPr>
                      </m:dPr>
                      <m:e>
                        <m:sSub>
                          <m:sSubPr>
                            <m:ctrlPr>
                              <a:rPr lang="ja-JP" altLang="en-US" i="1"/>
                            </m:ctrlPr>
                          </m:sSubPr>
                          <m:e>
                            <m:r>
                              <a:rPr lang="ja-JP" altLang="en-US" i="1"/>
                              <m:t>𝑎</m:t>
                            </m:r>
                          </m:e>
                          <m:sub>
                            <m:r>
                              <a:rPr lang="en-US" altLang="ja-JP"/>
                              <m:t>1</m:t>
                            </m:r>
                          </m:sub>
                        </m:sSub>
                      </m:e>
                      <m:e>
                        <m:r>
                          <a:rPr lang="en-US" altLang="ja-JP"/>
                          <m:t>…</m:t>
                        </m:r>
                      </m:e>
                      <m:e>
                        <m:sSub>
                          <m:sSubPr>
                            <m:ctrlPr>
                              <a:rPr lang="ja-JP" altLang="en-US" i="1"/>
                            </m:ctrlPr>
                          </m:sSubPr>
                          <m:e>
                            <m:r>
                              <a:rPr lang="ja-JP" altLang="en-US" i="1"/>
                              <m:t>𝑎</m:t>
                            </m:r>
                          </m:e>
                          <m:sub>
                            <m:r>
                              <a:rPr lang="ja-JP" altLang="en-US" i="1"/>
                              <m:t>𝑁</m:t>
                            </m:r>
                          </m:sub>
                        </m:sSub>
                      </m:e>
                    </m:d>
                    <m:r>
                      <a:rPr lang="en-US" altLang="ja-JP"/>
                      <m:t>,</m:t>
                    </m:r>
                  </m:oMath>
                </a14:m>
                <a:r>
                  <a:rPr lang="ja-JP" altLang="ja-JP" sz="1800" dirty="0"/>
                  <a:t>可见层偏置</a:t>
                </a:r>
                <a:endParaRPr lang="en-US" altLang="ja-JP" sz="1800" dirty="0"/>
              </a:p>
              <a:p>
                <a14:m>
                  <m:oMath xmlns:m="http://schemas.openxmlformats.org/officeDocument/2006/math">
                    <m:r>
                      <a:rPr lang="ja-JP" altLang="en-US" i="1"/>
                      <m:t>𝑏</m:t>
                    </m:r>
                    <m:r>
                      <a:rPr lang="en-US" altLang="ja-JP"/>
                      <m:t>=</m:t>
                    </m:r>
                    <m:d>
                      <m:dPr>
                        <m:sepChr m:val=","/>
                        <m:ctrlPr>
                          <a:rPr lang="ja-JP" altLang="en-US" i="1"/>
                        </m:ctrlPr>
                      </m:dPr>
                      <m:e>
                        <m:sSub>
                          <m:sSubPr>
                            <m:ctrlPr>
                              <a:rPr lang="ja-JP" altLang="en-US" i="1"/>
                            </m:ctrlPr>
                          </m:sSubPr>
                          <m:e>
                            <m:r>
                              <a:rPr lang="ja-JP" altLang="en-US" i="1"/>
                              <m:t>𝑏</m:t>
                            </m:r>
                          </m:e>
                          <m:sub>
                            <m:r>
                              <a:rPr lang="en-US" altLang="ja-JP"/>
                              <m:t>1</m:t>
                            </m:r>
                          </m:sub>
                        </m:sSub>
                      </m:e>
                      <m:e>
                        <m:r>
                          <a:rPr lang="en-US" altLang="ja-JP"/>
                          <m:t>…</m:t>
                        </m:r>
                      </m:e>
                      <m:e>
                        <m:sSub>
                          <m:sSubPr>
                            <m:ctrlPr>
                              <a:rPr lang="ja-JP" altLang="en-US" i="1"/>
                            </m:ctrlPr>
                          </m:sSubPr>
                          <m:e>
                            <m:r>
                              <a:rPr lang="ja-JP" altLang="en-US" i="1"/>
                              <m:t>𝑏</m:t>
                            </m:r>
                          </m:e>
                          <m:sub>
                            <m:r>
                              <a:rPr lang="ja-JP" altLang="en-US" i="1"/>
                              <m:t>𝑀</m:t>
                            </m:r>
                          </m:sub>
                        </m:sSub>
                      </m:e>
                    </m:d>
                    <m:r>
                      <a:rPr lang="en-US" altLang="ja-JP"/>
                      <m:t>,</m:t>
                    </m:r>
                  </m:oMath>
                </a14:m>
                <a:r>
                  <a:rPr lang="ja-JP" altLang="ja-JP" sz="1800" dirty="0"/>
                  <a:t>隐藏层偏置</a:t>
                </a:r>
                <a:endParaRPr lang="en-US" altLang="ja-JP" sz="1800" dirty="0"/>
              </a:p>
              <a:p>
                <a14:m>
                  <m:oMath xmlns:m="http://schemas.openxmlformats.org/officeDocument/2006/math">
                    <m:r>
                      <a:rPr lang="ja-JP" altLang="en-US" i="1"/>
                      <m:t>𝑊</m:t>
                    </m:r>
                    <m:r>
                      <a:rPr lang="en-US" altLang="ja-JP"/>
                      <m:t>=</m:t>
                    </m:r>
                    <m:d>
                      <m:dPr>
                        <m:ctrlPr>
                          <a:rPr lang="ja-JP" altLang="en-US" i="1"/>
                        </m:ctrlPr>
                      </m:dPr>
                      <m:e>
                        <m:sSub>
                          <m:sSubPr>
                            <m:ctrlPr>
                              <a:rPr lang="ja-JP" altLang="en-US" i="1"/>
                            </m:ctrlPr>
                          </m:sSubPr>
                          <m:e>
                            <m:r>
                              <a:rPr lang="ja-JP" altLang="en-US" i="1"/>
                              <m:t>𝑊</m:t>
                            </m:r>
                          </m:e>
                          <m:sub>
                            <m:r>
                              <a:rPr lang="ja-JP" altLang="en-US" i="1"/>
                              <m:t>𝑖𝑗</m:t>
                            </m:r>
                          </m:sub>
                        </m:sSub>
                      </m:e>
                    </m:d>
                    <m:r>
                      <a:rPr lang="en-US" altLang="ja-JP"/>
                      <m:t>.</m:t>
                    </m:r>
                  </m:oMath>
                </a14:m>
                <a:r>
                  <a:rPr lang="ja-JP" altLang="ja-JP" sz="1800" dirty="0"/>
                  <a:t>第 </a:t>
                </a:r>
                <a14:m>
                  <m:oMath xmlns:m="http://schemas.openxmlformats.org/officeDocument/2006/math">
                    <m:r>
                      <a:rPr lang="ja-JP" altLang="en-US" i="1"/>
                      <m:t>𝑖</m:t>
                    </m:r>
                  </m:oMath>
                </a14:m>
                <a:r>
                  <a:rPr lang="ja-JP" altLang="ja-JP" sz="1800" dirty="0"/>
                  <a:t>个自旋和第 </a:t>
                </a:r>
                <a14:m>
                  <m:oMath xmlns:m="http://schemas.openxmlformats.org/officeDocument/2006/math">
                    <m:r>
                      <a:rPr lang="ja-JP" altLang="en-US" i="1"/>
                      <m:t>𝑗</m:t>
                    </m:r>
                  </m:oMath>
                </a14:m>
                <a:r>
                  <a:rPr lang="ja-JP" altLang="ja-JP" sz="1800" dirty="0"/>
                  <a:t>个隐藏变量之间的耦合强度</a:t>
                </a:r>
              </a:p>
              <a:p>
                <a:pPr marL="0" indent="0">
                  <a:buNone/>
                </a:pPr>
                <a:r>
                  <a:rPr lang="ja-JP" altLang="ja-JP" sz="1800" dirty="0"/>
                  <a:t>把隐藏变量 </a:t>
                </a:r>
                <a14:m>
                  <m:oMath xmlns:m="http://schemas.openxmlformats.org/officeDocument/2006/math">
                    <m:r>
                      <a:rPr lang="en-US" altLang="ja-JP" sz="1800" i="1"/>
                      <m:t>h</m:t>
                    </m:r>
                  </m:oMath>
                </a14:m>
                <a:r>
                  <a:rPr lang="ja-JP" altLang="ja-JP" sz="1800" dirty="0"/>
                  <a:t>求和后，可以得到类似：</a:t>
                </a:r>
                <a:endParaRPr lang="en-US" altLang="ja-JP" sz="1800" dirty="0"/>
              </a:p>
              <a:p>
                <a:pPr marL="0" indent="0">
                  <a:buNone/>
                </a:pPr>
                <a14:m>
                  <m:oMathPara xmlns:m="http://schemas.openxmlformats.org/officeDocument/2006/math">
                    <m:oMathParaPr>
                      <m:jc m:val="centerGroup"/>
                    </m:oMathParaPr>
                    <m:oMath xmlns:m="http://schemas.openxmlformats.org/officeDocument/2006/math">
                      <m:sSub>
                        <m:sSubPr>
                          <m:ctrlPr>
                            <a:rPr lang="ja-JP" altLang="en-US" sz="1800"/>
                          </m:ctrlPr>
                        </m:sSubPr>
                        <m:e>
                          <m:r>
                            <a:rPr lang="ja-JP" altLang="en-US" sz="1800" i="1"/>
                            <m:t>𝜓</m:t>
                          </m:r>
                        </m:e>
                        <m:sub>
                          <m:r>
                            <a:rPr lang="ja-JP" altLang="en-US" sz="1800" i="1"/>
                            <m:t>𝜃</m:t>
                          </m:r>
                        </m:sub>
                      </m:sSub>
                      <m:d>
                        <m:dPr>
                          <m:ctrlPr>
                            <a:rPr lang="ja-JP" altLang="en-US" sz="1800" i="1"/>
                          </m:ctrlPr>
                        </m:dPr>
                        <m:e>
                          <m:r>
                            <a:rPr lang="ja-JP" altLang="en-US" sz="1800" i="1"/>
                            <m:t>𝜎</m:t>
                          </m:r>
                        </m:e>
                      </m:d>
                      <m:r>
                        <a:rPr lang="en-US" altLang="ja-JP" sz="1800"/>
                        <m:t>=</m:t>
                      </m:r>
                      <m:sSup>
                        <m:sSupPr>
                          <m:ctrlPr>
                            <a:rPr lang="ja-JP" altLang="en-US" sz="1800" i="1"/>
                          </m:ctrlPr>
                        </m:sSupPr>
                        <m:e>
                          <m:r>
                            <a:rPr lang="ja-JP" altLang="en-US" sz="1800" i="1"/>
                            <m:t>𝑒</m:t>
                          </m:r>
                        </m:e>
                        <m:sup>
                          <m:r>
                            <a:rPr lang="ja-JP" altLang="en-US" sz="1800" i="1"/>
                            <m:t>𝑎</m:t>
                          </m:r>
                          <m:r>
                            <a:rPr lang="ja-JP" altLang="en-US" sz="1800"/>
                            <m:t>⋅</m:t>
                          </m:r>
                          <m:r>
                            <a:rPr lang="ja-JP" altLang="en-US" sz="1800" i="1"/>
                            <m:t>𝜎</m:t>
                          </m:r>
                        </m:sup>
                      </m:sSup>
                      <m:nary>
                        <m:naryPr>
                          <m:chr m:val="∏"/>
                          <m:grow m:val="on"/>
                          <m:supHide m:val="on"/>
                          <m:ctrlPr>
                            <a:rPr lang="ja-JP" altLang="en-US" sz="1800" i="1"/>
                          </m:ctrlPr>
                        </m:naryPr>
                        <m:sub>
                          <m:r>
                            <a:rPr lang="ja-JP" altLang="en-US" sz="1800" i="1"/>
                            <m:t>𝑗</m:t>
                          </m:r>
                        </m:sub>
                        <m:sup/>
                        <m:e>
                          <m:r>
                            <a:rPr lang="en-US" altLang="ja-JP" sz="1800"/>
                            <m:t>2</m:t>
                          </m:r>
                        </m:e>
                      </m:nary>
                      <m:func>
                        <m:funcPr>
                          <m:ctrlPr>
                            <a:rPr lang="ja-JP" altLang="en-US" sz="1800" i="1"/>
                          </m:ctrlPr>
                        </m:funcPr>
                        <m:fName>
                          <m:r>
                            <m:rPr>
                              <m:sty m:val="p"/>
                            </m:rPr>
                            <a:rPr lang="en-US" altLang="ja-JP" sz="1800"/>
                            <m:t>cosh</m:t>
                          </m:r>
                        </m:fName>
                        <m:e>
                          <m:d>
                            <m:dPr>
                              <m:ctrlPr>
                                <a:rPr lang="ja-JP" altLang="en-US" sz="1800" i="1"/>
                              </m:ctrlPr>
                            </m:dPr>
                            <m:e>
                              <m:sSub>
                                <m:sSubPr>
                                  <m:ctrlPr>
                                    <a:rPr lang="ja-JP" altLang="en-US" sz="1800" i="1"/>
                                  </m:ctrlPr>
                                </m:sSubPr>
                                <m:e>
                                  <m:r>
                                    <a:rPr lang="ja-JP" altLang="en-US" sz="1800" i="1"/>
                                    <m:t>𝑏</m:t>
                                  </m:r>
                                </m:e>
                                <m:sub>
                                  <m:r>
                                    <a:rPr lang="ja-JP" altLang="en-US" sz="1800" i="1"/>
                                    <m:t>𝑗</m:t>
                                  </m:r>
                                </m:sub>
                              </m:sSub>
                              <m:r>
                                <a:rPr lang="en-US" altLang="ja-JP" sz="1800"/>
                                <m:t>+</m:t>
                              </m:r>
                              <m:nary>
                                <m:naryPr>
                                  <m:chr m:val="∑"/>
                                  <m:grow m:val="on"/>
                                  <m:supHide m:val="on"/>
                                  <m:ctrlPr>
                                    <a:rPr lang="ja-JP" altLang="en-US" sz="1800" i="1"/>
                                  </m:ctrlPr>
                                </m:naryPr>
                                <m:sub>
                                  <m:r>
                                    <a:rPr lang="ja-JP" altLang="en-US" sz="1800" i="1"/>
                                    <m:t>𝑖</m:t>
                                  </m:r>
                                </m:sub>
                                <m:sup/>
                                <m:e>
                                  <m:sSub>
                                    <m:sSubPr>
                                      <m:ctrlPr>
                                        <a:rPr lang="ja-JP" altLang="en-US" sz="1800" i="1"/>
                                      </m:ctrlPr>
                                    </m:sSubPr>
                                    <m:e>
                                      <m:r>
                                        <a:rPr lang="ja-JP" altLang="en-US" sz="1800" i="1"/>
                                        <m:t>𝑊</m:t>
                                      </m:r>
                                    </m:e>
                                    <m:sub>
                                      <m:r>
                                        <a:rPr lang="ja-JP" altLang="en-US" sz="1800" i="1"/>
                                        <m:t>𝑖𝑗</m:t>
                                      </m:r>
                                    </m:sub>
                                  </m:sSub>
                                </m:e>
                              </m:nary>
                              <m:sSub>
                                <m:sSubPr>
                                  <m:ctrlPr>
                                    <a:rPr lang="ja-JP" altLang="en-US" sz="1800" i="1"/>
                                  </m:ctrlPr>
                                </m:sSubPr>
                                <m:e>
                                  <m:r>
                                    <a:rPr lang="ja-JP" altLang="en-US" sz="1800" i="1"/>
                                    <m:t>𝜎</m:t>
                                  </m:r>
                                </m:e>
                                <m:sub>
                                  <m:r>
                                    <a:rPr lang="ja-JP" altLang="en-US" sz="1800" i="1"/>
                                    <m:t>𝑖</m:t>
                                  </m:r>
                                </m:sub>
                              </m:sSub>
                            </m:e>
                          </m:d>
                        </m:e>
                      </m:func>
                      <m:r>
                        <a:rPr lang="en-US" altLang="ja-JP" sz="1800"/>
                        <m:t>.</m:t>
                      </m:r>
                    </m:oMath>
                  </m:oMathPara>
                </a14:m>
                <a:endParaRPr lang="en-US" altLang="ja-JP" sz="1800" dirty="0"/>
              </a:p>
              <a:p>
                <a:r>
                  <a:rPr lang="ja-JP" altLang="ja-JP" sz="1800" dirty="0"/>
                  <a:t>权重 </a:t>
                </a:r>
                <a14:m>
                  <m:oMath xmlns:m="http://schemas.openxmlformats.org/officeDocument/2006/math">
                    <m:r>
                      <a:rPr lang="ja-JP" altLang="en-US" sz="1800" i="1"/>
                      <m:t>𝑎</m:t>
                    </m:r>
                    <m:r>
                      <a:rPr lang="en-US" altLang="ja-JP" sz="1800"/>
                      <m:t>,</m:t>
                    </m:r>
                    <m:r>
                      <a:rPr lang="ja-JP" altLang="en-US" sz="1800" i="1"/>
                      <m:t>𝑏</m:t>
                    </m:r>
                    <m:r>
                      <a:rPr lang="en-US" altLang="ja-JP" sz="1800"/>
                      <m:t>,</m:t>
                    </m:r>
                    <m:r>
                      <a:rPr lang="ja-JP" altLang="en-US" sz="1800" i="1"/>
                      <m:t>𝑊</m:t>
                    </m:r>
                  </m:oMath>
                </a14:m>
                <a:r>
                  <a:rPr lang="ja-JP" altLang="ja-JP" sz="1800" dirty="0"/>
                  <a:t>可以是复数，因此同时表示振幅和相位。论文说明，RBM 的可见层对应物理自旋变量，隐藏层提供辅助自由度；隐藏变量可被显式求和，得到复值波函数表达。</a:t>
                </a:r>
              </a:p>
              <a:p>
                <a:r>
                  <a:rPr lang="ja-JP" altLang="ja-JP" sz="1800" dirty="0"/>
                  <a:t>训练不是监督学习，而是变分优化。基态问题中最小化能量泛函：</a:t>
                </a:r>
                <a14:m>
                  <m:oMath xmlns:m="http://schemas.openxmlformats.org/officeDocument/2006/math">
                    <m:r>
                      <a:rPr lang="ja-JP" altLang="en-US" sz="1800" i="1"/>
                      <m:t>𝐸</m:t>
                    </m:r>
                    <m:d>
                      <m:dPr>
                        <m:ctrlPr>
                          <a:rPr lang="ja-JP" altLang="en-US" sz="1800" i="1"/>
                        </m:ctrlPr>
                      </m:dPr>
                      <m:e>
                        <m:r>
                          <a:rPr lang="ja-JP" altLang="en-US" sz="1800" i="1"/>
                          <m:t>𝜃</m:t>
                        </m:r>
                      </m:e>
                    </m:d>
                    <m:r>
                      <a:rPr lang="en-US" altLang="ja-JP" sz="1800"/>
                      <m:t>=</m:t>
                    </m:r>
                    <m:f>
                      <m:fPr>
                        <m:ctrlPr>
                          <a:rPr lang="ja-JP" altLang="en-US" sz="1800" i="1"/>
                        </m:ctrlPr>
                      </m:fPr>
                      <m:num>
                        <m:d>
                          <m:dPr>
                            <m:begChr m:val="⟨"/>
                            <m:endChr m:val="⟩"/>
                            <m:ctrlPr>
                              <a:rPr lang="ja-JP" altLang="en-US" sz="1800" i="1"/>
                            </m:ctrlPr>
                          </m:dPr>
                          <m:e>
                            <m:sSub>
                              <m:sSubPr>
                                <m:ctrlPr>
                                  <a:rPr lang="ja-JP" altLang="en-US" sz="1800" i="1"/>
                                </m:ctrlPr>
                              </m:sSubPr>
                              <m:e>
                                <m:r>
                                  <a:rPr lang="ja-JP" altLang="en-US" sz="1800" i="1"/>
                                  <m:t>𝜓</m:t>
                                </m:r>
                              </m:e>
                              <m:sub>
                                <m:r>
                                  <a:rPr lang="ja-JP" altLang="en-US" sz="1800" i="1"/>
                                  <m:t>𝜃</m:t>
                                </m:r>
                              </m:sub>
                            </m:sSub>
                            <m:r>
                              <a:rPr lang="ja-JP" altLang="en-US" sz="1800"/>
                              <m:t>∣</m:t>
                            </m:r>
                            <m:r>
                              <a:rPr lang="ja-JP" altLang="en-US" sz="1800" i="1"/>
                              <m:t>𝐻</m:t>
                            </m:r>
                            <m:r>
                              <a:rPr lang="ja-JP" altLang="en-US" sz="1800"/>
                              <m:t>∣</m:t>
                            </m:r>
                            <m:sSub>
                              <m:sSubPr>
                                <m:ctrlPr>
                                  <a:rPr lang="ja-JP" altLang="en-US" sz="1800" i="1"/>
                                </m:ctrlPr>
                              </m:sSubPr>
                              <m:e>
                                <m:r>
                                  <a:rPr lang="ja-JP" altLang="en-US" sz="1800" i="1"/>
                                  <m:t>𝜓</m:t>
                                </m:r>
                              </m:e>
                              <m:sub>
                                <m:r>
                                  <a:rPr lang="ja-JP" altLang="en-US" sz="1800" i="1"/>
                                  <m:t>𝜃</m:t>
                                </m:r>
                              </m:sub>
                            </m:sSub>
                          </m:e>
                        </m:d>
                      </m:num>
                      <m:den>
                        <m:d>
                          <m:dPr>
                            <m:begChr m:val="⟨"/>
                            <m:endChr m:val="⟩"/>
                            <m:ctrlPr>
                              <a:rPr lang="ja-JP" altLang="en-US" sz="1800" i="1"/>
                            </m:ctrlPr>
                          </m:dPr>
                          <m:e>
                            <m:sSub>
                              <m:sSubPr>
                                <m:ctrlPr>
                                  <a:rPr lang="ja-JP" altLang="en-US" sz="1800" i="1"/>
                                </m:ctrlPr>
                              </m:sSubPr>
                              <m:e>
                                <m:r>
                                  <a:rPr lang="ja-JP" altLang="en-US" sz="1800" i="1"/>
                                  <m:t>𝜓</m:t>
                                </m:r>
                              </m:e>
                              <m:sub>
                                <m:r>
                                  <a:rPr lang="ja-JP" altLang="en-US" sz="1800" i="1"/>
                                  <m:t>𝜃</m:t>
                                </m:r>
                              </m:sub>
                            </m:sSub>
                            <m:r>
                              <a:rPr lang="ja-JP" altLang="en-US" sz="1800"/>
                              <m:t>∣</m:t>
                            </m:r>
                            <m:sSub>
                              <m:sSubPr>
                                <m:ctrlPr>
                                  <a:rPr lang="ja-JP" altLang="en-US" sz="1800" i="1"/>
                                </m:ctrlPr>
                              </m:sSubPr>
                              <m:e>
                                <m:r>
                                  <a:rPr lang="ja-JP" altLang="en-US" sz="1800" i="1"/>
                                  <m:t>𝜓</m:t>
                                </m:r>
                              </m:e>
                              <m:sub>
                                <m:r>
                                  <a:rPr lang="ja-JP" altLang="en-US" sz="1800" i="1"/>
                                  <m:t>𝜃</m:t>
                                </m:r>
                              </m:sub>
                            </m:sSub>
                          </m:e>
                        </m:d>
                      </m:den>
                    </m:f>
                    <m:r>
                      <a:rPr lang="en-US" altLang="ja-JP" sz="1800"/>
                      <m:t>.</m:t>
                    </m:r>
                    <m:r>
                      <a:rPr lang="en-US" altLang="ja-JP" sz="1800" i="1" smtClean="0"/>
                      <m:t> </m:t>
                    </m:r>
                  </m:oMath>
                </a14:m>
                <a:r>
                  <a:rPr lang="ja-JP" altLang="ja-JP" sz="1800" dirty="0"/>
                  <a:t>Carleo &amp; Troyer 的任务不是给定许多已知波函数标签来训练模型。</a:t>
                </a:r>
                <a:br>
                  <a:rPr lang="ja-JP" altLang="ja-JP" sz="1800" dirty="0"/>
                </a:br>
                <a:r>
                  <a:rPr lang="ja-JP" altLang="ja-JP" sz="1800" dirty="0"/>
                  <a:t>他们要找的是量子系统的基态，也就是能量最低的状态。</a:t>
                </a:r>
              </a:p>
              <a:p>
                <a:r>
                  <a:rPr lang="ja-JP" altLang="ja-JP" sz="1800" dirty="0"/>
                  <a:t>所以训练目标不是“拟合标签”，而是最小化能量：</a:t>
                </a:r>
              </a:p>
              <a:p>
                <a14:m>
                  <m:oMath xmlns:m="http://schemas.openxmlformats.org/officeDocument/2006/math">
                    <m:r>
                      <a:rPr lang="ja-JP" altLang="en-US" i="1"/>
                      <m:t>𝐸</m:t>
                    </m:r>
                    <m:d>
                      <m:dPr>
                        <m:ctrlPr>
                          <a:rPr lang="ja-JP" altLang="en-US" i="1"/>
                        </m:ctrlPr>
                      </m:dPr>
                      <m:e>
                        <m:r>
                          <a:rPr lang="ja-JP" altLang="en-US" i="1"/>
                          <m:t>𝜃</m:t>
                        </m:r>
                      </m:e>
                    </m:d>
                    <m:r>
                      <a:rPr lang="en-US" altLang="ja-JP"/>
                      <m:t>=</m:t>
                    </m:r>
                    <m:f>
                      <m:fPr>
                        <m:ctrlPr>
                          <a:rPr lang="ja-JP" altLang="en-US" i="1"/>
                        </m:ctrlPr>
                      </m:fPr>
                      <m:num>
                        <m:d>
                          <m:dPr>
                            <m:begChr m:val="⟨"/>
                            <m:endChr m:val="⟩"/>
                            <m:ctrlPr>
                              <a:rPr lang="ja-JP" altLang="en-US" i="1"/>
                            </m:ctrlPr>
                          </m:dPr>
                          <m:e>
                            <m:sSub>
                              <m:sSubPr>
                                <m:ctrlPr>
                                  <a:rPr lang="ja-JP" altLang="en-US" i="1"/>
                                </m:ctrlPr>
                              </m:sSubPr>
                              <m:e>
                                <m:r>
                                  <a:rPr lang="ja-JP" altLang="en-US" i="1"/>
                                  <m:t>𝜓</m:t>
                                </m:r>
                              </m:e>
                              <m:sub>
                                <m:r>
                                  <a:rPr lang="ja-JP" altLang="en-US" i="1"/>
                                  <m:t>𝜃</m:t>
                                </m:r>
                              </m:sub>
                            </m:sSub>
                            <m:r>
                              <a:rPr lang="ja-JP" altLang="en-US"/>
                              <m:t>∣</m:t>
                            </m:r>
                            <m:r>
                              <a:rPr lang="ja-JP" altLang="en-US" i="1"/>
                              <m:t>𝐻</m:t>
                            </m:r>
                            <m:r>
                              <a:rPr lang="ja-JP" altLang="en-US"/>
                              <m:t>∣</m:t>
                            </m:r>
                            <m:sSub>
                              <m:sSubPr>
                                <m:ctrlPr>
                                  <a:rPr lang="ja-JP" altLang="en-US" i="1"/>
                                </m:ctrlPr>
                              </m:sSubPr>
                              <m:e>
                                <m:r>
                                  <a:rPr lang="ja-JP" altLang="en-US" i="1"/>
                                  <m:t>𝜓</m:t>
                                </m:r>
                              </m:e>
                              <m:sub>
                                <m:r>
                                  <a:rPr lang="ja-JP" altLang="en-US" i="1"/>
                                  <m:t>𝜃</m:t>
                                </m:r>
                              </m:sub>
                            </m:sSub>
                          </m:e>
                        </m:d>
                      </m:num>
                      <m:den>
                        <m:d>
                          <m:dPr>
                            <m:begChr m:val="⟨"/>
                            <m:endChr m:val="⟩"/>
                            <m:ctrlPr>
                              <a:rPr lang="ja-JP" altLang="en-US" i="1"/>
                            </m:ctrlPr>
                          </m:dPr>
                          <m:e>
                            <m:sSub>
                              <m:sSubPr>
                                <m:ctrlPr>
                                  <a:rPr lang="ja-JP" altLang="en-US" i="1"/>
                                </m:ctrlPr>
                              </m:sSubPr>
                              <m:e>
                                <m:r>
                                  <a:rPr lang="ja-JP" altLang="en-US" i="1"/>
                                  <m:t>𝜓</m:t>
                                </m:r>
                              </m:e>
                              <m:sub>
                                <m:r>
                                  <a:rPr lang="ja-JP" altLang="en-US" i="1"/>
                                  <m:t>𝜃</m:t>
                                </m:r>
                              </m:sub>
                            </m:sSub>
                            <m:r>
                              <a:rPr lang="ja-JP" altLang="en-US"/>
                              <m:t>∣</m:t>
                            </m:r>
                            <m:sSub>
                              <m:sSubPr>
                                <m:ctrlPr>
                                  <a:rPr lang="ja-JP" altLang="en-US" i="1"/>
                                </m:ctrlPr>
                              </m:sSubPr>
                              <m:e>
                                <m:r>
                                  <a:rPr lang="ja-JP" altLang="en-US" i="1"/>
                                  <m:t>𝜓</m:t>
                                </m:r>
                              </m:e>
                              <m:sub>
                                <m:r>
                                  <a:rPr lang="ja-JP" altLang="en-US" i="1"/>
                                  <m:t>𝜃</m:t>
                                </m:r>
                              </m:sub>
                            </m:sSub>
                          </m:e>
                        </m:d>
                      </m:den>
                    </m:f>
                    <m:r>
                      <a:rPr lang="en-US" altLang="ja-JP"/>
                      <m:t>.</m:t>
                    </m:r>
                  </m:oMath>
                </a14:m>
                <a:endParaRPr lang="en-US" altLang="ja-JP" sz="1800" dirty="0"/>
              </a:p>
              <a:p>
                <a:r>
                  <a:rPr lang="ja-JP" altLang="ja-JP" sz="1800" dirty="0"/>
                  <a:t>这里：</a:t>
                </a:r>
              </a:p>
              <a:p>
                <a14:m>
                  <m:oMath xmlns:m="http://schemas.openxmlformats.org/officeDocument/2006/math">
                    <m:r>
                      <a:rPr lang="ja-JP" altLang="en-US" i="1"/>
                      <m:t>𝐻</m:t>
                    </m:r>
                  </m:oMath>
                </a14:m>
                <a:r>
                  <a:rPr lang="ja-JP" altLang="ja-JP" sz="1800" dirty="0"/>
                  <a:t>：Hamiltonian，描述量子系统能量的算符； </a:t>
                </a:r>
              </a:p>
              <a:p>
                <a14:m>
                  <m:oMath xmlns:m="http://schemas.openxmlformats.org/officeDocument/2006/math">
                    <m:d>
                      <m:dPr>
                        <m:begChr m:val=""/>
                        <m:endChr m:val="⟩"/>
                        <m:ctrlPr>
                          <a:rPr lang="ja-JP" altLang="en-US"/>
                        </m:ctrlPr>
                      </m:dPr>
                      <m:e>
                        <m:r>
                          <a:rPr lang="ja-JP" altLang="en-US"/>
                          <m:t>∣</m:t>
                        </m:r>
                        <m:sSub>
                          <m:sSubPr>
                            <m:ctrlPr>
                              <a:rPr lang="ja-JP" altLang="en-US" i="1"/>
                            </m:ctrlPr>
                          </m:sSubPr>
                          <m:e>
                            <m:r>
                              <a:rPr lang="ja-JP" altLang="en-US" i="1"/>
                              <m:t>𝜓</m:t>
                            </m:r>
                          </m:e>
                          <m:sub>
                            <m:r>
                              <a:rPr lang="ja-JP" altLang="en-US" i="1"/>
                              <m:t>𝜃</m:t>
                            </m:r>
                          </m:sub>
                        </m:sSub>
                      </m:e>
                    </m:d>
                  </m:oMath>
                </a14:m>
                <a:r>
                  <a:rPr lang="ja-JP" altLang="ja-JP" sz="1800" dirty="0"/>
                  <a:t>：RBM 表示的试探波函数； </a:t>
                </a:r>
              </a:p>
              <a:p>
                <a14:m>
                  <m:oMath xmlns:m="http://schemas.openxmlformats.org/officeDocument/2006/math">
                    <m:r>
                      <a:rPr lang="ja-JP" altLang="en-US" i="1"/>
                      <m:t>𝐸</m:t>
                    </m:r>
                    <m:d>
                      <m:dPr>
                        <m:ctrlPr>
                          <a:rPr lang="ja-JP" altLang="en-US" i="1"/>
                        </m:ctrlPr>
                      </m:dPr>
                      <m:e>
                        <m:r>
                          <a:rPr lang="ja-JP" altLang="en-US" i="1"/>
                          <m:t>𝜃</m:t>
                        </m:r>
                      </m:e>
                    </m:d>
                  </m:oMath>
                </a14:m>
                <a:r>
                  <a:rPr lang="ja-JP" altLang="ja-JP" sz="1800" dirty="0"/>
                  <a:t>：这个波函数的能量期望值。</a:t>
                </a:r>
              </a:p>
              <a:p>
                <a:endParaRPr lang="en-US" altLang="ja-JP" sz="1800" dirty="0"/>
              </a:p>
              <a:p>
                <a:r>
                  <a:rPr lang="ja-JP" altLang="ja-JP" sz="1800" dirty="0"/>
                  <a:t>动力学问题中，用 time-dependent variational principle 让 </a:t>
                </a:r>
                <a14:m>
                  <m:oMath xmlns:m="http://schemas.openxmlformats.org/officeDocument/2006/math">
                    <m:d>
                      <m:dPr>
                        <m:begChr m:val=""/>
                        <m:endChr m:val="⟩"/>
                        <m:ctrlPr>
                          <a:rPr lang="ja-JP" altLang="en-US" sz="1800"/>
                        </m:ctrlPr>
                      </m:dPr>
                      <m:e>
                        <m:r>
                          <a:rPr lang="ja-JP" altLang="en-US" sz="1800"/>
                          <m:t>∣</m:t>
                        </m:r>
                        <m:sSub>
                          <m:sSubPr>
                            <m:ctrlPr>
                              <a:rPr lang="ja-JP" altLang="en-US" sz="1800" i="1"/>
                            </m:ctrlPr>
                          </m:sSubPr>
                          <m:e>
                            <m:r>
                              <a:rPr lang="ja-JP" altLang="en-US" sz="1800" i="1"/>
                              <m:t>𝜓</m:t>
                            </m:r>
                          </m:e>
                          <m:sub>
                            <m:r>
                              <a:rPr lang="ja-JP" altLang="en-US" sz="1800" i="1"/>
                              <m:t>𝜃</m:t>
                            </m:r>
                          </m:sub>
                        </m:sSub>
                        <m:d>
                          <m:dPr>
                            <m:ctrlPr>
                              <a:rPr lang="ja-JP" altLang="en-US" sz="1800" i="1"/>
                            </m:ctrlPr>
                          </m:dPr>
                          <m:e>
                            <m:r>
                              <a:rPr lang="ja-JP" altLang="en-US" sz="1800" i="1"/>
                              <m:t>𝑡</m:t>
                            </m:r>
                          </m:e>
                        </m:d>
                      </m:e>
                    </m:d>
                  </m:oMath>
                </a14:m>
                <a:r>
                  <a:rPr lang="ja-JP" altLang="ja-JP" sz="1800" dirty="0"/>
                  <a:t>尽量贴近 Schrödinger 方程的真实演化。论文用变分 Monte Carlo 处理基态和时间演化，并在一维、二维自旋模型中展示高精度。</a:t>
                </a:r>
              </a:p>
              <a:p>
                <a14:m>
                  <m:oMath xmlns:m="http://schemas.openxmlformats.org/officeDocument/2006/math">
                    <m:r>
                      <m:rPr>
                        <m:nor/>
                      </m:rPr>
                      <a:rPr lang="ja-JP" altLang="en-US" sz="1800" b="0"/>
                      <m:t>量子多体波函数</m:t>
                    </m:r>
                    <m:r>
                      <a:rPr lang="en-US" altLang="ja-JP" sz="1800"/>
                      <m:t>=</m:t>
                    </m:r>
                    <m:r>
                      <m:rPr>
                        <m:nor/>
                      </m:rPr>
                      <a:rPr lang="en-US" altLang="ja-JP" sz="1800" i="1"/>
                      <m:t>Hilbert</m:t>
                    </m:r>
                    <m:r>
                      <m:rPr>
                        <m:nor/>
                      </m:rPr>
                      <a:rPr lang="en-US" altLang="ja-JP" sz="1800" i="1"/>
                      <m:t> </m:t>
                    </m:r>
                    <m:r>
                      <m:rPr>
                        <m:nor/>
                      </m:rPr>
                      <a:rPr lang="ja-JP" altLang="en-US" sz="1800" i="1"/>
                      <m:t>空间向量</m:t>
                    </m:r>
                    <m:r>
                      <a:rPr lang="en-US" altLang="ja-JP" sz="1800"/>
                      <m:t>=</m:t>
                    </m:r>
                    <m:r>
                      <m:rPr>
                        <m:nor/>
                      </m:rPr>
                      <a:rPr lang="ja-JP" altLang="en-US" sz="1800" i="1"/>
                      <m:t>构型空间上的复值函数</m:t>
                    </m:r>
                  </m:oMath>
                </a14:m>
                <a:endParaRPr lang="ja-JP" altLang="en-US" sz="1800" b="0" dirty="0"/>
              </a:p>
              <a:p>
                <a:r>
                  <a:rPr lang="ja-JP" altLang="ja-JP" sz="1800" dirty="0"/>
                  <a:t>而神经网络是这个复值函数的压缩表达。</a:t>
                </a:r>
              </a:p>
              <a:p>
                <a:r>
                  <a:rPr lang="ja-JP" altLang="ja-JP" sz="1800" dirty="0"/>
                  <a:t>也就是说，神经网络不是在分类图片，而是在近似一个 Hilbert 空间中的量子态。</a:t>
                </a:r>
              </a:p>
            </p:txBody>
          </p:sp>
        </mc:Choice>
        <mc:Fallback>
          <p:sp>
            <p:nvSpPr>
              <p:cNvPr id="12" name="コンテンツ プレースホルダー 2">
                <a:extLst>
                  <a:ext uri="{FF2B5EF4-FFF2-40B4-BE49-F238E27FC236}">
                    <a16:creationId xmlns:a16="http://schemas.microsoft.com/office/drawing/2014/main" id="{72A4DD33-BF52-8C52-8D53-5C2F8D220747}"/>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462" t="-13079" r="-411" b="-121065"/>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3" name="テキスト ボックス 2">
                <a:extLst>
                  <a:ext uri="{FF2B5EF4-FFF2-40B4-BE49-F238E27FC236}">
                    <a16:creationId xmlns:a16="http://schemas.microsoft.com/office/drawing/2014/main" id="{51CDDBD6-39CA-C50C-8AF9-122B3731AF7C}"/>
                  </a:ext>
                </a:extLst>
              </p:cNvPr>
              <p:cNvSpPr txBox="1"/>
              <p:nvPr/>
            </p:nvSpPr>
            <p:spPr>
              <a:xfrm>
                <a:off x="7026965" y="4134079"/>
                <a:ext cx="4462670" cy="1077218"/>
              </a:xfrm>
              <a:prstGeom prst="rect">
                <a:avLst/>
              </a:prstGeom>
              <a:noFill/>
            </p:spPr>
            <p:txBody>
              <a:bodyPr wrap="square">
                <a:spAutoFit/>
              </a:bodyPr>
              <a:lstStyle/>
              <a:p>
                <a:pPr>
                  <a:buNone/>
                </a:pPr>
                <a:r>
                  <a:rPr lang="ja-JP" altLang="ja-JP" sz="1600" dirty="0">
                    <a:solidFill>
                      <a:srgbClr val="7030A0"/>
                    </a:solidFill>
                    <a:latin typeface="+mj-ea"/>
                    <a:ea typeface="+mj-ea"/>
                  </a:rPr>
                  <a:t>给定物理构型 σ </a:t>
                </a:r>
              </a:p>
              <a:p>
                <a:pPr>
                  <a:buNone/>
                </a:pPr>
                <a:r>
                  <a:rPr lang="ja-JP" altLang="ja-JP" sz="1600" dirty="0">
                    <a:solidFill>
                      <a:srgbClr val="7030A0"/>
                    </a:solidFill>
                    <a:latin typeface="+mj-ea"/>
                    <a:ea typeface="+mj-ea"/>
                  </a:rPr>
                  <a:t>以后，RBM 通过隐藏变量 </a:t>
                </a:r>
                <a14:m>
                  <m:oMath xmlns:m="http://schemas.openxmlformats.org/officeDocument/2006/math">
                    <m:r>
                      <a:rPr lang="en-US" altLang="ja-JP" sz="1600" i="1">
                        <a:solidFill>
                          <a:srgbClr val="7030A0"/>
                        </a:solidFill>
                        <a:latin typeface="+mj-ea"/>
                        <a:ea typeface="+mj-ea"/>
                      </a:rPr>
                      <m:t>h</m:t>
                    </m:r>
                  </m:oMath>
                </a14:m>
                <a:r>
                  <a:rPr lang="ja-JP" altLang="ja-JP" sz="1600" dirty="0">
                    <a:solidFill>
                      <a:srgbClr val="7030A0"/>
                    </a:solidFill>
                    <a:latin typeface="+mj-ea"/>
                    <a:ea typeface="+mj-ea"/>
                  </a:rPr>
                  <a:t>的所有可能组合，计算出一个复数：</a:t>
                </a:r>
                <a14:m>
                  <m:oMath xmlns:m="http://schemas.openxmlformats.org/officeDocument/2006/math">
                    <m:sSub>
                      <m:sSubPr>
                        <m:ctrlPr>
                          <a:rPr lang="ja-JP" altLang="en-US" sz="1600" i="1">
                            <a:solidFill>
                              <a:srgbClr val="7030A0"/>
                            </a:solidFill>
                            <a:latin typeface="+mj-ea"/>
                            <a:ea typeface="+mj-ea"/>
                          </a:rPr>
                        </m:ctrlPr>
                      </m:sSubPr>
                      <m:e>
                        <m:r>
                          <a:rPr lang="ja-JP" altLang="en-US" sz="1600" i="1">
                            <a:solidFill>
                              <a:srgbClr val="7030A0"/>
                            </a:solidFill>
                            <a:latin typeface="+mj-ea"/>
                            <a:ea typeface="+mj-ea"/>
                          </a:rPr>
                          <m:t>𝜓</m:t>
                        </m:r>
                      </m:e>
                      <m:sub>
                        <m:r>
                          <a:rPr lang="ja-JP" altLang="en-US" sz="1600" i="1">
                            <a:solidFill>
                              <a:srgbClr val="7030A0"/>
                            </a:solidFill>
                            <a:latin typeface="+mj-ea"/>
                            <a:ea typeface="+mj-ea"/>
                          </a:rPr>
                          <m:t>𝜃</m:t>
                        </m:r>
                      </m:sub>
                    </m:sSub>
                    <m:d>
                      <m:dPr>
                        <m:ctrlPr>
                          <a:rPr lang="ja-JP" altLang="en-US" sz="1600" i="1">
                            <a:solidFill>
                              <a:srgbClr val="7030A0"/>
                            </a:solidFill>
                            <a:latin typeface="+mj-ea"/>
                            <a:ea typeface="+mj-ea"/>
                          </a:rPr>
                        </m:ctrlPr>
                      </m:dPr>
                      <m:e>
                        <m:r>
                          <a:rPr lang="ja-JP" altLang="en-US" sz="1600" i="1">
                            <a:solidFill>
                              <a:srgbClr val="7030A0"/>
                            </a:solidFill>
                            <a:latin typeface="+mj-ea"/>
                            <a:ea typeface="+mj-ea"/>
                          </a:rPr>
                          <m:t>𝜎</m:t>
                        </m:r>
                      </m:e>
                    </m:d>
                    <m:r>
                      <a:rPr lang="en-US" altLang="ja-JP" sz="1600" i="0">
                        <a:solidFill>
                          <a:srgbClr val="7030A0"/>
                        </a:solidFill>
                        <a:latin typeface="+mj-ea"/>
                        <a:ea typeface="+mj-ea"/>
                      </a:rPr>
                      <m:t>.</m:t>
                    </m:r>
                  </m:oMath>
                </a14:m>
                <a:endParaRPr lang="en-US" altLang="ja-JP" sz="1600" dirty="0">
                  <a:solidFill>
                    <a:srgbClr val="7030A0"/>
                  </a:solidFill>
                  <a:latin typeface="+mj-ea"/>
                  <a:ea typeface="+mj-ea"/>
                </a:endParaRPr>
              </a:p>
              <a:p>
                <a:pPr>
                  <a:buNone/>
                </a:pPr>
                <a:r>
                  <a:rPr lang="ja-JP" altLang="ja-JP" sz="1600" dirty="0">
                    <a:solidFill>
                      <a:srgbClr val="7030A0"/>
                    </a:solidFill>
                    <a:latin typeface="+mj-ea"/>
                    <a:ea typeface="+mj-ea"/>
                  </a:rPr>
                  <a:t>这个复数就是量子波函数在构型 </a:t>
                </a:r>
                <a14:m>
                  <m:oMath xmlns:m="http://schemas.openxmlformats.org/officeDocument/2006/math">
                    <m:r>
                      <a:rPr lang="ja-JP" altLang="en-US" sz="1600" i="1">
                        <a:solidFill>
                          <a:srgbClr val="7030A0"/>
                        </a:solidFill>
                        <a:latin typeface="+mj-ea"/>
                        <a:ea typeface="+mj-ea"/>
                      </a:rPr>
                      <m:t>𝜎</m:t>
                    </m:r>
                  </m:oMath>
                </a14:m>
                <a:r>
                  <a:rPr lang="ja-JP" altLang="ja-JP" sz="1600" dirty="0">
                    <a:solidFill>
                      <a:srgbClr val="7030A0"/>
                    </a:solidFill>
                    <a:latin typeface="+mj-ea"/>
                    <a:ea typeface="+mj-ea"/>
                  </a:rPr>
                  <a:t>上的振幅。</a:t>
                </a:r>
              </a:p>
            </p:txBody>
          </p:sp>
        </mc:Choice>
        <mc:Fallback>
          <p:sp>
            <p:nvSpPr>
              <p:cNvPr id="3" name="テキスト ボックス 2">
                <a:extLst>
                  <a:ext uri="{FF2B5EF4-FFF2-40B4-BE49-F238E27FC236}">
                    <a16:creationId xmlns:a16="http://schemas.microsoft.com/office/drawing/2014/main" id="{51CDDBD6-39CA-C50C-8AF9-122B3731AF7C}"/>
                  </a:ext>
                </a:extLst>
              </p:cNvPr>
              <p:cNvSpPr txBox="1">
                <a:spLocks noRot="1" noChangeAspect="1" noMove="1" noResize="1" noEditPoints="1" noAdjustHandles="1" noChangeArrowheads="1" noChangeShapeType="1" noTextEdit="1"/>
              </p:cNvSpPr>
              <p:nvPr/>
            </p:nvSpPr>
            <p:spPr>
              <a:xfrm>
                <a:off x="7026965" y="4134079"/>
                <a:ext cx="4462670" cy="1077218"/>
              </a:xfrm>
              <a:prstGeom prst="rect">
                <a:avLst/>
              </a:prstGeom>
              <a:blipFill>
                <a:blip r:embed="rId4"/>
                <a:stretch>
                  <a:fillRect l="-820" t="-2825" b="-565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5" name="テキスト ボックス 4">
                <a:extLst>
                  <a:ext uri="{FF2B5EF4-FFF2-40B4-BE49-F238E27FC236}">
                    <a16:creationId xmlns:a16="http://schemas.microsoft.com/office/drawing/2014/main" id="{82C224E8-C247-6954-704E-2280C2273279}"/>
                  </a:ext>
                </a:extLst>
              </p:cNvPr>
              <p:cNvSpPr txBox="1"/>
              <p:nvPr/>
            </p:nvSpPr>
            <p:spPr>
              <a:xfrm>
                <a:off x="6490252" y="5292508"/>
                <a:ext cx="6102626" cy="604589"/>
              </a:xfrm>
              <a:prstGeom prst="rect">
                <a:avLst/>
              </a:prstGeom>
              <a:noFill/>
            </p:spPr>
            <p:txBody>
              <a:bodyPr wrap="square">
                <a:spAutoFit/>
              </a:bodyPr>
              <a:lstStyle/>
              <a:p>
                <a:r>
                  <a:rPr lang="ja-JP" altLang="ja-JP" sz="1600" dirty="0">
                    <a:solidFill>
                      <a:srgbClr val="7030A0"/>
                    </a:solidFill>
                    <a:latin typeface="+mj-ea"/>
                    <a:ea typeface="+mj-ea"/>
                  </a:rPr>
                  <a:t>RBM 中隐藏变量之间没有相互连接。</a:t>
                </a:r>
                <a:br>
                  <a:rPr lang="ja-JP" altLang="ja-JP" sz="1600" dirty="0">
                    <a:solidFill>
                      <a:srgbClr val="7030A0"/>
                    </a:solidFill>
                    <a:latin typeface="+mj-ea"/>
                    <a:ea typeface="+mj-ea"/>
                  </a:rPr>
                </a:br>
                <a:r>
                  <a:rPr lang="ja-JP" altLang="ja-JP" sz="1600" dirty="0">
                    <a:solidFill>
                      <a:srgbClr val="7030A0"/>
                    </a:solidFill>
                    <a:latin typeface="+mj-ea"/>
                    <a:ea typeface="+mj-ea"/>
                  </a:rPr>
                  <a:t>所以对 </a:t>
                </a:r>
                <a14:m>
                  <m:oMath xmlns:m="http://schemas.openxmlformats.org/officeDocument/2006/math">
                    <m:r>
                      <a:rPr lang="en-US" altLang="ja-JP" sz="1600" i="1">
                        <a:solidFill>
                          <a:srgbClr val="7030A0"/>
                        </a:solidFill>
                        <a:latin typeface="+mj-ea"/>
                        <a:ea typeface="+mj-ea"/>
                      </a:rPr>
                      <m:t>h</m:t>
                    </m:r>
                  </m:oMath>
                </a14:m>
                <a:r>
                  <a:rPr lang="ja-JP" altLang="ja-JP" sz="1600" dirty="0">
                    <a:solidFill>
                      <a:srgbClr val="7030A0"/>
                    </a:solidFill>
                    <a:latin typeface="+mj-ea"/>
                    <a:ea typeface="+mj-ea"/>
                  </a:rPr>
                  <a:t>的求和可以分解成对每个 </a:t>
                </a:r>
                <a14:m>
                  <m:oMath xmlns:m="http://schemas.openxmlformats.org/officeDocument/2006/math">
                    <m:sSub>
                      <m:sSubPr>
                        <m:ctrlPr>
                          <a:rPr lang="ja-JP" altLang="en-US" sz="1600" i="1">
                            <a:solidFill>
                              <a:srgbClr val="7030A0"/>
                            </a:solidFill>
                            <a:latin typeface="+mj-ea"/>
                            <a:ea typeface="+mj-ea"/>
                          </a:rPr>
                        </m:ctrlPr>
                      </m:sSubPr>
                      <m:e>
                        <m:r>
                          <a:rPr lang="en-US" altLang="ja-JP" sz="1600" i="1">
                            <a:solidFill>
                              <a:srgbClr val="7030A0"/>
                            </a:solidFill>
                            <a:latin typeface="+mj-ea"/>
                            <a:ea typeface="+mj-ea"/>
                          </a:rPr>
                          <m:t>h</m:t>
                        </m:r>
                      </m:e>
                      <m:sub>
                        <m:r>
                          <a:rPr lang="ja-JP" altLang="en-US" sz="1600" i="1">
                            <a:solidFill>
                              <a:srgbClr val="7030A0"/>
                            </a:solidFill>
                            <a:latin typeface="+mj-ea"/>
                            <a:ea typeface="+mj-ea"/>
                          </a:rPr>
                          <m:t>𝑗</m:t>
                        </m:r>
                      </m:sub>
                    </m:sSub>
                  </m:oMath>
                </a14:m>
                <a:r>
                  <a:rPr lang="ja-JP" altLang="ja-JP" sz="1600" dirty="0">
                    <a:solidFill>
                      <a:srgbClr val="7030A0"/>
                    </a:solidFill>
                    <a:latin typeface="+mj-ea"/>
                    <a:ea typeface="+mj-ea"/>
                  </a:rPr>
                  <a:t>的单独求和。</a:t>
                </a:r>
                <a:endParaRPr lang="ja-JP" altLang="en-US" sz="1600" dirty="0">
                  <a:solidFill>
                    <a:srgbClr val="7030A0"/>
                  </a:solidFill>
                  <a:latin typeface="+mj-ea"/>
                  <a:ea typeface="+mj-ea"/>
                </a:endParaRPr>
              </a:p>
            </p:txBody>
          </p:sp>
        </mc:Choice>
        <mc:Fallback>
          <p:sp>
            <p:nvSpPr>
              <p:cNvPr id="5" name="テキスト ボックス 4">
                <a:extLst>
                  <a:ext uri="{FF2B5EF4-FFF2-40B4-BE49-F238E27FC236}">
                    <a16:creationId xmlns:a16="http://schemas.microsoft.com/office/drawing/2014/main" id="{82C224E8-C247-6954-704E-2280C2273279}"/>
                  </a:ext>
                </a:extLst>
              </p:cNvPr>
              <p:cNvSpPr txBox="1">
                <a:spLocks noRot="1" noChangeAspect="1" noMove="1" noResize="1" noEditPoints="1" noAdjustHandles="1" noChangeArrowheads="1" noChangeShapeType="1" noTextEdit="1"/>
              </p:cNvSpPr>
              <p:nvPr/>
            </p:nvSpPr>
            <p:spPr>
              <a:xfrm>
                <a:off x="6490252" y="5292508"/>
                <a:ext cx="6102626" cy="604589"/>
              </a:xfrm>
              <a:prstGeom prst="rect">
                <a:avLst/>
              </a:prstGeom>
              <a:blipFill>
                <a:blip r:embed="rId5"/>
                <a:stretch>
                  <a:fillRect l="-599" t="-3030" b="-707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44396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6B711-E080-4C31-6CAE-DFDEB89AD3F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B80FA023-0CDA-6855-F979-8476755F898A}"/>
              </a:ext>
            </a:extLst>
          </p:cNvPr>
          <p:cNvSpPr>
            <a:spLocks noGrp="1" noChangeArrowheads="1"/>
          </p:cNvSpPr>
          <p:nvPr>
            <p:ph type="title"/>
          </p:nvPr>
        </p:nvSpPr>
        <p:spPr/>
        <p:txBody>
          <a:bodyPr/>
          <a:lstStyle/>
          <a:p>
            <a:r>
              <a:rPr lang="ja-JP" altLang="ja-JP" dirty="0"/>
              <a:t>Carleo &amp; Troyer：神经网络量子态，把波函数当作可学习函数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2B283437-9724-17AB-F3AA-1DA4BEBC72AE}"/>
                  </a:ext>
                </a:extLst>
              </p:cNvPr>
              <p:cNvSpPr>
                <a:spLocks noGrp="1"/>
              </p:cNvSpPr>
              <p:nvPr>
                <p:ph idx="1"/>
              </p:nvPr>
            </p:nvSpPr>
            <p:spPr>
              <a:xfrm>
                <a:off x="106680" y="990600"/>
                <a:ext cx="11877040" cy="5268402"/>
              </a:xfrm>
            </p:spPr>
            <p:txBody>
              <a:bodyPr/>
              <a:lstStyle/>
              <a:p>
                <a:r>
                  <a:rPr lang="ja-JP" altLang="ja-JP" sz="1800" dirty="0"/>
                  <a:t>训练不是监督学习，而是变分优化。基态问题中最小化能量泛函：</a:t>
                </a:r>
                <a14:m>
                  <m:oMath xmlns:m="http://schemas.openxmlformats.org/officeDocument/2006/math">
                    <m:r>
                      <a:rPr lang="ja-JP" altLang="en-US" sz="1800" i="1"/>
                      <m:t>𝐸</m:t>
                    </m:r>
                    <m:d>
                      <m:dPr>
                        <m:ctrlPr>
                          <a:rPr lang="ja-JP" altLang="en-US" sz="1800" i="1"/>
                        </m:ctrlPr>
                      </m:dPr>
                      <m:e>
                        <m:r>
                          <a:rPr lang="ja-JP" altLang="en-US" sz="1800" i="1"/>
                          <m:t>𝜃</m:t>
                        </m:r>
                      </m:e>
                    </m:d>
                    <m:r>
                      <a:rPr lang="en-US" altLang="ja-JP" sz="1800"/>
                      <m:t>=</m:t>
                    </m:r>
                    <m:f>
                      <m:fPr>
                        <m:ctrlPr>
                          <a:rPr lang="ja-JP" altLang="en-US" sz="1800" i="1"/>
                        </m:ctrlPr>
                      </m:fPr>
                      <m:num>
                        <m:d>
                          <m:dPr>
                            <m:begChr m:val="⟨"/>
                            <m:endChr m:val="⟩"/>
                            <m:ctrlPr>
                              <a:rPr lang="ja-JP" altLang="en-US" sz="1800" i="1"/>
                            </m:ctrlPr>
                          </m:dPr>
                          <m:e>
                            <m:sSub>
                              <m:sSubPr>
                                <m:ctrlPr>
                                  <a:rPr lang="ja-JP" altLang="en-US" sz="1800" i="1"/>
                                </m:ctrlPr>
                              </m:sSubPr>
                              <m:e>
                                <m:r>
                                  <a:rPr lang="ja-JP" altLang="en-US" sz="1800" i="1"/>
                                  <m:t>𝜓</m:t>
                                </m:r>
                              </m:e>
                              <m:sub>
                                <m:r>
                                  <a:rPr lang="ja-JP" altLang="en-US" sz="1800" i="1"/>
                                  <m:t>𝜃</m:t>
                                </m:r>
                              </m:sub>
                            </m:sSub>
                            <m:r>
                              <a:rPr lang="ja-JP" altLang="en-US" sz="1800"/>
                              <m:t>∣</m:t>
                            </m:r>
                            <m:r>
                              <a:rPr lang="ja-JP" altLang="en-US" sz="1800" i="1"/>
                              <m:t>𝐻</m:t>
                            </m:r>
                            <m:r>
                              <a:rPr lang="ja-JP" altLang="en-US" sz="1800"/>
                              <m:t>∣</m:t>
                            </m:r>
                            <m:sSub>
                              <m:sSubPr>
                                <m:ctrlPr>
                                  <a:rPr lang="ja-JP" altLang="en-US" sz="1800" i="1"/>
                                </m:ctrlPr>
                              </m:sSubPr>
                              <m:e>
                                <m:r>
                                  <a:rPr lang="ja-JP" altLang="en-US" sz="1800" i="1"/>
                                  <m:t>𝜓</m:t>
                                </m:r>
                              </m:e>
                              <m:sub>
                                <m:r>
                                  <a:rPr lang="ja-JP" altLang="en-US" sz="1800" i="1"/>
                                  <m:t>𝜃</m:t>
                                </m:r>
                              </m:sub>
                            </m:sSub>
                          </m:e>
                        </m:d>
                      </m:num>
                      <m:den>
                        <m:d>
                          <m:dPr>
                            <m:begChr m:val="⟨"/>
                            <m:endChr m:val="⟩"/>
                            <m:ctrlPr>
                              <a:rPr lang="ja-JP" altLang="en-US" sz="1800" i="1"/>
                            </m:ctrlPr>
                          </m:dPr>
                          <m:e>
                            <m:sSub>
                              <m:sSubPr>
                                <m:ctrlPr>
                                  <a:rPr lang="ja-JP" altLang="en-US" sz="1800" i="1"/>
                                </m:ctrlPr>
                              </m:sSubPr>
                              <m:e>
                                <m:r>
                                  <a:rPr lang="ja-JP" altLang="en-US" sz="1800" i="1"/>
                                  <m:t>𝜓</m:t>
                                </m:r>
                              </m:e>
                              <m:sub>
                                <m:r>
                                  <a:rPr lang="ja-JP" altLang="en-US" sz="1800" i="1"/>
                                  <m:t>𝜃</m:t>
                                </m:r>
                              </m:sub>
                            </m:sSub>
                            <m:r>
                              <a:rPr lang="ja-JP" altLang="en-US" sz="1800"/>
                              <m:t>∣</m:t>
                            </m:r>
                            <m:sSub>
                              <m:sSubPr>
                                <m:ctrlPr>
                                  <a:rPr lang="ja-JP" altLang="en-US" sz="1800" i="1"/>
                                </m:ctrlPr>
                              </m:sSubPr>
                              <m:e>
                                <m:r>
                                  <a:rPr lang="ja-JP" altLang="en-US" sz="1800" i="1"/>
                                  <m:t>𝜓</m:t>
                                </m:r>
                              </m:e>
                              <m:sub>
                                <m:r>
                                  <a:rPr lang="ja-JP" altLang="en-US" sz="1800" i="1"/>
                                  <m:t>𝜃</m:t>
                                </m:r>
                              </m:sub>
                            </m:sSub>
                          </m:e>
                        </m:d>
                      </m:den>
                    </m:f>
                    <m:r>
                      <a:rPr lang="en-US" altLang="ja-JP" sz="1800"/>
                      <m:t>.</m:t>
                    </m:r>
                    <m:r>
                      <a:rPr lang="en-US" altLang="ja-JP" sz="1800" i="1" smtClean="0"/>
                      <m:t> </m:t>
                    </m:r>
                  </m:oMath>
                </a14:m>
                <a:r>
                  <a:rPr lang="ja-JP" altLang="ja-JP" sz="1800" dirty="0"/>
                  <a:t>Carleo &amp; Troyer 的任务不是给定许多已知波函数标签来训练模型。</a:t>
                </a:r>
                <a:br>
                  <a:rPr lang="ja-JP" altLang="ja-JP" sz="1800" dirty="0"/>
                </a:br>
                <a:r>
                  <a:rPr lang="ja-JP" altLang="ja-JP" sz="1800" dirty="0"/>
                  <a:t>他们要找的是量子系统的基态，也就是能量最低的状态。</a:t>
                </a:r>
              </a:p>
              <a:p>
                <a:r>
                  <a:rPr lang="ja-JP" altLang="ja-JP" sz="1800" dirty="0"/>
                  <a:t>所以训练目标不是“拟合标签”，而是最小化能量：</a:t>
                </a:r>
              </a:p>
              <a:p>
                <a:pPr marL="0" indent="0">
                  <a:buNone/>
                </a:pPr>
                <a14:m>
                  <m:oMathPara xmlns:m="http://schemas.openxmlformats.org/officeDocument/2006/math">
                    <m:oMathParaPr>
                      <m:jc m:val="centerGroup"/>
                    </m:oMathParaPr>
                    <m:oMath xmlns:m="http://schemas.openxmlformats.org/officeDocument/2006/math">
                      <m:r>
                        <a:rPr lang="ja-JP" altLang="en-US" i="1"/>
                        <m:t>𝐸</m:t>
                      </m:r>
                      <m:d>
                        <m:dPr>
                          <m:ctrlPr>
                            <a:rPr lang="ja-JP" altLang="en-US" i="1"/>
                          </m:ctrlPr>
                        </m:dPr>
                        <m:e>
                          <m:r>
                            <a:rPr lang="ja-JP" altLang="en-US" i="1"/>
                            <m:t>𝜃</m:t>
                          </m:r>
                        </m:e>
                      </m:d>
                      <m:r>
                        <a:rPr lang="en-US" altLang="ja-JP"/>
                        <m:t>=</m:t>
                      </m:r>
                      <m:f>
                        <m:fPr>
                          <m:ctrlPr>
                            <a:rPr lang="ja-JP" altLang="en-US" i="1"/>
                          </m:ctrlPr>
                        </m:fPr>
                        <m:num>
                          <m:d>
                            <m:dPr>
                              <m:begChr m:val="⟨"/>
                              <m:endChr m:val="⟩"/>
                              <m:ctrlPr>
                                <a:rPr lang="ja-JP" altLang="en-US" i="1"/>
                              </m:ctrlPr>
                            </m:dPr>
                            <m:e>
                              <m:sSub>
                                <m:sSubPr>
                                  <m:ctrlPr>
                                    <a:rPr lang="ja-JP" altLang="en-US" i="1"/>
                                  </m:ctrlPr>
                                </m:sSubPr>
                                <m:e>
                                  <m:r>
                                    <a:rPr lang="ja-JP" altLang="en-US" i="1"/>
                                    <m:t>𝜓</m:t>
                                  </m:r>
                                </m:e>
                                <m:sub>
                                  <m:r>
                                    <a:rPr lang="ja-JP" altLang="en-US" i="1"/>
                                    <m:t>𝜃</m:t>
                                  </m:r>
                                </m:sub>
                              </m:sSub>
                              <m:r>
                                <a:rPr lang="ja-JP" altLang="en-US"/>
                                <m:t>∣</m:t>
                              </m:r>
                              <m:r>
                                <a:rPr lang="ja-JP" altLang="en-US" i="1"/>
                                <m:t>𝐻</m:t>
                              </m:r>
                              <m:r>
                                <a:rPr lang="ja-JP" altLang="en-US"/>
                                <m:t>∣</m:t>
                              </m:r>
                              <m:sSub>
                                <m:sSubPr>
                                  <m:ctrlPr>
                                    <a:rPr lang="ja-JP" altLang="en-US" i="1"/>
                                  </m:ctrlPr>
                                </m:sSubPr>
                                <m:e>
                                  <m:r>
                                    <a:rPr lang="ja-JP" altLang="en-US" i="1"/>
                                    <m:t>𝜓</m:t>
                                  </m:r>
                                </m:e>
                                <m:sub>
                                  <m:r>
                                    <a:rPr lang="ja-JP" altLang="en-US" i="1"/>
                                    <m:t>𝜃</m:t>
                                  </m:r>
                                </m:sub>
                              </m:sSub>
                            </m:e>
                          </m:d>
                        </m:num>
                        <m:den>
                          <m:d>
                            <m:dPr>
                              <m:begChr m:val="⟨"/>
                              <m:endChr m:val="⟩"/>
                              <m:ctrlPr>
                                <a:rPr lang="ja-JP" altLang="en-US" i="1"/>
                              </m:ctrlPr>
                            </m:dPr>
                            <m:e>
                              <m:sSub>
                                <m:sSubPr>
                                  <m:ctrlPr>
                                    <a:rPr lang="ja-JP" altLang="en-US" i="1"/>
                                  </m:ctrlPr>
                                </m:sSubPr>
                                <m:e>
                                  <m:r>
                                    <a:rPr lang="ja-JP" altLang="en-US" i="1"/>
                                    <m:t>𝜓</m:t>
                                  </m:r>
                                </m:e>
                                <m:sub>
                                  <m:r>
                                    <a:rPr lang="ja-JP" altLang="en-US" i="1"/>
                                    <m:t>𝜃</m:t>
                                  </m:r>
                                </m:sub>
                              </m:sSub>
                              <m:r>
                                <a:rPr lang="ja-JP" altLang="en-US"/>
                                <m:t>∣</m:t>
                              </m:r>
                              <m:sSub>
                                <m:sSubPr>
                                  <m:ctrlPr>
                                    <a:rPr lang="ja-JP" altLang="en-US" i="1"/>
                                  </m:ctrlPr>
                                </m:sSubPr>
                                <m:e>
                                  <m:r>
                                    <a:rPr lang="ja-JP" altLang="en-US" i="1"/>
                                    <m:t>𝜓</m:t>
                                  </m:r>
                                </m:e>
                                <m:sub>
                                  <m:r>
                                    <a:rPr lang="ja-JP" altLang="en-US" i="1"/>
                                    <m:t>𝜃</m:t>
                                  </m:r>
                                </m:sub>
                              </m:sSub>
                            </m:e>
                          </m:d>
                        </m:den>
                      </m:f>
                      <m:r>
                        <a:rPr lang="en-US" altLang="ja-JP"/>
                        <m:t>.</m:t>
                      </m:r>
                    </m:oMath>
                  </m:oMathPara>
                </a14:m>
                <a:endParaRPr lang="en-US" altLang="ja-JP" sz="1800" dirty="0"/>
              </a:p>
              <a:p>
                <a:r>
                  <a:rPr lang="ja-JP" altLang="ja-JP" sz="1800" dirty="0"/>
                  <a:t>这里：自旋构型 σ⟼波函数振幅 ψθ​(σ)⟼构造量子态 ∣ψ</a:t>
                </a:r>
              </a:p>
              <a:p>
                <a14:m>
                  <m:oMath xmlns:m="http://schemas.openxmlformats.org/officeDocument/2006/math">
                    <m:r>
                      <a:rPr lang="ja-JP" altLang="en-US" i="1"/>
                      <m:t>𝐻</m:t>
                    </m:r>
                  </m:oMath>
                </a14:m>
                <a:r>
                  <a:rPr lang="ja-JP" altLang="ja-JP" sz="1800" dirty="0"/>
                  <a:t>：Hamiltonian，描述量子系统能量的算符； </a:t>
                </a:r>
              </a:p>
              <a:p>
                <a14:m>
                  <m:oMath xmlns:m="http://schemas.openxmlformats.org/officeDocument/2006/math">
                    <m:d>
                      <m:dPr>
                        <m:begChr m:val=""/>
                        <m:endChr m:val="⟩"/>
                        <m:ctrlPr>
                          <a:rPr lang="ja-JP" altLang="en-US"/>
                        </m:ctrlPr>
                      </m:dPr>
                      <m:e>
                        <m:r>
                          <a:rPr lang="ja-JP" altLang="en-US"/>
                          <m:t>∣</m:t>
                        </m:r>
                        <m:sSub>
                          <m:sSubPr>
                            <m:ctrlPr>
                              <a:rPr lang="ja-JP" altLang="en-US" i="1"/>
                            </m:ctrlPr>
                          </m:sSubPr>
                          <m:e>
                            <m:r>
                              <a:rPr lang="ja-JP" altLang="en-US" i="1"/>
                              <m:t>𝜓</m:t>
                            </m:r>
                          </m:e>
                          <m:sub>
                            <m:r>
                              <a:rPr lang="ja-JP" altLang="en-US" i="1"/>
                              <m:t>𝜃</m:t>
                            </m:r>
                          </m:sub>
                        </m:sSub>
                      </m:e>
                    </m:d>
                  </m:oMath>
                </a14:m>
                <a:r>
                  <a:rPr lang="ja-JP" altLang="ja-JP" sz="1800" dirty="0"/>
                  <a:t>：RBM 表示的试探波函数； </a:t>
                </a:r>
              </a:p>
              <a:p>
                <a14:m>
                  <m:oMath xmlns:m="http://schemas.openxmlformats.org/officeDocument/2006/math">
                    <m:r>
                      <a:rPr lang="ja-JP" altLang="en-US" i="1"/>
                      <m:t>𝐸</m:t>
                    </m:r>
                    <m:d>
                      <m:dPr>
                        <m:ctrlPr>
                          <a:rPr lang="ja-JP" altLang="en-US" i="1"/>
                        </m:ctrlPr>
                      </m:dPr>
                      <m:e>
                        <m:r>
                          <a:rPr lang="ja-JP" altLang="en-US" i="1"/>
                          <m:t>𝜃</m:t>
                        </m:r>
                      </m:e>
                    </m:d>
                  </m:oMath>
                </a14:m>
                <a:r>
                  <a:rPr lang="ja-JP" altLang="ja-JP" sz="1800" dirty="0"/>
                  <a:t>：这个波函数的能量期望值。</a:t>
                </a:r>
              </a:p>
              <a:p>
                <a:endParaRPr lang="en-US" altLang="ja-JP" sz="1800" dirty="0"/>
              </a:p>
              <a:p>
                <a:pPr marL="0" indent="0">
                  <a:buNone/>
                </a:pPr>
                <a:r>
                  <a:rPr lang="ja-JP" altLang="ja-JP" sz="1800" dirty="0"/>
                  <a:t>动力学问题中，用 time-dependent variational principle 让 </a:t>
                </a:r>
                <a14:m>
                  <m:oMath xmlns:m="http://schemas.openxmlformats.org/officeDocument/2006/math">
                    <m:d>
                      <m:dPr>
                        <m:begChr m:val=""/>
                        <m:endChr m:val="⟩"/>
                        <m:ctrlPr>
                          <a:rPr lang="ja-JP" altLang="en-US" sz="1800"/>
                        </m:ctrlPr>
                      </m:dPr>
                      <m:e>
                        <m:r>
                          <a:rPr lang="ja-JP" altLang="en-US" sz="1800"/>
                          <m:t>∣</m:t>
                        </m:r>
                        <m:sSub>
                          <m:sSubPr>
                            <m:ctrlPr>
                              <a:rPr lang="ja-JP" altLang="en-US" sz="1800" i="1"/>
                            </m:ctrlPr>
                          </m:sSubPr>
                          <m:e>
                            <m:r>
                              <a:rPr lang="ja-JP" altLang="en-US" sz="1800" i="1"/>
                              <m:t>𝜓</m:t>
                            </m:r>
                          </m:e>
                          <m:sub>
                            <m:r>
                              <a:rPr lang="ja-JP" altLang="en-US" sz="1800" i="1"/>
                              <m:t>𝜃</m:t>
                            </m:r>
                          </m:sub>
                        </m:sSub>
                        <m:d>
                          <m:dPr>
                            <m:ctrlPr>
                              <a:rPr lang="ja-JP" altLang="en-US" sz="1800" i="1"/>
                            </m:ctrlPr>
                          </m:dPr>
                          <m:e>
                            <m:r>
                              <a:rPr lang="ja-JP" altLang="en-US" sz="1800" i="1"/>
                              <m:t>𝑡</m:t>
                            </m:r>
                          </m:e>
                        </m:d>
                      </m:e>
                    </m:d>
                  </m:oMath>
                </a14:m>
                <a:r>
                  <a:rPr lang="ja-JP" altLang="ja-JP" sz="1800" dirty="0"/>
                  <a:t>尽量贴近 Schrödinger 方程的真实演化。论文用变分 Monte Carlo 处理基态和时间演化，并在一维、二维自旋模型中展示高精度。</a:t>
                </a:r>
              </a:p>
              <a:p>
                <a:pPr marL="0" indent="0">
                  <a:buNone/>
                </a:pPr>
                <a14:m>
                  <m:oMathPara xmlns:m="http://schemas.openxmlformats.org/officeDocument/2006/math">
                    <m:oMathParaPr>
                      <m:jc m:val="centerGroup"/>
                    </m:oMathParaPr>
                    <m:oMath xmlns:m="http://schemas.openxmlformats.org/officeDocument/2006/math">
                      <m:r>
                        <m:rPr>
                          <m:nor/>
                        </m:rPr>
                        <a:rPr lang="ja-JP" altLang="en-US" sz="1800" b="0"/>
                        <m:t>量子多体波函数</m:t>
                      </m:r>
                      <m:r>
                        <a:rPr lang="en-US" altLang="ja-JP" sz="1800"/>
                        <m:t>=</m:t>
                      </m:r>
                      <m:r>
                        <m:rPr>
                          <m:nor/>
                        </m:rPr>
                        <a:rPr lang="en-US" altLang="ja-JP" sz="1800" i="1"/>
                        <m:t>Hilbert</m:t>
                      </m:r>
                      <m:r>
                        <m:rPr>
                          <m:nor/>
                        </m:rPr>
                        <a:rPr lang="en-US" altLang="ja-JP" sz="1800" i="1"/>
                        <m:t> </m:t>
                      </m:r>
                      <m:r>
                        <m:rPr>
                          <m:nor/>
                        </m:rPr>
                        <a:rPr lang="ja-JP" altLang="en-US" sz="1800" i="1"/>
                        <m:t>空间向量</m:t>
                      </m:r>
                      <m:r>
                        <a:rPr lang="en-US" altLang="ja-JP" sz="1800"/>
                        <m:t>=</m:t>
                      </m:r>
                      <m:r>
                        <m:rPr>
                          <m:nor/>
                        </m:rPr>
                        <a:rPr lang="ja-JP" altLang="en-US" sz="1800" i="1"/>
                        <m:t>构型空间上的复值函数</m:t>
                      </m:r>
                    </m:oMath>
                  </m:oMathPara>
                </a14:m>
                <a:endParaRPr lang="ja-JP" altLang="en-US" sz="1800" b="0" dirty="0"/>
              </a:p>
              <a:p>
                <a:pPr marL="0" indent="0">
                  <a:buNone/>
                </a:pPr>
                <a:r>
                  <a:rPr lang="ja-JP" altLang="ja-JP" sz="1800" dirty="0"/>
                  <a:t>而神经网络是这个复值函数的压缩表达。</a:t>
                </a:r>
              </a:p>
              <a:p>
                <a:r>
                  <a:rPr lang="ja-JP" altLang="ja-JP" sz="1800" dirty="0"/>
                  <a:t>也就是说，神经网络不是在分类图片，而是在近似一个 Hilbert 空间中的量子态。</a:t>
                </a:r>
              </a:p>
            </p:txBody>
          </p:sp>
        </mc:Choice>
        <mc:Fallback>
          <p:sp>
            <p:nvSpPr>
              <p:cNvPr id="12" name="コンテンツ プレースホルダー 2">
                <a:extLst>
                  <a:ext uri="{FF2B5EF4-FFF2-40B4-BE49-F238E27FC236}">
                    <a16:creationId xmlns:a16="http://schemas.microsoft.com/office/drawing/2014/main" id="{2B283437-9724-17AB-F3AA-1DA4BEBC72AE}"/>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462" b="-289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76257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ED365-654A-D539-AA5F-8BBA6C5DEDC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46B7EC25-B112-BA7C-D2F9-FDF030EBDA13}"/>
              </a:ext>
            </a:extLst>
          </p:cNvPr>
          <p:cNvSpPr>
            <a:spLocks noGrp="1" noChangeArrowheads="1"/>
          </p:cNvSpPr>
          <p:nvPr>
            <p:ph type="title"/>
          </p:nvPr>
        </p:nvSpPr>
        <p:spPr/>
        <p:txBody>
          <a:bodyPr/>
          <a:lstStyle/>
          <a:p>
            <a:r>
              <a:rPr lang="ja-JP" altLang="ja-JP" dirty="0"/>
              <a:t>Carleo &amp; Troyer：神经网络量子态，把波函数当作可学习函数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2E1277F-C7AE-5F12-46A0-38BDCE2D4D43}"/>
                  </a:ext>
                </a:extLst>
              </p:cNvPr>
              <p:cNvSpPr>
                <a:spLocks noGrp="1"/>
              </p:cNvSpPr>
              <p:nvPr>
                <p:ph idx="1"/>
              </p:nvPr>
            </p:nvSpPr>
            <p:spPr>
              <a:xfrm>
                <a:off x="106680" y="990600"/>
                <a:ext cx="11877040" cy="5268402"/>
              </a:xfrm>
            </p:spPr>
            <p:txBody>
              <a:bodyPr/>
              <a:lstStyle/>
              <a:p>
                <a:r>
                  <a:rPr lang="ja-JP" altLang="ja-JP" sz="1800" dirty="0"/>
                  <a:t>Carleo &amp; Troyer 研究的不是经典数据分类，而是量子多体问题。一个多体量子态可以写成：</a:t>
                </a:r>
                <a14:m>
                  <m:oMath xmlns:m="http://schemas.openxmlformats.org/officeDocument/2006/math">
                    <m:d>
                      <m:dPr>
                        <m:begChr m:val=""/>
                        <m:endChr m:val="⟩"/>
                        <m:ctrlPr>
                          <a:rPr lang="ja-JP" altLang="en-US" sz="1800"/>
                        </m:ctrlPr>
                      </m:dPr>
                      <m:e>
                        <m:d>
                          <m:dPr>
                            <m:begChr m:val=""/>
                            <m:endChr m:val="⟩"/>
                            <m:ctrlPr>
                              <a:rPr lang="ja-JP" altLang="en-US" sz="1800"/>
                            </m:ctrlPr>
                          </m:dPr>
                          <m:e>
                            <m:r>
                              <a:rPr lang="ja-JP" altLang="en-US" sz="1800"/>
                              <m:t>∣</m:t>
                            </m:r>
                            <m:r>
                              <a:rPr lang="ja-JP" altLang="en-US" sz="1800" i="1"/>
                              <m:t>𝜓</m:t>
                            </m:r>
                          </m:e>
                        </m:d>
                        <m:r>
                          <a:rPr lang="en-US" altLang="ja-JP" sz="1800"/>
                          <m:t>=</m:t>
                        </m:r>
                        <m:nary>
                          <m:naryPr>
                            <m:chr m:val="∑"/>
                            <m:grow m:val="on"/>
                            <m:supHide m:val="on"/>
                            <m:ctrlPr>
                              <a:rPr lang="ja-JP" altLang="en-US" sz="1800" i="1"/>
                            </m:ctrlPr>
                          </m:naryPr>
                          <m:sub>
                            <m:r>
                              <a:rPr lang="ja-JP" altLang="en-US" sz="1800" i="1"/>
                              <m:t>𝜎</m:t>
                            </m:r>
                          </m:sub>
                          <m:sup/>
                          <m:e>
                            <m:r>
                              <a:rPr lang="ja-JP" altLang="en-US" sz="1800" i="1"/>
                              <m:t>𝜓</m:t>
                            </m:r>
                          </m:e>
                        </m:nary>
                        <m:d>
                          <m:dPr>
                            <m:ctrlPr>
                              <a:rPr lang="ja-JP" altLang="en-US" sz="1800" i="1"/>
                            </m:ctrlPr>
                          </m:dPr>
                          <m:e>
                            <m:r>
                              <a:rPr lang="ja-JP" altLang="en-US" sz="1800" i="1"/>
                              <m:t>𝜎</m:t>
                            </m:r>
                          </m:e>
                        </m:d>
                        <m:r>
                          <a:rPr lang="ja-JP" altLang="en-US" sz="1800"/>
                          <m:t>∣</m:t>
                        </m:r>
                        <m:r>
                          <a:rPr lang="ja-JP" altLang="en-US" sz="1800" i="1"/>
                          <m:t>𝜎</m:t>
                        </m:r>
                      </m:e>
                    </m:d>
                    <m:r>
                      <a:rPr lang="en-US" altLang="ja-JP" sz="1800"/>
                      <m:t>.</m:t>
                    </m:r>
                  </m:oMath>
                </a14:m>
                <a:endParaRPr lang="en-US" altLang="ja-JP" sz="1800" dirty="0"/>
              </a:p>
              <a:p>
                <a:r>
                  <a:rPr lang="ja-JP" altLang="ja-JP" sz="1800" dirty="0"/>
                  <a:t>这里 </a:t>
                </a:r>
                <a14:m>
                  <m:oMath xmlns:m="http://schemas.openxmlformats.org/officeDocument/2006/math">
                    <m:r>
                      <a:rPr lang="ja-JP" altLang="en-US" sz="1800" i="1"/>
                      <m:t>𝜎</m:t>
                    </m:r>
                  </m:oMath>
                </a14:m>
                <a:r>
                  <a:rPr lang="ja-JP" altLang="ja-JP" sz="1800" dirty="0"/>
                  <a:t>是一个自旋构型，例如：</a:t>
                </a:r>
                <a14:m>
                  <m:oMath xmlns:m="http://schemas.openxmlformats.org/officeDocument/2006/math">
                    <m:r>
                      <a:rPr lang="ja-JP" altLang="en-US" sz="1800" i="1"/>
                      <m:t>𝜎</m:t>
                    </m:r>
                    <m:r>
                      <a:rPr lang="en-US" altLang="ja-JP" sz="1800"/>
                      <m:t>=</m:t>
                    </m:r>
                    <m:d>
                      <m:dPr>
                        <m:sepChr m:val=","/>
                        <m:ctrlPr>
                          <a:rPr lang="ja-JP" altLang="en-US" sz="1800" i="1"/>
                        </m:ctrlPr>
                      </m:dPr>
                      <m:e>
                        <m:sSub>
                          <m:sSubPr>
                            <m:ctrlPr>
                              <a:rPr lang="ja-JP" altLang="en-US" sz="1800" i="1"/>
                            </m:ctrlPr>
                          </m:sSubPr>
                          <m:e>
                            <m:r>
                              <a:rPr lang="ja-JP" altLang="en-US" sz="1800" i="1"/>
                              <m:t>𝜎</m:t>
                            </m:r>
                          </m:e>
                          <m:sub>
                            <m:r>
                              <a:rPr lang="en-US" altLang="ja-JP" sz="1800"/>
                              <m:t>1</m:t>
                            </m:r>
                          </m:sub>
                        </m:sSub>
                      </m:e>
                      <m:e>
                        <m:sSub>
                          <m:sSubPr>
                            <m:ctrlPr>
                              <a:rPr lang="ja-JP" altLang="en-US" sz="1800" i="1"/>
                            </m:ctrlPr>
                          </m:sSubPr>
                          <m:e>
                            <m:r>
                              <a:rPr lang="ja-JP" altLang="en-US" sz="1800" i="1"/>
                              <m:t>𝜎</m:t>
                            </m:r>
                          </m:e>
                          <m:sub>
                            <m:r>
                              <a:rPr lang="en-US" altLang="ja-JP" sz="1800"/>
                              <m:t>2</m:t>
                            </m:r>
                          </m:sub>
                        </m:sSub>
                      </m:e>
                      <m:e>
                        <m:r>
                          <a:rPr lang="en-US" altLang="ja-JP" sz="1800"/>
                          <m:t>…</m:t>
                        </m:r>
                      </m:e>
                      <m:e>
                        <m:sSub>
                          <m:sSubPr>
                            <m:ctrlPr>
                              <a:rPr lang="ja-JP" altLang="en-US" sz="1800" i="1"/>
                            </m:ctrlPr>
                          </m:sSubPr>
                          <m:e>
                            <m:r>
                              <a:rPr lang="ja-JP" altLang="en-US" sz="1800" i="1"/>
                              <m:t>𝜎</m:t>
                            </m:r>
                          </m:e>
                          <m:sub>
                            <m:r>
                              <a:rPr lang="ja-JP" altLang="en-US" sz="1800" i="1"/>
                              <m:t>𝑁</m:t>
                            </m:r>
                          </m:sub>
                        </m:sSub>
                      </m:e>
                    </m:d>
                    <m:r>
                      <a:rPr lang="en-US" altLang="ja-JP" sz="1800"/>
                      <m:t>.</m:t>
                    </m:r>
                  </m:oMath>
                </a14:m>
                <a:endParaRPr lang="en-US" altLang="ja-JP" sz="1800" dirty="0"/>
              </a:p>
              <a:p>
                <a:r>
                  <a:rPr lang="ja-JP" altLang="ja-JP" sz="1800" dirty="0"/>
                  <a:t>波函数 </a:t>
                </a:r>
                <a14:m>
                  <m:oMath xmlns:m="http://schemas.openxmlformats.org/officeDocument/2006/math">
                    <m:r>
                      <a:rPr lang="ja-JP" altLang="en-US" sz="1800" i="1"/>
                      <m:t>𝜓</m:t>
                    </m:r>
                    <m:d>
                      <m:dPr>
                        <m:ctrlPr>
                          <a:rPr lang="ja-JP" altLang="en-US" sz="1800" i="1"/>
                        </m:ctrlPr>
                      </m:dPr>
                      <m:e>
                        <m:r>
                          <a:rPr lang="ja-JP" altLang="en-US" sz="1800" i="1"/>
                          <m:t>𝜎</m:t>
                        </m:r>
                      </m:e>
                    </m:d>
                  </m:oMath>
                </a14:m>
                <a:r>
                  <a:rPr lang="ja-JP" altLang="ja-JP" sz="1800" dirty="0"/>
                  <a:t>是一个高维复值函数。问题是，一般有 </a:t>
                </a:r>
                <a14:m>
                  <m:oMath xmlns:m="http://schemas.openxmlformats.org/officeDocument/2006/math">
                    <m:sSup>
                      <m:sSupPr>
                        <m:ctrlPr>
                          <a:rPr lang="ja-JP" altLang="en-US" sz="1800"/>
                        </m:ctrlPr>
                      </m:sSupPr>
                      <m:e>
                        <m:r>
                          <a:rPr lang="en-US" altLang="ja-JP" sz="1800"/>
                          <m:t>2</m:t>
                        </m:r>
                      </m:e>
                      <m:sup>
                        <m:r>
                          <a:rPr lang="ja-JP" altLang="en-US" sz="1800" i="1"/>
                          <m:t>𝑁</m:t>
                        </m:r>
                      </m:sup>
                    </m:sSup>
                  </m:oMath>
                </a14:m>
                <a:r>
                  <a:rPr lang="ja-JP" altLang="ja-JP" sz="1800" dirty="0"/>
                  <a:t>个构型，完整存储 </a:t>
                </a:r>
                <a14:m>
                  <m:oMath xmlns:m="http://schemas.openxmlformats.org/officeDocument/2006/math">
                    <m:r>
                      <a:rPr lang="ja-JP" altLang="en-US" sz="1800" i="1"/>
                      <m:t>𝜓</m:t>
                    </m:r>
                    <m:d>
                      <m:dPr>
                        <m:ctrlPr>
                          <a:rPr lang="ja-JP" altLang="en-US" sz="1800" i="1"/>
                        </m:ctrlPr>
                      </m:dPr>
                      <m:e>
                        <m:r>
                          <a:rPr lang="ja-JP" altLang="en-US" sz="1800" i="1"/>
                          <m:t>𝜎</m:t>
                        </m:r>
                      </m:e>
                    </m:d>
                  </m:oMath>
                </a14:m>
                <a:r>
                  <a:rPr lang="ja-JP" altLang="ja-JP" sz="1800" dirty="0"/>
                  <a:t>需要指数资源。</a:t>
                </a:r>
              </a:p>
              <a:p>
                <a:r>
                  <a:rPr lang="ja-JP" altLang="ja-JP" sz="1800" dirty="0"/>
                  <a:t>他们用 Restricted Boltzmann Machine, RBM 表示波函数：</a:t>
                </a:r>
                <a:endParaRPr lang="en-US" altLang="ja-JP" sz="1800" dirty="0"/>
              </a:p>
              <a:p>
                <a:pPr marL="0" indent="0">
                  <a:buNone/>
                </a:pPr>
                <a14:m>
                  <m:oMathPara xmlns:m="http://schemas.openxmlformats.org/officeDocument/2006/math">
                    <m:oMathParaPr>
                      <m:jc m:val="centerGroup"/>
                    </m:oMathParaPr>
                    <m:oMath xmlns:m="http://schemas.openxmlformats.org/officeDocument/2006/math">
                      <m:sSub>
                        <m:sSubPr>
                          <m:ctrlPr>
                            <a:rPr lang="ja-JP" altLang="en-US" sz="1800"/>
                          </m:ctrlPr>
                        </m:sSubPr>
                        <m:e>
                          <m:r>
                            <a:rPr lang="ja-JP" altLang="en-US" sz="1800" i="1"/>
                            <m:t>𝜓</m:t>
                          </m:r>
                        </m:e>
                        <m:sub>
                          <m:r>
                            <a:rPr lang="ja-JP" altLang="en-US" sz="1800" i="1"/>
                            <m:t>𝜃</m:t>
                          </m:r>
                        </m:sub>
                      </m:sSub>
                      <m:d>
                        <m:dPr>
                          <m:ctrlPr>
                            <a:rPr lang="ja-JP" altLang="en-US" sz="1800" i="1"/>
                          </m:ctrlPr>
                        </m:dPr>
                        <m:e>
                          <m:r>
                            <a:rPr lang="ja-JP" altLang="en-US" sz="1800" i="1"/>
                            <m:t>𝜎</m:t>
                          </m:r>
                        </m:e>
                      </m:d>
                      <m:r>
                        <a:rPr lang="en-US" altLang="ja-JP" sz="1800"/>
                        <m:t>=</m:t>
                      </m:r>
                      <m:nary>
                        <m:naryPr>
                          <m:chr m:val="∑"/>
                          <m:grow m:val="on"/>
                          <m:supHide m:val="on"/>
                          <m:ctrlPr>
                            <a:rPr lang="ja-JP" altLang="en-US" sz="1800" i="1"/>
                          </m:ctrlPr>
                        </m:naryPr>
                        <m:sub>
                          <m:r>
                            <a:rPr lang="en-US" altLang="ja-JP" sz="1800" i="1"/>
                            <m:t>h</m:t>
                          </m:r>
                        </m:sub>
                        <m:sup/>
                        <m:e>
                          <m:r>
                            <m:rPr>
                              <m:sty m:val="p"/>
                            </m:rPr>
                            <a:rPr lang="en-US" altLang="ja-JP" sz="1800"/>
                            <m:t>exp</m:t>
                          </m:r>
                        </m:e>
                      </m:nary>
                      <m:r>
                        <a:rPr lang="ja-JP" altLang="en-US" sz="1800"/>
                        <m:t>⁡</m:t>
                      </m:r>
                      <m:d>
                        <m:dPr>
                          <m:ctrlPr>
                            <a:rPr lang="ja-JP" altLang="en-US" sz="1800" i="1"/>
                          </m:ctrlPr>
                        </m:dPr>
                        <m:e>
                          <m:r>
                            <a:rPr lang="ja-JP" altLang="en-US" sz="1800" i="1"/>
                            <m:t>𝑎</m:t>
                          </m:r>
                          <m:r>
                            <a:rPr lang="ja-JP" altLang="en-US" sz="1800"/>
                            <m:t>⋅</m:t>
                          </m:r>
                          <m:r>
                            <a:rPr lang="ja-JP" altLang="en-US" sz="1800" i="1"/>
                            <m:t>𝜎</m:t>
                          </m:r>
                          <m:r>
                            <a:rPr lang="en-US" altLang="ja-JP" sz="1800"/>
                            <m:t>+</m:t>
                          </m:r>
                          <m:r>
                            <a:rPr lang="ja-JP" altLang="en-US" sz="1800" i="1"/>
                            <m:t>𝑏</m:t>
                          </m:r>
                          <m:r>
                            <a:rPr lang="ja-JP" altLang="en-US" sz="1800"/>
                            <m:t>⋅</m:t>
                          </m:r>
                          <m:r>
                            <a:rPr lang="en-US" altLang="ja-JP" sz="1800" i="1"/>
                            <m:t>h</m:t>
                          </m:r>
                          <m:r>
                            <a:rPr lang="en-US" altLang="ja-JP" sz="1800"/>
                            <m:t>+</m:t>
                          </m:r>
                          <m:sSup>
                            <m:sSupPr>
                              <m:ctrlPr>
                                <a:rPr lang="ja-JP" altLang="en-US" sz="1800" i="1"/>
                              </m:ctrlPr>
                            </m:sSupPr>
                            <m:e>
                              <m:r>
                                <a:rPr lang="ja-JP" altLang="en-US" sz="1800" i="1"/>
                                <m:t>𝜎</m:t>
                              </m:r>
                            </m:e>
                            <m:sup>
                              <m:r>
                                <a:rPr lang="ja-JP" altLang="en-US" sz="1800" i="1"/>
                                <m:t>𝑇</m:t>
                              </m:r>
                            </m:sup>
                          </m:sSup>
                          <m:r>
                            <a:rPr lang="ja-JP" altLang="en-US" sz="1800" i="1"/>
                            <m:t>𝑊</m:t>
                          </m:r>
                          <m:r>
                            <a:rPr lang="en-US" altLang="ja-JP" sz="1800" i="1"/>
                            <m:t>h</m:t>
                          </m:r>
                        </m:e>
                      </m:d>
                      <m:r>
                        <a:rPr lang="en-US" altLang="ja-JP" sz="1800"/>
                        <m:t>,</m:t>
                      </m:r>
                    </m:oMath>
                  </m:oMathPara>
                </a14:m>
                <a:endParaRPr lang="en-US" altLang="ja-JP" sz="1800" dirty="0"/>
              </a:p>
              <a:p>
                <a:r>
                  <a:rPr lang="ja-JP" altLang="ja-JP" sz="1800" dirty="0"/>
                  <a:t>把隐藏变量 </a:t>
                </a:r>
                <a14:m>
                  <m:oMath xmlns:m="http://schemas.openxmlformats.org/officeDocument/2006/math">
                    <m:r>
                      <a:rPr lang="en-US" altLang="ja-JP" sz="1800" i="1"/>
                      <m:t>h</m:t>
                    </m:r>
                  </m:oMath>
                </a14:m>
                <a:r>
                  <a:rPr lang="ja-JP" altLang="ja-JP" sz="1800" dirty="0"/>
                  <a:t>求和后，可以得到类似：</a:t>
                </a:r>
                <a:endParaRPr lang="en-US" altLang="ja-JP" sz="1800" dirty="0"/>
              </a:p>
              <a:p>
                <a:pPr marL="0" indent="0">
                  <a:buNone/>
                </a:pPr>
                <a14:m>
                  <m:oMathPara xmlns:m="http://schemas.openxmlformats.org/officeDocument/2006/math">
                    <m:oMathParaPr>
                      <m:jc m:val="centerGroup"/>
                    </m:oMathParaPr>
                    <m:oMath xmlns:m="http://schemas.openxmlformats.org/officeDocument/2006/math">
                      <m:sSub>
                        <m:sSubPr>
                          <m:ctrlPr>
                            <a:rPr lang="ja-JP" altLang="en-US" sz="1800"/>
                          </m:ctrlPr>
                        </m:sSubPr>
                        <m:e>
                          <m:r>
                            <a:rPr lang="ja-JP" altLang="en-US" sz="1800" i="1"/>
                            <m:t>𝜓</m:t>
                          </m:r>
                        </m:e>
                        <m:sub>
                          <m:r>
                            <a:rPr lang="ja-JP" altLang="en-US" sz="1800" i="1"/>
                            <m:t>𝜃</m:t>
                          </m:r>
                        </m:sub>
                      </m:sSub>
                      <m:d>
                        <m:dPr>
                          <m:ctrlPr>
                            <a:rPr lang="ja-JP" altLang="en-US" sz="1800" i="1"/>
                          </m:ctrlPr>
                        </m:dPr>
                        <m:e>
                          <m:r>
                            <a:rPr lang="ja-JP" altLang="en-US" sz="1800" i="1"/>
                            <m:t>𝜎</m:t>
                          </m:r>
                        </m:e>
                      </m:d>
                      <m:r>
                        <a:rPr lang="en-US" altLang="ja-JP" sz="1800"/>
                        <m:t>=</m:t>
                      </m:r>
                      <m:sSup>
                        <m:sSupPr>
                          <m:ctrlPr>
                            <a:rPr lang="ja-JP" altLang="en-US" sz="1800" i="1"/>
                          </m:ctrlPr>
                        </m:sSupPr>
                        <m:e>
                          <m:r>
                            <a:rPr lang="ja-JP" altLang="en-US" sz="1800" i="1"/>
                            <m:t>𝑒</m:t>
                          </m:r>
                        </m:e>
                        <m:sup>
                          <m:r>
                            <a:rPr lang="ja-JP" altLang="en-US" sz="1800" i="1"/>
                            <m:t>𝑎</m:t>
                          </m:r>
                          <m:r>
                            <a:rPr lang="ja-JP" altLang="en-US" sz="1800"/>
                            <m:t>⋅</m:t>
                          </m:r>
                          <m:r>
                            <a:rPr lang="ja-JP" altLang="en-US" sz="1800" i="1"/>
                            <m:t>𝜎</m:t>
                          </m:r>
                        </m:sup>
                      </m:sSup>
                      <m:nary>
                        <m:naryPr>
                          <m:chr m:val="∏"/>
                          <m:grow m:val="on"/>
                          <m:supHide m:val="on"/>
                          <m:ctrlPr>
                            <a:rPr lang="ja-JP" altLang="en-US" sz="1800" i="1"/>
                          </m:ctrlPr>
                        </m:naryPr>
                        <m:sub>
                          <m:r>
                            <a:rPr lang="ja-JP" altLang="en-US" sz="1800" i="1"/>
                            <m:t>𝑗</m:t>
                          </m:r>
                        </m:sub>
                        <m:sup/>
                        <m:e>
                          <m:r>
                            <a:rPr lang="en-US" altLang="ja-JP" sz="1800"/>
                            <m:t>2</m:t>
                          </m:r>
                        </m:e>
                      </m:nary>
                      <m:func>
                        <m:funcPr>
                          <m:ctrlPr>
                            <a:rPr lang="ja-JP" altLang="en-US" sz="1800" i="1"/>
                          </m:ctrlPr>
                        </m:funcPr>
                        <m:fName>
                          <m:r>
                            <m:rPr>
                              <m:sty m:val="p"/>
                            </m:rPr>
                            <a:rPr lang="en-US" altLang="ja-JP" sz="1800"/>
                            <m:t>cosh</m:t>
                          </m:r>
                        </m:fName>
                        <m:e>
                          <m:d>
                            <m:dPr>
                              <m:ctrlPr>
                                <a:rPr lang="ja-JP" altLang="en-US" sz="1800" i="1"/>
                              </m:ctrlPr>
                            </m:dPr>
                            <m:e>
                              <m:sSub>
                                <m:sSubPr>
                                  <m:ctrlPr>
                                    <a:rPr lang="ja-JP" altLang="en-US" sz="1800" i="1"/>
                                  </m:ctrlPr>
                                </m:sSubPr>
                                <m:e>
                                  <m:r>
                                    <a:rPr lang="ja-JP" altLang="en-US" sz="1800" i="1"/>
                                    <m:t>𝑏</m:t>
                                  </m:r>
                                </m:e>
                                <m:sub>
                                  <m:r>
                                    <a:rPr lang="ja-JP" altLang="en-US" sz="1800" i="1"/>
                                    <m:t>𝑗</m:t>
                                  </m:r>
                                </m:sub>
                              </m:sSub>
                              <m:r>
                                <a:rPr lang="en-US" altLang="ja-JP" sz="1800"/>
                                <m:t>+</m:t>
                              </m:r>
                              <m:nary>
                                <m:naryPr>
                                  <m:chr m:val="∑"/>
                                  <m:grow m:val="on"/>
                                  <m:supHide m:val="on"/>
                                  <m:ctrlPr>
                                    <a:rPr lang="ja-JP" altLang="en-US" sz="1800" i="1"/>
                                  </m:ctrlPr>
                                </m:naryPr>
                                <m:sub>
                                  <m:r>
                                    <a:rPr lang="ja-JP" altLang="en-US" sz="1800" i="1"/>
                                    <m:t>𝑖</m:t>
                                  </m:r>
                                </m:sub>
                                <m:sup/>
                                <m:e>
                                  <m:sSub>
                                    <m:sSubPr>
                                      <m:ctrlPr>
                                        <a:rPr lang="ja-JP" altLang="en-US" sz="1800" i="1"/>
                                      </m:ctrlPr>
                                    </m:sSubPr>
                                    <m:e>
                                      <m:r>
                                        <a:rPr lang="ja-JP" altLang="en-US" sz="1800" i="1"/>
                                        <m:t>𝑊</m:t>
                                      </m:r>
                                    </m:e>
                                    <m:sub>
                                      <m:r>
                                        <a:rPr lang="ja-JP" altLang="en-US" sz="1800" i="1"/>
                                        <m:t>𝑖𝑗</m:t>
                                      </m:r>
                                    </m:sub>
                                  </m:sSub>
                                </m:e>
                              </m:nary>
                              <m:sSub>
                                <m:sSubPr>
                                  <m:ctrlPr>
                                    <a:rPr lang="ja-JP" altLang="en-US" sz="1800" i="1"/>
                                  </m:ctrlPr>
                                </m:sSubPr>
                                <m:e>
                                  <m:r>
                                    <a:rPr lang="ja-JP" altLang="en-US" sz="1800" i="1"/>
                                    <m:t>𝜎</m:t>
                                  </m:r>
                                </m:e>
                                <m:sub>
                                  <m:r>
                                    <a:rPr lang="ja-JP" altLang="en-US" sz="1800" i="1"/>
                                    <m:t>𝑖</m:t>
                                  </m:r>
                                </m:sub>
                              </m:sSub>
                            </m:e>
                          </m:d>
                        </m:e>
                      </m:func>
                      <m:r>
                        <a:rPr lang="en-US" altLang="ja-JP" sz="1800"/>
                        <m:t>.</m:t>
                      </m:r>
                    </m:oMath>
                  </m:oMathPara>
                </a14:m>
                <a:endParaRPr lang="en-US" altLang="ja-JP" sz="1800" dirty="0"/>
              </a:p>
              <a:p>
                <a:r>
                  <a:rPr lang="ja-JP" altLang="ja-JP" sz="1800" dirty="0"/>
                  <a:t>权重 </a:t>
                </a:r>
                <a14:m>
                  <m:oMath xmlns:m="http://schemas.openxmlformats.org/officeDocument/2006/math">
                    <m:r>
                      <a:rPr lang="ja-JP" altLang="en-US" sz="1800" i="1"/>
                      <m:t>𝑎</m:t>
                    </m:r>
                    <m:r>
                      <a:rPr lang="en-US" altLang="ja-JP" sz="1800"/>
                      <m:t>,</m:t>
                    </m:r>
                    <m:r>
                      <a:rPr lang="ja-JP" altLang="en-US" sz="1800" i="1"/>
                      <m:t>𝑏</m:t>
                    </m:r>
                    <m:r>
                      <a:rPr lang="en-US" altLang="ja-JP" sz="1800"/>
                      <m:t>,</m:t>
                    </m:r>
                    <m:r>
                      <a:rPr lang="ja-JP" altLang="en-US" sz="1800" i="1"/>
                      <m:t>𝑊</m:t>
                    </m:r>
                  </m:oMath>
                </a14:m>
                <a:r>
                  <a:rPr lang="ja-JP" altLang="ja-JP" sz="1800" dirty="0"/>
                  <a:t>可以是复数，因此同时表示振幅和相位。论文说明，RBM 的可见层对应物理自旋变量，隐藏层提供辅助自由度；隐藏变量可被显式求和，得到复值波函数表达。</a:t>
                </a:r>
              </a:p>
              <a:p>
                <a:r>
                  <a:rPr lang="ja-JP" altLang="ja-JP" sz="1800" dirty="0"/>
                  <a:t>训练不是监督学习，而是变分优化。基态问题中最小化能量泛函：</a:t>
                </a:r>
                <a14:m>
                  <m:oMath xmlns:m="http://schemas.openxmlformats.org/officeDocument/2006/math">
                    <m:r>
                      <a:rPr lang="ja-JP" altLang="en-US" sz="1800" i="1"/>
                      <m:t>𝐸</m:t>
                    </m:r>
                    <m:d>
                      <m:dPr>
                        <m:ctrlPr>
                          <a:rPr lang="ja-JP" altLang="en-US" sz="1800" i="1"/>
                        </m:ctrlPr>
                      </m:dPr>
                      <m:e>
                        <m:r>
                          <a:rPr lang="ja-JP" altLang="en-US" sz="1800" i="1"/>
                          <m:t>𝜃</m:t>
                        </m:r>
                      </m:e>
                    </m:d>
                    <m:r>
                      <a:rPr lang="en-US" altLang="ja-JP" sz="1800"/>
                      <m:t>=</m:t>
                    </m:r>
                    <m:f>
                      <m:fPr>
                        <m:ctrlPr>
                          <a:rPr lang="ja-JP" altLang="en-US" sz="1800" i="1"/>
                        </m:ctrlPr>
                      </m:fPr>
                      <m:num>
                        <m:d>
                          <m:dPr>
                            <m:begChr m:val="⟨"/>
                            <m:endChr m:val="⟩"/>
                            <m:ctrlPr>
                              <a:rPr lang="ja-JP" altLang="en-US" sz="1800" i="1"/>
                            </m:ctrlPr>
                          </m:dPr>
                          <m:e>
                            <m:sSub>
                              <m:sSubPr>
                                <m:ctrlPr>
                                  <a:rPr lang="ja-JP" altLang="en-US" sz="1800" i="1"/>
                                </m:ctrlPr>
                              </m:sSubPr>
                              <m:e>
                                <m:r>
                                  <a:rPr lang="ja-JP" altLang="en-US" sz="1800" i="1"/>
                                  <m:t>𝜓</m:t>
                                </m:r>
                              </m:e>
                              <m:sub>
                                <m:r>
                                  <a:rPr lang="ja-JP" altLang="en-US" sz="1800" i="1"/>
                                  <m:t>𝜃</m:t>
                                </m:r>
                              </m:sub>
                            </m:sSub>
                            <m:r>
                              <a:rPr lang="ja-JP" altLang="en-US" sz="1800"/>
                              <m:t>∣</m:t>
                            </m:r>
                            <m:r>
                              <a:rPr lang="ja-JP" altLang="en-US" sz="1800" i="1"/>
                              <m:t>𝐻</m:t>
                            </m:r>
                            <m:r>
                              <a:rPr lang="ja-JP" altLang="en-US" sz="1800"/>
                              <m:t>∣</m:t>
                            </m:r>
                            <m:sSub>
                              <m:sSubPr>
                                <m:ctrlPr>
                                  <a:rPr lang="ja-JP" altLang="en-US" sz="1800" i="1"/>
                                </m:ctrlPr>
                              </m:sSubPr>
                              <m:e>
                                <m:r>
                                  <a:rPr lang="ja-JP" altLang="en-US" sz="1800" i="1"/>
                                  <m:t>𝜓</m:t>
                                </m:r>
                              </m:e>
                              <m:sub>
                                <m:r>
                                  <a:rPr lang="ja-JP" altLang="en-US" sz="1800" i="1"/>
                                  <m:t>𝜃</m:t>
                                </m:r>
                              </m:sub>
                            </m:sSub>
                          </m:e>
                        </m:d>
                      </m:num>
                      <m:den>
                        <m:d>
                          <m:dPr>
                            <m:begChr m:val="⟨"/>
                            <m:endChr m:val="⟩"/>
                            <m:ctrlPr>
                              <a:rPr lang="ja-JP" altLang="en-US" sz="1800" i="1"/>
                            </m:ctrlPr>
                          </m:dPr>
                          <m:e>
                            <m:sSub>
                              <m:sSubPr>
                                <m:ctrlPr>
                                  <a:rPr lang="ja-JP" altLang="en-US" sz="1800" i="1"/>
                                </m:ctrlPr>
                              </m:sSubPr>
                              <m:e>
                                <m:r>
                                  <a:rPr lang="ja-JP" altLang="en-US" sz="1800" i="1"/>
                                  <m:t>𝜓</m:t>
                                </m:r>
                              </m:e>
                              <m:sub>
                                <m:r>
                                  <a:rPr lang="ja-JP" altLang="en-US" sz="1800" i="1"/>
                                  <m:t>𝜃</m:t>
                                </m:r>
                              </m:sub>
                            </m:sSub>
                            <m:r>
                              <a:rPr lang="ja-JP" altLang="en-US" sz="1800"/>
                              <m:t>∣</m:t>
                            </m:r>
                            <m:sSub>
                              <m:sSubPr>
                                <m:ctrlPr>
                                  <a:rPr lang="ja-JP" altLang="en-US" sz="1800" i="1"/>
                                </m:ctrlPr>
                              </m:sSubPr>
                              <m:e>
                                <m:r>
                                  <a:rPr lang="ja-JP" altLang="en-US" sz="1800" i="1"/>
                                  <m:t>𝜓</m:t>
                                </m:r>
                              </m:e>
                              <m:sub>
                                <m:r>
                                  <a:rPr lang="ja-JP" altLang="en-US" sz="1800" i="1"/>
                                  <m:t>𝜃</m:t>
                                </m:r>
                              </m:sub>
                            </m:sSub>
                          </m:e>
                        </m:d>
                      </m:den>
                    </m:f>
                    <m:r>
                      <a:rPr lang="en-US" altLang="ja-JP" sz="1800"/>
                      <m:t>.</m:t>
                    </m:r>
                  </m:oMath>
                </a14:m>
                <a:endParaRPr lang="en-US" altLang="ja-JP" sz="1800" dirty="0"/>
              </a:p>
              <a:p>
                <a:r>
                  <a:rPr lang="ja-JP" altLang="ja-JP" sz="1800" dirty="0"/>
                  <a:t>动力学问题中，用 time-dependent variational principle 让 </a:t>
                </a:r>
                <a14:m>
                  <m:oMath xmlns:m="http://schemas.openxmlformats.org/officeDocument/2006/math">
                    <m:d>
                      <m:dPr>
                        <m:begChr m:val=""/>
                        <m:endChr m:val="⟩"/>
                        <m:ctrlPr>
                          <a:rPr lang="ja-JP" altLang="en-US" sz="1800"/>
                        </m:ctrlPr>
                      </m:dPr>
                      <m:e>
                        <m:r>
                          <a:rPr lang="ja-JP" altLang="en-US" sz="1800"/>
                          <m:t>∣</m:t>
                        </m:r>
                        <m:sSub>
                          <m:sSubPr>
                            <m:ctrlPr>
                              <a:rPr lang="ja-JP" altLang="en-US" sz="1800" i="1"/>
                            </m:ctrlPr>
                          </m:sSubPr>
                          <m:e>
                            <m:r>
                              <a:rPr lang="ja-JP" altLang="en-US" sz="1800" i="1"/>
                              <m:t>𝜓</m:t>
                            </m:r>
                          </m:e>
                          <m:sub>
                            <m:r>
                              <a:rPr lang="ja-JP" altLang="en-US" sz="1800" i="1"/>
                              <m:t>𝜃</m:t>
                            </m:r>
                          </m:sub>
                        </m:sSub>
                        <m:d>
                          <m:dPr>
                            <m:ctrlPr>
                              <a:rPr lang="ja-JP" altLang="en-US" sz="1800" i="1"/>
                            </m:ctrlPr>
                          </m:dPr>
                          <m:e>
                            <m:r>
                              <a:rPr lang="ja-JP" altLang="en-US" sz="1800" i="1"/>
                              <m:t>𝑡</m:t>
                            </m:r>
                          </m:e>
                        </m:d>
                      </m:e>
                    </m:d>
                  </m:oMath>
                </a14:m>
                <a:r>
                  <a:rPr lang="ja-JP" altLang="ja-JP" sz="1800" dirty="0"/>
                  <a:t>尽量贴近 Schrödinger 方程的真实演化。论文用变分 Monte Carlo 处理基态和时间演化，并在一维、二维自旋模型中展示高精度。</a:t>
                </a:r>
              </a:p>
              <a:p>
                <a14:m>
                  <m:oMath xmlns:m="http://schemas.openxmlformats.org/officeDocument/2006/math">
                    <m:r>
                      <m:rPr>
                        <m:nor/>
                      </m:rPr>
                      <a:rPr lang="ja-JP" altLang="en-US" sz="1800" b="0"/>
                      <m:t>量子多体波函数</m:t>
                    </m:r>
                    <m:r>
                      <a:rPr lang="en-US" altLang="ja-JP" sz="1800"/>
                      <m:t>=</m:t>
                    </m:r>
                    <m:r>
                      <m:rPr>
                        <m:nor/>
                      </m:rPr>
                      <a:rPr lang="en-US" altLang="ja-JP" sz="1800" i="1"/>
                      <m:t>Hilbert</m:t>
                    </m:r>
                    <m:r>
                      <m:rPr>
                        <m:nor/>
                      </m:rPr>
                      <a:rPr lang="en-US" altLang="ja-JP" sz="1800" i="1"/>
                      <m:t> </m:t>
                    </m:r>
                    <m:r>
                      <m:rPr>
                        <m:nor/>
                      </m:rPr>
                      <a:rPr lang="ja-JP" altLang="en-US" sz="1800" i="1"/>
                      <m:t>空间向量</m:t>
                    </m:r>
                    <m:r>
                      <a:rPr lang="en-US" altLang="ja-JP" sz="1800"/>
                      <m:t>=</m:t>
                    </m:r>
                    <m:r>
                      <m:rPr>
                        <m:nor/>
                      </m:rPr>
                      <a:rPr lang="ja-JP" altLang="en-US" sz="1800" i="1"/>
                      <m:t>构型空间上的复值函数</m:t>
                    </m:r>
                  </m:oMath>
                </a14:m>
                <a:endParaRPr lang="ja-JP" altLang="en-US" sz="1800" b="0" dirty="0"/>
              </a:p>
              <a:p>
                <a:r>
                  <a:rPr lang="ja-JP" altLang="ja-JP" sz="1800" dirty="0"/>
                  <a:t>而神经网络是这个复值函数的压缩表达。</a:t>
                </a:r>
              </a:p>
              <a:p>
                <a:r>
                  <a:rPr lang="ja-JP" altLang="ja-JP" sz="1800" dirty="0"/>
                  <a:t>也就是说，神经网络不是在分类图片，而是在近似一个 Hilbert 空间中的量子态。</a:t>
                </a:r>
              </a:p>
            </p:txBody>
          </p:sp>
        </mc:Choice>
        <mc:Fallback>
          <p:sp>
            <p:nvSpPr>
              <p:cNvPr id="12" name="コンテンツ プレースホルダー 2">
                <a:extLst>
                  <a:ext uri="{FF2B5EF4-FFF2-40B4-BE49-F238E27FC236}">
                    <a16:creationId xmlns:a16="http://schemas.microsoft.com/office/drawing/2014/main" id="{C2E1277F-C7AE-5F12-46A0-38BDCE2D4D43}"/>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359" t="-11921" r="-4209" b="-1342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651221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82DA0-522D-CD28-BED1-FCC3022C06CF}"/>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2AC02925-B758-2453-7281-5446E7D0DD23}"/>
              </a:ext>
            </a:extLst>
          </p:cNvPr>
          <p:cNvSpPr>
            <a:spLocks noGrp="1" noChangeArrowheads="1"/>
          </p:cNvSpPr>
          <p:nvPr>
            <p:ph type="title"/>
          </p:nvPr>
        </p:nvSpPr>
        <p:spPr/>
        <p:txBody>
          <a:bodyPr/>
          <a:lstStyle/>
          <a:p>
            <a:r>
              <a:rPr lang="ja-JP" altLang="ja-JP" dirty="0"/>
              <a:t>Carleo &amp; Troyer：神经网络量子态，把波函数当作可学习函数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A0C22972-3626-3BD0-A446-2699893603E2}"/>
                  </a:ext>
                </a:extLst>
              </p:cNvPr>
              <p:cNvSpPr>
                <a:spLocks noGrp="1"/>
              </p:cNvSpPr>
              <p:nvPr>
                <p:ph idx="1"/>
              </p:nvPr>
            </p:nvSpPr>
            <p:spPr>
              <a:xfrm>
                <a:off x="106680" y="990600"/>
                <a:ext cx="11877040" cy="5268402"/>
              </a:xfrm>
            </p:spPr>
            <p:txBody>
              <a:bodyPr/>
              <a:lstStyle/>
              <a:p>
                <a:pPr marL="0" indent="0">
                  <a:buNone/>
                </a:pPr>
                <a:r>
                  <a:rPr lang="ja-JP" altLang="ja-JP" dirty="0"/>
                  <a:t>Carleo &amp; Troyer 直接工作在物理 Hilbert 空间：</a:t>
                </a:r>
                <a14:m>
                  <m:oMath xmlns:m="http://schemas.openxmlformats.org/officeDocument/2006/math">
                    <m:r>
                      <a:rPr lang="en-US" altLang="ja-JP"/>
                      <m:t>ℋ</m:t>
                    </m:r>
                    <m:r>
                      <a:rPr lang="en-US" altLang="ja-JP"/>
                      <m:t>=</m:t>
                    </m:r>
                    <m:sSup>
                      <m:sSupPr>
                        <m:ctrlPr>
                          <a:rPr lang="ja-JP" altLang="en-US" i="1"/>
                        </m:ctrlPr>
                      </m:sSupPr>
                      <m:e>
                        <m:r>
                          <a:rPr lang="en-US" altLang="ja-JP"/>
                          <m:t>ℓ</m:t>
                        </m:r>
                      </m:e>
                      <m:sup>
                        <m:r>
                          <a:rPr lang="en-US" altLang="ja-JP"/>
                          <m:t>2</m:t>
                        </m:r>
                      </m:sup>
                    </m:sSup>
                    <m:d>
                      <m:dPr>
                        <m:ctrlPr>
                          <a:rPr lang="ja-JP" altLang="en-US" i="1"/>
                        </m:ctrlPr>
                      </m:dPr>
                      <m:e>
                        <m:d>
                          <m:dPr>
                            <m:begChr m:val="{"/>
                            <m:endChr m:val="}"/>
                            <m:ctrlPr>
                              <a:rPr lang="ja-JP" altLang="en-US" i="1"/>
                            </m:ctrlPr>
                          </m:dPr>
                          <m:e>
                            <m:r>
                              <a:rPr lang="ja-JP" altLang="en-US" i="1"/>
                              <m:t>𝜎</m:t>
                            </m:r>
                          </m:e>
                        </m:d>
                      </m:e>
                    </m:d>
                    <m:r>
                      <a:rPr lang="en-US" altLang="ja-JP"/>
                      <m:t>,</m:t>
                    </m:r>
                  </m:oMath>
                </a14:m>
                <a:endParaRPr lang="en-US" altLang="ja-JP" dirty="0"/>
              </a:p>
              <a:p>
                <a:pPr marL="0" indent="0">
                  <a:buNone/>
                </a:pPr>
                <a:r>
                  <a:rPr lang="ja-JP" altLang="ja-JP" dirty="0"/>
                  <a:t>即所有平方可和的复值函数 </a:t>
                </a:r>
                <a14:m>
                  <m:oMath xmlns:m="http://schemas.openxmlformats.org/officeDocument/2006/math">
                    <m:r>
                      <a:rPr lang="ja-JP" altLang="en-US" i="1"/>
                      <m:t>𝜓</m:t>
                    </m:r>
                    <m:d>
                      <m:dPr>
                        <m:ctrlPr>
                          <a:rPr lang="ja-JP" altLang="en-US" i="1"/>
                        </m:ctrlPr>
                      </m:dPr>
                      <m:e>
                        <m:r>
                          <a:rPr lang="ja-JP" altLang="en-US" i="1"/>
                          <m:t>𝜎</m:t>
                        </m:r>
                      </m:e>
                    </m:d>
                  </m:oMath>
                </a14:m>
                <a:r>
                  <a:rPr lang="ja-JP" altLang="ja-JP" dirty="0"/>
                  <a:t>构成的 Hilbert 空间。</a:t>
                </a:r>
                <a:br>
                  <a:rPr lang="ja-JP" altLang="ja-JP" dirty="0"/>
                </a:br>
                <a:r>
                  <a:rPr lang="ja-JP" altLang="ja-JP" dirty="0"/>
                  <a:t>内积是：</a:t>
                </a:r>
              </a:p>
              <a:p>
                <a:pPr marL="0" indent="0">
                  <a:buNone/>
                </a:pPr>
                <a14:m>
                  <m:oMathPara xmlns:m="http://schemas.openxmlformats.org/officeDocument/2006/math">
                    <m:oMathParaPr>
                      <m:jc m:val="centerGroup"/>
                    </m:oMathParaPr>
                    <m:oMath xmlns:m="http://schemas.openxmlformats.org/officeDocument/2006/math">
                      <m:d>
                        <m:dPr>
                          <m:begChr m:val="⟨"/>
                          <m:endChr m:val="⟩"/>
                          <m:ctrlPr>
                            <a:rPr lang="ja-JP" altLang="en-US"/>
                          </m:ctrlPr>
                        </m:dPr>
                        <m:e>
                          <m:r>
                            <a:rPr lang="ja-JP" altLang="en-US" i="1"/>
                            <m:t>𝜓</m:t>
                          </m:r>
                          <m:r>
                            <a:rPr lang="ja-JP" altLang="en-US"/>
                            <m:t>∣</m:t>
                          </m:r>
                          <m:r>
                            <a:rPr lang="ja-JP" altLang="en-US" i="1"/>
                            <m:t>𝜑</m:t>
                          </m:r>
                        </m:e>
                      </m:d>
                      <m:r>
                        <a:rPr lang="en-US" altLang="ja-JP"/>
                        <m:t>=</m:t>
                      </m:r>
                      <m:nary>
                        <m:naryPr>
                          <m:chr m:val="∑"/>
                          <m:grow m:val="on"/>
                          <m:supHide m:val="on"/>
                          <m:ctrlPr>
                            <a:rPr lang="ja-JP" altLang="en-US" i="1"/>
                          </m:ctrlPr>
                        </m:naryPr>
                        <m:sub>
                          <m:r>
                            <a:rPr lang="ja-JP" altLang="en-US" i="1"/>
                            <m:t>𝜎</m:t>
                          </m:r>
                        </m:sub>
                        <m:sup/>
                        <m:e>
                          <m:sSup>
                            <m:sSupPr>
                              <m:ctrlPr>
                                <a:rPr lang="ja-JP" altLang="en-US" i="1"/>
                              </m:ctrlPr>
                            </m:sSupPr>
                            <m:e>
                              <m:r>
                                <a:rPr lang="ja-JP" altLang="en-US" i="1"/>
                                <m:t>𝜓</m:t>
                              </m:r>
                            </m:e>
                            <m:sup>
                              <m:r>
                                <a:rPr lang="ja-JP" altLang="en-US"/>
                                <m:t>∗</m:t>
                              </m:r>
                            </m:sup>
                          </m:sSup>
                        </m:e>
                      </m:nary>
                      <m:d>
                        <m:dPr>
                          <m:ctrlPr>
                            <a:rPr lang="ja-JP" altLang="en-US" i="1"/>
                          </m:ctrlPr>
                        </m:dPr>
                        <m:e>
                          <m:r>
                            <a:rPr lang="ja-JP" altLang="en-US" i="1"/>
                            <m:t>𝜎</m:t>
                          </m:r>
                        </m:e>
                      </m:d>
                      <m:r>
                        <a:rPr lang="ja-JP" altLang="en-US" i="1"/>
                        <m:t>𝜑</m:t>
                      </m:r>
                      <m:d>
                        <m:dPr>
                          <m:ctrlPr>
                            <a:rPr lang="ja-JP" altLang="en-US" i="1"/>
                          </m:ctrlPr>
                        </m:dPr>
                        <m:e>
                          <m:r>
                            <a:rPr lang="ja-JP" altLang="en-US" i="1"/>
                            <m:t>𝜎</m:t>
                          </m:r>
                        </m:e>
                      </m:d>
                      <m:r>
                        <a:rPr lang="en-US" altLang="ja-JP"/>
                        <m:t>.</m:t>
                      </m:r>
                    </m:oMath>
                  </m:oMathPara>
                </a14:m>
                <a:endParaRPr lang="en-US" altLang="ja-JP" dirty="0"/>
              </a:p>
              <a:p>
                <a:pPr marL="0" indent="0">
                  <a:buNone/>
                </a:pPr>
                <a:r>
                  <a:rPr lang="ja-JP" altLang="ja-JP" dirty="0"/>
                  <a:t>Hamiltonian </a:t>
                </a:r>
                <a14:m>
                  <m:oMath xmlns:m="http://schemas.openxmlformats.org/officeDocument/2006/math">
                    <m:r>
                      <a:rPr lang="ja-JP" altLang="en-US" i="1"/>
                      <m:t>𝐻</m:t>
                    </m:r>
                  </m:oMath>
                </a14:m>
                <a:r>
                  <a:rPr lang="ja-JP" altLang="ja-JP" dirty="0"/>
                  <a:t>是这个空间上的线性算符。能量是 Rayleigh quotient：</a:t>
                </a:r>
              </a:p>
              <a:p>
                <a:pPr marL="0" indent="0">
                  <a:buNone/>
                </a:pPr>
                <a14:m>
                  <m:oMathPara xmlns:m="http://schemas.openxmlformats.org/officeDocument/2006/math">
                    <m:oMathParaPr>
                      <m:jc m:val="centerGroup"/>
                    </m:oMathParaPr>
                    <m:oMath xmlns:m="http://schemas.openxmlformats.org/officeDocument/2006/math">
                      <m:r>
                        <a:rPr lang="ja-JP" altLang="en-US" i="1"/>
                        <m:t>𝐸</m:t>
                      </m:r>
                      <m:d>
                        <m:dPr>
                          <m:begChr m:val="["/>
                          <m:endChr m:val="]"/>
                          <m:ctrlPr>
                            <a:rPr lang="ja-JP" altLang="en-US" i="1"/>
                          </m:ctrlPr>
                        </m:dPr>
                        <m:e>
                          <m:r>
                            <a:rPr lang="ja-JP" altLang="en-US" i="1"/>
                            <m:t>𝜓</m:t>
                          </m:r>
                        </m:e>
                      </m:d>
                      <m:r>
                        <a:rPr lang="en-US" altLang="ja-JP"/>
                        <m:t>=</m:t>
                      </m:r>
                      <m:f>
                        <m:fPr>
                          <m:ctrlPr>
                            <a:rPr lang="ja-JP" altLang="en-US" i="1"/>
                          </m:ctrlPr>
                        </m:fPr>
                        <m:num>
                          <m:d>
                            <m:dPr>
                              <m:begChr m:val="⟨"/>
                              <m:endChr m:val="⟩"/>
                              <m:ctrlPr>
                                <a:rPr lang="ja-JP" altLang="en-US" i="1"/>
                              </m:ctrlPr>
                            </m:dPr>
                            <m:e>
                              <m:r>
                                <a:rPr lang="ja-JP" altLang="en-US" i="1"/>
                                <m:t>𝜓</m:t>
                              </m:r>
                              <m:r>
                                <a:rPr lang="ja-JP" altLang="en-US"/>
                                <m:t>∣</m:t>
                              </m:r>
                              <m:r>
                                <a:rPr lang="ja-JP" altLang="en-US" i="1"/>
                                <m:t>𝐻</m:t>
                              </m:r>
                              <m:r>
                                <a:rPr lang="ja-JP" altLang="en-US"/>
                                <m:t>∣</m:t>
                              </m:r>
                              <m:r>
                                <a:rPr lang="ja-JP" altLang="en-US" i="1"/>
                                <m:t>𝜓</m:t>
                              </m:r>
                            </m:e>
                          </m:d>
                        </m:num>
                        <m:den>
                          <m:d>
                            <m:dPr>
                              <m:begChr m:val="⟨"/>
                              <m:endChr m:val="⟩"/>
                              <m:ctrlPr>
                                <a:rPr lang="ja-JP" altLang="en-US" i="1"/>
                              </m:ctrlPr>
                            </m:dPr>
                            <m:e>
                              <m:r>
                                <a:rPr lang="ja-JP" altLang="en-US" i="1"/>
                                <m:t>𝜓</m:t>
                              </m:r>
                              <m:r>
                                <a:rPr lang="ja-JP" altLang="en-US"/>
                                <m:t>∣</m:t>
                              </m:r>
                              <m:r>
                                <a:rPr lang="ja-JP" altLang="en-US" i="1"/>
                                <m:t>𝜓</m:t>
                              </m:r>
                            </m:e>
                          </m:d>
                        </m:den>
                      </m:f>
                      <m:r>
                        <a:rPr lang="en-US" altLang="ja-JP"/>
                        <m:t>,</m:t>
                      </m:r>
                    </m:oMath>
                  </m:oMathPara>
                </a14:m>
                <a:endParaRPr lang="en-US" altLang="ja-JP" dirty="0"/>
              </a:p>
              <a:p>
                <a:pPr marL="0" indent="0">
                  <a:buNone/>
                </a:pPr>
                <a:r>
                  <a:rPr lang="ja-JP" altLang="ja-JP" dirty="0"/>
                  <a:t>这是波函数上的非线性泛函。</a:t>
                </a:r>
                <a:br>
                  <a:rPr lang="ja-JP" altLang="ja-JP" dirty="0"/>
                </a:br>
                <a:r>
                  <a:rPr lang="ja-JP" altLang="ja-JP" dirty="0"/>
                  <a:t>观测量期望值：</a:t>
                </a:r>
              </a:p>
              <a:p>
                <a:pPr marL="0" indent="0">
                  <a:buNone/>
                </a:pPr>
                <a14:m>
                  <m:oMathPara xmlns:m="http://schemas.openxmlformats.org/officeDocument/2006/math">
                    <m:oMathParaPr>
                      <m:jc m:val="centerGroup"/>
                    </m:oMathParaPr>
                    <m:oMath xmlns:m="http://schemas.openxmlformats.org/officeDocument/2006/math">
                      <m:sSub>
                        <m:sSubPr>
                          <m:ctrlPr>
                            <a:rPr lang="ja-JP" altLang="en-US"/>
                          </m:ctrlPr>
                        </m:sSubPr>
                        <m:e>
                          <m:d>
                            <m:dPr>
                              <m:begChr m:val="⟨"/>
                              <m:endChr m:val="⟩"/>
                              <m:ctrlPr>
                                <a:rPr lang="ja-JP" altLang="en-US"/>
                              </m:ctrlPr>
                            </m:dPr>
                            <m:e>
                              <m:r>
                                <a:rPr lang="ja-JP" altLang="en-US" i="1"/>
                                <m:t>𝑂</m:t>
                              </m:r>
                            </m:e>
                          </m:d>
                        </m:e>
                        <m:sub>
                          <m:r>
                            <a:rPr lang="ja-JP" altLang="en-US" i="1"/>
                            <m:t>𝜓</m:t>
                          </m:r>
                        </m:sub>
                      </m:sSub>
                      <m:r>
                        <a:rPr lang="en-US" altLang="ja-JP"/>
                        <m:t>=</m:t>
                      </m:r>
                      <m:f>
                        <m:fPr>
                          <m:ctrlPr>
                            <a:rPr lang="ja-JP" altLang="en-US" i="1"/>
                          </m:ctrlPr>
                        </m:fPr>
                        <m:num>
                          <m:d>
                            <m:dPr>
                              <m:begChr m:val="⟨"/>
                              <m:endChr m:val="⟩"/>
                              <m:ctrlPr>
                                <a:rPr lang="ja-JP" altLang="en-US" i="1"/>
                              </m:ctrlPr>
                            </m:dPr>
                            <m:e>
                              <m:r>
                                <a:rPr lang="ja-JP" altLang="en-US" i="1"/>
                                <m:t>𝜓</m:t>
                              </m:r>
                              <m:r>
                                <a:rPr lang="ja-JP" altLang="en-US"/>
                                <m:t>∣</m:t>
                              </m:r>
                              <m:r>
                                <a:rPr lang="ja-JP" altLang="en-US" i="1"/>
                                <m:t>𝑂</m:t>
                              </m:r>
                              <m:r>
                                <a:rPr lang="ja-JP" altLang="en-US"/>
                                <m:t>∣</m:t>
                              </m:r>
                              <m:r>
                                <a:rPr lang="ja-JP" altLang="en-US" i="1"/>
                                <m:t>𝜓</m:t>
                              </m:r>
                            </m:e>
                          </m:d>
                        </m:num>
                        <m:den>
                          <m:d>
                            <m:dPr>
                              <m:begChr m:val="⟨"/>
                              <m:endChr m:val="⟩"/>
                              <m:ctrlPr>
                                <a:rPr lang="ja-JP" altLang="en-US" i="1"/>
                              </m:ctrlPr>
                            </m:dPr>
                            <m:e>
                              <m:r>
                                <a:rPr lang="ja-JP" altLang="en-US" i="1"/>
                                <m:t>𝜓</m:t>
                              </m:r>
                              <m:r>
                                <a:rPr lang="ja-JP" altLang="en-US"/>
                                <m:t>∣</m:t>
                              </m:r>
                              <m:r>
                                <a:rPr lang="ja-JP" altLang="en-US" i="1"/>
                                <m:t>𝜓</m:t>
                              </m:r>
                            </m:e>
                          </m:d>
                        </m:den>
                      </m:f>
                    </m:oMath>
                  </m:oMathPara>
                </a14:m>
                <a:endParaRPr lang="ja-JP" altLang="en-US" dirty="0"/>
              </a:p>
              <a:p>
                <a:pPr marL="0" indent="0">
                  <a:buNone/>
                </a:pPr>
                <a:r>
                  <a:rPr lang="ja-JP" altLang="ja-JP" dirty="0"/>
                  <a:t>也是波函数的二次泛函。</a:t>
                </a:r>
                <a:endParaRPr lang="en-US" altLang="ja-JP" dirty="0"/>
              </a:p>
              <a:p>
                <a:pPr marL="0" indent="0">
                  <a:buNone/>
                </a:pPr>
                <a:r>
                  <a:rPr lang="ja-JP" altLang="ja-JP" dirty="0"/>
                  <a:t>训练 NQS 就是在一个神经网络参数化的子流形</a:t>
                </a:r>
              </a:p>
              <a:p>
                <a:pPr marL="0" indent="0">
                  <a:buNone/>
                </a:pPr>
                <a14:m>
                  <m:oMathPara xmlns:m="http://schemas.openxmlformats.org/officeDocument/2006/math">
                    <m:oMathParaPr>
                      <m:jc m:val="centerGroup"/>
                    </m:oMathParaPr>
                    <m:oMath xmlns:m="http://schemas.openxmlformats.org/officeDocument/2006/math">
                      <m:d>
                        <m:dPr>
                          <m:begChr m:val=""/>
                          <m:endChr m:val="}"/>
                          <m:ctrlPr>
                            <a:rPr lang="ja-JP" altLang="en-US"/>
                          </m:ctrlPr>
                        </m:dPr>
                        <m:e>
                          <m:r>
                            <a:rPr lang="en-US" altLang="ja-JP"/>
                            <m:t>ℳ</m:t>
                          </m:r>
                          <m:r>
                            <a:rPr lang="en-US" altLang="ja-JP"/>
                            <m:t>=</m:t>
                          </m:r>
                          <m:d>
                            <m:dPr>
                              <m:begChr m:val="{"/>
                              <m:endChr m:val="⟩"/>
                              <m:ctrlPr>
                                <a:rPr lang="ja-JP" altLang="en-US" i="1"/>
                              </m:ctrlPr>
                            </m:dPr>
                            <m:e>
                              <m:r>
                                <a:rPr lang="ja-JP" altLang="en-US"/>
                                <m:t>∣</m:t>
                              </m:r>
                              <m:sSub>
                                <m:sSubPr>
                                  <m:ctrlPr>
                                    <a:rPr lang="ja-JP" altLang="en-US" i="1"/>
                                  </m:ctrlPr>
                                </m:sSubPr>
                                <m:e>
                                  <m:r>
                                    <a:rPr lang="ja-JP" altLang="en-US" i="1"/>
                                    <m:t>𝜓</m:t>
                                  </m:r>
                                </m:e>
                                <m:sub>
                                  <m:r>
                                    <a:rPr lang="ja-JP" altLang="en-US" i="1"/>
                                    <m:t>𝜃</m:t>
                                  </m:r>
                                </m:sub>
                              </m:sSub>
                            </m:e>
                          </m:d>
                        </m:e>
                      </m:d>
                      <m:r>
                        <a:rPr lang="ja-JP" altLang="en-US"/>
                        <m:t>⊂</m:t>
                      </m:r>
                      <m:r>
                        <a:rPr lang="en-US" altLang="ja-JP"/>
                        <m:t>ℋ</m:t>
                      </m:r>
                    </m:oMath>
                  </m:oMathPara>
                </a14:m>
                <a:endParaRPr lang="en-US" altLang="ja-JP" dirty="0"/>
              </a:p>
              <a:p>
                <a:pPr marL="0" indent="0">
                  <a:buNone/>
                </a:pPr>
                <a:r>
                  <a:rPr lang="ja-JP" altLang="ja-JP" dirty="0"/>
                  <a:t>上优化这些泛函。</a:t>
                </a:r>
              </a:p>
            </p:txBody>
          </p:sp>
        </mc:Choice>
        <mc:Fallback>
          <p:sp>
            <p:nvSpPr>
              <p:cNvPr id="12" name="コンテンツ プレースホルダー 2">
                <a:extLst>
                  <a:ext uri="{FF2B5EF4-FFF2-40B4-BE49-F238E27FC236}">
                    <a16:creationId xmlns:a16="http://schemas.microsoft.com/office/drawing/2014/main" id="{A0C22972-3626-3BD0-A446-2699893603E2}"/>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t="-926" b="-1261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753096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E15B9-4678-781E-C75B-DE46D23E663A}"/>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0238B776-3144-A412-D93D-1239F1A8CC44}"/>
              </a:ext>
            </a:extLst>
          </p:cNvPr>
          <p:cNvSpPr>
            <a:spLocks noGrp="1" noChangeArrowheads="1"/>
          </p:cNvSpPr>
          <p:nvPr>
            <p:ph type="title"/>
          </p:nvPr>
        </p:nvSpPr>
        <p:spPr/>
        <p:txBody>
          <a:bodyPr/>
          <a:lstStyle/>
          <a:p>
            <a:r>
              <a:rPr lang="ja-JP" altLang="ja-JP" dirty="0"/>
              <a:t>Torlai et al.：神经网络量子态层析，从测量样本重构波函数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C10F89A9-1CB0-2BEC-07F6-A9D7442D6556}"/>
                  </a:ext>
                </a:extLst>
              </p:cNvPr>
              <p:cNvSpPr>
                <a:spLocks noGrp="1"/>
              </p:cNvSpPr>
              <p:nvPr>
                <p:ph idx="1"/>
              </p:nvPr>
            </p:nvSpPr>
            <p:spPr>
              <a:xfrm>
                <a:off x="106680" y="990600"/>
                <a:ext cx="11877040" cy="5268402"/>
              </a:xfrm>
            </p:spPr>
            <p:txBody>
              <a:bodyPr/>
              <a:lstStyle/>
              <a:p>
                <a:r>
                  <a:rPr lang="ja-JP" altLang="ja-JP" dirty="0"/>
                  <a:t>量子态层析 QST 的目标是从测量数据中重构未知量子态。传统完整层析通常需要随系统规模指数增长的资源。Torlai 等用 RBM 表示量子态，并从不同测量基下的实验样本训练模型。论文明确说，QST 旨在从简单测量中重构完整量子态，而 brute-force 方法资源需求指数增长；他们展示机器学习可用于高纠缠量子态层析，并能从实验可访问测量中重构如 entanglement entropy 这样的多体量</a:t>
                </a:r>
                <a:endParaRPr lang="en-US" altLang="ja-JP" dirty="0"/>
              </a:p>
              <a:p>
                <a:pPr marL="0" indent="0">
                  <a:buNone/>
                </a:pPr>
                <a:r>
                  <a:rPr lang="ja-JP" altLang="ja-JP" dirty="0"/>
                  <a:t>他们使用的思想是：</a:t>
                </a:r>
                <a14:m>
                  <m:oMath xmlns:m="http://schemas.openxmlformats.org/officeDocument/2006/math">
                    <m:sSub>
                      <m:sSubPr>
                        <m:ctrlPr>
                          <a:rPr lang="ja-JP" altLang="en-US"/>
                        </m:ctrlPr>
                      </m:sSubPr>
                      <m:e>
                        <m:r>
                          <a:rPr lang="ja-JP" altLang="en-US" i="1"/>
                          <m:t>𝑝</m:t>
                        </m:r>
                      </m:e>
                      <m:sub>
                        <m:r>
                          <a:rPr lang="ja-JP" altLang="en-US" i="1"/>
                          <m:t>𝑏</m:t>
                        </m:r>
                      </m:sub>
                    </m:sSub>
                    <m:d>
                      <m:dPr>
                        <m:ctrlPr>
                          <a:rPr lang="ja-JP" altLang="en-US" i="1"/>
                        </m:ctrlPr>
                      </m:dPr>
                      <m:e>
                        <m:r>
                          <a:rPr lang="ja-JP" altLang="en-US" i="1"/>
                          <m:t>𝑠</m:t>
                        </m:r>
                      </m:e>
                    </m:d>
                    <m:r>
                      <a:rPr lang="en-US" altLang="ja-JP"/>
                      <m:t>=∣</m:t>
                    </m:r>
                    <m:d>
                      <m:dPr>
                        <m:begChr m:val="⟨"/>
                        <m:endChr m:val="⟩"/>
                        <m:ctrlPr>
                          <a:rPr lang="ja-JP" altLang="en-US" i="1"/>
                        </m:ctrlPr>
                      </m:dPr>
                      <m:e>
                        <m:sSub>
                          <m:sSubPr>
                            <m:ctrlPr>
                              <a:rPr lang="ja-JP" altLang="en-US" i="1"/>
                            </m:ctrlPr>
                          </m:sSubPr>
                          <m:e>
                            <m:r>
                              <a:rPr lang="ja-JP" altLang="en-US" i="1"/>
                              <m:t>𝑠</m:t>
                            </m:r>
                          </m:e>
                          <m:sub>
                            <m:r>
                              <a:rPr lang="ja-JP" altLang="en-US" i="1"/>
                              <m:t>𝑏</m:t>
                            </m:r>
                          </m:sub>
                        </m:sSub>
                        <m:r>
                          <a:rPr lang="ja-JP" altLang="en-US"/>
                          <m:t>∣</m:t>
                        </m:r>
                        <m:sSub>
                          <m:sSubPr>
                            <m:ctrlPr>
                              <a:rPr lang="ja-JP" altLang="en-US" i="1"/>
                            </m:ctrlPr>
                          </m:sSubPr>
                          <m:e>
                            <m:r>
                              <a:rPr lang="ja-JP" altLang="en-US" i="1"/>
                              <m:t>𝜓</m:t>
                            </m:r>
                          </m:e>
                          <m:sub>
                            <m:r>
                              <a:rPr lang="ja-JP" altLang="en-US" i="1"/>
                              <m:t>𝜃</m:t>
                            </m:r>
                          </m:sub>
                        </m:sSub>
                      </m:e>
                    </m:d>
                    <m:sSup>
                      <m:sSupPr>
                        <m:ctrlPr>
                          <a:rPr lang="ja-JP" altLang="en-US" i="1"/>
                        </m:ctrlPr>
                      </m:sSupPr>
                      <m:e>
                        <m:r>
                          <a:rPr lang="ja-JP" altLang="en-US"/>
                          <m:t>∣</m:t>
                        </m:r>
                      </m:e>
                      <m:sup>
                        <m:r>
                          <a:rPr lang="en-US" altLang="ja-JP"/>
                          <m:t>2</m:t>
                        </m:r>
                      </m:sup>
                    </m:sSup>
                    <m:r>
                      <a:rPr lang="en-US" altLang="ja-JP"/>
                      <m:t>,</m:t>
                    </m:r>
                  </m:oMath>
                </a14:m>
                <a:endParaRPr lang="en-US" altLang="ja-JP" dirty="0"/>
              </a:p>
              <a:p>
                <a:r>
                  <a:rPr lang="ja-JP" altLang="ja-JP" dirty="0"/>
                  <a:t>其中 </a:t>
                </a:r>
                <a14:m>
                  <m:oMath xmlns:m="http://schemas.openxmlformats.org/officeDocument/2006/math">
                    <m:r>
                      <a:rPr lang="ja-JP" altLang="en-US" i="1"/>
                      <m:t>𝑏</m:t>
                    </m:r>
                  </m:oMath>
                </a14:m>
                <a:r>
                  <a:rPr lang="ja-JP" altLang="ja-JP" dirty="0"/>
                  <a:t>表示测量基，</a:t>
                </a:r>
                <a14:m>
                  <m:oMath xmlns:m="http://schemas.openxmlformats.org/officeDocument/2006/math">
                    <m:r>
                      <a:rPr lang="ja-JP" altLang="en-US" i="1"/>
                      <m:t>𝑠</m:t>
                    </m:r>
                  </m:oMath>
                </a14:m>
                <a:r>
                  <a:rPr lang="ja-JP" altLang="ja-JP" dirty="0"/>
                  <a:t> 是该基下的测量结果。训练目标是让神经网络量子态在各个测量基下给出的分布 </a:t>
                </a:r>
                <a14:m>
                  <m:oMath xmlns:m="http://schemas.openxmlformats.org/officeDocument/2006/math">
                    <m:sSubSup>
                      <m:sSubSupPr>
                        <m:ctrlPr>
                          <a:rPr lang="ja-JP" altLang="en-US"/>
                        </m:ctrlPr>
                      </m:sSubSupPr>
                      <m:e>
                        <m:r>
                          <a:rPr lang="ja-JP" altLang="en-US" i="1"/>
                          <m:t>𝑝</m:t>
                        </m:r>
                      </m:e>
                      <m:sub>
                        <m:r>
                          <a:rPr lang="ja-JP" altLang="en-US" i="1"/>
                          <m:t>𝜃</m:t>
                        </m:r>
                      </m:sub>
                      <m:sup>
                        <m:r>
                          <a:rPr lang="ja-JP" altLang="en-US" i="1"/>
                          <m:t>𝑏</m:t>
                        </m:r>
                      </m:sup>
                    </m:sSubSup>
                    <m:d>
                      <m:dPr>
                        <m:ctrlPr>
                          <a:rPr lang="ja-JP" altLang="en-US" i="1"/>
                        </m:ctrlPr>
                      </m:dPr>
                      <m:e>
                        <m:r>
                          <a:rPr lang="ja-JP" altLang="en-US" i="1"/>
                          <m:t>𝑠</m:t>
                        </m:r>
                      </m:e>
                    </m:d>
                  </m:oMath>
                </a14:m>
                <a:r>
                  <a:rPr lang="ja-JP" altLang="ja-JP" dirty="0"/>
                  <a:t>接近真实实验分布。论文在附录中把训练目标写成各测量基上的 KL divergence 之和；训练完成后，神经网络给出目标波函数的紧凑表示，可用于计算观测量、overlap 等实验中不直接可见的信息。</a:t>
                </a:r>
                <a:endParaRPr lang="ja-JP" altLang="ja-JP" b="1" dirty="0"/>
              </a:p>
              <a:p>
                <a:pPr marL="0" indent="0">
                  <a:buNone/>
                </a:pPr>
                <a14:m>
                  <m:oMathPara xmlns:m="http://schemas.openxmlformats.org/officeDocument/2006/math">
                    <m:oMathParaPr>
                      <m:jc m:val="centerGroup"/>
                    </m:oMathParaPr>
                    <m:oMath xmlns:m="http://schemas.openxmlformats.org/officeDocument/2006/math">
                      <m:r>
                        <m:rPr>
                          <m:nor/>
                        </m:rPr>
                        <a:rPr lang="ja-JP" altLang="en-US" b="0"/>
                        <m:t>量子态层析</m:t>
                      </m:r>
                      <m:r>
                        <a:rPr lang="en-US" altLang="ja-JP"/>
                        <m:t>=</m:t>
                      </m:r>
                      <m:r>
                        <m:rPr>
                          <m:nor/>
                        </m:rPr>
                        <a:rPr lang="ja-JP" altLang="en-US"/>
                        <m:t>从一组测量泛函的输出反推 </m:t>
                      </m:r>
                      <m:r>
                        <m:rPr>
                          <m:nor/>
                        </m:rPr>
                        <a:rPr lang="en-US" altLang="ja-JP"/>
                        <m:t>Hilbert</m:t>
                      </m:r>
                      <m:r>
                        <m:rPr>
                          <m:nor/>
                        </m:rPr>
                        <a:rPr lang="en-US" altLang="ja-JP"/>
                        <m:t> </m:t>
                      </m:r>
                      <m:r>
                        <m:rPr>
                          <m:nor/>
                        </m:rPr>
                        <a:rPr lang="ja-JP" altLang="en-US"/>
                        <m:t>空间中的向量</m:t>
                      </m:r>
                      <m:r>
                        <a:rPr lang="en-US" altLang="ja-JP"/>
                        <m:t>.</m:t>
                      </m:r>
                    </m:oMath>
                  </m:oMathPara>
                </a14:m>
                <a:endParaRPr lang="en-US" altLang="ja-JP" dirty="0"/>
              </a:p>
              <a:p>
                <a:pPr marL="0" indent="0">
                  <a:buNone/>
                </a:pPr>
                <a:r>
                  <a:rPr lang="ja-JP" altLang="ja-JP" dirty="0"/>
                  <a:t>实验并不直接给你 </a:t>
                </a:r>
                <a14:m>
                  <m:oMath xmlns:m="http://schemas.openxmlformats.org/officeDocument/2006/math">
                    <m:d>
                      <m:dPr>
                        <m:begChr m:val=""/>
                        <m:endChr m:val="⟩"/>
                        <m:ctrlPr>
                          <a:rPr lang="ja-JP" altLang="en-US"/>
                        </m:ctrlPr>
                      </m:dPr>
                      <m:e>
                        <m:r>
                          <a:rPr lang="ja-JP" altLang="en-US"/>
                          <m:t>∣</m:t>
                        </m:r>
                        <m:r>
                          <a:rPr lang="ja-JP" altLang="en-US" i="1"/>
                          <m:t>𝜓</m:t>
                        </m:r>
                      </m:e>
                    </m:d>
                  </m:oMath>
                </a14:m>
                <a:r>
                  <a:rPr lang="ja-JP" altLang="ja-JP" dirty="0"/>
                  <a:t>，只给测量样本。每个测量基都提供关于 </a:t>
                </a:r>
                <a14:m>
                  <m:oMath xmlns:m="http://schemas.openxmlformats.org/officeDocument/2006/math">
                    <m:d>
                      <m:dPr>
                        <m:begChr m:val=""/>
                        <m:endChr m:val="⟩"/>
                        <m:ctrlPr>
                          <a:rPr lang="ja-JP" altLang="en-US"/>
                        </m:ctrlPr>
                      </m:dPr>
                      <m:e>
                        <m:r>
                          <a:rPr lang="ja-JP" altLang="en-US"/>
                          <m:t>∣</m:t>
                        </m:r>
                        <m:r>
                          <a:rPr lang="ja-JP" altLang="en-US" i="1"/>
                          <m:t>𝜓</m:t>
                        </m:r>
                      </m:e>
                    </m:d>
                  </m:oMath>
                </a14:m>
                <a:r>
                  <a:rPr lang="ja-JP" altLang="ja-JP" dirty="0"/>
                  <a:t>的某些投影信息。神经网络用紧凑参数化把这些信息拼起来，重构波函数。</a:t>
                </a:r>
              </a:p>
              <a:p>
                <a:r>
                  <a:rPr lang="ja-JP" altLang="ja-JP" dirty="0"/>
                  <a:t>它直接使用 raw measurement snapshots，而不是先估计大量期望值。论文指出，这避免了对算符均值低噪声估计的强要求。</a:t>
                </a:r>
              </a:p>
              <a:p>
                <a:r>
                  <a:rPr lang="ja-JP" altLang="ja-JP" dirty="0"/>
                  <a:t>它能重构难以直接测量的非局域量，例如 entanglement entropy。实验测量通常是局域或简单测量，但训练好的 </a:t>
                </a:r>
                <a14:m>
                  <m:oMath xmlns:m="http://schemas.openxmlformats.org/officeDocument/2006/math">
                    <m:sSub>
                      <m:sSubPr>
                        <m:ctrlPr>
                          <a:rPr lang="ja-JP" altLang="en-US"/>
                        </m:ctrlPr>
                      </m:sSubPr>
                      <m:e>
                        <m:r>
                          <a:rPr lang="ja-JP" altLang="en-US" i="1"/>
                          <m:t>𝜓</m:t>
                        </m:r>
                      </m:e>
                      <m:sub>
                        <m:r>
                          <a:rPr lang="ja-JP" altLang="en-US" i="1"/>
                          <m:t>𝜃</m:t>
                        </m:r>
                      </m:sub>
                    </m:sSub>
                  </m:oMath>
                </a14:m>
                <a:r>
                  <a:rPr lang="ja-JP" altLang="ja-JP" dirty="0"/>
                  <a:t>可以作为完整态的代理，用来计算复杂泛函。</a:t>
                </a:r>
              </a:p>
              <a:p>
                <a:r>
                  <a:rPr lang="ja-JP" altLang="ja-JP" dirty="0"/>
                  <a:t>它把 tomography 从“指数维线性反问题”转成“结构化函数学习问题”。前提是目标量子态具有可压缩结构。</a:t>
                </a:r>
              </a:p>
            </p:txBody>
          </p:sp>
        </mc:Choice>
        <mc:Fallback>
          <p:sp>
            <p:nvSpPr>
              <p:cNvPr id="12" name="コンテンツ プレースホルダー 2">
                <a:extLst>
                  <a:ext uri="{FF2B5EF4-FFF2-40B4-BE49-F238E27FC236}">
                    <a16:creationId xmlns:a16="http://schemas.microsoft.com/office/drawing/2014/main" id="{C10F89A9-1CB0-2BEC-07F6-A9D7442D6556}"/>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t="-1042" r="-513" b="-925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950749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79C15-7A28-5DD6-F803-89B7C740E023}"/>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A6627077-4DDB-5102-53A9-5487FF065480}"/>
              </a:ext>
            </a:extLst>
          </p:cNvPr>
          <p:cNvSpPr>
            <a:spLocks noGrp="1" noChangeArrowheads="1"/>
          </p:cNvSpPr>
          <p:nvPr>
            <p:ph type="title"/>
          </p:nvPr>
        </p:nvSpPr>
        <p:spPr/>
        <p:txBody>
          <a:bodyPr/>
          <a:lstStyle/>
          <a:p>
            <a:r>
              <a:rPr lang="ja-JP" altLang="ja-JP" dirty="0"/>
              <a:t>Torlai et al.：神经网络量子态层析，从测量样本重构波函数</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D724C89D-2139-19B3-391F-FA33583DD9C3}"/>
                  </a:ext>
                </a:extLst>
              </p:cNvPr>
              <p:cNvSpPr>
                <a:spLocks noGrp="1"/>
              </p:cNvSpPr>
              <p:nvPr>
                <p:ph idx="1"/>
              </p:nvPr>
            </p:nvSpPr>
            <p:spPr>
              <a:xfrm>
                <a:off x="106680" y="990600"/>
                <a:ext cx="11877040" cy="5268402"/>
              </a:xfrm>
            </p:spPr>
            <p:txBody>
              <a:bodyPr/>
              <a:lstStyle/>
              <a:p>
                <a:pPr marL="0" indent="0">
                  <a:buNone/>
                </a:pPr>
                <a:r>
                  <a:rPr lang="ja-JP" altLang="ja-JP" dirty="0"/>
                  <a:t>量子测量可以写成 Born rule：</a:t>
                </a:r>
              </a:p>
              <a:p>
                <a:pPr marL="0" indent="0">
                  <a:buNone/>
                </a:pPr>
                <a14:m>
                  <m:oMathPara xmlns:m="http://schemas.openxmlformats.org/officeDocument/2006/math">
                    <m:oMathParaPr>
                      <m:jc m:val="centerGroup"/>
                    </m:oMathParaPr>
                    <m:oMath xmlns:m="http://schemas.openxmlformats.org/officeDocument/2006/math">
                      <m:sSub>
                        <m:sSubPr>
                          <m:ctrlPr>
                            <a:rPr lang="ja-JP" altLang="en-US"/>
                          </m:ctrlPr>
                        </m:sSubPr>
                        <m:e>
                          <m:r>
                            <a:rPr lang="ja-JP" altLang="en-US" i="1"/>
                            <m:t>𝑝</m:t>
                          </m:r>
                        </m:e>
                        <m:sub>
                          <m:r>
                            <a:rPr lang="ja-JP" altLang="en-US" i="1"/>
                            <m:t>𝑚</m:t>
                          </m:r>
                        </m:sub>
                      </m:sSub>
                      <m:r>
                        <a:rPr lang="en-US" altLang="ja-JP"/>
                        <m:t>=</m:t>
                      </m:r>
                      <m:d>
                        <m:dPr>
                          <m:begChr m:val="⟨"/>
                          <m:endChr m:val="⟩"/>
                          <m:ctrlPr>
                            <a:rPr lang="ja-JP" altLang="en-US" i="1"/>
                          </m:ctrlPr>
                        </m:dPr>
                        <m:e>
                          <m:r>
                            <a:rPr lang="ja-JP" altLang="en-US" i="1"/>
                            <m:t>𝜓</m:t>
                          </m:r>
                          <m:r>
                            <a:rPr lang="ja-JP" altLang="en-US"/>
                            <m:t>∣</m:t>
                          </m:r>
                          <m:sSub>
                            <m:sSubPr>
                              <m:ctrlPr>
                                <a:rPr lang="ja-JP" altLang="en-US" i="1"/>
                              </m:ctrlPr>
                            </m:sSubPr>
                            <m:e>
                              <m:r>
                                <a:rPr lang="ja-JP" altLang="en-US" i="1"/>
                                <m:t>𝑀</m:t>
                              </m:r>
                            </m:e>
                            <m:sub>
                              <m:r>
                                <a:rPr lang="ja-JP" altLang="en-US" i="1"/>
                                <m:t>𝑚</m:t>
                              </m:r>
                            </m:sub>
                          </m:sSub>
                          <m:r>
                            <a:rPr lang="ja-JP" altLang="en-US"/>
                            <m:t>∣</m:t>
                          </m:r>
                          <m:r>
                            <a:rPr lang="ja-JP" altLang="en-US" i="1"/>
                            <m:t>𝜓</m:t>
                          </m:r>
                        </m:e>
                      </m:d>
                    </m:oMath>
                  </m:oMathPara>
                </a14:m>
                <a:endParaRPr lang="ja-JP" altLang="en-US" dirty="0"/>
              </a:p>
              <a:p>
                <a:pPr marL="0" indent="0">
                  <a:buNone/>
                </a:pPr>
                <a:r>
                  <a:rPr lang="ja-JP" altLang="ja-JP" dirty="0"/>
                  <a:t>或对密度矩阵：</a:t>
                </a:r>
              </a:p>
              <a:p>
                <a:pPr marL="0" indent="0">
                  <a:buNone/>
                </a:pPr>
                <a14:m>
                  <m:oMathPara xmlns:m="http://schemas.openxmlformats.org/officeDocument/2006/math">
                    <m:oMathParaPr>
                      <m:jc m:val="centerGroup"/>
                    </m:oMathParaPr>
                    <m:oMath xmlns:m="http://schemas.openxmlformats.org/officeDocument/2006/math">
                      <m:sSub>
                        <m:sSubPr>
                          <m:ctrlPr>
                            <a:rPr lang="ja-JP" altLang="en-US"/>
                          </m:ctrlPr>
                        </m:sSubPr>
                        <m:e>
                          <m:r>
                            <a:rPr lang="ja-JP" altLang="en-US" i="1"/>
                            <m:t>𝑝</m:t>
                          </m:r>
                        </m:e>
                        <m:sub>
                          <m:r>
                            <a:rPr lang="ja-JP" altLang="en-US" i="1"/>
                            <m:t>𝑚</m:t>
                          </m:r>
                        </m:sub>
                      </m:sSub>
                      <m:r>
                        <a:rPr lang="en-US" altLang="ja-JP"/>
                        <m:t>=</m:t>
                      </m:r>
                      <m:r>
                        <m:rPr>
                          <m:sty m:val="p"/>
                        </m:rPr>
                        <a:rPr lang="en-US" altLang="ja-JP"/>
                        <m:t>Tr</m:t>
                      </m:r>
                      <m:r>
                        <a:rPr lang="en-US" altLang="ja-JP"/>
                        <m:t>⁡</m:t>
                      </m:r>
                      <m:d>
                        <m:dPr>
                          <m:ctrlPr>
                            <a:rPr lang="ja-JP" altLang="en-US" i="1"/>
                          </m:ctrlPr>
                        </m:dPr>
                        <m:e>
                          <m:sSub>
                            <m:sSubPr>
                              <m:ctrlPr>
                                <a:rPr lang="ja-JP" altLang="en-US" i="1"/>
                              </m:ctrlPr>
                            </m:sSubPr>
                            <m:e>
                              <m:r>
                                <a:rPr lang="ja-JP" altLang="en-US" i="1"/>
                                <m:t>𝑀</m:t>
                              </m:r>
                            </m:e>
                            <m:sub>
                              <m:r>
                                <a:rPr lang="ja-JP" altLang="en-US" i="1"/>
                                <m:t>𝑚</m:t>
                              </m:r>
                            </m:sub>
                          </m:sSub>
                          <m:r>
                            <a:rPr lang="ja-JP" altLang="en-US" i="1"/>
                            <m:t>𝜌</m:t>
                          </m:r>
                        </m:e>
                      </m:d>
                      <m:r>
                        <a:rPr lang="en-US" altLang="ja-JP"/>
                        <m:t>.</m:t>
                      </m:r>
                    </m:oMath>
                  </m:oMathPara>
                </a14:m>
                <a:endParaRPr lang="en-US" altLang="ja-JP" dirty="0"/>
              </a:p>
              <a:p>
                <a:pPr marL="0" indent="0">
                  <a:buNone/>
                </a:pPr>
                <a:r>
                  <a:rPr lang="ja-JP" altLang="ja-JP" dirty="0"/>
                  <a:t>对 </a:t>
                </a:r>
                <a14:m>
                  <m:oMath xmlns:m="http://schemas.openxmlformats.org/officeDocument/2006/math">
                    <m:r>
                      <a:rPr lang="ja-JP" altLang="en-US" i="1"/>
                      <m:t>𝜌</m:t>
                    </m:r>
                  </m:oMath>
                </a14:m>
                <a:r>
                  <a:rPr lang="ja-JP" altLang="ja-JP" dirty="0"/>
                  <a:t>来说，这是线性泛函；对 </a:t>
                </a:r>
                <a14:m>
                  <m:oMath xmlns:m="http://schemas.openxmlformats.org/officeDocument/2006/math">
                    <m:r>
                      <a:rPr lang="ja-JP" altLang="en-US" i="1"/>
                      <m:t>𝜓</m:t>
                    </m:r>
                  </m:oMath>
                </a14:m>
                <a:r>
                  <a:rPr lang="ja-JP" altLang="ja-JP" dirty="0"/>
                  <a:t>来说，这是二次泛函。</a:t>
                </a:r>
                <a:br>
                  <a:rPr lang="ja-JP" altLang="ja-JP" dirty="0"/>
                </a:br>
                <a:r>
                  <a:rPr lang="ja-JP" altLang="ja-JP" dirty="0"/>
                  <a:t>QST 的任务是：找到一个 </a:t>
                </a:r>
                <a14:m>
                  <m:oMath xmlns:m="http://schemas.openxmlformats.org/officeDocument/2006/math">
                    <m:r>
                      <a:rPr lang="ja-JP" altLang="en-US" i="1"/>
                      <m:t>𝜌</m:t>
                    </m:r>
                  </m:oMath>
                </a14:m>
                <a:r>
                  <a:rPr lang="ja-JP" altLang="ja-JP" dirty="0"/>
                  <a:t>或 </a:t>
                </a:r>
                <a14:m>
                  <m:oMath xmlns:m="http://schemas.openxmlformats.org/officeDocument/2006/math">
                    <m:r>
                      <a:rPr lang="ja-JP" altLang="en-US" i="1"/>
                      <m:t>𝜓</m:t>
                    </m:r>
                  </m:oMath>
                </a14:m>
                <a:r>
                  <a:rPr lang="ja-JP" altLang="ja-JP" dirty="0"/>
                  <a:t>，使这些测量泛函的输出与数据一致。</a:t>
                </a:r>
              </a:p>
              <a:p>
                <a:pPr marL="0" indent="0">
                  <a:buNone/>
                </a:pPr>
                <a:endParaRPr lang="en-US" altLang="ja-JP" dirty="0"/>
              </a:p>
              <a:p>
                <a:pPr marL="0" indent="0">
                  <a:buNone/>
                </a:pPr>
                <a:r>
                  <a:rPr lang="ja-JP" altLang="ja-JP" dirty="0"/>
                  <a:t>Torlai 等用 RBM 给出 </a:t>
                </a:r>
                <a14:m>
                  <m:oMath xmlns:m="http://schemas.openxmlformats.org/officeDocument/2006/math">
                    <m:sSub>
                      <m:sSubPr>
                        <m:ctrlPr>
                          <a:rPr lang="ja-JP" altLang="en-US"/>
                        </m:ctrlPr>
                      </m:sSubPr>
                      <m:e>
                        <m:r>
                          <a:rPr lang="ja-JP" altLang="en-US" i="1"/>
                          <m:t>𝜓</m:t>
                        </m:r>
                      </m:e>
                      <m:sub>
                        <m:r>
                          <a:rPr lang="ja-JP" altLang="en-US" i="1"/>
                          <m:t>𝜃</m:t>
                        </m:r>
                      </m:sub>
                    </m:sSub>
                  </m:oMath>
                </a14:m>
                <a:r>
                  <a:rPr lang="ja-JP" altLang="ja-JP" dirty="0"/>
                  <a:t>，然后让不同测量基下的概率分布匹配实验样本。换句话说，它是在 Hilbert 空间中寻找一个向量，使一组投影泛函、概率泛函、观测量泛函都近似正确。</a:t>
                </a:r>
              </a:p>
            </p:txBody>
          </p:sp>
        </mc:Choice>
        <mc:Fallback>
          <p:sp>
            <p:nvSpPr>
              <p:cNvPr id="12" name="コンテンツ プレースホルダー 2">
                <a:extLst>
                  <a:ext uri="{FF2B5EF4-FFF2-40B4-BE49-F238E27FC236}">
                    <a16:creationId xmlns:a16="http://schemas.microsoft.com/office/drawing/2014/main" id="{D724C89D-2139-19B3-391F-FA33583DD9C3}"/>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t="-104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3770146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5F776-94BB-4C44-640A-899E39ABA5C5}"/>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F3D0D4D1-221B-9DE0-0A20-B377949B6F18}"/>
              </a:ext>
            </a:extLst>
          </p:cNvPr>
          <p:cNvSpPr>
            <a:spLocks noGrp="1" noChangeArrowheads="1"/>
          </p:cNvSpPr>
          <p:nvPr>
            <p:ph type="title"/>
          </p:nvPr>
        </p:nvSpPr>
        <p:spPr/>
        <p:txBody>
          <a:bodyPr/>
          <a:lstStyle/>
          <a:p>
            <a:r>
              <a:rPr lang="ja-JP" altLang="ja-JP" dirty="0"/>
              <a:t>Stoudenmire &amp; Schwab：MPS 是监督学习中线性泛函的低秩压缩</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B5C0E384-2027-D724-5FFD-70E4B9586E0D}"/>
                  </a:ext>
                </a:extLst>
              </p:cNvPr>
              <p:cNvSpPr>
                <a:spLocks noGrp="1"/>
              </p:cNvSpPr>
              <p:nvPr>
                <p:ph idx="1"/>
              </p:nvPr>
            </p:nvSpPr>
            <p:spPr>
              <a:xfrm>
                <a:off x="106680" y="990600"/>
                <a:ext cx="11877040" cy="5268402"/>
              </a:xfrm>
            </p:spPr>
            <p:txBody>
              <a:bodyPr/>
              <a:lstStyle/>
              <a:p>
                <a:r>
                  <a:rPr lang="ja-JP" altLang="ja-JP" dirty="0"/>
                  <a:t>论文把图像 </a:t>
                </a:r>
                <a14:m>
                  <m:oMath xmlns:m="http://schemas.openxmlformats.org/officeDocument/2006/math">
                    <m:r>
                      <a:rPr lang="ja-JP" altLang="en-US" i="1"/>
                      <m:t>𝑥</m:t>
                    </m:r>
                    <m:r>
                      <a:rPr lang="en-US" altLang="ja-JP"/>
                      <m:t>=</m:t>
                    </m:r>
                    <m:d>
                      <m:dPr>
                        <m:sepChr m:val=","/>
                        <m:ctrlPr>
                          <a:rPr lang="ja-JP" altLang="en-US" i="1"/>
                        </m:ctrlPr>
                      </m:dPr>
                      <m:e>
                        <m:sSub>
                          <m:sSubPr>
                            <m:ctrlPr>
                              <a:rPr lang="ja-JP" altLang="en-US" i="1"/>
                            </m:ctrlPr>
                          </m:sSubPr>
                          <m:e>
                            <m:r>
                              <a:rPr lang="ja-JP" altLang="en-US" i="1"/>
                              <m:t>𝑥</m:t>
                            </m:r>
                          </m:e>
                          <m:sub>
                            <m:r>
                              <a:rPr lang="en-US" altLang="ja-JP"/>
                              <m:t>1</m:t>
                            </m:r>
                          </m:sub>
                        </m:sSub>
                      </m:e>
                      <m:e>
                        <m:r>
                          <a:rPr lang="en-US" altLang="ja-JP"/>
                          <m:t>…</m:t>
                        </m:r>
                      </m:e>
                      <m:e>
                        <m:sSub>
                          <m:sSubPr>
                            <m:ctrlPr>
                              <a:rPr lang="ja-JP" altLang="en-US" i="1"/>
                            </m:ctrlPr>
                          </m:sSubPr>
                          <m:e>
                            <m:r>
                              <a:rPr lang="ja-JP" altLang="en-US" i="1"/>
                              <m:t>𝑥</m:t>
                            </m:r>
                          </m:e>
                          <m:sub>
                            <m:r>
                              <a:rPr lang="ja-JP" altLang="en-US" i="1"/>
                              <m:t>𝑁</m:t>
                            </m:r>
                          </m:sub>
                        </m:sSub>
                      </m:e>
                    </m:d>
                  </m:oMath>
                </a14:m>
                <a:r>
                  <a:rPr lang="ja-JP" altLang="ja-JP" dirty="0"/>
                  <a:t>逐像素映射到局部特征向量：</a:t>
                </a:r>
                <a14:m>
                  <m:oMath xmlns:m="http://schemas.openxmlformats.org/officeDocument/2006/math">
                    <m:sSub>
                      <m:sSubPr>
                        <m:ctrlPr>
                          <a:rPr lang="ja-JP" altLang="en-US"/>
                        </m:ctrlPr>
                      </m:sSubPr>
                      <m:e>
                        <m:r>
                          <a:rPr lang="ja-JP" altLang="en-US" i="1"/>
                          <m:t>𝑥</m:t>
                        </m:r>
                      </m:e>
                      <m:sub>
                        <m:r>
                          <a:rPr lang="ja-JP" altLang="en-US" i="1"/>
                          <m:t>𝑖</m:t>
                        </m:r>
                      </m:sub>
                    </m:sSub>
                    <m:r>
                      <a:rPr lang="ja-JP" altLang="en-US"/>
                      <m:t>↦</m:t>
                    </m:r>
                    <m:r>
                      <a:rPr lang="ja-JP" altLang="en-US" i="1"/>
                      <m:t>𝜙</m:t>
                    </m:r>
                    <m:d>
                      <m:dPr>
                        <m:ctrlPr>
                          <a:rPr lang="ja-JP" altLang="en-US" i="1"/>
                        </m:ctrlPr>
                      </m:dPr>
                      <m:e>
                        <m:sSub>
                          <m:sSubPr>
                            <m:ctrlPr>
                              <a:rPr lang="ja-JP" altLang="en-US" i="1"/>
                            </m:ctrlPr>
                          </m:sSubPr>
                          <m:e>
                            <m:r>
                              <a:rPr lang="ja-JP" altLang="en-US" i="1"/>
                              <m:t>𝑥</m:t>
                            </m:r>
                          </m:e>
                          <m:sub>
                            <m:r>
                              <a:rPr lang="ja-JP" altLang="en-US" i="1"/>
                              <m:t>𝑖</m:t>
                            </m:r>
                          </m:sub>
                        </m:sSub>
                      </m:e>
                    </m:d>
                    <m:r>
                      <a:rPr lang="ja-JP" altLang="en-US"/>
                      <m:t>∈</m:t>
                    </m:r>
                    <m:sSup>
                      <m:sSupPr>
                        <m:ctrlPr>
                          <a:rPr lang="ja-JP" altLang="en-US" i="1"/>
                        </m:ctrlPr>
                      </m:sSupPr>
                      <m:e>
                        <m:r>
                          <a:rPr lang="en-US" altLang="ja-JP"/>
                          <m:t>ℝ</m:t>
                        </m:r>
                      </m:e>
                      <m:sup>
                        <m:r>
                          <a:rPr lang="ja-JP" altLang="en-US" i="1"/>
                          <m:t>𝑑</m:t>
                        </m:r>
                      </m:sup>
                    </m:sSup>
                    <m:r>
                      <a:rPr lang="en-US" altLang="ja-JP"/>
                      <m:t>,</m:t>
                    </m:r>
                  </m:oMath>
                </a14:m>
                <a:endParaRPr lang="en-US" altLang="ja-JP" dirty="0"/>
              </a:p>
              <a:p>
                <a:r>
                  <a:rPr lang="ja-JP" altLang="ja-JP" dirty="0"/>
                  <a:t>然后做张量积：</a:t>
                </a:r>
                <a14:m>
                  <m:oMath xmlns:m="http://schemas.openxmlformats.org/officeDocument/2006/math">
                    <m:r>
                      <m:rPr>
                        <m:sty m:val="p"/>
                      </m:rPr>
                      <a:rPr lang="en-US" altLang="ja-JP"/>
                      <m:t>Φ</m:t>
                    </m:r>
                    <m:d>
                      <m:dPr>
                        <m:ctrlPr>
                          <a:rPr lang="ja-JP" altLang="en-US" i="1"/>
                        </m:ctrlPr>
                      </m:dPr>
                      <m:e>
                        <m:r>
                          <a:rPr lang="ja-JP" altLang="en-US" i="1"/>
                          <m:t>𝑥</m:t>
                        </m:r>
                      </m:e>
                    </m:d>
                    <m:r>
                      <a:rPr lang="en-US" altLang="ja-JP"/>
                      <m:t>=</m:t>
                    </m:r>
                    <m:r>
                      <a:rPr lang="ja-JP" altLang="en-US" i="1"/>
                      <m:t>𝜙</m:t>
                    </m:r>
                    <m:d>
                      <m:dPr>
                        <m:ctrlPr>
                          <a:rPr lang="ja-JP" altLang="en-US" i="1"/>
                        </m:ctrlPr>
                      </m:dPr>
                      <m:e>
                        <m:sSub>
                          <m:sSubPr>
                            <m:ctrlPr>
                              <a:rPr lang="ja-JP" altLang="en-US" i="1"/>
                            </m:ctrlPr>
                          </m:sSubPr>
                          <m:e>
                            <m:r>
                              <a:rPr lang="ja-JP" altLang="en-US" i="1"/>
                              <m:t>𝑥</m:t>
                            </m:r>
                          </m:e>
                          <m:sub>
                            <m:r>
                              <a:rPr lang="en-US" altLang="ja-JP"/>
                              <m:t>1</m:t>
                            </m:r>
                          </m:sub>
                        </m:sSub>
                      </m:e>
                    </m:d>
                    <m:nary>
                      <m:naryPr>
                        <m:chr m:val="⊗"/>
                        <m:subHide m:val="on"/>
                        <m:supHide m:val="on"/>
                        <m:ctrlPr>
                          <a:rPr lang="ja-JP" altLang="en-US" i="1"/>
                        </m:ctrlPr>
                      </m:naryPr>
                      <m:sub/>
                      <m:sup/>
                      <m:e>
                        <m:r>
                          <a:rPr lang="ja-JP" altLang="en-US" i="1"/>
                          <m:t>𝜙</m:t>
                        </m:r>
                      </m:e>
                    </m:nary>
                    <m:d>
                      <m:dPr>
                        <m:ctrlPr>
                          <a:rPr lang="ja-JP" altLang="en-US" i="1"/>
                        </m:ctrlPr>
                      </m:dPr>
                      <m:e>
                        <m:sSub>
                          <m:sSubPr>
                            <m:ctrlPr>
                              <a:rPr lang="ja-JP" altLang="en-US" i="1"/>
                            </m:ctrlPr>
                          </m:sSubPr>
                          <m:e>
                            <m:r>
                              <a:rPr lang="ja-JP" altLang="en-US" i="1"/>
                              <m:t>𝑥</m:t>
                            </m:r>
                          </m:e>
                          <m:sub>
                            <m:r>
                              <a:rPr lang="en-US" altLang="ja-JP"/>
                              <m:t>2</m:t>
                            </m:r>
                          </m:sub>
                        </m:sSub>
                      </m:e>
                    </m:d>
                    <m:nary>
                      <m:naryPr>
                        <m:chr m:val="⊗"/>
                        <m:subHide m:val="on"/>
                        <m:supHide m:val="on"/>
                        <m:ctrlPr>
                          <a:rPr lang="ja-JP" altLang="en-US" i="1"/>
                        </m:ctrlPr>
                      </m:naryPr>
                      <m:sub/>
                      <m:sup/>
                      <m:e>
                        <m:r>
                          <a:rPr lang="ja-JP" altLang="en-US"/>
                          <m:t>⋯</m:t>
                        </m:r>
                      </m:e>
                    </m:nary>
                    <m:nary>
                      <m:naryPr>
                        <m:chr m:val="⊗"/>
                        <m:subHide m:val="on"/>
                        <m:supHide m:val="on"/>
                        <m:ctrlPr>
                          <a:rPr lang="ja-JP" altLang="en-US" i="1"/>
                        </m:ctrlPr>
                      </m:naryPr>
                      <m:sub/>
                      <m:sup/>
                      <m:e>
                        <m:r>
                          <a:rPr lang="ja-JP" altLang="en-US" i="1"/>
                          <m:t>𝜙</m:t>
                        </m:r>
                      </m:e>
                    </m:nary>
                    <m:d>
                      <m:dPr>
                        <m:ctrlPr>
                          <a:rPr lang="ja-JP" altLang="en-US" i="1"/>
                        </m:ctrlPr>
                      </m:dPr>
                      <m:e>
                        <m:sSub>
                          <m:sSubPr>
                            <m:ctrlPr>
                              <a:rPr lang="ja-JP" altLang="en-US" i="1"/>
                            </m:ctrlPr>
                          </m:sSubPr>
                          <m:e>
                            <m:r>
                              <a:rPr lang="ja-JP" altLang="en-US" i="1"/>
                              <m:t>𝑥</m:t>
                            </m:r>
                          </m:e>
                          <m:sub>
                            <m:r>
                              <a:rPr lang="ja-JP" altLang="en-US" i="1"/>
                              <m:t>𝑁</m:t>
                            </m:r>
                          </m:sub>
                        </m:sSub>
                      </m:e>
                    </m:d>
                    <m:r>
                      <a:rPr lang="en-US" altLang="ja-JP"/>
                      <m:t>.</m:t>
                    </m:r>
                  </m:oMath>
                </a14:m>
                <a:endParaRPr lang="en-US" altLang="ja-JP" dirty="0"/>
              </a:p>
              <a:p>
                <a:r>
                  <a:rPr lang="ja-JP" altLang="ja-JP" dirty="0"/>
                  <a:t>这个 </a:t>
                </a:r>
                <a14:m>
                  <m:oMath xmlns:m="http://schemas.openxmlformats.org/officeDocument/2006/math">
                    <m:r>
                      <m:rPr>
                        <m:sty m:val="p"/>
                      </m:rPr>
                      <a:rPr lang="en-US" altLang="ja-JP"/>
                      <m:t>Φ</m:t>
                    </m:r>
                    <m:d>
                      <m:dPr>
                        <m:ctrlPr>
                          <a:rPr lang="ja-JP" altLang="en-US" i="1"/>
                        </m:ctrlPr>
                      </m:dPr>
                      <m:e>
                        <m:r>
                          <a:rPr lang="ja-JP" altLang="en-US" i="1"/>
                          <m:t>𝑥</m:t>
                        </m:r>
                      </m:e>
                    </m:d>
                  </m:oMath>
                </a14:m>
                <a:r>
                  <a:rPr lang="ja-JP" altLang="ja-JP" dirty="0"/>
                  <a:t>是一个 </a:t>
                </a:r>
                <a14:m>
                  <m:oMath xmlns:m="http://schemas.openxmlformats.org/officeDocument/2006/math">
                    <m:sSup>
                      <m:sSupPr>
                        <m:ctrlPr>
                          <a:rPr lang="ja-JP" altLang="en-US"/>
                        </m:ctrlPr>
                      </m:sSupPr>
                      <m:e>
                        <m:r>
                          <a:rPr lang="ja-JP" altLang="en-US" i="1"/>
                          <m:t>𝑑</m:t>
                        </m:r>
                      </m:e>
                      <m:sup>
                        <m:r>
                          <a:rPr lang="ja-JP" altLang="en-US" i="1"/>
                          <m:t>𝑁</m:t>
                        </m:r>
                      </m:sup>
                    </m:sSup>
                  </m:oMath>
                </a14:m>
                <a:r>
                  <a:rPr lang="ja-JP" altLang="ja-JP" dirty="0"/>
                  <a:t>维向量，也可以看作 </a:t>
                </a:r>
                <a14:m>
                  <m:oMath xmlns:m="http://schemas.openxmlformats.org/officeDocument/2006/math">
                    <m:r>
                      <a:rPr lang="ja-JP" altLang="en-US" i="1"/>
                      <m:t>𝑁</m:t>
                    </m:r>
                  </m:oMath>
                </a14:m>
                <a:r>
                  <a:rPr lang="ja-JP" altLang="ja-JP" dirty="0"/>
                  <a:t>阶张量。分类函数是：</a:t>
                </a:r>
                <a14:m>
                  <m:oMath xmlns:m="http://schemas.openxmlformats.org/officeDocument/2006/math">
                    <m:sSub>
                      <m:sSubPr>
                        <m:ctrlPr>
                          <a:rPr lang="ja-JP" altLang="en-US"/>
                        </m:ctrlPr>
                      </m:sSubPr>
                      <m:e>
                        <m:r>
                          <a:rPr lang="ja-JP" altLang="en-US" i="1"/>
                          <m:t>𝑓</m:t>
                        </m:r>
                      </m:e>
                      <m:sub>
                        <m:r>
                          <a:rPr lang="en-US" altLang="ja-JP"/>
                          <m:t>ℓ</m:t>
                        </m:r>
                      </m:sub>
                    </m:sSub>
                    <m:d>
                      <m:dPr>
                        <m:ctrlPr>
                          <a:rPr lang="ja-JP" altLang="en-US" i="1"/>
                        </m:ctrlPr>
                      </m:dPr>
                      <m:e>
                        <m:r>
                          <a:rPr lang="ja-JP" altLang="en-US" i="1"/>
                          <m:t>𝑥</m:t>
                        </m:r>
                      </m:e>
                    </m:d>
                    <m:r>
                      <a:rPr lang="en-US" altLang="ja-JP"/>
                      <m:t>=</m:t>
                    </m:r>
                    <m:d>
                      <m:dPr>
                        <m:begChr m:val="⟨"/>
                        <m:endChr m:val="⟩"/>
                        <m:sepChr m:val=","/>
                        <m:ctrlPr>
                          <a:rPr lang="ja-JP" altLang="en-US" i="1"/>
                        </m:ctrlPr>
                      </m:dPr>
                      <m:e>
                        <m:sSub>
                          <m:sSubPr>
                            <m:ctrlPr>
                              <a:rPr lang="ja-JP" altLang="en-US" i="1"/>
                            </m:ctrlPr>
                          </m:sSubPr>
                          <m:e>
                            <m:r>
                              <a:rPr lang="ja-JP" altLang="en-US" i="1"/>
                              <m:t>𝑊</m:t>
                            </m:r>
                          </m:e>
                          <m:sub>
                            <m:r>
                              <a:rPr lang="en-US" altLang="ja-JP"/>
                              <m:t>ℓ</m:t>
                            </m:r>
                          </m:sub>
                        </m:sSub>
                      </m:e>
                      <m:e>
                        <m:r>
                          <m:rPr>
                            <m:sty m:val="p"/>
                          </m:rPr>
                          <a:rPr lang="en-US" altLang="ja-JP"/>
                          <m:t>Φ</m:t>
                        </m:r>
                        <m:d>
                          <m:dPr>
                            <m:ctrlPr>
                              <a:rPr lang="ja-JP" altLang="en-US" i="1"/>
                            </m:ctrlPr>
                          </m:dPr>
                          <m:e>
                            <m:r>
                              <a:rPr lang="ja-JP" altLang="en-US" i="1"/>
                              <m:t>𝑥</m:t>
                            </m:r>
                          </m:e>
                        </m:d>
                      </m:e>
                    </m:d>
                    <m:r>
                      <a:rPr lang="en-US" altLang="ja-JP"/>
                      <m:t>,</m:t>
                    </m:r>
                  </m:oMath>
                </a14:m>
                <a:r>
                  <a:rPr lang="en-US" altLang="ja-JP" dirty="0"/>
                  <a:t> </a:t>
                </a:r>
                <a:r>
                  <a:rPr lang="ja-JP" altLang="ja-JP" dirty="0"/>
                  <a:t>其中 </a:t>
                </a:r>
                <a14:m>
                  <m:oMath xmlns:m="http://schemas.openxmlformats.org/officeDocument/2006/math">
                    <m:r>
                      <a:rPr lang="en-US" altLang="ja-JP"/>
                      <m:t>ℓ</m:t>
                    </m:r>
                  </m:oMath>
                </a14:m>
                <a:r>
                  <a:rPr lang="ja-JP" altLang="ja-JP" dirty="0"/>
                  <a:t>是类别，</a:t>
                </a:r>
                <a14:m>
                  <m:oMath xmlns:m="http://schemas.openxmlformats.org/officeDocument/2006/math">
                    <m:sSub>
                      <m:sSubPr>
                        <m:ctrlPr>
                          <a:rPr lang="ja-JP" altLang="en-US"/>
                        </m:ctrlPr>
                      </m:sSubPr>
                      <m:e>
                        <m:r>
                          <a:rPr lang="ja-JP" altLang="en-US" i="1"/>
                          <m:t>𝑊</m:t>
                        </m:r>
                      </m:e>
                      <m:sub>
                        <m:r>
                          <a:rPr lang="en-US" altLang="ja-JP"/>
                          <m:t>ℓ</m:t>
                        </m:r>
                      </m:sub>
                    </m:sSub>
                  </m:oMath>
                </a14:m>
                <a:r>
                  <a:rPr lang="ja-JP" altLang="ja-JP" dirty="0"/>
                  <a:t> 是权重张量。</a:t>
                </a:r>
              </a:p>
              <a:p>
                <a:r>
                  <a:rPr lang="ja-JP" altLang="ja-JP" dirty="0"/>
                  <a:t>问题是 </a:t>
                </a:r>
                <a14:m>
                  <m:oMath xmlns:m="http://schemas.openxmlformats.org/officeDocument/2006/math">
                    <m:sSub>
                      <m:sSubPr>
                        <m:ctrlPr>
                          <a:rPr lang="ja-JP" altLang="en-US"/>
                        </m:ctrlPr>
                      </m:sSubPr>
                      <m:e>
                        <m:r>
                          <a:rPr lang="ja-JP" altLang="en-US" i="1"/>
                          <m:t>𝑊</m:t>
                        </m:r>
                      </m:e>
                      <m:sub>
                        <m:r>
                          <a:rPr lang="en-US" altLang="ja-JP"/>
                          <m:t>ℓ</m:t>
                        </m:r>
                      </m:sub>
                    </m:sSub>
                  </m:oMath>
                </a14:m>
                <a:r>
                  <a:rPr lang="ja-JP" altLang="ja-JP" dirty="0"/>
                  <a:t>太大，因此用 MPS / tensor train 压缩：</a:t>
                </a:r>
                <a14:m>
                  <m:oMath xmlns:m="http://schemas.openxmlformats.org/officeDocument/2006/math">
                    <m:sSubSup>
                      <m:sSubSupPr>
                        <m:ctrlPr>
                          <a:rPr lang="ja-JP" altLang="en-US"/>
                        </m:ctrlPr>
                      </m:sSubSupPr>
                      <m:e>
                        <m:r>
                          <a:rPr lang="ja-JP" altLang="en-US" i="1"/>
                          <m:t>𝑊</m:t>
                        </m:r>
                      </m:e>
                      <m:sub>
                        <m:r>
                          <a:rPr lang="en-US" altLang="ja-JP"/>
                          <m:t>ℓ</m:t>
                        </m:r>
                      </m:sub>
                      <m:sup>
                        <m:sSub>
                          <m:sSubPr>
                            <m:ctrlPr>
                              <a:rPr lang="ja-JP" altLang="en-US" i="1"/>
                            </m:ctrlPr>
                          </m:sSubPr>
                          <m:e>
                            <m:r>
                              <a:rPr lang="ja-JP" altLang="en-US" i="1"/>
                              <m:t>𝑠</m:t>
                            </m:r>
                          </m:e>
                          <m:sub>
                            <m:r>
                              <a:rPr lang="en-US" altLang="ja-JP"/>
                              <m:t>1</m:t>
                            </m:r>
                          </m:sub>
                        </m:sSub>
                        <m:sSub>
                          <m:sSubPr>
                            <m:ctrlPr>
                              <a:rPr lang="ja-JP" altLang="en-US" i="1"/>
                            </m:ctrlPr>
                          </m:sSubPr>
                          <m:e>
                            <m:r>
                              <a:rPr lang="ja-JP" altLang="en-US" i="1"/>
                              <m:t>𝑠</m:t>
                            </m:r>
                          </m:e>
                          <m:sub>
                            <m:r>
                              <a:rPr lang="en-US" altLang="ja-JP"/>
                              <m:t>2</m:t>
                            </m:r>
                          </m:sub>
                        </m:sSub>
                        <m:r>
                          <a:rPr lang="ja-JP" altLang="en-US"/>
                          <m:t>⋯</m:t>
                        </m:r>
                        <m:sSub>
                          <m:sSubPr>
                            <m:ctrlPr>
                              <a:rPr lang="ja-JP" altLang="en-US" i="1"/>
                            </m:ctrlPr>
                          </m:sSubPr>
                          <m:e>
                            <m:r>
                              <a:rPr lang="ja-JP" altLang="en-US" i="1"/>
                              <m:t>𝑠</m:t>
                            </m:r>
                          </m:e>
                          <m:sub>
                            <m:r>
                              <a:rPr lang="ja-JP" altLang="en-US" i="1"/>
                              <m:t>𝑁</m:t>
                            </m:r>
                          </m:sub>
                        </m:sSub>
                      </m:sup>
                    </m:sSubSup>
                    <m:r>
                      <a:rPr lang="ja-JP" altLang="en-US"/>
                      <m:t>≈</m:t>
                    </m:r>
                    <m:sSubSup>
                      <m:sSubSupPr>
                        <m:ctrlPr>
                          <a:rPr lang="ja-JP" altLang="en-US" i="1"/>
                        </m:ctrlPr>
                      </m:sSubSupPr>
                      <m:e>
                        <m:r>
                          <a:rPr lang="ja-JP" altLang="en-US" i="1"/>
                          <m:t>𝐴</m:t>
                        </m:r>
                      </m:e>
                      <m:sub>
                        <m:r>
                          <a:rPr lang="en-US" altLang="ja-JP"/>
                          <m:t>1</m:t>
                        </m:r>
                      </m:sub>
                      <m:sup>
                        <m:sSub>
                          <m:sSubPr>
                            <m:ctrlPr>
                              <a:rPr lang="ja-JP" altLang="en-US" i="1"/>
                            </m:ctrlPr>
                          </m:sSubPr>
                          <m:e>
                            <m:r>
                              <a:rPr lang="ja-JP" altLang="en-US" i="1"/>
                              <m:t>𝑠</m:t>
                            </m:r>
                          </m:e>
                          <m:sub>
                            <m:r>
                              <a:rPr lang="en-US" altLang="ja-JP"/>
                              <m:t>1</m:t>
                            </m:r>
                          </m:sub>
                        </m:sSub>
                      </m:sup>
                    </m:sSubSup>
                    <m:sSubSup>
                      <m:sSubSupPr>
                        <m:ctrlPr>
                          <a:rPr lang="ja-JP" altLang="en-US" i="1"/>
                        </m:ctrlPr>
                      </m:sSubSupPr>
                      <m:e>
                        <m:r>
                          <a:rPr lang="ja-JP" altLang="en-US" i="1"/>
                          <m:t>𝐴</m:t>
                        </m:r>
                      </m:e>
                      <m:sub>
                        <m:r>
                          <a:rPr lang="en-US" altLang="ja-JP"/>
                          <m:t>2</m:t>
                        </m:r>
                      </m:sub>
                      <m:sup>
                        <m:sSub>
                          <m:sSubPr>
                            <m:ctrlPr>
                              <a:rPr lang="ja-JP" altLang="en-US" i="1"/>
                            </m:ctrlPr>
                          </m:sSubPr>
                          <m:e>
                            <m:r>
                              <a:rPr lang="ja-JP" altLang="en-US" i="1"/>
                              <m:t>𝑠</m:t>
                            </m:r>
                          </m:e>
                          <m:sub>
                            <m:r>
                              <a:rPr lang="en-US" altLang="ja-JP"/>
                              <m:t>2</m:t>
                            </m:r>
                          </m:sub>
                        </m:sSub>
                      </m:sup>
                    </m:sSubSup>
                    <m:r>
                      <a:rPr lang="ja-JP" altLang="en-US"/>
                      <m:t>⋯</m:t>
                    </m:r>
                    <m:sSubSup>
                      <m:sSubSupPr>
                        <m:ctrlPr>
                          <a:rPr lang="ja-JP" altLang="en-US" i="1"/>
                        </m:ctrlPr>
                      </m:sSubSupPr>
                      <m:e>
                        <m:r>
                          <a:rPr lang="ja-JP" altLang="en-US" i="1"/>
                          <m:t>𝐴</m:t>
                        </m:r>
                      </m:e>
                      <m:sub>
                        <m:r>
                          <a:rPr lang="ja-JP" altLang="en-US" i="1"/>
                          <m:t>𝑗</m:t>
                        </m:r>
                      </m:sub>
                      <m:sup>
                        <m:sSub>
                          <m:sSubPr>
                            <m:ctrlPr>
                              <a:rPr lang="ja-JP" altLang="en-US" i="1"/>
                            </m:ctrlPr>
                          </m:sSubPr>
                          <m:e>
                            <m:r>
                              <a:rPr lang="ja-JP" altLang="en-US" i="1"/>
                              <m:t>𝑠</m:t>
                            </m:r>
                          </m:e>
                          <m:sub>
                            <m:r>
                              <a:rPr lang="ja-JP" altLang="en-US" i="1"/>
                              <m:t>𝑗</m:t>
                            </m:r>
                          </m:sub>
                        </m:sSub>
                        <m:r>
                          <a:rPr lang="en-US" altLang="ja-JP"/>
                          <m:t>,ℓ</m:t>
                        </m:r>
                      </m:sup>
                    </m:sSubSup>
                    <m:r>
                      <a:rPr lang="ja-JP" altLang="en-US"/>
                      <m:t>⋯</m:t>
                    </m:r>
                    <m:sSubSup>
                      <m:sSubSupPr>
                        <m:ctrlPr>
                          <a:rPr lang="ja-JP" altLang="en-US" i="1"/>
                        </m:ctrlPr>
                      </m:sSubSupPr>
                      <m:e>
                        <m:r>
                          <a:rPr lang="ja-JP" altLang="en-US" i="1"/>
                          <m:t>𝐴</m:t>
                        </m:r>
                      </m:e>
                      <m:sub>
                        <m:r>
                          <a:rPr lang="ja-JP" altLang="en-US" i="1"/>
                          <m:t>𝑁</m:t>
                        </m:r>
                      </m:sub>
                      <m:sup>
                        <m:sSub>
                          <m:sSubPr>
                            <m:ctrlPr>
                              <a:rPr lang="ja-JP" altLang="en-US" i="1"/>
                            </m:ctrlPr>
                          </m:sSubPr>
                          <m:e>
                            <m:r>
                              <a:rPr lang="ja-JP" altLang="en-US" i="1"/>
                              <m:t>𝑠</m:t>
                            </m:r>
                          </m:e>
                          <m:sub>
                            <m:r>
                              <a:rPr lang="ja-JP" altLang="en-US" i="1"/>
                              <m:t>𝑁</m:t>
                            </m:r>
                          </m:sub>
                        </m:sSub>
                      </m:sup>
                    </m:sSubSup>
                    <m:r>
                      <a:rPr lang="en-US" altLang="ja-JP"/>
                      <m:t>.</m:t>
                    </m:r>
                  </m:oMath>
                </a14:m>
                <a:endParaRPr lang="en-US" altLang="ja-JP" dirty="0"/>
              </a:p>
              <a:p>
                <a:pPr marL="0" indent="0">
                  <a:buNone/>
                </a:pPr>
                <a:r>
                  <a:rPr lang="ja-JP" altLang="ja-JP" dirty="0"/>
                  <a:t>论文说明，输入被映射到张量积特征空间，完整特征维度是 </a:t>
                </a:r>
                <a14:m>
                  <m:oMath xmlns:m="http://schemas.openxmlformats.org/officeDocument/2006/math">
                    <m:sSup>
                      <m:sSupPr>
                        <m:ctrlPr>
                          <a:rPr lang="ja-JP" altLang="en-US"/>
                        </m:ctrlPr>
                      </m:sSupPr>
                      <m:e>
                        <m:r>
                          <a:rPr lang="ja-JP" altLang="en-US" i="1"/>
                          <m:t>𝑑</m:t>
                        </m:r>
                      </m:e>
                      <m:sup>
                        <m:r>
                          <a:rPr lang="ja-JP" altLang="en-US" i="1"/>
                          <m:t>𝑁</m:t>
                        </m:r>
                      </m:sup>
                    </m:sSup>
                  </m:oMath>
                </a14:m>
                <a:r>
                  <a:rPr lang="ja-JP" altLang="ja-JP" dirty="0"/>
                  <a:t>；权重张量用 MPS 表示，bond dimension 控制模型复杂度。</a:t>
                </a:r>
              </a:p>
              <a:p>
                <a:pPr marL="0" indent="0">
                  <a:buNone/>
                </a:pPr>
                <a14:m>
                  <m:oMathPara xmlns:m="http://schemas.openxmlformats.org/officeDocument/2006/math">
                    <m:oMathParaPr>
                      <m:jc m:val="centerGroup"/>
                    </m:oMathParaPr>
                    <m:oMath xmlns:m="http://schemas.openxmlformats.org/officeDocument/2006/math">
                      <m:r>
                        <m:rPr>
                          <m:nor/>
                        </m:rPr>
                        <a:rPr lang="ja-JP" altLang="en-US" b="0"/>
                        <m:t>监督学习分类器</m:t>
                      </m:r>
                      <m:r>
                        <a:rPr lang="en-US" altLang="ja-JP"/>
                        <m:t>=</m:t>
                      </m:r>
                      <m:r>
                        <m:rPr>
                          <m:nor/>
                        </m:rPr>
                        <a:rPr lang="ja-JP" altLang="en-US" i="1"/>
                        <m:t>高维特征 </m:t>
                      </m:r>
                      <m:r>
                        <m:rPr>
                          <m:nor/>
                        </m:rPr>
                        <a:rPr lang="en-US" altLang="ja-JP" i="1"/>
                        <m:t>Hilbert</m:t>
                      </m:r>
                      <m:r>
                        <m:rPr>
                          <m:nor/>
                        </m:rPr>
                        <a:rPr lang="en-US" altLang="ja-JP" i="1"/>
                        <m:t> </m:t>
                      </m:r>
                      <m:r>
                        <m:rPr>
                          <m:nor/>
                        </m:rPr>
                        <a:rPr lang="ja-JP" altLang="en-US" i="1"/>
                        <m:t>空间上的线性泛函</m:t>
                      </m:r>
                      <m:r>
                        <a:rPr lang="en-US" altLang="ja-JP"/>
                        <m:t>.</m:t>
                      </m:r>
                    </m:oMath>
                  </m:oMathPara>
                </a14:m>
                <a:endParaRPr lang="en-US" altLang="ja-JP" b="0" dirty="0"/>
              </a:p>
              <a:p>
                <a:pPr marL="0" indent="0">
                  <a:buNone/>
                </a:pPr>
                <a:r>
                  <a:rPr lang="ja-JP" altLang="ja-JP" dirty="0"/>
                  <a:t>但这个泛函太大，所以用 MPS 做低秩近似。</a:t>
                </a:r>
                <a:r>
                  <a:rPr lang="en-US" altLang="ja-JP" dirty="0"/>
                  <a:t> </a:t>
                </a:r>
                <a:r>
                  <a:rPr lang="ja-JP" altLang="ja-JP" dirty="0"/>
                  <a:t>和量子核方法相比，这篇论文并不需要量子硬件；它利用的是量子多体物理里发展出来的张量压缩思想。</a:t>
                </a:r>
              </a:p>
              <a:p>
                <a:pPr marL="0" indent="0">
                  <a:buNone/>
                </a:pPr>
                <a:r>
                  <a:rPr lang="ja-JP" altLang="ja-JP" dirty="0"/>
                  <a:t>它好的地方在于：</a:t>
                </a:r>
              </a:p>
              <a:p>
                <a:r>
                  <a:rPr lang="ja-JP" altLang="ja-JP" b="1" dirty="0"/>
                  <a:t>可压缩。</a:t>
                </a:r>
                <a:r>
                  <a:rPr lang="ja-JP" altLang="ja-JP" dirty="0"/>
                  <a:t> MPS 参数量随 </a:t>
                </a:r>
                <a14:m>
                  <m:oMath xmlns:m="http://schemas.openxmlformats.org/officeDocument/2006/math">
                    <m:r>
                      <a:rPr lang="ja-JP" altLang="en-US" i="1"/>
                      <m:t>𝑁</m:t>
                    </m:r>
                  </m:oMath>
                </a14:m>
                <a:r>
                  <a:rPr lang="ja-JP" altLang="ja-JP" dirty="0"/>
                  <a:t>多项式增长，而不是 </a:t>
                </a:r>
                <a14:m>
                  <m:oMath xmlns:m="http://schemas.openxmlformats.org/officeDocument/2006/math">
                    <m:sSup>
                      <m:sSupPr>
                        <m:ctrlPr>
                          <a:rPr lang="ja-JP" altLang="en-US"/>
                        </m:ctrlPr>
                      </m:sSupPr>
                      <m:e>
                        <m:r>
                          <a:rPr lang="ja-JP" altLang="en-US" i="1"/>
                          <m:t>𝑑</m:t>
                        </m:r>
                      </m:e>
                      <m:sup>
                        <m:r>
                          <a:rPr lang="ja-JP" altLang="en-US" i="1"/>
                          <m:t>𝑁</m:t>
                        </m:r>
                      </m:sup>
                    </m:sSup>
                  </m:oMath>
                </a14:m>
                <a:r>
                  <a:rPr lang="ja-JP" altLang="ja-JP" dirty="0"/>
                  <a:t>。 </a:t>
                </a:r>
              </a:p>
              <a:p>
                <a:r>
                  <a:rPr lang="ja-JP" altLang="ja-JP" b="1" dirty="0"/>
                  <a:t>可正则化。</a:t>
                </a:r>
                <a:r>
                  <a:rPr lang="ja-JP" altLang="ja-JP" dirty="0"/>
                  <a:t> Bond dimension </a:t>
                </a:r>
                <a14:m>
                  <m:oMath xmlns:m="http://schemas.openxmlformats.org/officeDocument/2006/math">
                    <m:r>
                      <a:rPr lang="ja-JP" altLang="en-US" i="1"/>
                      <m:t>𝐷</m:t>
                    </m:r>
                  </m:oMath>
                </a14:m>
                <a:r>
                  <a:rPr lang="ja-JP" altLang="ja-JP" dirty="0"/>
                  <a:t>控制模型容量，过大可能过拟合，较小则强正则。 </a:t>
                </a:r>
              </a:p>
              <a:p>
                <a:r>
                  <a:rPr lang="ja-JP" altLang="ja-JP" b="1" dirty="0"/>
                  <a:t>可解释。</a:t>
                </a:r>
                <a:r>
                  <a:rPr lang="ja-JP" altLang="ja-JP" dirty="0"/>
                  <a:t> 训练后的 MPS 可以看成自动选择重要特征子空间。 </a:t>
                </a:r>
              </a:p>
              <a:p>
                <a:r>
                  <a:rPr lang="ja-JP" altLang="ja-JP" b="1" dirty="0"/>
                  <a:t>可高效优化。</a:t>
                </a:r>
                <a:r>
                  <a:rPr lang="ja-JP" altLang="ja-JP" dirty="0"/>
                  <a:t> 训练用类似 DMRG 的 sweeping algorithm，每次优化相邻两个张量，并用 SVD 截断恢复 MPS 结构。论文明确说明，SVD 后可以根据奇异值自适应选择 bond dimension，从而压缩模型。 </a:t>
                </a:r>
              </a:p>
            </p:txBody>
          </p:sp>
        </mc:Choice>
        <mc:Fallback>
          <p:sp>
            <p:nvSpPr>
              <p:cNvPr id="12" name="コンテンツ プレースホルダー 2">
                <a:extLst>
                  <a:ext uri="{FF2B5EF4-FFF2-40B4-BE49-F238E27FC236}">
                    <a16:creationId xmlns:a16="http://schemas.microsoft.com/office/drawing/2014/main" id="{B5C0E384-2027-D724-5FFD-70E4B9586E0D}"/>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t="-1389" r="-513" b="-1215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076432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46C88-DD4A-3216-4E35-8A99A64354FC}"/>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00DF0331-4CAD-AB91-8E13-144964335C1A}"/>
              </a:ext>
            </a:extLst>
          </p:cNvPr>
          <p:cNvSpPr>
            <a:spLocks noGrp="1" noChangeArrowheads="1"/>
          </p:cNvSpPr>
          <p:nvPr>
            <p:ph type="title"/>
          </p:nvPr>
        </p:nvSpPr>
        <p:spPr/>
        <p:txBody>
          <a:bodyPr/>
          <a:lstStyle/>
          <a:p>
            <a:r>
              <a:rPr lang="ja-JP" altLang="ja-JP" dirty="0"/>
              <a:t>Stoudenmire &amp; Schwab：MPS 是监督学习中线性泛函的低秩压缩</a:t>
            </a:r>
            <a:endParaRPr lang="ja-JP" altLang="en-US" b="1" dirty="0">
              <a:latin typeface="+mj-ea"/>
            </a:endParaRPr>
          </a:p>
        </p:txBody>
      </p:sp>
      <mc:AlternateContent xmlns:mc="http://schemas.openxmlformats.org/markup-compatibility/2006">
        <mc:Choice xmlns:a14="http://schemas.microsoft.com/office/drawing/2010/main" Requires="a14">
          <p:sp>
            <p:nvSpPr>
              <p:cNvPr id="12" name="コンテンツ プレースホルダー 2">
                <a:extLst>
                  <a:ext uri="{FF2B5EF4-FFF2-40B4-BE49-F238E27FC236}">
                    <a16:creationId xmlns:a16="http://schemas.microsoft.com/office/drawing/2014/main" id="{97C32AD7-FEC3-D781-62A5-F37D63DDB9CC}"/>
                  </a:ext>
                </a:extLst>
              </p:cNvPr>
              <p:cNvSpPr>
                <a:spLocks noGrp="1"/>
              </p:cNvSpPr>
              <p:nvPr>
                <p:ph idx="1"/>
              </p:nvPr>
            </p:nvSpPr>
            <p:spPr>
              <a:xfrm>
                <a:off x="106680" y="990600"/>
                <a:ext cx="11877040" cy="5268402"/>
              </a:xfrm>
            </p:spPr>
            <p:txBody>
              <a:bodyPr/>
              <a:lstStyle/>
              <a:p>
                <a:r>
                  <a:rPr lang="ja-JP" altLang="ja-JP" dirty="0"/>
                  <a:t>这里的 Hilbert 空间是：</a:t>
                </a:r>
              </a:p>
              <a:p>
                <a:pPr marL="0" indent="0">
                  <a:buNone/>
                </a:pPr>
                <a14:m>
                  <m:oMathPara xmlns:m="http://schemas.openxmlformats.org/officeDocument/2006/math">
                    <m:oMathParaPr>
                      <m:jc m:val="centerGroup"/>
                    </m:oMathParaPr>
                    <m:oMath xmlns:m="http://schemas.openxmlformats.org/officeDocument/2006/math">
                      <m:r>
                        <a:rPr lang="en-US" altLang="ja-JP"/>
                        <m:t>ℋ</m:t>
                      </m:r>
                      <m:r>
                        <a:rPr lang="en-US" altLang="ja-JP"/>
                        <m:t>=</m:t>
                      </m:r>
                      <m:nary>
                        <m:naryPr>
                          <m:chr m:val="⨂"/>
                          <m:ctrlPr>
                            <a:rPr lang="ja-JP" altLang="en-US" i="1"/>
                          </m:ctrlPr>
                        </m:naryPr>
                        <m:sub>
                          <m:r>
                            <a:rPr lang="ja-JP" altLang="en-US" i="1"/>
                            <m:t>𝑖</m:t>
                          </m:r>
                          <m:r>
                            <a:rPr lang="en-US" altLang="ja-JP"/>
                            <m:t>=1</m:t>
                          </m:r>
                        </m:sub>
                        <m:sup>
                          <m:r>
                            <a:rPr lang="ja-JP" altLang="en-US" i="1"/>
                            <m:t>𝑁</m:t>
                          </m:r>
                        </m:sup>
                        <m:e>
                          <m:sSup>
                            <m:sSupPr>
                              <m:ctrlPr>
                                <a:rPr lang="ja-JP" altLang="en-US" i="1"/>
                              </m:ctrlPr>
                            </m:sSupPr>
                            <m:e>
                              <m:r>
                                <a:rPr lang="en-US" altLang="ja-JP"/>
                                <m:t>ℝ</m:t>
                              </m:r>
                            </m:e>
                            <m:sup>
                              <m:r>
                                <a:rPr lang="ja-JP" altLang="en-US" i="1"/>
                                <m:t>𝑑</m:t>
                              </m:r>
                            </m:sup>
                          </m:sSup>
                        </m:e>
                      </m:nary>
                      <m:r>
                        <a:rPr lang="en-US" altLang="ja-JP"/>
                        <m:t>.</m:t>
                      </m:r>
                    </m:oMath>
                  </m:oMathPara>
                </a14:m>
                <a:endParaRPr lang="en-US" altLang="ja-JP" dirty="0"/>
              </a:p>
              <a:p>
                <a:r>
                  <a:rPr lang="ja-JP" altLang="ja-JP" dirty="0"/>
                  <a:t>输入 </a:t>
                </a:r>
                <a14:m>
                  <m:oMath xmlns:m="http://schemas.openxmlformats.org/officeDocument/2006/math">
                    <m:r>
                      <m:rPr>
                        <m:sty m:val="p"/>
                      </m:rPr>
                      <a:rPr lang="en-US" altLang="ja-JP"/>
                      <m:t>Φ</m:t>
                    </m:r>
                    <m:d>
                      <m:dPr>
                        <m:ctrlPr>
                          <a:rPr lang="ja-JP" altLang="en-US" i="1"/>
                        </m:ctrlPr>
                      </m:dPr>
                      <m:e>
                        <m:r>
                          <a:rPr lang="ja-JP" altLang="en-US" i="1"/>
                          <m:t>𝑥</m:t>
                        </m:r>
                      </m:e>
                    </m:d>
                  </m:oMath>
                </a14:m>
                <a:r>
                  <a:rPr lang="ja-JP" altLang="ja-JP" dirty="0"/>
                  <a:t>是这个空间里的 product state。权重 </a:t>
                </a:r>
                <a14:m>
                  <m:oMath xmlns:m="http://schemas.openxmlformats.org/officeDocument/2006/math">
                    <m:sSub>
                      <m:sSubPr>
                        <m:ctrlPr>
                          <a:rPr lang="ja-JP" altLang="en-US"/>
                        </m:ctrlPr>
                      </m:sSubPr>
                      <m:e>
                        <m:r>
                          <a:rPr lang="ja-JP" altLang="en-US" i="1"/>
                          <m:t>𝑊</m:t>
                        </m:r>
                      </m:e>
                      <m:sub>
                        <m:r>
                          <a:rPr lang="en-US" altLang="ja-JP"/>
                          <m:t>ℓ</m:t>
                        </m:r>
                      </m:sub>
                    </m:sSub>
                  </m:oMath>
                </a14:m>
                <a:r>
                  <a:rPr lang="ja-JP" altLang="ja-JP" dirty="0"/>
                  <a:t>是同一空间里的向量。</a:t>
                </a:r>
                <a:br>
                  <a:rPr lang="ja-JP" altLang="ja-JP" dirty="0"/>
                </a:br>
                <a:endParaRPr lang="en-US" altLang="ja-JP" dirty="0"/>
              </a:p>
              <a:p>
                <a:r>
                  <a:rPr lang="ja-JP" altLang="ja-JP" dirty="0"/>
                  <a:t>分类分数</a:t>
                </a:r>
              </a:p>
              <a:p>
                <a:pPr marL="0" indent="0">
                  <a:buNone/>
                </a:pPr>
                <a14:m>
                  <m:oMathPara xmlns:m="http://schemas.openxmlformats.org/officeDocument/2006/math">
                    <m:oMathParaPr>
                      <m:jc m:val="centerGroup"/>
                    </m:oMathParaPr>
                    <m:oMath xmlns:m="http://schemas.openxmlformats.org/officeDocument/2006/math">
                      <m:sSub>
                        <m:sSubPr>
                          <m:ctrlPr>
                            <a:rPr lang="ja-JP" altLang="en-US"/>
                          </m:ctrlPr>
                        </m:sSubPr>
                        <m:e>
                          <m:r>
                            <a:rPr lang="ja-JP" altLang="en-US" i="1"/>
                            <m:t>𝑓</m:t>
                          </m:r>
                        </m:e>
                        <m:sub>
                          <m:r>
                            <a:rPr lang="en-US" altLang="ja-JP"/>
                            <m:t>ℓ</m:t>
                          </m:r>
                        </m:sub>
                      </m:sSub>
                      <m:d>
                        <m:dPr>
                          <m:ctrlPr>
                            <a:rPr lang="ja-JP" altLang="en-US" i="1"/>
                          </m:ctrlPr>
                        </m:dPr>
                        <m:e>
                          <m:r>
                            <a:rPr lang="ja-JP" altLang="en-US" i="1"/>
                            <m:t>𝑥</m:t>
                          </m:r>
                        </m:e>
                      </m:d>
                      <m:r>
                        <a:rPr lang="en-US" altLang="ja-JP"/>
                        <m:t>=</m:t>
                      </m:r>
                      <m:d>
                        <m:dPr>
                          <m:begChr m:val="⟨"/>
                          <m:endChr m:val="⟩"/>
                          <m:sepChr m:val=","/>
                          <m:ctrlPr>
                            <a:rPr lang="ja-JP" altLang="en-US" i="1"/>
                          </m:ctrlPr>
                        </m:dPr>
                        <m:e>
                          <m:sSub>
                            <m:sSubPr>
                              <m:ctrlPr>
                                <a:rPr lang="ja-JP" altLang="en-US" i="1"/>
                              </m:ctrlPr>
                            </m:sSubPr>
                            <m:e>
                              <m:r>
                                <a:rPr lang="ja-JP" altLang="en-US" i="1"/>
                                <m:t>𝑊</m:t>
                              </m:r>
                            </m:e>
                            <m:sub>
                              <m:r>
                                <a:rPr lang="en-US" altLang="ja-JP"/>
                                <m:t>ℓ</m:t>
                              </m:r>
                            </m:sub>
                          </m:sSub>
                        </m:e>
                        <m:e>
                          <m:r>
                            <m:rPr>
                              <m:sty m:val="p"/>
                            </m:rPr>
                            <a:rPr lang="en-US" altLang="ja-JP"/>
                            <m:t>Φ</m:t>
                          </m:r>
                          <m:d>
                            <m:dPr>
                              <m:ctrlPr>
                                <a:rPr lang="ja-JP" altLang="en-US" i="1"/>
                              </m:ctrlPr>
                            </m:dPr>
                            <m:e>
                              <m:r>
                                <a:rPr lang="ja-JP" altLang="en-US" i="1"/>
                                <m:t>𝑥</m:t>
                              </m:r>
                            </m:e>
                          </m:d>
                        </m:e>
                      </m:d>
                    </m:oMath>
                  </m:oMathPara>
                </a14:m>
                <a:endParaRPr lang="ja-JP" altLang="en-US" dirty="0"/>
              </a:p>
              <a:p>
                <a:pPr marL="0" indent="0">
                  <a:buNone/>
                </a:pPr>
                <a:r>
                  <a:rPr lang="ja-JP" altLang="ja-JP" dirty="0"/>
                  <a:t>就是由 </a:t>
                </a:r>
                <a14:m>
                  <m:oMath xmlns:m="http://schemas.openxmlformats.org/officeDocument/2006/math">
                    <m:sSub>
                      <m:sSubPr>
                        <m:ctrlPr>
                          <a:rPr lang="ja-JP" altLang="en-US"/>
                        </m:ctrlPr>
                      </m:sSubPr>
                      <m:e>
                        <m:r>
                          <a:rPr lang="ja-JP" altLang="en-US" i="1"/>
                          <m:t>𝑊</m:t>
                        </m:r>
                      </m:e>
                      <m:sub>
                        <m:r>
                          <a:rPr lang="en-US" altLang="ja-JP"/>
                          <m:t>ℓ</m:t>
                        </m:r>
                      </m:sub>
                    </m:sSub>
                  </m:oMath>
                </a14:m>
                <a:r>
                  <a:rPr lang="ja-JP" altLang="ja-JP" dirty="0"/>
                  <a:t>表示的线性泛函。</a:t>
                </a:r>
              </a:p>
              <a:p>
                <a:pPr marL="0" indent="0">
                  <a:buNone/>
                </a:pPr>
                <a:r>
                  <a:rPr lang="ja-JP" altLang="ja-JP" dirty="0"/>
                  <a:t>MPS 的作用是限制 </a:t>
                </a:r>
                <a14:m>
                  <m:oMath xmlns:m="http://schemas.openxmlformats.org/officeDocument/2006/math">
                    <m:sSub>
                      <m:sSubPr>
                        <m:ctrlPr>
                          <a:rPr lang="ja-JP" altLang="en-US"/>
                        </m:ctrlPr>
                      </m:sSubPr>
                      <m:e>
                        <m:r>
                          <a:rPr lang="ja-JP" altLang="en-US" i="1"/>
                          <m:t>𝑊</m:t>
                        </m:r>
                      </m:e>
                      <m:sub>
                        <m:r>
                          <a:rPr lang="en-US" altLang="ja-JP"/>
                          <m:t>ℓ</m:t>
                        </m:r>
                      </m:sub>
                    </m:sSub>
                  </m:oMath>
                </a14:m>
                <a:r>
                  <a:rPr lang="ja-JP" altLang="ja-JP" dirty="0"/>
                  <a:t>的张量秩。用量子语言说，MPS 限制了“纠缠结构”；用机器学习语言说，它限制了特征之间可表达的高阶相关结构。</a:t>
                </a:r>
                <a:endParaRPr lang="en-US" altLang="ja-JP" dirty="0"/>
              </a:p>
              <a:p>
                <a:pPr marL="0" indent="0">
                  <a:buNone/>
                </a:pPr>
                <a:r>
                  <a:rPr lang="ja-JP" altLang="ja-JP" dirty="0"/>
                  <a:t>Bond dimension 越大，能表达的相关越复杂；越小，泛函越平滑、越受限、越正则化。</a:t>
                </a:r>
              </a:p>
            </p:txBody>
          </p:sp>
        </mc:Choice>
        <mc:Fallback>
          <p:sp>
            <p:nvSpPr>
              <p:cNvPr id="12" name="コンテンツ プレースホルダー 2">
                <a:extLst>
                  <a:ext uri="{FF2B5EF4-FFF2-40B4-BE49-F238E27FC236}">
                    <a16:creationId xmlns:a16="http://schemas.microsoft.com/office/drawing/2014/main" id="{97C32AD7-FEC3-D781-62A5-F37D63DDB9CC}"/>
                  </a:ext>
                </a:extLst>
              </p:cNvPr>
              <p:cNvSpPr>
                <a:spLocks noGrp="1" noRot="1" noChangeAspect="1" noMove="1" noResize="1" noEditPoints="1" noAdjustHandles="1" noChangeArrowheads="1" noChangeShapeType="1" noTextEdit="1"/>
              </p:cNvSpPr>
              <p:nvPr>
                <p:ph idx="1"/>
              </p:nvPr>
            </p:nvSpPr>
            <p:spPr>
              <a:xfrm>
                <a:off x="106680" y="990600"/>
                <a:ext cx="11877040" cy="5268402"/>
              </a:xfrm>
              <a:blipFill>
                <a:blip r:embed="rId3"/>
                <a:stretch>
                  <a:fillRect l="-565" t="-104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5561514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14862880-0955-872B-6BD2-7E23ACF55E01}"/>
              </a:ext>
            </a:extLst>
          </p:cNvPr>
          <p:cNvSpPr>
            <a:spLocks noGrp="1"/>
          </p:cNvSpPr>
          <p:nvPr>
            <p:ph type="body" idx="1"/>
          </p:nvPr>
        </p:nvSpPr>
        <p:spPr>
          <a:xfrm>
            <a:off x="963084" y="2678906"/>
            <a:ext cx="10363200" cy="1500187"/>
          </a:xfrm>
        </p:spPr>
        <p:txBody>
          <a:bodyPr/>
          <a:lstStyle/>
          <a:p>
            <a:pPr algn="ctr"/>
            <a:r>
              <a:rPr kumimoji="1" lang="en-US" altLang="ja-JP" sz="5000" dirty="0"/>
              <a:t>Thank you for listening!</a:t>
            </a:r>
            <a:endParaRPr kumimoji="1" lang="ja-JP" altLang="en-US" sz="5000" dirty="0"/>
          </a:p>
        </p:txBody>
      </p:sp>
    </p:spTree>
    <p:extLst>
      <p:ext uri="{BB962C8B-B14F-4D97-AF65-F5344CB8AC3E}">
        <p14:creationId xmlns:p14="http://schemas.microsoft.com/office/powerpoint/2010/main" val="3395547263"/>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ユーザー定義 1">
      <a:majorFont>
        <a:latin typeface="Arial"/>
        <a:ea typeface="FangSong"/>
        <a:cs typeface=""/>
      </a:majorFont>
      <a:minorFont>
        <a:latin typeface="Comic Sans MS"/>
        <a:ea typeface="FangSong"/>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a:ln>
              <a:noFill/>
            </a:ln>
            <a:solidFill>
              <a:schemeClr val="tx1"/>
            </a:solidFill>
            <a:effectLst/>
            <a:latin typeface="Comic Sans M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a:ln>
              <a:noFill/>
            </a:ln>
            <a:solidFill>
              <a:schemeClr val="tx1"/>
            </a:solidFill>
            <a:effectLst/>
            <a:latin typeface="Comic Sans MS" charset="0"/>
            <a:ea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95054</TotalTime>
  <Words>7333</Words>
  <Application>Microsoft Office PowerPoint</Application>
  <PresentationFormat>ワイド画面</PresentationFormat>
  <Paragraphs>699</Paragraphs>
  <Slides>58</Slides>
  <Notes>55</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58</vt:i4>
      </vt:variant>
    </vt:vector>
  </HeadingPairs>
  <TitlesOfParts>
    <vt:vector size="66" baseType="lpstr">
      <vt:lpstr>FangSong</vt:lpstr>
      <vt:lpstr>ＭＳ ゴシック</vt:lpstr>
      <vt:lpstr>Arial</vt:lpstr>
      <vt:lpstr>Cambria Math</vt:lpstr>
      <vt:lpstr>Comic Sans MS</vt:lpstr>
      <vt:lpstr>Times New Roman</vt:lpstr>
      <vt:lpstr>Wingdings</vt:lpstr>
      <vt:lpstr>Blank Presentation</vt:lpstr>
      <vt:lpstr>PowerPoint プレゼンテーション</vt:lpstr>
      <vt:lpstr>导入Hilbert空间的理由</vt:lpstr>
      <vt:lpstr>导入Hilbert空间的理由</vt:lpstr>
      <vt:lpstr>导入Hilbert空间的理由</vt:lpstr>
      <vt:lpstr>导入Hilbert空间的理由</vt:lpstr>
      <vt:lpstr>复向量空间上的考虑</vt:lpstr>
      <vt:lpstr>复 Hilbert 空间</vt:lpstr>
      <vt:lpstr>关于符号 †</vt:lpstr>
      <vt:lpstr>补充：什么是量子门</vt:lpstr>
      <vt:lpstr>机器学习最相关的量子门</vt:lpstr>
      <vt:lpstr>Hilbert 空间的几何语言</vt:lpstr>
      <vt:lpstr>几何直觉</vt:lpstr>
      <vt:lpstr>正交投影与最小二乘</vt:lpstr>
      <vt:lpstr>正交投影与最小二乘</vt:lpstr>
      <vt:lpstr>信号分解、Fourier 分解与 PCA</vt:lpstr>
      <vt:lpstr>信号分解、Fourier 分解与 PCA</vt:lpstr>
      <vt:lpstr>Fourier 分解与机器学习的联系</vt:lpstr>
      <vt:lpstr>PCA 主成分分析</vt:lpstr>
      <vt:lpstr>PCA 主成分分析</vt:lpstr>
      <vt:lpstr>PCA 为什么是最佳低维正交近似</vt:lpstr>
      <vt:lpstr>Kernel PCA</vt:lpstr>
      <vt:lpstr>PCA 为什么是“最佳低维正交近似”？</vt:lpstr>
      <vt:lpstr>常见核函数</vt:lpstr>
      <vt:lpstr>机器学习中的 Hilbert 空间：RKHS 与核方法</vt:lpstr>
      <vt:lpstr>核函数 k(xⓜ,x^′ )的含义</vt:lpstr>
      <vt:lpstr>复习：RKHS</vt:lpstr>
      <vt:lpstr>复习：RKHS</vt:lpstr>
      <vt:lpstr>Representer Theorem：为什么最后只需要有限个核函数？</vt:lpstr>
      <vt:lpstr>常见核函数</vt:lpstr>
      <vt:lpstr>核函数在核回归中的含义</vt:lpstr>
      <vt:lpstr>复 Hilbert 空间与量子机器学习</vt:lpstr>
      <vt:lpstr>相关论文</vt:lpstr>
      <vt:lpstr>量子态为什么是复 Hilbert 空间中的向量</vt:lpstr>
      <vt:lpstr>量子特征 Hilbert 空间与量子核方法</vt:lpstr>
      <vt:lpstr>Schuld &amp; Killoran：量子编码就是 Hilbert 空间特征映射</vt:lpstr>
      <vt:lpstr>Schuld &amp; Killoran：量子编码就是 Hilbert 空间特征映射</vt:lpstr>
      <vt:lpstr>Schuld &amp; Killoran：量子编码就是 Hilbert 空间特征映射</vt:lpstr>
      <vt:lpstr>Schuld &amp; Killoran：量子编码就是 Hilbert 空间特征映射</vt:lpstr>
      <vt:lpstr>Havlíček et al.：把量子增强特征空间做成 NISQ 分类器</vt:lpstr>
      <vt:lpstr>Havlíček et al.：把量子增强特征空间做成 NISQ 分类器</vt:lpstr>
      <vt:lpstr>Havlíček et al.：把量子增强特征空间做成 NISQ 分类器</vt:lpstr>
      <vt:lpstr>Havlíček et al.：把量子增强特征空间做成 NISQ 分类器</vt:lpstr>
      <vt:lpstr>Liu–Arunachalam–Temme：严格、鲁棒的量子监督学习加速</vt:lpstr>
      <vt:lpstr>discrete logarithm problem</vt:lpstr>
      <vt:lpstr>discrete logarithm problem</vt:lpstr>
      <vt:lpstr>Liu–Arunachalam–Temme：严格、鲁棒的量子监督学习加速</vt:lpstr>
      <vt:lpstr>Liu–Arunachalam–Temme：严格、鲁棒的量子监督学习加速</vt:lpstr>
      <vt:lpstr>Liu–Arunachalam–Temme：严格、鲁棒的量子监督学习加速</vt:lpstr>
      <vt:lpstr>Carleo &amp; Troyer：神经网络量子态，把波函数当作可学习函数</vt:lpstr>
      <vt:lpstr>Carleo &amp; Troyer：神经网络量子态，把波函数当作可学习函数</vt:lpstr>
      <vt:lpstr>Carleo &amp; Troyer：神经网络量子态，把波函数当作可学习函数</vt:lpstr>
      <vt:lpstr>Carleo &amp; Troyer：神经网络量子态，把波函数当作可学习函数</vt:lpstr>
      <vt:lpstr>Carleo &amp; Troyer：神经网络量子态，把波函数当作可学习函数</vt:lpstr>
      <vt:lpstr>Torlai et al.：神经网络量子态层析，从测量样本重构波函数</vt:lpstr>
      <vt:lpstr>Torlai et al.：神经网络量子态层析，从测量样本重构波函数</vt:lpstr>
      <vt:lpstr>Stoudenmire &amp; Schwab：MPS 是监督学习中线性泛函的低秩压缩</vt:lpstr>
      <vt:lpstr>Stoudenmire &amp; Schwab：MPS 是监督学习中线性泛函的低秩压缩</vt:lpstr>
      <vt:lpstr>PowerPoint プレゼンテーション</vt:lpstr>
    </vt:vector>
  </TitlesOfParts>
  <Company>qub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2_csc321</dc:title>
  <dc:creator>sscott</dc:creator>
  <cp:lastModifiedBy>Yiyang Jia</cp:lastModifiedBy>
  <cp:revision>4751</cp:revision>
  <dcterms:created xsi:type="dcterms:W3CDTF">2001-07-30T09:48:22Z</dcterms:created>
  <dcterms:modified xsi:type="dcterms:W3CDTF">2026-05-24T10:10:54Z</dcterms:modified>
</cp:coreProperties>
</file>