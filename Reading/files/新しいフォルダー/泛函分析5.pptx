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7" r:id="rId2"/>
    <p:sldId id="512" r:id="rId3"/>
    <p:sldId id="550" r:id="rId4"/>
    <p:sldId id="551" r:id="rId5"/>
    <p:sldId id="552" r:id="rId6"/>
    <p:sldId id="554" r:id="rId7"/>
    <p:sldId id="553" r:id="rId8"/>
    <p:sldId id="555" r:id="rId9"/>
    <p:sldId id="556" r:id="rId10"/>
    <p:sldId id="557" r:id="rId11"/>
    <p:sldId id="565" r:id="rId12"/>
    <p:sldId id="558" r:id="rId13"/>
    <p:sldId id="561" r:id="rId14"/>
    <p:sldId id="563" r:id="rId15"/>
    <p:sldId id="562" r:id="rId16"/>
    <p:sldId id="564" r:id="rId17"/>
    <p:sldId id="560" r:id="rId18"/>
    <p:sldId id="566" r:id="rId19"/>
    <p:sldId id="567" r:id="rId20"/>
    <p:sldId id="559" r:id="rId21"/>
    <p:sldId id="568" r:id="rId22"/>
    <p:sldId id="569" r:id="rId23"/>
    <p:sldId id="570" r:id="rId24"/>
    <p:sldId id="571" r:id="rId25"/>
    <p:sldId id="572" r:id="rId26"/>
    <p:sldId id="573" r:id="rId27"/>
    <p:sldId id="574" r:id="rId28"/>
    <p:sldId id="575" r:id="rId29"/>
    <p:sldId id="576" r:id="rId30"/>
    <p:sldId id="577" r:id="rId31"/>
    <p:sldId id="578" r:id="rId32"/>
    <p:sldId id="580" r:id="rId33"/>
    <p:sldId id="579" r:id="rId34"/>
    <p:sldId id="581" r:id="rId35"/>
    <p:sldId id="582" r:id="rId36"/>
    <p:sldId id="583" r:id="rId37"/>
    <p:sldId id="585" r:id="rId38"/>
    <p:sldId id="586" r:id="rId39"/>
    <p:sldId id="584" r:id="rId40"/>
    <p:sldId id="503" r:id="rId41"/>
  </p:sldIdLst>
  <p:sldSz cx="12192000" cy="6858000"/>
  <p:notesSz cx="6669088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6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F9EAEF"/>
    <a:srgbClr val="1E35A8"/>
    <a:srgbClr val="EDFFED"/>
    <a:srgbClr val="FFFDF0"/>
    <a:srgbClr val="F5F2DF"/>
    <a:srgbClr val="F7F7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660B408-B3CF-4A94-85FC-2B1E0A45F4A2}" styleName="濃色スタイル 2 - アクセント 1/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D083AE6-46FA-4A59-8FB0-9F97EB10719F}" styleName="淡色スタイル 3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3447" autoAdjust="0"/>
  </p:normalViewPr>
  <p:slideViewPr>
    <p:cSldViewPr snapToGrid="0">
      <p:cViewPr>
        <p:scale>
          <a:sx n="63" d="100"/>
          <a:sy n="63" d="100"/>
        </p:scale>
        <p:origin x="800" y="-8"/>
      </p:cViewPr>
      <p:guideLst>
        <p:guide orient="horz" pos="2160"/>
        <p:guide pos="76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52C18442-6CBB-9D4C-BAEA-A8F1BBD3577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omic Sans M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653F2BA6-0CAA-5945-ACBD-4F338120D7D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omic Sans M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14557265-7C63-8C48-84E3-2EBF33E8718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omic Sans M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708EC389-215B-BB4B-AF04-0D16A0A5620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omic Sans MS" charset="0"/>
                <a:ea typeface="ＭＳ Ｐゴシック" charset="-128"/>
              </a:defRPr>
            </a:lvl1pPr>
          </a:lstStyle>
          <a:p>
            <a:pPr>
              <a:defRPr/>
            </a:pPr>
            <a:fld id="{A331DE67-792D-4F41-8BD2-183E50FC1F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921D813-D54F-5A42-8D81-6FD883C1EBA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2F4F132-3A51-C24F-AD22-A48CD14B1D3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658DE86-5E13-E64C-84C2-46CB62CE691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C9D372DE-C786-8D4D-9F53-214241F844F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743ADF9-18C0-4240-9800-30D3D32CF58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429AE395-53F8-BF43-BD63-E86F29A94A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fld id="{AB31E2A7-604B-AC4A-93FF-7D752141A2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98768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F9D24-F943-8EEE-C053-ED9191981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0B1F744-D542-6AB4-3782-93A5DC805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238BD68-45DE-80E2-2F0A-729C91B82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F6E165B-0A50-3D5C-7287-B82CD006B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75826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18108-4DB9-E7DE-46DE-671A9D9E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E0C9104-7B5B-CD87-BDAF-660EB2627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F14BFEB-949C-3170-BA60-B721CD880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3DB3136-F669-50FC-F1A6-EE17E2CF84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999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96787-BCDB-91CB-0F4A-523EADA35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93E7D23-D240-E302-5874-69AC31750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EC575C2-5B83-83AB-4FEC-8BC0DE9A2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09D579F-C813-35E6-06FE-D1442CDC0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66340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0E0D1-BB5A-1722-D1A7-769E08EC5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7A00257-0D84-3769-A9D3-6C7EB5C944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AA92BC7-F954-C71A-32D3-32628F1A22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522B11D-BE3B-F5F0-7125-2E7AF0672E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41506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90438-A6B4-9EA6-5564-E9F3D21D5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6BAA1DA-B334-7D59-EA3D-727EEFC7E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609C27E-F67E-8363-E6A8-7F6D0A956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4CDBFC-2E61-5C84-5368-D13B2212F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83345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19148-16A6-E9C5-11FA-71C943F86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D557EC8-5E05-7341-E2D7-C15241384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8E37F66-D958-D8F0-9139-13294A707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F353054-A528-40DA-AA35-BDB5D0EE9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680885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2B04D-9941-82B6-80CC-1910109CE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E869295-7B65-C2DF-1DF4-72104DF423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631A085-5027-63EE-C937-49850E617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B1CD767-B934-E4FA-9E60-97EA89AE5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38905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D2075-984D-AE18-B0CE-A5D9F62A3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8E02EEE-9CB7-9B8C-186F-A6ECA278F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B3B3DCB-D986-A185-E0B4-077FB5853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A385695-87E6-49FB-0129-6363BF9DE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74897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BB436-7BE1-D8E8-E339-21A629B86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C46F164-60DE-48F3-03CA-950F26E8C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3E8FB41-D0CE-D27F-74B8-3D5C22C0E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EA23FF4-591C-31D9-580F-D36C01C4D5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34275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C57E1-1384-16A3-7492-EB8E08B97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952F196-F75A-4539-FF1F-9F794938D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5F8FC21-534B-0157-7855-49E3E7F1F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94DC90-6924-6810-15A7-EF996B6BF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686981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E0048-0135-99A6-17FC-3A68C7AB0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04C80FC-086D-A90B-3B75-9EC013D40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40165D4-C42B-89BB-D62E-B7C6DB6F4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E5F8C3-8DE8-FB21-9D3A-35F8336672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176688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3F70D-FC9C-D396-54B2-D2ECCD976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CE10AF2-E603-E853-EBD1-6E9E23FC4E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5825485-9E63-13EC-07E2-E90A2A87F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8038B28-08AF-58A1-F751-52BC5BB7FE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87765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E87B4-09DB-9398-5F64-B6E680F78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264BB8C-4B4B-C53F-A9AD-F36E88719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BA16425-AE0C-3F93-F83D-1DB67113A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1845862-B11B-23A4-0E42-EA26DE6168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878550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85A2C-4EE6-ADA8-E8DC-1A3DB78AA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C7C8311-DE88-BB0A-A7A2-437EF7894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EE3337B-2DE6-422C-0FD8-DCA3BCE2F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12B200-74FF-AE30-2FF4-221D0C504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839539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ED134-21CB-3F45-10A4-D6401830C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38ECB9D-A3C0-43BC-30D1-6E4BB4FEA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33730D1-E186-97CE-856D-EEC88CE74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5E1AC4F-ACA2-054D-F2A8-4781F56F3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211097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611EA-E873-176A-766E-049190E7C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631815F-96D4-0D46-DB3B-C924E942F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4B3B456-89BA-B061-1A27-5E470D704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43D8D11-E461-7CF0-F3D4-1CFBB639C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86558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61FA7-DB72-E062-9134-F6F77FFBF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4C3C4DA-8BF6-4FC3-89DC-5FBFDFAD0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D21F6A8-6F3A-4C51-2D86-9E2EBC659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3037802-4A4A-A021-F15D-855B62B619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263817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EC37A-8468-7D82-1F9A-68BA69D3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8BAD8BC-7970-691B-AF0D-A3517F47D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D1FCC14-AFA1-77FD-CDE8-F26BC0DA6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BDD55A-A1E2-44CC-A171-3C2F6EADE7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290575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F852B-2C50-767C-D2CA-77FF788E6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877533E-0FF4-4755-4805-E7A35DB80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E4570D3-7551-6A9C-9E3E-4C7ED33DB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F8AABC1-6201-3A8B-2366-26C78295DC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305514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5D8F1-D2E0-2F2B-253B-98654B1C0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F06E1A7-4500-1F5B-BE5D-1E9500974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E6D796C-5016-570D-3129-FC45D340B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7F6ABF9-78D6-B215-D13D-AADE7E121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36153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15E35-711F-7894-AEF6-AC7BB2B95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F37AF3E-04FC-9BDE-70D4-323BE9632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5C81FE4-6EBE-D79E-761B-D10F8050C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AECF4E-2E2E-D4CA-F2BB-DE72743EF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467560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1F829-47D4-F6FF-4555-9C0F568E1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730E953-9D3E-E39A-9DED-77B41C131B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BBF4E07-99B9-6D07-D955-F1DB43E80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C69AF0-DAA1-2B78-EB9D-79FAC5892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490061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948D1-3F25-33AD-CE02-FE865E141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DF29EBF-DC7B-F142-1A4D-495538FF3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F62D45D-4931-FC9E-B340-B0354CAF0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1051805-1A3F-5777-DB6A-B82553B6BC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920384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FF0C5-383B-CEAB-E344-8C597888C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3B9A82E-FC79-BDCE-80FF-32917FAB2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DD52D66-D517-A158-4933-68142A7D2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4C465F-7074-FAC8-42D3-02972ACBFF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119692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C30BA-A4FC-D56D-92DB-38C1A6E01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AD5315C-E41E-16B1-216E-D689AC43A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0554D91-8C52-53BE-58AA-001F7CAE9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4611A81-A594-73FB-42F8-9D2E767D8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707970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79E17-E874-A38E-D98B-FBF2071B0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A13133A-BC7C-B3E4-3A11-A30C4B0B9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9830E8B-648A-6035-98CB-469AFB251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902B94B-927B-CE5C-99F5-6EA2EB7BCA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089762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CC260-4B73-82FC-52AF-6B749BE48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D084158-B34F-4AE0-B854-BE879D891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CAC7D4F-55DA-2C3B-6BAC-FF0E536BE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19F8612-9FFF-8DE1-0439-FA1F91FC28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133330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A49E0-54F2-4926-4CD9-A569059AA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1A6AC21-5260-2A66-BBA5-2B7BFF7F8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5BFC2D-51B8-A106-71A5-57F6055C8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DD49523-01A7-8063-1AF6-BC813C36B0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734284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5A45A-EE7E-D4EF-121E-1E00A5363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42466ED-B1EA-661E-E114-93230985D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B1DC354-E0FD-6112-83FA-8C6726C48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FD70099-5381-F0A6-9ECA-714E59D10A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456773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0C6DD-0527-E15B-A769-9D7087643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1C35BD0-2C3B-A065-0EC9-BB8160706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133E88B-9821-A607-15DB-5B88FD5DF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48DB82E-4B06-14BF-26B5-A00DF523C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23365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EF448-5E33-87B5-C2BA-1EA9008DC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BB2278C-5CAA-ADF1-9585-A5C1D5752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F5A84B4-8864-9511-3BEE-0203034D8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DA52687-C560-CE9E-631B-6FB3921BD3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384156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D41A7-ADF9-37AF-AD10-FD1FF7B02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5D95FE4-BC52-7A6A-8F45-A48A1F857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73D33C2-30D2-2CB2-0C7E-1E4D1AC48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84519CA-221F-8191-2C1A-40EDCADF2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789874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F8F44-10A0-D364-397C-6D3D3D3C2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8DCFD51-C0ED-AB43-2891-8511E4E99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11A9A56-6437-D013-9886-B42726C062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8D30541-5333-4360-FC6D-97A04C47AA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40826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>
            <a:extLst>
              <a:ext uri="{FF2B5EF4-FFF2-40B4-BE49-F238E27FC236}">
                <a16:creationId xmlns:a16="http://schemas.microsoft.com/office/drawing/2014/main" id="{2CCC2082-249C-0241-A66B-561CCF42283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066800"/>
            <a:ext cx="11108267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228600"/>
            <a:ext cx="11176000" cy="838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Section 2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27200" y="1676400"/>
            <a:ext cx="8331200" cy="914400"/>
          </a:xfrm>
        </p:spPr>
        <p:txBody>
          <a:bodyPr/>
          <a:lstStyle>
            <a:lvl1pPr marL="0" indent="0" algn="ctr">
              <a:buFont typeface="Wingdings" charset="0"/>
              <a:buNone/>
              <a:defRPr sz="3200" b="1">
                <a:solidFill>
                  <a:schemeClr val="accent2"/>
                </a:solidFill>
                <a:latin typeface="Arial" charset="0"/>
              </a:defRPr>
            </a:lvl1pPr>
          </a:lstStyle>
          <a:p>
            <a:pPr lvl="0"/>
            <a:r>
              <a:rPr lang="en-US" noProof="0"/>
              <a:t>Concurrent Programming Abstraction &amp; Java Threads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9" name="フッター プレースホルダー 1">
            <a:extLst>
              <a:ext uri="{FF2B5EF4-FFF2-40B4-BE49-F238E27FC236}">
                <a16:creationId xmlns:a16="http://schemas.microsoft.com/office/drawing/2014/main" id="{A1380731-16D9-4669-945F-14AC8AF75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47A380E1-661C-4C30-8B01-8930768AE33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769600" y="6553199"/>
            <a:ext cx="142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>
            <a:lvl1pPr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1pPr>
            <a:lvl2pPr marL="742950" indent="-28575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2pPr>
            <a:lvl3pPr marL="11430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4pPr>
            <a:lvl5pPr marL="20574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B30D727B-AF9F-1344-87F2-06A074BC649A}" type="slidenum">
              <a:rPr lang="en-GB" altLang="en-US" sz="1400" smtClean="0">
                <a:solidFill>
                  <a:schemeClr val="accent2"/>
                </a:solidFill>
                <a:latin typeface="Times New Roman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GB" altLang="en-US" sz="1400" dirty="0">
              <a:solidFill>
                <a:schemeClr val="accent2"/>
              </a:solidFill>
              <a:latin typeface="Times New Roman" charset="0"/>
            </a:endParaRPr>
          </a:p>
          <a:p>
            <a:pPr algn="r">
              <a:spcBef>
                <a:spcPct val="50000"/>
              </a:spcBef>
              <a:defRPr/>
            </a:pPr>
            <a:endParaRPr lang="en-GB" altLang="en-US" sz="1000" dirty="0">
              <a:solidFill>
                <a:schemeClr val="accent2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35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ea typeface="FangSong" panose="02010609060101010101" pitchFamily="49" charset="-122"/>
              </a:defRPr>
            </a:lvl1pPr>
            <a:lvl2pPr>
              <a:defRPr baseline="0">
                <a:ea typeface="FangSong" panose="02010609060101010101" pitchFamily="49" charset="-122"/>
              </a:defRPr>
            </a:lvl2pPr>
            <a:lvl3pPr>
              <a:defRPr baseline="0">
                <a:ea typeface="FangSong" panose="02010609060101010101" pitchFamily="49" charset="-122"/>
              </a:defRPr>
            </a:lvl3pPr>
            <a:lvl4pPr>
              <a:defRPr baseline="0">
                <a:ea typeface="FangSong" panose="02010609060101010101" pitchFamily="49" charset="-122"/>
              </a:defRPr>
            </a:lvl4pPr>
            <a:lvl5pPr>
              <a:defRPr baseline="0">
                <a:ea typeface="FangSong" panose="02010609060101010101" pitchFamily="49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フッター プレースホルダー 1">
            <a:extLst>
              <a:ext uri="{FF2B5EF4-FFF2-40B4-BE49-F238E27FC236}">
                <a16:creationId xmlns:a16="http://schemas.microsoft.com/office/drawing/2014/main" id="{656708E0-780A-42EA-AEC7-D80580D6D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50287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フッター プレースホルダー 1">
            <a:extLst>
              <a:ext uri="{FF2B5EF4-FFF2-40B4-BE49-F238E27FC236}">
                <a16:creationId xmlns:a16="http://schemas.microsoft.com/office/drawing/2014/main" id="{B6DEF749-4806-4EB1-9520-49569C4FCA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3499002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295400"/>
            <a:ext cx="54356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295400"/>
            <a:ext cx="54356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フッター プレースホルダー 1">
            <a:extLst>
              <a:ext uri="{FF2B5EF4-FFF2-40B4-BE49-F238E27FC236}">
                <a16:creationId xmlns:a16="http://schemas.microsoft.com/office/drawing/2014/main" id="{071E30C6-AED6-406C-B2B3-B9C14F192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238829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フッター プレースホルダー 1">
            <a:extLst>
              <a:ext uri="{FF2B5EF4-FFF2-40B4-BE49-F238E27FC236}">
                <a16:creationId xmlns:a16="http://schemas.microsoft.com/office/drawing/2014/main" id="{D6B50CE3-CD95-4A1F-9A83-500B9C5478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2091609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フッター プレースホルダー 1">
            <a:extLst>
              <a:ext uri="{FF2B5EF4-FFF2-40B4-BE49-F238E27FC236}">
                <a16:creationId xmlns:a16="http://schemas.microsoft.com/office/drawing/2014/main" id="{802880ED-3A6D-4854-B3C1-12A8BF68C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1941040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19B66A68-EB2C-448A-9C31-2285F6D4EF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568376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681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3115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080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3800" y="304800"/>
            <a:ext cx="27686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304800"/>
            <a:ext cx="81026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0605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44D7B4F-816E-594A-A348-113D4DEB79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304800"/>
            <a:ext cx="11074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 dirty="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984F332-65D3-8E41-9D42-8A248FC50A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1028" name="Line 7">
            <a:extLst>
              <a:ext uri="{FF2B5EF4-FFF2-40B4-BE49-F238E27FC236}">
                <a16:creationId xmlns:a16="http://schemas.microsoft.com/office/drawing/2014/main" id="{00A13E26-8A0C-4A42-ACC2-0EA997F81C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000" y="990600"/>
            <a:ext cx="11108267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032" name="Text Box 8">
            <a:extLst>
              <a:ext uri="{FF2B5EF4-FFF2-40B4-BE49-F238E27FC236}">
                <a16:creationId xmlns:a16="http://schemas.microsoft.com/office/drawing/2014/main" id="{7F320112-8054-5C45-9ABE-1300A4072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9600" y="6553199"/>
            <a:ext cx="142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>
            <a:lvl1pPr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1pPr>
            <a:lvl2pPr marL="742950" indent="-28575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2pPr>
            <a:lvl3pPr marL="11430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4pPr>
            <a:lvl5pPr marL="20574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B30D727B-AF9F-1344-87F2-06A074BC649A}" type="slidenum">
              <a:rPr lang="en-GB" altLang="en-US" sz="1400" smtClean="0">
                <a:solidFill>
                  <a:schemeClr val="accent2"/>
                </a:solidFill>
                <a:latin typeface="Times New Roman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GB" altLang="en-US" sz="1400" dirty="0">
              <a:solidFill>
                <a:schemeClr val="accent2"/>
              </a:solidFill>
              <a:latin typeface="Times New Roman" charset="0"/>
            </a:endParaRPr>
          </a:p>
          <a:p>
            <a:pPr algn="r">
              <a:spcBef>
                <a:spcPct val="50000"/>
              </a:spcBef>
              <a:defRPr/>
            </a:pPr>
            <a:endParaRPr lang="en-GB" altLang="en-US" sz="1000" dirty="0">
              <a:solidFill>
                <a:schemeClr val="accent2"/>
              </a:solidFill>
              <a:latin typeface="Times New Roman" charset="0"/>
            </a:endParaRPr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699C07AA-4BE4-49A0-B276-13F3D202B7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u"/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u"/>
        <a:defRPr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u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u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mlr.press/v40/Neyshabur15.pdf?utm_source=chatgpt.com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abs/1511.06747?utm_source=chatgpt.com" TargetMode="External"/><Relationship Id="rId4" Type="http://schemas.openxmlformats.org/officeDocument/2006/relationships/hyperlink" Target="https://arxiv.org/abs/1506.02617?utm_source=chatgpt.com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1.07875?utm_source=chatgpt.com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mlr.csail.mit.edu/papers/v13/gretton12a.html?utm_source=chatgpt.com" TargetMode="External"/><Relationship Id="rId4" Type="http://schemas.openxmlformats.org/officeDocument/2006/relationships/hyperlink" Target="https://arxiv.org/abs/1506.05439?utm_source=chatgpt.com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6.04859?utm_source=chatgpt.com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hyperlink" Target="https://proceedings.neurips.cc/paper/2017/hash/e077e1a544eec4f0307cf5c3c721d944-Abstract.html?utm_source=chatgpt.com" TargetMode="External"/><Relationship Id="rId4" Type="http://schemas.openxmlformats.org/officeDocument/2006/relationships/hyperlink" Target="https://arxiv.org/abs/1605.08254?utm_source=chatgpt.com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C9D3ED6E-29C5-344B-AD25-059465987D1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4754" y="2400701"/>
            <a:ext cx="11762071" cy="914400"/>
          </a:xfr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>
              <a:defRPr/>
            </a:pPr>
            <a:r>
              <a:rPr lang="zh-CN" altLang="en-US" sz="4800" dirty="0"/>
              <a:t>第五讲  范数与 </a:t>
            </a:r>
            <a:r>
              <a:rPr lang="en-US" altLang="zh-CN" sz="4800" dirty="0"/>
              <a:t>Banach </a:t>
            </a:r>
            <a:r>
              <a:rPr lang="zh-CN" altLang="en-US" sz="4800" dirty="0"/>
              <a:t>空间</a:t>
            </a:r>
          </a:p>
          <a:p>
            <a:pPr>
              <a:defRPr/>
            </a:pPr>
            <a:endParaRPr lang="en-US" altLang="zh-CN" sz="4800" b="0" dirty="0">
              <a:solidFill>
                <a:srgbClr val="00B050"/>
              </a:solidFill>
              <a:latin typeface="ＭＳ ゴシック" panose="020B0609070205080204" pitchFamily="49" charset="-128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4557E3E-7542-E03D-E83D-95659A1FF452}"/>
              </a:ext>
            </a:extLst>
          </p:cNvPr>
          <p:cNvSpPr txBox="1"/>
          <p:nvPr/>
        </p:nvSpPr>
        <p:spPr>
          <a:xfrm>
            <a:off x="2058126" y="3959721"/>
            <a:ext cx="80757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dirty="0">
                <a:latin typeface="+mj-ea"/>
                <a:ea typeface="+mj-ea"/>
              </a:rPr>
              <a:t>面向应用的泛函分析：空间、算子与结构</a:t>
            </a:r>
            <a:r>
              <a:rPr lang="en-US" altLang="ja-JP" sz="3000" dirty="0">
                <a:latin typeface="+mj-ea"/>
                <a:ea typeface="+mj-ea"/>
              </a:rPr>
              <a:t>(5)</a:t>
            </a:r>
            <a:endParaRPr lang="ja-JP" altLang="en-US" sz="3000" dirty="0">
              <a:latin typeface="+mj-ea"/>
              <a:ea typeface="+mj-ea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873AE4-8092-C0CF-6CC8-939EF51604B4}"/>
              </a:ext>
            </a:extLst>
          </p:cNvPr>
          <p:cNvSpPr txBox="1"/>
          <p:nvPr/>
        </p:nvSpPr>
        <p:spPr>
          <a:xfrm>
            <a:off x="4439920" y="5158339"/>
            <a:ext cx="33121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dirty="0">
                <a:latin typeface="+mj-ea"/>
                <a:ea typeface="+mj-ea"/>
              </a:rPr>
              <a:t>讲师：贾伊阳</a:t>
            </a:r>
            <a:endParaRPr lang="ja-JP" altLang="en-US" sz="30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A742A-F3B0-B5FC-F001-90792E353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EE0C5DE-B7CA-CE05-FCF0-107E1E9E8A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为什么很多算法在理论上需要完备性？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23FAC7C-7CD3-DCD3-16E6-99C6C08863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目标：理解三个问题：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如何用范数度量误差？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算子为什么可能放大误差？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Banach </a:t>
                </a:r>
                <a:r>
                  <a:rPr lang="zh-CN" altLang="en-US" dirty="0"/>
                  <a:t>空间为什么是讨论稳定性的基本空间？ 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核心思想：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b="0"/>
                        <m:t>输入误差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box>
                            <m:box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r>
                                <m:rPr>
                                  <m:nor/>
                                </m:rPr>
                                <a:rPr lang="zh-CN" altLang="en-US" b="0"/>
                                <m:t>算子</m:t>
                              </m:r>
                            </m:e>
                          </m:box>
                        </m:e>
                      </m:groupChr>
                      <m:r>
                        <m:rPr>
                          <m:nor/>
                        </m:rPr>
                        <a:rPr lang="zh-CN" altLang="en-US" i="1"/>
                        <m:t>输出误差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zh-CN" altLang="en-US" b="0" dirty="0"/>
              </a:p>
              <a:p>
                <a:pPr marL="0" indent="0">
                  <a:buNone/>
                </a:pPr>
                <a:r>
                  <a:rPr lang="zh-CN" altLang="en-US" dirty="0"/>
                  <a:t>关心：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𝑇𝑥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𝑇𝑦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∥≤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zh-CN" altLang="en-US" dirty="0"/>
                  <a:t>？也就是说，输入差一点，输出是否也只差一点。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23FAC7C-7CD3-DCD3-16E6-99C6C08863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10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0483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C18812-E6F5-BD75-9287-DE197EAE0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场景驱动：误差为什么重要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41376A4-EFA7-7F39-8C97-B1DB3E2F4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82265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4BEC7-C057-4FCD-2BDB-5E49B608A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6F0042A-0740-B8C1-A3C2-9C243A3998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误差为什么重要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FA19CA84-9AF3-E459-51ED-9079DACD91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在数值计算和机器学习中，我们常常不能得到精确对象。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例如：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1"/>
                          <m:t>true</m:t>
                        </m:r>
                      </m:sub>
                    </m:sSub>
                  </m:oMath>
                </a14:m>
                <a:r>
                  <a:rPr lang="zh-CN" altLang="en-US" dirty="0"/>
                  <a:t> 是真实输入，而我们只能得到近似输入：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1"/>
                          <m:t>approx</m:t>
                        </m:r>
                      </m:sub>
                    </m:sSub>
                  </m:oMath>
                </a14:m>
                <a:endParaRPr lang="zh-CN" altLang="en-US" b="0" dirty="0"/>
              </a:p>
              <a:p>
                <a:pPr marL="0" indent="0">
                  <a:buNone/>
                </a:pPr>
                <a:r>
                  <a:rPr lang="zh-CN" altLang="en-US" dirty="0"/>
                  <a:t>误差为：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1"/>
                          <m:t>approx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1"/>
                          <m:t>true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endParaRPr lang="zh-CN" altLang="en-US" b="0" dirty="0"/>
              </a:p>
              <a:p>
                <a:pPr marL="0" indent="0">
                  <a:buNone/>
                </a:pPr>
                <a:r>
                  <a:rPr lang="zh-CN" altLang="en-US" dirty="0"/>
                  <a:t>如果模型或算法是一个算子：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，那么输出误差是：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1"/>
                              <m:t>approx</m:t>
                            </m:r>
                          </m:sub>
                        </m:sSub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1"/>
                              <m:t>true</m:t>
                            </m:r>
                          </m:sub>
                        </m:sSub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endParaRPr lang="zh-CN" altLang="en-US" b="0" dirty="0"/>
              </a:p>
              <a:p>
                <a:pPr marL="0" indent="0">
                  <a:buNone/>
                </a:pPr>
                <a:r>
                  <a:rPr lang="zh-CN" altLang="en-US" dirty="0"/>
                  <a:t>问题变成：输入误差会不会被算子放大？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b="1" dirty="0"/>
                  <a:t>范数是误差控制的语言</a:t>
                </a:r>
              </a:p>
              <a:p>
                <a:pPr marL="400050" lvl="1" indent="0">
                  <a:buNone/>
                </a:pPr>
                <a:r>
                  <a:rPr lang="zh-CN" altLang="en-US" dirty="0"/>
                  <a:t>设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是向量空间，范数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∥⋅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zh-CN" altLang="en-US" dirty="0"/>
                  <a:t>给出了元素的大小。</a:t>
                </a:r>
                <a:endParaRPr lang="en-US" altLang="zh-CN" dirty="0"/>
              </a:p>
              <a:p>
                <a:pPr marL="400050" lvl="1" indent="0">
                  <a:buNone/>
                </a:pPr>
                <a:r>
                  <a:rPr lang="zh-CN" altLang="en-US" dirty="0"/>
                  <a:t>两个元素之间的误差定义为：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𝑦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endParaRPr lang="zh-CN" altLang="en-US" dirty="0"/>
              </a:p>
              <a:p>
                <a:pPr marL="400050" lvl="1" indent="0">
                  <a:buNone/>
                </a:pPr>
                <a:r>
                  <a:rPr lang="zh-CN" altLang="en-US" dirty="0"/>
                  <a:t>所以范数可以用来描述：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， 即：</a:t>
                </a:r>
                <a14:m>
                  <m:oMath xmlns:m="http://schemas.openxmlformats.org/officeDocument/2006/math">
                    <m:r>
                      <a:rPr lang="zh-CN" altLang="en-US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zh-CN" alt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dirty="0">
                  <a:solidFill>
                    <a:srgbClr val="C00000"/>
                  </a:solidFill>
                </a:endParaRPr>
              </a:p>
              <a:p>
                <a:pPr marL="400050" lvl="1" indent="0">
                  <a:buNone/>
                </a:pPr>
                <a:r>
                  <a:rPr lang="zh-CN" altLang="en-US" dirty="0"/>
                  <a:t>直观解释：范数描述“近似解离真实解有多远”。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FA19CA84-9AF3-E459-51ED-9079DACD91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10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4390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FC7B2-3033-720E-A93A-E726ED5B1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C38F30D-5DFD-D741-046C-D2DB69F431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不同范数对应不同误差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60D3EC4-0565-BCE1-C0FD-CEF79AE620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en-US" dirty="0"/>
                  <a:t>同一个函数误差，可以用不同方式度量。</a:t>
                </a:r>
              </a:p>
              <a:p>
                <a:pPr marL="0" indent="0">
                  <a:buNone/>
                </a:pPr>
                <a:r>
                  <a:rPr lang="ja-JP" altLang="en-US" dirty="0"/>
                  <a:t>例如</a:t>
                </a:r>
                <a:r>
                  <a:rPr lang="zh-CN" altLang="en-US" dirty="0"/>
                  <a:t>对于</a:t>
                </a:r>
                <a:r>
                  <a:rPr lang="ja-JP" altLang="en-US" dirty="0"/>
                  <a:t>两个函数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ja-JP" altLang="en-US" dirty="0"/>
                  <a:t>：</a:t>
                </a:r>
              </a:p>
              <a:p>
                <a:pPr marL="0" indent="0">
                  <a:buNone/>
                </a:pPr>
                <a:endParaRPr lang="en-US" altLang="ja-JP" b="1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ja-JP" altLang="en-US" b="1" dirty="0"/>
                  <a:t>平均意义下的误差</a:t>
                </a:r>
                <a:r>
                  <a:rPr lang="zh-CN" altLang="en-US" b="1" dirty="0"/>
                  <a:t>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𝑔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grow m:val="on"/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  <m:sup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  <m:e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e>
                            </m:nary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e>
                              <m:sup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d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/>
                  <a:t> 表示整体平均误差。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ja-JP" altLang="en-US" b="1" dirty="0"/>
                  <a:t>最坏情况误差</a:t>
                </a:r>
                <a:r>
                  <a:rPr lang="zh-CN" altLang="en-US" b="1" dirty="0"/>
                  <a:t>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𝑔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ma</m:t>
                        </m:r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∣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ja-JP" altLang="en-US" dirty="0"/>
                  <a:t> 表示最大偏差。</a:t>
                </a: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不同范数代表不同的误差控制目标。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/>
                  <a:t>范数重视整体误差，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lang="ar-AE" altLang="ja-JP" dirty="0"/>
                  <a:t> </a:t>
                </a:r>
                <a:r>
                  <a:rPr lang="ja-JP" altLang="en-US" dirty="0"/>
                  <a:t>范数重视最坏情况误差。</a:t>
                </a:r>
              </a:p>
              <a:p>
                <a:pPr marL="0" indent="0">
                  <a:buNone/>
                </a:pPr>
                <a:endParaRPr lang="ja-JP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60D3EC4-0565-BCE1-C0FD-CEF79AE620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737" t="-10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36F4369E-BC83-9703-CBF4-F4AFF5442208}"/>
                  </a:ext>
                </a:extLst>
              </p:cNvPr>
              <p:cNvSpPr txBox="1"/>
              <p:nvPr/>
            </p:nvSpPr>
            <p:spPr>
              <a:xfrm>
                <a:off x="4775200" y="4217652"/>
                <a:ext cx="7152640" cy="23917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0000"/>
                  </a:lnSpc>
                  <a:buNone/>
                </a:pPr>
                <a:r>
                  <a:rPr lang="ja-JP" altLang="en-US" dirty="0">
                    <a:solidFill>
                      <a:srgbClr val="7030A0"/>
                    </a:solidFill>
                  </a:rPr>
                  <a:t>考虑 </a:t>
                </a:r>
                <a14:m>
                  <m:oMath xmlns:m="http://schemas.openxmlformats.org/officeDocument/2006/math">
                    <m:r>
                      <a:rPr lang="ja-JP" alt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ar-AE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 i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ar-AE" altLang="ja-JP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altLang="ja-JP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grow m:val="on"/>
                                <m:subHide m:val="on"/>
                                <m:supHide m:val="on"/>
                                <m:ctrlPr>
                                  <a:rPr lang="ar-AE" altLang="ja-JP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ar-AE" altLang="ja-JP" i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e>
                            </m:nary>
                            <m:r>
                              <a:rPr lang="ja-JP" altLang="ar-AE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sSup>
                              <m:sSupPr>
                                <m:ctrlPr>
                                  <a:rPr lang="ar-AE" altLang="ja-JP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altLang="ja-JP" i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e>
                              <m:sup>
                                <m:r>
                                  <a:rPr lang="ja-JP" altLang="ar-AE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ar-AE" altLang="ja-JP" i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altLang="ja-JP" i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ja-JP" alt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ar-AE" altLang="ja-JP" dirty="0">
                  <a:solidFill>
                    <a:srgbClr val="7030A0"/>
                  </a:solidFill>
                </a:endParaRPr>
              </a:p>
              <a:p>
                <a:pPr>
                  <a:lnSpc>
                    <a:spcPct val="110000"/>
                  </a:lnSpc>
                  <a:buNone/>
                </a:pPr>
                <a:r>
                  <a:rPr lang="ja-JP" altLang="en-US" dirty="0">
                    <a:solidFill>
                      <a:srgbClr val="7030A0"/>
                    </a:solidFill>
                  </a:rPr>
                  <a:t>当 </a:t>
                </a: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ja-JP" altLang="en-US" dirty="0">
                    <a:solidFill>
                      <a:srgbClr val="7030A0"/>
                    </a:solidFill>
                  </a:rPr>
                  <a:t>很大：</a:t>
                </a:r>
              </a:p>
              <a:p>
                <a:pPr marL="800100" lvl="1" indent="-342900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ja-JP" altLang="en-US" dirty="0">
                    <a:solidFill>
                      <a:srgbClr val="7030A0"/>
                    </a:solidFill>
                  </a:rPr>
                  <a:t>小于最大值的部分会被压制 </a:t>
                </a:r>
              </a:p>
              <a:p>
                <a:pPr marL="800100" lvl="1" indent="-342900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ja-JP" altLang="en-US" dirty="0">
                    <a:solidFill>
                      <a:srgbClr val="7030A0"/>
                    </a:solidFill>
                  </a:rPr>
                  <a:t>最大值附近主导积分 </a:t>
                </a:r>
              </a:p>
              <a:p>
                <a:pPr>
                  <a:lnSpc>
                    <a:spcPct val="110000"/>
                  </a:lnSpc>
                  <a:buNone/>
                </a:pPr>
                <a:r>
                  <a:rPr lang="ja-JP" altLang="en-US" dirty="0">
                    <a:solidFill>
                      <a:srgbClr val="7030A0"/>
                    </a:solidFill>
                  </a:rPr>
                  <a:t>最终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limLow>
                      <m:limLowPr>
                        <m:ctrlP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ja-JP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ja-JP" alt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ar-AE" altLang="ja-JP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ar-AE" altLang="ja-JP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Low>
                    <m:r>
                      <a:rPr lang="ar-AE" altLang="ja-JP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altLang="ja-JP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ar-AE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ar-AE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 i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ar-AE" altLang="ja-JP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ar-AE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i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ess</m:t>
                        </m:r>
                        <m:r>
                          <a:rPr lang="en-US" altLang="ja-JP" i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US" altLang="ja-JP" i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sup</m:t>
                        </m:r>
                      </m:fName>
                      <m:e>
                        <m:r>
                          <a:rPr lang="ar-AE" altLang="ja-JP" i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</m:func>
                    <m:r>
                      <a:rPr lang="ja-JP" altLang="ar-AE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ar-AE" altLang="ja-JP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zh-CN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（</m:t>
                    </m:r>
                    <m:r>
                      <a:rPr lang="zh-CN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本质上确界</m:t>
                    </m:r>
                    <m:r>
                      <a:rPr lang="zh-CN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）</m:t>
                    </m:r>
                    <m:r>
                      <a:rPr lang="zh-CN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ja-JP" dirty="0">
                    <a:solidFill>
                      <a:srgbClr val="7030A0"/>
                    </a:solidFill>
                  </a:rPr>
                  <a:t> </a:t>
                </a:r>
                <a:r>
                  <a:rPr lang="ja-JP" altLang="en-US" dirty="0">
                    <a:solidFill>
                      <a:srgbClr val="7030A0"/>
                    </a:solidFill>
                  </a:rPr>
                  <a:t>就是 </a:t>
                </a:r>
                <a14:m>
                  <m:oMath xmlns:m="http://schemas.openxmlformats.org/officeDocument/2006/math">
                    <m:r>
                      <a:rPr lang="ja-JP" alt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ar-AE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 i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 i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endParaRPr lang="ar-AE" altLang="ja-JP" dirty="0">
                  <a:solidFill>
                    <a:srgbClr val="7030A0"/>
                  </a:solidFill>
                </a:endParaRPr>
              </a:p>
              <a:p>
                <a:pPr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 i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rgbClr val="7030A0"/>
                    </a:solidFill>
                  </a:rPr>
                  <a:t>本质上是 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ar-AE" altLang="ja-JP" dirty="0">
                    <a:solidFill>
                      <a:srgbClr val="7030A0"/>
                    </a:solidFill>
                  </a:rPr>
                  <a:t> </a:t>
                </a:r>
                <a:r>
                  <a:rPr lang="ja-JP" altLang="en-US" dirty="0">
                    <a:solidFill>
                      <a:srgbClr val="7030A0"/>
                    </a:solidFill>
                  </a:rPr>
                  <a:t>在 </a:t>
                </a: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ja-JP" altLang="en-US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ja-JP" altLang="en-US" dirty="0">
                    <a:solidFill>
                      <a:srgbClr val="7030A0"/>
                    </a:solidFill>
                  </a:rPr>
                  <a:t>时的极限空间”。</a:t>
                </a:r>
              </a:p>
            </p:txBody>
          </p:sp>
        </mc:Choice>
        <mc:Fallback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36F4369E-BC83-9703-CBF4-F4AFF5442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200" y="4217652"/>
                <a:ext cx="7152640" cy="2391745"/>
              </a:xfrm>
              <a:prstGeom prst="rect">
                <a:avLst/>
              </a:prstGeom>
              <a:blipFill>
                <a:blip r:embed="rId4"/>
                <a:stretch>
                  <a:fillRect l="-852" b="-382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5658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ECA51-A2E9-23E0-104D-9F1AD9F1B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7C61E00-13D1-0008-EE7B-A43091D0EB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/>
              <a:t>算子稳定性：误差传播是否可控？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7FFABA9B-D131-094C-40A6-7085D50B32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设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ja-JP" altLang="en-US" dirty="0"/>
                  <a:t>是一个算子。如果存在常数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en-US" dirty="0"/>
                  <a:t>，使得对任意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，</a:t>
                </a:r>
                <a:endParaRPr lang="en-US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𝑇𝑥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𝑇𝑦</m:t>
                      </m:r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ar-AE" altLang="ja-JP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ja-JP" altLang="ar-AE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ar-AE" altLang="ja-JP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ja-JP" altLang="ar-AE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altLang="ja-JP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ja-JP" altLang="ar-AE" i="1">
                          <a:latin typeface="Cambria Math" panose="02040503050406030204" pitchFamily="18" charset="0"/>
                        </a:rPr>
                        <m:t>𝑦</m:t>
                      </m:r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ar-AE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则说明算子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en-US" dirty="0"/>
                  <a:t>是稳定的。其中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ja-JP" altLang="en-US" dirty="0"/>
                  <a:t>可以理解为：误差最多被放大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ja-JP" altLang="en-US" dirty="0"/>
                  <a:t>倍。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如果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ja-JP" altLang="en-US" dirty="0"/>
                  <a:t>很小，算子稳定性好。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如果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ja-JP" altLang="en-US" dirty="0"/>
                  <a:t>很大，小误差可能被明显放大。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如果根本不存在这样的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ja-JP" altLang="en-US" dirty="0"/>
                  <a:t>，误差传播就可能失控。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ja-JP" alt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特别的，</a:t>
                </a:r>
                <a:r>
                  <a:rPr lang="ja-JP" altLang="en-US" b="1" dirty="0">
                    <a:solidFill>
                      <a:srgbClr val="C00000"/>
                    </a:solidFill>
                  </a:rPr>
                  <a:t>线性算子的稳定性：有界性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如果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ja-JP" altLang="en-US" dirty="0"/>
                  <a:t>是线性算子，那么稳定性通常写成：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≤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zh-CN" altLang="en-US" dirty="0"/>
                  <a:t>。</a:t>
                </a:r>
                <a:r>
                  <a:rPr lang="ja-JP" altLang="en-US" dirty="0"/>
                  <a:t>这称为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en-US" dirty="0"/>
                  <a:t>是有界线性算子。</a:t>
                </a:r>
                <a:endParaRPr lang="en-US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“有界”不是说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𝑇𝑥</m:t>
                    </m:r>
                  </m:oMath>
                </a14:m>
                <a:r>
                  <a:rPr lang="ja-JP" altLang="en-US" dirty="0"/>
                  <a:t>本身有界，而是说：算子不会把单位大小的输入变成无限大的输出。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>
                    <a:solidFill>
                      <a:srgbClr val="FF0000"/>
                    </a:solidFill>
                  </a:rPr>
                  <a:t>算子的大小定义为：</a:t>
                </a:r>
                <a14:m>
                  <m:oMath xmlns:m="http://schemas.openxmlformats.org/officeDocument/2006/math">
                    <m:r>
                      <a:rPr lang="ja-JP" alt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ja-JP" alt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ja-JP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sup</m:t>
                        </m:r>
                      </m:e>
                      <m:sub>
                        <m:r>
                          <a:rPr lang="ar-AE" altLang="ja-JP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ja-JP" altLang="ar-A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ar-AE" altLang="ja-JP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ja-JP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b>
                            <m:r>
                              <a:rPr lang="ja-JP" altLang="ar-A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ar-AE" altLang="ja-JP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ar-AE" altLang="ja-JP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ar-AE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𝑇𝑥</m:t>
                    </m:r>
                    <m:sSub>
                      <m:sSubPr>
                        <m:ctrlPr>
                          <a:rPr lang="ar-AE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endParaRPr lang="en-US" altLang="ja-JP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有：</a:t>
                </a:r>
                <a:endParaRPr lang="en-US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ja-JP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𝑇𝑥</m:t>
                      </m:r>
                      <m:sSub>
                        <m:sSubPr>
                          <m:ctrlPr>
                            <a:rPr lang="ar-AE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ja-JP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ja-JP" alt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ar-AE" altLang="ja-JP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≤∥</m:t>
                      </m:r>
                      <m:r>
                        <a:rPr lang="ja-JP" altLang="ar-AE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ar-AE" altLang="ja-JP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∥∥</m:t>
                      </m:r>
                      <m:r>
                        <a:rPr lang="ja-JP" altLang="ar-AE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ar-AE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ja-JP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ja-JP" alt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ar-AE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这就是最基本的误差控制公式。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7FFABA9B-D131-094C-40A6-7085D50B32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897" b="-21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2430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00B55-2523-46E6-F697-F7072ADF3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03B3CE0-052D-D9EB-5A7C-FB896B3003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/>
              <a:t>误差控制公式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6378FD0-F7F2-4F4E-E85B-240EBDBCAD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设真实输入为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，近似输入为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ar-AE" dirty="0"/>
                  <a:t>。</a:t>
                </a:r>
                <a:endParaRPr lang="en-US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如果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en-US" dirty="0"/>
                  <a:t>是有界线性算子，则：</a:t>
                </a:r>
                <a:endParaRPr lang="en-US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𝑇</m:t>
                      </m:r>
                      <m:acc>
                        <m:accPr>
                          <m:chr m:val="̃"/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ar-AE" altLang="ja-JP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ja-JP" altLang="ar-AE" i="1">
                          <a:latin typeface="Cambria Math" panose="02040503050406030204" pitchFamily="18" charset="0"/>
                        </a:rPr>
                        <m:t>𝑇𝑥</m:t>
                      </m:r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ja-JP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altLang="ja-JP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altLang="ja-JP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ja-JP" altLang="ar-AE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altLang="ja-JP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ja-JP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altLang="ja-JP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ja-JP" altLang="ar-AE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ar-AE" altLang="ja-JP">
                          <a:latin typeface="Cambria Math" panose="02040503050406030204" pitchFamily="18" charset="0"/>
                        </a:rPr>
                        <m:t>∥∥</m:t>
                      </m:r>
                      <m:acc>
                        <m:accPr>
                          <m:chr m:val="̃"/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ar-AE" altLang="ja-JP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ja-JP" altLang="ar-AE" i="1"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ar-AE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说明：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ja-JP" altLang="en-US" b="0"/>
                      <m:t>输出误差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ja-JP" altLang="en-US" i="1"/>
                      <m:t>算子范数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ja-JP" altLang="en-US" i="1"/>
                      <m:t>输入误差</m:t>
                    </m:r>
                  </m:oMath>
                </a14:m>
                <a:endParaRPr lang="ja-JP" altLang="en-US" b="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也就是：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borderBox>
                      <m:borderBox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US" altLang="ja-JP" b="0"/>
                          <m:t>output</m:t>
                        </m:r>
                        <m:r>
                          <m:rPr>
                            <m:nor/>
                          </m:rPr>
                          <a:rPr lang="en-US" altLang="ja-JP" b="0" i="1"/>
                          <m:t> </m:t>
                        </m:r>
                        <m:r>
                          <m:rPr>
                            <m:nor/>
                          </m:rPr>
                          <a:rPr lang="en-US" altLang="ja-JP" b="0" i="1"/>
                          <m:t>error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nor/>
                          </m:rPr>
                          <a:rPr lang="en-US" altLang="ja-JP" i="1"/>
                          <m:t>operator</m:t>
                        </m:r>
                        <m:r>
                          <m:rPr>
                            <m:nor/>
                          </m:rPr>
                          <a:rPr lang="en-US" altLang="ja-JP" i="1"/>
                          <m:t> </m:t>
                        </m:r>
                        <m:r>
                          <m:rPr>
                            <m:nor/>
                          </m:rPr>
                          <a:rPr lang="en-US" altLang="ja-JP" i="1"/>
                          <m:t>norm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US" altLang="ja-JP" i="1"/>
                          <m:t>input</m:t>
                        </m:r>
                        <m:r>
                          <m:rPr>
                            <m:nor/>
                          </m:rPr>
                          <a:rPr lang="en-US" altLang="ja-JP" i="1"/>
                          <m:t> </m:t>
                        </m:r>
                        <m:r>
                          <m:rPr>
                            <m:nor/>
                          </m:rPr>
                          <a:rPr lang="en-US" altLang="ja-JP" i="1"/>
                          <m:t>error</m:t>
                        </m:r>
                      </m:e>
                    </m:borderBox>
                  </m:oMath>
                </a14:m>
                <a:endParaRPr lang="ar-AE" altLang="ja-JP" b="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b="1" dirty="0">
                    <a:solidFill>
                      <a:srgbClr val="C00000"/>
                    </a:solidFill>
                  </a:rPr>
                  <a:t>例：矩阵作为线性算子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在有限维空间中，矩阵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ja-JP" altLang="en-US" dirty="0"/>
                  <a:t> 是一个线性算子。</a:t>
                </a:r>
                <a:endParaRPr lang="en-US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如果输入有误差：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那么输出误差为：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̃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。</a:t>
                </a:r>
                <a:endParaRPr lang="ar-AE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因此：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̃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∥≤∥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∥∥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endParaRPr lang="en-US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ar-AE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解释：</a:t>
                </a:r>
                <a:r>
                  <a:rPr lang="ja-JP" altLang="en-US" dirty="0">
                    <a:solidFill>
                      <a:srgbClr val="C00000"/>
                    </a:solidFill>
                  </a:rPr>
                  <a:t>矩阵的算子范数衡量了它最多能把输入误差放大多少</a:t>
                </a:r>
                <a:r>
                  <a:rPr lang="ja-JP" altLang="en-US" dirty="0"/>
                  <a:t>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在机器学习中，神经网络的线性层也可以这样理解。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6378FD0-F7F2-4F4E-E85B-240EBDBCAD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8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1179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BF562-1098-B618-738E-E548A7FE4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DB58B52-26E5-46D3-1731-84C384BC50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/>
              <a:t>误差控制公式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3180FF2A-9383-EE0B-2C39-D52D15D3DB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en-US" b="1" dirty="0">
                    <a:solidFill>
                      <a:srgbClr val="C00000"/>
                    </a:solidFill>
                  </a:rPr>
                  <a:t>例</a:t>
                </a:r>
                <a:r>
                  <a:rPr lang="en-US" altLang="ja-JP" b="1" dirty="0">
                    <a:solidFill>
                      <a:srgbClr val="C00000"/>
                    </a:solidFill>
                  </a:rPr>
                  <a:t>2</a:t>
                </a:r>
                <a:r>
                  <a:rPr lang="ja-JP" altLang="en-US" b="1" dirty="0">
                    <a:solidFill>
                      <a:srgbClr val="C00000"/>
                    </a:solidFill>
                  </a:rPr>
                  <a:t>：积分算子的稳定性</a:t>
                </a:r>
              </a:p>
              <a:p>
                <a:pPr marL="0" indent="0">
                  <a:buNone/>
                </a:pPr>
                <a:endParaRPr lang="en-US" altLang="ja-JP" sz="400" dirty="0"/>
              </a:p>
              <a:p>
                <a:pPr marL="0" indent="0">
                  <a:buNone/>
                </a:pPr>
                <a:r>
                  <a:rPr lang="ja-JP" altLang="en-US" dirty="0"/>
                  <a:t>考虑积分算子：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𝑇𝑓</m:t>
                        </m:r>
                      </m:e>
                    </m:d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nor/>
                      </m:rPr>
                      <a:rPr lang="ar-AE" altLang="ja-JP" i="1"/>
                      <m:t> 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如果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ja-JP" altLang="en-US" dirty="0"/>
                  <a:t>有一个小扰动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ja-JP" altLang="en-US" dirty="0"/>
                  <a:t>，那么输出扰动是：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𝑇𝑓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ar-AE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且有：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endParaRPr lang="ar-AE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所以积分算子是稳定的。</a:t>
                </a: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直观：积分具有平滑作用，不容易放大局部噪声。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b="1" dirty="0">
                    <a:solidFill>
                      <a:srgbClr val="C00000"/>
                    </a:solidFill>
                  </a:rPr>
                  <a:t>例</a:t>
                </a:r>
                <a:r>
                  <a:rPr lang="en-US" altLang="ja-JP" b="1" dirty="0">
                    <a:solidFill>
                      <a:srgbClr val="C00000"/>
                    </a:solidFill>
                  </a:rPr>
                  <a:t>3</a:t>
                </a:r>
                <a:r>
                  <a:rPr lang="ja-JP" altLang="en-US" b="1" dirty="0">
                    <a:solidFill>
                      <a:srgbClr val="C00000"/>
                    </a:solidFill>
                  </a:rPr>
                  <a:t>：微分算子的不稳定性</a:t>
                </a:r>
                <a:endParaRPr lang="en-US" altLang="ja-JP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ja-JP" altLang="en-US" sz="400" b="1" dirty="0"/>
              </a:p>
              <a:p>
                <a:pPr marL="0" indent="0">
                  <a:buNone/>
                </a:pPr>
                <a:r>
                  <a:rPr lang="ja-JP" altLang="en-US" dirty="0"/>
                  <a:t>考虑微分算子：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𝐷𝑓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dirty="0"/>
                  <a:t>。 </a:t>
                </a:r>
                <a:r>
                  <a:rPr lang="ja-JP" altLang="en-US" dirty="0"/>
                  <a:t>微分对误差非常敏感。</a:t>
                </a:r>
              </a:p>
              <a:p>
                <a:pPr marL="0" indent="0">
                  <a:buNone/>
                </a:pPr>
                <a:r>
                  <a:rPr lang="ja-JP" altLang="en-US" dirty="0"/>
                  <a:t>例如：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ja-JP" altLang="en-US" smtClean="0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但：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，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ja-JP" altLang="en-US" dirty="0"/>
                  <a:t>所以：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sSubSup>
                      <m:sSub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ja-JP" altLang="en-US" dirty="0"/>
                  <a:t>但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不但没有趋于 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en-US" dirty="0"/>
                  <a:t>，反而变得越来越大在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ja-JP" altLang="en-US" dirty="0"/>
                  <a:t>的一致范数下，微分算子不是稳定算子。</a:t>
                </a:r>
              </a:p>
              <a:p>
                <a:pPr marL="0" indent="0">
                  <a:buNone/>
                </a:pPr>
                <a:endParaRPr lang="ja-JP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3180FF2A-9383-EE0B-2C39-D52D15D3DB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2578" b="-37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A60D41DF-945E-B67F-8F39-8C24E3A779C3}"/>
                  </a:ext>
                </a:extLst>
              </p:cNvPr>
              <p:cNvSpPr txBox="1"/>
              <p:nvPr/>
            </p:nvSpPr>
            <p:spPr>
              <a:xfrm>
                <a:off x="6085840" y="2502935"/>
                <a:ext cx="6106160" cy="29333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ja-JP" altLang="en-US" dirty="0">
                    <a:solidFill>
                      <a:srgbClr val="7030A0"/>
                    </a:solidFill>
                  </a:rPr>
                  <a:t>同样是函数操作，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ja-JP" altLang="en-US" b="0">
                        <a:solidFill>
                          <a:srgbClr val="7030A0"/>
                        </a:solidFill>
                      </a:rPr>
                      <m:t>积分</m:t>
                    </m:r>
                  </m:oMath>
                </a14:m>
                <a:r>
                  <a:rPr lang="ja-JP" altLang="en-US" dirty="0">
                    <a:solidFill>
                      <a:srgbClr val="7030A0"/>
                    </a:solidFill>
                  </a:rPr>
                  <a:t>通常稳定，而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ja-JP" altLang="en-US" b="0">
                        <a:solidFill>
                          <a:srgbClr val="7030A0"/>
                        </a:solidFill>
                      </a:rPr>
                      <m:t>微分</m:t>
                    </m:r>
                  </m:oMath>
                </a14:m>
                <a:r>
                  <a:rPr lang="ja-JP" altLang="en-US" dirty="0">
                    <a:solidFill>
                      <a:srgbClr val="7030A0"/>
                    </a:solidFill>
                  </a:rPr>
                  <a:t>可能不稳定。</a:t>
                </a:r>
              </a:p>
              <a:p>
                <a:pPr>
                  <a:lnSpc>
                    <a:spcPct val="110000"/>
                  </a:lnSpc>
                </a:pPr>
                <a:r>
                  <a:rPr lang="ja-JP" altLang="en-US" dirty="0">
                    <a:solidFill>
                      <a:srgbClr val="7030A0"/>
                    </a:solidFill>
                  </a:rPr>
                  <a:t>因此，在数学建模、机器学习、图像处理、数值计算中：</a:t>
                </a:r>
              </a:p>
              <a:p>
                <a:pPr>
                  <a:lnSpc>
                    <a:spcPct val="110000"/>
                  </a:lnSpc>
                </a:pPr>
                <a:r>
                  <a:rPr lang="ja-JP" altLang="en-US" dirty="0">
                    <a:solidFill>
                      <a:srgbClr val="7030A0"/>
                    </a:solidFill>
                  </a:rPr>
                  <a:t>积分型方法通常比较抗噪声； </a:t>
                </a:r>
              </a:p>
              <a:p>
                <a:pPr>
                  <a:lnSpc>
                    <a:spcPct val="110000"/>
                  </a:lnSpc>
                </a:pPr>
                <a:r>
                  <a:rPr lang="ja-JP" altLang="en-US" dirty="0">
                    <a:solidFill>
                      <a:srgbClr val="7030A0"/>
                    </a:solidFill>
                  </a:rPr>
                  <a:t>微分型方法容易放大高频误差； </a:t>
                </a:r>
              </a:p>
              <a:p>
                <a:pPr>
                  <a:lnSpc>
                    <a:spcPct val="110000"/>
                  </a:lnSpc>
                </a:pPr>
                <a:r>
                  <a:rPr lang="ja-JP" altLang="en-US" dirty="0">
                    <a:solidFill>
                      <a:srgbClr val="7030A0"/>
                    </a:solidFill>
                  </a:rPr>
                  <a:t>需要选择合适的函数空间和范数； </a:t>
                </a:r>
              </a:p>
              <a:p>
                <a:pPr>
                  <a:lnSpc>
                    <a:spcPct val="110000"/>
                  </a:lnSpc>
                </a:pPr>
                <a:r>
                  <a:rPr lang="ja-JP" altLang="en-US" dirty="0">
                    <a:solidFill>
                      <a:srgbClr val="7030A0"/>
                    </a:solidFill>
                  </a:rPr>
                  <a:t>需要正则化来控制不稳定性。 </a:t>
                </a:r>
              </a:p>
              <a:p>
                <a:pPr>
                  <a:lnSpc>
                    <a:spcPct val="110000"/>
                  </a:lnSpc>
                </a:pPr>
                <a:r>
                  <a:rPr lang="ja-JP" altLang="en-US" dirty="0">
                    <a:solidFill>
                      <a:srgbClr val="7030A0"/>
                    </a:solidFill>
                  </a:rPr>
                  <a:t>例如 </a:t>
                </a:r>
                <a:r>
                  <a:rPr lang="en-US" altLang="ja-JP" dirty="0">
                    <a:solidFill>
                      <a:srgbClr val="7030A0"/>
                    </a:solidFill>
                  </a:rPr>
                  <a:t>Sobolev </a:t>
                </a:r>
                <a:r>
                  <a:rPr lang="ja-JP" altLang="en-US" dirty="0">
                    <a:solidFill>
                      <a:srgbClr val="7030A0"/>
                    </a:solidFill>
                  </a:rPr>
                  <a:t>范数会把函数本身和导数一起控制：</a:t>
                </a:r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ja-JP" alt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sSub>
                        <m:sSubPr>
                          <m:ctrlPr>
                            <a:rPr lang="ar-AE" altLang="ja-JP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ja-JP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sSup>
                            <m:sSupPr>
                              <m:ctrlPr>
                                <a:rPr lang="ar-AE" altLang="ja-JP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ar-AE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ar-AE" altLang="ja-JP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sub>
                      </m:sSub>
                      <m:r>
                        <a:rPr lang="ar-AE" altLang="ja-JP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altLang="ja-JP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altLang="ja-JP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ja-JP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  <m:r>
                                <a:rPr lang="ja-JP" altLang="ar-AE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sSubSup>
                                <m:sSubSupPr>
                                  <m:ctrlPr>
                                    <a:rPr lang="ar-AE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altLang="ja-JP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ar-AE" altLang="ja-JP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ja-JP" altLang="ar-AE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ar-AE" altLang="ja-JP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sub>
                                <m:sup>
                                  <m:r>
                                    <a:rPr lang="ar-AE" altLang="ja-JP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ar-AE" altLang="ja-JP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+∥</m:t>
                              </m:r>
                              <m:sSup>
                                <m:sSupPr>
                                  <m:ctrlPr>
                                    <a:rPr lang="ar-AE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ja-JP" altLang="ar-AE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ar-AE" altLang="ja-JP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ar-AE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altLang="ja-JP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ar-AE" altLang="ja-JP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ja-JP" altLang="ar-AE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ar-AE" altLang="ja-JP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sub>
                                <m:sup>
                                  <m:r>
                                    <a:rPr lang="ar-AE" altLang="ja-JP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ar-AE" altLang="ja-JP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altLang="ja-JP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AE" altLang="ja-JP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altLang="ja-JP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A60D41DF-945E-B67F-8F39-8C24E3A77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5840" y="2502935"/>
                <a:ext cx="6106160" cy="2933367"/>
              </a:xfrm>
              <a:prstGeom prst="rect">
                <a:avLst/>
              </a:prstGeom>
              <a:blipFill>
                <a:blip r:embed="rId4"/>
                <a:stretch>
                  <a:fillRect l="-998" t="-1663" r="-69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7334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9BC71-809E-571D-209D-5F0F7DBE3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0D1F1CB-70E2-AFEE-0C15-05C4CCCE5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/>
              <a:t>Banach </a:t>
            </a:r>
            <a:r>
              <a:rPr lang="ja-JP" altLang="en-US" b="1" dirty="0"/>
              <a:t>空间：为什么需要完备性？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98402EB7-1107-CD97-9B07-6CB73E8A5A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990600"/>
                <a:ext cx="11582400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误差控制还不够。很多算法产生的是近似解序列：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ar-AE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需要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如果一个赋范空间中的每个 </a:t>
                </a:r>
                <a:r>
                  <a:rPr lang="en-US" altLang="ja-JP" dirty="0"/>
                  <a:t>Cauchy </a:t>
                </a:r>
                <a:r>
                  <a:rPr lang="ja-JP" altLang="en-US" dirty="0"/>
                  <a:t>列都在空间中收敛，那么它就是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空间。</a:t>
                </a: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ja-JP" sz="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ja-JP" dirty="0">
                    <a:solidFill>
                      <a:srgbClr val="C00000"/>
                    </a:solidFill>
                  </a:rPr>
                  <a:t>Banach </a:t>
                </a:r>
                <a:r>
                  <a:rPr lang="ja-JP" altLang="en-US" dirty="0">
                    <a:solidFill>
                      <a:srgbClr val="C00000"/>
                    </a:solidFill>
                  </a:rPr>
                  <a:t>空间的重要性在于：保证很多“极限构造”不会跑出空间</a:t>
                </a:r>
                <a:r>
                  <a:rPr lang="ja-JP" altLang="en-US" dirty="0"/>
                  <a:t>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例如通过迭代构造：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如果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en-US" dirty="0"/>
                  <a:t>是压缩映射：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∥≤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∥, 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&lt;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&lt;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那么在 </a:t>
                </a:r>
                <a:r>
                  <a:rPr lang="en-US" altLang="ja-JP" dirty="0">
                    <a:solidFill>
                      <a:srgbClr val="C00000"/>
                    </a:solidFill>
                  </a:rPr>
                  <a:t>Banach </a:t>
                </a:r>
                <a:r>
                  <a:rPr lang="ja-JP" altLang="en-US" dirty="0">
                    <a:solidFill>
                      <a:srgbClr val="C00000"/>
                    </a:solidFill>
                  </a:rPr>
                  <a:t>空间中存在唯一不动点：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ar-AE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altLang="ja-JP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ar-AE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ja-JP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ar-AE" altLang="ja-JP" dirty="0"/>
              </a:p>
              <a:p>
                <a:pPr>
                  <a:lnSpc>
                    <a:spcPct val="120000"/>
                  </a:lnSpc>
                </a:pPr>
                <a:r>
                  <a:rPr lang="en-US" altLang="ja-JP" dirty="0"/>
                  <a:t>Banach </a:t>
                </a:r>
                <a:r>
                  <a:rPr lang="ja-JP" altLang="en-US" dirty="0"/>
                  <a:t>空间不仅讨论误差，还支持“通过误差逐步逼近</a:t>
                </a:r>
                <a:r>
                  <a:rPr lang="ja-JP" altLang="en-US" dirty="0">
                    <a:solidFill>
                      <a:srgbClr val="C00000"/>
                    </a:solidFill>
                  </a:rPr>
                  <a:t>解</a:t>
                </a:r>
                <a:r>
                  <a:rPr lang="ja-JP" altLang="en-US" dirty="0"/>
                  <a:t>”的理论。</a:t>
                </a:r>
              </a:p>
              <a:p>
                <a:pPr>
                  <a:lnSpc>
                    <a:spcPct val="120000"/>
                  </a:lnSpc>
                </a:pPr>
                <a:endParaRPr lang="en-US" altLang="ja-JP" sz="800" b="1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b="1" dirty="0"/>
                  <a:t>算子稳定性与压缩映射</a:t>
                </a:r>
                <a:r>
                  <a:rPr lang="zh-CN" altLang="en-US" dirty="0"/>
                  <a:t>：</a:t>
                </a:r>
                <a:r>
                  <a:rPr lang="ja-JP" altLang="en-US" dirty="0">
                    <a:solidFill>
                      <a:srgbClr val="7030A0"/>
                    </a:solidFill>
                  </a:rPr>
                  <a:t>压缩映射是一种特别强的稳定算子</a:t>
                </a:r>
                <a:r>
                  <a:rPr lang="ja-JP" altLang="en-US" dirty="0"/>
                  <a:t>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普通稳定性：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𝑇𝑦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∥≤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zh-CN" altLang="en-US" dirty="0"/>
                  <a:t>。</a:t>
                </a:r>
                <a:r>
                  <a:rPr lang="ja-JP" altLang="en-US" dirty="0"/>
                  <a:t>压缩性：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𝑇𝑦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∥≤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&lt;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ja-JP" alt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>
                    <a:solidFill>
                      <a:srgbClr val="7030A0"/>
                    </a:solidFill>
                  </a:rPr>
                  <a:t>普通稳定性只要求误差不失控；压缩性要求误差每一步都变小</a:t>
                </a:r>
                <a:r>
                  <a:rPr lang="ja-JP" altLang="en-US" dirty="0"/>
                  <a:t>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迭代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dirty="0"/>
                  <a:t>会不断逼近唯一解。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ja-JP" b="1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ja-JP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98402EB7-1107-CD97-9B07-6CB73E8A5A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990600"/>
                <a:ext cx="11582400" cy="5440680"/>
              </a:xfrm>
              <a:blipFill>
                <a:blip r:embed="rId3"/>
                <a:stretch>
                  <a:fillRect l="-526" t="-448" b="-986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C639F609-50FE-DA55-496E-9DC97F4F50CE}"/>
                  </a:ext>
                </a:extLst>
              </p:cNvPr>
              <p:cNvSpPr txBox="1"/>
              <p:nvPr/>
            </p:nvSpPr>
            <p:spPr>
              <a:xfrm>
                <a:off x="1691640" y="1585129"/>
                <a:ext cx="9677400" cy="7280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ja-JP" altLang="en-US" dirty="0">
                    <a:latin typeface="+mn-ea"/>
                    <a:ea typeface="+mn-ea"/>
                  </a:rPr>
                  <a:t>这个序列越来越稳定：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  <a:ea typeface="+mn-ea"/>
                      </a:rPr>
                      <m:t>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  <a:ea typeface="+mn-ea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  <a:ea typeface="+mn-ea"/>
                          </a:rPr>
                          <m:t>𝑚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  <a:ea typeface="+mn-ea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  <a:ea typeface="+mn-ea"/>
                      </a:rPr>
                      <m:t>∥→</m:t>
                    </m:r>
                    <m:r>
                      <a:rPr lang="ar-AE" altLang="ja-JP">
                        <a:latin typeface="Cambria Math" panose="02040503050406030204" pitchFamily="18" charset="0"/>
                        <a:ea typeface="+mn-ea"/>
                      </a:rPr>
                      <m:t>0</m:t>
                    </m:r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（</a:t>
                </a:r>
                <a:r>
                  <a:rPr lang="ja-JP" altLang="en-US" dirty="0">
                    <a:latin typeface="+mn-ea"/>
                    <a:ea typeface="+mn-ea"/>
                  </a:rPr>
                  <a:t> </a:t>
                </a:r>
                <a:r>
                  <a:rPr lang="en-US" altLang="ja-JP" dirty="0">
                    <a:latin typeface="+mn-ea"/>
                    <a:ea typeface="+mn-ea"/>
                  </a:rPr>
                  <a:t>Cauchy </a:t>
                </a:r>
                <a:r>
                  <a:rPr lang="ja-JP" altLang="en-US" dirty="0">
                    <a:latin typeface="+mn-ea"/>
                    <a:ea typeface="+mn-ea"/>
                  </a:rPr>
                  <a:t>列</a:t>
                </a:r>
                <a:r>
                  <a:rPr lang="zh-CN" altLang="en-US" dirty="0">
                    <a:latin typeface="+mn-ea"/>
                    <a:ea typeface="+mn-ea"/>
                  </a:rPr>
                  <a:t>）。</a:t>
                </a:r>
                <a:endParaRPr lang="ja-JP" altLang="en-US" dirty="0">
                  <a:latin typeface="+mn-ea"/>
                  <a:ea typeface="+mn-ea"/>
                </a:endParaRPr>
              </a:p>
              <a:p>
                <a:pPr marL="342900" indent="-342900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ja-JP" altLang="en-US" dirty="0">
                    <a:latin typeface="+mn-ea"/>
                    <a:ea typeface="+mn-ea"/>
                  </a:rPr>
                  <a:t>真的收敛到空间中的某个元素</a:t>
                </a:r>
                <a:r>
                  <a:rPr lang="zh-CN" altLang="en-US" dirty="0">
                    <a:latin typeface="+mn-ea"/>
                    <a:ea typeface="+mn-ea"/>
                  </a:rPr>
                  <a:t>（完备性）</a:t>
                </a:r>
                <a:r>
                  <a:rPr lang="ja-JP" altLang="en-US" dirty="0">
                    <a:latin typeface="+mn-ea"/>
                    <a:ea typeface="+mn-ea"/>
                  </a:rPr>
                  <a:t>。</a:t>
                </a:r>
              </a:p>
            </p:txBody>
          </p:sp>
        </mc:Choice>
        <mc:Fallback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C639F609-50FE-DA55-496E-9DC97F4F5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40" y="1585129"/>
                <a:ext cx="9677400" cy="728084"/>
              </a:xfrm>
              <a:prstGeom prst="rect">
                <a:avLst/>
              </a:prstGeom>
              <a:blipFill>
                <a:blip r:embed="rId4"/>
                <a:stretch>
                  <a:fillRect l="-567" t="-5882" b="-151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コネクタ: カギ線 3">
            <a:extLst>
              <a:ext uri="{FF2B5EF4-FFF2-40B4-BE49-F238E27FC236}">
                <a16:creationId xmlns:a16="http://schemas.microsoft.com/office/drawing/2014/main" id="{F73EBD82-B107-645E-8A81-9CD4072CD2A6}"/>
              </a:ext>
            </a:extLst>
          </p:cNvPr>
          <p:cNvCxnSpPr/>
          <p:nvPr/>
        </p:nvCxnSpPr>
        <p:spPr bwMode="auto">
          <a:xfrm>
            <a:off x="6530340" y="4378960"/>
            <a:ext cx="795020" cy="284480"/>
          </a:xfrm>
          <a:prstGeom prst="bentConnector3">
            <a:avLst>
              <a:gd name="adj1" fmla="val 99840"/>
            </a:avLst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486947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D58FA-82BE-AEC2-AFF2-908252E69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386739F-0214-9A11-6EE0-00501B45C6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/>
              <a:t>机器学习</a:t>
            </a:r>
            <a:r>
              <a:rPr lang="zh-CN" altLang="en-US" b="1" dirty="0"/>
              <a:t>中如何讨论</a:t>
            </a:r>
            <a:endParaRPr lang="ja-JP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8D77695-5CAA-863D-7548-C2E5242D84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en-US" dirty="0"/>
                  <a:t>在机器学习中，模型或算法可以看成算子：</a:t>
                </a:r>
                <a14:m>
                  <m:oMath xmlns:m="http://schemas.openxmlformats.org/officeDocument/2006/math">
                    <m:r>
                      <a:rPr lang="ja-JP" alt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altLang="ja-JP" i="1">
                        <a:solidFill>
                          <a:srgbClr val="C00000"/>
                        </a:solidFill>
                      </a:rPr>
                      <m:t>input</m:t>
                    </m:r>
                    <m:r>
                      <m:rPr>
                        <m:nor/>
                      </m:rPr>
                      <a:rPr lang="en-US" altLang="ja-JP" i="1">
                        <a:solidFill>
                          <a:srgbClr val="C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ja-JP" i="1">
                        <a:solidFill>
                          <a:srgbClr val="C00000"/>
                        </a:solidFill>
                      </a:rPr>
                      <m:t>space</m:t>
                    </m:r>
                    <m:r>
                      <a:rPr lang="en-US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altLang="ja-JP" i="1">
                        <a:solidFill>
                          <a:srgbClr val="C00000"/>
                        </a:solidFill>
                      </a:rPr>
                      <m:t>output</m:t>
                    </m:r>
                    <m:r>
                      <m:rPr>
                        <m:nor/>
                      </m:rPr>
                      <a:rPr lang="en-US" altLang="ja-JP" i="1">
                        <a:solidFill>
                          <a:srgbClr val="C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ja-JP" i="1">
                        <a:solidFill>
                          <a:srgbClr val="C00000"/>
                        </a:solidFill>
                      </a:rPr>
                      <m:t>space</m:t>
                    </m:r>
                  </m:oMath>
                </a14:m>
                <a:endParaRPr lang="en-US" altLang="ja-JP" b="0" dirty="0"/>
              </a:p>
              <a:p>
                <a:pPr marL="0" indent="0">
                  <a:buNone/>
                </a:pPr>
                <a:r>
                  <a:rPr lang="ja-JP" altLang="en-US" dirty="0"/>
                  <a:t>例如：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↦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，</a:t>
                </a:r>
                <a:r>
                  <a:rPr lang="ja-JP" altLang="en-US" dirty="0"/>
                  <a:t>关心：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ja-JP" altLang="en-US" dirty="0"/>
                  <a:t> 是否可以被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̃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ar-AE" altLang="ja-JP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ja-JP" altLang="en-US" dirty="0"/>
                  <a:t> 控制。</a:t>
                </a:r>
              </a:p>
              <a:p>
                <a:pPr marL="0" indent="0">
                  <a:buNone/>
                </a:pPr>
                <a:r>
                  <a:rPr lang="ja-JP" altLang="en-US" dirty="0"/>
                  <a:t>如果存在常数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ja-JP" altLang="en-US" dirty="0"/>
                  <a:t>，使得：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∥≤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̃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ar-AE" altLang="ja-JP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ja-JP" altLang="en-US" dirty="0"/>
                  <a:t>那么模型是 </a:t>
                </a:r>
                <a:r>
                  <a:rPr lang="en-US" altLang="ja-JP" dirty="0"/>
                  <a:t>Lipschitz </a:t>
                </a:r>
                <a:r>
                  <a:rPr lang="ja-JP" altLang="en-US" dirty="0"/>
                  <a:t>稳定的。</a:t>
                </a:r>
              </a:p>
              <a:p>
                <a:pPr marL="0" indent="0">
                  <a:buNone/>
                </a:pPr>
                <a:r>
                  <a:rPr lang="ja-JP" altLang="en-US" dirty="0"/>
                  <a:t>和神经网络的鲁棒性、泛化误差、对抗扰动都有关系。</a:t>
                </a:r>
              </a:p>
              <a:p>
                <a:pPr marL="0" indent="0">
                  <a:buNone/>
                </a:pPr>
                <a:endParaRPr lang="en-US" altLang="ja-JP" b="1" dirty="0"/>
              </a:p>
              <a:p>
                <a:pPr marL="0" indent="0">
                  <a:buNone/>
                </a:pPr>
                <a:r>
                  <a:rPr lang="ja-JP" altLang="en-US" b="1" dirty="0"/>
                  <a:t>机器学习中的误差传播图</a:t>
                </a:r>
              </a:p>
              <a:p>
                <a:endParaRPr lang="en-US" altLang="ja-JP" dirty="0"/>
              </a:p>
              <a:p>
                <a:endParaRPr lang="en-US" altLang="ja-JP" dirty="0"/>
              </a:p>
              <a:p>
                <a:endParaRPr lang="en-US" altLang="ja-JP" dirty="0"/>
              </a:p>
              <a:p>
                <a:endParaRPr lang="en-US" altLang="ja-JP" dirty="0"/>
              </a:p>
              <a:p>
                <a:endParaRPr lang="en-US" altLang="ja-JP" dirty="0"/>
              </a:p>
              <a:p>
                <a:endParaRPr lang="ar-AE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模型的稳定性由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ja-JP" altLang="en-US" dirty="0"/>
                  <a:t>控制。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ja-JP" altLang="en-US" dirty="0"/>
                  <a:t>越小，小扰动越不容易被放大。</a:t>
                </a:r>
              </a:p>
              <a:p>
                <a:pPr marL="0" indent="0">
                  <a:buNone/>
                </a:pPr>
                <a:endParaRPr lang="ja-JP" altLang="en-US" dirty="0"/>
              </a:p>
              <a:p>
                <a:pPr marL="0" indent="0">
                  <a:buNone/>
                </a:pPr>
                <a:endParaRPr lang="ja-JP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8D77695-5CAA-863D-7548-C2E5242D84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10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1A21721D-07FB-DCD3-69A9-69F40E549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920" y="2849202"/>
            <a:ext cx="6422400" cy="270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201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694F8-E1A5-9069-D067-9CF1A958C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EA2683-EC1B-8120-6C8D-5C4C5668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论文</a:t>
            </a:r>
            <a:r>
              <a:rPr lang="en-US" altLang="zh-CN" dirty="0"/>
              <a:t>1</a:t>
            </a:r>
            <a:r>
              <a:rPr lang="zh-CN" altLang="en-US" dirty="0"/>
              <a:t>：概率密度作为范数</a:t>
            </a:r>
            <a:br>
              <a:rPr lang="en-US" altLang="zh-CN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6C6CD32-D90A-880B-5E86-5B40237FA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7230783-6F61-E003-5F73-C1609163FA2F}"/>
              </a:ext>
            </a:extLst>
          </p:cNvPr>
          <p:cNvSpPr txBox="1"/>
          <p:nvPr/>
        </p:nvSpPr>
        <p:spPr>
          <a:xfrm>
            <a:off x="1925320" y="5261144"/>
            <a:ext cx="8356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 dirty="0"/>
              <a:t>Gretton et al. (2012)</a:t>
            </a:r>
            <a:r>
              <a:rPr lang="en-US" altLang="ja-JP" sz="2000" dirty="0"/>
              <a:t>, </a:t>
            </a:r>
            <a:r>
              <a:rPr lang="en-US" altLang="ja-JP" sz="2000" i="1" dirty="0"/>
              <a:t>A Kernel Two-Sample Test</a:t>
            </a:r>
            <a:r>
              <a:rPr lang="en-US" altLang="ja-JP" sz="2000" dirty="0"/>
              <a:t>, JMLR.</a:t>
            </a:r>
            <a:br>
              <a:rPr lang="en-US" altLang="ja-JP" sz="2000" dirty="0"/>
            </a:b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39805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DCD93-93DE-3FC1-22F3-E563D8C52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98806BC-4105-C0DF-082C-3D64E91D3E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概率密度与范数空间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8E88DD4-2D29-5951-43DC-922C3C7C67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4160" y="1112520"/>
                <a:ext cx="11826240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b="1" dirty="0"/>
                  <a:t>课题</a:t>
                </a:r>
                <a:r>
                  <a:rPr lang="zh-CN" altLang="en-US" dirty="0"/>
                  <a:t>：给</a:t>
                </a:r>
                <a:r>
                  <a:rPr lang="ja-JP" altLang="en-US" dirty="0"/>
                  <a:t>两组样本：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∼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∼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ja-JP" altLang="en-US" dirty="0">
                    <a:solidFill>
                      <a:srgbClr val="C00000"/>
                    </a:solidFill>
                  </a:rPr>
                  <a:t>想判断：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ar-AE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ar-AE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，</a:t>
                </a:r>
                <a:r>
                  <a:rPr lang="ja-JP" altLang="en-US" dirty="0">
                    <a:solidFill>
                      <a:srgbClr val="C00000"/>
                    </a:solidFill>
                  </a:rPr>
                  <a:t>还是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ar-AE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ar-AE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ja-JP" altLang="ar-AE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ar-AE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如果知道密度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ja-JP" altLang="en-US" dirty="0"/>
                  <a:t>，可以考虑比较：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𝑞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ja-JP" altLang="en-US" dirty="0"/>
                  <a:t>但现实中通常不知道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ja-JP" altLang="en-US" dirty="0"/>
                  <a:t>。</a:t>
                </a: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ja-JP" dirty="0"/>
                  <a:t>Gretton et al. </a:t>
                </a:r>
                <a:r>
                  <a:rPr lang="ja-JP" altLang="en-US" dirty="0"/>
                  <a:t>的想法是：不直接估计密度，而是</a:t>
                </a:r>
                <a:r>
                  <a:rPr lang="ja-JP" altLang="en-US" u="sng" dirty="0">
                    <a:solidFill>
                      <a:schemeClr val="accent6">
                        <a:lumMod val="75000"/>
                      </a:schemeClr>
                    </a:solidFill>
                  </a:rPr>
                  <a:t>用一类测试函数来比较两个分布在期望意义下的差异</a:t>
                </a:r>
                <a:r>
                  <a:rPr lang="ja-JP" altLang="en-US" dirty="0"/>
                  <a:t>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论文将检验统计量定义为：在 </a:t>
                </a:r>
                <a:r>
                  <a:rPr lang="en-US" altLang="ja-JP" dirty="0"/>
                  <a:t>RKHS </a:t>
                </a:r>
                <a:r>
                  <a:rPr lang="ja-JP" altLang="en-US" dirty="0">
                    <a:solidFill>
                      <a:srgbClr val="7030A0"/>
                    </a:solidFill>
                  </a:rPr>
                  <a:t>单位球中的函数</a:t>
                </a:r>
                <a:r>
                  <a:rPr lang="ja-JP" altLang="en-US" dirty="0"/>
                  <a:t>上，两个分布期望差的最大值；这个统计量称为 </a:t>
                </a:r>
                <a:r>
                  <a:rPr lang="en-US" altLang="ja-JP" dirty="0"/>
                  <a:t>Maximum Mean Discrepancy, MMD</a:t>
                </a:r>
                <a:r>
                  <a:rPr lang="ja-JP" altLang="en-US" dirty="0"/>
                  <a:t>。</a:t>
                </a: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ja-JP" sz="400" b="1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b="1" dirty="0">
                    <a:solidFill>
                      <a:srgbClr val="C00000"/>
                    </a:solidFill>
                  </a:rPr>
                  <a:t>第一种范数用法：函数空间中的单位球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设 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ja-JP" altLang="en-US" dirty="0"/>
                  <a:t>是由核函数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dirty="0"/>
                  <a:t>生成的 </a:t>
                </a:r>
                <a:r>
                  <a:rPr lang="en-US" altLang="ja-JP" dirty="0"/>
                  <a:t>RKHS</a:t>
                </a:r>
                <a:r>
                  <a:rPr lang="ja-JP" altLang="en-US" dirty="0"/>
                  <a:t>。考虑其中的单位球：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ℋ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:∥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ℋ</m:t>
                            </m:r>
                          </m:sub>
                        </m:s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ar-AE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ja-JP" dirty="0"/>
                  <a:t>MMD </a:t>
                </a:r>
                <a:r>
                  <a:rPr lang="ja-JP" altLang="en-US" dirty="0"/>
                  <a:t>定义为：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MMD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sup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ℋ</m:t>
                            </m:r>
                          </m:sub>
                        </m:s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>
                                <a:latin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>
                                <a:latin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ℋ</m:t>
                        </m:r>
                      </m:sub>
                    </m:sSub>
                  </m:oMath>
                </a14:m>
                <a:r>
                  <a:rPr lang="ja-JP" altLang="en-US" dirty="0"/>
                  <a:t>用来限制测试函数的复杂度</a:t>
                </a:r>
              </a:p>
              <a:p>
                <a:pPr>
                  <a:lnSpc>
                    <a:spcPct val="120000"/>
                  </a:lnSpc>
                </a:pPr>
                <a:r>
                  <a:rPr lang="ja-JP" altLang="en-US" dirty="0"/>
                  <a:t>直观：如果完全不限制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ja-JP" altLang="en-US" dirty="0"/>
                  <a:t>，那么总能找到非常“尖锐”的函数把两个样本区分开，统计量会不稳定。</a:t>
                </a:r>
                <a:r>
                  <a:rPr lang="en-US" altLang="ja-JP" dirty="0"/>
                  <a:t>RKHS </a:t>
                </a:r>
                <a:r>
                  <a:rPr lang="ja-JP" altLang="en-US" dirty="0"/>
                  <a:t>范数的单位球限制了函数的复杂度，使得</a:t>
                </a:r>
                <a:r>
                  <a:rPr lang="ja-JP" altLang="en-US" b="1" dirty="0">
                    <a:solidFill>
                      <a:srgbClr val="C00000"/>
                    </a:solidFill>
                  </a:rPr>
                  <a:t>比较既有表达能力，又可以从有限样本中稳定估计</a:t>
                </a:r>
                <a:r>
                  <a:rPr lang="ja-JP" altLang="en-US" dirty="0"/>
                  <a:t>。</a:t>
                </a:r>
              </a:p>
              <a:p>
                <a:pPr>
                  <a:lnSpc>
                    <a:spcPct val="120000"/>
                  </a:lnSpc>
                </a:pPr>
                <a:r>
                  <a:rPr lang="ja-JP" altLang="en-US" dirty="0"/>
                  <a:t>第一层范数作用是：</a:t>
                </a:r>
                <a:r>
                  <a:rPr lang="zh-CN" altLang="en-US" dirty="0"/>
                  <a:t>用 </a:t>
                </a:r>
                <a14:m>
                  <m:oMath xmlns:m="http://schemas.openxmlformats.org/officeDocument/2006/math">
                    <m:r>
                      <a:rPr lang="ar-AE" altLang="ja-JP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ℋ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控制测试函数的复杂度</a:t>
                </a:r>
                <a:r>
                  <a:rPr lang="en-US" altLang="ja-JP" dirty="0"/>
                  <a:t> </a:t>
                </a:r>
                <a:r>
                  <a:rPr lang="zh-CN" altLang="en-US" dirty="0"/>
                  <a:t>（</a:t>
                </a:r>
                <a:r>
                  <a:rPr lang="ja-JP" altLang="en-US" dirty="0"/>
                  <a:t>范数不是只度量大小，而是在控制可允许的函数类</a:t>
                </a:r>
                <a:r>
                  <a:rPr lang="zh-CN" altLang="en-US" dirty="0"/>
                  <a:t>）</a:t>
                </a:r>
                <a:r>
                  <a:rPr lang="ja-JP" altLang="en-US" dirty="0"/>
                  <a:t>。</a:t>
                </a:r>
              </a:p>
              <a:p>
                <a:pPr>
                  <a:lnSpc>
                    <a:spcPct val="120000"/>
                  </a:lnSpc>
                </a:pPr>
                <a:endParaRPr lang="ja-JP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8E88DD4-2D29-5951-43DC-922C3C7C67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4160" y="1112520"/>
                <a:ext cx="11826240" cy="5440680"/>
              </a:xfrm>
              <a:blipFill>
                <a:blip r:embed="rId3"/>
                <a:stretch>
                  <a:fillRect l="-515" t="-448" r="-3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803F963-0367-B345-DA23-553C15C5EA5D}"/>
              </a:ext>
            </a:extLst>
          </p:cNvPr>
          <p:cNvSpPr txBox="1"/>
          <p:nvPr/>
        </p:nvSpPr>
        <p:spPr>
          <a:xfrm>
            <a:off x="4891490" y="114969"/>
            <a:ext cx="73005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600" dirty="0">
                <a:latin typeface="+mj-ea"/>
                <a:ea typeface="+mj-ea"/>
              </a:rPr>
              <a:t>文献</a:t>
            </a:r>
            <a:r>
              <a:rPr lang="en-US" altLang="zh-CN" sz="1600" dirty="0">
                <a:latin typeface="+mj-ea"/>
                <a:ea typeface="+mj-ea"/>
              </a:rPr>
              <a:t>1</a:t>
            </a:r>
            <a:r>
              <a:rPr lang="zh-CN" altLang="en-US" sz="1600" dirty="0">
                <a:latin typeface="+mj-ea"/>
                <a:ea typeface="+mj-ea"/>
              </a:rPr>
              <a:t>：</a:t>
            </a:r>
            <a:r>
              <a:rPr lang="en-US" altLang="ja-JP" sz="1600" b="1" dirty="0">
                <a:latin typeface="+mj-ea"/>
                <a:ea typeface="+mj-ea"/>
              </a:rPr>
              <a:t>Gretton et al. (2012)</a:t>
            </a:r>
            <a:r>
              <a:rPr lang="en-US" altLang="ja-JP" sz="1600" dirty="0">
                <a:latin typeface="+mj-ea"/>
                <a:ea typeface="+mj-ea"/>
              </a:rPr>
              <a:t>, </a:t>
            </a:r>
            <a:r>
              <a:rPr lang="en-US" altLang="ja-JP" sz="1600" i="1" dirty="0">
                <a:latin typeface="+mj-ea"/>
                <a:ea typeface="+mj-ea"/>
              </a:rPr>
              <a:t>A Kernel Two-Sample Test</a:t>
            </a:r>
            <a:r>
              <a:rPr lang="en-US" altLang="ja-JP" sz="1600" dirty="0">
                <a:latin typeface="+mj-ea"/>
                <a:ea typeface="+mj-ea"/>
              </a:rPr>
              <a:t>, JMLR.</a:t>
            </a:r>
            <a:br>
              <a:rPr lang="en-US" altLang="ja-JP" sz="1600" dirty="0">
                <a:latin typeface="+mj-ea"/>
                <a:ea typeface="+mj-ea"/>
              </a:rPr>
            </a:br>
            <a:r>
              <a:rPr lang="ja-JP" altLang="en-US" sz="1600" dirty="0">
                <a:latin typeface="+mj-ea"/>
                <a:ea typeface="+mj-ea"/>
              </a:rPr>
              <a:t>用 </a:t>
            </a:r>
            <a:r>
              <a:rPr lang="en-US" altLang="ja-JP" sz="1600" dirty="0">
                <a:latin typeface="+mj-ea"/>
                <a:ea typeface="+mj-ea"/>
              </a:rPr>
              <a:t>RKHS </a:t>
            </a:r>
            <a:r>
              <a:rPr lang="ja-JP" altLang="en-US" sz="1600" dirty="0">
                <a:latin typeface="+mj-ea"/>
                <a:ea typeface="+mj-ea"/>
              </a:rPr>
              <a:t>范数比较两个概率分布</a:t>
            </a:r>
          </a:p>
        </p:txBody>
      </p:sp>
    </p:spTree>
    <p:extLst>
      <p:ext uri="{BB962C8B-B14F-4D97-AF65-F5344CB8AC3E}">
        <p14:creationId xmlns:p14="http://schemas.microsoft.com/office/powerpoint/2010/main" val="987819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0F747-C42E-35ED-CF10-10236EE42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78D0813-C2BF-4444-4384-6F2EF6114C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概率密度与范数空间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A67C970-776F-3B86-E255-B60C7FA2E5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760" y="1112520"/>
                <a:ext cx="12183064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b="1" dirty="0">
                    <a:solidFill>
                      <a:srgbClr val="C00000"/>
                    </a:solidFill>
                  </a:rPr>
                  <a:t>第二种范数用法：分布的 </a:t>
                </a:r>
                <a:r>
                  <a:rPr lang="en-US" altLang="ja-JP" b="1" dirty="0">
                    <a:solidFill>
                      <a:srgbClr val="C00000"/>
                    </a:solidFill>
                  </a:rPr>
                  <a:t>RKHS </a:t>
                </a:r>
                <a:r>
                  <a:rPr lang="ja-JP" altLang="en-US" b="1" dirty="0">
                    <a:solidFill>
                      <a:srgbClr val="C00000"/>
                    </a:solidFill>
                  </a:rPr>
                  <a:t>嵌入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ja-JP" dirty="0"/>
                  <a:t>RKHS </a:t>
                </a:r>
                <a:r>
                  <a:rPr lang="ja-JP" altLang="en-US" dirty="0"/>
                  <a:t>有一个重要性质：</a:t>
                </a:r>
                <a:endParaRPr lang="en-US" altLang="ja-JP" dirty="0"/>
              </a:p>
              <a:p>
                <a:pPr>
                  <a:lnSpc>
                    <a:spcPct val="120000"/>
                  </a:lnSpc>
                </a:pPr>
                <a:r>
                  <a:rPr lang="ja-JP" altLang="en-US" dirty="0"/>
                  <a:t>核函数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sepChr m:val=",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ja-JP" altLang="en-US" dirty="0"/>
                  <a:t>本身是 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ja-JP" altLang="en-US" dirty="0"/>
                  <a:t>中的元素，并且满足再生性质：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d>
                              <m:dPr>
                                <m:sepChr m:val=","/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ja-JP" b="0" i="0" smtClean="0">
                                    <a:latin typeface="Cambria Math" panose="02040503050406030204" pitchFamily="18" charset="0"/>
                                  </a:rPr>
                                  <m:t>-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ℋ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于是可以把分布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ja-JP" altLang="en-US" dirty="0"/>
                  <a:t>映射到 </a:t>
                </a:r>
                <a:r>
                  <a:rPr lang="en-US" altLang="ja-JP" dirty="0"/>
                  <a:t>RKHS </a:t>
                </a:r>
                <a:r>
                  <a:rPr lang="ja-JP" altLang="en-US" dirty="0"/>
                  <a:t>中：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sepChr m:val=",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en-US" altLang="ja-JP" b="0" i="0" smtClean="0">
                                <a:latin typeface="Cambria Math" panose="02040503050406030204" pitchFamily="18" charset="0"/>
                              </a:rPr>
                              <m:t>-</m:t>
                            </m:r>
                          </m:e>
                        </m:d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（</m:t>
                    </m:r>
                  </m:oMath>
                </a14:m>
                <a:r>
                  <a:rPr lang="en-US" altLang="ja-JP" dirty="0"/>
                  <a:t>kernel mean embedding</a:t>
                </a:r>
                <a:r>
                  <a:rPr lang="zh-CN" altLang="en-US" dirty="0"/>
                  <a:t>）</a:t>
                </a:r>
                <a:r>
                  <a:rPr lang="ja-JP" altLang="en-US" dirty="0"/>
                  <a:t>。</a:t>
                </a: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就是分布对应的函数用再生形式表达。</a:t>
                </a: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ar-AE" altLang="ja-JP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ar-AE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sepChr m:val=","/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-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>
                    <a:solidFill>
                      <a:srgbClr val="C00000"/>
                    </a:solidFill>
                  </a:rPr>
                  <a:t>概率分布 </a:t>
                </a: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ja-JP" altLang="en-US" dirty="0">
                    <a:solidFill>
                      <a:srgbClr val="C00000"/>
                    </a:solidFill>
                  </a:rPr>
                  <a:t>就被表示成 </a:t>
                </a:r>
                <a:r>
                  <a:rPr lang="en-US" altLang="ja-JP" dirty="0">
                    <a:solidFill>
                      <a:srgbClr val="C00000"/>
                    </a:solidFill>
                  </a:rPr>
                  <a:t>Hilbert </a:t>
                </a:r>
                <a:r>
                  <a:rPr lang="ja-JP" altLang="en-US" dirty="0">
                    <a:solidFill>
                      <a:srgbClr val="C00000"/>
                    </a:solidFill>
                  </a:rPr>
                  <a:t>空间中的两个向量：</a:t>
                </a: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ja-JP" alt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↦</m:t>
                    </m:r>
                    <m:sSub>
                      <m:sSubPr>
                        <m:ctrlPr>
                          <a:rPr lang="ar-AE" altLang="ja-JP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ar-AE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ja-JP" altLang="ar-AE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ar-AE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↦</m:t>
                    </m:r>
                    <m:sSub>
                      <m:sSubPr>
                        <m:ctrlPr>
                          <a:rPr lang="ar-AE" altLang="ja-JP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endParaRPr lang="ar-AE" altLang="ja-JP" dirty="0">
                  <a:solidFill>
                    <a:srgbClr val="C00000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比较分布就变成</a:t>
                </a:r>
                <a:r>
                  <a:rPr lang="ja-JP" altLang="en-US" dirty="0">
                    <a:solidFill>
                      <a:srgbClr val="C00000"/>
                    </a:solidFill>
                  </a:rPr>
                  <a:t>比较两个 </a:t>
                </a:r>
                <a:r>
                  <a:rPr lang="en-US" altLang="ja-JP" dirty="0">
                    <a:solidFill>
                      <a:srgbClr val="C00000"/>
                    </a:solidFill>
                  </a:rPr>
                  <a:t>Hilbert </a:t>
                </a:r>
                <a:r>
                  <a:rPr lang="ja-JP" altLang="en-US" dirty="0">
                    <a:solidFill>
                      <a:srgbClr val="C00000"/>
                    </a:solidFill>
                  </a:rPr>
                  <a:t>空间元素：</a:t>
                </a:r>
                <a14:m>
                  <m:oMath xmlns:m="http://schemas.openxmlformats.org/officeDocument/2006/math">
                    <m:r>
                      <a:rPr lang="ja-JP" alt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altLang="ja-JP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ar-AE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ja-JP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sSub>
                      <m:sSubPr>
                        <m:ctrlPr>
                          <a:rPr lang="ar-AE" altLang="ja-JP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ℋ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作用 </a:t>
                </a:r>
                <a:r>
                  <a:rPr lang="zh-CN" altLang="en-US" dirty="0"/>
                  <a:t>：用 </a:t>
                </a:r>
                <a:r>
                  <a:rPr lang="en-US" altLang="zh-CN" dirty="0"/>
                  <a:t>RKHS </a:t>
                </a:r>
                <a:r>
                  <a:rPr lang="zh-CN" altLang="en-US" dirty="0"/>
                  <a:t>范数度量两个概率分布嵌入后的距离</a:t>
                </a:r>
                <a:endParaRPr lang="ar-AE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核心统计量 </a:t>
                </a:r>
                <a:r>
                  <a:rPr lang="en-US" altLang="ja-JP" dirty="0"/>
                  <a:t>MMD </a:t>
                </a:r>
                <a:r>
                  <a:rPr lang="ja-JP" altLang="en-US" dirty="0"/>
                  <a:t>正是这种“分布嵌入差”的 </a:t>
                </a:r>
                <a:r>
                  <a:rPr lang="en-US" altLang="ja-JP" dirty="0"/>
                  <a:t>RKHS </a:t>
                </a:r>
                <a:r>
                  <a:rPr lang="ja-JP" altLang="en-US" dirty="0"/>
                  <a:t>范数</a:t>
                </a:r>
                <a:r>
                  <a:rPr lang="zh-CN" altLang="en-US" dirty="0"/>
                  <a:t>，</a:t>
                </a:r>
                <a:r>
                  <a:rPr lang="ja-JP" altLang="en-US" dirty="0"/>
                  <a:t>是在 </a:t>
                </a:r>
                <a:r>
                  <a:rPr lang="en-US" altLang="ja-JP" dirty="0"/>
                  <a:t>RKHS </a:t>
                </a:r>
                <a:r>
                  <a:rPr lang="ja-JP" altLang="en-US" dirty="0"/>
                  <a:t>单位球上取期望差的最大值。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ja-JP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A67C970-776F-3B86-E255-B60C7FA2E5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760" y="1112520"/>
                <a:ext cx="12183064" cy="5440680"/>
              </a:xfrm>
              <a:blipFill>
                <a:blip r:embed="rId3"/>
                <a:stretch>
                  <a:fillRect l="-500" t="-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C7F409-A9F7-F13B-016E-AA7F99835DFD}"/>
              </a:ext>
            </a:extLst>
          </p:cNvPr>
          <p:cNvSpPr txBox="1"/>
          <p:nvPr/>
        </p:nvSpPr>
        <p:spPr>
          <a:xfrm>
            <a:off x="4891490" y="114969"/>
            <a:ext cx="73005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600" dirty="0">
                <a:latin typeface="+mj-ea"/>
                <a:ea typeface="+mj-ea"/>
              </a:rPr>
              <a:t>文献</a:t>
            </a:r>
            <a:r>
              <a:rPr lang="en-US" altLang="zh-CN" sz="1600" dirty="0">
                <a:latin typeface="+mj-ea"/>
                <a:ea typeface="+mj-ea"/>
              </a:rPr>
              <a:t>1</a:t>
            </a:r>
            <a:r>
              <a:rPr lang="zh-CN" altLang="en-US" sz="1600" dirty="0">
                <a:latin typeface="+mj-ea"/>
                <a:ea typeface="+mj-ea"/>
              </a:rPr>
              <a:t>：</a:t>
            </a:r>
            <a:r>
              <a:rPr lang="en-US" altLang="ja-JP" sz="1600" b="1" dirty="0">
                <a:latin typeface="+mj-ea"/>
                <a:ea typeface="+mj-ea"/>
              </a:rPr>
              <a:t>Gretton et al. (2012)</a:t>
            </a:r>
            <a:r>
              <a:rPr lang="en-US" altLang="ja-JP" sz="1600" dirty="0">
                <a:latin typeface="+mj-ea"/>
                <a:ea typeface="+mj-ea"/>
              </a:rPr>
              <a:t>, </a:t>
            </a:r>
            <a:r>
              <a:rPr lang="en-US" altLang="ja-JP" sz="1600" i="1" dirty="0">
                <a:latin typeface="+mj-ea"/>
                <a:ea typeface="+mj-ea"/>
              </a:rPr>
              <a:t>A Kernel Two-Sample Test</a:t>
            </a:r>
            <a:r>
              <a:rPr lang="en-US" altLang="ja-JP" sz="1600" dirty="0">
                <a:latin typeface="+mj-ea"/>
                <a:ea typeface="+mj-ea"/>
              </a:rPr>
              <a:t>, JMLR.</a:t>
            </a:r>
            <a:br>
              <a:rPr lang="en-US" altLang="ja-JP" sz="1600" dirty="0">
                <a:latin typeface="+mj-ea"/>
                <a:ea typeface="+mj-ea"/>
              </a:rPr>
            </a:br>
            <a:r>
              <a:rPr lang="ja-JP" altLang="en-US" sz="1600" dirty="0">
                <a:latin typeface="+mj-ea"/>
                <a:ea typeface="+mj-ea"/>
              </a:rPr>
              <a:t>用 </a:t>
            </a:r>
            <a:r>
              <a:rPr lang="en-US" altLang="ja-JP" sz="1600" dirty="0">
                <a:latin typeface="+mj-ea"/>
                <a:ea typeface="+mj-ea"/>
              </a:rPr>
              <a:t>RKHS </a:t>
            </a:r>
            <a:r>
              <a:rPr lang="ja-JP" altLang="en-US" sz="1600" dirty="0">
                <a:latin typeface="+mj-ea"/>
                <a:ea typeface="+mj-ea"/>
              </a:rPr>
              <a:t>范数比较两个概率分布</a:t>
            </a:r>
          </a:p>
        </p:txBody>
      </p:sp>
    </p:spTree>
    <p:extLst>
      <p:ext uri="{BB962C8B-B14F-4D97-AF65-F5344CB8AC3E}">
        <p14:creationId xmlns:p14="http://schemas.microsoft.com/office/powerpoint/2010/main" val="2617018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77B2F-BFC2-809C-CEBA-ADE3960FF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8C437E3-792A-A1E8-48AF-BCF3545AF8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概率密度与范数空间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48F6C37-8816-7675-5F2D-E52068A4B2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760" y="1112520"/>
                <a:ext cx="12183064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b="1" dirty="0">
                    <a:solidFill>
                      <a:srgbClr val="C00000"/>
                    </a:solidFill>
                  </a:rPr>
                  <a:t>第二种范数用法：分布的 </a:t>
                </a:r>
                <a:r>
                  <a:rPr lang="en-US" altLang="ja-JP" b="1" dirty="0">
                    <a:solidFill>
                      <a:srgbClr val="C00000"/>
                    </a:solidFill>
                  </a:rPr>
                  <a:t>RKHS </a:t>
                </a:r>
                <a:r>
                  <a:rPr lang="ja-JP" altLang="en-US" b="1" dirty="0">
                    <a:solidFill>
                      <a:srgbClr val="C00000"/>
                    </a:solidFill>
                  </a:rPr>
                  <a:t>嵌入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b="1" dirty="0"/>
                  <a:t>解释：</a:t>
                </a:r>
                <a:r>
                  <a:rPr lang="ja-JP" altLang="en-US" b="1" dirty="0"/>
                  <a:t>为什么 </a:t>
                </a:r>
                <a:r>
                  <a:rPr lang="en-US" altLang="ja-JP" b="1" dirty="0"/>
                  <a:t>MMD </a:t>
                </a:r>
                <a:r>
                  <a:rPr lang="ja-JP" altLang="en-US" b="1" dirty="0"/>
                  <a:t>等于 </a:t>
                </a:r>
                <a:r>
                  <a:rPr lang="en-US" altLang="ja-JP" b="1" dirty="0"/>
                  <a:t>RKHS </a:t>
                </a:r>
                <a:r>
                  <a:rPr lang="ja-JP" altLang="en-US" b="1" dirty="0"/>
                  <a:t>范数？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定义：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MMD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i="1">
                            <a:latin typeface="Cambria Math" panose="02040503050406030204" pitchFamily="18" charset="0"/>
                          </a:rPr>
                          <m:t>sup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ℋ</m:t>
                            </m:r>
                          </m:sub>
                        </m:s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>
                                <a:latin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>
                                <a:latin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</m:d>
                  </m:oMath>
                </a14:m>
                <a:endParaRPr lang="ar-AE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利用再生性质：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ja-JP" alt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d>
                              <m:dPr>
                                <m:sepChr m:val=","/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e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ℋ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e>
                            <m:sSub>
                              <m:sSub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ℋ</m:t>
                        </m:r>
                      </m:sub>
                    </m:sSub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ja-JP" alt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e>
                            <m:sSub>
                              <m:sSub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ℋ</m:t>
                        </m:r>
                      </m:sub>
                    </m:sSub>
                  </m:oMath>
                </a14:m>
                <a:r>
                  <a:rPr lang="ja-JP" altLang="en-US" dirty="0"/>
                  <a:t>     所以：</a:t>
                </a: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ar-AE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ja-JP" altLang="ar-AE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ar-AE" altLang="ja-JP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ar-AE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ja-JP" altLang="ar-AE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ar-AE" altLang="ja-JP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ar-AE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r>
                                <a:rPr lang="ar-AE" altLang="ja-JP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ℋ</m:t>
                          </m:r>
                        </m:sub>
                      </m:sSub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>
                          <a:latin typeface="Cambria Math" panose="02040503050406030204" pitchFamily="18" charset="0"/>
                        </a:rPr>
                        <m:t>MMD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ar-AE" altLang="ja-JP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 i="1">
                              <a:latin typeface="Cambria Math" panose="02040503050406030204" pitchFamily="18" charset="0"/>
                            </a:rPr>
                            <m:t>sup</m:t>
                          </m:r>
                        </m:e>
                        <m:sub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  <m:sSub>
                            <m:sSubPr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altLang="ja-JP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e>
                            <m:sub>
                              <m:r>
                                <a:rPr lang="ar-AE" altLang="ja-JP">
                                  <a:latin typeface="Cambria Math" panose="02040503050406030204" pitchFamily="18" charset="0"/>
                                </a:rPr>
                                <m:t>ℋ</m:t>
                              </m:r>
                            </m:sub>
                          </m:sSub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ar-AE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r>
                                <a:rPr lang="ar-AE" altLang="ja-JP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ℋ</m:t>
                          </m:r>
                        </m:sub>
                      </m:sSub>
                    </m:oMath>
                  </m:oMathPara>
                </a14:m>
                <a:endParaRPr lang="ar-AE" altLang="ja-JP" dirty="0"/>
              </a:p>
              <a:p>
                <a:pPr>
                  <a:lnSpc>
                    <a:spcPct val="120000"/>
                  </a:lnSpc>
                </a:pP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据 </a:t>
                </a:r>
                <a:r>
                  <a:rPr lang="en-US" altLang="ja-JP" dirty="0"/>
                  <a:t>Hilbert </a:t>
                </a:r>
                <a:r>
                  <a:rPr lang="ja-JP" altLang="en-US" dirty="0"/>
                  <a:t>空间中的 </a:t>
                </a:r>
                <a:r>
                  <a:rPr lang="en-US" altLang="ja-JP" dirty="0"/>
                  <a:t>Cauchy–Schwarz </a:t>
                </a:r>
                <a:r>
                  <a:rPr lang="ja-JP" altLang="en-US" dirty="0"/>
                  <a:t>不等式：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e>
                            <m:sSub>
                              <m:sSub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ℋ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≤∥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ℋ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ℋ</m:t>
                        </m:r>
                      </m:sub>
                    </m:sSub>
                  </m:oMath>
                </a14:m>
                <a:endParaRPr lang="ar-AE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当 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ℋ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ja-JP" altLang="en-US" dirty="0"/>
                  <a:t>时：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ar-AE" altLang="ja-JP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e>
                            <m:sSub>
                              <m:sSubPr>
                                <m:ctrlPr>
                                  <a:rPr lang="ar-AE" altLang="ja-JP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ar-AE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ja-JP" altLang="ar-AE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  <m:r>
                              <a:rPr lang="ar-AE" altLang="ja-JP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altLang="ja-JP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ar-AE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ja-JP" altLang="ar-AE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ℋ</m:t>
                        </m:r>
                      </m:sub>
                    </m:sSub>
                    <m:r>
                      <a:rPr lang="ar-AE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≤∥</m:t>
                    </m:r>
                    <m:sSub>
                      <m:sSubPr>
                        <m:ctrlPr>
                          <a:rPr lang="ar-AE" altLang="ja-JP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ar-AE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ja-JP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sSub>
                      <m:sSubPr>
                        <m:ctrlPr>
                          <a:rPr lang="ar-AE" altLang="ja-JP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ℋ</m:t>
                        </m:r>
                      </m:sub>
                    </m:sSub>
                  </m:oMath>
                </a14:m>
                <a:r>
                  <a:rPr lang="zh-CN" altLang="en-US" dirty="0"/>
                  <a:t>。</a:t>
                </a:r>
                <a:r>
                  <a:rPr lang="ja-JP" altLang="en-US" dirty="0"/>
                  <a:t>而最优的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ja-JP" altLang="en-US" dirty="0"/>
                  <a:t>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ja-JP" altLang="en-US" dirty="0"/>
                  <a:t>同方向</a:t>
                </a:r>
                <a:r>
                  <a:rPr lang="zh-CN" altLang="en-US" dirty="0"/>
                  <a:t>（内积最大）</a:t>
                </a:r>
                <a:r>
                  <a:rPr lang="ja-JP" altLang="en-US" dirty="0"/>
                  <a:t>，所以：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>
                          <a:latin typeface="Cambria Math" panose="02040503050406030204" pitchFamily="18" charset="0"/>
                        </a:rPr>
                        <m:t>MMD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ar-AE" altLang="ja-JP">
                          <a:latin typeface="Cambria Math" panose="02040503050406030204" pitchFamily="18" charset="0"/>
                        </a:rPr>
                        <m:t>=∥</m:t>
                      </m:r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ar-AE" altLang="ja-JP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ℋ</m:t>
                          </m:r>
                        </m:sub>
                      </m:sSub>
                    </m:oMath>
                  </m:oMathPara>
                </a14:m>
                <a:endParaRPr lang="ar-AE" altLang="ja-JP" dirty="0"/>
              </a:p>
              <a:p>
                <a:pPr>
                  <a:lnSpc>
                    <a:spcPct val="120000"/>
                  </a:lnSpc>
                </a:pPr>
                <a:r>
                  <a:rPr lang="en-US" altLang="ja-JP" dirty="0"/>
                  <a:t>MMD </a:t>
                </a:r>
                <a:r>
                  <a:rPr lang="ja-JP" altLang="en-US" dirty="0"/>
                  <a:t>看起来是“最大期望差”，本质上却是 </a:t>
                </a:r>
                <a:r>
                  <a:rPr lang="en-US" altLang="ja-JP" dirty="0">
                    <a:solidFill>
                      <a:srgbClr val="C00000"/>
                    </a:solidFill>
                  </a:rPr>
                  <a:t>Hilbert </a:t>
                </a:r>
                <a:r>
                  <a:rPr lang="ja-JP" altLang="en-US" dirty="0">
                    <a:solidFill>
                      <a:srgbClr val="C00000"/>
                    </a:solidFill>
                  </a:rPr>
                  <a:t>空间中两个分布嵌入之间的距离</a:t>
                </a:r>
                <a:r>
                  <a:rPr lang="ja-JP" altLang="en-US" dirty="0"/>
                  <a:t>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ja-JP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48F6C37-8816-7675-5F2D-E52068A4B2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760" y="1112520"/>
                <a:ext cx="12183064" cy="5440680"/>
              </a:xfrm>
              <a:blipFill>
                <a:blip r:embed="rId3"/>
                <a:stretch>
                  <a:fillRect l="-500" t="-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D535D52-9B26-3DA6-3B6E-643621512865}"/>
              </a:ext>
            </a:extLst>
          </p:cNvPr>
          <p:cNvSpPr txBox="1"/>
          <p:nvPr/>
        </p:nvSpPr>
        <p:spPr>
          <a:xfrm>
            <a:off x="4891490" y="114969"/>
            <a:ext cx="73005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600" dirty="0">
                <a:latin typeface="+mj-ea"/>
                <a:ea typeface="+mj-ea"/>
              </a:rPr>
              <a:t>文献</a:t>
            </a:r>
            <a:r>
              <a:rPr lang="en-US" altLang="zh-CN" sz="1600" dirty="0">
                <a:latin typeface="+mj-ea"/>
                <a:ea typeface="+mj-ea"/>
              </a:rPr>
              <a:t>1</a:t>
            </a:r>
            <a:r>
              <a:rPr lang="zh-CN" altLang="en-US" sz="1600" dirty="0">
                <a:latin typeface="+mj-ea"/>
                <a:ea typeface="+mj-ea"/>
              </a:rPr>
              <a:t>：</a:t>
            </a:r>
            <a:r>
              <a:rPr lang="en-US" altLang="ja-JP" sz="1600" b="1" dirty="0">
                <a:latin typeface="+mj-ea"/>
                <a:ea typeface="+mj-ea"/>
              </a:rPr>
              <a:t>Gretton et al. (2012)</a:t>
            </a:r>
            <a:r>
              <a:rPr lang="en-US" altLang="ja-JP" sz="1600" dirty="0">
                <a:latin typeface="+mj-ea"/>
                <a:ea typeface="+mj-ea"/>
              </a:rPr>
              <a:t>, </a:t>
            </a:r>
            <a:r>
              <a:rPr lang="en-US" altLang="ja-JP" sz="1600" i="1" dirty="0">
                <a:latin typeface="+mj-ea"/>
                <a:ea typeface="+mj-ea"/>
              </a:rPr>
              <a:t>A Kernel Two-Sample Test</a:t>
            </a:r>
            <a:r>
              <a:rPr lang="en-US" altLang="ja-JP" sz="1600" dirty="0">
                <a:latin typeface="+mj-ea"/>
                <a:ea typeface="+mj-ea"/>
              </a:rPr>
              <a:t>, JMLR.</a:t>
            </a:r>
            <a:br>
              <a:rPr lang="en-US" altLang="ja-JP" sz="1600" dirty="0">
                <a:latin typeface="+mj-ea"/>
                <a:ea typeface="+mj-ea"/>
              </a:rPr>
            </a:br>
            <a:r>
              <a:rPr lang="ja-JP" altLang="en-US" sz="1600" dirty="0">
                <a:latin typeface="+mj-ea"/>
                <a:ea typeface="+mj-ea"/>
              </a:rPr>
              <a:t>用 </a:t>
            </a:r>
            <a:r>
              <a:rPr lang="en-US" altLang="ja-JP" sz="1600" dirty="0">
                <a:latin typeface="+mj-ea"/>
                <a:ea typeface="+mj-ea"/>
              </a:rPr>
              <a:t>RKHS </a:t>
            </a:r>
            <a:r>
              <a:rPr lang="ja-JP" altLang="en-US" sz="1600" dirty="0">
                <a:latin typeface="+mj-ea"/>
                <a:ea typeface="+mj-ea"/>
              </a:rPr>
              <a:t>范数比较两个概率分布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EDB6972-0E95-CDEB-27CA-E112C7DA2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327571"/>
            <a:ext cx="2787085" cy="20285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25544B6D-8A1F-AC09-F164-5C0207DA5D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3874" y="3652349"/>
            <a:ext cx="2787085" cy="55429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A7011C1-46C6-B94A-8984-7A32D2BE4D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4640" y="3746254"/>
            <a:ext cx="1979005" cy="366483"/>
          </a:xfrm>
          <a:prstGeom prst="rect">
            <a:avLst/>
          </a:prstGeom>
        </p:spPr>
      </p:pic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6734DC2-2099-C1B5-8ACF-32E35908DBCD}"/>
              </a:ext>
            </a:extLst>
          </p:cNvPr>
          <p:cNvSpPr/>
          <p:nvPr/>
        </p:nvSpPr>
        <p:spPr bwMode="auto">
          <a:xfrm>
            <a:off x="5892800" y="3180080"/>
            <a:ext cx="5567680" cy="1229360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100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D0E26-2B52-2FBF-1F43-16195F81C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2DF009E-B870-5B18-0BC5-88EF19423C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概率密度与范数空间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62A4AB0-6A1B-1923-C7DA-F716F16390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4160" y="1112520"/>
                <a:ext cx="11927840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b="1" dirty="0">
                    <a:solidFill>
                      <a:srgbClr val="C00000"/>
                    </a:solidFill>
                  </a:rPr>
                  <a:t>第三种范数用法：把抽象分布比较变成可计算的核表达式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由于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ja-JP" i="1">
                            <a:latin typeface="Cambria Math" panose="02040503050406030204" pitchFamily="18" charset="0"/>
                          </a:rPr>
                          <m:t>MMD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sepChr m:val=",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sSubSup>
                      <m:sSub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ℋ</m:t>
                        </m:r>
                      </m:sub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dirty="0"/>
                  <a:t>，</a:t>
                </a:r>
                <a:r>
                  <a:rPr lang="ja-JP" altLang="en-US" dirty="0"/>
                  <a:t>展开平方范数：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ja-JP" altLang="en-US">
                          <a:latin typeface="Cambria Math" panose="02040503050406030204" pitchFamily="18" charset="0"/>
                        </a:rPr>
                        <m:t>∥</m:t>
                      </m:r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ar-AE" altLang="ja-JP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sSubSup>
                        <m:sSubSup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ℋ</m:t>
                          </m:r>
                        </m:sub>
                        <m:sup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ar-AE" altLang="ja-JP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ℋ</m:t>
                          </m:r>
                        </m:sub>
                      </m:sSub>
                      <m:r>
                        <a:rPr lang="ar-AE" altLang="ja-JP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ℋ</m:t>
                          </m:r>
                        </m:sub>
                      </m:sSub>
                      <m:r>
                        <a:rPr lang="ar-AE" altLang="ja-JP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altLang="ja-JP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ℋ</m:t>
                          </m:r>
                        </m:sub>
                      </m:sSub>
                    </m:oMath>
                  </m:oMathPara>
                </a14:m>
                <a:endParaRPr lang="ar-AE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再利用核函数：</a:t>
                </a: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ℋ</m:t>
                          </m:r>
                        </m:sub>
                      </m:sSub>
                      <m:r>
                        <a:rPr lang="ar-AE" altLang="ja-JP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ar-AE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ar-AE" altLang="ja-JP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ja-JP" altLang="ar-AE" i="1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sepChr m:val=","/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sSup>
                            <m:sSupPr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ar-AE" altLang="ja-JP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altLang="ja-JP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ℋ</m:t>
                          </m:r>
                        </m:sub>
                      </m:sSub>
                      <m:r>
                        <a:rPr lang="ar-AE" altLang="ja-JP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ar-AE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ar-AE" altLang="ja-JP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ja-JP" altLang="ar-AE" i="1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sepChr m:val=","/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sSup>
                            <m:sSupPr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ar-AE" altLang="ja-JP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altLang="ja-JP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ja-JP" altLang="ar-AE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ℋ</m:t>
                          </m:r>
                        </m:sub>
                      </m:sSub>
                      <m:r>
                        <a:rPr lang="ar-AE" altLang="ja-JP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ar-AE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ja-JP" altLang="ar-AE" i="1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sepChr m:val=","/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ar-AE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得到：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altLang="ja-JP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ja-JP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MMD</m:t>
                          </m:r>
                        </m:e>
                        <m:sup>
                          <m:r>
                            <a:rPr lang="ar-AE" altLang="ja-JP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sepChr m:val=","/>
                          <m:ctrlPr>
                            <a:rPr lang="ar-AE" altLang="ja-JP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e>
                          <m:r>
                            <a:rPr lang="ja-JP" altLang="ar-AE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ar-AE" altLang="ja-JP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ja-JP" altLang="ar-AE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ja-JP" altLang="ar-AE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sepChr m:val=","/>
                          <m:ctrlPr>
                            <a:rPr lang="ar-AE" altLang="ja-JP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sSup>
                            <m:sSupPr>
                              <m:ctrlPr>
                                <a:rPr lang="ar-AE" altLang="ja-JP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ar-AE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ar-AE" altLang="ja-JP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ar-AE" altLang="ja-JP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ja-JP" altLang="ar-AE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ja-JP" altLang="ar-AE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sepChr m:val=","/>
                          <m:ctrlPr>
                            <a:rPr lang="ar-AE" altLang="ja-JP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sSup>
                            <m:sSupPr>
                              <m:ctrlPr>
                                <a:rPr lang="ar-AE" altLang="ja-JP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ar-AE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ar-AE" altLang="ja-JP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ar-AE" altLang="ja-JP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altLang="ja-JP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ja-JP" altLang="ar-AE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ja-JP" altLang="ar-AE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sepChr m:val=","/>
                          <m:ctrlPr>
                            <a:rPr lang="ar-AE" altLang="ja-JP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ja-JP" altLang="ar-AE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ar-AE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虽然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ja-JP" altLang="en-US" dirty="0"/>
                  <a:t>是无限维 </a:t>
                </a:r>
                <a:r>
                  <a:rPr lang="en-US" altLang="ja-JP" dirty="0"/>
                  <a:t>Hilbert </a:t>
                </a:r>
                <a:r>
                  <a:rPr lang="ja-JP" altLang="en-US" dirty="0"/>
                  <a:t>空间中的对象，但它们的</a:t>
                </a:r>
                <a:r>
                  <a:rPr lang="ja-JP" altLang="en-US" dirty="0">
                    <a:solidFill>
                      <a:srgbClr val="7030A0"/>
                    </a:solidFill>
                  </a:rPr>
                  <a:t>范数差可以通过核函数在样本点上的取值来计算</a:t>
                </a:r>
                <a:r>
                  <a:rPr lang="ja-JP" altLang="en-US" dirty="0"/>
                  <a:t>。这就是 </a:t>
                </a:r>
                <a:r>
                  <a:rPr lang="en-US" altLang="ja-JP" dirty="0"/>
                  <a:t>kernel trick</a:t>
                </a:r>
                <a:r>
                  <a:rPr lang="ja-JP" altLang="en-US" dirty="0"/>
                  <a:t>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ja-JP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62A4AB0-6A1B-1923-C7DA-F716F16390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4160" y="1112520"/>
                <a:ext cx="11927840" cy="5440680"/>
              </a:xfrm>
              <a:blipFill>
                <a:blip r:embed="rId3"/>
                <a:stretch>
                  <a:fillRect l="-511" t="-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E4735A0-86E1-5348-977C-043C1CCF10E1}"/>
              </a:ext>
            </a:extLst>
          </p:cNvPr>
          <p:cNvSpPr txBox="1"/>
          <p:nvPr/>
        </p:nvSpPr>
        <p:spPr>
          <a:xfrm>
            <a:off x="4891490" y="114969"/>
            <a:ext cx="73005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600" dirty="0">
                <a:latin typeface="+mj-ea"/>
                <a:ea typeface="+mj-ea"/>
              </a:rPr>
              <a:t>文献</a:t>
            </a:r>
            <a:r>
              <a:rPr lang="en-US" altLang="zh-CN" sz="1600" dirty="0">
                <a:latin typeface="+mj-ea"/>
                <a:ea typeface="+mj-ea"/>
              </a:rPr>
              <a:t>1</a:t>
            </a:r>
            <a:r>
              <a:rPr lang="zh-CN" altLang="en-US" sz="1600" dirty="0">
                <a:latin typeface="+mj-ea"/>
                <a:ea typeface="+mj-ea"/>
              </a:rPr>
              <a:t>：</a:t>
            </a:r>
            <a:r>
              <a:rPr lang="en-US" altLang="ja-JP" sz="1600" b="1" dirty="0">
                <a:latin typeface="+mj-ea"/>
                <a:ea typeface="+mj-ea"/>
              </a:rPr>
              <a:t>Gretton et al. (2012)</a:t>
            </a:r>
            <a:r>
              <a:rPr lang="en-US" altLang="ja-JP" sz="1600" dirty="0">
                <a:latin typeface="+mj-ea"/>
                <a:ea typeface="+mj-ea"/>
              </a:rPr>
              <a:t>, </a:t>
            </a:r>
            <a:r>
              <a:rPr lang="en-US" altLang="ja-JP" sz="1600" i="1" dirty="0">
                <a:latin typeface="+mj-ea"/>
                <a:ea typeface="+mj-ea"/>
              </a:rPr>
              <a:t>A Kernel Two-Sample Test</a:t>
            </a:r>
            <a:r>
              <a:rPr lang="en-US" altLang="ja-JP" sz="1600" dirty="0">
                <a:latin typeface="+mj-ea"/>
                <a:ea typeface="+mj-ea"/>
              </a:rPr>
              <a:t>, JMLR.</a:t>
            </a:r>
            <a:br>
              <a:rPr lang="en-US" altLang="ja-JP" sz="1600" dirty="0">
                <a:latin typeface="+mj-ea"/>
                <a:ea typeface="+mj-ea"/>
              </a:rPr>
            </a:br>
            <a:r>
              <a:rPr lang="ja-JP" altLang="en-US" sz="1600" dirty="0">
                <a:latin typeface="+mj-ea"/>
                <a:ea typeface="+mj-ea"/>
              </a:rPr>
              <a:t>用 </a:t>
            </a:r>
            <a:r>
              <a:rPr lang="en-US" altLang="ja-JP" sz="1600" dirty="0">
                <a:latin typeface="+mj-ea"/>
                <a:ea typeface="+mj-ea"/>
              </a:rPr>
              <a:t>RKHS </a:t>
            </a:r>
            <a:r>
              <a:rPr lang="ja-JP" altLang="en-US" sz="1600" dirty="0">
                <a:latin typeface="+mj-ea"/>
                <a:ea typeface="+mj-ea"/>
              </a:rPr>
              <a:t>范数比较两个概率分布</a:t>
            </a:r>
          </a:p>
        </p:txBody>
      </p:sp>
    </p:spTree>
    <p:extLst>
      <p:ext uri="{BB962C8B-B14F-4D97-AF65-F5344CB8AC3E}">
        <p14:creationId xmlns:p14="http://schemas.microsoft.com/office/powerpoint/2010/main" val="3775697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793CD-9775-2AF3-888E-602FA48F4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3CD859E-9D61-2DD0-240C-92CBFDD474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概率密度与范数空间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A2FC9E54-7E8B-3D28-1F06-0A93118A7F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4160" y="1112520"/>
                <a:ext cx="119278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en-US" b="1" dirty="0">
                    <a:solidFill>
                      <a:srgbClr val="7030A0"/>
                    </a:solidFill>
                  </a:rPr>
                  <a:t>样本版本：用经验分布近似真实分布</a:t>
                </a:r>
              </a:p>
              <a:p>
                <a:r>
                  <a:rPr lang="ja-JP" altLang="en-US" dirty="0"/>
                  <a:t>实际中只有样本，因此用经验均值嵌入：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ar-AE" altLang="ja-JP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nary>
                      <m:d>
                        <m:dPr>
                          <m:sepChr m:val=","/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-</m:t>
                          </m:r>
                        </m:e>
                      </m:d>
                    </m:oMath>
                  </m:oMathPara>
                </a14:m>
                <a:endParaRPr lang="ar-AE" altLang="ja-JP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ar-AE" altLang="ja-JP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nary>
                      <m:d>
                        <m:dPr>
                          <m:sepChr m:val=","/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-</m:t>
                          </m:r>
                        </m:e>
                      </m:d>
                    </m:oMath>
                  </m:oMathPara>
                </a14:m>
                <a:endParaRPr lang="ar-AE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然后用：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ℋ</m:t>
                        </m:r>
                      </m:sub>
                    </m:sSub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估计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ℋ</m:t>
                        </m:r>
                      </m:sub>
                    </m:sSub>
                  </m:oMath>
                </a14:m>
                <a:endParaRPr lang="ar-AE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从误差控制角度看：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ℋ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dirty="0"/>
                  <a:t>就是经验分布嵌入与真实分布嵌入之间的估计误差。</a:t>
                </a:r>
              </a:p>
              <a:p>
                <a:pPr marL="0" indent="0">
                  <a:buNone/>
                </a:pPr>
                <a:r>
                  <a:rPr lang="ja-JP" altLang="en-US" dirty="0"/>
                  <a:t>所以这里的范数再次出现：</a:t>
                </a:r>
                <a:r>
                  <a:rPr lang="en-US" altLang="zh-CN" dirty="0"/>
                  <a:t>RKHS </a:t>
                </a:r>
                <a:r>
                  <a:rPr lang="zh-CN" altLang="en-US" dirty="0"/>
                  <a:t>范数用于控制经验估计误差</a:t>
                </a:r>
                <a:endParaRPr lang="en-US" altLang="zh-CN" dirty="0"/>
              </a:p>
              <a:p>
                <a:pPr marL="0" indent="0">
                  <a:buNone/>
                </a:pPr>
                <a:endParaRPr lang="ar-AE" altLang="ja-JP" b="0" dirty="0"/>
              </a:p>
              <a:p>
                <a:r>
                  <a:rPr lang="zh-CN" altLang="en-US" dirty="0"/>
                  <a:t>总结：</a:t>
                </a:r>
                <a:r>
                  <a:rPr lang="ja-JP" altLang="en-US" dirty="0"/>
                  <a:t>这篇论文的范数用法：</a:t>
                </a:r>
              </a:p>
              <a:p>
                <a:pPr marL="0" indent="0">
                  <a:buNone/>
                </a:pPr>
                <a:r>
                  <a:rPr lang="ja-JP" altLang="en-US" b="1" dirty="0"/>
                  <a:t>第一，范数限制函数复杂度</a:t>
                </a:r>
                <a14:m>
                  <m:oMath xmlns:m="http://schemas.openxmlformats.org/officeDocument/2006/math">
                    <m:r>
                      <a:rPr lang="en-US" altLang="ja-JP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ℋ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dirty="0"/>
                  <a:t>表示测试函数不能太复杂。</a:t>
                </a:r>
              </a:p>
              <a:p>
                <a:pPr marL="0" indent="0">
                  <a:buNone/>
                </a:pPr>
                <a:r>
                  <a:rPr lang="ja-JP" altLang="en-US" b="1" dirty="0"/>
                  <a:t>第二，范数定义分布之间的距离</a:t>
                </a:r>
                <a14:m>
                  <m:oMath xmlns:m="http://schemas.openxmlformats.org/officeDocument/2006/math">
                    <m:r>
                      <a:rPr lang="en-US" altLang="ja-JP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MMD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sepChr m:val=",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ℋ</m:t>
                        </m:r>
                      </m:sub>
                    </m:sSub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表示两个分布嵌入到 </a:t>
                </a:r>
                <a:r>
                  <a:rPr lang="en-US" altLang="ja-JP" dirty="0"/>
                  <a:t>RKHS </a:t>
                </a:r>
                <a:r>
                  <a:rPr lang="ja-JP" altLang="en-US" dirty="0"/>
                  <a:t>后的距离。</a:t>
                </a:r>
              </a:p>
              <a:p>
                <a:pPr marL="0" indent="0">
                  <a:buNone/>
                </a:pPr>
                <a:r>
                  <a:rPr lang="ja-JP" altLang="en-US" b="1" dirty="0"/>
                  <a:t>第三，范数支持误差控制 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ℋ</m:t>
                        </m:r>
                      </m:sub>
                    </m:sSub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表示样本估计与真实分布嵌入之间的误差。</a:t>
                </a:r>
              </a:p>
              <a:p>
                <a:pPr marL="0" indent="0">
                  <a:buNone/>
                </a:pPr>
                <a:endParaRPr lang="ja-JP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A2FC9E54-7E8B-3D28-1F06-0A93118A7F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4160" y="1112520"/>
                <a:ext cx="11927840" cy="5440680"/>
              </a:xfrm>
              <a:blipFill>
                <a:blip r:embed="rId3"/>
                <a:stretch>
                  <a:fillRect l="-511" t="-1009" b="-15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1805BE3-BEDB-EDAA-BD95-276D12D05391}"/>
              </a:ext>
            </a:extLst>
          </p:cNvPr>
          <p:cNvSpPr txBox="1"/>
          <p:nvPr/>
        </p:nvSpPr>
        <p:spPr>
          <a:xfrm>
            <a:off x="4891490" y="114969"/>
            <a:ext cx="73005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600" dirty="0">
                <a:latin typeface="+mj-ea"/>
                <a:ea typeface="+mj-ea"/>
              </a:rPr>
              <a:t>文献</a:t>
            </a:r>
            <a:r>
              <a:rPr lang="en-US" altLang="zh-CN" sz="1600" dirty="0">
                <a:latin typeface="+mj-ea"/>
                <a:ea typeface="+mj-ea"/>
              </a:rPr>
              <a:t>1</a:t>
            </a:r>
            <a:r>
              <a:rPr lang="zh-CN" altLang="en-US" sz="1600" dirty="0">
                <a:latin typeface="+mj-ea"/>
                <a:ea typeface="+mj-ea"/>
              </a:rPr>
              <a:t>：</a:t>
            </a:r>
            <a:r>
              <a:rPr lang="en-US" altLang="ja-JP" sz="1600" b="1" dirty="0">
                <a:latin typeface="+mj-ea"/>
                <a:ea typeface="+mj-ea"/>
              </a:rPr>
              <a:t>Gretton et al. (2012)</a:t>
            </a:r>
            <a:r>
              <a:rPr lang="en-US" altLang="ja-JP" sz="1600" dirty="0">
                <a:latin typeface="+mj-ea"/>
                <a:ea typeface="+mj-ea"/>
              </a:rPr>
              <a:t>, </a:t>
            </a:r>
            <a:r>
              <a:rPr lang="en-US" altLang="ja-JP" sz="1600" i="1" dirty="0">
                <a:latin typeface="+mj-ea"/>
                <a:ea typeface="+mj-ea"/>
              </a:rPr>
              <a:t>A Kernel Two-Sample Test</a:t>
            </a:r>
            <a:r>
              <a:rPr lang="en-US" altLang="ja-JP" sz="1600" dirty="0">
                <a:latin typeface="+mj-ea"/>
                <a:ea typeface="+mj-ea"/>
              </a:rPr>
              <a:t>, JMLR.</a:t>
            </a:r>
            <a:br>
              <a:rPr lang="en-US" altLang="ja-JP" sz="1600" dirty="0">
                <a:latin typeface="+mj-ea"/>
                <a:ea typeface="+mj-ea"/>
              </a:rPr>
            </a:br>
            <a:r>
              <a:rPr lang="ja-JP" altLang="en-US" sz="1600" dirty="0">
                <a:latin typeface="+mj-ea"/>
                <a:ea typeface="+mj-ea"/>
              </a:rPr>
              <a:t>用 </a:t>
            </a:r>
            <a:r>
              <a:rPr lang="en-US" altLang="ja-JP" sz="1600" dirty="0">
                <a:latin typeface="+mj-ea"/>
                <a:ea typeface="+mj-ea"/>
              </a:rPr>
              <a:t>RKHS </a:t>
            </a:r>
            <a:r>
              <a:rPr lang="ja-JP" altLang="en-US" sz="1600" dirty="0">
                <a:latin typeface="+mj-ea"/>
                <a:ea typeface="+mj-ea"/>
              </a:rPr>
              <a:t>范数比较两个概率分布</a:t>
            </a:r>
          </a:p>
        </p:txBody>
      </p:sp>
    </p:spTree>
    <p:extLst>
      <p:ext uri="{BB962C8B-B14F-4D97-AF65-F5344CB8AC3E}">
        <p14:creationId xmlns:p14="http://schemas.microsoft.com/office/powerpoint/2010/main" val="872689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AA4F8-7FD8-1199-D648-1E53FB28B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C4B8944-646E-3376-F895-83A4E4E375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概率密度与范数空间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5FFBC7D-2499-AC88-648B-3D3A966898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文献：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ja-JP" dirty="0"/>
                  <a:t>Gretton et al. (2012), </a:t>
                </a:r>
                <a:r>
                  <a:rPr lang="en-US" altLang="ja-JP" i="1" dirty="0"/>
                  <a:t>A Kernel Two-Sample Test</a:t>
                </a:r>
                <a:r>
                  <a:rPr lang="en-US" altLang="ja-JP" dirty="0"/>
                  <a:t>, JMLR.</a:t>
                </a:r>
                <a:br>
                  <a:rPr lang="en-US" altLang="ja-JP" dirty="0"/>
                </a:br>
                <a:r>
                  <a:rPr lang="ja-JP" altLang="en-US" dirty="0"/>
                  <a:t>用 </a:t>
                </a:r>
                <a:r>
                  <a:rPr lang="en-US" altLang="ja-JP" dirty="0"/>
                  <a:t>RKHS </a:t>
                </a:r>
                <a:r>
                  <a:rPr lang="ja-JP" altLang="en-US" dirty="0"/>
                  <a:t>范数比较两个概率分布，是 </a:t>
                </a:r>
                <a:r>
                  <a:rPr lang="en-US" altLang="ja-JP" dirty="0"/>
                  <a:t>MMD </a:t>
                </a:r>
                <a:r>
                  <a:rPr lang="ja-JP" altLang="en-US" dirty="0"/>
                  <a:t>的经典论文。 </a:t>
                </a:r>
                <a:endParaRPr lang="en-US" altLang="ja-JP" dirty="0"/>
              </a:p>
              <a:p>
                <a:pPr marL="457200" indent="-457200">
                  <a:buFont typeface="+mj-lt"/>
                  <a:buAutoNum type="arabicPeriod"/>
                </a:pPr>
                <a:endParaRPr lang="ja-JP" alt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ja-JP" dirty="0"/>
                  <a:t>Smola et al. (2007), </a:t>
                </a:r>
                <a:r>
                  <a:rPr lang="en-US" altLang="ja-JP" i="1" dirty="0"/>
                  <a:t>A Hilbert Space Embedding for Distributions</a:t>
                </a:r>
                <a:r>
                  <a:rPr lang="en-US" altLang="ja-JP" dirty="0"/>
                  <a:t>.</a:t>
                </a:r>
                <a:br>
                  <a:rPr lang="en-US" altLang="ja-JP" dirty="0"/>
                </a:br>
                <a:r>
                  <a:rPr lang="ja-JP" altLang="en-US" dirty="0"/>
                  <a:t>提出将概率分布表示为 </a:t>
                </a:r>
                <a:r>
                  <a:rPr lang="en-US" altLang="ja-JP" dirty="0"/>
                  <a:t>Hilbert </a:t>
                </a:r>
                <a:r>
                  <a:rPr lang="ja-JP" altLang="en-US" dirty="0"/>
                  <a:t>空间中的元素。 </a:t>
                </a:r>
                <a:endParaRPr lang="en-US" altLang="ja-JP" dirty="0"/>
              </a:p>
              <a:p>
                <a:pPr marL="457200" indent="-457200">
                  <a:buFont typeface="+mj-lt"/>
                  <a:buAutoNum type="arabicPeriod"/>
                </a:pPr>
                <a:endParaRPr lang="ja-JP" alt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ja-JP" dirty="0"/>
                  <a:t>Sugiyama et al. (2013), </a:t>
                </a:r>
                <a:r>
                  <a:rPr lang="en-US" altLang="ja-JP" i="1" dirty="0"/>
                  <a:t>Density-Difference Estimation</a:t>
                </a:r>
                <a:r>
                  <a:rPr lang="en-US" altLang="ja-JP" dirty="0"/>
                  <a:t>.</a:t>
                </a:r>
                <a:br>
                  <a:rPr lang="en-US" altLang="ja-JP" dirty="0"/>
                </a:br>
                <a:r>
                  <a:rPr lang="ja-JP" altLang="en-US" dirty="0"/>
                  <a:t>直接估计两个概率密度之差，适合说明 </a:t>
                </a:r>
                <a14:m>
                  <m:oMath xmlns:m="http://schemas.openxmlformats.org/officeDocument/2006/math">
                    <m:r>
                      <a:rPr lang="ja-JP" altLang="en-US" b="0" smtClean="0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ja-JP" altLang="en-US" b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b="0" i="1" smtClean="0">
                        <a:latin typeface="Cambria Math" panose="02040503050406030204" pitchFamily="18" charset="0"/>
                      </a:rPr>
                      <m:t>𝑞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 b="0" smtClean="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ja-JP" altLang="en-US" dirty="0"/>
                  <a:t>型误差</a:t>
                </a:r>
                <a:r>
                  <a:rPr lang="zh-CN" altLang="en-US" dirty="0"/>
                  <a:t>（</a:t>
                </a:r>
                <a:r>
                  <a:rPr lang="en-US" altLang="ja-JP" dirty="0"/>
                  <a:t> L</a:t>
                </a:r>
                <a:r>
                  <a:rPr lang="en-US" altLang="ja-JP" baseline="30000" dirty="0"/>
                  <a:t>2</a:t>
                </a:r>
                <a:r>
                  <a:rPr lang="en-US" altLang="ja-JP" dirty="0"/>
                  <a:t> </a:t>
                </a:r>
                <a:r>
                  <a:rPr lang="ja-JP" altLang="en-US" dirty="0"/>
                  <a:t>距离</a:t>
                </a:r>
                <a:r>
                  <a:rPr lang="zh-CN" altLang="en-US" dirty="0"/>
                  <a:t>）</a:t>
                </a:r>
                <a:r>
                  <a:rPr lang="ja-JP" altLang="en-US" dirty="0"/>
                  <a:t>。 </a:t>
                </a:r>
                <a:endParaRPr lang="en-US" altLang="ja-JP" dirty="0"/>
              </a:p>
              <a:p>
                <a:pPr marL="457200" indent="-457200">
                  <a:buFont typeface="+mj-lt"/>
                  <a:buAutoNum type="arabicPeriod"/>
                </a:pPr>
                <a:endParaRPr lang="ja-JP" alt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ja-JP" dirty="0"/>
                  <a:t>Petersen &amp; Müller (2016), </a:t>
                </a:r>
                <a:r>
                  <a:rPr lang="en-US" altLang="ja-JP" i="1" dirty="0"/>
                  <a:t>Functional Data Analysis for Density Functions</a:t>
                </a:r>
                <a:r>
                  <a:rPr lang="en-US" altLang="ja-JP" dirty="0"/>
                  <a:t>.</a:t>
                </a:r>
                <a:br>
                  <a:rPr lang="en-US" altLang="ja-JP" dirty="0"/>
                </a:br>
                <a:r>
                  <a:rPr lang="ja-JP" altLang="en-US" dirty="0"/>
                  <a:t>把概率密度作为函数型数据处理。 </a:t>
                </a:r>
                <a:endParaRPr lang="en-US" altLang="ja-JP" dirty="0"/>
              </a:p>
              <a:p>
                <a:pPr marL="457200" indent="-457200">
                  <a:buFont typeface="+mj-lt"/>
                  <a:buAutoNum type="arabicPeriod"/>
                </a:pPr>
                <a:endParaRPr lang="ja-JP" alt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ja-JP" dirty="0"/>
                  <a:t>Hyvärinen (2005), </a:t>
                </a:r>
                <a:r>
                  <a:rPr lang="en-US" altLang="ja-JP" i="1" dirty="0"/>
                  <a:t>Estimation of Non-Normalized Statistical Models by Score Matching</a:t>
                </a:r>
                <a:r>
                  <a:rPr lang="en-US" altLang="ja-JP" dirty="0"/>
                  <a:t>.</a:t>
                </a:r>
                <a:br>
                  <a:rPr lang="en-US" altLang="ja-JP" dirty="0"/>
                </a:br>
                <a:r>
                  <a:rPr lang="ja-JP" altLang="en-US" dirty="0"/>
                  <a:t>用 </a:t>
                </a:r>
                <a:r>
                  <a:rPr lang="en-US" altLang="ja-JP" dirty="0"/>
                  <a:t>score </a:t>
                </a:r>
                <a:r>
                  <a:rPr lang="ja-JP" altLang="en-US" dirty="0"/>
                  <a:t>的平方距离估计非归一化密度模型。 </a:t>
                </a:r>
              </a:p>
              <a:p>
                <a:pPr marL="0" indent="0">
                  <a:buNone/>
                </a:pPr>
                <a:endParaRPr lang="ja-JP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5FFBC7D-2499-AC88-648B-3D3A966898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737" t="-1009" b="-448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6699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8A24C-966F-DCCB-DE82-8F59057B0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D81CF9-8BFD-E0C2-F75B-875AF826A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20" y="3725862"/>
            <a:ext cx="10363200" cy="1362075"/>
          </a:xfrm>
        </p:spPr>
        <p:txBody>
          <a:bodyPr/>
          <a:lstStyle/>
          <a:p>
            <a:r>
              <a:rPr lang="zh-CN" altLang="en-US" dirty="0"/>
              <a:t>论文</a:t>
            </a:r>
            <a:r>
              <a:rPr lang="en-US" altLang="zh-CN" dirty="0"/>
              <a:t>2</a:t>
            </a:r>
            <a:r>
              <a:rPr lang="zh-CN" altLang="en-US" dirty="0"/>
              <a:t>：谱范数（</a:t>
            </a:r>
            <a:r>
              <a:rPr lang="ja-JP" altLang="en-US" dirty="0"/>
              <a:t>算子范数</a:t>
            </a:r>
            <a:r>
              <a:rPr lang="zh-CN" altLang="en-US" dirty="0"/>
              <a:t>）控制</a:t>
            </a:r>
            <a:r>
              <a:rPr lang="ja-JP" altLang="en-US" dirty="0"/>
              <a:t>算子稳定性</a:t>
            </a:r>
            <a:r>
              <a:rPr lang="zh-CN" altLang="en-US" dirty="0"/>
              <a:t>与复杂度</a:t>
            </a:r>
            <a:br>
              <a:rPr lang="en-US" altLang="zh-CN" dirty="0"/>
            </a:b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57A2338-CF5F-215F-54E8-69B25AB3446B}"/>
              </a:ext>
            </a:extLst>
          </p:cNvPr>
          <p:cNvSpPr txBox="1"/>
          <p:nvPr/>
        </p:nvSpPr>
        <p:spPr>
          <a:xfrm>
            <a:off x="1925320" y="5261144"/>
            <a:ext cx="8356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Bartlett, Foster, </a:t>
            </a:r>
            <a:r>
              <a:rPr lang="en-US" altLang="ja-JP" dirty="0" err="1"/>
              <a:t>Telgarsky</a:t>
            </a:r>
            <a:r>
              <a:rPr lang="en-US" altLang="ja-JP" dirty="0"/>
              <a:t>, “Spectrally-normalized margin bounds for neural networks”, </a:t>
            </a:r>
            <a:r>
              <a:rPr lang="en-US" altLang="ja-JP" dirty="0" err="1"/>
              <a:t>NeurIPS</a:t>
            </a:r>
            <a:r>
              <a:rPr lang="en-US" altLang="ja-JP" dirty="0"/>
              <a:t> 2017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76421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EF016-CF28-AA29-B36E-3A9A12AC1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52AE36C0-FB8D-9CF6-5EE0-5D7A912B5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39" y="1771051"/>
            <a:ext cx="7701281" cy="2530681"/>
          </a:xfrm>
          <a:prstGeom prst="rect">
            <a:avLst/>
          </a:prstGeom>
        </p:spPr>
      </p:pic>
      <p:sp>
        <p:nvSpPr>
          <p:cNvPr id="26626" name="Rectangle 2">
            <a:extLst>
              <a:ext uri="{FF2B5EF4-FFF2-40B4-BE49-F238E27FC236}">
                <a16:creationId xmlns:a16="http://schemas.microsoft.com/office/drawing/2014/main" id="{227A753D-147B-2EAF-2411-A5050854E3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谱范数控制算子稳定性与复杂度</a:t>
            </a:r>
            <a:endParaRPr lang="ja-JP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7A8725D4-720F-7261-F797-31568DF545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en-US" dirty="0"/>
                  <a:t>设神经网络为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⋯</m:t>
                            </m:r>
                            <m:sSub>
                              <m:sSub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ar-AE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ar-AE" altLang="ja-JP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⋯</m:t>
                            </m:r>
                            <m:r>
                              <m:rPr>
                                <m:nor/>
                              </m:rPr>
                              <a:rPr lang="ar-AE" altLang="ja-JP" i="1"/>
                              <m:t> </m:t>
                            </m:r>
                          </m:e>
                        </m:d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ja-JP" altLang="en-US" dirty="0"/>
                  <a:t> 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dirty="0"/>
                  <a:t>是第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ja-JP" altLang="en-US" dirty="0"/>
                  <a:t>层权重矩阵，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altLang="ja-JP" dirty="0"/>
                  <a:t> </a:t>
                </a:r>
                <a:r>
                  <a:rPr lang="ja-JP" altLang="en-US" dirty="0"/>
                  <a:t>是激活函数。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b="1" dirty="0">
                    <a:solidFill>
                      <a:srgbClr val="7030A0"/>
                    </a:solidFill>
                  </a:rPr>
                  <a:t>论文考虑多分类问题，分类方式是取输出坐标最大的类别</a:t>
                </a:r>
                <a:r>
                  <a:rPr lang="ja-JP" altLang="en-US" dirty="0"/>
                  <a:t>。</a:t>
                </a:r>
                <a:endParaRPr lang="en-US" altLang="ja-JP" dirty="0"/>
              </a:p>
              <a:p>
                <a:endParaRPr lang="en-US" altLang="ja-JP" dirty="0"/>
              </a:p>
              <a:p>
                <a:endParaRPr lang="en-US" altLang="ja-JP" dirty="0"/>
              </a:p>
              <a:p>
                <a:endParaRPr lang="en-US" altLang="ja-JP" dirty="0"/>
              </a:p>
              <a:p>
                <a:endParaRPr lang="en-US" altLang="ja-JP" dirty="0"/>
              </a:p>
              <a:p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sz="1000" dirty="0"/>
              </a:p>
              <a:p>
                <a:pPr marL="0" indent="0">
                  <a:buNone/>
                </a:pPr>
                <a:r>
                  <a:rPr lang="ja-JP" altLang="en-US" dirty="0"/>
                  <a:t>对于样本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ja-JP" altLang="ar-AE" dirty="0"/>
                  <a:t>，</a:t>
                </a:r>
                <a:r>
                  <a:rPr lang="en-US" altLang="ja-JP" dirty="0"/>
                  <a:t>margin </a:t>
                </a:r>
                <a:r>
                  <a:rPr lang="ja-JP" altLang="en-US" dirty="0"/>
                  <a:t>定义为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dirty="0"/>
                  <a:t>：</a:t>
                </a:r>
                <a:r>
                  <a:rPr lang="ja-JP" altLang="en-US" dirty="0"/>
                  <a:t>正确类别的得分比其他类别高多少。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en-US" altLang="ja-JP" dirty="0"/>
                  <a:t>margin </a:t>
                </a:r>
                <a:r>
                  <a:rPr lang="ja-JP" altLang="en-US" dirty="0"/>
                  <a:t>越大，模型越“有信心”。 </a:t>
                </a:r>
                <a:r>
                  <a:rPr lang="zh-CN" altLang="en-US" dirty="0"/>
                  <a:t>（</a:t>
                </a:r>
                <a:r>
                  <a:rPr lang="ar-AE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dirty="0"/>
                  <a:t>表示模型认为“属于第 </a:t>
                </a:r>
                <a:r>
                  <a:rPr lang="en-US" altLang="zh-CN" i="1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类”的得分）</a:t>
                </a:r>
                <a:endParaRPr lang="en-US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7A8725D4-720F-7261-F797-31568DF545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4"/>
                <a:stretch>
                  <a:fillRect l="-526" t="-67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5962385-97B0-64A3-F136-4D2437CF2D5E}"/>
              </a:ext>
            </a:extLst>
          </p:cNvPr>
          <p:cNvSpPr txBox="1"/>
          <p:nvPr/>
        </p:nvSpPr>
        <p:spPr>
          <a:xfrm>
            <a:off x="6380480" y="182880"/>
            <a:ext cx="5709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Bartlett, Foster, </a:t>
            </a:r>
            <a:r>
              <a:rPr lang="en-US" altLang="ja-JP" sz="1600" dirty="0" err="1"/>
              <a:t>Telgarsky</a:t>
            </a:r>
            <a:r>
              <a:rPr lang="en-US" altLang="ja-JP" sz="1600" dirty="0"/>
              <a:t>, “Spectrally-normalized margin bounds for neural networks”, </a:t>
            </a:r>
            <a:r>
              <a:rPr lang="en-US" altLang="ja-JP" sz="1600" dirty="0" err="1"/>
              <a:t>NeurIPS</a:t>
            </a:r>
            <a:r>
              <a:rPr lang="en-US" altLang="ja-JP" sz="1600" dirty="0"/>
              <a:t> 2017</a:t>
            </a:r>
            <a:endParaRPr lang="ja-JP" alt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13A408F0-EB14-8175-C6C6-F6819B374233}"/>
                  </a:ext>
                </a:extLst>
              </p:cNvPr>
              <p:cNvSpPr txBox="1"/>
              <p:nvPr/>
            </p:nvSpPr>
            <p:spPr>
              <a:xfrm>
                <a:off x="7675880" y="5286214"/>
                <a:ext cx="4719320" cy="1388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ja-JP" altLang="en-US" sz="1400" b="1" dirty="0">
                    <a:solidFill>
                      <a:srgbClr val="7030A0"/>
                    </a:solidFill>
                    <a:latin typeface="+mj-ea"/>
                    <a:ea typeface="+mj-ea"/>
                  </a:rPr>
                  <a:t>可以整体缩放输出</a:t>
                </a:r>
                <a:r>
                  <a:rPr lang="zh-CN" altLang="en-US" sz="1400" b="1" dirty="0">
                    <a:solidFill>
                      <a:srgbClr val="7030A0"/>
                    </a:solidFill>
                    <a:latin typeface="+mj-ea"/>
                    <a:ea typeface="+mj-ea"/>
                  </a:rPr>
                  <a:t>。</a:t>
                </a:r>
                <a:r>
                  <a:rPr lang="ja-JP" altLang="en-US" sz="1400" dirty="0">
                    <a:solidFill>
                      <a:srgbClr val="7030A0"/>
                    </a:solidFill>
                    <a:latin typeface="+mj-ea"/>
                    <a:ea typeface="+mj-ea"/>
                  </a:rPr>
                  <a:t>假设：原来网络输出：</a:t>
                </a:r>
                <a14:m>
                  <m:oMath xmlns:m="http://schemas.openxmlformats.org/officeDocument/2006/math">
                    <m:r>
                      <a:rPr lang="ja-JP" altLang="en-US" sz="1400" i="1">
                        <a:solidFill>
                          <a:srgbClr val="7030A0"/>
                        </a:solidFill>
                        <a:latin typeface="+mj-ea"/>
                        <a:ea typeface="+mj-ea"/>
                      </a:rPr>
                      <m:t>𝐹</m:t>
                    </m:r>
                    <m:d>
                      <m:dPr>
                        <m:ctrlPr>
                          <a:rPr lang="ar-AE" altLang="ja-JP" sz="1400" i="1">
                            <a:solidFill>
                              <a:srgbClr val="7030A0"/>
                            </a:solidFill>
                            <a:latin typeface="+mj-ea"/>
                            <a:ea typeface="+mj-ea"/>
                          </a:rPr>
                        </m:ctrlPr>
                      </m:dPr>
                      <m:e>
                        <m:r>
                          <a:rPr lang="ja-JP" altLang="ar-AE" sz="1400" i="1">
                            <a:solidFill>
                              <a:srgbClr val="7030A0"/>
                            </a:solidFill>
                            <a:latin typeface="+mj-ea"/>
                            <a:ea typeface="+mj-ea"/>
                          </a:rPr>
                          <m:t>𝑥</m:t>
                        </m:r>
                      </m:e>
                    </m:d>
                    <m:r>
                      <a:rPr lang="ar-AE" altLang="ja-JP" sz="1400" i="0">
                        <a:solidFill>
                          <a:srgbClr val="7030A0"/>
                        </a:solidFill>
                        <a:latin typeface="+mj-ea"/>
                        <a:ea typeface="+mj-ea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altLang="ja-JP" sz="1400" i="1">
                            <a:solidFill>
                              <a:srgbClr val="7030A0"/>
                            </a:solidFill>
                            <a:latin typeface="+mj-ea"/>
                            <a:ea typeface="+mj-ea"/>
                          </a:rPr>
                        </m:ctrlPr>
                      </m:dPr>
                      <m:e>
                        <m:r>
                          <a:rPr lang="ar-AE" altLang="ja-JP" sz="1400" i="0">
                            <a:solidFill>
                              <a:srgbClr val="7030A0"/>
                            </a:solidFill>
                            <a:latin typeface="+mj-ea"/>
                            <a:ea typeface="+mj-ea"/>
                          </a:rPr>
                          <m:t>2</m:t>
                        </m:r>
                      </m:e>
                      <m:e>
                        <m:r>
                          <a:rPr lang="ar-AE" altLang="ja-JP" sz="1400" i="0">
                            <a:solidFill>
                              <a:srgbClr val="7030A0"/>
                            </a:solidFill>
                            <a:latin typeface="+mj-ea"/>
                            <a:ea typeface="+mj-ea"/>
                          </a:rPr>
                          <m:t>1</m:t>
                        </m:r>
                      </m:e>
                      <m:e>
                        <m:r>
                          <a:rPr lang="ar-AE" altLang="ja-JP" sz="1400" i="0">
                            <a:solidFill>
                              <a:srgbClr val="7030A0"/>
                            </a:solidFill>
                            <a:latin typeface="+mj-ea"/>
                            <a:ea typeface="+mj-ea"/>
                          </a:rPr>
                          <m:t>−</m:t>
                        </m:r>
                        <m:r>
                          <a:rPr lang="ar-AE" altLang="ja-JP" sz="1400" i="0">
                            <a:solidFill>
                              <a:srgbClr val="7030A0"/>
                            </a:solidFill>
                            <a:latin typeface="+mj-ea"/>
                            <a:ea typeface="+mj-ea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sz="1400" dirty="0">
                    <a:solidFill>
                      <a:srgbClr val="7030A0"/>
                    </a:solidFill>
                    <a:latin typeface="+mj-ea"/>
                    <a:ea typeface="+mj-ea"/>
                  </a:rPr>
                  <a:t>，</a:t>
                </a:r>
                <a:r>
                  <a:rPr lang="ja-JP" altLang="en-US" sz="1400" dirty="0">
                    <a:solidFill>
                      <a:srgbClr val="7030A0"/>
                    </a:solidFill>
                    <a:latin typeface="+mj-ea"/>
                    <a:ea typeface="+mj-ea"/>
                  </a:rPr>
                  <a:t>真实类别是第</a:t>
                </a:r>
                <a:r>
                  <a:rPr lang="en-US" altLang="ja-JP" sz="1400" dirty="0">
                    <a:solidFill>
                      <a:srgbClr val="7030A0"/>
                    </a:solidFill>
                    <a:latin typeface="+mj-ea"/>
                    <a:ea typeface="+mj-ea"/>
                  </a:rPr>
                  <a:t>1</a:t>
                </a:r>
                <a:r>
                  <a:rPr lang="ja-JP" altLang="en-US" sz="1400" dirty="0">
                    <a:solidFill>
                      <a:srgbClr val="7030A0"/>
                    </a:solidFill>
                    <a:latin typeface="+mj-ea"/>
                    <a:ea typeface="+mj-ea"/>
                  </a:rPr>
                  <a:t>类</a:t>
                </a:r>
                <a:r>
                  <a:rPr lang="zh-CN" altLang="en-US" sz="1400" dirty="0">
                    <a:solidFill>
                      <a:srgbClr val="7030A0"/>
                    </a:solidFill>
                    <a:latin typeface="+mj-ea"/>
                    <a:ea typeface="+mj-ea"/>
                  </a:rPr>
                  <a:t>。</a:t>
                </a:r>
                <a:r>
                  <a:rPr lang="en-US" altLang="ja-JP" sz="1400" dirty="0">
                    <a:solidFill>
                      <a:srgbClr val="7030A0"/>
                    </a:solidFill>
                    <a:latin typeface="+mj-ea"/>
                    <a:ea typeface="+mj-ea"/>
                  </a:rPr>
                  <a:t>margin</a:t>
                </a:r>
                <a:r>
                  <a:rPr lang="ja-JP" altLang="en-US" sz="1400" dirty="0">
                    <a:solidFill>
                      <a:srgbClr val="7030A0"/>
                    </a:solidFill>
                    <a:latin typeface="+mj-ea"/>
                    <a:ea typeface="+mj-ea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ja-JP" sz="1400">
                        <a:solidFill>
                          <a:srgbClr val="7030A0"/>
                        </a:solidFill>
                        <a:latin typeface="+mj-ea"/>
                        <a:ea typeface="+mj-ea"/>
                      </a:rPr>
                      <m:t>2</m:t>
                    </m:r>
                    <m:r>
                      <a:rPr lang="en-US" altLang="ja-JP" sz="1400" i="0">
                        <a:solidFill>
                          <a:srgbClr val="7030A0"/>
                        </a:solidFill>
                        <a:latin typeface="+mj-ea"/>
                        <a:ea typeface="+mj-ea"/>
                      </a:rPr>
                      <m:t>−</m:t>
                    </m:r>
                    <m:r>
                      <a:rPr lang="en-US" altLang="ja-JP" sz="1400" i="0">
                        <a:solidFill>
                          <a:srgbClr val="7030A0"/>
                        </a:solidFill>
                        <a:latin typeface="+mj-ea"/>
                        <a:ea typeface="+mj-ea"/>
                      </a:rPr>
                      <m:t>1</m:t>
                    </m:r>
                    <m:r>
                      <a:rPr lang="en-US" altLang="ja-JP" sz="1400" i="0">
                        <a:solidFill>
                          <a:srgbClr val="7030A0"/>
                        </a:solidFill>
                        <a:latin typeface="+mj-ea"/>
                        <a:ea typeface="+mj-ea"/>
                      </a:rPr>
                      <m:t>=</m:t>
                    </m:r>
                    <m:r>
                      <a:rPr lang="en-US" altLang="ja-JP" sz="1400" i="0">
                        <a:solidFill>
                          <a:srgbClr val="7030A0"/>
                        </a:solidFill>
                        <a:latin typeface="+mj-ea"/>
                        <a:ea typeface="+mj-ea"/>
                      </a:rPr>
                      <m:t>1</m:t>
                    </m:r>
                  </m:oMath>
                </a14:m>
                <a:endParaRPr lang="en-US" altLang="ja-JP" sz="1400" dirty="0">
                  <a:solidFill>
                    <a:srgbClr val="7030A0"/>
                  </a:solidFill>
                  <a:latin typeface="+mj-ea"/>
                  <a:ea typeface="+mj-ea"/>
                </a:endParaRPr>
              </a:p>
              <a:p>
                <a:pPr>
                  <a:buNone/>
                </a:pPr>
                <a:r>
                  <a:rPr lang="ja-JP" altLang="en-US" sz="1400" dirty="0">
                    <a:solidFill>
                      <a:srgbClr val="7030A0"/>
                    </a:solidFill>
                    <a:latin typeface="+mj-ea"/>
                    <a:ea typeface="+mj-ea"/>
                  </a:rPr>
                  <a:t>现在把最后一层乘</a:t>
                </a:r>
                <a:r>
                  <a:rPr lang="en-US" altLang="ja-JP" sz="1400" dirty="0">
                    <a:solidFill>
                      <a:srgbClr val="7030A0"/>
                    </a:solidFill>
                    <a:latin typeface="+mj-ea"/>
                    <a:ea typeface="+mj-ea"/>
                  </a:rPr>
                  <a:t>100</a:t>
                </a:r>
                <a:r>
                  <a:rPr lang="ja-JP" altLang="en-US" sz="1400" dirty="0">
                    <a:solidFill>
                      <a:srgbClr val="7030A0"/>
                    </a:solidFill>
                    <a:latin typeface="+mj-ea"/>
                    <a:ea typeface="+mj-ea"/>
                  </a:rPr>
                  <a:t>：</a:t>
                </a:r>
                <a:endParaRPr lang="en-US" altLang="ja-JP" sz="1400" dirty="0">
                  <a:solidFill>
                    <a:srgbClr val="7030A0"/>
                  </a:solidFill>
                  <a:latin typeface="+mj-ea"/>
                  <a:ea typeface="+mj-ea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ar-AE" altLang="ja-JP" sz="1400" i="1">
                              <a:solidFill>
                                <a:srgbClr val="7030A0"/>
                              </a:solidFill>
                              <a:latin typeface="+mj-ea"/>
                              <a:ea typeface="+mj-ea"/>
                            </a:rPr>
                          </m:ctrlPr>
                        </m:accPr>
                        <m:e>
                          <m:r>
                            <a:rPr lang="ja-JP" altLang="ar-AE" sz="1400" i="1">
                              <a:solidFill>
                                <a:srgbClr val="7030A0"/>
                              </a:solidFill>
                              <a:latin typeface="+mj-ea"/>
                              <a:ea typeface="+mj-ea"/>
                            </a:rPr>
                            <m:t>𝐹</m:t>
                          </m:r>
                        </m:e>
                      </m:acc>
                      <m:d>
                        <m:dPr>
                          <m:ctrlPr>
                            <a:rPr lang="ar-AE" altLang="ja-JP" sz="1400" i="1">
                              <a:solidFill>
                                <a:srgbClr val="7030A0"/>
                              </a:solidFill>
                              <a:latin typeface="+mj-ea"/>
                              <a:ea typeface="+mj-ea"/>
                            </a:rPr>
                          </m:ctrlPr>
                        </m:dPr>
                        <m:e>
                          <m:r>
                            <a:rPr lang="ja-JP" altLang="ar-AE" sz="1400" i="1">
                              <a:solidFill>
                                <a:srgbClr val="7030A0"/>
                              </a:solidFill>
                              <a:latin typeface="+mj-ea"/>
                              <a:ea typeface="+mj-ea"/>
                            </a:rPr>
                            <m:t>𝑥</m:t>
                          </m:r>
                        </m:e>
                      </m:d>
                      <m:r>
                        <a:rPr lang="ar-AE" altLang="ja-JP" sz="1400" i="0">
                          <a:solidFill>
                            <a:srgbClr val="7030A0"/>
                          </a:solidFill>
                          <a:latin typeface="+mj-ea"/>
                          <a:ea typeface="+mj-ea"/>
                        </a:rPr>
                        <m:t>=</m:t>
                      </m:r>
                      <m:r>
                        <a:rPr lang="ar-AE" altLang="ja-JP" sz="1400" i="0">
                          <a:solidFill>
                            <a:srgbClr val="7030A0"/>
                          </a:solidFill>
                          <a:latin typeface="+mj-ea"/>
                          <a:ea typeface="+mj-ea"/>
                        </a:rPr>
                        <m:t>100</m:t>
                      </m:r>
                      <m:r>
                        <a:rPr lang="ja-JP" altLang="ar-AE" sz="1400" i="1">
                          <a:solidFill>
                            <a:srgbClr val="7030A0"/>
                          </a:solidFill>
                          <a:latin typeface="+mj-ea"/>
                          <a:ea typeface="+mj-ea"/>
                        </a:rPr>
                        <m:t>𝐹</m:t>
                      </m:r>
                      <m:d>
                        <m:dPr>
                          <m:ctrlPr>
                            <a:rPr lang="ar-AE" altLang="ja-JP" sz="1400" i="1">
                              <a:solidFill>
                                <a:srgbClr val="7030A0"/>
                              </a:solidFill>
                              <a:latin typeface="+mj-ea"/>
                              <a:ea typeface="+mj-ea"/>
                            </a:rPr>
                          </m:ctrlPr>
                        </m:dPr>
                        <m:e>
                          <m:r>
                            <a:rPr lang="ja-JP" altLang="ar-AE" sz="1400" i="1">
                              <a:solidFill>
                                <a:srgbClr val="7030A0"/>
                              </a:solidFill>
                              <a:latin typeface="+mj-ea"/>
                              <a:ea typeface="+mj-ea"/>
                            </a:rPr>
                            <m:t>𝑥</m:t>
                          </m:r>
                        </m:e>
                      </m:d>
                      <m:r>
                        <a:rPr lang="ar-AE" altLang="ja-JP" sz="1400" i="0">
                          <a:solidFill>
                            <a:srgbClr val="7030A0"/>
                          </a:solidFill>
                          <a:latin typeface="+mj-ea"/>
                          <a:ea typeface="+mj-ea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ar-AE" altLang="ja-JP" sz="1400" i="1">
                              <a:solidFill>
                                <a:srgbClr val="7030A0"/>
                              </a:solidFill>
                              <a:latin typeface="+mj-ea"/>
                              <a:ea typeface="+mj-ea"/>
                            </a:rPr>
                          </m:ctrlPr>
                        </m:dPr>
                        <m:e>
                          <m:r>
                            <a:rPr lang="ar-AE" altLang="ja-JP" sz="1400" i="0">
                              <a:solidFill>
                                <a:srgbClr val="7030A0"/>
                              </a:solidFill>
                              <a:latin typeface="+mj-ea"/>
                              <a:ea typeface="+mj-ea"/>
                            </a:rPr>
                            <m:t>200</m:t>
                          </m:r>
                        </m:e>
                        <m:e>
                          <m:r>
                            <a:rPr lang="ar-AE" altLang="ja-JP" sz="1400" i="0">
                              <a:solidFill>
                                <a:srgbClr val="7030A0"/>
                              </a:solidFill>
                              <a:latin typeface="+mj-ea"/>
                              <a:ea typeface="+mj-ea"/>
                            </a:rPr>
                            <m:t>100</m:t>
                          </m:r>
                        </m:e>
                        <m:e>
                          <m:r>
                            <a:rPr lang="ar-AE" altLang="ja-JP" sz="1400" i="0">
                              <a:solidFill>
                                <a:srgbClr val="7030A0"/>
                              </a:solidFill>
                              <a:latin typeface="+mj-ea"/>
                              <a:ea typeface="+mj-ea"/>
                            </a:rPr>
                            <m:t>−</m:t>
                          </m:r>
                          <m:r>
                            <a:rPr lang="ar-AE" altLang="ja-JP" sz="1400" i="0">
                              <a:solidFill>
                                <a:srgbClr val="7030A0"/>
                              </a:solidFill>
                              <a:latin typeface="+mj-ea"/>
                              <a:ea typeface="+mj-ea"/>
                            </a:rPr>
                            <m:t>100</m:t>
                          </m:r>
                        </m:e>
                      </m:d>
                    </m:oMath>
                  </m:oMathPara>
                </a14:m>
                <a:endParaRPr lang="ar-AE" altLang="ja-JP" sz="1400" dirty="0">
                  <a:solidFill>
                    <a:srgbClr val="7030A0"/>
                  </a:solidFill>
                  <a:latin typeface="+mj-ea"/>
                  <a:ea typeface="+mj-ea"/>
                </a:endParaRPr>
              </a:p>
              <a:p>
                <a:pPr>
                  <a:buNone/>
                </a:pPr>
                <a:r>
                  <a:rPr lang="en-US" altLang="ja-JP" sz="1400" dirty="0">
                    <a:solidFill>
                      <a:srgbClr val="7030A0"/>
                    </a:solidFill>
                    <a:latin typeface="+mj-ea"/>
                    <a:ea typeface="+mj-ea"/>
                  </a:rPr>
                  <a:t>margin </a:t>
                </a:r>
                <a:r>
                  <a:rPr lang="ja-JP" altLang="en-US" sz="1400" dirty="0">
                    <a:solidFill>
                      <a:srgbClr val="7030A0"/>
                    </a:solidFill>
                    <a:latin typeface="+mj-ea"/>
                    <a:ea typeface="+mj-ea"/>
                  </a:rPr>
                  <a:t>变成：</a:t>
                </a:r>
                <a14:m>
                  <m:oMath xmlns:m="http://schemas.openxmlformats.org/officeDocument/2006/math">
                    <m:r>
                      <a:rPr lang="en-US" altLang="ja-JP" sz="1400">
                        <a:solidFill>
                          <a:srgbClr val="7030A0"/>
                        </a:solidFill>
                        <a:latin typeface="+mj-ea"/>
                        <a:ea typeface="+mj-ea"/>
                      </a:rPr>
                      <m:t>200</m:t>
                    </m:r>
                    <m:r>
                      <a:rPr lang="ja-JP" altLang="en-US" sz="1400" i="0">
                        <a:solidFill>
                          <a:srgbClr val="7030A0"/>
                        </a:solidFill>
                        <a:latin typeface="+mj-ea"/>
                        <a:ea typeface="+mj-ea"/>
                      </a:rPr>
                      <m:t>−</m:t>
                    </m:r>
                    <m:r>
                      <a:rPr lang="en-US" altLang="ja-JP" sz="1400" i="0">
                        <a:solidFill>
                          <a:srgbClr val="7030A0"/>
                        </a:solidFill>
                        <a:latin typeface="+mj-ea"/>
                        <a:ea typeface="+mj-ea"/>
                      </a:rPr>
                      <m:t>100</m:t>
                    </m:r>
                    <m:r>
                      <a:rPr lang="en-US" altLang="ja-JP" sz="1400" i="0">
                        <a:solidFill>
                          <a:srgbClr val="7030A0"/>
                        </a:solidFill>
                        <a:latin typeface="+mj-ea"/>
                        <a:ea typeface="+mj-ea"/>
                      </a:rPr>
                      <m:t>=</m:t>
                    </m:r>
                    <m:r>
                      <a:rPr lang="en-US" altLang="ja-JP" sz="1400" i="0">
                        <a:solidFill>
                          <a:srgbClr val="7030A0"/>
                        </a:solidFill>
                        <a:latin typeface="+mj-ea"/>
                        <a:ea typeface="+mj-ea"/>
                      </a:rPr>
                      <m:t>100</m:t>
                    </m:r>
                  </m:oMath>
                </a14:m>
                <a:endParaRPr lang="ja-JP" altLang="en-US" sz="1400" dirty="0">
                  <a:solidFill>
                    <a:srgbClr val="7030A0"/>
                  </a:solidFill>
                  <a:latin typeface="+mj-ea"/>
                  <a:ea typeface="+mj-ea"/>
                </a:endParaRPr>
              </a:p>
              <a:p>
                <a:pPr>
                  <a:buNone/>
                </a:pPr>
                <a:r>
                  <a:rPr lang="ja-JP" altLang="en-US" sz="1400" dirty="0">
                    <a:solidFill>
                      <a:srgbClr val="7030A0"/>
                    </a:solidFill>
                    <a:latin typeface="+mj-ea"/>
                    <a:ea typeface="+mj-ea"/>
                  </a:rPr>
                  <a:t>但是：</a:t>
                </a:r>
                <a:r>
                  <a:rPr lang="ja-JP" altLang="en-US" sz="1400" b="1" dirty="0">
                    <a:solidFill>
                      <a:srgbClr val="7030A0"/>
                    </a:solidFill>
                    <a:latin typeface="+mj-ea"/>
                    <a:ea typeface="+mj-ea"/>
                  </a:rPr>
                  <a:t>分类结果完全没变！</a:t>
                </a:r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13A408F0-EB14-8175-C6C6-F6819B374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880" y="5286214"/>
                <a:ext cx="4719320" cy="1388906"/>
              </a:xfrm>
              <a:prstGeom prst="rect">
                <a:avLst/>
              </a:prstGeom>
              <a:blipFill>
                <a:blip r:embed="rId5"/>
                <a:stretch>
                  <a:fillRect l="-388" t="-1316" b="-3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453A65F-8D6C-7B3D-C3BD-E037EA15E336}"/>
              </a:ext>
            </a:extLst>
          </p:cNvPr>
          <p:cNvSpPr txBox="1"/>
          <p:nvPr/>
        </p:nvSpPr>
        <p:spPr>
          <a:xfrm>
            <a:off x="421640" y="5042118"/>
            <a:ext cx="70205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论文强调：</a:t>
            </a:r>
            <a:endParaRPr kumimoji="0" lang="en-US" altLang="ja-JP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  <a:ea typeface="FangSong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单看 </a:t>
            </a:r>
            <a:r>
              <a:rPr kumimoji="0" lang="en-US" altLang="ja-JP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margin </a:t>
            </a: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不够，网络输出整体放大后 </a:t>
            </a:r>
            <a:r>
              <a:rPr kumimoji="0" lang="en-US" altLang="ja-JP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margin </a:t>
            </a: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也会变大</a:t>
            </a:r>
            <a:endParaRPr kumimoji="0" lang="en-US" altLang="ja-JP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  <a:ea typeface="FangSong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ja-JP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要用谱范数控制网络的整体放大能力，看归一化后的 </a:t>
            </a:r>
            <a:r>
              <a:rPr kumimoji="0" lang="en-US" altLang="ja-JP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margin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在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CIFAR10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、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MNIST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、随机标签等实验中发现，归一化后的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margin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分布能更好地区分任务难度</a:t>
            </a:r>
            <a:endParaRPr kumimoji="0" lang="ja-JP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3133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68DD-66D5-CAEF-E762-10EC70013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68D0C40-5DC8-4C72-F6DD-F70E95B0AF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谱范数控制算子稳定性与复杂度</a:t>
            </a:r>
            <a:endParaRPr lang="ja-JP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66076A4-BB8C-9DBF-2E0B-1595061099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主要理论结果是一个 </a:t>
                </a:r>
                <a:r>
                  <a:rPr lang="en-US" altLang="ja-JP" dirty="0"/>
                  <a:t>margin-based generalization bound</a:t>
                </a:r>
                <a:r>
                  <a:rPr lang="ja-JP" altLang="en-US" dirty="0"/>
                  <a:t>，大致形式是：</a:t>
                </a: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ja-JP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i="1" baseline="-25000" dirty="0" err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𝐹𝐴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/>
                  <a:t>是训练集上的 </a:t>
                </a:r>
                <a:r>
                  <a:rPr lang="en-US" altLang="zh-CN" dirty="0"/>
                  <a:t>margin error</a:t>
                </a:r>
                <a:r>
                  <a:rPr lang="zh-CN" altLang="en-US" dirty="0"/>
                  <a:t>，表示训练样本中 </a:t>
                </a:r>
                <a:r>
                  <a:rPr lang="en-US" altLang="zh-CN" dirty="0"/>
                  <a:t>margin </a:t>
                </a:r>
                <a:r>
                  <a:rPr lang="zh-CN" altLang="en-US" dirty="0"/>
                  <a:t>小于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CN" altLang="en-US" dirty="0"/>
                  <a:t>的比例；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zh-CN" altLang="en-US" dirty="0"/>
                  <a:t> 是网络的 </a:t>
                </a:r>
                <a:r>
                  <a:rPr lang="en-US" altLang="zh-CN" dirty="0"/>
                  <a:t>spectral complexity</a:t>
                </a:r>
                <a:r>
                  <a:rPr lang="zh-CN" altLang="en-US" dirty="0"/>
                  <a:t>；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CN" altLang="en-US" dirty="0"/>
                  <a:t>是 </a:t>
                </a:r>
                <a:r>
                  <a:rPr lang="en-US" altLang="zh-CN" dirty="0"/>
                  <a:t>margin </a:t>
                </a:r>
                <a:r>
                  <a:rPr lang="zh-CN" altLang="en-US" dirty="0"/>
                  <a:t>阈值；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 是样本量。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论文给出了这一类界，其中复杂度项主要由谱范数乘积和一个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dirty="0"/>
                  <a:t>-group norm </a:t>
                </a:r>
                <a:r>
                  <a:rPr lang="zh-CN" altLang="en-US" dirty="0"/>
                  <a:t>修正项组成。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ja-JP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66076A4-BB8C-9DBF-2E0B-1595061099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E9F52EF-7EEF-3D2C-79CD-4D4601D6AA5E}"/>
              </a:ext>
            </a:extLst>
          </p:cNvPr>
          <p:cNvSpPr txBox="1"/>
          <p:nvPr/>
        </p:nvSpPr>
        <p:spPr>
          <a:xfrm>
            <a:off x="6380480" y="182880"/>
            <a:ext cx="5709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Bartlett, Foster, </a:t>
            </a:r>
            <a:r>
              <a:rPr lang="en-US" altLang="ja-JP" sz="1600" dirty="0" err="1"/>
              <a:t>Telgarsky</a:t>
            </a:r>
            <a:r>
              <a:rPr lang="en-US" altLang="ja-JP" sz="1600" dirty="0"/>
              <a:t>, “Spectrally-normalized margin bounds for neural networks”, </a:t>
            </a:r>
            <a:r>
              <a:rPr lang="en-US" altLang="ja-JP" sz="1600" dirty="0" err="1"/>
              <a:t>NeurIPS</a:t>
            </a:r>
            <a:r>
              <a:rPr lang="en-US" altLang="ja-JP" sz="1600" dirty="0"/>
              <a:t> 2017</a:t>
            </a:r>
            <a:endParaRPr lang="ja-JP" altLang="en-US" sz="16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0761172-1054-35DF-EA07-C45BCBC9E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4159" y="1720219"/>
            <a:ext cx="6130457" cy="86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709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54457-9B02-FBC8-9EE9-624BE5F96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1DCC0984-8A13-FFD1-6648-D704DF3970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谱范数控制算子稳定性与复杂度</a:t>
            </a:r>
            <a:endParaRPr lang="ja-JP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7691AAB9-6CD3-9169-DA2B-FA18B9632C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en-US" altLang="zh-CN" b="1" dirty="0"/>
                  <a:t>2. </a:t>
                </a:r>
                <a:r>
                  <a:rPr lang="zh-CN" altLang="en-US" b="1" dirty="0"/>
                  <a:t>谱范数如何定义？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对于矩阵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，它的谱范数定义为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sup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𝐴𝑥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也可以理解为：</a:t>
                </a:r>
                <a14:m>
                  <m:oMath xmlns:m="http://schemas.openxmlformats.org/officeDocument/2006/math">
                    <m:r>
                      <a:rPr lang="zh-CN" altLang="en-US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zh-CN" altLang="en-US" i="1">
                        <a:solidFill>
                          <a:srgbClr val="FF0000"/>
                        </a:solidFill>
                      </a:rPr>
                      <m:t>矩阵 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zh-CN" altLang="en-US" i="1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zh-CN" altLang="en-US" i="1">
                        <a:solidFill>
                          <a:srgbClr val="FF0000"/>
                        </a:solidFill>
                      </a:rPr>
                      <m:t>的最大奇异值</m:t>
                    </m:r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b="0" dirty="0">
                  <a:solidFill>
                    <a:srgbClr val="FF0000"/>
                  </a:solidFill>
                </a:endParaRPr>
              </a:p>
              <a:p>
                <a:pPr marL="400050" lvl="1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dirty="0"/>
                  <a:t>所有长度为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的向量。取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作用下的最大的放大倍数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谱范数表示：矩阵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最多能把一个单位向量拉长多少倍。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例如，如果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zh-CN" altLang="en-US" dirty="0"/>
                  <a:t> 就说明存在某个方向上的输入向量会被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放大 </a:t>
                </a:r>
                <a:r>
                  <a:rPr lang="en-US" altLang="zh-CN" dirty="0"/>
                  <a:t>5 </a:t>
                </a:r>
                <a:r>
                  <a:rPr lang="zh-CN" altLang="en-US" dirty="0"/>
                  <a:t>倍；同时，任何输入向量都不会被放大超过 </a:t>
                </a:r>
                <a:r>
                  <a:rPr lang="en-US" altLang="zh-CN" dirty="0"/>
                  <a:t>5 </a:t>
                </a:r>
                <a:r>
                  <a:rPr lang="zh-CN" altLang="en-US" dirty="0"/>
                  <a:t>倍：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𝐴𝑥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>
                          <a:latin typeface="Cambria Math" panose="02040503050406030204" pitchFamily="18" charset="0"/>
                        </a:rPr>
                        <m:t>≤∥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zh-CN" altLang="en-US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谱范数本质上就是线性算子的 </a:t>
                </a:r>
                <a:r>
                  <a:rPr lang="en-US" altLang="zh-CN" dirty="0"/>
                  <a:t>Lipschitz </a:t>
                </a:r>
                <a:r>
                  <a:rPr lang="zh-CN" altLang="en-US" dirty="0"/>
                  <a:t>常数。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ja-JP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7691AAB9-6CD3-9169-DA2B-FA18B9632C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50433DC-3B31-A353-CC96-A5403DEC23F5}"/>
              </a:ext>
            </a:extLst>
          </p:cNvPr>
          <p:cNvSpPr txBox="1"/>
          <p:nvPr/>
        </p:nvSpPr>
        <p:spPr>
          <a:xfrm>
            <a:off x="6380480" y="182880"/>
            <a:ext cx="5709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Bartlett, Foster, </a:t>
            </a:r>
            <a:r>
              <a:rPr lang="en-US" altLang="ja-JP" sz="1600" dirty="0" err="1"/>
              <a:t>Telgarsky</a:t>
            </a:r>
            <a:r>
              <a:rPr lang="en-US" altLang="ja-JP" sz="1600" dirty="0"/>
              <a:t>, “Spectrally-normalized margin bounds for neural networks”, </a:t>
            </a:r>
            <a:r>
              <a:rPr lang="en-US" altLang="ja-JP" sz="1600" dirty="0" err="1"/>
              <a:t>NeurIPS</a:t>
            </a:r>
            <a:r>
              <a:rPr lang="en-US" altLang="ja-JP" sz="1600" dirty="0"/>
              <a:t> 2017</a:t>
            </a:r>
            <a:endParaRPr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095383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818E1-B597-83AB-39B8-769266291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1519BE6-028F-3A6F-4835-72D220CFA3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谱范数控制算子稳定性与复杂度</a:t>
            </a:r>
            <a:endParaRPr lang="ja-JP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F7FC11B-4DCA-9811-624C-B55B217E19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为什么谱范数能控制神经网络稳定性？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sz="10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神经网络可以看成很多层映射的复合：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↦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↦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↦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↦⋯↦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如果每个激活函数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-Lipschitz </a:t>
                </a:r>
                <a:r>
                  <a:rPr lang="zh-CN" altLang="en-US" dirty="0"/>
                  <a:t>的，例如 </a:t>
                </a:r>
                <a:r>
                  <a:rPr lang="en-US" altLang="zh-CN" dirty="0" err="1"/>
                  <a:t>ReLU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是 </a:t>
                </a:r>
                <a:r>
                  <a:rPr lang="en-US" altLang="zh-CN" dirty="0"/>
                  <a:t>1-Lipschitz</a:t>
                </a:r>
                <a:r>
                  <a:rPr lang="zh-CN" altLang="en-US" dirty="0"/>
                  <a:t>，那么第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层的扰动传播满足：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>
                          <a:latin typeface="Cambria Math" panose="02040503050406030204" pitchFamily="18" charset="0"/>
                        </a:rPr>
                        <m:t>∥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∥≤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>
                          <a:latin typeface="Cambria Math" panose="02040503050406030204" pitchFamily="18" charset="0"/>
                        </a:rPr>
                        <m:t>∥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zh-CN" altLang="en-US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整个网络满足：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zh-CN" altLang="en-US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∏"/>
                          <m:grow m:val="on"/>
                          <m:ctrlP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zh-CN" alt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∥</m:t>
                      </m:r>
                    </m:oMath>
                  </m:oMathPara>
                </a14:m>
                <a:endParaRPr lang="zh-CN" alt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这就是论文中所谓的 </a:t>
                </a:r>
                <a:r>
                  <a:rPr lang="en-US" altLang="zh-CN" dirty="0"/>
                  <a:t>Lipschitz constant</a:t>
                </a:r>
                <a:r>
                  <a:rPr lang="zh-CN" altLang="en-US" dirty="0"/>
                  <a:t>，即各层谱范数乘积。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论文明确把网络 </a:t>
                </a:r>
                <a:r>
                  <a:rPr lang="en-US" altLang="zh-CN" dirty="0"/>
                  <a:t>Lipschitz constant </a:t>
                </a:r>
                <a:r>
                  <a:rPr lang="zh-CN" altLang="en-US" dirty="0"/>
                  <a:t>描述为 </a:t>
                </a:r>
                <a:r>
                  <a:rPr lang="en-US" altLang="zh-CN" dirty="0"/>
                  <a:t>weight matrices </a:t>
                </a:r>
                <a:r>
                  <a:rPr lang="zh-CN" altLang="en-US" dirty="0"/>
                  <a:t>的 </a:t>
                </a:r>
                <a:r>
                  <a:rPr lang="en-US" altLang="zh-CN" dirty="0"/>
                  <a:t>spectral norms </a:t>
                </a:r>
                <a:r>
                  <a:rPr lang="zh-CN" altLang="en-US" dirty="0"/>
                  <a:t>的乘积。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直观上：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nary>
                      <m:naryPr>
                        <m:chr m:val="∏"/>
                        <m:grow m:val="on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</m:nary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</m:oMath>
                </a14:m>
                <a:r>
                  <a:rPr lang="zh-CN" altLang="en-US" dirty="0"/>
                  <a:t> 越大，输入中的微小扰动越可能在层与层之间被不断放大；</a:t>
                </a: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nary>
                      <m:naryPr>
                        <m:chr m:val="∏"/>
                        <m:grow m:val="on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</m:nary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</m:oMath>
                </a14:m>
                <a:r>
                  <a:rPr lang="zh-CN" altLang="en-US" dirty="0"/>
                  <a:t>越小，网络越稳定，输出不会因为输入或参数的小变化而剧烈改变。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br>
                  <a:rPr lang="zh-CN" altLang="en-US" dirty="0"/>
                </a:br>
                <a:endParaRPr lang="zh-CN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F7FC11B-4DCA-9811-624C-B55B217E19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897" b="-13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9AE931A-A04E-9A4C-8DEF-B13DAD0D699B}"/>
              </a:ext>
            </a:extLst>
          </p:cNvPr>
          <p:cNvSpPr txBox="1"/>
          <p:nvPr/>
        </p:nvSpPr>
        <p:spPr>
          <a:xfrm>
            <a:off x="6380480" y="182880"/>
            <a:ext cx="5709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Bartlett, Foster, </a:t>
            </a:r>
            <a:r>
              <a:rPr lang="en-US" altLang="ja-JP" sz="1600" dirty="0" err="1"/>
              <a:t>Telgarsky</a:t>
            </a:r>
            <a:r>
              <a:rPr lang="en-US" altLang="ja-JP" sz="1600" dirty="0"/>
              <a:t>, “Spectrally-normalized margin bounds for neural networks”, </a:t>
            </a:r>
            <a:r>
              <a:rPr lang="en-US" altLang="ja-JP" sz="1600" dirty="0" err="1"/>
              <a:t>NeurIPS</a:t>
            </a:r>
            <a:r>
              <a:rPr lang="en-US" altLang="ja-JP" sz="1600" dirty="0"/>
              <a:t> 2017</a:t>
            </a:r>
            <a:endParaRPr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776633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4F8EC-771E-7491-E62B-1D84F4366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8957F93-2C62-21A8-340D-F6B29E7473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谱范数控制算子稳定性与复杂度</a:t>
            </a:r>
            <a:endParaRPr lang="ja-JP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DD3E4C3-544F-F8BD-D3A2-463D6FF325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为什么谱范数能控制“复杂度”？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这里的“复杂度”不是参数个数，而是函数类在数据附近能产生多少不同的输出模式。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sz="10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如果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谱范数很大</a:t>
                </a:r>
                <a:r>
                  <a:rPr lang="zh-CN" altLang="en-US" dirty="0"/>
                  <a:t>，网络可以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强烈拉伸输入空间</a:t>
                </a:r>
                <a:r>
                  <a:rPr lang="zh-CN" altLang="en-US" dirty="0"/>
                  <a:t>，使得很近的样本在输出空间中变得很远。这意味着网络可以实现非常剧烈、非常振荡的分类边界，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函数类更复杂</a:t>
                </a:r>
                <a:r>
                  <a:rPr lang="zh-CN" altLang="en-US" dirty="0"/>
                  <a:t>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如果谱范数较小，网络的每一层都不能过度放大扰动。于是整个网络在输入空间中的变化更平滑，可实现的函数族更受限制，复杂度更低。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sz="10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证明思路是用 </a:t>
                </a:r>
                <a:r>
                  <a:rPr lang="en-US" altLang="zh-CN" dirty="0"/>
                  <a:t>covering number </a:t>
                </a:r>
                <a:r>
                  <a:rPr lang="zh-CN" altLang="en-US" dirty="0"/>
                  <a:t>控制网络函数类的大小。（在训练样本上，网络可能产生的输出矩阵有多少种“本质不同”的可能？）</a:t>
                </a:r>
              </a:p>
              <a:p>
                <a:pPr>
                  <a:lnSpc>
                    <a:spcPct val="110000"/>
                  </a:lnSpc>
                </a:pPr>
                <a:r>
                  <a:rPr lang="zh-CN" altLang="en-US" dirty="0"/>
                  <a:t>论文通过逐层构造 </a:t>
                </a:r>
                <a:r>
                  <a:rPr lang="en-US" altLang="zh-CN" dirty="0"/>
                  <a:t>cover </a:t>
                </a:r>
                <a:r>
                  <a:rPr lang="zh-CN" altLang="en-US" dirty="0"/>
                  <a:t>来控制这个数量。</a:t>
                </a:r>
                <a:endParaRPr lang="en-US" altLang="zh-CN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dirty="0"/>
                  <a:t>递推形式：如果前一层的误差已被控制，那么后一层的误差会被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</m:oMath>
                </a14:m>
                <a:r>
                  <a:rPr lang="zh-CN" altLang="en-US" dirty="0"/>
                  <a:t>放大，再加上当前层矩阵近似带来的误差。论文的证明草图中用这种逐层递推得到整个网络的 </a:t>
                </a:r>
                <a:r>
                  <a:rPr lang="en-US" altLang="zh-CN" dirty="0"/>
                  <a:t>covering number bound</a:t>
                </a:r>
                <a:r>
                  <a:rPr lang="zh-CN" altLang="en-US" dirty="0"/>
                  <a:t>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谱范数控制复杂度的核心逻辑是：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b="0" smtClean="0">
                          <a:solidFill>
                            <a:srgbClr val="7030A0"/>
                          </a:solidFill>
                        </a:rPr>
                        <m:t>谱范数小</m:t>
                      </m:r>
                      <m:r>
                        <a:rPr lang="zh-CN" altLang="en-US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nor/>
                        </m:rPr>
                        <a:rPr lang="zh-CN" altLang="en-US">
                          <a:solidFill>
                            <a:srgbClr val="7030A0"/>
                          </a:solidFill>
                        </a:rPr>
                        <m:t>每层扰动放大有限</m:t>
                      </m:r>
                      <m:r>
                        <a:rPr lang="zh-CN" altLang="en-US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nor/>
                        </m:rPr>
                        <a:rPr lang="zh-CN" altLang="en-US">
                          <a:solidFill>
                            <a:srgbClr val="7030A0"/>
                          </a:solidFill>
                        </a:rPr>
                        <m:t>整个网络的可变形程度有限</m:t>
                      </m:r>
                      <m:r>
                        <a:rPr lang="zh-CN" altLang="en-US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rgbClr val="7030A0"/>
                          </a:solidFill>
                        </a:rPr>
                        <m:t>covering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rgbClr val="7030A0"/>
                          </a:solidFill>
                        </a:rPr>
                        <m:t>number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rgbClr val="7030A0"/>
                          </a:solidFill>
                        </a:rPr>
                        <m:t> / 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rgbClr val="7030A0"/>
                          </a:solidFill>
                        </a:rPr>
                        <m:t>Rademacher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rgbClr val="7030A0"/>
                          </a:solidFill>
                        </a:rPr>
                        <m:t>complexity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>
                          <a:solidFill>
                            <a:srgbClr val="7030A0"/>
                          </a:solidFill>
                        </a:rPr>
                        <m:t>较小</m:t>
                      </m:r>
                      <m:r>
                        <a:rPr lang="zh-CN" altLang="en-US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nor/>
                        </m:rPr>
                        <a:rPr lang="zh-CN" altLang="en-US">
                          <a:solidFill>
                            <a:srgbClr val="7030A0"/>
                          </a:solidFill>
                        </a:rPr>
                        <m:t>泛化误差可控</m:t>
                      </m:r>
                      <m:r>
                        <a:rPr lang="en-US" altLang="zh-CN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b="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DD3E4C3-544F-F8BD-D3A2-463D6FF325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897" r="-474" b="-482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B8071EF-0298-9270-0EBD-0DCF7297039C}"/>
              </a:ext>
            </a:extLst>
          </p:cNvPr>
          <p:cNvSpPr txBox="1"/>
          <p:nvPr/>
        </p:nvSpPr>
        <p:spPr>
          <a:xfrm>
            <a:off x="6380480" y="182880"/>
            <a:ext cx="5709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Bartlett, Foster, </a:t>
            </a:r>
            <a:r>
              <a:rPr lang="en-US" altLang="ja-JP" sz="1600" dirty="0" err="1"/>
              <a:t>Telgarsky</a:t>
            </a:r>
            <a:r>
              <a:rPr lang="en-US" altLang="ja-JP" sz="1600" dirty="0"/>
              <a:t>, “Spectrally-normalized margin bounds for neural networks”, </a:t>
            </a:r>
            <a:r>
              <a:rPr lang="en-US" altLang="ja-JP" sz="1600" dirty="0" err="1"/>
              <a:t>NeurIPS</a:t>
            </a:r>
            <a:r>
              <a:rPr lang="en-US" altLang="ja-JP" sz="1600" dirty="0"/>
              <a:t> 2017</a:t>
            </a:r>
            <a:endParaRPr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0986836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CC8EC-7DFB-E769-9537-C0E9F65A7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CAA2D71-3A8D-EBEC-D424-AE0BB198A9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谱范数控制算子稳定性与复杂度</a:t>
            </a:r>
            <a:endParaRPr lang="ja-JP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A41D881-92AD-4D76-F485-721F0D9B7D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为什么还需要 </a:t>
                </a:r>
                <a:r>
                  <a:rPr lang="en-US" altLang="zh-CN" b="1" dirty="0"/>
                  <a:t>margin</a:t>
                </a:r>
                <a:r>
                  <a:rPr lang="zh-CN" altLang="en-US" b="1" dirty="0"/>
                  <a:t>？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只控制 </a:t>
                </a:r>
                <a:r>
                  <a:rPr lang="en-US" altLang="zh-CN" dirty="0"/>
                  <a:t>Lipschitz </a:t>
                </a:r>
                <a:r>
                  <a:rPr lang="zh-CN" altLang="en-US" dirty="0"/>
                  <a:t>常数还不够。因为分类是否稳定，还取决于样本离决策边界有多远。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例如某个样本的正确类别得分只比错误类别高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001</m:t>
                    </m:r>
                  </m:oMath>
                </a14:m>
                <a:r>
                  <a:rPr lang="zh-CN" altLang="en-US" dirty="0"/>
                  <a:t>，那么即使网络 </a:t>
                </a:r>
                <a:r>
                  <a:rPr lang="en-US" altLang="zh-CN" dirty="0"/>
                  <a:t>Lipschitz </a:t>
                </a:r>
                <a:r>
                  <a:rPr lang="zh-CN" altLang="en-US" dirty="0"/>
                  <a:t>常数不大，一个很小扰动也可能改变分类结果。但如果正确类别得分比其他类别高很多，例如 </a:t>
                </a:r>
                <a:r>
                  <a:rPr lang="en-US" altLang="zh-CN" dirty="0"/>
                  <a:t>margin </a:t>
                </a:r>
                <a:r>
                  <a:rPr lang="zh-CN" altLang="en-US" dirty="0"/>
                  <a:t>为 </a:t>
                </a:r>
                <a:r>
                  <a:rPr lang="en-US" altLang="zh-CN" dirty="0"/>
                  <a:t>10</a:t>
                </a:r>
                <a:r>
                  <a:rPr lang="zh-CN" altLang="en-US" dirty="0"/>
                  <a:t>，那么即使输出有一定扰动，分类结果仍然不变。真正重要的是：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CN" b="0"/>
                          <m:t>margin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CN" b="0"/>
                          <m:t>spectral</m:t>
                        </m:r>
                        <m:r>
                          <m:rPr>
                            <m:nor/>
                          </m:rPr>
                          <a:rPr lang="en-US" altLang="zh-CN" b="0"/>
                          <m:t> </m:t>
                        </m:r>
                        <m:r>
                          <m:rPr>
                            <m:nor/>
                          </m:rPr>
                          <a:rPr lang="en-US" altLang="zh-CN" b="0"/>
                          <m:t>complexity</m:t>
                        </m:r>
                      </m:den>
                    </m:f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b="0" dirty="0"/>
              </a:p>
              <a:p>
                <a:pPr marL="0" indent="0">
                  <a:buNone/>
                </a:pPr>
                <a:r>
                  <a:rPr lang="zh-CN" altLang="en-US" dirty="0"/>
                  <a:t>从误差界的角度看，是：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𝛾</m:t>
                        </m:r>
                      </m:den>
                    </m:f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zh-CN" altLang="en-US" dirty="0"/>
                  <a:t>是 </a:t>
                </a:r>
                <a:r>
                  <a:rPr lang="en-US" altLang="zh-CN" dirty="0"/>
                  <a:t>spectral complexity</a:t>
                </a:r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CN" altLang="en-US" dirty="0"/>
                  <a:t> 是 </a:t>
                </a:r>
                <a:r>
                  <a:rPr lang="en-US" altLang="zh-CN" dirty="0"/>
                  <a:t>margin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复杂度越小、</a:t>
                </a:r>
                <a:r>
                  <a:rPr lang="en-US" altLang="zh-CN" dirty="0"/>
                  <a:t>margin </a:t>
                </a:r>
                <a:r>
                  <a:rPr lang="zh-CN" altLang="en-US" dirty="0"/>
                  <a:t>越大，泛化界越好。</a:t>
                </a:r>
                <a:endParaRPr lang="en-US" altLang="zh-CN" dirty="0"/>
              </a:p>
              <a:p>
                <a:r>
                  <a:rPr lang="zh-CN" altLang="en-US" dirty="0"/>
                  <a:t>普通的参数范数问的是：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b="0"/>
                      <m:t>参数有多大</m:t>
                    </m:r>
                    <m:r>
                      <m:rPr>
                        <m:nor/>
                      </m:rPr>
                      <a:rPr lang="zh-CN" altLang="en-US" b="0"/>
                      <m:t>？</m:t>
                    </m:r>
                  </m:oMath>
                </a14:m>
                <a:endParaRPr lang="zh-CN" altLang="en-US" b="0" dirty="0"/>
              </a:p>
              <a:p>
                <a:r>
                  <a:rPr lang="zh-CN" altLang="en-US" dirty="0"/>
                  <a:t>谱范数问的是：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b="0"/>
                      <m:t>这一层最多会把扰动放大多少</m:t>
                    </m:r>
                    <m:r>
                      <m:rPr>
                        <m:nor/>
                      </m:rPr>
                      <a:rPr lang="zh-CN" altLang="en-US" b="0"/>
                      <m:t>？</m:t>
                    </m:r>
                  </m:oMath>
                </a14:m>
                <a:endParaRPr lang="zh-CN" altLang="en-US" b="0" dirty="0"/>
              </a:p>
              <a:p>
                <a:r>
                  <a:rPr lang="en-US" altLang="zh-CN" dirty="0"/>
                  <a:t>margin </a:t>
                </a:r>
                <a:r>
                  <a:rPr lang="zh-CN" altLang="en-US" dirty="0"/>
                  <a:t>问的是：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b="0"/>
                      <m:t>样本离分类边界有多远</m:t>
                    </m:r>
                    <m:r>
                      <m:rPr>
                        <m:nor/>
                      </m:rPr>
                      <a:rPr lang="zh-CN" altLang="en-US" b="0"/>
                      <m:t>？</m:t>
                    </m:r>
                  </m:oMath>
                </a14:m>
                <a:endParaRPr lang="zh-CN" altLang="en-US" b="0" dirty="0"/>
              </a:p>
              <a:p>
                <a:pPr marL="0" indent="0">
                  <a:buNone/>
                </a:pPr>
                <a:r>
                  <a:rPr lang="zh-CN" altLang="en-US" dirty="0"/>
                  <a:t>这篇论文的核心思想可以画成：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zh-CN" altLang="en-US" b="0"/>
                          <m:t>模型稳定性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zh-CN" altLang="en-US"/>
                              <m:t>分类余量 </m:t>
                            </m:r>
                            <m:r>
                              <m:rPr>
                                <m:nor/>
                              </m:rPr>
                              <a:rPr lang="en-US" altLang="zh-CN"/>
                              <m:t>margin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zh-CN" altLang="en-US"/>
                              <m:t>扰动放大能力 </m:t>
                            </m:r>
                            <m:r>
                              <m:rPr>
                                <m:nor/>
                              </m:rPr>
                              <a:rPr lang="en-US" altLang="zh-CN"/>
                              <m:t>spectral</m:t>
                            </m:r>
                            <m:r>
                              <m:rPr>
                                <m:nor/>
                              </m:rPr>
                              <a:rPr lang="en-US" altLang="zh-CN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CN"/>
                              <m:t>complexity</m:t>
                            </m:r>
                          </m:den>
                        </m:f>
                      </m:e>
                    </m:borderBox>
                  </m:oMath>
                </a14:m>
                <a:endParaRPr lang="zh-CN" altLang="en-US" b="0" dirty="0"/>
              </a:p>
              <a:p>
                <a:pPr marL="0" indent="0">
                  <a:buNone/>
                </a:pPr>
                <a:r>
                  <a:rPr lang="zh-CN" altLang="en-US" dirty="0"/>
                  <a:t>如果 </a:t>
                </a:r>
                <a:r>
                  <a:rPr lang="en-US" altLang="zh-CN" dirty="0"/>
                  <a:t>margin </a:t>
                </a:r>
                <a:r>
                  <a:rPr lang="zh-CN" altLang="en-US" dirty="0"/>
                  <a:t>大，而 </a:t>
                </a:r>
                <a:r>
                  <a:rPr lang="en-US" altLang="zh-CN" dirty="0"/>
                  <a:t>spectral complexity </a:t>
                </a:r>
                <a:r>
                  <a:rPr lang="zh-CN" altLang="en-US" dirty="0"/>
                  <a:t>小，那么模型对输入扰动、参数扰动以及样本变化都比较稳定，因此泛化误差更容易控制。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A41D881-92AD-4D76-F485-721F0D9B7D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1009" b="-60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4A6FB00-C1C0-701D-C440-BC4CAEA1BCCE}"/>
              </a:ext>
            </a:extLst>
          </p:cNvPr>
          <p:cNvSpPr txBox="1"/>
          <p:nvPr/>
        </p:nvSpPr>
        <p:spPr>
          <a:xfrm>
            <a:off x="6380480" y="182880"/>
            <a:ext cx="5709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Bartlett, Foster, </a:t>
            </a:r>
            <a:r>
              <a:rPr lang="en-US" altLang="ja-JP" sz="1600" dirty="0" err="1"/>
              <a:t>Telgarsky</a:t>
            </a:r>
            <a:r>
              <a:rPr lang="en-US" altLang="ja-JP" sz="1600" dirty="0"/>
              <a:t>, “Spectrally-normalized margin bounds for neural networks”, </a:t>
            </a:r>
            <a:r>
              <a:rPr lang="en-US" altLang="ja-JP" sz="1600" dirty="0" err="1"/>
              <a:t>NeurIPS</a:t>
            </a:r>
            <a:r>
              <a:rPr lang="en-US" altLang="ja-JP" sz="1600" dirty="0"/>
              <a:t> 2017</a:t>
            </a:r>
            <a:endParaRPr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0157019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3A7FA-5143-E642-547F-078D4192D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72A125-8BAD-5339-8A3D-91B260AE2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其他相关文献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F19384-3BA6-662B-B926-0E73EDC7E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138344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E77E3-77B4-E008-71B9-6C4D6CB5A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A7D4F4E-82A8-987F-3142-7E4CDE9874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文献：</a:t>
            </a:r>
            <a:r>
              <a:rPr lang="en-US" altLang="ja-JP" dirty="0"/>
              <a:t>Path norm / rescaling-invariant norm</a:t>
            </a:r>
            <a:r>
              <a:rPr lang="ja-JP" altLang="en-US" dirty="0"/>
              <a:t>：控制 </a:t>
            </a:r>
            <a:r>
              <a:rPr lang="en-US" altLang="ja-JP" dirty="0" err="1"/>
              <a:t>ReLU</a:t>
            </a:r>
            <a:r>
              <a:rPr lang="en-US" altLang="ja-JP" dirty="0"/>
              <a:t> </a:t>
            </a:r>
            <a:r>
              <a:rPr lang="ja-JP" altLang="en-US" dirty="0"/>
              <a:t>网络的“真实复杂度”</a:t>
            </a:r>
            <a:endParaRPr lang="ja-JP" altLang="en-US" b="1" dirty="0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BFBCFCC9-C365-6067-B646-86FC9550C0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962555"/>
              </p:ext>
            </p:extLst>
          </p:nvPr>
        </p:nvGraphicFramePr>
        <p:xfrm>
          <a:off x="508000" y="1417320"/>
          <a:ext cx="11074400" cy="4480560"/>
        </p:xfrm>
        <a:graphic>
          <a:graphicData uri="http://schemas.openxmlformats.org/drawingml/2006/table">
            <a:tbl>
              <a:tblPr firstRow="1">
                <a:tableStyleId>{D7AC3CCA-C797-4891-BE02-D94E43425B78}</a:tableStyleId>
              </a:tblPr>
              <a:tblGrid>
                <a:gridCol w="2768600">
                  <a:extLst>
                    <a:ext uri="{9D8B030D-6E8A-4147-A177-3AD203B41FA5}">
                      <a16:colId xmlns:a16="http://schemas.microsoft.com/office/drawing/2014/main" val="930175061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702976852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1241749264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1118283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论文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核心范数结构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控制什么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为什么经典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1536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Neyshabur, Tomioka, Srebro, “Norm-Based Capacity Control in Neural Networks”, COLT 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深度网络的 </a:t>
                      </a:r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norm-based capacity，</a:t>
                      </a:r>
                      <a:r>
                        <a:rPr lang="ja-JP" alt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尤其讨论路径型复杂度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模型容量、泛化误差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早期系统研究“深度网络复杂度不能只看参数数量，而要看合适的范数”。</a:t>
                      </a:r>
                      <a:r>
                        <a:rPr lang="en-US" altLang="ja-JP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(</a:t>
                      </a:r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  <a:hlinkClick r:id="rId3" tooltip="Norm-Based Capacity Control in Neural Networks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Proceedings of Machine Learning Research</a:t>
                      </a:r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5445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Neyshabur, Salakhutdinov, Srebro, “Path-SGD”, NeurIPS 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path-wise regularizer / path norm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优化稳定性、泛化、尺度不变性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ReLU </a:t>
                      </a:r>
                      <a:r>
                        <a:rPr lang="zh-CN" alt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网络有层间缩放不变性，例如一层乘 </a:t>
                      </a:r>
                      <a:r>
                        <a:rPr lang="en-US" altLang="zh-CN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(c)</a:t>
                      </a:r>
                      <a:r>
                        <a:rPr lang="zh-CN" alt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、下一层乘 </a:t>
                      </a:r>
                      <a:r>
                        <a:rPr lang="en-US" altLang="zh-CN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(1/c) </a:t>
                      </a:r>
                      <a:r>
                        <a:rPr lang="zh-CN" alt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函数不变；</a:t>
                      </a:r>
                      <a:r>
                        <a:rPr lang="en-US" altLang="zh-CN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Path norm </a:t>
                      </a:r>
                      <a:r>
                        <a:rPr lang="zh-CN" alt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能更好刻画这种几何。</a:t>
                      </a:r>
                      <a:r>
                        <a:rPr lang="en-US" altLang="zh-CN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(</a:t>
                      </a:r>
                      <a:r>
                        <a:rPr lang="en-US" altLang="zh-CN">
                          <a:solidFill>
                            <a:schemeClr val="accent6">
                              <a:lumMod val="75000"/>
                            </a:schemeClr>
                          </a:solidFill>
                          <a:hlinkClick r:id="rId4" tooltip="Path-SGD: Path-Normalized Optimization in Deep Neural Networks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arXiv</a:t>
                      </a:r>
                      <a:r>
                        <a:rPr lang="en-US" altLang="zh-CN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9650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Neyshabur et al., “Data-Dependent Path Normalization”, 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数据依赖的 </a:t>
                      </a:r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path normalization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优化几何、</a:t>
                      </a:r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natural gradient </a:t>
                      </a:r>
                      <a:r>
                        <a:rPr lang="ja-JP" alt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关系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把 </a:t>
                      </a:r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path </a:t>
                      </a:r>
                      <a:r>
                        <a:rPr lang="en-US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norm、batch</a:t>
                      </a:r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normalization、</a:t>
                      </a:r>
                      <a:r>
                        <a:rPr lang="ja-JP" alt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数据依赖几何联系起来。</a:t>
                      </a:r>
                      <a:r>
                        <a:rPr lang="en-US" altLang="ja-JP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(</a:t>
                      </a:r>
                      <a:r>
                        <a:rPr lang="en-US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hlinkClick r:id="rId5" tooltip="Data-Dependent Path Normalization in Neural Networks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arXiv</a:t>
                      </a:r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1993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03012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3F0BA-EB0A-3C61-0E79-56C294704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E84F51F-6E1A-CFA8-8428-8CF61DA923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文献：</a:t>
            </a:r>
            <a:r>
              <a:rPr lang="en-US" altLang="ja-JP" dirty="0"/>
              <a:t>Wasserstein / MMD</a:t>
            </a:r>
            <a:r>
              <a:rPr lang="ja-JP" altLang="en-US" dirty="0"/>
              <a:t>：用分布空间上的范数或距离控制生成模型误差</a:t>
            </a:r>
            <a:endParaRPr lang="ja-JP" altLang="en-US" b="1" dirty="0"/>
          </a:p>
        </p:txBody>
      </p:sp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5F6949CE-E913-CD9C-391E-884CB642B7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1071956"/>
              </p:ext>
            </p:extLst>
          </p:nvPr>
        </p:nvGraphicFramePr>
        <p:xfrm>
          <a:off x="508000" y="1417320"/>
          <a:ext cx="11074400" cy="4480560"/>
        </p:xfrm>
        <a:graphic>
          <a:graphicData uri="http://schemas.openxmlformats.org/drawingml/2006/table">
            <a:tbl>
              <a:tblPr firstRow="1">
                <a:tableStyleId>{D7AC3CCA-C797-4891-BE02-D94E43425B78}</a:tableStyleId>
              </a:tblPr>
              <a:tblGrid>
                <a:gridCol w="2768600">
                  <a:extLst>
                    <a:ext uri="{9D8B030D-6E8A-4147-A177-3AD203B41FA5}">
                      <a16:colId xmlns:a16="http://schemas.microsoft.com/office/drawing/2014/main" val="548996447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3192382227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3012784746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17537862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论文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核心结构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控制什么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为什么经典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5666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Arjovsky, Chintala, Bottou, “Wasserstein GAN”, 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Wasserstein-1 </a:t>
                      </a:r>
                      <a:r>
                        <a:rPr lang="ja-JP" altLang="en-US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距离；</a:t>
                      </a:r>
                      <a:r>
                        <a:rPr lang="en-US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Kantorovich–Rubinstein duality </a:t>
                      </a:r>
                      <a:r>
                        <a:rPr lang="ja-JP" altLang="en-US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中的 </a:t>
                      </a:r>
                      <a:r>
                        <a:rPr lang="en-US" altLang="ja-JP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1-</a:t>
                      </a:r>
                      <a:r>
                        <a:rPr lang="en-US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Lipschitz </a:t>
                      </a:r>
                      <a:r>
                        <a:rPr lang="ja-JP" altLang="en-US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函数类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生成分布误差、</a:t>
                      </a:r>
                      <a:r>
                        <a:rPr lang="en-US" altLang="zh-CN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GAN </a:t>
                      </a:r>
                      <a:r>
                        <a:rPr lang="zh-CN" alt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训练稳定性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WGAN </a:t>
                      </a:r>
                      <a:r>
                        <a:rPr lang="ja-JP" alt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用 </a:t>
                      </a:r>
                      <a:r>
                        <a:rPr 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Wasserstein </a:t>
                      </a:r>
                      <a:r>
                        <a:rPr lang="ja-JP" alt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距离替代 </a:t>
                      </a:r>
                      <a:r>
                        <a:rPr 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JS/KL </a:t>
                      </a:r>
                      <a:r>
                        <a:rPr lang="ja-JP" alt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类 </a:t>
                      </a:r>
                      <a:r>
                        <a:rPr 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divergence，</a:t>
                      </a:r>
                      <a:r>
                        <a:rPr lang="ja-JP" alt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改善 </a:t>
                      </a:r>
                      <a:r>
                        <a:rPr 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mode collapse </a:t>
                      </a:r>
                      <a:r>
                        <a:rPr lang="ja-JP" alt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和训练不稳定问题。</a:t>
                      </a:r>
                      <a:r>
                        <a:rPr lang="en-US" altLang="ja-JP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(</a:t>
                      </a:r>
                      <a:r>
                        <a:rPr lang="en-US" b="0">
                          <a:solidFill>
                            <a:schemeClr val="accent6">
                              <a:lumMod val="75000"/>
                            </a:schemeClr>
                          </a:solidFill>
                          <a:hlinkClick r:id="rId3" tooltip="Wasserstein GAN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arXiv</a:t>
                      </a:r>
                      <a:r>
                        <a:rPr 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510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Frogner et al., “Learning with a Wasserstein Loss”, </a:t>
                      </a:r>
                      <a:r>
                        <a:rPr lang="en-US" b="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NeurIPS</a:t>
                      </a:r>
                      <a:r>
                        <a:rPr lang="en-US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Wasserstein 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结构化输出误差、多标签预测误差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当输出空间本身有几何结构时，</a:t>
                      </a:r>
                      <a:r>
                        <a:rPr 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Wasserstein loss </a:t>
                      </a:r>
                      <a:r>
                        <a:rPr lang="ja-JP" alt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能鼓励预测在输出空间 </a:t>
                      </a:r>
                      <a:r>
                        <a:rPr 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metric </a:t>
                      </a:r>
                      <a:r>
                        <a:rPr lang="ja-JP" alt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下平滑。</a:t>
                      </a:r>
                      <a:r>
                        <a:rPr lang="en-US" altLang="ja-JP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(</a:t>
                      </a:r>
                      <a:r>
                        <a:rPr lang="en-US" b="0">
                          <a:solidFill>
                            <a:schemeClr val="accent6">
                              <a:lumMod val="75000"/>
                            </a:schemeClr>
                          </a:solidFill>
                          <a:hlinkClick r:id="rId4" tooltip="Learning with a Wasserstein Loss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arXiv</a:t>
                      </a:r>
                      <a:r>
                        <a:rPr 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5952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Gretton et al., “A Kernel Two-Sample Test”, JMLR 2012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MMD：RKHS </a:t>
                      </a:r>
                      <a:r>
                        <a:rPr lang="ja-JP" alt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单位球上的 </a:t>
                      </a:r>
                      <a:r>
                        <a:rPr 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Integral Probability 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分布差异、采样误差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MMD </a:t>
                      </a:r>
                      <a:r>
                        <a:rPr lang="ja-JP" altLang="en-US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是比 </a:t>
                      </a:r>
                      <a:r>
                        <a:rPr lang="en-US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Wasserstein </a:t>
                      </a:r>
                      <a:r>
                        <a:rPr lang="ja-JP" altLang="en-US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更容易计算的一类分布距离，适合讲“用函数类范数定义概率分布距离”。</a:t>
                      </a:r>
                      <a:r>
                        <a:rPr lang="en-US" altLang="ja-JP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(</a:t>
                      </a:r>
                      <a:r>
                        <a:rPr lang="en-US" b="0" dirty="0">
                          <a:solidFill>
                            <a:schemeClr val="accent6">
                              <a:lumMod val="75000"/>
                            </a:schemeClr>
                          </a:solidFill>
                          <a:hlinkClick r:id="rId5" tooltip="A Kernel Two-Sample Test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JMLR</a:t>
                      </a:r>
                      <a:r>
                        <a:rPr lang="en-US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760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83103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58A59-29C6-FEA2-70EA-9188DA55D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6E8C7A7-CAE3-6D1F-F5E0-2B0F13964C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文献：</a:t>
            </a:r>
            <a:r>
              <a:rPr lang="en-US" altLang="zh-CN" dirty="0"/>
              <a:t>Sobolev / Jacobian </a:t>
            </a:r>
            <a:r>
              <a:rPr lang="zh-CN" altLang="en-US" dirty="0"/>
              <a:t>范数：用导数控制函数稳定性</a:t>
            </a:r>
            <a:endParaRPr lang="ja-JP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402208C-5895-673F-D3EF-D84DDD616B9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41020270"/>
                  </p:ext>
                </p:extLst>
              </p:nvPr>
            </p:nvGraphicFramePr>
            <p:xfrm>
              <a:off x="543494" y="1281332"/>
              <a:ext cx="11003412" cy="4741985"/>
            </p:xfrm>
            <a:graphic>
              <a:graphicData uri="http://schemas.openxmlformats.org/drawingml/2006/table">
                <a:tbl>
                  <a:tblPr firstRow="1">
                    <a:tableStyleId>{D7AC3CCA-C797-4891-BE02-D94E43425B78}</a:tableStyleId>
                  </a:tblPr>
                  <a:tblGrid>
                    <a:gridCol w="2750853">
                      <a:extLst>
                        <a:ext uri="{9D8B030D-6E8A-4147-A177-3AD203B41FA5}">
                          <a16:colId xmlns:a16="http://schemas.microsoft.com/office/drawing/2014/main" val="4111502023"/>
                        </a:ext>
                      </a:extLst>
                    </a:gridCol>
                    <a:gridCol w="2750853">
                      <a:extLst>
                        <a:ext uri="{9D8B030D-6E8A-4147-A177-3AD203B41FA5}">
                          <a16:colId xmlns:a16="http://schemas.microsoft.com/office/drawing/2014/main" val="3208591834"/>
                        </a:ext>
                      </a:extLst>
                    </a:gridCol>
                    <a:gridCol w="2750853">
                      <a:extLst>
                        <a:ext uri="{9D8B030D-6E8A-4147-A177-3AD203B41FA5}">
                          <a16:colId xmlns:a16="http://schemas.microsoft.com/office/drawing/2014/main" val="1764093434"/>
                        </a:ext>
                      </a:extLst>
                    </a:gridCol>
                    <a:gridCol w="2750853">
                      <a:extLst>
                        <a:ext uri="{9D8B030D-6E8A-4147-A177-3AD203B41FA5}">
                          <a16:colId xmlns:a16="http://schemas.microsoft.com/office/drawing/2014/main" val="4007434568"/>
                        </a:ext>
                      </a:extLst>
                    </a:gridCol>
                  </a:tblGrid>
                  <a:tr h="36341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论文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核心范数结构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控制什么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为什么经典</a:t>
                          </a:r>
                        </a:p>
                      </a:txBody>
                      <a:tcPr marL="90854" marR="90854" marT="45427" marB="45427" anchor="ctr"/>
                    </a:tc>
                    <a:extLst>
                      <a:ext uri="{0D108BD9-81ED-4DB2-BD59-A6C34878D82A}">
                        <a16:rowId xmlns:a16="http://schemas.microsoft.com/office/drawing/2014/main" val="477351790"/>
                      </a:ext>
                    </a:extLst>
                  </a:tr>
                  <a:tr h="11811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Czarnecki et al., “Sobolev Training for Neural Networks”, </a:t>
                          </a:r>
                          <a:r>
                            <a:rPr lang="en-US" sz="1800" b="0" dirty="0" err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NeurIPS</a:t>
                          </a:r>
                          <a:r>
                            <a:rPr lang="en-US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 2017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函数值误差 </a:t>
                          </a:r>
                          <a:r>
                            <a:rPr lang="en-US" altLang="zh-CN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+ </a:t>
                          </a:r>
                          <a:r>
                            <a:rPr lang="zh-CN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导数误差，即 </a:t>
                          </a:r>
                          <a:r>
                            <a:rPr lang="en-US" altLang="zh-CN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Sobolev </a:t>
                          </a:r>
                          <a:r>
                            <a:rPr lang="zh-CN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型训练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数据效率、泛化能力、函数逼近质量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不只拟合 </a:t>
                          </a:r>
                          <a:r>
                            <a:rPr lang="en-US" altLang="zh-CN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f(x)</a:t>
                          </a:r>
                          <a:r>
                            <a:rPr lang="zh-CN" altLang="en-US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，还拟合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1800" b="0" i="0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zh-CN" sz="1800" b="0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sz="1800" b="0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800" b="0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，相当于在 </a:t>
                          </a:r>
                          <a:r>
                            <a:rPr lang="en-US" altLang="zh-CN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Sobolev </a:t>
                          </a:r>
                          <a:r>
                            <a:rPr lang="zh-CN" altLang="en-US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意义下学习函数。</a:t>
                          </a:r>
                          <a:r>
                            <a:rPr lang="en-US" altLang="zh-CN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(</a:t>
                          </a:r>
                          <a:r>
                            <a:rPr lang="en-US" altLang="zh-CN" sz="1800" b="0" dirty="0" err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hlinkClick r:id="rId3" tooltip="Sobolev Training for Neural Networks">
                                <a:extLst>
                                  <a:ext uri="{A12FA001-AC4F-418D-AE19-62706E023703}">
                                    <ahyp:hlinkClr xmlns:ahyp="http://schemas.microsoft.com/office/drawing/2018/hyperlinkcolor" val="tx"/>
                                  </a:ext>
                                </a:extLst>
                              </a:hlinkClick>
                            </a:rPr>
                            <a:t>arXiv</a:t>
                          </a:r>
                          <a:r>
                            <a:rPr lang="en-US" altLang="zh-CN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)</a:t>
                          </a:r>
                        </a:p>
                      </a:txBody>
                      <a:tcPr marL="90854" marR="90854" marT="45427" marB="45427" anchor="ctr"/>
                    </a:tc>
                    <a:extLst>
                      <a:ext uri="{0D108BD9-81ED-4DB2-BD59-A6C34878D82A}">
                        <a16:rowId xmlns:a16="http://schemas.microsoft.com/office/drawing/2014/main" val="4292614272"/>
                      </a:ext>
                    </a:extLst>
                  </a:tr>
                  <a:tr h="14536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Sokolić et al., “Robust Large Margin Deep Neural Networks”, 2017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网络 </a:t>
                          </a:r>
                          <a:r>
                            <a:rPr lang="en-US" altLang="zh-CN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Jacobian </a:t>
                          </a:r>
                          <a:r>
                            <a:rPr lang="zh-CN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的谱范数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分类 </a:t>
                          </a:r>
                          <a:r>
                            <a:rPr lang="en-US" altLang="zh-CN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margin</a:t>
                          </a:r>
                          <a:r>
                            <a:rPr lang="zh-CN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、泛化误差、鲁棒性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把 </a:t>
                          </a:r>
                          <a:r>
                            <a:rPr 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deep network </a:t>
                          </a:r>
                          <a:r>
                            <a:rPr lang="ja-JP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的泛化误差与输入空间 </a:t>
                          </a:r>
                          <a:r>
                            <a:rPr 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covering number、margin、Jacobian </a:t>
                          </a:r>
                          <a:r>
                            <a:rPr lang="ja-JP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控制联系起来。</a:t>
                          </a:r>
                          <a:r>
                            <a:rPr lang="en-US" altLang="ja-JP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(</a:t>
                          </a:r>
                          <a:r>
                            <a:rPr 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hlinkClick r:id="rId4" tooltip="[1605.08254] Robust Large Margin Deep Neural Networks">
                                <a:extLst>
                                  <a:ext uri="{A12FA001-AC4F-418D-AE19-62706E023703}">
                                    <ahyp:hlinkClr xmlns:ahyp="http://schemas.microsoft.com/office/drawing/2018/hyperlinkcolor" val="tx"/>
                                  </a:ext>
                                </a:extLst>
                              </a:hlinkClick>
                            </a:rPr>
                            <a:t>arXiv</a:t>
                          </a:r>
                          <a:r>
                            <a:rPr 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)</a:t>
                          </a:r>
                        </a:p>
                      </a:txBody>
                      <a:tcPr marL="90854" marR="90854" marT="45427" marB="45427" anchor="ctr"/>
                    </a:tc>
                    <a:extLst>
                      <a:ext uri="{0D108BD9-81ED-4DB2-BD59-A6C34878D82A}">
                        <a16:rowId xmlns:a16="http://schemas.microsoft.com/office/drawing/2014/main" val="4022243507"/>
                      </a:ext>
                    </a:extLst>
                  </a:tr>
                  <a:tr h="172622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Hein &amp; Andriushchenko, “Formal Guarantees on the Robustness of a Classifier”, NeurIPS 2017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Cross-Lipschitz regularization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对抗扰动所需最小输入范数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给出改变分类结果所需输入扰动的下界，并提出 </a:t>
                          </a:r>
                          <a:r>
                            <a:rPr lang="en-US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Cross-Lipschitz </a:t>
                          </a:r>
                          <a:r>
                            <a:rPr lang="ja-JP" altLang="en-US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正则化。</a:t>
                          </a:r>
                          <a:r>
                            <a:rPr lang="en-US" altLang="ja-JP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(</a:t>
                          </a:r>
                          <a:r>
                            <a:rPr lang="en-US" sz="1800" b="0" dirty="0" err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hlinkClick r:id="rId5" tooltip="Formal Guarantees on the Robustness of a Classifier ...">
                                <a:extLst>
                                  <a:ext uri="{A12FA001-AC4F-418D-AE19-62706E023703}">
                                    <ahyp:hlinkClr xmlns:ahyp="http://schemas.microsoft.com/office/drawing/2018/hyperlinkcolor" val="tx"/>
                                  </a:ext>
                                </a:extLst>
                              </a:hlinkClick>
                            </a:rPr>
                            <a:t>NeurIPS</a:t>
                          </a:r>
                          <a:r>
                            <a:rPr lang="en-US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hlinkClick r:id="rId5" tooltip="Formal Guarantees on the Robustness of a Classifier ...">
                                <a:extLst>
                                  <a:ext uri="{A12FA001-AC4F-418D-AE19-62706E023703}">
                                    <ahyp:hlinkClr xmlns:ahyp="http://schemas.microsoft.com/office/drawing/2018/hyperlinkcolor" val="tx"/>
                                  </a:ext>
                                </a:extLst>
                              </a:hlinkClick>
                            </a:rPr>
                            <a:t> Proceedings</a:t>
                          </a:r>
                          <a:r>
                            <a:rPr lang="en-US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)</a:t>
                          </a:r>
                        </a:p>
                      </a:txBody>
                      <a:tcPr marL="90854" marR="90854" marT="45427" marB="45427" anchor="ctr"/>
                    </a:tc>
                    <a:extLst>
                      <a:ext uri="{0D108BD9-81ED-4DB2-BD59-A6C34878D82A}">
                        <a16:rowId xmlns:a16="http://schemas.microsoft.com/office/drawing/2014/main" val="106288938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402208C-5895-673F-D3EF-D84DDD616B9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41020270"/>
                  </p:ext>
                </p:extLst>
              </p:nvPr>
            </p:nvGraphicFramePr>
            <p:xfrm>
              <a:off x="543494" y="1281332"/>
              <a:ext cx="11003412" cy="4741985"/>
            </p:xfrm>
            <a:graphic>
              <a:graphicData uri="http://schemas.openxmlformats.org/drawingml/2006/table">
                <a:tbl>
                  <a:tblPr firstRow="1">
                    <a:tableStyleId>{D7AC3CCA-C797-4891-BE02-D94E43425B78}</a:tableStyleId>
                  </a:tblPr>
                  <a:tblGrid>
                    <a:gridCol w="2750853">
                      <a:extLst>
                        <a:ext uri="{9D8B030D-6E8A-4147-A177-3AD203B41FA5}">
                          <a16:colId xmlns:a16="http://schemas.microsoft.com/office/drawing/2014/main" val="4111502023"/>
                        </a:ext>
                      </a:extLst>
                    </a:gridCol>
                    <a:gridCol w="2750853">
                      <a:extLst>
                        <a:ext uri="{9D8B030D-6E8A-4147-A177-3AD203B41FA5}">
                          <a16:colId xmlns:a16="http://schemas.microsoft.com/office/drawing/2014/main" val="3208591834"/>
                        </a:ext>
                      </a:extLst>
                    </a:gridCol>
                    <a:gridCol w="2750853">
                      <a:extLst>
                        <a:ext uri="{9D8B030D-6E8A-4147-A177-3AD203B41FA5}">
                          <a16:colId xmlns:a16="http://schemas.microsoft.com/office/drawing/2014/main" val="1764093434"/>
                        </a:ext>
                      </a:extLst>
                    </a:gridCol>
                    <a:gridCol w="2750853">
                      <a:extLst>
                        <a:ext uri="{9D8B030D-6E8A-4147-A177-3AD203B41FA5}">
                          <a16:colId xmlns:a16="http://schemas.microsoft.com/office/drawing/2014/main" val="4007434568"/>
                        </a:ext>
                      </a:extLst>
                    </a:gridCol>
                  </a:tblGrid>
                  <a:tr h="36517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论文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核心范数结构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控制什么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为什么经典</a:t>
                          </a:r>
                        </a:p>
                      </a:txBody>
                      <a:tcPr marL="90854" marR="90854" marT="45427" marB="45427" anchor="ctr"/>
                    </a:tc>
                    <a:extLst>
                      <a:ext uri="{0D108BD9-81ED-4DB2-BD59-A6C34878D82A}">
                        <a16:rowId xmlns:a16="http://schemas.microsoft.com/office/drawing/2014/main" val="477351790"/>
                      </a:ext>
                    </a:extLst>
                  </a:tr>
                  <a:tr h="118813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Czarnecki et al., “Sobolev Training for Neural Networks”, </a:t>
                          </a:r>
                          <a:r>
                            <a:rPr lang="en-US" sz="1800" b="0" dirty="0" err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NeurIPS</a:t>
                          </a:r>
                          <a:r>
                            <a:rPr lang="en-US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 2017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函数值误差 </a:t>
                          </a:r>
                          <a:r>
                            <a:rPr lang="en-US" altLang="zh-CN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+ </a:t>
                          </a:r>
                          <a:r>
                            <a:rPr lang="zh-CN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导数误差，即 </a:t>
                          </a:r>
                          <a:r>
                            <a:rPr lang="en-US" altLang="zh-CN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Sobolev </a:t>
                          </a:r>
                          <a:r>
                            <a:rPr lang="zh-CN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型训练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数据效率、泛化能力、函数逼近质量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90854" marR="90854" marT="45427" marB="45427" anchor="ctr">
                        <a:blipFill>
                          <a:blip r:embed="rId6"/>
                          <a:stretch>
                            <a:fillRect l="-300665" t="-34872" r="-443" b="-2697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614272"/>
                      </a:ext>
                    </a:extLst>
                  </a:tr>
                  <a:tr h="146245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Sokolić et al., “Robust Large Margin Deep Neural Networks”, 2017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网络 </a:t>
                          </a:r>
                          <a:r>
                            <a:rPr lang="en-US" altLang="zh-CN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Jacobian </a:t>
                          </a:r>
                          <a:r>
                            <a:rPr lang="zh-CN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的谱范数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分类 </a:t>
                          </a:r>
                          <a:r>
                            <a:rPr lang="en-US" altLang="zh-CN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margin</a:t>
                          </a:r>
                          <a:r>
                            <a:rPr lang="zh-CN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、泛化误差、鲁棒性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把 </a:t>
                          </a:r>
                          <a:r>
                            <a:rPr 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deep network </a:t>
                          </a:r>
                          <a:r>
                            <a:rPr lang="ja-JP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的泛化误差与输入空间 </a:t>
                          </a:r>
                          <a:r>
                            <a:rPr 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covering number、margin、Jacobian </a:t>
                          </a:r>
                          <a:r>
                            <a:rPr lang="ja-JP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控制联系起来。</a:t>
                          </a:r>
                          <a:r>
                            <a:rPr lang="en-US" altLang="ja-JP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(</a:t>
                          </a:r>
                          <a:r>
                            <a:rPr 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hlinkClick r:id="rId4" tooltip="[1605.08254] Robust Large Margin Deep Neural Networks">
                                <a:extLst>
                                  <a:ext uri="{A12FA001-AC4F-418D-AE19-62706E023703}">
                                    <ahyp:hlinkClr xmlns:ahyp="http://schemas.microsoft.com/office/drawing/2018/hyperlinkcolor" val="tx"/>
                                  </a:ext>
                                </a:extLst>
                              </a:hlinkClick>
                            </a:rPr>
                            <a:t>arXiv</a:t>
                          </a:r>
                          <a:r>
                            <a:rPr 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)</a:t>
                          </a:r>
                        </a:p>
                      </a:txBody>
                      <a:tcPr marL="90854" marR="90854" marT="45427" marB="45427" anchor="ctr"/>
                    </a:tc>
                    <a:extLst>
                      <a:ext uri="{0D108BD9-81ED-4DB2-BD59-A6C34878D82A}">
                        <a16:rowId xmlns:a16="http://schemas.microsoft.com/office/drawing/2014/main" val="4022243507"/>
                      </a:ext>
                    </a:extLst>
                  </a:tr>
                  <a:tr h="172622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Hein &amp; Andriushchenko, “Formal Guarantees on the Robustness of a Classifier”, NeurIPS 2017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Cross-Lipschitz regularization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800" b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对抗扰动所需最小输入范数</a:t>
                          </a:r>
                        </a:p>
                      </a:txBody>
                      <a:tcPr marL="90854" marR="90854" marT="45427" marB="4542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给出改变分类结果所需输入扰动的下界，并提出 </a:t>
                          </a:r>
                          <a:r>
                            <a:rPr lang="en-US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Cross-Lipschitz </a:t>
                          </a:r>
                          <a:r>
                            <a:rPr lang="ja-JP" altLang="en-US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正则化。</a:t>
                          </a:r>
                          <a:r>
                            <a:rPr lang="en-US" altLang="ja-JP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(</a:t>
                          </a:r>
                          <a:r>
                            <a:rPr lang="en-US" sz="1800" b="0" dirty="0" err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hlinkClick r:id="rId5" tooltip="Formal Guarantees on the Robustness of a Classifier ...">
                                <a:extLst>
                                  <a:ext uri="{A12FA001-AC4F-418D-AE19-62706E023703}">
                                    <ahyp:hlinkClr xmlns:ahyp="http://schemas.microsoft.com/office/drawing/2018/hyperlinkcolor" val="tx"/>
                                  </a:ext>
                                </a:extLst>
                              </a:hlinkClick>
                            </a:rPr>
                            <a:t>NeurIPS</a:t>
                          </a:r>
                          <a:r>
                            <a:rPr lang="en-US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hlinkClick r:id="rId5" tooltip="Formal Guarantees on the Robustness of a Classifier ...">
                                <a:extLst>
                                  <a:ext uri="{A12FA001-AC4F-418D-AE19-62706E023703}">
                                    <ahyp:hlinkClr xmlns:ahyp="http://schemas.microsoft.com/office/drawing/2018/hyperlinkcolor" val="tx"/>
                                  </a:ext>
                                </a:extLst>
                              </a:hlinkClick>
                            </a:rPr>
                            <a:t> Proceedings</a:t>
                          </a:r>
                          <a:r>
                            <a:rPr lang="en-US" sz="18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)</a:t>
                          </a:r>
                        </a:p>
                      </a:txBody>
                      <a:tcPr marL="90854" marR="90854" marT="45427" marB="45427" anchor="ctr"/>
                    </a:tc>
                    <a:extLst>
                      <a:ext uri="{0D108BD9-81ED-4DB2-BD59-A6C34878D82A}">
                        <a16:rowId xmlns:a16="http://schemas.microsoft.com/office/drawing/2014/main" val="10628893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80496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2774A-93B0-F556-8414-0007E598D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C3801A-E980-DE2D-0420-2ECE7591B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</a:t>
            </a:r>
            <a:r>
              <a:rPr lang="en-US" altLang="zh-CN" dirty="0"/>
              <a:t>Banach</a:t>
            </a:r>
            <a:r>
              <a:rPr lang="zh-CN" altLang="en-US" dirty="0"/>
              <a:t>空间的补充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23014B6-8624-316B-2A67-0430B04C2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820590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7254C-0D5E-B893-5AF9-241CDE56D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09B602A-03C1-2A95-ACA7-DEE2F067C9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/>
              <a:t>banach</a:t>
            </a:r>
            <a:r>
              <a:rPr lang="zh-CN" altLang="en-US" b="1" dirty="0"/>
              <a:t>空间中的算子范数</a:t>
            </a:r>
            <a:endParaRPr lang="ja-JP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F85B00D-5D6A-FF13-7F70-4D3E3435E7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dirty="0"/>
                  <a:t>Banach </a:t>
                </a:r>
                <a:r>
                  <a:rPr lang="zh-CN" altLang="en-US" dirty="0"/>
                  <a:t>空间给出了“误差大小”的语言，算子范数给出了“误差会被算子放大多少”的语言。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所以 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空间和算子范数的关系非常自然：</a:t>
                </a:r>
                <a:endParaRPr lang="en-US" altLang="zh-CN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altLang="zh-CN" b="1" dirty="0"/>
                  <a:t>Banach </a:t>
                </a:r>
                <a:r>
                  <a:rPr lang="zh-CN" altLang="en-US" b="1" dirty="0"/>
                  <a:t>空间是对象，算子范数是对象之间的线性映射的大小。</a:t>
                </a:r>
                <a:endParaRPr lang="en-US" altLang="zh-CN" b="1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b="1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b="1" dirty="0"/>
                  <a:t>回忆：</a:t>
                </a:r>
                <a:r>
                  <a:rPr lang="en-US" altLang="zh-CN" b="1" dirty="0"/>
                  <a:t>Banach </a:t>
                </a:r>
                <a:r>
                  <a:rPr lang="zh-CN" altLang="en-US" b="1" dirty="0"/>
                  <a:t>空间是什么？</a:t>
                </a:r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一个 </a:t>
                </a:r>
                <a:r>
                  <a:rPr lang="zh-CN" altLang="en-US" b="1" dirty="0"/>
                  <a:t>赋范线性空间</a:t>
                </a:r>
                <a:r>
                  <a:rPr lang="zh-CN" altLang="en-US" dirty="0"/>
                  <a:t> 是一个向量空间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，上面有一个范数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zh-CN" altLang="en-US" dirty="0"/>
                  <a:t> 满足：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∥≥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 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⇔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=∣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∣∥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∥≤∥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范数给出了“大小”或“误差”的概念。由范数可以定义距离：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sepChr m:val=",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如果这个距离空间是完备的，也就是说，所有 </a:t>
                </a:r>
                <a:r>
                  <a:rPr lang="en-US" altLang="zh-CN" dirty="0"/>
                  <a:t>Cauchy </a:t>
                </a:r>
                <a:r>
                  <a:rPr lang="zh-CN" altLang="en-US" dirty="0"/>
                  <a:t>列都在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中收敛，那么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就叫做 </a:t>
                </a:r>
                <a:r>
                  <a:rPr lang="en-US" altLang="zh-CN" b="1" dirty="0"/>
                  <a:t>Banach </a:t>
                </a:r>
                <a:r>
                  <a:rPr lang="zh-CN" altLang="en-US" b="1" dirty="0"/>
                  <a:t>空间</a:t>
                </a:r>
                <a:r>
                  <a:rPr lang="zh-CN" altLang="en-US" dirty="0"/>
                  <a:t>。</a:t>
                </a:r>
              </a:p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altLang="zh-CN" b="1" dirty="0">
                    <a:solidFill>
                      <a:srgbClr val="C00000"/>
                    </a:solidFill>
                  </a:rPr>
                  <a:t>Banach 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空间 </a:t>
                </a:r>
                <a:r>
                  <a:rPr lang="en-US" altLang="zh-CN" b="1" dirty="0">
                    <a:solidFill>
                      <a:srgbClr val="C00000"/>
                    </a:solidFill>
                  </a:rPr>
                  <a:t>= 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完备的赋范线性空间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F85B00D-5D6A-FF13-7F70-4D3E3435E7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448" r="-579" b="-39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43035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56A2D-D7F1-4277-8D70-833AFADF3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2D4F59BD-5ADA-DB71-F13F-ECFD36566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052" y="3255601"/>
            <a:ext cx="2825536" cy="604203"/>
          </a:xfrm>
          <a:prstGeom prst="rect">
            <a:avLst/>
          </a:prstGeom>
        </p:spPr>
      </p:pic>
      <p:sp>
        <p:nvSpPr>
          <p:cNvPr id="26626" name="Rectangle 2">
            <a:extLst>
              <a:ext uri="{FF2B5EF4-FFF2-40B4-BE49-F238E27FC236}">
                <a16:creationId xmlns:a16="http://schemas.microsoft.com/office/drawing/2014/main" id="{95D019AC-A031-DF48-1536-2F0E99A423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/>
              <a:t>banach</a:t>
            </a:r>
            <a:r>
              <a:rPr lang="zh-CN" altLang="en-US" b="1" dirty="0"/>
              <a:t>空间中的算子范数</a:t>
            </a:r>
            <a:endParaRPr lang="ja-JP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8215697-4618-83E0-3F70-CB8AAABD75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在机器学习或数值分析中，经常有一列近似解：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ar-AE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如果这些近似解越来越接近，即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∥→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希望它们的极限仍然属于同一个空间。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空间的“完备性”保证了这一点。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空间适合讨论：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ja-JP" altLang="en-US" b="0"/>
                      <m:t>逼近</m:t>
                    </m:r>
                    <m:r>
                      <m:rPr>
                        <m:nor/>
                      </m:rPr>
                      <a:rPr lang="ja-JP" altLang="en-US" b="0"/>
                      <m:t>、</m:t>
                    </m:r>
                    <m:r>
                      <m:rPr>
                        <m:nor/>
                      </m:rPr>
                      <a:rPr lang="ja-JP" altLang="en-US" b="0"/>
                      <m:t>收敛</m:t>
                    </m:r>
                    <m:r>
                      <m:rPr>
                        <m:nor/>
                      </m:rPr>
                      <a:rPr lang="ja-JP" altLang="en-US" b="0"/>
                      <m:t>、</m:t>
                    </m:r>
                    <m:r>
                      <m:rPr>
                        <m:nor/>
                      </m:rPr>
                      <a:rPr lang="ja-JP" altLang="en-US" b="0"/>
                      <m:t>稳定性</m:t>
                    </m:r>
                    <m:r>
                      <m:rPr>
                        <m:nor/>
                      </m:rPr>
                      <a:rPr lang="ja-JP" altLang="en-US" b="0"/>
                      <m:t>、</m:t>
                    </m:r>
                    <m:r>
                      <m:rPr>
                        <m:nor/>
                      </m:rPr>
                      <a:rPr lang="ja-JP" altLang="en-US" b="0"/>
                      <m:t>误差控制</m:t>
                    </m:r>
                    <m:r>
                      <m:rPr>
                        <m:nor/>
                      </m:rPr>
                      <a:rPr lang="ja-JP" altLang="en-US" b="0"/>
                      <m:t>、</m:t>
                    </m:r>
                    <m:r>
                      <m:rPr>
                        <m:nor/>
                      </m:rPr>
                      <a:rPr lang="ja-JP" altLang="en-US" b="0"/>
                      <m:t>迭代算法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ja-JP" altLang="en-US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例如：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, 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都是典型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当范数来自内积时，例如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rad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ja-JP" altLang="en-US" dirty="0"/>
                  <a:t> 这个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空间进一步是 </a:t>
                </a:r>
                <a:r>
                  <a:rPr lang="en-US" altLang="ja-JP" b="1" dirty="0"/>
                  <a:t>Hilbert </a:t>
                </a:r>
                <a:r>
                  <a:rPr lang="ja-JP" altLang="en-US" b="1" dirty="0"/>
                  <a:t>空间</a:t>
                </a:r>
                <a:r>
                  <a:rPr lang="ja-JP" altLang="en-US" dirty="0"/>
                  <a:t>。所以 </a:t>
                </a:r>
                <a:r>
                  <a:rPr lang="en-US" altLang="ja-JP" dirty="0"/>
                  <a:t>Hilbert </a:t>
                </a:r>
                <a:r>
                  <a:rPr lang="ja-JP" altLang="en-US" dirty="0"/>
                  <a:t>空间是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空间的特殊情况。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8215697-4618-83E0-3F70-CB8AAABD75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4"/>
                <a:stretch>
                  <a:fillRect l="-526" t="-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B493E53E-1CE9-D59E-E42D-D46BD99D91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7199" y="2529478"/>
            <a:ext cx="2809543" cy="604203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08E27DB-3FE4-777A-357E-21A90C3FE2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3774" y="2467158"/>
            <a:ext cx="1890226" cy="721723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95B8E39-CD39-BA71-DF7B-C941AAAF6D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0823" y="3188881"/>
            <a:ext cx="1959577" cy="60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9163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00890-FE51-6232-000E-2A1C91E89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C592A9B-EA58-CC71-57FC-C6F295EDB5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/>
              <a:t>banach</a:t>
            </a:r>
            <a:r>
              <a:rPr lang="zh-CN" altLang="en-US" b="1" dirty="0"/>
              <a:t>空间中的算子范数</a:t>
            </a:r>
            <a:endParaRPr lang="ja-JP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B5C2226-BC02-17FB-DBED-6B9FDEE715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设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ja-JP" altLang="en-US" dirty="0"/>
                  <a:t>是两个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空间，一个线性算子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ja-JP" altLang="en-US" dirty="0"/>
                  <a:t>把输入空间中的元素映到输出空间中。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如果输入有误差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，那么输出误差是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关心</a:t>
                </a:r>
                <a:r>
                  <a:rPr lang="ja-JP" altLang="en-US" dirty="0"/>
                  <a:t>： 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相对于 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会变大多少？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定义 </a:t>
                </a:r>
                <a:r>
                  <a:rPr lang="ja-JP" altLang="en-US" b="1" dirty="0"/>
                  <a:t>算子范数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su</m:t>
                        </m:r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ja-JP" sz="10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等价地，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sup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𝑇𝑥</m:t>
                        </m:r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</m:num>
                      <m:den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den>
                    </m:f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表示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𝑇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对输入误差的最大放大倍数。</a:t>
                </a:r>
                <a:endParaRPr lang="ja-JP" altLang="en-US" dirty="0"/>
              </a:p>
              <a:p>
                <a:pPr>
                  <a:lnSpc>
                    <a:spcPct val="120000"/>
                  </a:lnSpc>
                </a:pPr>
                <a:endParaRPr lang="ar-AE" altLang="ja-JP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对任意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，都有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𝑇𝑥</m:t>
                    </m:r>
                    <m:sSub>
                      <m:sSubPr>
                        <m:ctrlPr>
                          <a:rPr lang="ar-AE" altLang="ja-JP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ja-JP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ja-JP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ar-AE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ar-AE" altLang="ja-JP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ar-AE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ar-AE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ar-AE" altLang="ja-JP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这就是误差传播的基本公式。</a:t>
                </a: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它直接给出稳定性。如果</a:t>
                </a:r>
                <a14:m>
                  <m:oMath xmlns:m="http://schemas.openxmlformats.org/officeDocument/2006/math">
                    <m:r>
                      <a:rPr lang="ja-JP" altLang="en-US" smtClean="0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≤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那么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ja-JP" altLang="en-US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𝑇𝑥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𝑇</m:t>
                      </m:r>
                      <m:sSup>
                        <m:sSup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ja-JP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altLang="ja-JP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altLang="ja-JP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ja-JP" altLang="ar-AE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ja-JP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altLang="ja-JP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ja-JP" altLang="ar-AE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ar-AE" altLang="ja-JP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ja-JP" altLang="ar-AE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altLang="ja-JP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ar-AE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说明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en-US" dirty="0"/>
                  <a:t>是 </a:t>
                </a:r>
                <a:r>
                  <a:rPr lang="en-US" altLang="ja-JP" dirty="0"/>
                  <a:t>Lipschitz </a:t>
                </a:r>
                <a:r>
                  <a:rPr lang="ja-JP" altLang="en-US" dirty="0"/>
                  <a:t>连续的，</a:t>
                </a:r>
                <a:r>
                  <a:rPr lang="en-US" altLang="ja-JP" dirty="0"/>
                  <a:t>Lipschitz </a:t>
                </a:r>
                <a:r>
                  <a:rPr lang="ja-JP" altLang="en-US" dirty="0"/>
                  <a:t>常数不超过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ja-JP" altLang="en-US" dirty="0"/>
                  <a:t>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ja-JP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B5C2226-BC02-17FB-DBED-6B9FDEE715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448" b="-39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20133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E6D81-7B62-98AF-DE7C-2ADD82DD6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4A074C1-888A-2B84-E359-891CDEE364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有界线性算子与连续性</a:t>
            </a:r>
            <a:endParaRPr lang="ja-JP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B95EEB7-7A49-A323-7580-155B2AF1F6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在有限维空间中，所有线性映射都是连续的。但在无限维 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空间中，这一点不再自动成立。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一个线性算子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连续，当且仅当它是有界的，即存在常数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，使得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𝑇𝑥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zh-CN" altLang="en-US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对所有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成立。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m:rPr>
                              <m:nor/>
                            </m:rPr>
                            <a:rPr lang="zh-CN" altLang="en-US" i="1"/>
                            <m:t> </m:t>
                          </m:r>
                          <m:r>
                            <m:rPr>
                              <m:nor/>
                            </m:rPr>
                            <a:rPr lang="zh-CN" altLang="en-US"/>
                            <m:t>连续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⟺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m:rPr>
                              <m:nor/>
                            </m:rPr>
                            <a:rPr lang="zh-CN" altLang="en-US" i="1"/>
                            <m:t> </m:t>
                          </m:r>
                          <m:r>
                            <m:rPr>
                              <m:nor/>
                            </m:rPr>
                            <a:rPr lang="zh-CN" altLang="en-US"/>
                            <m:t>有界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⟺∥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∞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borderBox>
                    </m:oMath>
                  </m:oMathPara>
                </a14:m>
                <a:endParaRPr lang="zh-CN" altLang="en-US" b="0" dirty="0"/>
              </a:p>
              <a:p>
                <a:pPr>
                  <a:lnSpc>
                    <a:spcPct val="110000"/>
                  </a:lnSpc>
                </a:pPr>
                <a:endParaRPr lang="en-US" altLang="zh-CN" sz="10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在 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空间理论中，真正好的线性映射不是所有线性映射，而是 </a:t>
                </a:r>
                <a:r>
                  <a:rPr lang="zh-CN" altLang="en-US" b="1" dirty="0"/>
                  <a:t>有界线性算子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m:rPr>
                            <m:nor/>
                          </m:rPr>
                          <a:rPr lang="zh-CN" altLang="en-US" i="1"/>
                          <m:t> </m:t>
                        </m:r>
                        <m:r>
                          <m:rPr>
                            <m:nor/>
                          </m:rPr>
                          <a:rPr lang="zh-CN" altLang="en-US"/>
                          <m:t>是有界线性算子</m:t>
                        </m:r>
                      </m:e>
                    </m:d>
                  </m:oMath>
                </a14:m>
                <a:r>
                  <a:rPr lang="zh-CN" altLang="en-US" dirty="0"/>
                  <a:t> 记作：</a:t>
                </a:r>
                <a14:m>
                  <m:oMath xmlns:m="http://schemas.openxmlformats.org/officeDocument/2006/math">
                    <m:r>
                      <a:rPr lang="en-US" altLang="zh-CN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sepChr m:val=","/>
                        <m:ctrlP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 </a:t>
                </a:r>
                <a:r>
                  <a:rPr lang="zh-CN" altLang="en-US" dirty="0"/>
                  <a:t>或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sepChr m:val=","/>
                        <m:ctrlP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dirty="0"/>
                  <a:t> 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sz="10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如果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ja-JP" altLang="en-US" dirty="0"/>
                  <a:t>是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空间，那么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sepChr m:val=",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ja-JP" altLang="en-US" dirty="0"/>
                  <a:t> 在算子范数下也是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给定一列有界线性算子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如果它们在算子范数下是 </a:t>
                </a:r>
                <a:r>
                  <a:rPr lang="en-US" altLang="ja-JP" dirty="0"/>
                  <a:t>Cauchy </a:t>
                </a:r>
                <a:r>
                  <a:rPr lang="ja-JP" altLang="en-US" dirty="0"/>
                  <a:t>的，即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那么存在一个有界线性算子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ja-JP" altLang="en-US" dirty="0"/>
                  <a:t>，使得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意味着：不仅向量可以收敛，</a:t>
                </a:r>
                <a:r>
                  <a:rPr lang="ja-JP" altLang="en-US" b="1" dirty="0">
                    <a:solidFill>
                      <a:srgbClr val="C00000"/>
                    </a:solidFill>
                  </a:rPr>
                  <a:t>算子本身也可以收敛</a:t>
                </a:r>
                <a:r>
                  <a:rPr lang="ja-JP" altLang="en-US" dirty="0"/>
                  <a:t>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这对机器学习中的模型逼近非常重要。因为</a:t>
                </a:r>
                <a:r>
                  <a:rPr lang="ja-JP" altLang="en-US" dirty="0">
                    <a:solidFill>
                      <a:srgbClr val="C00000"/>
                    </a:solidFill>
                  </a:rPr>
                  <a:t>一个模型可以看作某种算子：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ar-AE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ar-AE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ar-AE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>
                    <a:solidFill>
                      <a:srgbClr val="C00000"/>
                    </a:solidFill>
                  </a:rPr>
                  <a:t>如果能证明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altLang="ja-JP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ar-AE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ar-AE" altLang="ja-JP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ar-AE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ja-JP" dirty="0">
                    <a:solidFill>
                      <a:srgbClr val="C00000"/>
                    </a:solidFill>
                  </a:rPr>
                  <a:t> </a:t>
                </a:r>
                <a:r>
                  <a:rPr lang="ja-JP" altLang="en-US" dirty="0">
                    <a:solidFill>
                      <a:srgbClr val="C00000"/>
                    </a:solidFill>
                  </a:rPr>
                  <a:t>就说明模型在整体意义下逼近目标算子，不仅仅是在有限样本点上逼近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B95EEB7-7A49-A323-7580-155B2AF1F6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897" b="-41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8870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8F7A1-85E4-22F5-61BF-DF70F3982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05AD6DA-4057-A41D-081F-4AE7763447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组合算子的误差传播</a:t>
            </a:r>
            <a:endParaRPr lang="ja-JP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3E2808FB-C79A-AB80-65B0-4D958920F2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如果有两个有界线性算子： </a:t>
                </a:r>
                <a14:m>
                  <m:oMath xmlns:m="http://schemas.openxmlformats.org/officeDocument/2006/math">
                    <m:r>
                      <a:rPr lang="ja-JP" alt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ja-JP" alt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ja-JP" alt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ja-JP" altLang="en-US" dirty="0"/>
                  <a:t> 那么</a:t>
                </a:r>
                <a:r>
                  <a:rPr lang="ja-JP" altLang="en-US" b="1" dirty="0">
                    <a:solidFill>
                      <a:srgbClr val="C00000"/>
                    </a:solidFill>
                  </a:rPr>
                  <a:t>复合算子</a:t>
                </a:r>
                <a14:m>
                  <m:oMath xmlns:m="http://schemas.openxmlformats.org/officeDocument/2006/math">
                    <m:r>
                      <a:rPr lang="en-US" altLang="ja-JP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ja-JP" altLang="en-US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ja-JP" alt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ja-JP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ja-JP" altLang="en-US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ja-JP" altLang="en-US" b="1" dirty="0">
                    <a:solidFill>
                      <a:srgbClr val="C00000"/>
                    </a:solidFill>
                  </a:rPr>
                  <a:t> 也是有界线性算子</a:t>
                </a:r>
                <a:r>
                  <a:rPr lang="ja-JP" altLang="en-US" dirty="0"/>
                  <a:t>，并且满足：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∘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ja-JP" altLang="en-US" dirty="0"/>
                  <a:t>  这叫做算子范数的 </a:t>
                </a:r>
                <a:r>
                  <a:rPr lang="ja-JP" altLang="en-US" b="1" dirty="0"/>
                  <a:t>次乘性</a:t>
                </a:r>
                <a:r>
                  <a:rPr lang="ja-JP" altLang="en-US" dirty="0"/>
                  <a:t>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神经网络就是复合映射：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↦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ja-JP" alt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↦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↦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ja-JP" altLang="ar-AE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↦⋯</m:t>
                    </m:r>
                    <m:r>
                      <m:rPr>
                        <m:nor/>
                      </m:rPr>
                      <a:rPr lang="ar-AE" altLang="ja-JP" i="1"/>
                      <m:t> 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如果每层线性部分的算子范数是 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∥,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ja-JP" altLang="en-US" dirty="0"/>
                  <a:t>激活函数的 </a:t>
                </a:r>
                <a:r>
                  <a:rPr lang="en-US" altLang="ja-JP" dirty="0"/>
                  <a:t>Lipschitz </a:t>
                </a:r>
                <a:r>
                  <a:rPr lang="ja-JP" altLang="en-US" dirty="0"/>
                  <a:t>常数是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ar-AE" dirty="0"/>
                  <a:t>，</a:t>
                </a:r>
                <a:r>
                  <a:rPr lang="ja-JP" altLang="en-US" dirty="0"/>
                  <a:t>那么整个网络的 </a:t>
                </a:r>
                <a:r>
                  <a:rPr lang="en-US" altLang="ja-JP" dirty="0"/>
                  <a:t>Lipschitz </a:t>
                </a:r>
                <a:r>
                  <a:rPr lang="ja-JP" altLang="en-US" dirty="0"/>
                  <a:t>常数可以由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grow m:val="on"/>
                        <m:supHide m:val="on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ar-AE" altLang="ja-JP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控制。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ja-JP" sz="10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深度网络中的谱范数控制，本质上就是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</a:t>
                </a:r>
                <a14:m>
                  <m:oMath xmlns:m="http://schemas.openxmlformats.org/officeDocument/2006/math">
                    <m:r>
                      <a:rPr lang="ja-JP" altLang="en-US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ja-JP" alt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ja-JP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ar-AE" altLang="ja-JP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ar-AE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≤∥</m:t>
                    </m:r>
                    <m:r>
                      <a:rPr lang="ja-JP" altLang="ar-AE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ar-AE" altLang="ja-JP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ar-AE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ar-AE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ar-AE" altLang="ja-JP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ja-JP" alt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ja-JP" altLang="en-US" dirty="0"/>
                  <a:t>的深度学习版本：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在深度学习中常见的谱范数是：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sup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𝐴𝑥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dirty="0"/>
              </a:p>
              <a:p>
                <a:pPr>
                  <a:lnSpc>
                    <a:spcPct val="120000"/>
                  </a:lnSpc>
                </a:pPr>
                <a:r>
                  <a:rPr lang="ja-JP" altLang="en-US" dirty="0"/>
                  <a:t>这里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en-US" dirty="0"/>
                  <a:t>是矩阵，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谱范数就是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之间的算子范数：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sSup>
                          <m:sSup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sSup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zh-CN" altLang="en-US" dirty="0"/>
                  <a:t>（</a:t>
                </a:r>
                <a:r>
                  <a:rPr lang="ja-JP" altLang="en-US" dirty="0"/>
                  <a:t>并不是唯一的算子范数，而是欧几里得空间中最常见、最几何化的一种</a:t>
                </a:r>
                <a:r>
                  <a:rPr lang="zh-CN" altLang="en-US" dirty="0"/>
                  <a:t>）</a:t>
                </a: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换别的范数，也会得到不同的算子范数。例如：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, ∥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, ∥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dirty="0"/>
              </a:p>
              <a:p>
                <a:pPr>
                  <a:lnSpc>
                    <a:spcPct val="120000"/>
                  </a:lnSpc>
                </a:pPr>
                <a:r>
                  <a:rPr lang="ja-JP" altLang="en-US" dirty="0"/>
                  <a:t>可以这样理解：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ja-JP" altLang="en-US" b="0"/>
                          <m:t>谱范数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ja-JP" altLang="en-US"/>
                          <m:t>矩阵作为</m:t>
                        </m:r>
                        <m:r>
                          <m:rPr>
                            <m:nor/>
                          </m:rPr>
                          <a:rPr lang="ja-JP" altLang="en-US" i="1"/>
                          <m:t> </m:t>
                        </m:r>
                        <m:d>
                          <m:dPr>
                            <m:sepChr m:val=",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e>
                            <m:sSup>
                              <m:sSup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nor/>
                          </m:rPr>
                          <a:rPr lang="ar-AE" altLang="ja-JP" i="1"/>
                          <m:t> </m:t>
                        </m:r>
                        <m:r>
                          <m:rPr>
                            <m:nor/>
                          </m:rPr>
                          <a:rPr lang="ja-JP" altLang="en-US"/>
                          <m:t>之间算子的范数</m:t>
                        </m:r>
                        <m:r>
                          <m:rPr>
                            <m:nor/>
                          </m:rPr>
                          <a:rPr lang="ja-JP" altLang="en-US" i="1"/>
                          <m:t>。</m:t>
                        </m:r>
                      </m:e>
                    </m:borderBox>
                  </m:oMath>
                </a14:m>
                <a:endParaRPr lang="ar-AE" altLang="ja-JP" b="0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3E2808FB-C79A-AB80-65B0-4D958920F2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448" r="-526" b="-11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74286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F31CD-8E29-316C-6B18-0A6746A09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BA46844-BFE4-A5BB-CD4B-B9D6AA5FA7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范数选择决定了“关心哪种误差”</a:t>
            </a:r>
            <a:endParaRPr lang="ja-JP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337E795-B8E6-DA42-8D35-0E8A3A85B0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不同范数对应不同的误差观念。</a:t>
                </a:r>
              </a:p>
              <a:p>
                <a:pPr marL="457200" indent="-45720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范数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b="0" smtClean="0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smtClean="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b>
                    </m:sSub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grow m:val="on"/>
                                <m:subHide m:val="on"/>
                                <m:supHide m:val="on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zh-CN" altLang="en-US" b="0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e>
                            </m:nary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b="0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dirty="0"/>
                  <a:t> 它关心平均平方误差。 适合描述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/>
                      <m:t>整体平均误差</m:t>
                    </m:r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dirty="0"/>
              </a:p>
              <a:p>
                <a:pPr marL="457200" indent="-45720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zh-CN" altLang="en-US" b="0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lang="zh-CN" altLang="en-US" dirty="0"/>
                  <a:t>范数</a:t>
                </a:r>
                <a14:m>
                  <m:oMath xmlns:m="http://schemas.openxmlformats.org/officeDocument/2006/math">
                    <m:r>
                      <a:rPr lang="zh-CN" altLang="en-US" b="0" smtClean="0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smtClean="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zh-CN" altLang="en-US" b="0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</m:sSup>
                      </m:sub>
                    </m:sSub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𝑒𝑠𝑠</m:t>
                        </m:r>
                        <m:r>
                          <a:rPr lang="en-US" altLang="zh-CN" b="0" smtClean="0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𝑠𝑢𝑝</m:t>
                        </m:r>
                      </m:e>
                      <m:sub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zh-CN" altLang="en-US" b="0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b="0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dirty="0"/>
                  <a:t> 它关心最坏情况误差。适合描述：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/>
                      <m:t>uniform</m:t>
                    </m:r>
                    <m:r>
                      <m:rPr>
                        <m:nor/>
                      </m:rPr>
                      <a:rPr lang="zh-CN" altLang="en-US" i="1"/>
                      <m:t> </m:t>
                    </m:r>
                    <m:r>
                      <m:rPr>
                        <m:nor/>
                      </m:rPr>
                      <a:rPr lang="en-US" altLang="zh-CN" i="1"/>
                      <m:t>error</m:t>
                    </m:r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altLang="zh-CN" i="1"/>
                      <m:t>worst</m:t>
                    </m:r>
                    <m:r>
                      <m:rPr>
                        <m:nor/>
                      </m:rPr>
                      <a:rPr lang="en-US" altLang="zh-CN" i="1"/>
                      <m:t>−</m:t>
                    </m:r>
                    <m:r>
                      <m:rPr>
                        <m:nor/>
                      </m:rPr>
                      <a:rPr lang="en-US" altLang="zh-CN" i="1"/>
                      <m:t>case</m:t>
                    </m:r>
                    <m:r>
                      <m:rPr>
                        <m:nor/>
                      </m:rPr>
                      <a:rPr lang="en-US" altLang="zh-CN" i="1"/>
                      <m:t> </m:t>
                    </m:r>
                    <m:r>
                      <m:rPr>
                        <m:nor/>
                      </m:rPr>
                      <a:rPr lang="en-US" altLang="zh-CN" i="1"/>
                      <m:t>robustness</m:t>
                    </m:r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dirty="0"/>
              </a:p>
              <a:p>
                <a:pPr marL="457200" indent="-4572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altLang="zh-CN" dirty="0"/>
                  <a:t>Sobolev </a:t>
                </a:r>
                <a:r>
                  <a:rPr lang="zh-CN" altLang="en-US" dirty="0"/>
                  <a:t>范数  </a:t>
                </a:r>
                <a14:m>
                  <m:oMath xmlns:m="http://schemas.openxmlformats.org/officeDocument/2006/math">
                    <m:r>
                      <a:rPr lang="zh-CN" altLang="en-US" b="0" smtClean="0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𝑓</m:t>
                    </m:r>
                    <m:sSubSup>
                      <m:sSub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b="0" smtClean="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=∥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𝑓</m:t>
                    </m:r>
                    <m:sSubSup>
                      <m:sSub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b="0" smtClean="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+∥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𝑓</m:t>
                    </m:r>
                    <m:sSubSup>
                      <m:sSub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b="0" smtClean="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dirty="0"/>
                  <a:t>  它不仅关心函数值，还关心导数。适合描述：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/>
                      <m:t>函数平滑性</m:t>
                    </m:r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zh-CN" altLang="en-US" i="1"/>
                      <m:t>导数稳定性</m:t>
                    </m:r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altLang="zh-CN" i="1"/>
                      <m:t>PDE</m:t>
                    </m:r>
                    <m:r>
                      <m:rPr>
                        <m:nor/>
                      </m:rPr>
                      <a:rPr lang="en-US" altLang="zh-CN" i="1"/>
                      <m:t> </m:t>
                    </m:r>
                    <m:r>
                      <m:rPr>
                        <m:nor/>
                      </m:rPr>
                      <a:rPr lang="zh-CN" altLang="en-US" i="1"/>
                      <m:t>解的稳定性</m:t>
                    </m:r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dirty="0"/>
              </a:p>
              <a:p>
                <a:pPr marL="457200" indent="-4572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altLang="zh-CN" dirty="0"/>
                  <a:t>RKHS </a:t>
                </a:r>
                <a:r>
                  <a:rPr lang="zh-CN" altLang="en-US" dirty="0"/>
                  <a:t>范数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b="0" smtClean="0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smtClean="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ℋ</m:t>
                        </m:r>
                      </m:sub>
                    </m:sSub>
                  </m:oMath>
                </a14:m>
                <a:r>
                  <a:rPr lang="zh-CN" altLang="en-US" dirty="0"/>
                  <a:t> 关心函数在核诱导的 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空间中的复杂度。适合描述：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/>
                      <m:t>核方法中的函数复杂度</m:t>
                    </m:r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altLang="zh-CN" i="1"/>
                      <m:t>MMD</m:t>
                    </m:r>
                    <m:r>
                      <m:rPr>
                        <m:nor/>
                      </m:rPr>
                      <a:rPr lang="en-US" altLang="zh-CN" i="1"/>
                      <m:t> </m:t>
                    </m:r>
                    <m:r>
                      <m:rPr>
                        <m:nor/>
                      </m:rPr>
                      <a:rPr lang="zh-CN" altLang="en-US" i="1"/>
                      <m:t>分布差异</m:t>
                    </m:r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dirty="0"/>
                  <a:t>Banach </a:t>
                </a:r>
                <a:r>
                  <a:rPr lang="zh-CN" altLang="en-US" dirty="0"/>
                  <a:t>空间思想告诉我们：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zh-CN" altLang="en-US"/>
                          <m:t>误差控制不是唯一的</m:t>
                        </m:r>
                        <m:r>
                          <m:rPr>
                            <m:nor/>
                          </m:rPr>
                          <a:rPr lang="zh-CN" altLang="en-US"/>
                          <m:t>；</m:t>
                        </m:r>
                        <m:r>
                          <m:rPr>
                            <m:nor/>
                          </m:rPr>
                          <a:rPr lang="zh-CN" altLang="en-US"/>
                          <m:t>选择不同范数</m:t>
                        </m:r>
                        <m:r>
                          <m:rPr>
                            <m:nor/>
                          </m:rPr>
                          <a:rPr lang="zh-CN" altLang="en-US"/>
                          <m:t>，</m:t>
                        </m:r>
                        <m:r>
                          <m:rPr>
                            <m:nor/>
                          </m:rPr>
                          <a:rPr lang="zh-CN" altLang="en-US"/>
                          <m:t>就是选择不同的稳定性概念</m:t>
                        </m:r>
                        <m:r>
                          <m:rPr>
                            <m:nor/>
                          </m:rPr>
                          <a:rPr lang="zh-CN" altLang="en-US"/>
                          <m:t>。</m:t>
                        </m:r>
                      </m:e>
                    </m:borderBox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337E795-B8E6-DA42-8D35-0E8A3A85B0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737" t="-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32511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800E7-C2F4-CFE6-98F5-90D36D7C9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EC8D47C-4228-1518-9697-EFAF54AEE7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范数相关的代数结构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84F0DE8-E81E-EFDC-9E73-C5E9A750F5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457200" indent="-457200">
                  <a:lnSpc>
                    <a:spcPct val="110000"/>
                  </a:lnSpc>
                  <a:buFont typeface="+mj-lt"/>
                  <a:buAutoNum type="arabicPeriod"/>
                </a:pPr>
                <a:r>
                  <a:rPr lang="zh-CN" altLang="en-US" b="1" dirty="0"/>
                  <a:t>赋范线性空间</a:t>
                </a:r>
                <a:r>
                  <a:rPr lang="zh-CN" altLang="en-US" dirty="0"/>
                  <a:t>最基本的结构是：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∥⋅∥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同时有：</a:t>
                </a:r>
              </a:p>
              <a:p>
                <a:pPr>
                  <a:lnSpc>
                    <a:spcPct val="110000"/>
                  </a:lnSpc>
                </a:pPr>
                <a:r>
                  <a:rPr lang="zh-CN" altLang="en-US" dirty="0"/>
                  <a:t>向量空间结构； </a:t>
                </a:r>
              </a:p>
              <a:p>
                <a:pPr>
                  <a:lnSpc>
                    <a:spcPct val="110000"/>
                  </a:lnSpc>
                </a:pPr>
                <a:r>
                  <a:rPr lang="zh-CN" altLang="en-US" dirty="0"/>
                  <a:t>范数结构； </a:t>
                </a:r>
              </a:p>
              <a:p>
                <a:pPr>
                  <a:lnSpc>
                    <a:spcPct val="110000"/>
                  </a:lnSpc>
                </a:pPr>
                <a:r>
                  <a:rPr lang="zh-CN" altLang="en-US" dirty="0"/>
                  <a:t>由范数诱导的拓扑结构。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是“代数 </a:t>
                </a:r>
                <a:r>
                  <a:rPr lang="en-US" altLang="zh-CN" dirty="0"/>
                  <a:t>+ </a:t>
                </a:r>
                <a:r>
                  <a:rPr lang="zh-CN" altLang="en-US" dirty="0"/>
                  <a:t>几何 </a:t>
                </a:r>
                <a:r>
                  <a:rPr lang="en-US" altLang="zh-CN" dirty="0"/>
                  <a:t>+ </a:t>
                </a:r>
                <a:r>
                  <a:rPr lang="zh-CN" altLang="en-US" dirty="0"/>
                  <a:t>分析”的结合。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ja-JP" sz="1000" dirty="0"/>
              </a:p>
              <a:p>
                <a:pPr marL="457200" indent="-457200">
                  <a:lnSpc>
                    <a:spcPct val="110000"/>
                  </a:lnSpc>
                  <a:buFont typeface="+mj-lt"/>
                  <a:buAutoNum type="arabicPeriod" startAt="2"/>
                </a:pPr>
                <a:r>
                  <a:rPr lang="ja-JP" altLang="en-US" dirty="0"/>
                  <a:t>如果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en-US" dirty="0"/>
                  <a:t>是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空间，同时又有乘法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ja-JP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ar-AE" altLang="ja-JP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ja-JP" altLang="ar-AE" i="1"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lang="ar-AE" altLang="ja-JP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ar-AE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并满足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∥≤∥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ja-JP" altLang="en-US" dirty="0"/>
                  <a:t>  那么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en-US" dirty="0"/>
                  <a:t>叫做 </a:t>
                </a:r>
                <a:r>
                  <a:rPr lang="en-US" altLang="ja-JP" b="1" dirty="0">
                    <a:solidFill>
                      <a:srgbClr val="FF0000"/>
                    </a:solidFill>
                  </a:rPr>
                  <a:t>Banach </a:t>
                </a:r>
                <a:r>
                  <a:rPr lang="ja-JP" altLang="en-US" b="1" dirty="0">
                    <a:solidFill>
                      <a:srgbClr val="FF0000"/>
                    </a:solidFill>
                  </a:rPr>
                  <a:t>代数</a:t>
                </a:r>
                <a:r>
                  <a:rPr lang="ja-JP" altLang="en-US" dirty="0"/>
                  <a:t>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重要的例子是 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sepChr m:val=",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ja-JP" dirty="0"/>
                  <a:t>  Banach </a:t>
                </a:r>
                <a:r>
                  <a:rPr lang="ja-JP" altLang="en-US" dirty="0"/>
                  <a:t>空间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上所有有界线性算子构成的空间。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乘法是算子复合：</a:t>
                </a:r>
                <a14:m>
                  <m:oMath xmlns:m="http://schemas.openxmlformats.org/officeDocument/2006/math">
                    <m:r>
                      <a:rPr lang="ar-AE" altLang="ja-JP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↦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∘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算子范数满足：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∘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∥≤∥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模型层的组合、迭代算子、动力系统传播都可以放在 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代数中讨论。</a:t>
                </a:r>
                <a:endParaRPr lang="ja-JP" alt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84F0DE8-E81E-EFDC-9E73-C5E9A750F5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737" t="-1457" b="-54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21255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2068B-A51E-1CC6-33F2-BDD7521D2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AFD70158-77A4-0FF2-65A7-31704ABDE400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范畴 </a:t>
                </a:r>
                <a14:m>
                  <m:oMath xmlns:m="http://schemas.openxmlformats.org/officeDocument/2006/math">
                    <m:r>
                      <a:rPr lang="ja-JP" altLang="en-US" b="1">
                        <a:latin typeface="Cambria Math" panose="02040503050406030204" pitchFamily="18" charset="0"/>
                      </a:rPr>
                      <m:t>𝐁𝐚𝐧</m:t>
                    </m:r>
                  </m:oMath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AFD70158-77A4-0FF2-65A7-31704ABDE4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826" b="-8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365C069-0A72-73A6-A592-78B8A64B97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061720"/>
                <a:ext cx="11582400" cy="5440680"/>
              </a:xfrm>
            </p:spPr>
            <p:txBody>
              <a:bodyPr/>
              <a:lstStyle/>
              <a:p>
                <a:r>
                  <a:rPr lang="ja-JP" altLang="en-US" dirty="0"/>
                  <a:t>对象：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空间； </a:t>
                </a:r>
              </a:p>
              <a:p>
                <a:r>
                  <a:rPr lang="ja-JP" altLang="en-US" dirty="0"/>
                  <a:t>态射：有界线性算子。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Hom</m:t>
                          </m:r>
                        </m:e>
                        <m:sub>
                          <m:r>
                            <a:rPr lang="ja-JP" altLang="ar-AE" b="1">
                              <a:latin typeface="Cambria Math" panose="02040503050406030204" pitchFamily="18" charset="0"/>
                            </a:rPr>
                            <m:t>𝐁𝐚𝐧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ar-AE" altLang="ja-JP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ar-AE" altLang="ja-JP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ja-JP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sepChr m:val=","/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ar-AE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altLang="ja-JP" b="0" dirty="0"/>
              </a:p>
              <a:p>
                <a:r>
                  <a:rPr lang="ja-JP" altLang="en-US" dirty="0"/>
                  <a:t>复合是算子复合：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groupChr>
                      <m:groupChrPr>
                        <m:chr m:val="→"/>
                        <m:vertJc m:val="bot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box>
                          <m:box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box>
                      </m:e>
                    </m:groupChr>
                    <m:r>
                      <a:rPr lang="ja-JP" altLang="ar-AE" i="1">
                        <a:latin typeface="Cambria Math" panose="02040503050406030204" pitchFamily="18" charset="0"/>
                      </a:rPr>
                      <m:t>𝑌</m:t>
                    </m:r>
                    <m:groupChr>
                      <m:groupChrPr>
                        <m:chr m:val="→"/>
                        <m:vertJc m:val="bot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box>
                          <m:box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box>
                      </m:e>
                    </m:groupChr>
                    <m:r>
                      <a:rPr lang="ja-JP" altLang="ar-AE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∘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dirty="0"/>
              </a:p>
              <a:p>
                <a:r>
                  <a:rPr lang="ja-JP" altLang="en-US" dirty="0"/>
                  <a:t>恒等态射是恒等算子：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范畴 </a:t>
                </a:r>
                <a14:m>
                  <m:oMath xmlns:m="http://schemas.openxmlformats.org/officeDocument/2006/math">
                    <m:r>
                      <a:rPr lang="ja-JP" altLang="en-US" b="1">
                        <a:latin typeface="Cambria Math" panose="02040503050406030204" pitchFamily="18" charset="0"/>
                      </a:rPr>
                      <m:t>𝐁𝐚𝐧</m:t>
                    </m:r>
                  </m:oMath>
                </a14:m>
                <a:r>
                  <a:rPr lang="ja-JP" altLang="en-US" dirty="0"/>
                  <a:t>的意义是：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ar-AE" altLang="ja-JP" b="1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ja-JP" altLang="ar-AE" b="1">
                            <a:latin typeface="Cambria Math" panose="02040503050406030204" pitchFamily="18" charset="0"/>
                          </a:rPr>
                          <m:t>𝐁𝐚𝐧</m:t>
                        </m:r>
                        <m:r>
                          <m:rPr>
                            <m:nor/>
                          </m:rPr>
                          <a:rPr lang="ar-AE" altLang="ja-JP" i="1"/>
                          <m:t> </m:t>
                        </m:r>
                        <m:r>
                          <m:rPr>
                            <m:nor/>
                          </m:rPr>
                          <a:rPr lang="ja-JP" altLang="en-US"/>
                          <m:t>把 </m:t>
                        </m:r>
                        <m:r>
                          <m:rPr>
                            <m:nor/>
                          </m:rPr>
                          <a:rPr lang="en-US" altLang="ja-JP"/>
                          <m:t>Banach</m:t>
                        </m:r>
                        <m:r>
                          <m:rPr>
                            <m:nor/>
                          </m:rPr>
                          <a:rPr lang="en-US" altLang="ja-JP"/>
                          <m:t> </m:t>
                        </m:r>
                        <m:r>
                          <m:rPr>
                            <m:nor/>
                          </m:rPr>
                          <a:rPr lang="ja-JP" altLang="en-US"/>
                          <m:t>空间作为对象</m:t>
                        </m:r>
                        <m:r>
                          <m:rPr>
                            <m:nor/>
                          </m:rPr>
                          <a:rPr lang="ja-JP" altLang="en-US"/>
                          <m:t>，</m:t>
                        </m:r>
                        <m:r>
                          <m:rPr>
                            <m:nor/>
                          </m:rPr>
                          <a:rPr lang="ja-JP" altLang="en-US"/>
                          <m:t>把稳定的线性变换作为态射</m:t>
                        </m:r>
                        <m:r>
                          <m:rPr>
                            <m:nor/>
                          </m:rPr>
                          <a:rPr lang="ja-JP" altLang="en-US" i="1"/>
                          <m:t>。</m:t>
                        </m:r>
                      </m:e>
                    </m:borderBox>
                  </m:oMath>
                </a14:m>
                <a:endParaRPr lang="ar-AE" altLang="ja-JP" b="1" dirty="0"/>
              </a:p>
              <a:p>
                <a:pPr marL="0" indent="0">
                  <a:buNone/>
                </a:pPr>
                <a:r>
                  <a:rPr lang="ja-JP" altLang="en-US" dirty="0"/>
                  <a:t>“稳定的线性变换”就是有界线性算子。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zh-CN" altLang="en-US" b="1" dirty="0"/>
                  <a:t>拓展：</a:t>
                </a:r>
                <a:r>
                  <a:rPr lang="ja-JP" altLang="en-US" b="1" dirty="0"/>
                  <a:t>范畴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b="1">
                            <a:latin typeface="Cambria Math" panose="02040503050406030204" pitchFamily="18" charset="0"/>
                          </a:rPr>
                          <m:t>𝐁𝐚𝐧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ar-AE" altLang="ja-JP" b="1" dirty="0"/>
              </a:p>
              <a:p>
                <a:r>
                  <a:rPr lang="ja-JP" altLang="en-US" dirty="0"/>
                  <a:t>对象：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空间； </a:t>
                </a:r>
              </a:p>
              <a:p>
                <a:r>
                  <a:rPr lang="ja-JP" altLang="en-US" dirty="0"/>
                  <a:t>态射：范数不超过 </a:t>
                </a:r>
                <a:r>
                  <a:rPr lang="en-US" altLang="ja-JP" dirty="0"/>
                  <a:t>1 </a:t>
                </a:r>
                <a:r>
                  <a:rPr lang="ja-JP" altLang="en-US" dirty="0"/>
                  <a:t>的有界线性算子，即 </a:t>
                </a:r>
                <a:r>
                  <a:rPr lang="en-US" altLang="ja-JP" dirty="0"/>
                  <a:t>contraction</a:t>
                </a:r>
                <a:r>
                  <a:rPr lang="ja-JP" altLang="en-US" dirty="0"/>
                  <a:t>： 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∥≤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          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≤∥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 </a:t>
                </a:r>
                <a:r>
                  <a:rPr lang="ja-JP" altLang="en-US" dirty="0"/>
                  <a:t>这种态射不会放大误差。</a:t>
                </a:r>
              </a:p>
              <a:p>
                <a:pPr marL="0" indent="0">
                  <a:buNone/>
                </a:pPr>
                <a:r>
                  <a:rPr lang="ja-JP" altLang="en-US" dirty="0"/>
                  <a:t>意义是：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ar-AE" altLang="ja-JP" b="1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ar-AE" altLang="ja-JP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b="1">
                                <a:latin typeface="Cambria Math" panose="02040503050406030204" pitchFamily="18" charset="0"/>
                              </a:rPr>
                              <m:t>𝐁𝐚𝐧</m:t>
                            </m:r>
                          </m:e>
                          <m: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ar-AE" altLang="ja-JP" i="1"/>
                          <m:t> </m:t>
                        </m:r>
                        <m:r>
                          <m:rPr>
                            <m:nor/>
                          </m:rPr>
                          <a:rPr lang="ja-JP" altLang="en-US"/>
                          <m:t>是</m:t>
                        </m:r>
                        <m:r>
                          <m:rPr>
                            <m:nor/>
                          </m:rPr>
                          <a:rPr lang="ja-JP" altLang="en-US"/>
                          <m:t>“</m:t>
                        </m:r>
                        <m:r>
                          <m:rPr>
                            <m:nor/>
                          </m:rPr>
                          <a:rPr lang="ja-JP" altLang="en-US"/>
                          <m:t>误差不增映射</m:t>
                        </m:r>
                        <m:r>
                          <m:rPr>
                            <m:nor/>
                          </m:rPr>
                          <a:rPr lang="ja-JP" altLang="en-US"/>
                          <m:t>”</m:t>
                        </m:r>
                        <m:r>
                          <m:rPr>
                            <m:nor/>
                          </m:rPr>
                          <a:rPr lang="ja-JP" altLang="en-US"/>
                          <m:t>的范畴</m:t>
                        </m:r>
                        <m:r>
                          <m:rPr>
                            <m:nor/>
                          </m:rPr>
                          <a:rPr lang="ja-JP" altLang="en-US" i="1"/>
                          <m:t>。</m:t>
                        </m:r>
                      </m:e>
                    </m:borderBox>
                  </m:oMath>
                </a14:m>
                <a:endParaRPr lang="ar-AE" altLang="ja-JP" b="1" dirty="0"/>
              </a:p>
              <a:p>
                <a:r>
                  <a:rPr lang="ja-JP" altLang="en-US" dirty="0"/>
                  <a:t>这在机器学习中很有解释力。如果希望每一层都稳定，可以要求每一层是 </a:t>
                </a:r>
                <a:r>
                  <a:rPr lang="en-US" altLang="ja-JP" dirty="0"/>
                  <a:t>contraction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∥≤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那么组合以后仍然是 </a:t>
                </a:r>
                <a:r>
                  <a:rPr lang="en-US" altLang="ja-JP" dirty="0"/>
                  <a:t>contraction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∥≤∥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∥⋯∥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∥≤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ja-JP" altLang="en-US" dirty="0"/>
                  <a:t> 这就是范畴论语言中的稳定性：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ja-JP" altLang="en-US" b="0"/>
                          <m:t>稳定态射在复合下封闭</m:t>
                        </m:r>
                        <m:r>
                          <m:rPr>
                            <m:nor/>
                          </m:rPr>
                          <a:rPr lang="ja-JP" altLang="en-US" b="0"/>
                          <m:t>。</m:t>
                        </m:r>
                      </m:e>
                    </m:borderBox>
                  </m:oMath>
                </a14:m>
                <a:endParaRPr lang="ar-AE" altLang="ja-JP" b="0" dirty="0"/>
              </a:p>
              <a:p>
                <a:pPr marL="0" indent="0">
                  <a:buNone/>
                </a:pPr>
                <a:endParaRPr lang="ja-JP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365C069-0A72-73A6-A592-78B8A64B97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061720"/>
                <a:ext cx="11582400" cy="5440680"/>
              </a:xfrm>
              <a:blipFill>
                <a:blip r:embed="rId4"/>
                <a:stretch>
                  <a:fillRect l="-526" t="-896" r="-158" b="-72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25733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4CC2B-AB34-A762-4242-B8B820DF7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F83BCA0-D177-EB99-5519-CE83730FF6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Ban </a:t>
            </a:r>
            <a:r>
              <a:rPr lang="ja-JP" altLang="en-US" dirty="0"/>
              <a:t>是 </a:t>
            </a:r>
            <a:r>
              <a:rPr lang="en-US" altLang="ja-JP" dirty="0"/>
              <a:t>enriched category</a:t>
            </a:r>
            <a:endParaRPr lang="zh-CN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7420C64-B9C0-7916-8DB4-EDE3F36C64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061720"/>
                <a:ext cx="115824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在 </a:t>
                </a:r>
                <a14:m>
                  <m:oMath xmlns:m="http://schemas.openxmlformats.org/officeDocument/2006/math">
                    <m:r>
                      <a:rPr lang="ja-JP" altLang="en-US" b="1">
                        <a:latin typeface="Cambria Math" panose="02040503050406030204" pitchFamily="18" charset="0"/>
                      </a:rPr>
                      <m:t>𝐁𝐚𝐧</m:t>
                    </m:r>
                  </m:oMath>
                </a14:m>
                <a:r>
                  <a:rPr lang="ja-JP" altLang="en-US" dirty="0"/>
                  <a:t>中，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Hom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sepChr m:val=",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sepChr m:val=",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本身是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空间。也就是说，态射之间也可以相加、数乘，并且有范数：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ja-JP" altLang="en-US" dirty="0"/>
                  <a:t>所以 </a:t>
                </a:r>
                <a14:m>
                  <m:oMath xmlns:m="http://schemas.openxmlformats.org/officeDocument/2006/math">
                    <m:r>
                      <a:rPr lang="ja-JP" altLang="en-US" b="1">
                        <a:latin typeface="Cambria Math" panose="02040503050406030204" pitchFamily="18" charset="0"/>
                      </a:rPr>
                      <m:t>𝐁𝐚𝐧</m:t>
                    </m:r>
                  </m:oMath>
                </a14:m>
                <a:r>
                  <a:rPr lang="ja-JP" altLang="en-US" dirty="0"/>
                  <a:t>不只是普通范畴，而是可以看成 </a:t>
                </a:r>
                <a:r>
                  <a:rPr lang="en-US" altLang="ja-JP" dirty="0"/>
                  <a:t>enriched category</a:t>
                </a:r>
                <a:r>
                  <a:rPr lang="ja-JP" altLang="en-US" dirty="0"/>
                  <a:t>：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US" altLang="ja-JP" b="0"/>
                            <m:t>Hom</m:t>
                          </m:r>
                          <m:r>
                            <m:rPr>
                              <m:nor/>
                            </m:rPr>
                            <a:rPr lang="en-US" altLang="ja-JP" b="0" i="1"/>
                            <m:t> </m:t>
                          </m:r>
                          <m:r>
                            <m:rPr>
                              <m:nor/>
                            </m:rPr>
                            <a:rPr lang="ja-JP" altLang="en-US" b="0" i="1"/>
                            <m:t>对象本身带有 </m:t>
                          </m:r>
                          <m:r>
                            <m:rPr>
                              <m:nor/>
                            </m:rPr>
                            <a:rPr lang="en-US" altLang="ja-JP" b="0" i="1"/>
                            <m:t>Banach</m:t>
                          </m:r>
                          <m:r>
                            <m:rPr>
                              <m:nor/>
                            </m:rPr>
                            <a:rPr lang="en-US" altLang="ja-JP" b="0" i="1"/>
                            <m:t> </m:t>
                          </m:r>
                          <m:r>
                            <m:rPr>
                              <m:nor/>
                            </m:rPr>
                            <a:rPr lang="ja-JP" altLang="en-US" b="0" i="1"/>
                            <m:t>空间结构</m:t>
                          </m:r>
                          <m:r>
                            <m:rPr>
                              <m:nor/>
                            </m:rPr>
                            <a:rPr lang="ja-JP" altLang="en-US" b="0" i="1"/>
                            <m:t>。</m:t>
                          </m:r>
                        </m:e>
                      </m:borderBox>
                    </m:oMath>
                  </m:oMathPara>
                </a14:m>
                <a:endParaRPr lang="ar-AE" altLang="ja-JP" b="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这非常自然地表达了：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ja-JP" altLang="en-US" b="0"/>
                      <m:t>两个模型</m:t>
                    </m:r>
                    <m:r>
                      <m:rPr>
                        <m:nor/>
                      </m:rPr>
                      <a:rPr lang="ja-JP" altLang="en-US" b="0" i="1"/>
                      <m:t> </m:t>
                    </m:r>
                    <m:r>
                      <a:rPr lang="ja-JP" altLang="en-US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nor/>
                      </m:rPr>
                      <a:rPr lang="ja-JP" altLang="en-US" i="1"/>
                      <m:t> </m:t>
                    </m:r>
                    <m:r>
                      <m:rPr>
                        <m:nor/>
                      </m:rPr>
                      <a:rPr lang="ja-JP" altLang="en-US" i="1"/>
                      <m:t>之间也有距离 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ja-JP" altLang="en-US" dirty="0"/>
                  <a:t> 在机器学习里，这意味着我们不仅比较数据点之间的误差，也可以比较模型之间的误差：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𝑔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sepChr m:val=",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ja-JP" sz="15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ja-JP" dirty="0">
                    <a:solidFill>
                      <a:srgbClr val="C00000"/>
                    </a:solidFill>
                  </a:rPr>
                  <a:t>Banach </a:t>
                </a:r>
                <a:r>
                  <a:rPr lang="ja-JP" altLang="en-US" dirty="0">
                    <a:solidFill>
                      <a:srgbClr val="C00000"/>
                    </a:solidFill>
                  </a:rPr>
                  <a:t>空间也可以做张量积</a:t>
                </a:r>
                <a:r>
                  <a:rPr lang="ja-JP" altLang="en-US" dirty="0"/>
                  <a:t>，但这里有一个细节：</a:t>
                </a:r>
                <a:r>
                  <a:rPr lang="ja-JP" altLang="en-US" dirty="0">
                    <a:solidFill>
                      <a:srgbClr val="C00000"/>
                    </a:solidFill>
                  </a:rPr>
                  <a:t>代数张量积 </a:t>
                </a: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ja-JP" alt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⊗</m:t>
                    </m:r>
                    <m:r>
                      <a:rPr lang="ja-JP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ja-JP" altLang="en-US" dirty="0">
                    <a:solidFill>
                      <a:srgbClr val="C00000"/>
                    </a:solidFill>
                  </a:rPr>
                  <a:t>上可以放不同的张量范数</a:t>
                </a:r>
                <a:r>
                  <a:rPr lang="ja-JP" altLang="en-US" dirty="0"/>
                  <a:t>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例如 </a:t>
                </a:r>
                <a:r>
                  <a:rPr lang="en-US" altLang="ja-JP" dirty="0"/>
                  <a:t>projective norm </a:t>
                </a:r>
                <a:r>
                  <a:rPr lang="ja-JP" altLang="en-US" dirty="0"/>
                  <a:t>定义思想是：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inf</m:t>
                        </m:r>
                      </m:fName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"/>
                            <m:endChr m:val="}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{</m:t>
                            </m:r>
                            <m:nary>
                              <m:naryPr>
                                <m:chr m:val="∑"/>
                                <m:grow m:val="on"/>
                                <m:supHide m:val="on"/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</m:nary>
                            <m:sSub>
                              <m:sSub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∥∥</m:t>
                            </m:r>
                            <m:sSub>
                              <m:sSub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∥:</m:t>
                            </m:r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grow m:val="on"/>
                                <m:supHide m:val="on"/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ar-AE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ja-JP" alt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⊗</m:t>
                            </m:r>
                            <m:sSub>
                              <m:sSub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完成以后得到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⊗</m:t>
                            </m:r>
                          </m:e>
                        </m:acc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ja-JP" altLang="ar-AE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。</a:t>
                </a:r>
                <a:r>
                  <a:rPr lang="ja-JP" altLang="en-US" dirty="0"/>
                  <a:t>这给出一个 </a:t>
                </a:r>
                <a:r>
                  <a:rPr lang="en-US" altLang="ja-JP" dirty="0"/>
                  <a:t>monoidal structure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↦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⊗</m:t>
                            </m:r>
                          </m:e>
                        </m:acc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ja-JP" altLang="ar-AE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ja-JP" sz="15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它和双线性映射关系密切：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ja-JP" b="0"/>
                      <m:t>bounded</m:t>
                    </m:r>
                    <m:r>
                      <m:rPr>
                        <m:nor/>
                      </m:rPr>
                      <a:rPr lang="en-US" altLang="ja-JP" b="0"/>
                      <m:t> </m:t>
                    </m:r>
                    <m:r>
                      <m:rPr>
                        <m:nor/>
                      </m:rPr>
                      <a:rPr lang="en-US" altLang="ja-JP" b="0"/>
                      <m:t>bilinear</m:t>
                    </m:r>
                    <m:r>
                      <m:rPr>
                        <m:nor/>
                      </m:rPr>
                      <a:rPr lang="en-US" altLang="ja-JP" b="0"/>
                      <m:t> </m:t>
                    </m:r>
                    <m:r>
                      <m:rPr>
                        <m:nor/>
                      </m:rPr>
                      <a:rPr lang="en-US" altLang="ja-JP" b="0"/>
                      <m:t>maps</m:t>
                    </m:r>
                    <m:r>
                      <m:rPr>
                        <m:nor/>
                      </m:rPr>
                      <a:rPr lang="en-US" altLang="ja-JP" b="0"/>
                      <m:t> </m:t>
                    </m:r>
                    <m:r>
                      <a:rPr lang="ja-JP" alt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×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dirty="0"/>
                  <a:t> 可以对应到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ja-JP" b="0"/>
                      <m:t>bounded</m:t>
                    </m:r>
                    <m:r>
                      <m:rPr>
                        <m:nor/>
                      </m:rPr>
                      <a:rPr lang="en-US" altLang="ja-JP" b="0"/>
                      <m:t> </m:t>
                    </m:r>
                    <m:r>
                      <m:rPr>
                        <m:nor/>
                      </m:rPr>
                      <a:rPr lang="en-US" altLang="ja-JP" b="0"/>
                      <m:t>linear</m:t>
                    </m:r>
                    <m:r>
                      <m:rPr>
                        <m:nor/>
                      </m:rPr>
                      <a:rPr lang="en-US" altLang="ja-JP" b="0"/>
                      <m:t> </m:t>
                    </m:r>
                    <m:r>
                      <m:rPr>
                        <m:nor/>
                      </m:rPr>
                      <a:rPr lang="en-US" altLang="ja-JP" b="0"/>
                      <m:t>maps</m:t>
                    </m:r>
                    <m:r>
                      <m:rPr>
                        <m:nor/>
                      </m:rPr>
                      <a:rPr lang="en-US" altLang="ja-JP" b="0"/>
                      <m:t> </m:t>
                    </m:r>
                    <m:r>
                      <a:rPr lang="ja-JP" altLang="en-US" b="0" i="1"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⊗</m:t>
                            </m:r>
                          </m:e>
                        </m:acc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ja-JP" altLang="ar-AE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b="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说明：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ja-JP" altLang="en-US" b="0"/>
                          <m:t>张量范数把多线性稳定性转化为线性稳定性</m:t>
                        </m:r>
                        <m:r>
                          <m:rPr>
                            <m:nor/>
                          </m:rPr>
                          <a:rPr lang="ja-JP" altLang="en-US" b="0"/>
                          <m:t>。</m:t>
                        </m:r>
                      </m:e>
                    </m:borderBox>
                  </m:oMath>
                </a14:m>
                <a:endParaRPr lang="ar-AE" altLang="ja-JP" b="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神经网络中的多线性结构、核方法、特征交互、</a:t>
                </a:r>
                <a:r>
                  <a:rPr lang="en-US" altLang="ja-JP" dirty="0"/>
                  <a:t>operator learning </a:t>
                </a:r>
                <a:r>
                  <a:rPr lang="ja-JP" altLang="en-US" dirty="0"/>
                  <a:t>。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7420C64-B9C0-7916-8DB4-EDE3F36C64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061720"/>
                <a:ext cx="11582400" cy="5440680"/>
              </a:xfrm>
              <a:blipFill>
                <a:blip r:embed="rId3"/>
                <a:stretch>
                  <a:fillRect l="-526" t="-784" b="-44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0CA0962-D93B-C8B3-D703-5E148FDE1098}"/>
              </a:ext>
            </a:extLst>
          </p:cNvPr>
          <p:cNvSpPr txBox="1"/>
          <p:nvPr/>
        </p:nvSpPr>
        <p:spPr>
          <a:xfrm>
            <a:off x="4988560" y="4533632"/>
            <a:ext cx="6929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dirty="0">
                <a:solidFill>
                  <a:srgbClr val="7030A0"/>
                </a:solidFill>
                <a:latin typeface="+mj-ea"/>
                <a:ea typeface="+mj-ea"/>
              </a:rPr>
              <a:t>和 概率独立 </a:t>
            </a:r>
            <a:r>
              <a:rPr lang="zh-CN" altLang="en-US" sz="1400" dirty="0">
                <a:solidFill>
                  <a:srgbClr val="7030A0"/>
                </a:solidFill>
                <a:latin typeface="+mj-ea"/>
                <a:ea typeface="+mj-ea"/>
              </a:rPr>
              <a:t>； </a:t>
            </a:r>
            <a:r>
              <a:rPr lang="en-US" altLang="ja-JP" sz="1400" dirty="0">
                <a:solidFill>
                  <a:srgbClr val="7030A0"/>
                </a:solidFill>
                <a:latin typeface="+mj-ea"/>
                <a:ea typeface="+mj-ea"/>
              </a:rPr>
              <a:t>separable representation</a:t>
            </a:r>
            <a:r>
              <a:rPr lang="zh-CN" altLang="en-US" sz="1400" dirty="0">
                <a:solidFill>
                  <a:srgbClr val="7030A0"/>
                </a:solidFill>
                <a:latin typeface="+mj-ea"/>
                <a:ea typeface="+mj-ea"/>
              </a:rPr>
              <a:t>； </a:t>
            </a:r>
            <a:r>
              <a:rPr lang="en-US" altLang="ja-JP" sz="1400" dirty="0">
                <a:solidFill>
                  <a:srgbClr val="7030A0"/>
                </a:solidFill>
                <a:latin typeface="+mj-ea"/>
                <a:ea typeface="+mj-ea"/>
              </a:rPr>
              <a:t>rank-one approximation </a:t>
            </a:r>
            <a:r>
              <a:rPr lang="ja-JP" altLang="en-US" sz="1400" dirty="0">
                <a:solidFill>
                  <a:srgbClr val="7030A0"/>
                </a:solidFill>
                <a:latin typeface="+mj-ea"/>
                <a:ea typeface="+mj-ea"/>
              </a:rPr>
              <a:t>有深层联系</a:t>
            </a:r>
            <a:endParaRPr lang="en-US" altLang="ja-JP" sz="1400" dirty="0">
              <a:solidFill>
                <a:srgbClr val="7030A0"/>
              </a:solidFill>
              <a:latin typeface="+mj-ea"/>
              <a:ea typeface="+mj-ea"/>
            </a:endParaRPr>
          </a:p>
          <a:p>
            <a:pPr>
              <a:buNone/>
            </a:pPr>
            <a:r>
              <a:rPr lang="en-US" altLang="ja-JP" sz="1400" dirty="0">
                <a:solidFill>
                  <a:srgbClr val="7030A0"/>
                </a:solidFill>
                <a:latin typeface="+mj-ea"/>
                <a:ea typeface="+mj-ea"/>
              </a:rPr>
              <a:t>projective norm </a:t>
            </a:r>
            <a:r>
              <a:rPr lang="ja-JP" altLang="en-US" sz="1400" dirty="0">
                <a:solidFill>
                  <a:srgbClr val="7030A0"/>
                </a:solidFill>
                <a:latin typeface="+mj-ea"/>
                <a:ea typeface="+mj-ea"/>
              </a:rPr>
              <a:t>衡量：用多少“分离变量模块”才能表达函数 </a:t>
            </a:r>
            <a:r>
              <a:rPr lang="en-US" altLang="ja-JP" sz="1400" dirty="0">
                <a:solidFill>
                  <a:srgbClr val="7030A0"/>
                </a:solidFill>
                <a:latin typeface="+mj-ea"/>
                <a:ea typeface="+mj-ea"/>
              </a:rPr>
              <a:t>(</a:t>
            </a:r>
            <a:r>
              <a:rPr lang="zh-CN" altLang="en-US" sz="1400" dirty="0">
                <a:solidFill>
                  <a:srgbClr val="7030A0"/>
                </a:solidFill>
                <a:latin typeface="+mj-ea"/>
                <a:ea typeface="+mj-ea"/>
              </a:rPr>
              <a:t>最小分解复杂度</a:t>
            </a:r>
            <a:r>
              <a:rPr lang="en-US" altLang="ja-JP" sz="1400" dirty="0">
                <a:solidFill>
                  <a:srgbClr val="7030A0"/>
                </a:solidFill>
                <a:latin typeface="+mj-ea"/>
                <a:ea typeface="+mj-ea"/>
              </a:rPr>
              <a:t>)</a:t>
            </a:r>
            <a:endParaRPr lang="ja-JP" altLang="en-US" sz="1400" dirty="0">
              <a:solidFill>
                <a:srgbClr val="7030A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280680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4CBC7-B3B9-B657-D52A-3DA9B33C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6B73E5C-66A1-FEEC-A332-CD2674496C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逆算子的稳定性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B530AB9-E144-CA47-664B-2792F082A8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在 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代数中，有一个非常重要的稳定性思想。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dirty="0"/>
                  <a:t>Neumann series</a:t>
                </a:r>
                <a:r>
                  <a:rPr lang="zh-CN" altLang="en-US" dirty="0"/>
                  <a:t>：如果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zh-CN" altLang="en-US" dirty="0"/>
                  <a:t>那么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dirty="0"/>
                  <a:t>可逆，并且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d>
                      <m:dPr>
                        <m:begChr m:val=""/>
                        <m:endChr m:val="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</m:t>
                        </m:r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d>
                  </m:oMath>
                </a14:m>
                <a:endParaRPr lang="zh-CN" alt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zh-CN" alt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它说明：如果一个算子距离恒等算子足够近，那么它不仅可逆，而且逆可以稳定地表示。这在数值分析、</a:t>
                </a:r>
                <a:r>
                  <a:rPr lang="en-US" altLang="zh-CN" dirty="0"/>
                  <a:t>PDE</a:t>
                </a:r>
                <a:r>
                  <a:rPr lang="zh-CN" altLang="en-US" dirty="0"/>
                  <a:t>、残差网络中都有很强的直觉意义。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例如 </a:t>
                </a:r>
                <a:r>
                  <a:rPr lang="en-US" altLang="zh-CN" dirty="0" err="1"/>
                  <a:t>ResNet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的一层可以写成：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↦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dirty="0"/>
                  <a:t> （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）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如果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dirty="0"/>
                  <a:t>的 </a:t>
                </a:r>
                <a:r>
                  <a:rPr lang="en-US" altLang="zh-CN" dirty="0"/>
                  <a:t>Lipschitz </a:t>
                </a:r>
                <a:r>
                  <a:rPr lang="zh-CN" altLang="en-US" dirty="0"/>
                  <a:t>常数足够小，那么这个映射接近恒等映射，因此更稳定，也更容易保持信息。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B530AB9-E144-CA47-664B-2792F082A8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22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0A02DA4B-4401-1B5E-B5FC-802C9643E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6720" y="66747"/>
            <a:ext cx="1828628" cy="774627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2C35D24-A78E-9E3E-9CBA-09E021073800}"/>
              </a:ext>
            </a:extLst>
          </p:cNvPr>
          <p:cNvSpPr txBox="1"/>
          <p:nvPr/>
        </p:nvSpPr>
        <p:spPr>
          <a:xfrm>
            <a:off x="8067660" y="315822"/>
            <a:ext cx="12490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几何级数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382542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862880-0955-872B-6BD2-7E23ACF55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678906"/>
            <a:ext cx="10363200" cy="1500187"/>
          </a:xfrm>
        </p:spPr>
        <p:txBody>
          <a:bodyPr/>
          <a:lstStyle/>
          <a:p>
            <a:pPr algn="ctr"/>
            <a:r>
              <a:rPr kumimoji="1" lang="en-US" altLang="ja-JP" sz="5000" dirty="0"/>
              <a:t>Thank you for listening!</a:t>
            </a:r>
            <a:endParaRPr kumimoji="1" lang="ja-JP" altLang="en-US" sz="5000" dirty="0"/>
          </a:p>
        </p:txBody>
      </p:sp>
    </p:spTree>
    <p:extLst>
      <p:ext uri="{BB962C8B-B14F-4D97-AF65-F5344CB8AC3E}">
        <p14:creationId xmlns:p14="http://schemas.microsoft.com/office/powerpoint/2010/main" val="3395547263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ユーザー定義 1">
      <a:majorFont>
        <a:latin typeface="Arial"/>
        <a:ea typeface="FangSong"/>
        <a:cs typeface=""/>
      </a:majorFont>
      <a:minorFont>
        <a:latin typeface="Comic Sans MS"/>
        <a:ea typeface="FangSong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87355</TotalTime>
  <Words>4811</Words>
  <Application>Microsoft Office PowerPoint</Application>
  <PresentationFormat>ワイド画面</PresentationFormat>
  <Paragraphs>509</Paragraphs>
  <Slides>40</Slides>
  <Notes>34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40</vt:i4>
      </vt:variant>
    </vt:vector>
  </HeadingPairs>
  <TitlesOfParts>
    <vt:vector size="48" baseType="lpstr">
      <vt:lpstr>FangSong</vt:lpstr>
      <vt:lpstr>ＭＳ ゴシック</vt:lpstr>
      <vt:lpstr>Arial</vt:lpstr>
      <vt:lpstr>Cambria Math</vt:lpstr>
      <vt:lpstr>Comic Sans MS</vt:lpstr>
      <vt:lpstr>Times New Roman</vt:lpstr>
      <vt:lpstr>Wingdings</vt:lpstr>
      <vt:lpstr>Blank Presentation</vt:lpstr>
      <vt:lpstr>PowerPoint プレゼンテーション</vt:lpstr>
      <vt:lpstr>为什么很多算法在理论上需要完备性？</vt:lpstr>
      <vt:lpstr>场景驱动：误差为什么重要</vt:lpstr>
      <vt:lpstr>误差为什么重要</vt:lpstr>
      <vt:lpstr>不同范数对应不同误差</vt:lpstr>
      <vt:lpstr>算子稳定性：误差传播是否可控？</vt:lpstr>
      <vt:lpstr>误差控制公式</vt:lpstr>
      <vt:lpstr>误差控制公式</vt:lpstr>
      <vt:lpstr>Banach 空间：为什么需要完备性？</vt:lpstr>
      <vt:lpstr>机器学习中如何讨论</vt:lpstr>
      <vt:lpstr>论文1：概率密度作为范数 </vt:lpstr>
      <vt:lpstr>概率密度与范数空间</vt:lpstr>
      <vt:lpstr>概率密度与范数空间</vt:lpstr>
      <vt:lpstr>概率密度与范数空间</vt:lpstr>
      <vt:lpstr>概率密度与范数空间</vt:lpstr>
      <vt:lpstr>概率密度与范数空间</vt:lpstr>
      <vt:lpstr>概率密度与范数空间</vt:lpstr>
      <vt:lpstr>论文2：谱范数（算子范数）控制算子稳定性与复杂度 </vt:lpstr>
      <vt:lpstr>谱范数控制算子稳定性与复杂度</vt:lpstr>
      <vt:lpstr>谱范数控制算子稳定性与复杂度</vt:lpstr>
      <vt:lpstr>谱范数控制算子稳定性与复杂度</vt:lpstr>
      <vt:lpstr>谱范数控制算子稳定性与复杂度</vt:lpstr>
      <vt:lpstr>谱范数控制算子稳定性与复杂度</vt:lpstr>
      <vt:lpstr>谱范数控制算子稳定性与复杂度</vt:lpstr>
      <vt:lpstr>其他相关文献</vt:lpstr>
      <vt:lpstr>文献：Path norm / rescaling-invariant norm：控制 ReLU 网络的“真实复杂度”</vt:lpstr>
      <vt:lpstr>文献：Wasserstein / MMD：用分布空间上的范数或距离控制生成模型误差</vt:lpstr>
      <vt:lpstr>文献：Sobolev / Jacobian 范数：用导数控制函数稳定性</vt:lpstr>
      <vt:lpstr>关于Banach空间的补充</vt:lpstr>
      <vt:lpstr>banach空间中的算子范数</vt:lpstr>
      <vt:lpstr>banach空间中的算子范数</vt:lpstr>
      <vt:lpstr>banach空间中的算子范数</vt:lpstr>
      <vt:lpstr>有界线性算子与连续性</vt:lpstr>
      <vt:lpstr>组合算子的误差传播</vt:lpstr>
      <vt:lpstr>范数选择决定了“关心哪种误差”</vt:lpstr>
      <vt:lpstr>范数相关的代数结构</vt:lpstr>
      <vt:lpstr>范畴 Ban</vt:lpstr>
      <vt:lpstr>Ban 是 enriched category</vt:lpstr>
      <vt:lpstr>逆算子的稳定性</vt:lpstr>
      <vt:lpstr>PowerPoint プレゼンテーション</vt:lpstr>
    </vt:vector>
  </TitlesOfParts>
  <Company>qub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2_csc321</dc:title>
  <dc:creator>sscott</dc:creator>
  <cp:lastModifiedBy>Yiyang Jia</cp:lastModifiedBy>
  <cp:revision>4621</cp:revision>
  <dcterms:created xsi:type="dcterms:W3CDTF">2001-07-30T09:48:22Z</dcterms:created>
  <dcterms:modified xsi:type="dcterms:W3CDTF">2026-05-10T10:48:13Z</dcterms:modified>
</cp:coreProperties>
</file>