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7" r:id="rId2"/>
    <p:sldId id="550" r:id="rId3"/>
    <p:sldId id="512" r:id="rId4"/>
    <p:sldId id="516" r:id="rId5"/>
    <p:sldId id="517" r:id="rId6"/>
    <p:sldId id="518" r:id="rId7"/>
    <p:sldId id="513" r:id="rId8"/>
    <p:sldId id="519" r:id="rId9"/>
    <p:sldId id="544" r:id="rId10"/>
    <p:sldId id="545" r:id="rId11"/>
    <p:sldId id="546" r:id="rId12"/>
    <p:sldId id="547" r:id="rId13"/>
    <p:sldId id="548" r:id="rId14"/>
    <p:sldId id="549" r:id="rId15"/>
    <p:sldId id="520" r:id="rId16"/>
    <p:sldId id="521" r:id="rId17"/>
    <p:sldId id="551" r:id="rId18"/>
    <p:sldId id="318" r:id="rId19"/>
    <p:sldId id="504" r:id="rId20"/>
    <p:sldId id="552" r:id="rId21"/>
    <p:sldId id="553" r:id="rId22"/>
    <p:sldId id="576" r:id="rId23"/>
    <p:sldId id="577" r:id="rId24"/>
    <p:sldId id="554" r:id="rId25"/>
    <p:sldId id="555" r:id="rId26"/>
    <p:sldId id="556" r:id="rId27"/>
    <p:sldId id="563" r:id="rId28"/>
    <p:sldId id="564" r:id="rId29"/>
    <p:sldId id="565" r:id="rId30"/>
    <p:sldId id="557" r:id="rId31"/>
    <p:sldId id="558" r:id="rId32"/>
    <p:sldId id="559" r:id="rId33"/>
    <p:sldId id="560" r:id="rId34"/>
    <p:sldId id="561" r:id="rId35"/>
    <p:sldId id="562" r:id="rId36"/>
    <p:sldId id="566" r:id="rId37"/>
    <p:sldId id="567" r:id="rId38"/>
    <p:sldId id="572" r:id="rId39"/>
    <p:sldId id="571" r:id="rId40"/>
    <p:sldId id="569" r:id="rId41"/>
    <p:sldId id="568" r:id="rId42"/>
    <p:sldId id="574" r:id="rId43"/>
    <p:sldId id="573" r:id="rId44"/>
    <p:sldId id="575" r:id="rId45"/>
    <p:sldId id="503" r:id="rId46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0" y="-8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9D24-F943-8EEE-C053-ED919198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B1F744-D542-6AB4-3782-93A5DC80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38BD68-45DE-80E2-2F0A-729C91B8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6E165B-0A50-3D5C-7287-B82CD006B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582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0EA6-AC9E-58B0-0F70-D7A07C64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4C66F1-7456-9565-6D37-2BA16B69C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85AE17-CBE7-7023-6B07-1411BB16D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473955-B431-4DD9-2060-5160212B7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6671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9AA3-4DC6-4F15-6C14-E17A8F85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8DFDAC-0091-5709-B932-9BC6E928B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CB0508-3D50-833E-5157-E671FD119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4045D4-62D8-7F8F-AEFA-1FEA4D75A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1698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A2E9-B7A4-2F0B-7E7D-69E8FF9E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38E6E2-B836-89FE-FFC3-14A4B9D93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18E57F-1795-3C6B-6459-46C3D78DB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C0497-09F7-152D-570E-02B247A8F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5855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D476-453B-CFB1-E5F8-603C4159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E679F72-E495-45A8-0868-58F03D314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312AED-B614-2B4E-757F-C3CCCB95E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22E0C1-3255-E5CF-07B0-EDAF91AFD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1516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DE31-219A-66E0-1145-F30DACA3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0D30A0-4512-9F93-D3EE-CFAF0904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E7B720F-E53E-6725-C0C5-C76F0CF5E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9CC449-933D-C60E-9561-FFBDA65D3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2549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0FBB-2BE5-19B8-BCFB-7B380CA1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3F080BC-8DAC-8F7E-4D71-2E1479776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4C7ACA-A419-A69D-1EB2-E55FF6010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07883B-0EE5-C3FF-EDCC-8657F57FE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210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EE18-BACB-5A27-327E-37248C53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938D6C-4EC2-2C45-CFA5-410F3C5F6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22AB52-E6B1-1A59-29AA-3B39A457A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CA851E-2193-4634-9EBF-CE388BD61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283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23EA-BEB3-3A76-2AD9-E38307DC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B51307-9897-AB4C-9496-9A09746C0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53A51E-17B9-5B8C-8E11-D5AD78D34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73EFBD-7293-C35D-8DC3-7BDBAB3D5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3946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53BA-D95F-B8F5-26C1-63365DCB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B850F7-3800-C5CE-D23D-51C009CE8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91330AB-2C74-A5A1-4E73-9CA8498BA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DC7292-2A9D-E6EB-2F2C-F570A9AC7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985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2CDF-A33A-7BA0-8F1C-33EDCDE5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921AE1C-A525-BE2B-303C-21F570AC0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4E477D-2660-2A5B-00A6-125381762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946B0D-02F2-C743-3971-50CD2DF56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0908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6A58-79E7-7484-DB56-4C646F4F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11FF6A7-B3D0-F6F9-22B7-50894C0BB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8E0B11-F326-2D2C-74FD-051BC81B2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8ACC53-692E-6C55-EB8D-5BE31911C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7018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9147-8078-42C1-5D18-760D253D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1E3578-B9A4-26F1-C6D1-2074EE16F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6BD658-5EF3-8AB8-447B-27CE8E632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38FCB9-9FD5-D5AC-D9DA-61BFE1235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8493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7644-55CC-1822-EB9B-218A65AC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1BC7A8C-E8EB-E8C3-F74B-019957F21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C2A668A-040D-7E5E-39E3-B28BD83F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F2A4B1-9A45-92FD-F2DF-A617EE9D6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3309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053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BCB8-A87B-7620-00B3-AD5C69D9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DF49E3D-E4D3-2D58-5C1F-CBF90A8E6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E7A85CE-EE9A-276E-7447-CD01522E7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E2C61E-75C7-3C0D-80FB-B87493E27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128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E82A-7FF2-EC7A-7224-EAE61F89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69E2E9-568E-77CA-2907-07EEE8DDB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CD2AA6-FEF4-97C9-B16C-4B8267231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3646E8-77D2-63C9-030C-1ABAC226F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8553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85D8-C88A-CE31-4BB9-22100B1F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1698A1-03C0-63A3-2BA1-830054A36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E953CB-9573-CA44-3834-E39FEEDB6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B8015-549F-24D6-7391-2E0661B5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43011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0043-8654-451D-D631-77F80B29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2866BB-0BAC-16F8-4F70-17D1C0B22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524753E-5B39-B1F3-28E4-B7FCE49F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F8955D-2BCB-FEC2-DF45-304EE066F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5245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F4E4-CDF6-0D68-F90F-AC2AD4CF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4CF4E10-2DF4-740E-4DB2-06399AD8C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4B58C7-CBF8-F5F9-71CF-A33E7BDF5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C28A5-E066-7B4F-BA3F-77950D60D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1986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B8B0-7BF1-232E-9FC0-439CD2A9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820D32A-EA17-5BDF-FC18-7FC9361F8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7A546B-FBD2-C4DC-F972-EC6FB8D1A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5CA24-32FB-B220-5B4B-4FBC67D48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8086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D419-48F0-867A-B094-15E6A8DD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7F5C19-607F-3F77-646E-6994EE506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BF2FA4-9BEE-1942-B26A-213C356F7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4EDADC-E06F-9518-404A-889824F49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0071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2659-9B81-AD69-7803-6B840EDF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781F38-1D02-51A5-7807-F37D45EE9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339879C-48C0-07DE-1B63-1F89DBCCE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051382-6C12-50FF-F35C-7640EA795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2386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77F-452E-FC19-3DE3-2AA80205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3D28FBF-9992-810E-6BB9-EA08B662A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BDD1E0E-E9F3-CE80-3B12-D93282EB3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AEDFF8-2694-8167-3E45-B5EBAEAE5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3272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3244-583B-31D4-A722-F71EFA11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6DC8DB6-90F3-5B2C-EBA2-10D641A50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3277EE-95BC-653B-8F9D-2E38E47C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182313-3B94-2C9C-9506-8E9F6E137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6702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A35C-24A7-021C-58B9-2CAEFE34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95255DC-C6D5-29B2-DD5C-9EFD1857F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96CA22-2D1F-73C0-21DC-344E0C7A1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2A6D1E-B414-8768-6DFC-CDCA83DAA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8462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1E14-F1FF-3508-732D-879C14A0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104E83C-55C2-AFB0-00A7-1CACA40AC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4C0EE1-C627-5FFF-E15C-042C94A94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E3A11E-1F76-3A00-5060-D75B27A5F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7591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4225-B8C1-235A-C7D3-F379F09E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FAB3E3-644C-A076-7BE2-70056B4A0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2EC7E6-AB13-BE78-BA19-F99C83532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E07971-3C56-06B6-EABD-9B922DFE6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16960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52FD-BAD5-3E96-A437-3BC15EFE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D7BC4B-87C7-7861-AFF1-6D1835C8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467888-7CF1-5FD1-7DA0-0936E2811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270AE4-392B-6C24-9C20-0E34FC66C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0654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9C97-8832-B56D-6DC7-2AD3E5B2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2E0C66-FDB6-93A6-F9FA-6346E3333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0000A7-49D0-0B33-BE5A-188BC92F2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BAB889-40AE-4713-80D3-8F4EC8F6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4679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9B8F-B5A1-F1D5-E4C2-97127525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AF28D6-5ABD-24B3-DB5A-09A21DED7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733689-2C95-60E5-CB98-58FF93A4F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7439E-73D3-AB15-DEB6-8012F8499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624406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9F80-C2DF-17A0-AB64-F939574E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6F2E30-84A7-4591-C9CA-5A0C21EE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A03020-68F5-3F81-02A1-EDE4864A4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62E782-4A67-35CB-8F58-6ABD4D276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8666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4A92-BEF0-6951-F96B-87A64708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85AEBA1-232D-C1D2-2E37-A7FE2225D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66A557A-DE90-F968-6C2F-7B6936588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B815F0-CDE5-07C9-A9D4-3E8577061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007977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A50B-731C-8F9F-2DAA-B205AC23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60378EA-963D-560A-859D-5BC3CC637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870617A-A65D-BF4A-5D4F-BDFCCCE8A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3B3158-7CCE-BD00-7D66-AE963253F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84882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AB5D-3AB5-C647-DD23-C8B5A85A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52ADA8-7600-B858-BADF-A4BA34B53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6F55A0D-6B8F-4217-8EE7-6CE6E2D46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30F6AD-2F9B-E6D2-E70D-D62226B36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85043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ED86-4FE0-91DB-D944-1658EFF9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59CF69-8453-EC95-B571-928227448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1310A1-7D2D-4E80-0E89-1511A5291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95315D-714B-4191-2E1C-55A9D35C9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79437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6EBB-9250-A704-F375-0DCE3992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6FCEB0-E004-3CB8-B39D-5C2A7D5F4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9680BC-30D3-90C7-D17B-D4B09ECE2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130693-822B-3E30-6374-C9AE9C810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53762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0459-AEE2-B49A-D39F-CAAF0DF0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157D65-BD67-92C1-6234-20D210B12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405B95-BEA4-D018-8726-BC42E2121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D28AB8-27A8-70BE-A329-9E49F61AA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26742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DC32-D7DC-572A-003C-60DAEED3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6F36195-6167-F2A9-41F7-97F6AF479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D91468-C3C5-B91A-B776-E0B30AF5C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FDE02F-66EA-9041-454F-A2C7EE250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565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第三讲 距离与收敛：如何比较两个函数？</a:t>
            </a:r>
          </a:p>
          <a:p>
            <a:pPr>
              <a:defRPr/>
            </a:pP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(3)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18812-E6F5-BD75-9287-DE197EAE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第一节的内容复习部分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1376A4-EFA7-7F39-8C97-B1DB3E2F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2265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742A-F3B0-B5FC-F001-90792E35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E0C5DE-B7CA-CE05-FCF0-107E1E9E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每点都接近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最大误差小（不管看哪个点，误差都不会超过某个上界）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最直观的想法，常用</a:t>
                </a:r>
                <a:r>
                  <a:rPr lang="en-US" altLang="zh-CN" dirty="0"/>
                  <a:t>sup</a:t>
                </a:r>
                <a:r>
                  <a:rPr lang="zh-CN" altLang="en-US" dirty="0"/>
                  <a:t>距离或是一致距离：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r>
                  <a:rPr lang="ja-JP" altLang="en-US" dirty="0"/>
                  <a:t>在区间 </a:t>
                </a:r>
                <a:r>
                  <a:rPr lang="en-US" altLang="ja-JP" dirty="0"/>
                  <a:t>[0, 1] </a:t>
                </a:r>
                <a:r>
                  <a:rPr lang="ja-JP" altLang="en-US" dirty="0"/>
                  <a:t>上</a:t>
                </a:r>
                <a:r>
                  <a:rPr lang="zh-CN" altLang="en-US" dirty="0"/>
                  <a:t>，考虑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对每个固定的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，有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并且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，但每个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都连续，而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不连续。因此每点接近不保证“整体都接近”，也不保证极限函数保持连续。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类比</a:t>
                </a:r>
                <a:r>
                  <a:rPr lang="ja-JP" altLang="en-US" dirty="0"/>
                  <a:t>过拟合</a:t>
                </a:r>
                <a:r>
                  <a:rPr lang="zh-CN" altLang="en-US" dirty="0"/>
                  <a:t>：有限训练样本点上预测都很接近真实值；但在样本之间的区域，函数可能差很多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一致距离关心：最坏位置的误差；整个函数图像是否整体贴近。机器学习中对应鲁棒性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最坏情形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23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55DCAE06-31BB-D18A-E7CB-9F45EE39F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211" y="3983770"/>
            <a:ext cx="5174193" cy="98447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F3E5D18-8297-9026-3B7D-29C376755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199" y="2885707"/>
            <a:ext cx="4059783" cy="6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F46-1375-9D08-D112-44369C6C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DC0B792-A19D-0358-B10F-5CBE3DFA8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4799CF-97C9-61FD-BAFB-3D9056DBB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平均误差小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定义：</a:t>
                </a:r>
                <a:r>
                  <a:rPr lang="ja-JP" altLang="en-US" dirty="0"/>
                  <a:t>在定义域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</a:t>
                </a:r>
                <a:r>
                  <a:rPr lang="zh-CN" altLang="en-US" dirty="0"/>
                  <a:t>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），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距离，表示平均绝对误差；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距离，表示均方误差的平方根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机器学习中，对应经验风险最小化里常见的损失，关心总体误差。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MAE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比如概率分布上的函数：如果输入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函数接近：在数据分布下，平均预测误差小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4799CF-97C9-61FD-BAFB-3D9056DBB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7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995CC29-C51B-6675-487D-96227551D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0" y="2967347"/>
            <a:ext cx="4327565" cy="8655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78DDB16-AF19-CA5B-C093-322B100B3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278" y="5745480"/>
            <a:ext cx="4271551" cy="5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0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3EBE-4635-C92B-E3CE-5A9E2F34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4585F6-FA7D-7AA3-18E9-916E534D6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AF1C1C-AC5F-83BB-1A65-CFFEB73F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导数接近：</a:t>
                </a:r>
                <a:r>
                  <a:rPr lang="en-US" altLang="ja-JP" dirty="0"/>
                  <a:t> </a:t>
                </a: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距离、</a:t>
                </a:r>
                <a:r>
                  <a:rPr lang="en-US" altLang="ja-JP" dirty="0"/>
                  <a:t>Sobolev </a:t>
                </a:r>
                <a:r>
                  <a:rPr lang="ja-JP" altLang="en-US" dirty="0"/>
                  <a:t>距离</a:t>
                </a:r>
                <a:endParaRPr lang="zh-CN" altLang="en-US" b="1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</a:t>
                </a:r>
                <a:r>
                  <a:rPr lang="zh-CN" altLang="en-US" dirty="0"/>
                  <a:t>：若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可微，可定义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ja-JP" sz="1000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要求：函数值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接近；导数也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接近。</a:t>
                </a:r>
                <a:endParaRPr lang="en-US" altLang="ja-JP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机器学习中，有时两个模型在输出值上很接近；但一个模型对输入特别敏感，梯度很大；这会影响稳定性、可解释性、鲁棒性。比如在深度学习里，有时希望控制输入梯度：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不要太大。这是在控制“导数意义上的接近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平滑”。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Sobolev </a:t>
                </a:r>
                <a:r>
                  <a:rPr lang="zh-CN" altLang="en-US" dirty="0"/>
                  <a:t>距离：平均意义下连导数也一起控制，</a:t>
                </a:r>
                <a:r>
                  <a:rPr lang="ja-JP" altLang="en-US" dirty="0"/>
                  <a:t>一维</a:t>
                </a:r>
                <a:r>
                  <a:rPr lang="zh-CN" altLang="en-US" dirty="0"/>
                  <a:t>时范数：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由此定义距离：                                          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表示：函数值平均上接近；导数平均上也接近。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>
                    <a:latin typeface="+mj-ea"/>
                    <a:ea typeface="+mj-ea"/>
                  </a:rPr>
                  <a:t>和机器学习中的</a:t>
                </a:r>
                <a:r>
                  <a:rPr lang="en-US" altLang="zh-CN" dirty="0">
                    <a:latin typeface="+mj-ea"/>
                    <a:ea typeface="+mj-ea"/>
                  </a:rPr>
                  <a:t>Sobolev training</a:t>
                </a:r>
                <a:r>
                  <a:rPr lang="zh-CN" altLang="en-US" dirty="0"/>
                  <a:t>、梯度匹配、物理约束学习（</a:t>
                </a:r>
                <a:r>
                  <a:rPr lang="en-US" altLang="ja-JP" dirty="0">
                    <a:latin typeface="+mj-ea"/>
                    <a:ea typeface="+mj-ea"/>
                  </a:rPr>
                  <a:t>Physics-Informed N</a:t>
                </a:r>
                <a:r>
                  <a:rPr lang="en-US" altLang="zh-CN" dirty="0">
                    <a:latin typeface="+mj-ea"/>
                    <a:ea typeface="+mj-ea"/>
                  </a:rPr>
                  <a:t>Ns</a:t>
                </a:r>
                <a:r>
                  <a:rPr lang="zh-CN" altLang="en-US" dirty="0"/>
                  <a:t>）有关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AF1C1C-AC5F-83BB-1A65-CFFEB73F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  <a:blipFill>
                <a:blip r:embed="rId3"/>
                <a:stretch>
                  <a:fillRect l="-529" t="-1009" r="-212" b="-73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DB1001A-6E20-8D53-7A24-C09D05579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329" y="2425464"/>
            <a:ext cx="6449082" cy="56665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DFBA27F-80BF-BBD6-3FC9-3AE8A5343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210" y="4846169"/>
            <a:ext cx="4469870" cy="685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4F93BE9-E7F3-4CB7-22A6-0874C98F7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761" y="5634503"/>
            <a:ext cx="3020568" cy="4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9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B2D8-9B21-1336-9D3B-61E32233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38CA915-A7E3-E43F-7794-EC6C342AE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A78561B-D2BF-1B3F-5748-A6414FD5FF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 marL="0" indent="0"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范畴上看：                    </a:t>
                </a:r>
                <a:r>
                  <a:rPr lang="zh-CN" altLang="en-US" b="1" dirty="0"/>
                  <a:t>最基本的层次：对象 </a:t>
                </a:r>
                <a:r>
                  <a:rPr lang="en-US" altLang="zh-CN" b="1" dirty="0"/>
                  <a:t>+ </a:t>
                </a:r>
                <a:r>
                  <a:rPr lang="zh-CN" altLang="en-US" b="1" dirty="0"/>
                  <a:t>结构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可以把不同的函数空间看成不同的“对象”：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：连续函数空间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：平方可积函数空间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：一阶连续可导函数空间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空间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它们不只是“集合”，还带着额外结构：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范数，距离，线性结构，拓扑，内积等等， 所以可视为不同范畴中的对象，例如：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Met</a:t>
                </a:r>
                <a:r>
                  <a:rPr lang="zh-CN" altLang="en-US" dirty="0"/>
                  <a:t>：度量空间与 </a:t>
                </a:r>
                <a:r>
                  <a:rPr lang="en-US" altLang="zh-CN" dirty="0"/>
                  <a:t>1-Lipschitz </a:t>
                </a:r>
                <a:r>
                  <a:rPr lang="zh-CN" altLang="en-US" dirty="0"/>
                  <a:t>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 err="1">
                    <a:solidFill>
                      <a:srgbClr val="C00000"/>
                    </a:solidFill>
                  </a:rPr>
                  <a:t>NormedVect</a:t>
                </a:r>
                <a:r>
                  <a:rPr lang="zh-CN" altLang="en-US" dirty="0"/>
                  <a:t>：赋范线性空间与连续线性映射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Hilb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空间与有界线性算子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Ban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空间与有界线性算子                           （在后续课程中会出现）</a:t>
                </a:r>
              </a:p>
              <a:p>
                <a:pPr marL="0" indent="0"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A78561B-D2BF-1B3F-5748-A6414FD5F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61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6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3C554-55B8-8407-AFF1-26D4B426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2ECC36-EACD-7BC2-F68E-8C4D22D61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565B8B-3D56-C243-699F-595B814A57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对数列来说，“收敛”通常只有一种直观理解；但对函数列来说，“收敛”有很多种，因为函数可以从不同角度比较。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是每个点都趋近吗？是整个图像整体贴近吗？是平均误差变小吗？</a:t>
                </a: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逐点收敛（在“每一个单独点上”检查收敛）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ja-JP" altLang="en-US" dirty="0"/>
                  <a:t>是一列函数，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l-GR" altLang="ja-JP" dirty="0"/>
                  <a:t> </a:t>
                </a:r>
                <a:r>
                  <a:rPr lang="ja-JP" altLang="en-US" dirty="0"/>
                  <a:t>是一个函数。若对每个固定的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ja-JP" altLang="el-GR" dirty="0"/>
                  <a:t>，</a:t>
                </a:r>
                <a:r>
                  <a:rPr lang="ja-JP" altLang="en-US" dirty="0"/>
                  <a:t>都有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ar-AE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    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都是连续函数，但极限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却不是连续函数。说明逐点收敛不能保证连续性被保留下来。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机器学习的过拟合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565B8B-3D56-C243-699F-595B814A5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r="-375" b="-38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E9AE4A5B-3439-19D7-2F38-5DC49A7CD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493" y="5098767"/>
            <a:ext cx="1533333" cy="56190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C787180-21DD-3BCE-B3AF-0382A4A94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657" y="4942896"/>
            <a:ext cx="3114286" cy="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3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47E3-02BC-76FE-BD66-582FEF74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8DBC4A-178B-BB62-E8FC-1F0705B85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9423C7-1D19-1202-10CD-0524822DF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一致收敛（整个函数图像整体接近）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dirty="0"/>
                  <a:t>存在同一个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，使得当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时，所有点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的误差都同时很小。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机器学习直觉：不只是平均预测好，而是对整个输入空间都控制住误差。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如果模型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一致收敛到真函数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，则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 marL="457200" lvl="1" indent="0">
                  <a:buNone/>
                </a:pPr>
                <a:r>
                  <a:rPr lang="zh-CN" altLang="en-US" dirty="0"/>
                  <a:t>    所有输入点都越来越准。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2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统计学习理论中的 </a:t>
                </a:r>
                <a:r>
                  <a:rPr lang="en-US" altLang="ja-JP" dirty="0">
                    <a:solidFill>
                      <a:srgbClr val="C00000"/>
                    </a:solidFill>
                    <a:latin typeface="+mj-ea"/>
                    <a:ea typeface="+mj-ea"/>
                  </a:rPr>
                  <a:t>uniform convergence</a:t>
                </a:r>
                <a:r>
                  <a:rPr lang="zh-CN" altLang="en-US" dirty="0"/>
                  <a:t>（不是对某个单独函数控制，而是对整个范围同时控制。 ）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9423C7-1D19-1202-10CD-0524822DF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6B323FB-311C-102E-FE36-2E0CEBDBA2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80"/>
          <a:stretch>
            <a:fillRect/>
          </a:stretch>
        </p:blipFill>
        <p:spPr>
          <a:xfrm>
            <a:off x="1862188" y="2933405"/>
            <a:ext cx="3092983" cy="67713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AFE5395-28DC-6743-215E-E68D3D727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222" y="4331208"/>
            <a:ext cx="3031131" cy="60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8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5E83-64F1-ABD7-4FBC-00E2EA5F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573948C-91D5-C2F1-2373-80704C4F6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2C53C83-1D59-EFED-A99D-A28EAE5BA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每点都接近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最大误差小（不管看哪个点，误差都不会超过某个上界）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最直观的想法，常用</a:t>
                </a:r>
                <a:r>
                  <a:rPr lang="en-US" altLang="zh-CN" dirty="0"/>
                  <a:t>sup</a:t>
                </a:r>
                <a:r>
                  <a:rPr lang="zh-CN" altLang="en-US" dirty="0"/>
                  <a:t>距离或是一致距离：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r>
                  <a:rPr lang="ja-JP" altLang="en-US" dirty="0"/>
                  <a:t>在区间 </a:t>
                </a:r>
                <a:r>
                  <a:rPr lang="en-US" altLang="ja-JP" dirty="0"/>
                  <a:t>[0, 1] </a:t>
                </a:r>
                <a:r>
                  <a:rPr lang="ja-JP" altLang="en-US" dirty="0"/>
                  <a:t>上</a:t>
                </a:r>
                <a:r>
                  <a:rPr lang="zh-CN" altLang="en-US" dirty="0"/>
                  <a:t>，考虑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对每个固定的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，有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并且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，但每个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都连续，而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不连续。因此每点接近不保证“整体都接近”，也不保证极限函数保持连续。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类比</a:t>
                </a:r>
                <a:r>
                  <a:rPr lang="ja-JP" altLang="en-US" dirty="0"/>
                  <a:t>过拟合</a:t>
                </a:r>
                <a:r>
                  <a:rPr lang="zh-CN" altLang="en-US" dirty="0"/>
                  <a:t>：有限训练样本点上预测都很接近真实值；但在样本之间的区域，函数可能差很多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一致距离关心：最坏位置的误差；整个函数图像是否整体贴近。机器学习中对应鲁棒性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最坏情形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2C53C83-1D59-EFED-A99D-A28EAE5BA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23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85C99839-19A0-C735-D87C-D95FBA189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211" y="3983770"/>
            <a:ext cx="5174193" cy="98447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79E4A42-B166-8DDF-15F9-55DB11683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199" y="2885707"/>
            <a:ext cx="4059783" cy="6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0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78DD-9B3E-E645-69A3-F8CAA257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081C3BF-854D-EA9D-3C99-10CE9422C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D775D8B-9D8F-1942-BC26-B28BD52F63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平均误差小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定义：</a:t>
                </a:r>
                <a:r>
                  <a:rPr lang="ja-JP" altLang="en-US" dirty="0"/>
                  <a:t>在定义域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</a:t>
                </a:r>
                <a:r>
                  <a:rPr lang="zh-CN" altLang="en-US" dirty="0"/>
                  <a:t>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），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距离，表示平均绝对误差；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距离，表示均方误差的平方根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机器学习中，对应经验风险最小化里常见的损失，关心总体误差。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MAE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比如概率分布上的函数：如果输入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函数接近：在数据分布下，平均预测误差小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D775D8B-9D8F-1942-BC26-B28BD52F6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7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BEE1D98E-87DF-BE85-B91E-134C117AB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0" y="2967347"/>
            <a:ext cx="4327565" cy="8655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52BAB61-D842-18A4-9133-5EEA0627D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278" y="5745480"/>
            <a:ext cx="4271551" cy="5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3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E7D5-F3A9-BA4D-47AB-D71CA82F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26FAB75-D006-7621-C0D2-B80C5D219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0F3B8F-68B8-8965-4C92-9A650866B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导数接近：</a:t>
                </a:r>
                <a:r>
                  <a:rPr lang="en-US" altLang="ja-JP" dirty="0"/>
                  <a:t> </a:t>
                </a: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距离、</a:t>
                </a:r>
                <a:r>
                  <a:rPr lang="en-US" altLang="ja-JP" dirty="0"/>
                  <a:t>Sobolev </a:t>
                </a:r>
                <a:r>
                  <a:rPr lang="ja-JP" altLang="en-US" dirty="0"/>
                  <a:t>距离</a:t>
                </a:r>
                <a:endParaRPr lang="zh-CN" altLang="en-US" b="1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</a:t>
                </a:r>
                <a:r>
                  <a:rPr lang="zh-CN" altLang="en-US" dirty="0"/>
                  <a:t>：若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可微，可定义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ja-JP" sz="1000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要求：函数值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接近；导数也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接近。</a:t>
                </a:r>
                <a:endParaRPr lang="en-US" altLang="ja-JP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机器学习中，有时两个模型在输出值上很接近；但一个模型对输入特别敏感，梯度很大；这会影响稳定性、可解释性、鲁棒性。比如在深度学习里，有时希望控制输入梯度：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不要太大。这是在控制“导数意义上的接近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平滑”。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Sobolev </a:t>
                </a:r>
                <a:r>
                  <a:rPr lang="zh-CN" altLang="en-US" dirty="0"/>
                  <a:t>距离：平均意义下连导数也一起控制，</a:t>
                </a:r>
                <a:r>
                  <a:rPr lang="ja-JP" altLang="en-US" dirty="0"/>
                  <a:t>一维</a:t>
                </a:r>
                <a:r>
                  <a:rPr lang="zh-CN" altLang="en-US" dirty="0"/>
                  <a:t>时范数：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由此定义距离：                                          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表示：函数值平均上接近；导数平均上也接近。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>
                    <a:latin typeface="+mj-ea"/>
                    <a:ea typeface="+mj-ea"/>
                  </a:rPr>
                  <a:t>和机器学习中的</a:t>
                </a:r>
                <a:r>
                  <a:rPr lang="en-US" altLang="zh-CN" dirty="0">
                    <a:latin typeface="+mj-ea"/>
                    <a:ea typeface="+mj-ea"/>
                  </a:rPr>
                  <a:t>Sobolev training</a:t>
                </a:r>
                <a:r>
                  <a:rPr lang="zh-CN" altLang="en-US" dirty="0"/>
                  <a:t>、梯度匹配、物理约束学习（</a:t>
                </a:r>
                <a:r>
                  <a:rPr lang="en-US" altLang="ja-JP" dirty="0">
                    <a:latin typeface="+mj-ea"/>
                    <a:ea typeface="+mj-ea"/>
                  </a:rPr>
                  <a:t>Physics-Informed N</a:t>
                </a:r>
                <a:r>
                  <a:rPr lang="en-US" altLang="zh-CN" dirty="0">
                    <a:latin typeface="+mj-ea"/>
                    <a:ea typeface="+mj-ea"/>
                  </a:rPr>
                  <a:t>Ns</a:t>
                </a:r>
                <a:r>
                  <a:rPr lang="zh-CN" altLang="en-US" dirty="0"/>
                  <a:t>）有关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0F3B8F-68B8-8965-4C92-9A650866B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  <a:blipFill>
                <a:blip r:embed="rId3"/>
                <a:stretch>
                  <a:fillRect l="-529" t="-1009" r="-212" b="-73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41436AA7-A6A2-CBCD-B39B-146A26B60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329" y="2425464"/>
            <a:ext cx="6449082" cy="56665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313381D-7BE4-62B7-5E4B-3C4C8211E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210" y="4846169"/>
            <a:ext cx="4469870" cy="685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67CD1C6-5EE5-B9FD-C4BB-08B83E584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761" y="5634503"/>
            <a:ext cx="3020568" cy="4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9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498E-AF15-68F6-DA93-7F8EFEC9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8B70093-8771-506C-66F7-7F4722942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563D45D-E1CC-A7E1-66A6-2CF86B0B5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 marL="0" indent="0"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范畴上看：                    </a:t>
                </a:r>
                <a:r>
                  <a:rPr lang="zh-CN" altLang="en-US" b="1" dirty="0"/>
                  <a:t>最基本的层次：对象 </a:t>
                </a:r>
                <a:r>
                  <a:rPr lang="en-US" altLang="zh-CN" b="1" dirty="0"/>
                  <a:t>+ </a:t>
                </a:r>
                <a:r>
                  <a:rPr lang="zh-CN" altLang="en-US" b="1" dirty="0"/>
                  <a:t>结构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可以把不同的函数空间看成不同的“对象”：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：连续函数空间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：平方可积函数空间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：一阶连续可导函数空间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空间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它们不只是“集合”，还带着额外结构：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范数，距离，线性结构，拓扑，内积等等， 所以可视为不同范畴中的对象，例如：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Met</a:t>
                </a:r>
                <a:r>
                  <a:rPr lang="zh-CN" altLang="en-US" dirty="0"/>
                  <a:t>：度量空间与 </a:t>
                </a:r>
                <a:r>
                  <a:rPr lang="en-US" altLang="zh-CN" dirty="0"/>
                  <a:t>1-Lipschitz </a:t>
                </a:r>
                <a:r>
                  <a:rPr lang="zh-CN" altLang="en-US" dirty="0"/>
                  <a:t>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 err="1">
                    <a:solidFill>
                      <a:srgbClr val="C00000"/>
                    </a:solidFill>
                  </a:rPr>
                  <a:t>NormedVect</a:t>
                </a:r>
                <a:r>
                  <a:rPr lang="zh-CN" altLang="en-US" dirty="0"/>
                  <a:t>：赋范线性空间与连续线性映射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Hilb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空间与有界线性算子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Ban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空间与有界线性算子                           （在后续课程中会出现）</a:t>
                </a:r>
              </a:p>
              <a:p>
                <a:pPr marL="0" indent="0"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563D45D-E1CC-A7E1-66A6-2CF86B0B5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61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968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AAF8-83DB-0332-B681-42948FCC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0B13C7C-E09B-2D8C-E15A-52D3E4664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E32E20A-60D1-17B6-FF30-0E1931256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对数列来说，“收敛”通常只有一种直观理解；但对函数列来说，“收敛”有很多种，因为函数可以从不同角度比较。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是每个点都趋近吗？是整个图像整体贴近吗？是平均误差变小吗？</a:t>
                </a: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逐点收敛（在“每一个单独点上”检查收敛）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ja-JP" altLang="en-US" dirty="0"/>
                  <a:t>是一列函数，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l-GR" altLang="ja-JP" dirty="0"/>
                  <a:t> </a:t>
                </a:r>
                <a:r>
                  <a:rPr lang="ja-JP" altLang="en-US" dirty="0"/>
                  <a:t>是一个函数。若对每个固定的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ja-JP" altLang="el-GR" dirty="0"/>
                  <a:t>，</a:t>
                </a:r>
                <a:r>
                  <a:rPr lang="ja-JP" altLang="en-US" dirty="0"/>
                  <a:t>都有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ar-AE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    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都是连续函数，但极限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却不是连续函数。说明逐点收敛不能保证连续性被保留下来。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机器学习的过拟合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E32E20A-60D1-17B6-FF30-0E1931256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r="-375" b="-26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093A6312-87E1-1C00-145B-156EE5290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493" y="5098767"/>
            <a:ext cx="1533333" cy="56190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C21726B-C284-B1CB-D84D-96E5D21AB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657" y="4942896"/>
            <a:ext cx="3114286" cy="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6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58F7-ABD7-D5A1-31A6-512FE2AE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E87C5B-0AD5-0F3A-84AD-9A0A48FEB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C0BF77C-DC16-3E3A-CD80-BDBAE10935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一致收敛（整个函数图像整体接近）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dirty="0"/>
                  <a:t>存在同一个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，使得当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时，所有点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的误差都同时很小。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机器学习直觉：不只是平均预测好，而是对整个输入空间都控制住误差。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如果模型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一致收敛到真函数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，则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 marL="457200" lvl="1" indent="0">
                  <a:buNone/>
                </a:pPr>
                <a:r>
                  <a:rPr lang="zh-CN" altLang="en-US" dirty="0"/>
                  <a:t>    所有输入点都越来越准。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2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统计学习理论中的 </a:t>
                </a:r>
                <a:r>
                  <a:rPr lang="en-US" altLang="ja-JP" dirty="0">
                    <a:solidFill>
                      <a:srgbClr val="C00000"/>
                    </a:solidFill>
                    <a:latin typeface="+mj-ea"/>
                    <a:ea typeface="+mj-ea"/>
                  </a:rPr>
                  <a:t>uniform convergence</a:t>
                </a:r>
                <a:r>
                  <a:rPr lang="zh-CN" altLang="en-US" dirty="0"/>
                  <a:t>（不是对某个单独函数控制，而是对整个范围同时控制。 ）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C0BF77C-DC16-3E3A-CD80-BDBAE10935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B8038093-436B-40F1-BA5B-9B0EB27727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80"/>
          <a:stretch>
            <a:fillRect/>
          </a:stretch>
        </p:blipFill>
        <p:spPr>
          <a:xfrm>
            <a:off x="1862188" y="2933405"/>
            <a:ext cx="3092983" cy="67713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E64E1B-18C6-B815-EADD-0BBB9CAA0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222" y="4331208"/>
            <a:ext cx="3031131" cy="60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3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18F1-F0D1-0B1E-5433-B3E14E8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424B488-30FF-A051-6779-66F1934EF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4397B46-6D44-55A0-4CAE-D89EA1620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3397144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1" dirty="0"/>
                  <a:t>收敛（平方误差的整体平均越来越小）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dirty="0"/>
                  <a:t>要求“总体能量意义下”误差消失。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机器学习：最常见的回归损失 </a:t>
                </a:r>
                <a:r>
                  <a:rPr lang="en-US" altLang="zh-CN" dirty="0"/>
                  <a:t>MSE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None/>
                </a:pPr>
                <a:r>
                  <a:rPr lang="zh-CN" altLang="en-US" dirty="0"/>
                  <a:t>比逐点收敛更贴近实际数据分析，因为实际中我们常关心的是：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在数据分布下平均表现好不好；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总体误差能量是否足够小。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4397B46-6D44-55A0-4CAE-D89EA1620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3397144"/>
              </a:xfrm>
              <a:blipFill>
                <a:blip r:embed="rId3"/>
                <a:stretch>
                  <a:fillRect l="-536" t="-1436" b="-626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D06551F7-66AD-A50C-0E8A-DE9745BB6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2939566"/>
            <a:ext cx="5037953" cy="753004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7B2D1E9-9625-76D0-F46D-7A882377CF19}"/>
              </a:ext>
            </a:extLst>
          </p:cNvPr>
          <p:cNvGrpSpPr/>
          <p:nvPr/>
        </p:nvGrpSpPr>
        <p:grpSpPr>
          <a:xfrm>
            <a:off x="1035170" y="4440656"/>
            <a:ext cx="8936291" cy="888315"/>
            <a:chOff x="1035170" y="4509664"/>
            <a:chExt cx="8936291" cy="88831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E724F58-0C36-6C4B-593B-B123ADCE2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49570" y="4509664"/>
              <a:ext cx="2343005" cy="888315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9FE5FB8-FAC5-BF6A-A962-8368EE07B69D}"/>
                </a:ext>
              </a:extLst>
            </p:cNvPr>
            <p:cNvSpPr txBox="1"/>
            <p:nvPr/>
          </p:nvSpPr>
          <p:spPr>
            <a:xfrm>
              <a:off x="1035170" y="4753766"/>
              <a:ext cx="7677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+mj-ea"/>
                  <a:ea typeface="+mj-ea"/>
                </a:rPr>
                <a:t>离散</a:t>
              </a:r>
              <a:endParaRPr lang="ja-JP" altLang="en-US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5E70746-B461-74C5-D566-9A597E13BFA7}"/>
                </a:ext>
              </a:extLst>
            </p:cNvPr>
            <p:cNvSpPr txBox="1"/>
            <p:nvPr/>
          </p:nvSpPr>
          <p:spPr>
            <a:xfrm>
              <a:off x="6397925" y="4753766"/>
              <a:ext cx="7677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+mj-ea"/>
                  <a:ea typeface="+mj-ea"/>
                </a:rPr>
                <a:t>连续</a:t>
              </a:r>
              <a:endParaRPr lang="ja-JP" altLang="en-US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70C03F83-62ED-DDB6-DBE3-CDFD4E106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59101" y="4710636"/>
              <a:ext cx="2512360" cy="624902"/>
            </a:xfrm>
            <a:prstGeom prst="rect">
              <a:avLst/>
            </a:prstGeom>
          </p:spPr>
        </p:pic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EB2EC8E-8F68-A149-63FA-9A7BAB332CEC}"/>
              </a:ext>
            </a:extLst>
          </p:cNvPr>
          <p:cNvGrpSpPr/>
          <p:nvPr/>
        </p:nvGrpSpPr>
        <p:grpSpPr>
          <a:xfrm>
            <a:off x="8968724" y="5398494"/>
            <a:ext cx="2988483" cy="1374953"/>
            <a:chOff x="7459101" y="5441152"/>
            <a:chExt cx="2988483" cy="1374953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E6210A43-6213-33B5-78CB-04E65807CC9A}"/>
                </a:ext>
              </a:extLst>
            </p:cNvPr>
            <p:cNvSpPr txBox="1"/>
            <p:nvPr/>
          </p:nvSpPr>
          <p:spPr>
            <a:xfrm>
              <a:off x="7459101" y="6015885"/>
              <a:ext cx="13169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一致收敛</a:t>
              </a:r>
              <a:endParaRPr lang="ja-JP" altLang="en-US" dirty="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57584B0-6E03-7069-B9B2-FA818FD82680}"/>
                </a:ext>
              </a:extLst>
            </p:cNvPr>
            <p:cNvSpPr txBox="1"/>
            <p:nvPr/>
          </p:nvSpPr>
          <p:spPr>
            <a:xfrm>
              <a:off x="9100868" y="5441152"/>
              <a:ext cx="12388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逐点收敛</a:t>
              </a:r>
              <a:endParaRPr lang="ja-JP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D20D490-2502-F6AD-4BAE-6F6FC95A434E}"/>
                    </a:ext>
                  </a:extLst>
                </p:cNvPr>
                <p:cNvSpPr txBox="1"/>
                <p:nvPr/>
              </p:nvSpPr>
              <p:spPr>
                <a:xfrm>
                  <a:off x="9208760" y="6415995"/>
                  <a:ext cx="1238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dirty="0"/>
                    <a:t>收敛</a:t>
                  </a:r>
                  <a:endParaRPr lang="ja-JP" altLang="en-US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D20D490-2502-F6AD-4BAE-6F6FC95A4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8760" y="6415995"/>
                  <a:ext cx="1238824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12121" b="-2575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矢印: 右 21">
              <a:extLst>
                <a:ext uri="{FF2B5EF4-FFF2-40B4-BE49-F238E27FC236}">
                  <a16:creationId xmlns:a16="http://schemas.microsoft.com/office/drawing/2014/main" id="{9DA6125D-A40B-E3C0-8778-F8D77905BBC5}"/>
                </a:ext>
              </a:extLst>
            </p:cNvPr>
            <p:cNvSpPr/>
            <p:nvPr/>
          </p:nvSpPr>
          <p:spPr bwMode="auto">
            <a:xfrm rot="19847395">
              <a:off x="8607389" y="5806471"/>
              <a:ext cx="566742" cy="289593"/>
            </a:xfrm>
            <a:prstGeom prst="rightArrow">
              <a:avLst>
                <a:gd name="adj1" fmla="val 34401"/>
                <a:gd name="adj2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3" name="矢印: 右 22">
              <a:extLst>
                <a:ext uri="{FF2B5EF4-FFF2-40B4-BE49-F238E27FC236}">
                  <a16:creationId xmlns:a16="http://schemas.microsoft.com/office/drawing/2014/main" id="{4949F265-2504-6ABC-3C86-E00F10A5B06E}"/>
                </a:ext>
              </a:extLst>
            </p:cNvPr>
            <p:cNvSpPr/>
            <p:nvPr/>
          </p:nvSpPr>
          <p:spPr bwMode="auto">
            <a:xfrm rot="1752605" flipV="1">
              <a:off x="8607390" y="6299252"/>
              <a:ext cx="566742" cy="289593"/>
            </a:xfrm>
            <a:prstGeom prst="rightArrow">
              <a:avLst>
                <a:gd name="adj1" fmla="val 34401"/>
                <a:gd name="adj2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777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D4FC-71E2-2DE1-7148-5F3BEB13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AF39AAD-D83A-C136-1F26-2043B3619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复习：谈距离、收敛与稳定性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464A177-DCEB-EC1F-856F-0CBB334749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范畴上理解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: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不同收敛来自不同结构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en-US" dirty="0"/>
                  <a:t>上配 </a:t>
                </a:r>
                <a:r>
                  <a:rPr lang="en-US" altLang="ja-JP" dirty="0"/>
                  <a:t>sup </a:t>
                </a:r>
                <a:r>
                  <a:rPr lang="ja-JP" altLang="en-US" dirty="0"/>
                  <a:t>范数</a:t>
                </a:r>
                <a:r>
                  <a:rPr lang="zh-CN" altLang="en-US" dirty="0"/>
                  <a:t>得到一致收敛                                      该范数诱导</a:t>
                </a:r>
                <a:r>
                  <a:rPr lang="ja-JP" altLang="en-US" dirty="0"/>
                  <a:t>度量拓扑</a:t>
                </a:r>
                <a:endParaRPr lang="en-US" altLang="zh-CN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上配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范数</a:t>
                </a:r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收敛。                                        </a:t>
                </a:r>
                <a:r>
                  <a:rPr lang="zh-CN" altLang="en-US" dirty="0"/>
                  <a:t>由内积诱导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逐点收敛可看作乘积拓扑下的收敛函数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可以看成坐标族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br>
                  <a:rPr lang="zh-CN" altLang="en-US" dirty="0"/>
                </a:br>
                <a:r>
                  <a:rPr lang="zh-CN" altLang="en-US" dirty="0"/>
                  <a:t>逐点收敛就是这个乘积空间中的坐标逐点收敛。</a:t>
                </a: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事实上，</a:t>
                </a:r>
                <a:r>
                  <a:rPr lang="ja-JP" altLang="en-US" dirty="0"/>
                  <a:t> </a:t>
                </a:r>
                <a:r>
                  <a:rPr lang="zh-CN" altLang="en-US" dirty="0"/>
                  <a:t>收敛”可理解为范畴对象中由范数或拓扑所定义的收敛</a:t>
                </a:r>
                <a:endParaRPr lang="en-US" altLang="zh-CN" dirty="0"/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空间范畴）中的对象</a:t>
                </a:r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Hilb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空间范畴）中的对象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464A177-DCEB-EC1F-856F-0CBB334749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b="-15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BDD7CF5-C616-A8B9-0D1E-A0CB8F947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696" y="2813827"/>
            <a:ext cx="2443980" cy="45824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735E6B7-B9EB-489E-103C-8E6BE37F3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14" y="3393994"/>
            <a:ext cx="2634031" cy="69442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3955095-2B81-5882-4FBB-AFD97DD0CF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560" y="4250800"/>
            <a:ext cx="1643463" cy="80168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1F54264-ED6E-73BE-F348-9CD3637C92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492" y="3405011"/>
            <a:ext cx="2864298" cy="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3D11-F80D-2471-11E7-5BD73535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0E8DD-819E-8DE3-587D-17269F09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本节内容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47294A-D206-C666-50A4-9F673A45E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6687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DB85F4-098D-4349-9D2A-FB16A97F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目标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94308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目标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：理解“不同距离 → 不同极限 → 不同解”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endParaRPr lang="ja-JP" altLang="ja-JP" dirty="0">
                  <a:latin typeface="Arial" panose="020B0604020202020204" pitchFamily="34" charset="0"/>
                </a:endParaRPr>
              </a:p>
              <a:p>
                <a:pPr lvl="0">
                  <a:spcBef>
                    <a:spcPct val="0"/>
                  </a:spcBef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比较函数的方法不止一种； </a:t>
                </a:r>
              </a:p>
              <a:p>
                <a:pPr lvl="0">
                  <a:spcBef>
                    <a:spcPct val="0"/>
                  </a:spcBef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不同的比较方式会导出不同的收敛概念； </a:t>
                </a:r>
              </a:p>
              <a:p>
                <a:pPr lvl="0">
                  <a:spcBef>
                    <a:spcPct val="0"/>
                  </a:spcBef>
                  <a:buClr>
                    <a:srgbClr val="FFC000"/>
                  </a:buClr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不同的收敛概念在应用里对应不同的稳定性要求、误差要求、解的解释。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在函数空间里，“极限”从来不是绝对的，而是相对于所选结构而言的。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例如：</a:t>
                </a:r>
              </a:p>
              <a:p>
                <a:r>
                  <a:rPr lang="zh-CN" altLang="en-US" b="1" dirty="0"/>
                  <a:t>一致范数下收敛</a:t>
                </a:r>
                <a:r>
                  <a:rPr lang="zh-CN" altLang="en-US" dirty="0"/>
                  <a:t>，要求整个区间上误差都小；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dirty="0"/>
                  <a:t>收敛</a:t>
                </a:r>
                <a:r>
                  <a:rPr lang="zh-CN" altLang="en-US" dirty="0"/>
                  <a:t>，只要求“平均平方误差”小； </a:t>
                </a:r>
              </a:p>
              <a:p>
                <a:r>
                  <a:rPr lang="zh-CN" altLang="en-US" b="1" dirty="0"/>
                  <a:t>点态收敛</a:t>
                </a:r>
                <a:r>
                  <a:rPr lang="zh-CN" altLang="en-US" dirty="0"/>
                  <a:t>更弱，只要求每个点单独收敛； </a:t>
                </a:r>
              </a:p>
              <a:p>
                <a:r>
                  <a:rPr lang="zh-CN" altLang="en-US" b="1" dirty="0"/>
                  <a:t>弱收敛</a:t>
                </a:r>
                <a:r>
                  <a:rPr lang="zh-CN" altLang="en-US" dirty="0"/>
                  <a:t>则更进一步，连“函数值本身收敛”都未必要求，而是只要求对所有测试泛函看起来收敛。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943080" cy="4724400"/>
              </a:xfrm>
              <a:blipFill>
                <a:blip r:embed="rId3"/>
                <a:stretch>
                  <a:fillRect l="-562" t="-10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473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D2B0-A651-567D-37C0-42FC43AE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1E01470-38C5-35BA-3D43-641D1A5B6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目标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FCBC3DCE-1E1E-D46D-0541-2500EE37A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287760" cy="4724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目标 </a:t>
            </a:r>
            <a:r>
              <a:rPr lang="en-US" altLang="zh-CN" dirty="0"/>
              <a:t>2</a:t>
            </a:r>
            <a:r>
              <a:rPr lang="zh-CN" altLang="en-US" dirty="0"/>
              <a:t>：理解“度量空间不是一个很好的代数范畴，但 </a:t>
            </a:r>
            <a:r>
              <a:rPr lang="en-US" altLang="zh-CN" dirty="0">
                <a:solidFill>
                  <a:srgbClr val="C00000"/>
                </a:solidFill>
              </a:rPr>
              <a:t>Lipschitz </a:t>
            </a:r>
            <a:r>
              <a:rPr lang="zh-CN" altLang="en-US" dirty="0">
                <a:solidFill>
                  <a:srgbClr val="C00000"/>
                </a:solidFill>
              </a:rPr>
              <a:t>映射</a:t>
            </a:r>
            <a:r>
              <a:rPr lang="zh-CN" altLang="en-US" dirty="0"/>
              <a:t>可以构成范畴”</a:t>
            </a:r>
            <a:endParaRPr lang="en-US" altLang="zh-CN" dirty="0"/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ja-JP" altLang="ja-JP" dirty="0">
              <a:latin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ja-JP" altLang="ja-JP" dirty="0">
                <a:latin typeface="Arial" panose="020B0604020202020204" pitchFamily="34" charset="0"/>
              </a:rPr>
              <a:t>仅有“度量”时，我们可以谈距离、收敛、完备性； 但很多泛函分析中的结构，还需要和</a:t>
            </a:r>
            <a:r>
              <a:rPr lang="ja-JP" altLang="ja-JP" b="1" dirty="0">
                <a:latin typeface="Arial" panose="020B0604020202020204" pitchFamily="34" charset="0"/>
              </a:rPr>
              <a:t>线性结构</a:t>
            </a:r>
            <a:r>
              <a:rPr lang="ja-JP" altLang="ja-JP" dirty="0">
                <a:latin typeface="Arial" panose="020B0604020202020204" pitchFamily="34" charset="0"/>
              </a:rPr>
              <a:t>兼容； </a:t>
            </a:r>
            <a:r>
              <a:rPr lang="en-US" altLang="ja-JP" dirty="0">
                <a:latin typeface="Arial" panose="020B0604020202020204" pitchFamily="34" charset="0"/>
              </a:rPr>
              <a:t> </a:t>
            </a:r>
            <a:r>
              <a:rPr lang="ja-JP" altLang="ja-JP" dirty="0">
                <a:latin typeface="Arial" panose="020B0604020202020204" pitchFamily="34" charset="0"/>
              </a:rPr>
              <a:t>所以光有度量空间还不够，常常要上升到：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赋范空间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内积空间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局部凸空间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Fréchet 空间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Banach 空间 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ja-JP" altLang="ja-JP" dirty="0">
                <a:latin typeface="Arial" panose="020B0604020202020204" pitchFamily="34" charset="0"/>
              </a:rPr>
              <a:t>Hilbert 空间</a:t>
            </a: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ja-JP" altLang="ja-JP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dirty="0"/>
              <a:t>一般连续映射太弱，不保留距离信息； 若考虑 </a:t>
            </a:r>
            <a:r>
              <a:rPr lang="en-US" altLang="zh-CN" b="1" dirty="0"/>
              <a:t>Lipschitz </a:t>
            </a:r>
            <a:r>
              <a:rPr lang="zh-CN" altLang="en-US" b="1" dirty="0"/>
              <a:t>映射</a:t>
            </a:r>
            <a:r>
              <a:rPr lang="zh-CN" altLang="en-US" dirty="0"/>
              <a:t>，则它在度量空间之间保留了定量控制； 因而</a:t>
            </a:r>
            <a:r>
              <a:rPr lang="zh-CN" altLang="en-US" dirty="0">
                <a:solidFill>
                  <a:srgbClr val="C00000"/>
                </a:solidFill>
              </a:rPr>
              <a:t>“度量空间 </a:t>
            </a:r>
            <a:r>
              <a:rPr lang="en-US" altLang="zh-CN" dirty="0">
                <a:solidFill>
                  <a:srgbClr val="C00000"/>
                </a:solidFill>
              </a:rPr>
              <a:t>+ Lipschitz </a:t>
            </a:r>
            <a:r>
              <a:rPr lang="zh-CN" altLang="en-US" dirty="0">
                <a:solidFill>
                  <a:srgbClr val="C00000"/>
                </a:solidFill>
              </a:rPr>
              <a:t>映射”</a:t>
            </a:r>
            <a:r>
              <a:rPr lang="zh-CN" altLang="en-US" dirty="0"/>
              <a:t>比“度量空间 </a:t>
            </a:r>
            <a:r>
              <a:rPr lang="en-US" altLang="zh-CN" dirty="0"/>
              <a:t>+ </a:t>
            </a:r>
            <a:r>
              <a:rPr lang="zh-CN" altLang="en-US" dirty="0"/>
              <a:t>任意连续映射”更适合做某些定量分析。 </a:t>
            </a:r>
          </a:p>
          <a:p>
            <a:pPr marL="0" indent="0" algn="r">
              <a:buNone/>
            </a:pPr>
            <a:r>
              <a:rPr lang="ja-JP" altLang="en-US" dirty="0"/>
              <a:t>→　</a:t>
            </a:r>
            <a:r>
              <a:rPr lang="zh-CN" altLang="en-US" dirty="0"/>
              <a:t>作为“算子有界性”“稳定性估计”“压缩映射”“不动点定理”的铺垫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6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9B82-5BA0-1692-CDDF-BCA0A91F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807EAB-41CD-1DBF-9F9B-3D11C53C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具体场景引入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8A5DBF-67D0-B728-FB91-6F287CEDC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6016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7725-2BBF-E08C-18D4-2E80D596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A6C5EEB-556E-E7E7-E8D8-27B212654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场景 </a:t>
            </a:r>
            <a:r>
              <a:rPr lang="en-US" altLang="zh-CN" b="1" dirty="0"/>
              <a:t>1</a:t>
            </a:r>
            <a:r>
              <a:rPr lang="zh-CN" altLang="en-US" b="1" dirty="0"/>
              <a:t>：逼近问题</a:t>
            </a:r>
            <a:r>
              <a:rPr lang="en-US" altLang="zh-CN" b="1" dirty="0"/>
              <a:t>——</a:t>
            </a:r>
            <a:r>
              <a:rPr lang="zh-CN" altLang="en-US" b="1" dirty="0"/>
              <a:t>为什么“比较函数”不是一件简单的事？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3F8559D-17AB-9DD1-C37A-41CBDF462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我们经常做这样的事情：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用多项式去近似复杂函数； 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用有限项 </a:t>
                </a:r>
                <a:r>
                  <a:rPr lang="en-US" altLang="zh-CN" dirty="0"/>
                  <a:t>Fourier </a:t>
                </a:r>
                <a:r>
                  <a:rPr lang="zh-CN" altLang="en-US" dirty="0"/>
                  <a:t>级数去近似一个信号； 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用数值方法得到一列近似解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，希望它趋近真实解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； 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用神经网络去拟合一个未知目标函数。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也就是说，想要做的不是“求出一个精确对象”，而是：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给定一个目标函数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，构造一列比较简单的函数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，希望它们能够越来越接近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于是，“逼近问题”最核心的问题就变成了：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>
                        <a:solidFill>
                          <a:srgbClr val="C00000"/>
                        </a:solidFill>
                      </a:rPr>
                      <m:t>到底是什么意思</m:t>
                    </m:r>
                    <m:r>
                      <m:rPr>
                        <m:nor/>
                      </m:rPr>
                      <a:rPr lang="zh-CN" altLang="en-US"/>
                      <m:t>？</m:t>
                    </m:r>
                  </m:oMath>
                </a14:m>
                <a:endParaRPr lang="zh-CN" altLang="en-US" b="0" dirty="0"/>
              </a:p>
              <a:p>
                <a:pPr>
                  <a:lnSpc>
                    <a:spcPct val="120000"/>
                  </a:lnSpc>
                </a:pPr>
                <a:endParaRPr lang="en-US" altLang="zh-CN" sz="5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对数列来说，“接近”通常就是普通实数距离：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对函数来说，两个函数之间怎么比较，并没有唯一答案。 </a:t>
                </a:r>
                <a:r>
                  <a:rPr lang="ja-JP" altLang="en-US" dirty="0"/>
                  <a:t>→　</a:t>
                </a:r>
                <a:r>
                  <a:rPr lang="zh-CN" altLang="en-US" dirty="0"/>
                  <a:t>为什么</a:t>
                </a:r>
                <a:r>
                  <a:rPr lang="en-US" altLang="zh-CN" dirty="0"/>
                  <a:t>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600" dirty="0"/>
                  <a:t>设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dirty="0"/>
                  <a:t>。对于某一个点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600" dirty="0"/>
                  <a:t>，可以看它们在这个点的差：</a:t>
                </a:r>
                <a14:m>
                  <m:oMath xmlns:m="http://schemas.openxmlformats.org/officeDocument/2006/math">
                    <m:r>
                      <a:rPr lang="zh-CN" altLang="en-US" sz="1600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zh-CN" altLang="en-US" sz="1600" dirty="0"/>
                  <a:t>，但这只是</a:t>
                </a:r>
                <a:r>
                  <a:rPr lang="zh-CN" altLang="en-US" sz="1600" b="1" dirty="0"/>
                  <a:t>某一个点</a:t>
                </a:r>
                <a:r>
                  <a:rPr lang="zh-CN" altLang="en-US" sz="1600" dirty="0"/>
                  <a:t>的局部信息。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600" dirty="0"/>
                  <a:t>函数是定义在整个区间上的对象，所以如果问“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1600" dirty="0"/>
                  <a:t> 和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1600" dirty="0"/>
                  <a:t>接不接近”，实际上是在问：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600" dirty="0"/>
                  <a:t>如何把所有点上的误差 </a:t>
                </a:r>
                <a14:m>
                  <m:oMath xmlns:m="http://schemas.openxmlformats.org/officeDocument/2006/math">
                    <m:r>
                      <a:rPr lang="zh-CN" altLang="en-US" sz="1600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zh-CN" altLang="en-US" sz="1600" dirty="0"/>
                  <a:t>汇总成一个整体判断？不同的汇总方式，就会给出不同的“逼近标准”。这正是不同距离、不同范数、不同拓扑出现的根本原因。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3F8559D-17AB-9DD1-C37A-41CBDF462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  <a:blipFill>
                <a:blip r:embed="rId3"/>
                <a:stretch>
                  <a:fillRect l="-577" t="-387" b="-220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39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1B30A-2E0F-4E28-C885-DB517666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F996B0A-0C46-6F7E-80C7-C2A6DE4BCE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场景 </a:t>
            </a:r>
            <a:r>
              <a:rPr lang="en-US" altLang="zh-CN" b="1" dirty="0"/>
              <a:t>2</a:t>
            </a:r>
            <a:r>
              <a:rPr lang="zh-CN" altLang="en-US" b="1" dirty="0"/>
              <a:t>：信号误差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A8D4EB9-19DA-500B-50D8-09144DE54B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“信号误差”本质上就是在比较两个函数有多不一样。</a:t>
                </a:r>
                <a:br>
                  <a:rPr lang="zh-CN" altLang="en-US" dirty="0"/>
                </a:br>
                <a:r>
                  <a:rPr lang="zh-CN" altLang="en-US" dirty="0"/>
                  <a:t>因为在很多数学和工程模型里，信号并不是一个单独的数，而是一个随时间、空间或频率变化的量，所以通常把它写成函数：</a:t>
                </a:r>
                <a14:m>
                  <m:oMath xmlns:m="http://schemas.openxmlformats.org/officeDocument/2006/math">
                    <m:r>
                      <a:rPr lang="zh-CN" altLang="en-US" i="1"/>
                      <m:t>𝑥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en-US" altLang="zh-CN"/>
                      <m:t>, </m:t>
                    </m:r>
                    <m:r>
                      <a:rPr lang="zh-CN" altLang="en-US" i="1"/>
                      <m:t>𝑦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可以把：</a:t>
                </a:r>
                <a14:m>
                  <m:oMath xmlns:m="http://schemas.openxmlformats.org/officeDocument/2006/math">
                    <m:r>
                      <a:rPr lang="zh-CN" altLang="en-US" i="1"/>
                      <m:t>𝑥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看成真实信号， </a:t>
                </a:r>
                <a14:m>
                  <m:oMath xmlns:m="http://schemas.openxmlformats.org/officeDocument/2006/math">
                    <m:r>
                      <a:rPr lang="zh-CN" altLang="en-US" i="1"/>
                      <m:t>𝑦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看成重构信号、近似信号、滤波后的信号，或者模型输出。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那么它们的</a:t>
                </a:r>
                <a:r>
                  <a:rPr lang="zh-CN" altLang="en-US" b="1" dirty="0"/>
                  <a:t>误差</a:t>
                </a:r>
                <a:r>
                  <a:rPr lang="zh-CN" altLang="en-US" dirty="0"/>
                  <a:t>自然定义为 </a:t>
                </a:r>
                <a14:m>
                  <m:oMath xmlns:m="http://schemas.openxmlformats.org/officeDocument/2006/math">
                    <m:r>
                      <a:rPr lang="zh-CN" altLang="en-US" i="1"/>
                      <m:t>𝑒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比如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定义为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/>
                      <m:t>𝑥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/>
                      <m:t>−</m:t>
                    </m:r>
                    <m:r>
                      <a:rPr lang="zh-CN" altLang="en-US" i="1"/>
                      <m:t>𝑦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𝑡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能量型误差：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“比较两个信号”就是“比较两个函数”；而“信号误差”就是“两个函数之差有多大”。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A8D4EB9-19DA-500B-50D8-09144DE54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  <a:blipFill>
                <a:blip r:embed="rId3"/>
                <a:stretch>
                  <a:fillRect l="-577" t="-1032" r="-4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ED20F472-D083-F468-CFAE-F44528F8E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720" y="2453639"/>
            <a:ext cx="2928571" cy="45714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349CE2E-6AEE-FEA0-4786-CBC7598A6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057" y="2956502"/>
            <a:ext cx="3302583" cy="73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19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54CD-DBA7-9254-8386-4043C771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CDA7FC2-D68E-8C23-37F8-0E33122C6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场景 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en-US" altLang="zh-CN" b="1" dirty="0"/>
              <a:t>PDE</a:t>
            </a:r>
            <a:r>
              <a:rPr lang="zh-CN" altLang="en-US" b="1" dirty="0"/>
              <a:t>的解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FAFBBD4-F97E-1E65-7CD8-6F8B9F87C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560" y="1066800"/>
                <a:ext cx="1190244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很多 </a:t>
                </a:r>
                <a:r>
                  <a:rPr lang="en-US" altLang="zh-CN" dirty="0"/>
                  <a:t>PDE </a:t>
                </a:r>
                <a:r>
                  <a:rPr lang="zh-CN" altLang="en-US" dirty="0"/>
                  <a:t>的解不是直接写出来的，而是先构造一列近似解，再把近似解取极限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ja-JP" dirty="0"/>
                  <a:t>PDE </a:t>
                </a:r>
                <a:r>
                  <a:rPr lang="ja-JP" altLang="en-US" dirty="0"/>
                  <a:t>通常很难直接求显式解。因此常见方法都是：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先把原问题变成一列更容易处理的问题；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得到一列近似解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ar-AE" altLang="ja-JP"/>
                          <m:t>1</m:t>
                        </m:r>
                      </m:sub>
                    </m:sSub>
                    <m:r>
                      <a:rPr lang="ar-AE" altLang="ja-JP"/>
                      <m:t>,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ar-AE" altLang="ja-JP"/>
                          <m:t>2</m:t>
                        </m:r>
                      </m:sub>
                    </m:sSub>
                    <m:r>
                      <a:rPr lang="ar-AE" altLang="ja-JP"/>
                      <m:t>,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ar-AE" altLang="ja-JP"/>
                          <m:t>3</m:t>
                        </m:r>
                      </m:sub>
                    </m:sSub>
                    <m:r>
                      <a:rPr lang="ar-AE" altLang="ja-JP"/>
                      <m:t>,…</m:t>
                    </m:r>
                  </m:oMath>
                </a14:m>
                <a:r>
                  <a:rPr lang="ja-JP" altLang="ar-AE" dirty="0"/>
                  <a:t>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再证明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→</m:t>
                    </m:r>
                    <m:r>
                      <a:rPr lang="ja-JP" altLang="ar-AE" i="1"/>
                      <m:t>𝑢</m:t>
                    </m:r>
                  </m:oMath>
                </a14:m>
                <a:r>
                  <a:rPr lang="ja-JP" altLang="ar-AE" dirty="0"/>
                  <a:t>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最后说明极限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en-US" dirty="0"/>
                  <a:t>满足原 </a:t>
                </a:r>
                <a:r>
                  <a:rPr lang="en-US" altLang="ja-JP" dirty="0"/>
                  <a:t>PDE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ja-JP" altLang="en-US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b="1" dirty="0"/>
                  <a:t>例子：</a:t>
                </a:r>
                <a:r>
                  <a:rPr lang="en-US" altLang="ja-JP" b="1" dirty="0"/>
                  <a:t>Poisson </a:t>
                </a:r>
                <a:r>
                  <a:rPr lang="ja-JP" altLang="en-US" b="1" dirty="0"/>
                  <a:t>方程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例如考虑边值问题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/>
                      <m:t>−</m:t>
                    </m:r>
                    <m:r>
                      <m:rPr>
                        <m:sty m:val="p"/>
                      </m:rPr>
                      <a:rPr lang="el-GR" altLang="ja-JP"/>
                      <m:t>Δ</m:t>
                    </m:r>
                    <m:r>
                      <a:rPr lang="ja-JP" altLang="el-GR" i="1"/>
                      <m:t>𝑢</m:t>
                    </m:r>
                    <m:r>
                      <a:rPr lang="el-GR" altLang="ja-JP"/>
                      <m:t>=</m:t>
                    </m:r>
                    <m:r>
                      <a:rPr lang="ja-JP" altLang="el-GR" i="1"/>
                      <m:t>𝑓</m:t>
                    </m:r>
                    <m:r>
                      <a:rPr lang="el-GR" altLang="ja-JP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in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m:rPr>
                        <m:sty m:val="p"/>
                      </m:rPr>
                      <a:rPr lang="el-GR" altLang="ja-JP"/>
                      <m:t>Ω</m:t>
                    </m:r>
                    <m:r>
                      <a:rPr lang="el-GR" altLang="ja-JP"/>
                      <m:t>, </m:t>
                    </m:r>
                    <m:r>
                      <a:rPr lang="ja-JP" altLang="el-GR" i="1"/>
                      <m:t>𝑢</m:t>
                    </m:r>
                    <m:r>
                      <a:rPr lang="el-GR" altLang="ja-JP"/>
                      <m:t>=</m:t>
                    </m:r>
                    <m:r>
                      <a:rPr lang="el-GR" altLang="ja-JP"/>
                      <m:t>0</m:t>
                    </m:r>
                    <m:r>
                      <a:rPr lang="el-GR" altLang="ja-JP"/>
                      <m:t> </m:t>
                    </m:r>
                    <m:r>
                      <m:rPr>
                        <m:nor/>
                      </m:rPr>
                      <a:rPr lang="en-US" altLang="ja-JP" i="1"/>
                      <m:t>on</m:t>
                    </m:r>
                    <m:r>
                      <m:rPr>
                        <m:nor/>
                      </m:rPr>
                      <a:rPr lang="en-US" altLang="ja-JP" i="1"/>
                      <m:t> </m:t>
                    </m:r>
                    <m:r>
                      <a:rPr lang="en-US" altLang="ja-JP"/>
                      <m:t>∂</m:t>
                    </m:r>
                    <m:r>
                      <m:rPr>
                        <m:sty m:val="p"/>
                      </m:rPr>
                      <a:rPr lang="el-GR" altLang="ja-JP"/>
                      <m:t>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ja-JP" altLang="en-US" dirty="0"/>
                  <a:t>弱形式通常写成：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ar-AE" altLang="ja-JP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ar-AE" altLang="ja-JP"/>
                          <m:t>∇</m:t>
                        </m:r>
                      </m:e>
                    </m:nary>
                    <m:r>
                      <a:rPr lang="ja-JP" altLang="ar-AE" i="1"/>
                      <m:t>𝑢</m:t>
                    </m:r>
                    <m:r>
                      <a:rPr lang="ar-AE" altLang="ja-JP"/>
                      <m:t>⋅</m:t>
                    </m:r>
                    <m:r>
                      <m:rPr>
                        <m:sty m:val="p"/>
                      </m:rPr>
                      <a:rPr lang="ar-AE" altLang="ja-JP"/>
                      <m:t>∇</m:t>
                    </m:r>
                    <m:r>
                      <a:rPr lang="ja-JP" altLang="ar-AE" i="1"/>
                      <m:t>𝑣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/>
                      <m:t>𝑑𝑥</m:t>
                    </m:r>
                    <m:r>
                      <a:rPr lang="ar-AE" altLang="ja-JP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sub>
                      <m:sup/>
                      <m:e>
                        <m:r>
                          <a:rPr lang="ja-JP" altLang="ar-AE" i="1"/>
                          <m:t>𝑓</m:t>
                        </m:r>
                      </m:e>
                    </m:nary>
                    <m:r>
                      <a:rPr lang="ja-JP" altLang="ar-AE" i="1"/>
                      <m:t>𝑣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/>
                      <m:t>𝑑𝑥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ar-AE" altLang="ja-JP"/>
                      <m:t> ∀</m:t>
                    </m:r>
                    <m:r>
                      <a:rPr lang="ja-JP" altLang="ar-AE" i="1"/>
                      <m:t>𝑣</m:t>
                    </m:r>
                    <m:r>
                      <a:rPr lang="ar-AE" altLang="ja-JP"/>
                      <m:t>∈</m:t>
                    </m:r>
                    <m:sSubSup>
                      <m:sSubSupPr>
                        <m:ctrlPr>
                          <a:rPr lang="ar-AE" altLang="ja-JP" i="1"/>
                        </m:ctrlPr>
                      </m:sSubSupPr>
                      <m:e>
                        <m:r>
                          <a:rPr lang="ja-JP" altLang="ar-AE" i="1"/>
                          <m:t>𝐻</m:t>
                        </m:r>
                      </m:e>
                      <m:sub>
                        <m:r>
                          <a:rPr lang="ar-AE" altLang="ja-JP"/>
                          <m:t>0</m:t>
                        </m:r>
                      </m:sub>
                      <m:sup>
                        <m:r>
                          <a:rPr lang="ar-AE" altLang="ja-JP"/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  <m:r>
                      <a:rPr lang="ar-AE" altLang="ja-JP"/>
                      <m:t>.</m:t>
                    </m:r>
                  </m:oMath>
                </a14:m>
                <a:endParaRPr lang="ar-AE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常常在有限维子空间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𝑉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⊂</m:t>
                    </m:r>
                    <m:sSubSup>
                      <m:sSubSupPr>
                        <m:ctrlPr>
                          <a:rPr lang="ar-AE" altLang="ja-JP" i="1"/>
                        </m:ctrlPr>
                      </m:sSubSupPr>
                      <m:e>
                        <m:r>
                          <a:rPr lang="ja-JP" altLang="ar-AE" i="1"/>
                          <m:t>𝐻</m:t>
                        </m:r>
                      </m:e>
                      <m:sub>
                        <m:r>
                          <a:rPr lang="ar-AE" altLang="ja-JP"/>
                          <m:t>0</m:t>
                        </m:r>
                      </m:sub>
                      <m:sup>
                        <m:r>
                          <a:rPr lang="ar-AE" altLang="ja-JP"/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中找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满足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ar-AE" altLang="ja-JP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ar-AE" altLang="ja-JP"/>
                          <m:t>∇</m:t>
                        </m:r>
                      </m:e>
                    </m:nary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⋅</m:t>
                    </m:r>
                    <m:r>
                      <m:rPr>
                        <m:sty m:val="p"/>
                      </m:rPr>
                      <a:rPr lang="ar-AE" altLang="ja-JP"/>
                      <m:t>∇</m:t>
                    </m:r>
                    <m:r>
                      <a:rPr lang="ja-JP" altLang="ar-AE" i="1"/>
                      <m:t>𝑣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/>
                      <m:t>𝑑𝑥</m:t>
                    </m:r>
                    <m:r>
                      <a:rPr lang="ar-AE" altLang="ja-JP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sub>
                      <m:sup/>
                      <m:e>
                        <m:r>
                          <a:rPr lang="ja-JP" altLang="ar-AE" i="1"/>
                          <m:t>𝑓</m:t>
                        </m:r>
                      </m:e>
                    </m:nary>
                    <m:r>
                      <a:rPr lang="ja-JP" altLang="ar-AE" i="1"/>
                      <m:t>𝑣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/>
                      <m:t>𝑑𝑥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ar-AE" altLang="ja-JP"/>
                      <m:t> ∀</m:t>
                    </m:r>
                    <m:r>
                      <a:rPr lang="ja-JP" altLang="ar-AE" i="1"/>
                      <m:t>𝑣</m:t>
                    </m:r>
                    <m:r>
                      <a:rPr lang="ar-AE" altLang="ja-JP"/>
                      <m:t>∈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𝑉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ja-JP" altLang="en-US" dirty="0"/>
                  <a:t>然后证明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𝑢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/>
                        </m:ctrlPr>
                      </m:sSubSupPr>
                      <m:e>
                        <m:r>
                          <a:rPr lang="ja-JP" altLang="ar-AE" i="1"/>
                          <m:t>𝐻</m:t>
                        </m:r>
                      </m:e>
                      <m:sub>
                        <m:r>
                          <a:rPr lang="ar-AE" altLang="ja-JP"/>
                          <m:t>0</m:t>
                        </m:r>
                      </m:sub>
                      <m:sup>
                        <m:r>
                          <a:rPr lang="ar-AE" altLang="ja-JP"/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中有界，进一步得到某种收敛。核心空间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/>
                        </m:ctrlPr>
                      </m:sSubSupPr>
                      <m:e>
                        <m:r>
                          <a:rPr lang="ja-JP" altLang="ar-AE" i="1"/>
                          <m:t>𝐻</m:t>
                        </m:r>
                      </m:e>
                      <m:sub>
                        <m:r>
                          <a:rPr lang="ar-AE" altLang="ja-JP"/>
                          <m:t>0</m:t>
                        </m:r>
                      </m:sub>
                      <m:sup>
                        <m:r>
                          <a:rPr lang="ar-AE" altLang="ja-JP"/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空间，也就是完备的。因此极限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en-US" dirty="0"/>
                  <a:t>不会掉出这个空间</a:t>
                </a:r>
                <a:r>
                  <a:rPr lang="zh-CN" altLang="en-US" dirty="0"/>
                  <a:t>（这个</a:t>
                </a:r>
                <a:r>
                  <a:rPr lang="en-US" altLang="ja-JP" dirty="0"/>
                  <a:t>Sobolev</a:t>
                </a:r>
                <a:r>
                  <a:rPr lang="zh-CN" altLang="en-US" dirty="0"/>
                  <a:t>空间中，</a:t>
                </a:r>
                <a:r>
                  <a:rPr lang="ja-JP" altLang="ja-JP" dirty="0">
                    <a:latin typeface="Arial" panose="020B0604020202020204" pitchFamily="34" charset="0"/>
                  </a:rPr>
                  <a:t>函数本身平方可积； 一阶弱导数也平方可积； 在边界上“为 0” </a:t>
                </a:r>
                <a:r>
                  <a:rPr lang="zh-CN" altLang="en-US" dirty="0"/>
                  <a:t>）</a:t>
                </a:r>
                <a:r>
                  <a:rPr lang="ja-JP" altLang="en-US" dirty="0"/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FAFBBD4-F97E-1E65-7CD8-6F8B9F87C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560" y="1066800"/>
                <a:ext cx="11902440" cy="4724400"/>
              </a:xfrm>
              <a:blipFill>
                <a:blip r:embed="rId3"/>
                <a:stretch>
                  <a:fillRect l="-564" t="-1032" r="-717" b="-18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8DF86E57-8BB1-0CB5-7869-8FD7A2B38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480" y="4179582"/>
            <a:ext cx="1282091" cy="5820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D0A7078-8656-30E9-A8B6-C8AE20D2B51D}"/>
                  </a:ext>
                </a:extLst>
              </p:cNvPr>
              <p:cNvSpPr txBox="1"/>
              <p:nvPr/>
            </p:nvSpPr>
            <p:spPr>
              <a:xfrm>
                <a:off x="2458720" y="3798079"/>
                <a:ext cx="49784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拉普拉斯算子，表示 </a:t>
                </a:r>
                <a14:m>
                  <m:oMath xmlns:m="http://schemas.openxmlformats.org/officeDocument/2006/math">
                    <m:r>
                      <a:rPr lang="zh-CN" altLang="en-US" i="1"/>
                      <m:t>𝑢</m:t>
                    </m:r>
                  </m:oMath>
                </a14:m>
                <a:r>
                  <a:rPr lang="zh-CN" altLang="en-US" dirty="0"/>
                  <a:t>的二阶变化</a:t>
                </a:r>
                <a:endParaRPr lang="ja-JP" altLang="en-US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D0A7078-8656-30E9-A8B6-C8AE20D2B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720" y="3798079"/>
                <a:ext cx="4978400" cy="400110"/>
              </a:xfrm>
              <a:prstGeom prst="rect">
                <a:avLst/>
              </a:prstGeom>
              <a:blipFill>
                <a:blip r:embed="rId5"/>
                <a:stretch>
                  <a:fillRect l="-1224" t="-12121" b="-257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D8338290-4DD3-833A-3B8A-52BA541B8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059" y="1698971"/>
            <a:ext cx="5550381" cy="293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0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831A-D795-A931-08CA-0E15E33C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0F9B304-4459-8D7B-2B51-EA5D72340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“逼近得好”代表的意思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9CF3CF8-7423-46E8-C9A6-04FD8F5C0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）每一点都接近：点态逼近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最直接的想法是：对每一个固定的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 都越来越接近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。即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这叫做</a:t>
                </a:r>
                <a:r>
                  <a:rPr lang="zh-CN" altLang="en-US" b="1" dirty="0"/>
                  <a:t>点态收敛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它的意思是：把函数看成“在每个点上给一个数”的对象，那么对每个点单独看，近似都成立。</a:t>
                </a:r>
              </a:p>
              <a:p>
                <a:r>
                  <a:rPr lang="zh-CN" altLang="en-US" b="1" dirty="0"/>
                  <a:t>直观理解</a:t>
                </a:r>
                <a:r>
                  <a:rPr lang="zh-CN" altLang="en-US" dirty="0"/>
                  <a:t>：在很多个采样点观察误差。点态收敛表示：在每个固定的采样点，误差最终都会变小；但不同点上“变小的速度”可以完全不同； 甚至可能没有一个统一的误差上界控制整个区间。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点态收敛是很自然的，但往往太弱。它只是在每个点单独成立，却不保证整体形状真的接近。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2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）整体最坏误差小：一致逼近 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/ sup 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范数逼近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一种更严格的要求是：不是每个点分别看，而是整个区间里最坏的误差都要小。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b>
                          </m:sSub>
                        </m:fName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func>
                    </m:oMath>
                  </m:oMathPara>
                </a14:m>
                <a:endParaRPr lang="zh-CN" altLang="en-US" b="1" dirty="0"/>
              </a:p>
              <a:p>
                <a:pPr marL="0" indent="0">
                  <a:buNone/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就说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1" dirty="0"/>
                  <a:t>一致收敛</a:t>
                </a:r>
                <a:r>
                  <a:rPr lang="zh-CN" altLang="en-US" dirty="0"/>
                  <a:t>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r>
                  <a:rPr lang="zh-CN" altLang="en-US" b="1" dirty="0"/>
                  <a:t>直观理解</a:t>
                </a:r>
                <a:r>
                  <a:rPr lang="zh-CN" altLang="en-US" dirty="0"/>
                  <a:t>：拿一把尺子去量整个图像； 任何一点上，误差都不能超过某个很小的统一上界</a:t>
                </a:r>
                <a:r>
                  <a:rPr lang="en-US" altLang="zh-CN" dirty="0"/>
                  <a:t>--</a:t>
                </a:r>
                <a:r>
                  <a:rPr lang="zh-CN" altLang="en-US" dirty="0"/>
                  <a:t>“全局最坏情况控制”。 这是一种很强的逼近方式。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很多性质在一致收敛下才能稳定保留。例如：连续函数的一致极限仍然连续； 某些积分、极限交换在一致控制下更安全； 在实际工程里，如果任何位置误差都不能太大，就必须用这种标准</a:t>
                </a:r>
              </a:p>
              <a:p>
                <a:pPr marL="5715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9CF3CF8-7423-46E8-C9A6-04FD8F5C0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617960" cy="4724400"/>
              </a:xfrm>
              <a:blipFill>
                <a:blip r:embed="rId3"/>
                <a:stretch>
                  <a:fillRect l="-577" t="-1032" b="-216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60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D17E-86C4-F3DE-A3A4-B4AF5C23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B4EF4AE-3C1E-017B-A532-E282A8A7D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“逼近得好”代表的意思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333253B-3216-64F8-2E6C-422A05BED3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b="1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ja-JP" sz="1800" b="1" dirty="0">
                    <a:solidFill>
                      <a:srgbClr val="7030A0"/>
                    </a:solidFill>
                  </a:rPr>
                  <a:t>3</a:t>
                </a:r>
                <a:r>
                  <a:rPr lang="ja-JP" altLang="en-US" sz="1800" b="1" dirty="0">
                    <a:solidFill>
                      <a:srgbClr val="7030A0"/>
                    </a:solidFill>
                  </a:rPr>
                  <a:t>）平均误差小：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ar-AE" altLang="ja-JP" sz="1800" b="1" dirty="0">
                    <a:solidFill>
                      <a:srgbClr val="7030A0"/>
                    </a:solidFill>
                  </a:rPr>
                  <a:t> </a:t>
                </a:r>
                <a:r>
                  <a:rPr lang="ja-JP" altLang="en-US" sz="1800" b="1" dirty="0">
                    <a:solidFill>
                      <a:srgbClr val="7030A0"/>
                    </a:solidFill>
                  </a:rPr>
                  <a:t>意义下的逼近</a:t>
                </a:r>
                <a:endParaRPr lang="en-US" altLang="ja-JP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1800" dirty="0"/>
                  <a:t>另</a:t>
                </a:r>
                <a:r>
                  <a:rPr lang="ja-JP" altLang="en-US" sz="1800" dirty="0"/>
                  <a:t>一种非常自然的要求是：允许个别点误差大一点，只要总体平均误差小就行。</a:t>
                </a:r>
                <a:r>
                  <a:rPr lang="zh-CN" altLang="en-US" sz="1800" dirty="0"/>
                  <a:t>即使用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范数：</a:t>
                </a:r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 sz="1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sz="18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ar-AE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ja-JP" sz="18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ar-AE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ja-JP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ctrlPr>
                                <a:rPr lang="ar-AE" altLang="ja-JP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ja-JP" sz="1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grow m:val="on"/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ja-JP" altLang="ar-AE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ja-JP" altLang="ar-AE" sz="1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ar-AE" altLang="ja-JP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</m:nary>
                              <m:r>
                                <a:rPr lang="ja-JP" altLang="ar-AE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ar-AE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ar-AE" altLang="ja-JP" sz="1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ar-AE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ar-AE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altLang="ja-JP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ja-JP" altLang="ar-AE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ar-AE" altLang="ja-JP" sz="1800" i="1"/>
                                <m:t> </m:t>
                              </m:r>
                              <m:r>
                                <a:rPr lang="ja-JP" altLang="ar-AE" sz="18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d>
                        </m:e>
                        <m:sup>
                          <m:r>
                            <a:rPr lang="ar-AE" altLang="ja-JP" sz="1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altLang="ja-JP" sz="18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ja-JP" altLang="ar-AE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ja-JP" altLang="ar-AE" sz="1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ar-AE" altLang="ja-JP" sz="18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ja-JP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sz="1800" dirty="0"/>
                  <a:t>：平均绝对误差；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ja-JP" altLang="en-US" sz="1800" dirty="0"/>
                  <a:t>：均方误差、能量误差； 一般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en-US" sz="1800" dirty="0"/>
                  <a:t>：控制总体误差分布。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en-US" sz="1800" dirty="0"/>
                  <a:t>若</a:t>
                </a:r>
                <a14:m>
                  <m:oMath xmlns:m="http://schemas.openxmlformats.org/officeDocument/2006/math">
                    <m:r>
                      <a:rPr lang="ja-JP" altLang="en-US" sz="18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sz="1800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altLang="ja-JP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ja-JP" altLang="en-US" sz="1800" dirty="0"/>
                  <a:t>就说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sz="1800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意义下收敛到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sz="1800" dirty="0"/>
                  <a:t>。</a:t>
                </a:r>
              </a:p>
              <a:p>
                <a:r>
                  <a:rPr lang="ja-JP" altLang="en-US" sz="1800" b="1" dirty="0"/>
                  <a:t>直观理解</a:t>
                </a:r>
                <a:r>
                  <a:rPr lang="zh-CN" altLang="en-US" sz="1800" dirty="0"/>
                  <a:t>：</a:t>
                </a:r>
                <a:r>
                  <a:rPr lang="ja-JP" altLang="en-US" sz="1800" dirty="0"/>
                  <a:t>这里不再要求“每个点都必须小”，而是要求误差在整体上积起来要小； 少量区域误差大，可能是允许的； 只要这些误差集中在很小的区域，整体代价仍可能很小。 </a:t>
                </a:r>
              </a:p>
              <a:p>
                <a:pPr marL="0" indent="0">
                  <a:buNone/>
                </a:pPr>
                <a:r>
                  <a:rPr lang="ja-JP" altLang="en-US" sz="1800" b="1" dirty="0"/>
                  <a:t>例：</a:t>
                </a:r>
                <a:r>
                  <a:rPr lang="ja-JP" altLang="en-US" sz="1800" dirty="0"/>
                  <a:t>尖峰函数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800" b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ja-JP" altLang="ar-AE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ja-JP" sz="1800" b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ja-JP" altLang="ar-AE" sz="18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ar-AE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ja-JP" sz="1800" b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ja-JP" altLang="ar-AE" sz="18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ja-JP" altLang="ar-AE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ja-JP" sz="1800" b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18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sz="1800" dirty="0"/>
                  <a:t>目标函数取成 </a:t>
                </a:r>
                <a14:m>
                  <m:oMath xmlns:m="http://schemas.openxmlformats.org/officeDocument/2006/math">
                    <m:r>
                      <a:rPr lang="en-US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1800" dirty="0"/>
                  <a:t>。对于任意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1800" dirty="0"/>
                  <a:t>，当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1800" dirty="0"/>
                  <a:t>足够大时，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ja-JP" altLang="ar-AE" sz="1800" dirty="0"/>
                  <a:t>，</a:t>
                </a:r>
                <a:r>
                  <a:rPr lang="ja-JP" altLang="en-US" sz="1800" dirty="0"/>
                  <a:t>所以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ja-JP" altLang="ar-AE" sz="18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sz="1800" dirty="0"/>
                  <a:t>对每个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ar-AE" sz="1800" dirty="0"/>
                  <a:t>； </a:t>
                </a:r>
                <a:r>
                  <a:rPr lang="ja-JP" altLang="en-US" sz="1800" dirty="0"/>
                  <a:t>但在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1800" dirty="0"/>
                  <a:t>处始终为 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，所以如果硬看每点，那里不收敛。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sz="1800" dirty="0"/>
                  <a:t>看不同范数：</a:t>
                </a:r>
                <a14:m>
                  <m:oMath xmlns:m="http://schemas.openxmlformats.org/officeDocument/2006/math">
                    <m:r>
                      <a:rPr lang="ja-JP" altLang="en-US" sz="18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sz="1800" dirty="0"/>
                  <a:t>始终不变，所以</a:t>
                </a:r>
                <a:r>
                  <a:rPr lang="ja-JP" altLang="en-US" sz="1800" b="1" dirty="0"/>
                  <a:t>不一致收敛</a:t>
                </a:r>
                <a:r>
                  <a:rPr lang="ja-JP" altLang="en-US" sz="1800" dirty="0"/>
                  <a:t>到 </a:t>
                </a:r>
                <a:r>
                  <a:rPr lang="en-US" altLang="ja-JP" sz="1800" dirty="0"/>
                  <a:t>0</a:t>
                </a:r>
                <a:r>
                  <a:rPr lang="ja-JP" altLang="en-US" sz="1800" dirty="0"/>
                  <a:t>。但</a:t>
                </a:r>
                <a14:m>
                  <m:oMath xmlns:m="http://schemas.openxmlformats.org/officeDocument/2006/math">
                    <m:r>
                      <a:rPr lang="ja-JP" altLang="en-US" sz="18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ar-AE" sz="18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ar-AE" altLang="ja-JP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,  ∥</m:t>
                    </m:r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grow m:val="on"/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altLang="ja-JP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ar-AE" altLang="ja-JP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ar-AE" altLang="ja-JP" sz="1800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>
                          <m:sSubPr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ja-JP" alt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ja-JP" sz="1800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 altLang="ja-JP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  <m:sup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altLang="ja-JP" sz="1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ja-JP" altLang="ar-AE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。</a:t>
                </a:r>
                <a:r>
                  <a:rPr lang="ja-JP" altLang="en-US" sz="1800" dirty="0"/>
                  <a:t>在 </a:t>
                </a:r>
                <a:r>
                  <a:rPr lang="en-US" altLang="ja-JP" sz="1800" dirty="0"/>
                  <a:t>sup </a:t>
                </a:r>
                <a:r>
                  <a:rPr lang="ja-JP" altLang="en-US" sz="1800" dirty="0"/>
                  <a:t>范数下，函数</a:t>
                </a:r>
                <a:r>
                  <a:rPr lang="zh-CN" altLang="en-US" sz="1800" dirty="0"/>
                  <a:t>列</a:t>
                </a:r>
                <a:r>
                  <a:rPr lang="ja-JP" altLang="en-US" sz="1800" dirty="0"/>
                  <a:t>没有整体接近 </a:t>
                </a:r>
                <a:r>
                  <a:rPr lang="en-US" altLang="ja-JP" sz="1800" dirty="0"/>
                  <a:t>0</a:t>
                </a:r>
                <a:r>
                  <a:rPr lang="ja-JP" altLang="en-US" sz="1800" dirty="0"/>
                  <a:t>； 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ja-JP" altLang="ar-AE" sz="1800" dirty="0"/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altLang="ja-JP" sz="1800" dirty="0"/>
                  <a:t> </a:t>
                </a:r>
                <a:r>
                  <a:rPr lang="ja-JP" altLang="en-US" sz="1800" dirty="0"/>
                  <a:t>下，它逼近 </a:t>
                </a:r>
                <a:r>
                  <a:rPr lang="en-US" altLang="ja-JP" sz="1800" dirty="0"/>
                  <a:t>0</a:t>
                </a:r>
                <a:r>
                  <a:rPr lang="ja-JP" altLang="en-US" sz="1800" dirty="0"/>
                  <a:t>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sz="1800" dirty="0"/>
                  <a:t>这列函数的“高度”没有变小，但“面积”在变小。所以在最坏误差意义下它并没有变好，但在平均误差意义下它确实越来越好。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333253B-3216-64F8-2E6C-422A05BED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462" t="-1032" r="-51" b="-203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366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15AC-D8C5-EE17-197C-C01A3AC4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585545E-6C80-D06A-9D09-45F0C6AFE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“逼近得好”代表的意思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2CAA648-4E75-CFB8-E82C-53FF8494FA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sz="1800" b="1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ja-JP" sz="1800" b="1" dirty="0">
                    <a:solidFill>
                      <a:srgbClr val="7030A0"/>
                    </a:solidFill>
                  </a:rPr>
                  <a:t>4</a:t>
                </a:r>
                <a:r>
                  <a:rPr lang="ja-JP" altLang="en-US" sz="1800" b="1" dirty="0">
                    <a:solidFill>
                      <a:srgbClr val="7030A0"/>
                    </a:solidFill>
                  </a:rPr>
                  <a:t>）导数也接近：更强的逼近， </a:t>
                </a:r>
                <a:r>
                  <a:rPr lang="en-US" altLang="ja-JP" sz="1800" b="1" dirty="0">
                    <a:solidFill>
                      <a:srgbClr val="7030A0"/>
                    </a:solidFill>
                  </a:rPr>
                  <a:t>Sobolev </a:t>
                </a:r>
                <a:r>
                  <a:rPr lang="ja-JP" altLang="en-US" sz="1800" b="1" dirty="0">
                    <a:solidFill>
                      <a:srgbClr val="7030A0"/>
                    </a:solidFill>
                  </a:rPr>
                  <a:t>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ja-JP" altLang="en-US" sz="1800" b="1" dirty="0">
                    <a:solidFill>
                      <a:srgbClr val="7030A0"/>
                    </a:solidFill>
                  </a:rPr>
                  <a:t>空间</a:t>
                </a:r>
              </a:p>
              <a:p>
                <a:r>
                  <a:rPr lang="ja-JP" altLang="en-US" sz="1800" dirty="0"/>
                  <a:t>有时，仅仅函数值接近还不够。在微分方程、几何、力学中，往往还关心：斜率</a:t>
                </a:r>
                <a:r>
                  <a:rPr lang="zh-CN" altLang="en-US" sz="1800" dirty="0"/>
                  <a:t>，</a:t>
                </a:r>
                <a:r>
                  <a:rPr lang="ja-JP" altLang="en-US" sz="1800" dirty="0"/>
                  <a:t>曲率</a:t>
                </a:r>
                <a:r>
                  <a:rPr lang="zh-CN" altLang="en-US" sz="1800" dirty="0"/>
                  <a:t>，</a:t>
                </a:r>
                <a:r>
                  <a:rPr lang="ja-JP" altLang="en-US" sz="1800" dirty="0"/>
                  <a:t>振荡方式是不是接近？ </a:t>
                </a:r>
              </a:p>
              <a:p>
                <a:pPr marL="0" indent="0">
                  <a:buNone/>
                </a:pPr>
                <a:r>
                  <a:rPr lang="ja-JP" altLang="en-US" sz="1800" dirty="0"/>
                  <a:t>这就要求不仅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sz="1800" dirty="0"/>
                  <a:t> 还要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 altLang="ja-JP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ar-AE" altLang="ja-JP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ja-JP" i="1"/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。具体有</a:t>
                </a:r>
                <a:r>
                  <a:rPr lang="ja-JP" altLang="en-US" sz="1800" dirty="0"/>
                  <a:t>两类常见要求。</a:t>
                </a:r>
              </a:p>
              <a:p>
                <a:pPr>
                  <a:buFont typeface="+mj-lt"/>
                  <a:buAutoNum type="arabicPeriod"/>
                </a:pPr>
                <a:r>
                  <a:rPr lang="ja-JP" altLang="en-US" sz="1800" b="1" dirty="0"/>
                  <a:t>第一类：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ar-AE" altLang="ja-JP" sz="1800" b="1" dirty="0"/>
                  <a:t> </a:t>
                </a:r>
                <a:r>
                  <a:rPr lang="ja-JP" altLang="en-US" sz="1800" b="1" dirty="0"/>
                  <a:t>型逼近 </a:t>
                </a:r>
                <a:endParaRPr lang="en-US" altLang="ja-JP" sz="1800" b="1" dirty="0"/>
              </a:p>
              <a:p>
                <a:pPr>
                  <a:buFont typeface="+mj-lt"/>
                  <a:buAutoNum type="arabicPeriod"/>
                </a:pPr>
                <a:endParaRPr lang="ja-JP" altLang="en-US" sz="1800" b="1" dirty="0"/>
              </a:p>
              <a:p>
                <a:pPr marL="0" indent="0">
                  <a:buNone/>
                </a:pPr>
                <a:r>
                  <a:rPr lang="ja-JP" altLang="en-US" sz="1800" dirty="0"/>
                  <a:t>函数本身及其前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800" dirty="0"/>
                  <a:t>阶导数都一致接近。这种拓扑适合研究光滑函数空间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ja-JP" altLang="ar-AE" sz="1800" dirty="0"/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ja-JP" altLang="ar-AE" sz="1800" dirty="0"/>
                  <a:t>。</a:t>
                </a:r>
              </a:p>
              <a:p>
                <a:endParaRPr lang="en-US" altLang="ja-JP" sz="1800" dirty="0"/>
              </a:p>
              <a:p>
                <a:pPr>
                  <a:buFont typeface="+mj-lt"/>
                  <a:buAutoNum type="arabicPeriod" startAt="2"/>
                </a:pPr>
                <a:r>
                  <a:rPr lang="ja-JP" altLang="en-US" sz="1800" b="1" dirty="0"/>
                  <a:t>第二类：</a:t>
                </a:r>
                <a:r>
                  <a:rPr lang="en-US" altLang="ja-JP" sz="1800" b="1" dirty="0"/>
                  <a:t>Sobolev </a:t>
                </a:r>
                <a:r>
                  <a:rPr lang="ja-JP" altLang="en-US" sz="1800" b="1" dirty="0"/>
                  <a:t>型逼近</a:t>
                </a:r>
                <a:r>
                  <a:rPr lang="zh-CN" altLang="en-US" sz="1800" b="1" dirty="0"/>
                  <a:t>（后面详细讲）</a:t>
                </a:r>
                <a:endParaRPr lang="ja-JP" altLang="en-US" sz="1800" b="1" dirty="0"/>
              </a:p>
              <a:p>
                <a:pPr marL="0" indent="0">
                  <a:buNone/>
                </a:pPr>
                <a:r>
                  <a:rPr lang="zh-CN" altLang="en-US" sz="1800" dirty="0"/>
                  <a:t>比第一类要求弱，</a:t>
                </a:r>
                <a:r>
                  <a:rPr lang="ja-JP" altLang="en-US" sz="1800" dirty="0"/>
                  <a:t>要求导数在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意义下接近，例如：</a:t>
                </a:r>
              </a:p>
              <a:p>
                <a:pPr marL="0" indent="0">
                  <a:buNone/>
                </a:pPr>
                <a:r>
                  <a:rPr lang="ja-JP" altLang="en-US" sz="1800" dirty="0"/>
                  <a:t>在 </a:t>
                </a:r>
                <a:r>
                  <a:rPr lang="en-US" altLang="ja-JP" sz="1800" dirty="0"/>
                  <a:t>PDE </a:t>
                </a:r>
                <a:r>
                  <a:rPr lang="ja-JP" altLang="en-US" sz="1800" dirty="0"/>
                  <a:t>中，经典导数未必存在得很好，但弱导数可能存在；这时研究“导数的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可积性”比研究逐点光滑性更自然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2CAA648-4E75-CFB8-E82C-53FF8494F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617" t="-258" r="-2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B41983B1-0E85-151B-A813-8F1DD6F4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2201280"/>
            <a:ext cx="4475374" cy="6609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9E2ECA9-7353-DD7F-FE62-0144C10E8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160" y="3809270"/>
            <a:ext cx="6040520" cy="50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09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37AEA-39C1-F1CF-A3DA-3E9C102E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499A4C1-E201-628D-7A69-7B279A098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Sobolev 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AD41639-AE0F-4C6B-791C-25B981DEA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920" y="1240008"/>
                <a:ext cx="11866880" cy="133096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800" dirty="0"/>
                  <a:t>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en-US" sz="1800" dirty="0"/>
                  <a:t>是一个开集，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ja-JP" altLang="ar-AE" sz="1800" dirty="0"/>
                  <a:t>，</a:t>
                </a:r>
                <a14:m>
                  <m:oMath xmlns:m="http://schemas.openxmlformats.org/officeDocument/2006/math"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ja-JP" altLang="ar-AE" sz="1800" dirty="0"/>
                  <a:t>。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en-US" sz="1800" dirty="0"/>
                  <a:t>为了写偏导数，通常用多重指标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ar-AE" sz="1800" dirty="0"/>
                  <a:t>，</a:t>
                </a:r>
                <a:r>
                  <a:rPr lang="ja-JP" altLang="en-US" sz="1800" dirty="0"/>
                  <a:t>定义：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∣</m:t>
                            </m:r>
                          </m:sup>
                        </m:s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</m:den>
                    </m:f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sz="1800" dirty="0"/>
              </a:p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C00000"/>
                    </a:solidFill>
                  </a:rPr>
                  <a:t>弱导数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loc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en-US" altLang="ja-JP" dirty="0"/>
                  <a:t>(</a:t>
                </a:r>
                <a:r>
                  <a:rPr lang="zh-CN" altLang="en-US" dirty="0"/>
                  <a:t>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/>
                      <m:t>Ω</m:t>
                    </m:r>
                  </m:oMath>
                </a14:m>
                <a:r>
                  <a:rPr lang="zh-CN" altLang="en-US" dirty="0"/>
                  <a:t>的任意紧子集上都可积</a:t>
                </a:r>
                <a:r>
                  <a:rPr lang="en-US" altLang="ja-JP" dirty="0"/>
                  <a:t>)</a:t>
                </a:r>
                <a:r>
                  <a:rPr lang="ja-JP" altLang="ar-AE" dirty="0"/>
                  <a:t>。</a:t>
                </a:r>
                <a:r>
                  <a:rPr lang="ja-JP" altLang="en-US" dirty="0"/>
                  <a:t>如果对任意测试函数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都有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m:rPr>
                        <m:nor/>
                      </m:rPr>
                      <a:rPr lang="ar-AE" altLang="ja-JP" i="1"/>
                      <m:t> 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</m:sup>
                    </m:sSup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en-US" dirty="0"/>
                  <a:t>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en-US" dirty="0"/>
                  <a:t>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ja-JP" altLang="en-US" dirty="0"/>
                  <a:t>阶</a:t>
                </a:r>
                <a:r>
                  <a:rPr lang="ja-JP" altLang="en-US" b="1" dirty="0"/>
                  <a:t>弱导数</a:t>
                </a:r>
                <a:r>
                  <a:rPr lang="ja-JP" altLang="en-US" dirty="0"/>
                  <a:t>，记作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把经典分部积分公式反过来当定义。若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足够光滑，经典上有：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grow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zh-CN" altLang="en-US" dirty="0"/>
                  <a:t>（边界项因为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dirty="0"/>
                  <a:t>紧支撑而消失）。弱导数的想法：即使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不光滑，只要存在某个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，使这条积分恒等式仍成立，那就把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当作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的导数。 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空间允许“导数通过积分关系存在”。</a:t>
                </a:r>
              </a:p>
              <a:p>
                <a:pPr marL="0" indent="0">
                  <a:buNone/>
                </a:pP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1800" b="1" dirty="0">
                    <a:solidFill>
                      <a:srgbClr val="C00000"/>
                    </a:solidFill>
                  </a:rPr>
                  <a:t>Sobolev 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空间（弱导数定义下）</a:t>
                </a:r>
                <a:r>
                  <a:rPr lang="zh-CN" altLang="en-US" sz="1800" b="1" dirty="0"/>
                  <a:t>：</a:t>
                </a:r>
                <a:r>
                  <a:rPr lang="en-US" altLang="ja-JP" sz="1800" dirty="0"/>
                  <a:t> Sobolev </a:t>
                </a:r>
                <a:r>
                  <a:rPr lang="ja-JP" altLang="en-US" sz="1800" dirty="0"/>
                  <a:t>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sz="1800" dirty="0"/>
                  <a:t>定义为：</a:t>
                </a:r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ja-JP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d>
                            <m:d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: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nor/>
                            </m:rPr>
                            <a:rPr lang="ar-AE" altLang="ja-JP" i="1"/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i="1"/>
                            <m:t>以弱导数意义存在</m:t>
                          </m:r>
                          <m:r>
                            <m:rPr>
                              <m:nor/>
                            </m:rPr>
                            <a:rPr lang="ja-JP" altLang="en-US" i="1"/>
                            <m:t>，</m:t>
                          </m:r>
                          <m:r>
                            <m:rPr>
                              <m:nor/>
                            </m:rPr>
                            <a:rPr lang="ja-JP" altLang="en-US" i="1"/>
                            <m:t>并且 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d>
                            <m:d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ar-AE" altLang="ja-JP" i="1"/>
                            <m:t> 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∀∣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∣≤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ja-JP" sz="1800" b="0" dirty="0"/>
              </a:p>
              <a:p>
                <a:pPr marL="0" indent="0">
                  <a:buNone/>
                </a:pP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en-US" sz="1800" dirty="0"/>
                  <a:t>本身属于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ar-AE" sz="1800" dirty="0"/>
                  <a:t>； </a:t>
                </a:r>
                <a:r>
                  <a:rPr lang="ja-JP" altLang="en-US" sz="1800" dirty="0"/>
                  <a:t>所有到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800" dirty="0"/>
                  <a:t>阶为止的弱导数也都属于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ar-AE" sz="1800" dirty="0"/>
                  <a:t>。</a:t>
                </a:r>
                <a:endParaRPr lang="en-US" altLang="ja-JP" sz="1800" dirty="0"/>
              </a:p>
              <a:p>
                <a:pPr marL="0" indent="0">
                  <a:buNone/>
                </a:pPr>
                <a:endParaRPr lang="en-US" altLang="ja-JP" sz="1800" dirty="0"/>
              </a:p>
              <a:p>
                <a:pPr marL="0" indent="0">
                  <a:buNone/>
                </a:pPr>
                <a:endParaRPr lang="ja-JP" altLang="ar-AE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AD41639-AE0F-4C6B-791C-25B981DEA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1240008"/>
                <a:ext cx="11866880" cy="1330960"/>
              </a:xfrm>
              <a:blipFill>
                <a:blip r:embed="rId3"/>
                <a:stretch>
                  <a:fillRect l="-3955" t="-1826" b="-279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078C118B-48CB-8A0D-CE56-903CBE508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439" y="160954"/>
            <a:ext cx="6880915" cy="107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7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DABA-5319-8D9B-46EA-536D7FB5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1B56D27-CD5A-450B-ED7F-5FCF1C0B3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Sobolev 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DAEB653-AA56-649F-1D77-13AEAB522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040" y="1106986"/>
                <a:ext cx="11998960" cy="13309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dirty="0"/>
                  <a:t>直观理解 </a:t>
                </a:r>
                <a:r>
                  <a:rPr lang="en-US" altLang="zh-CN" sz="1800" dirty="0"/>
                  <a:t>Sobolev </a:t>
                </a:r>
                <a:r>
                  <a:rPr lang="zh-CN" altLang="en-US" sz="1800" dirty="0"/>
                  <a:t>空间：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1800" b="1" dirty="0">
                    <a:solidFill>
                      <a:srgbClr val="7030A0"/>
                    </a:solidFill>
                  </a:rPr>
                  <a:t>1. 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可积的导数空间</a:t>
                </a:r>
                <a:r>
                  <a:rPr lang="zh-CN" altLang="en-US" sz="1800" b="1" dirty="0"/>
                  <a:t>：</a:t>
                </a:r>
                <a:r>
                  <a:rPr lang="zh-CN" altLang="en-US" sz="1800" dirty="0"/>
                  <a:t>函数本身和它到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阶为止的导数都在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1800" dirty="0"/>
                  <a:t>中。衡量的不只函数值大小，还衡量导数的整体大小</a:t>
                </a:r>
              </a:p>
              <a:p>
                <a:pPr marL="0" indent="0">
                  <a:buNone/>
                </a:pPr>
                <a:r>
                  <a:rPr lang="en-US" altLang="zh-CN" sz="1800" b="1" dirty="0">
                    <a:solidFill>
                      <a:srgbClr val="7030A0"/>
                    </a:solidFill>
                  </a:rPr>
                  <a:t>2. 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介于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1800" b="1" dirty="0">
                    <a:solidFill>
                      <a:srgbClr val="7030A0"/>
                    </a:solidFill>
                  </a:rPr>
                  <a:t>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b="1" dirty="0">
                    <a:solidFill>
                      <a:srgbClr val="7030A0"/>
                    </a:solidFill>
                  </a:rPr>
                  <a:t>之间</a:t>
                </a:r>
                <a:r>
                  <a:rPr lang="zh-CN" altLang="en-US" sz="1800" b="1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1800" dirty="0"/>
                  <a:t>只关心函数本身是否可积；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dirty="0"/>
                  <a:t>要求函数经典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次连续可导，非常强； </a:t>
                </a:r>
                <a:r>
                  <a:rPr lang="en-US" altLang="zh-CN" sz="1800" dirty="0"/>
                  <a:t>Sobolev </a:t>
                </a:r>
                <a:r>
                  <a:rPr lang="zh-CN" altLang="en-US" sz="1800" dirty="0"/>
                  <a:t>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1800" dirty="0"/>
                  <a:t>处在中间： 不要求逐点光滑，但要求“导数在整体上可控”。 </a:t>
                </a:r>
                <a:r>
                  <a:rPr lang="en-US" altLang="zh-CN" sz="1800" dirty="0"/>
                  <a:t>Sobolev </a:t>
                </a:r>
                <a:r>
                  <a:rPr lang="zh-CN" altLang="en-US" sz="1800" dirty="0"/>
                  <a:t>空间是一种更柔软、更适合分析极限过程的“可微空间”</a:t>
                </a:r>
              </a:p>
              <a:p>
                <a:pPr marL="0" indent="0">
                  <a:buNone/>
                </a:pPr>
                <a:r>
                  <a:rPr lang="en-US" altLang="zh-CN" sz="1800" b="1" dirty="0">
                    <a:solidFill>
                      <a:srgbClr val="7030A0"/>
                    </a:solidFill>
                  </a:rPr>
                  <a:t>3. PDE 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的自然解空间</a:t>
                </a:r>
                <a:r>
                  <a:rPr lang="zh-CN" altLang="en-US" sz="1800" b="1" dirty="0"/>
                  <a:t>：</a:t>
                </a:r>
                <a:r>
                  <a:rPr lang="zh-CN" altLang="en-US" sz="1800" dirty="0"/>
                  <a:t>很多 </a:t>
                </a:r>
                <a:r>
                  <a:rPr lang="en-US" altLang="zh-CN" sz="1800" dirty="0"/>
                  <a:t>PDE </a:t>
                </a:r>
                <a:r>
                  <a:rPr lang="zh-CN" altLang="en-US" sz="1800" dirty="0"/>
                  <a:t>的经典解不存在，但弱解存在。而弱解通常就在 </a:t>
                </a:r>
                <a:r>
                  <a:rPr lang="en-US" altLang="zh-CN" sz="1800" dirty="0"/>
                  <a:t>Sobolev </a:t>
                </a:r>
                <a:r>
                  <a:rPr lang="zh-CN" altLang="en-US" sz="1800" dirty="0"/>
                  <a:t>空间中寻找。经典解要求逐点满足方程； 弱解要求通过积分形式满足方程。 </a:t>
                </a:r>
                <a:r>
                  <a:rPr lang="en-US" altLang="zh-CN" sz="1800" dirty="0"/>
                  <a:t>Sobolev </a:t>
                </a:r>
                <a:r>
                  <a:rPr lang="zh-CN" altLang="en-US" sz="1800" dirty="0"/>
                  <a:t>空间是 </a:t>
                </a:r>
                <a:r>
                  <a:rPr lang="en-US" altLang="zh-CN" sz="1800" dirty="0"/>
                  <a:t>PDE </a:t>
                </a:r>
                <a:r>
                  <a:rPr lang="zh-CN" altLang="en-US" sz="1800" dirty="0"/>
                  <a:t>的核心工作空间。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1800" dirty="0">
                    <a:solidFill>
                      <a:srgbClr val="C00000"/>
                    </a:solidFill>
                  </a:rPr>
                  <a:t>Sobolev 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空间的常见范数</a:t>
                </a:r>
                <a:r>
                  <a:rPr lang="zh-CN" altLang="en-US" sz="1800" dirty="0"/>
                  <a:t>：</a:t>
                </a:r>
                <a:endParaRPr lang="en-US" altLang="ja-JP" sz="1800" b="1" dirty="0"/>
              </a:p>
              <a:p>
                <a:pPr marL="0" indent="0">
                  <a:buNone/>
                </a:pPr>
                <a:r>
                  <a:rPr lang="en-US" altLang="ja-JP" sz="1800" b="1" dirty="0"/>
                  <a:t>1.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ja-JP" altLang="en-US" sz="1800" b="1" dirty="0"/>
                  <a:t>时的标准范数</a:t>
                </a:r>
                <a:r>
                  <a:rPr lang="zh-CN" altLang="en-US" sz="1800" b="1" dirty="0"/>
                  <a:t>（</a:t>
                </a:r>
                <a:r>
                  <a:rPr lang="ar-AE" altLang="ja-JP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 sz="18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lang="ar-AE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 sz="18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sz="1600" dirty="0"/>
                  <a:t>上最常用的范数</a:t>
                </a:r>
                <a:r>
                  <a:rPr lang="zh-CN" altLang="en-US" sz="1800" b="1" dirty="0"/>
                  <a:t>）：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ja-JP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∣≤</m:t>
                                </m:r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</m:nary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bSup>
                              <m:sSub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ja-JP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sz="1800" dirty="0"/>
              </a:p>
              <a:p>
                <a:pPr marL="0" indent="0">
                  <a:buNone/>
                </a:pPr>
                <a:r>
                  <a:rPr lang="ja-JP" altLang="en-US" sz="1800" dirty="0"/>
                  <a:t>函数本身的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范数 </a:t>
                </a:r>
                <a:r>
                  <a:rPr lang="en-US" altLang="ja-JP" sz="1800" dirty="0"/>
                  <a:t>+ </a:t>
                </a:r>
                <a:r>
                  <a:rPr lang="ja-JP" altLang="en-US" sz="1800" dirty="0"/>
                  <a:t>所有一阶弱导数的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范数 </a:t>
                </a:r>
                <a:r>
                  <a:rPr lang="en-US" altLang="ja-JP" sz="1800" dirty="0"/>
                  <a:t>+ </a:t>
                </a:r>
                <a:r>
                  <a:rPr lang="ja-JP" altLang="en-US" sz="1800" dirty="0"/>
                  <a:t>所有二阶弱导数的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范数  </a:t>
                </a:r>
                <a:r>
                  <a:rPr lang="en-US" altLang="ja-JP" sz="1800" dirty="0"/>
                  <a:t>+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ja-JP" altLang="en-US" sz="1800" dirty="0"/>
                  <a:t> </a:t>
                </a:r>
                <a:r>
                  <a:rPr lang="en-US" altLang="ja-JP" sz="1800" dirty="0"/>
                  <a:t>+ </a:t>
                </a:r>
                <a:r>
                  <a:rPr lang="ja-JP" altLang="en-US" sz="1800" dirty="0"/>
                  <a:t>所有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800" dirty="0"/>
                  <a:t>阶弱导数的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sz="1800" dirty="0"/>
                  <a:t>范数 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en-US" altLang="ja-JP" sz="1800" b="1" dirty="0"/>
                  <a:t>2.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ja-JP" altLang="en-US" sz="1800" b="1" dirty="0"/>
                  <a:t>时的范数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sz="1800" dirty="0"/>
                  <a:t>3. </a:t>
                </a:r>
                <a:r>
                  <a:rPr lang="ja-JP" altLang="en-US" sz="1800" b="1" dirty="0"/>
                  <a:t>特别重要的情形：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sz="1800" dirty="0"/>
                  <a:t>     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ja-JP" altLang="en-US" sz="1800" dirty="0"/>
                  <a:t>时习惯记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ja-JP" altLang="en-US" sz="1800" dirty="0"/>
                  <a:t>范数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ja-JP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grow m:val="on"/>
                                <m:supHide m:val="on"/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∣≤</m:t>
                                </m:r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</m:nary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bSup>
                              <m:sSub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ar-AE" altLang="ja-JP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ja-JP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sz="1800" dirty="0"/>
              </a:p>
              <a:p>
                <a:pPr marL="0" indent="0">
                  <a:buNone/>
                </a:pPr>
                <a:r>
                  <a:rPr lang="ja-JP" alt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800" dirty="0"/>
                  <a:t>有内积结构，所以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ja-JP" altLang="en-US" sz="1800" dirty="0"/>
                  <a:t>是 </a:t>
                </a:r>
                <a:r>
                  <a:rPr lang="en-US" altLang="ja-JP" sz="1800" dirty="0"/>
                  <a:t>Hilbert </a:t>
                </a:r>
                <a:r>
                  <a:rPr lang="ja-JP" altLang="en-US" sz="1800" dirty="0"/>
                  <a:t>空间</a:t>
                </a:r>
              </a:p>
              <a:p>
                <a:pPr marL="0" indent="0">
                  <a:buNone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DAEB653-AA56-649F-1D77-13AEAB522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" y="1106986"/>
                <a:ext cx="11998960" cy="1330960"/>
              </a:xfrm>
              <a:blipFill>
                <a:blip r:embed="rId3"/>
                <a:stretch>
                  <a:fillRect l="-457" t="-4128" r="-305" b="-3311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FD4D0825-5BD9-7BBC-35D5-703D00A9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491" y="5216253"/>
            <a:ext cx="3792229" cy="56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75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BE61-AA81-9C06-A855-CF74393F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2086AE8-89BF-9418-EDC5-1DCD902D3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Sobolev 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BFE20B8E-52BF-F8BE-AE71-A510769B5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106986"/>
            <a:ext cx="11998960" cy="1330960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800" dirty="0"/>
              <a:t>1. </a:t>
            </a:r>
            <a:r>
              <a:rPr lang="ja-JP" altLang="en-US" sz="1800" dirty="0"/>
              <a:t>最常用的一阶 </a:t>
            </a:r>
            <a:r>
              <a:rPr lang="en-US" altLang="ja-JP" sz="1800" dirty="0"/>
              <a:t>Sobolev </a:t>
            </a:r>
            <a:r>
              <a:rPr lang="ja-JP" altLang="en-US" sz="1800" dirty="0"/>
              <a:t>空间</a:t>
            </a:r>
            <a:r>
              <a:rPr lang="zh-CN" altLang="en-US" sz="1800" dirty="0"/>
              <a:t>（</a:t>
            </a:r>
            <a:r>
              <a:rPr lang="en-US" altLang="ja-JP" sz="1800" dirty="0"/>
              <a:t>∇u </a:t>
            </a:r>
            <a:r>
              <a:rPr lang="ja-JP" altLang="en-US" sz="1800" dirty="0"/>
              <a:t>表示弱梯度</a:t>
            </a:r>
            <a:r>
              <a:rPr lang="zh-CN" altLang="en-US" sz="1800" dirty="0"/>
              <a:t>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4DAC364-87F1-723A-B65B-C2D9C347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80" y="1814117"/>
            <a:ext cx="8789769" cy="1914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2">
                <a:extLst>
                  <a:ext uri="{FF2B5EF4-FFF2-40B4-BE49-F238E27FC236}">
                    <a16:creationId xmlns:a16="http://schemas.microsoft.com/office/drawing/2014/main" id="{2487CDD0-256B-93E9-453C-9B993F52E65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3040" y="4043226"/>
                <a:ext cx="11998960" cy="13309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u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  <a:cs typeface="ＭＳ Ｐゴシック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lang="en-US" altLang="ja-JP" sz="1800" kern="0" dirty="0"/>
                  <a:t>2. H</a:t>
                </a:r>
                <a:r>
                  <a:rPr lang="en-US" altLang="ja-JP" sz="1800" kern="0" baseline="30000" dirty="0"/>
                  <a:t>1</a:t>
                </a:r>
                <a:r>
                  <a:rPr lang="en-US" altLang="ja-JP" sz="1800" kern="0" dirty="0"/>
                  <a:t>(</a:t>
                </a:r>
                <a:r>
                  <a:rPr lang="el-GR" altLang="ja-JP" sz="1800" kern="0" dirty="0"/>
                  <a:t>Ω)</a:t>
                </a:r>
                <a:endParaRPr lang="en-US" altLang="ja-JP" sz="1800" kern="0" dirty="0"/>
              </a:p>
              <a:p>
                <a:pPr marL="0" indent="0">
                  <a:buNone/>
                </a:pPr>
                <a:r>
                  <a:rPr lang="ja-JP" altLang="en-US" sz="1800" dirty="0"/>
                  <a:t>范数为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ja-JP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∥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bSup>
                              <m:sSub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ar-AE" altLang="ja-JP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ja-JP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+∥</m:t>
                            </m:r>
                            <m:r>
                              <m:rPr>
                                <m:sty m:val="p"/>
                              </m:rPr>
                              <a:rPr lang="ar-AE" altLang="ja-JP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bSup>
                              <m:sSub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ja-JP" alt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ar-AE" altLang="ja-JP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ar-AE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ja-JP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sz="1800" dirty="0"/>
                  <a:t>  </a:t>
                </a:r>
                <a:r>
                  <a:rPr lang="ja-JP" altLang="en-US" sz="1800" dirty="0"/>
                  <a:t>既控制函数本身，又控制梯度的“能量”。</a:t>
                </a:r>
              </a:p>
              <a:p>
                <a:pPr marL="0" indent="0">
                  <a:buFont typeface="Wingdings" pitchFamily="2" charset="2"/>
                  <a:buNone/>
                </a:pPr>
                <a:endParaRPr lang="zh-CN" altLang="en-US" sz="1800" kern="0" dirty="0"/>
              </a:p>
            </p:txBody>
          </p:sp>
        </mc:Choice>
        <mc:Fallback xmlns="">
          <p:sp>
            <p:nvSpPr>
              <p:cNvPr id="5" name="コンテンツ プレースホルダー 2">
                <a:extLst>
                  <a:ext uri="{FF2B5EF4-FFF2-40B4-BE49-F238E27FC236}">
                    <a16:creationId xmlns:a16="http://schemas.microsoft.com/office/drawing/2014/main" id="{2487CDD0-256B-93E9-453C-9B993F52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040" y="4043226"/>
                <a:ext cx="11998960" cy="1330960"/>
              </a:xfrm>
              <a:prstGeom prst="rect">
                <a:avLst/>
              </a:prstGeom>
              <a:blipFill>
                <a:blip r:embed="rId4"/>
                <a:stretch>
                  <a:fillRect l="-457" t="-18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66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E0B3-F0FF-8396-8063-E610ABF1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40E671E-F467-ADAA-A3E6-A4BBEB6D3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“逼近得好”代表的意思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932CDD5-1378-F798-014A-8DCDEB7EEC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b="1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5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）只要某些积分量接近即可：弱逼近 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/ 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弱收敛的雏形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有时甚至不要求函数本身在某个范数下接近，而只要求它们对某些“测试”来说接近。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例如，只要求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grow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zh-CN" altLang="en-US" sz="1800" dirty="0"/>
                  <a:t> 对所有测试函数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1800" dirty="0"/>
                  <a:t>都成立。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不要求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1800" dirty="0"/>
                  <a:t>在点上、在 </a:t>
                </a:r>
                <a:r>
                  <a:rPr lang="en-US" altLang="zh-CN" sz="1800" dirty="0"/>
                  <a:t>sup </a:t>
                </a:r>
                <a:r>
                  <a:rPr lang="zh-CN" altLang="en-US" sz="1800" dirty="0"/>
                  <a:t>范数下、在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1800" dirty="0"/>
                  <a:t>范数下接近；只要求它们对所有“探针”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CN" altLang="en-US" sz="1800" dirty="0"/>
                  <a:t> 给出的积分响应是接近的。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弱收敛思想：不直接观察函数本身，而是只通过很多“测量仪器”去测它。如果所有仪器读数都趋于一致，就认为它“在弱意义下收敛”。这在 </a:t>
                </a:r>
                <a:r>
                  <a:rPr lang="en-US" altLang="zh-CN" sz="1800" dirty="0"/>
                  <a:t>PDE</a:t>
                </a:r>
                <a:r>
                  <a:rPr lang="zh-CN" altLang="en-US" sz="1800" dirty="0"/>
                  <a:t>、变分法、分布理论中极其重要。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弱收敛：</a:t>
                </a:r>
                <a:r>
                  <a:rPr lang="ja-JP" altLang="en-US" sz="1800" dirty="0"/>
                  <a:t>要求对每一个连续线性泛函 </a:t>
                </a:r>
                <a14:m>
                  <m:oMath xmlns:m="http://schemas.openxmlformats.org/officeDocument/2006/math">
                    <m:r>
                      <a:rPr lang="ja-JP" altLang="en-US" i="1"/>
                      <m:t>𝐹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ar-AE" altLang="ja-JP" i="1"/>
                        </m:ctrlPr>
                      </m:sSupPr>
                      <m:e>
                        <m:r>
                          <a:rPr lang="ja-JP" altLang="ar-AE" i="1"/>
                          <m:t>𝑋</m:t>
                        </m:r>
                      </m:e>
                      <m:sup>
                        <m:r>
                          <a:rPr lang="ar-AE" altLang="ja-JP"/>
                          <m:t>∗</m:t>
                        </m:r>
                      </m:sup>
                    </m:sSup>
                  </m:oMath>
                </a14:m>
                <a:r>
                  <a:rPr lang="ja-JP" altLang="ar-AE" sz="1800" dirty="0"/>
                  <a:t>，</a:t>
                </a:r>
                <a:r>
                  <a:rPr lang="ja-JP" altLang="en-US" sz="1800" dirty="0"/>
                  <a:t>都有</a:t>
                </a:r>
                <a14:m>
                  <m:oMath xmlns:m="http://schemas.openxmlformats.org/officeDocument/2006/math">
                    <m:r>
                      <a:rPr lang="ja-JP" altLang="en-US" i="1"/>
                      <m:t>𝐹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𝑢</m:t>
                            </m:r>
                          </m:e>
                          <m:sub>
                            <m:r>
                              <a:rPr lang="ja-JP" altLang="ar-AE" i="1"/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/>
                      <m:t>→</m:t>
                    </m:r>
                    <m:r>
                      <a:rPr lang="ja-JP" altLang="ar-AE" i="1"/>
                      <m:t>𝐹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a:rPr lang="ja-JP" altLang="ar-AE" i="1"/>
                          <m:t>𝑢</m:t>
                        </m:r>
                      </m:e>
                    </m:d>
                    <m:r>
                      <a:rPr lang="ar-AE" altLang="ja-JP"/>
                      <m:t>.</m:t>
                    </m:r>
                  </m:oMath>
                </a14:m>
                <a:endParaRPr lang="ar-AE" altLang="ja-JP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932CDD5-1378-F798-014A-8DCDEB7EE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462" t="-903" r="-2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12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FCBF-8B5F-52BD-2596-FC7545FE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6CB122B4-121C-74C2-88D4-D3ACA2199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857" y="0"/>
            <a:ext cx="7658503" cy="1402080"/>
          </a:xfrm>
          <a:prstGeom prst="rect">
            <a:avLst/>
          </a:prstGeom>
        </p:spPr>
      </p:pic>
      <p:sp>
        <p:nvSpPr>
          <p:cNvPr id="26626" name="Rectangle 2">
            <a:extLst>
              <a:ext uri="{FF2B5EF4-FFF2-40B4-BE49-F238E27FC236}">
                <a16:creationId xmlns:a16="http://schemas.microsoft.com/office/drawing/2014/main" id="{AC682F33-EF5A-8339-C831-9A8A34615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相关空间：赋范向量空间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76114E-DD49-AC4D-FB23-4864CCE27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" y="1615928"/>
                <a:ext cx="12313920" cy="133096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b="1" dirty="0">
                    <a:solidFill>
                      <a:srgbClr val="C00000"/>
                    </a:solidFill>
                  </a:rPr>
                  <a:t>赋范向量空间</a:t>
                </a:r>
                <a:r>
                  <a:rPr lang="zh-CN" altLang="en-US" sz="1800" b="1" dirty="0"/>
                  <a:t>： </a:t>
                </a:r>
                <a:r>
                  <a:rPr lang="zh-CN" altLang="en-US" sz="1800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是定义在数域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800" dirty="0"/>
                  <a:t>或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zh-CN" altLang="en-US" sz="1800" dirty="0"/>
                  <a:t>上的一个向量空间。如果在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上给定一个映射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∥⋅∥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sepChr m:val=","/>
                        <m:ctrlP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zh-CN" alt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800" dirty="0"/>
                  <a:t> 并且对任意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和任意标量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800" dirty="0"/>
                  <a:t>或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zh-CN" altLang="en-US" sz="1800" dirty="0"/>
                  <a:t>，满足以下三个条件：</a:t>
                </a:r>
              </a:p>
              <a:p>
                <a:pPr marL="800100" lvl="1" indent="-342900">
                  <a:lnSpc>
                    <a:spcPct val="110000"/>
                  </a:lnSpc>
                  <a:buFont typeface="+mj-lt"/>
                  <a:buAutoNum type="alphaLcPeriod"/>
                </a:pPr>
                <a:r>
                  <a:rPr lang="en-US" altLang="zh-CN" sz="1800" b="1" dirty="0"/>
                  <a:t> </a:t>
                </a:r>
                <a:r>
                  <a:rPr lang="zh-CN" altLang="en-US" sz="1800" b="1" dirty="0"/>
                  <a:t>正定性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zh-CN" altLang="en-US" i="1">
                        <a:solidFill>
                          <a:srgbClr val="7030A0"/>
                        </a:solidFill>
                      </a:rPr>
                      <m:t>  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⟺</m:t>
                    </m:r>
                    <m:r>
                      <m:rPr>
                        <m:nor/>
                      </m:rPr>
                      <a:rPr lang="zh-CN" altLang="en-US" i="1">
                        <a:solidFill>
                          <a:srgbClr val="7030A0"/>
                        </a:solidFill>
                      </a:rPr>
                      <m:t>  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b="0" dirty="0"/>
                  <a:t>。 即，</a:t>
                </a:r>
                <a:r>
                  <a:rPr lang="zh-CN" altLang="en-US" sz="1800" dirty="0"/>
                  <a:t>范数总是非负，只有零向量的范数为零。</a:t>
                </a:r>
              </a:p>
              <a:p>
                <a:pPr marL="800100" lvl="1" indent="-342900">
                  <a:lnSpc>
                    <a:spcPct val="110000"/>
                  </a:lnSpc>
                  <a:buFont typeface="+mj-lt"/>
                  <a:buAutoNum type="alphaLcPeriod"/>
                </a:pPr>
                <a:r>
                  <a:rPr lang="en-US" altLang="zh-CN" sz="1800" b="1" dirty="0"/>
                  <a:t> </a:t>
                </a:r>
                <a:r>
                  <a:rPr lang="zh-CN" altLang="en-US" sz="1800" b="1" dirty="0"/>
                  <a:t>齐次性  </a:t>
                </a: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sz="1800" dirty="0"/>
                  <a:t> 。 即，向量放大多少倍，它的“长度”也按同样倍数放大。</a:t>
                </a:r>
              </a:p>
              <a:p>
                <a:pPr marL="800100" lvl="1" indent="-342900">
                  <a:lnSpc>
                    <a:spcPct val="110000"/>
                  </a:lnSpc>
                  <a:buFont typeface="+mj-lt"/>
                  <a:buAutoNum type="alphaLcPeriod"/>
                </a:pPr>
                <a:r>
                  <a:rPr lang="en-US" altLang="zh-CN" sz="1800" b="1" dirty="0"/>
                  <a:t> </a:t>
                </a:r>
                <a:r>
                  <a:rPr lang="zh-CN" altLang="en-US" sz="1800" b="1" dirty="0"/>
                  <a:t>三角不等式  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sz="1800" dirty="0">
                    <a:solidFill>
                      <a:srgbClr val="7030A0"/>
                    </a:solidFill>
                  </a:rPr>
                  <a:t> </a:t>
                </a:r>
                <a:r>
                  <a:rPr lang="zh-CN" altLang="en-US" sz="1800" dirty="0"/>
                  <a:t>。 即，两个向量和的长度不超过它们长度之和。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 那么这个映射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∥⋅∥</m:t>
                    </m:r>
                  </m:oMath>
                </a14:m>
                <a:r>
                  <a:rPr lang="zh-CN" altLang="en-US" sz="1800" dirty="0"/>
                  <a:t>就叫做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上的一个</a:t>
                </a:r>
                <a:r>
                  <a:rPr lang="zh-CN" altLang="en-US" sz="1800" b="1" dirty="0"/>
                  <a:t>范数</a:t>
                </a:r>
                <a:r>
                  <a:rPr lang="zh-CN" altLang="en-US" sz="1800" dirty="0"/>
                  <a:t>，而配备了这个范数的向量空间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∥⋅∥</m:t>
                        </m:r>
                      </m:e>
                    </m:d>
                  </m:oMath>
                </a14:m>
                <a:r>
                  <a:rPr lang="zh-CN" altLang="en-US" sz="1800" dirty="0"/>
                  <a:t>就叫做</a:t>
                </a:r>
                <a:r>
                  <a:rPr lang="zh-CN" altLang="en-US" sz="1800" b="1" dirty="0"/>
                  <a:t>赋范向量空间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简单理解：在一个向量空间上，不仅能做加法和数乘，还能测量每个向量的“大小”或“长度”（可谈收敛、连续性）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一旦有了范数，就可以定义距离：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=∥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1800" dirty="0"/>
                  <a:t> 所以赋范向量空间天然也是一个度量空间。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赋范向量空间不一定完备。如果一个赋范向量空间在范数诱导的距离下是完备的，那么它就叫做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Banach 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空间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lang="ja-JP" altLang="en-US" sz="1800" dirty="0"/>
                  <a:t>一列向量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1800" dirty="0"/>
                  <a:t>称为 </a:t>
                </a:r>
                <a:r>
                  <a:rPr lang="en-US" altLang="ja-JP" sz="1800" dirty="0"/>
                  <a:t>Cauchy </a:t>
                </a:r>
                <a:r>
                  <a:rPr lang="ja-JP" altLang="en-US" sz="1800" dirty="0"/>
                  <a:t>列，如果：当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1800" dirty="0"/>
                  <a:t>都足够大时，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altLang="ja-JP" sz="1800" dirty="0"/>
                  <a:t> </a:t>
                </a:r>
                <a:r>
                  <a:rPr lang="ja-JP" altLang="en-US" sz="1800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sz="1800" dirty="0"/>
                  <a:t>已经非常接近。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∃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 i="1"/>
                      <m:t>使得当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 i="1"/>
                      <m:t>时</m:t>
                    </m:r>
                    <m:r>
                      <m:rPr>
                        <m:nor/>
                      </m:rPr>
                      <a:rPr lang="ja-JP" altLang="en-US" i="1"/>
                      <m:t>，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∥&lt;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800" b="0" dirty="0"/>
                  <a:t>（</a:t>
                </a:r>
                <a:r>
                  <a:rPr lang="zh-CN" altLang="en-US" sz="1800" dirty="0"/>
                  <a:t>后面的项彼此差得很小，自己内部越来越稳定</a:t>
                </a:r>
                <a:r>
                  <a:rPr lang="zh-CN" altLang="en-US" sz="1800" b="0" dirty="0"/>
                  <a:t>）</a:t>
                </a:r>
                <a:endParaRPr lang="en-US" altLang="zh-CN" sz="1800" b="0" dirty="0"/>
              </a:p>
              <a:p>
                <a:pPr>
                  <a:lnSpc>
                    <a:spcPct val="110000"/>
                  </a:lnSpc>
                </a:pPr>
                <a:r>
                  <a:rPr lang="ja-JP" altLang="en-US" sz="1800" dirty="0"/>
                  <a:t>如果空间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800" dirty="0"/>
                  <a:t>满足：每一个 </a:t>
                </a:r>
                <a:r>
                  <a:rPr lang="en-US" altLang="ja-JP" sz="1800" dirty="0"/>
                  <a:t>Cauchy </a:t>
                </a:r>
                <a:r>
                  <a:rPr lang="ja-JP" altLang="en-US" sz="1800" dirty="0"/>
                  <a:t>列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1800" dirty="0"/>
                  <a:t>都能收敛到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800" dirty="0"/>
                  <a:t>中某个元素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1800" dirty="0"/>
                  <a:t>, </a:t>
                </a:r>
                <a:r>
                  <a:rPr lang="ja-JP" altLang="en-US" sz="1800" dirty="0"/>
                  <a:t>也就是存在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800" dirty="0"/>
                  <a:t>，使得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sz="1800" dirty="0"/>
                  <a:t> 那么就说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800" dirty="0"/>
                  <a:t>是完备的。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ar-AE" altLang="ja-JP" sz="1800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76114E-DD49-AC4D-FB23-4864CCE27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" y="1615928"/>
                <a:ext cx="12313920" cy="1330960"/>
              </a:xfrm>
              <a:blipFill>
                <a:blip r:embed="rId4"/>
                <a:stretch>
                  <a:fillRect l="-396" t="-1835" b="-322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A436CE-40C8-7F56-04B2-36D9C73E7489}"/>
              </a:ext>
            </a:extLst>
          </p:cNvPr>
          <p:cNvSpPr txBox="1"/>
          <p:nvPr/>
        </p:nvSpPr>
        <p:spPr>
          <a:xfrm>
            <a:off x="4472940" y="45476"/>
            <a:ext cx="6764020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“只要某些积分量接近即可”，本质上不再是由单个距离来定义收敛，而是通过连续线性泛函来定义收敛。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它首先属于赋范空间、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Banach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空间和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Hilbert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空间的框架；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从更一般的角度看，它又属于局部凸拓扑向量空间中的弱拓扑。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1796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CAA5-2252-5CF8-4BD3-5B7B4211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6CEAD7E-A03A-DAF8-1AE4-5F41CEFD9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Banach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A89DFD-DF09-E068-3B80-DAA98685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" y="1121738"/>
            <a:ext cx="8940800" cy="402632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AA51ED1-B33B-D6A9-58B3-457D58292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040" y="5279196"/>
            <a:ext cx="8707120" cy="144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35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37DD-1458-9050-E78C-6E055B5E3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3B6A1E1-A536-FA5E-C3E4-8FA7BF5DD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Banach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854ADD0-0B5F-8CE4-D4B9-6E3DF4E7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334525"/>
            <a:ext cx="10403840" cy="491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2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E4BE-A2D7-FE29-A2C3-484125F9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E331CC-FB13-3577-5E98-E125D48A7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Banach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A6FFB65-23A0-D0B6-5114-0FE89A17C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51350"/>
            <a:ext cx="11429444" cy="488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06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3C77-BAF7-C188-3BE9-3870F8FC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109567-C6B9-A928-65A3-88ABF5951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相关空间：</a:t>
            </a:r>
            <a:r>
              <a:rPr lang="en-US" altLang="zh-CN" b="1" dirty="0"/>
              <a:t>Banach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F93EC3-E42D-3145-BA05-BEFEC54ED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69010"/>
            <a:ext cx="9946640" cy="22464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0ACCF5C-6310-F2B5-8C9B-9697CF0C1BFF}"/>
                  </a:ext>
                </a:extLst>
              </p:cNvPr>
              <p:cNvSpPr txBox="1"/>
              <p:nvPr/>
            </p:nvSpPr>
            <p:spPr>
              <a:xfrm>
                <a:off x="279400" y="3793873"/>
                <a:ext cx="5938520" cy="3258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ja-JP" b="1" dirty="0"/>
                          <m:t>Ban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和概率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在概率空间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ja-JP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  <m:e>
                        <m:r>
                          <a:rPr lang="ar-AE" altLang="ja-JP"/>
                          <m:t>ℱ</m:t>
                        </m:r>
                      </m:e>
                      <m:e>
                        <m:r>
                          <a:rPr lang="ar-AE" altLang="ja-JP"/>
                          <m:t>ℙ</m:t>
                        </m:r>
                      </m:e>
                    </m:d>
                  </m:oMath>
                </a14:m>
                <a:r>
                  <a:rPr lang="ja-JP" altLang="en-US" dirty="0"/>
                  <a:t>上，常见：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1</m:t>
                        </m:r>
                      </m:sup>
                    </m:s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  <m:r>
                      <a:rPr lang="ar-AE" altLang="ja-JP"/>
                      <m:t>, </m:t>
                    </m:r>
                    <m:sSup>
                      <m:sSupPr>
                        <m:ctrlPr>
                          <a:rPr lang="ar-AE" altLang="ja-JP" i="1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  <m:r>
                      <a:rPr lang="ar-AE" altLang="ja-JP"/>
                      <m:t>, </m:t>
                    </m:r>
                    <m:sSup>
                      <m:sSupPr>
                        <m:ctrlPr>
                          <a:rPr lang="ar-AE" altLang="ja-JP" i="1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∞</m:t>
                        </m:r>
                      </m:sup>
                    </m:sSup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/>
                          <m:t>Ω</m:t>
                        </m:r>
                      </m:e>
                    </m:d>
                    <m:r>
                      <a:rPr lang="ar-AE" altLang="ja-JP"/>
                      <m:t>.</m:t>
                    </m:r>
                  </m:oMath>
                </a14:m>
                <a:endParaRPr lang="ar-AE" altLang="ja-JP" dirty="0"/>
              </a:p>
              <a:p>
                <a:r>
                  <a:rPr lang="ja-JP" altLang="en-US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1</m:t>
                        </m:r>
                      </m:sup>
                    </m:sSup>
                  </m:oMath>
                </a14:m>
                <a:r>
                  <a:rPr lang="ja-JP" altLang="ar-AE" dirty="0"/>
                  <a:t>：</a:t>
                </a:r>
                <a:r>
                  <a:rPr lang="ja-JP" altLang="en-US" dirty="0"/>
                  <a:t>可积随机变量；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2</m:t>
                        </m:r>
                      </m:sup>
                    </m:sSup>
                  </m:oMath>
                </a14:m>
                <a:r>
                  <a:rPr lang="ja-JP" altLang="ar-AE" dirty="0"/>
                  <a:t>：</a:t>
                </a:r>
                <a:r>
                  <a:rPr lang="ja-JP" altLang="en-US" dirty="0"/>
                  <a:t>平方可积随机变量；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∞</m:t>
                        </m:r>
                      </m:sup>
                    </m:sSup>
                  </m:oMath>
                </a14:m>
                <a:r>
                  <a:rPr lang="ja-JP" altLang="ar-AE" dirty="0"/>
                  <a:t>：</a:t>
                </a:r>
                <a:r>
                  <a:rPr lang="ja-JP" altLang="en-US" dirty="0"/>
                  <a:t>本质有界随机变量。 </a:t>
                </a:r>
              </a:p>
              <a:p>
                <a:r>
                  <a:rPr lang="ja-JP" altLang="en-US" dirty="0"/>
                  <a:t>它们都是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/>
                        </m:ctrlPr>
                      </m:sSupPr>
                      <m:e>
                        <m:r>
                          <a:rPr lang="ja-JP" altLang="ar-AE" i="1"/>
                          <m:t>𝐿</m:t>
                        </m:r>
                      </m:e>
                      <m:sup>
                        <m:r>
                          <a:rPr lang="ar-AE" altLang="ja-JP"/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甚至还是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空间。</a:t>
                </a:r>
              </a:p>
              <a:p>
                <a:r>
                  <a:rPr lang="ja-JP" altLang="en-US" dirty="0"/>
                  <a:t>所以只要把随机变量看成“空间里的点”，概率论马上就进入了泛函分析视角</a:t>
                </a:r>
              </a:p>
              <a:p>
                <a:endParaRPr lang="ja-JP" altLang="en-US" dirty="0"/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0ACCF5C-6310-F2B5-8C9B-9697CF0C1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793873"/>
                <a:ext cx="5938520" cy="3258584"/>
              </a:xfrm>
              <a:prstGeom prst="rect">
                <a:avLst/>
              </a:prstGeom>
              <a:blipFill>
                <a:blip r:embed="rId4"/>
                <a:stretch>
                  <a:fillRect l="-1129" t="-14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8C7E99F-C775-8F79-D234-B31613DAE53E}"/>
                  </a:ext>
                </a:extLst>
              </p:cNvPr>
              <p:cNvSpPr txBox="1"/>
              <p:nvPr/>
            </p:nvSpPr>
            <p:spPr>
              <a:xfrm>
                <a:off x="6096000" y="3872119"/>
                <a:ext cx="6106160" cy="2909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dirty="0"/>
                  <a:t>是一个 </a:t>
                </a:r>
                <a:r>
                  <a:rPr lang="en-US" altLang="ja-JP" dirty="0"/>
                  <a:t>Markov kernel </a:t>
                </a:r>
                <a:r>
                  <a:rPr lang="ja-JP" altLang="en-US" dirty="0"/>
                  <a:t>或 </a:t>
                </a:r>
                <a:r>
                  <a:rPr lang="en-US" altLang="ja-JP" dirty="0"/>
                  <a:t>Markov operator</a:t>
                </a:r>
                <a:r>
                  <a:rPr lang="ja-JP" altLang="en-US" dirty="0"/>
                  <a:t>。</a:t>
                </a:r>
                <a:br>
                  <a:rPr lang="ja-JP" altLang="en-US" dirty="0"/>
                </a:br>
                <a:r>
                  <a:rPr lang="ja-JP" altLang="en-US" dirty="0"/>
                  <a:t>可以作用在函数上，例如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𝑃𝑓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ar-AE" altLang="ja-JP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ja-JP" altLang="ar-AE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AE" altLang="ja-JP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d>
                    <m:r>
                      <a:rPr lang="ar-AE" altLang="ja-JP" b="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b="0" dirty="0"/>
              </a:p>
              <a:p>
                <a:pPr>
                  <a:buNone/>
                </a:pPr>
                <a:r>
                  <a:rPr lang="ja-JP" altLang="en-US" dirty="0"/>
                  <a:t>这类算子常常满足：</a:t>
                </a:r>
              </a:p>
              <a:p>
                <a:pPr lvl="1"/>
                <a:r>
                  <a:rPr lang="ja-JP" altLang="en-US" dirty="0"/>
                  <a:t>保正性：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𝑃𝑓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/>
                  <a:t> </a:t>
                </a:r>
              </a:p>
              <a:p>
                <a:pPr lvl="1"/>
                <a:r>
                  <a:rPr lang="ja-JP" altLang="en-US" dirty="0"/>
                  <a:t>保常数：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 </a:t>
                </a:r>
              </a:p>
              <a:p>
                <a:pPr lvl="1"/>
                <a:r>
                  <a:rPr lang="ja-JP" altLang="en-US" dirty="0"/>
                  <a:t>在适当范数下是收缩的 </a:t>
                </a:r>
              </a:p>
              <a:p>
                <a:pPr>
                  <a:buNone/>
                </a:pPr>
                <a:r>
                  <a:rPr lang="ja-JP" altLang="en-US" dirty="0"/>
                  <a:t>例如在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ja-JP" altLang="en-US" dirty="0"/>
                  <a:t>或某些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ja-JP" altLang="en-US" dirty="0"/>
                  <a:t>背景下，会有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𝑃𝑓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∥≤∥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ja-JP" altLang="en-US" dirty="0"/>
              </a:p>
              <a:p>
                <a:pPr>
                  <a:buNone/>
                </a:pPr>
                <a:r>
                  <a:rPr lang="ja-JP" altLang="en-US" dirty="0"/>
                  <a:t>所以 </a:t>
                </a:r>
                <a:r>
                  <a:rPr lang="en-US" altLang="ja-JP" dirty="0"/>
                  <a:t>Markov </a:t>
                </a:r>
                <a:r>
                  <a:rPr lang="ja-JP" altLang="en-US" dirty="0"/>
                  <a:t>算子常常既是“概率对象”，又是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ja-JP" b="1" dirty="0"/>
                          <m:t>Ban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dirty="0"/>
                  <a:t>中很自然的态射。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8C7E99F-C775-8F79-D234-B31613DAE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72119"/>
                <a:ext cx="6106160" cy="2909899"/>
              </a:xfrm>
              <a:prstGeom prst="rect">
                <a:avLst/>
              </a:prstGeom>
              <a:blipFill>
                <a:blip r:embed="rId5"/>
                <a:stretch>
                  <a:fillRect l="-998" t="-11088" r="-299" b="-27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270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F586-31B0-74BA-B12D-491E018F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679E5-676C-BA3D-D59C-264D05B9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</a:t>
            </a:r>
            <a:r>
              <a:rPr lang="ja-JP" altLang="en-US" dirty="0"/>
              <a:t>度量空间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47E60D-7A02-EEE0-F7F7-66865D0B4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0812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064D-7AC2-607F-858B-CD39FEC2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E3F2F64-76BF-9166-4572-4CD90752A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度量的意义与必要推广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790CD4C-A9A2-92AF-8564-A8B6BDF8FF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当一个集合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上有距离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1800" dirty="0"/>
                  <a:t>时，我们可以讨论很多分析中的基本概念：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两点之间有多远 </a:t>
                </a:r>
                <a:r>
                  <a:rPr lang="en-US" altLang="zh-CN" sz="1800" dirty="0"/>
                  <a:t>/ </a:t>
                </a:r>
                <a:r>
                  <a:rPr lang="zh-CN" altLang="en-US" sz="1800" dirty="0"/>
                  <a:t>一个序列是否收敛 </a:t>
                </a:r>
                <a:r>
                  <a:rPr lang="en-US" altLang="zh-CN" sz="1800" dirty="0"/>
                  <a:t>/ </a:t>
                </a:r>
                <a:r>
                  <a:rPr lang="zh-CN" altLang="en-US" sz="1800" dirty="0"/>
                  <a:t>一个序列是否是 </a:t>
                </a:r>
                <a:r>
                  <a:rPr lang="en-US" altLang="zh-CN" sz="1800" dirty="0"/>
                  <a:t>Cauchy </a:t>
                </a:r>
                <a:r>
                  <a:rPr lang="zh-CN" altLang="en-US" sz="1800" dirty="0"/>
                  <a:t>列 </a:t>
                </a:r>
                <a:r>
                  <a:rPr lang="en-US" altLang="zh-CN" sz="1800" dirty="0"/>
                  <a:t>/ </a:t>
                </a:r>
                <a:r>
                  <a:rPr lang="zh-CN" altLang="en-US" sz="1800" dirty="0"/>
                  <a:t>空间是否完备 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映射是否连续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度量空间已经足够支撑“极限”的讨论。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5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但在泛函分析中，研究对象通常不是一般的点，而是：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向量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函数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线性泛函或算子，以及逼近过程中的误差项</a:t>
                </a:r>
                <a:r>
                  <a:rPr lang="zh-CN" altLang="en-US" sz="1800" dirty="0"/>
                  <a:t>。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这时不仅要谈“近不近”，还要谈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能否相加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数乘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极限和线性运算是否兼容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算子大小的估计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扰动经过映射后会放大多少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模块串联后误差如何传播</a:t>
                </a:r>
                <a:r>
                  <a:rPr lang="zh-CN" altLang="en-US" sz="1800" dirty="0"/>
                  <a:t>。 这些都要求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度量结构和线性结构相容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至少希望：</a:t>
                </a:r>
              </a:p>
              <a:p>
                <a:pPr marL="0" indent="0">
                  <a:buNone/>
                </a:pPr>
                <a:r>
                  <a:rPr lang="zh-CN" altLang="en-US" sz="1800" b="1" dirty="0"/>
                  <a:t>（</a:t>
                </a:r>
                <a:r>
                  <a:rPr lang="en-US" altLang="zh-CN" sz="1800" b="1" dirty="0"/>
                  <a:t>1</a:t>
                </a:r>
                <a:r>
                  <a:rPr lang="zh-CN" altLang="en-US" sz="1800" b="1" dirty="0"/>
                  <a:t>）平移不改变距离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1800" dirty="0"/>
                  <a:t>     距离只取决于差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1800" dirty="0"/>
                  <a:t>，而不依赖绝对位置。和向量空间的加法结构协调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b="1" dirty="0"/>
                  <a:t>（</a:t>
                </a:r>
                <a:r>
                  <a:rPr lang="en-US" altLang="zh-CN" sz="1800" b="1" dirty="0"/>
                  <a:t>2</a:t>
                </a:r>
                <a:r>
                  <a:rPr lang="zh-CN" altLang="en-US" sz="1800" b="1" dirty="0"/>
                  <a:t>）数乘与距离有可控关系  </a:t>
                </a:r>
                <a:r>
                  <a:rPr lang="zh-CN" altLang="en-US" sz="1800" dirty="0"/>
                  <a:t>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1800" dirty="0"/>
                  <a:t>变化时，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 能和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zh-CN" altLang="en-US" sz="1800" dirty="0"/>
                  <a:t>有自然关系。最理想的是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800" b="0" dirty="0"/>
              </a:p>
              <a:p>
                <a:pPr marL="0" indent="0">
                  <a:buNone/>
                </a:pPr>
                <a:r>
                  <a:rPr lang="zh-CN" altLang="en-US" sz="1800" dirty="0"/>
                  <a:t>缩放向量时，距离也按同样比例缩放（非常接近“由范数产生的距离”）。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例如：赋范向量空间中，</a:t>
                </a:r>
                <a:r>
                  <a:rPr lang="es-ES" altLang="ja-JP" sz="1800" dirty="0"/>
                  <a:t> </a:t>
                </a:r>
                <a14:m>
                  <m:oMath xmlns:m="http://schemas.openxmlformats.org/officeDocument/2006/math"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)=∥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altLang="ja-JP" sz="1800" i="1" dirty="0" smtClean="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sz="1800" dirty="0"/>
                  <a:t>，和线性结构相容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ja-JP" sz="1800" dirty="0"/>
                  <a:t>Banach </a:t>
                </a:r>
                <a:r>
                  <a:rPr lang="ja-JP" altLang="en-US" sz="1800" dirty="0"/>
                  <a:t>空间</a:t>
                </a:r>
                <a:r>
                  <a:rPr lang="zh-CN" altLang="en-US" sz="1800" dirty="0"/>
                  <a:t>中，除了和线性结构相容，还有：极限过程闭合（</a:t>
                </a:r>
                <a:r>
                  <a:rPr lang="en-US" altLang="zh-CN" sz="1800" dirty="0"/>
                  <a:t>Cauchy</a:t>
                </a:r>
                <a:r>
                  <a:rPr lang="zh-CN" altLang="en-US" sz="1800" dirty="0"/>
                  <a:t>列）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另外，单个范数不够时用：局部凸空间、</a:t>
                </a:r>
                <a:r>
                  <a:rPr lang="en-US" altLang="zh-CN" sz="1800" dirty="0"/>
                  <a:t>Fréchet </a:t>
                </a:r>
                <a:r>
                  <a:rPr lang="zh-CN" altLang="en-US" sz="1800" dirty="0"/>
                  <a:t>空间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790CD4C-A9A2-92AF-8564-A8B6BDF8F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462" t="-516" r="-411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168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C754B-97F2-68DF-DF14-10AAC3E8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7991417-412C-A849-3BDF-8B72191E2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局部凸空间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B09E0BF-D807-906A-5426-211901615F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  <a:buAutoNum type="arabicPeriod"/>
                </a:pPr>
                <a:r>
                  <a:rPr lang="zh-CN" altLang="en-US" sz="1800" dirty="0"/>
                  <a:t>拓扑向量空间（线性结构和拓扑结构相容，既能做线性运算，又能讨论收敛、连续性）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pPr>
                  <a:lnSpc>
                    <a:spcPct val="110000"/>
                  </a:lnSpc>
                  <a:buAutoNum type="arabicPeriod"/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  <a:buAutoNum type="arabicPeriod"/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  <a:buAutoNum type="arabicPeriod"/>
                </a:pP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  <a:buFont typeface="+mj-lt"/>
                  <a:buAutoNum type="arabicPeriod" startAt="2"/>
                </a:pPr>
                <a:r>
                  <a:rPr lang="zh-CN" altLang="en-US" sz="1800" dirty="0"/>
                  <a:t>局部凸空间（既保留足够一般的拓扑结构，又仍然适合做线性泛函分析，局部凸拓扑可由半范数族产生）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是一个拓扑向量空间。若在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点存在一个</a:t>
                </a:r>
                <a:r>
                  <a:rPr lang="zh-CN" altLang="en-US" sz="1800" b="1" dirty="0"/>
                  <a:t>由凸邻域组成的邻域基</a:t>
                </a:r>
                <a:r>
                  <a:rPr lang="zh-CN" altLang="en-US" sz="1800" dirty="0"/>
                  <a:t>，则称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是一个</a:t>
                </a:r>
                <a:r>
                  <a:rPr lang="zh-CN" altLang="en-US" sz="1800" b="1" dirty="0"/>
                  <a:t>局部凸空间</a:t>
                </a:r>
                <a:r>
                  <a:rPr lang="zh-CN" altLang="en-US" sz="1800" dirty="0"/>
                  <a:t>，也叫</a:t>
                </a:r>
                <a:r>
                  <a:rPr lang="zh-CN" altLang="en-US" sz="1800" b="1" dirty="0"/>
                  <a:t>局部凸拓扑向量空间</a:t>
                </a:r>
                <a:r>
                  <a:rPr lang="zh-CN" altLang="en-US" sz="1800" dirty="0"/>
                  <a:t>。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即，对于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的任意邻域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1800" dirty="0"/>
                  <a:t>，都能在其中找到一个凸的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1800" dirty="0"/>
                  <a:t>-</a:t>
                </a:r>
                <a:r>
                  <a:rPr lang="zh-CN" altLang="en-US" sz="1800" dirty="0"/>
                  <a:t>邻域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由于拓扑向量空间的平移结构很好，研究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点邻域基就够用。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“局部”指：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不是要求整个空间本身是凸的（向量空间本来也总是凸的）；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而是要求每个点附近，尤其是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/>
                  <a:t>附近，有很多凸邻域。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“凸”指几何凸性：设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。如果对任意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/>
                  <a:t>以及任意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800" dirty="0"/>
                  <a:t>，都有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800" dirty="0"/>
                  <a:t>则称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/>
                  <a:t>是</a:t>
                </a:r>
                <a:r>
                  <a:rPr lang="zh-CN" altLang="en-US" sz="1800" b="1" dirty="0"/>
                  <a:t>凸集</a:t>
                </a:r>
                <a:r>
                  <a:rPr lang="zh-CN" altLang="en-US" sz="1800" dirty="0"/>
                  <a:t>。</a:t>
                </a:r>
              </a:p>
              <a:p>
                <a:pPr marL="0" indent="0">
                  <a:buNone/>
                </a:pPr>
                <a:r>
                  <a:rPr lang="ja-JP" altLang="en-US" sz="1800" dirty="0"/>
                  <a:t> ⇒ </a:t>
                </a:r>
                <a:r>
                  <a:rPr lang="zh-CN" altLang="en-US" sz="1800" dirty="0"/>
                  <a:t>只要两点在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/>
                  <a:t>中，那么连接它们的整个线段也都在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/>
                  <a:t>中。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B09E0BF-D807-906A-5426-211901615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617" t="-141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79A54850-FD18-CBCC-8777-5339E0F81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959" y="1518231"/>
            <a:ext cx="7300015" cy="150647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58A3AD-34A9-4A92-BB91-59091CD89270}"/>
              </a:ext>
            </a:extLst>
          </p:cNvPr>
          <p:cNvSpPr txBox="1"/>
          <p:nvPr/>
        </p:nvSpPr>
        <p:spPr>
          <a:xfrm>
            <a:off x="6253480" y="104745"/>
            <a:ext cx="6131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赋范空间（一个范数）⊂局部凸空间（一族半范数）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70683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9CC3-B3CE-E17D-3AEA-F6E055BE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0DD03F0-6DDB-F860-5572-D8B0C2695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Fréchet </a:t>
            </a:r>
            <a:r>
              <a:rPr lang="zh-CN" altLang="en-US" b="1" dirty="0"/>
              <a:t>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B4D38B4-D101-8DFD-0BE5-D1A9CAF43B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>
                  <a:buFont typeface="+mj-lt"/>
                  <a:buAutoNum type="arabicPeriod" startAt="3"/>
                </a:pPr>
                <a:r>
                  <a:rPr lang="en-US" altLang="ja-JP" sz="1800" dirty="0"/>
                  <a:t>Fréchet </a:t>
                </a:r>
                <a:r>
                  <a:rPr lang="ja-JP" altLang="en-US" sz="1800" dirty="0"/>
                  <a:t>空间</a:t>
                </a:r>
                <a:r>
                  <a:rPr lang="zh-CN" altLang="en-US" sz="1800" dirty="0"/>
                  <a:t>（比 </a:t>
                </a:r>
                <a:r>
                  <a:rPr lang="en-US" altLang="zh-CN" sz="1800" dirty="0"/>
                  <a:t>Banach </a:t>
                </a:r>
                <a:r>
                  <a:rPr lang="zh-CN" altLang="en-US" sz="1800" dirty="0"/>
                  <a:t>空间更一般，但仍然足够“好用”的函数空间）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500" dirty="0"/>
              </a:p>
              <a:p>
                <a:pPr marL="0" indent="0">
                  <a:buNone/>
                </a:pPr>
                <a:r>
                  <a:rPr lang="zh-CN" altLang="en-US" sz="1800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是一个拓扑向量空间。若满足以下三个条件，那么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称为一个 </a:t>
                </a:r>
                <a:r>
                  <a:rPr lang="en-US" altLang="zh-CN" sz="1800" b="1" dirty="0"/>
                  <a:t>Fréchet </a:t>
                </a:r>
                <a:r>
                  <a:rPr lang="zh-CN" altLang="en-US" sz="1800" b="1" dirty="0"/>
                  <a:t>空间</a:t>
                </a:r>
                <a:endParaRPr lang="en-US" altLang="zh-CN" sz="1800" dirty="0"/>
              </a:p>
              <a:p>
                <a:pPr marL="857250" lvl="1" indent="-4572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zh-CN" altLang="en-US" sz="1800" dirty="0"/>
                  <a:t>是局部凸拓扑向量空间；</a:t>
                </a:r>
                <a:endParaRPr lang="en-US" altLang="zh-CN" sz="1800" dirty="0"/>
              </a:p>
              <a:p>
                <a:pPr marL="857250" lvl="1" indent="-457200">
                  <a:buFont typeface="+mj-ea"/>
                  <a:buAutoNum type="circleNumDbPlain"/>
                </a:pPr>
                <a:r>
                  <a:rPr lang="zh-CN" altLang="en-US" sz="1800" dirty="0"/>
                  <a:t>拓扑是 </a:t>
                </a:r>
                <a:r>
                  <a:rPr lang="en-US" altLang="zh-CN" sz="1800" dirty="0" err="1"/>
                  <a:t>Hausdorff</a:t>
                </a:r>
                <a:r>
                  <a:rPr lang="en-US" altLang="zh-CN" sz="1800" dirty="0"/>
                  <a:t> </a:t>
                </a:r>
                <a:r>
                  <a:rPr lang="zh-CN" altLang="en-US" sz="1800" dirty="0"/>
                  <a:t>的，也就是说不同点可以被邻域分开；</a:t>
                </a:r>
                <a:endParaRPr lang="en-US" altLang="zh-CN" i="0" dirty="0"/>
              </a:p>
              <a:p>
                <a:pPr marL="857250" lvl="1" indent="-4572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zh-CN" altLang="en-US" sz="1800" dirty="0"/>
                  <a:t>的拓扑可由某个平移不变度量诱导，并且在这个度量下完备；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局部凸保证：拓扑能由半范数族描述； 连续线性泛函比较丰富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完备保证：</a:t>
                </a:r>
                <a:r>
                  <a:rPr lang="en-US" altLang="zh-CN" sz="1800" dirty="0"/>
                  <a:t>Cauchy </a:t>
                </a:r>
                <a:r>
                  <a:rPr lang="zh-CN" altLang="en-US" sz="1800" dirty="0"/>
                  <a:t>列不会“跑出空间”； 极限过程封闭； 可以做逼近、构造、极限论证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500" dirty="0"/>
              </a:p>
              <a:p>
                <a:pPr marL="0" indent="0">
                  <a:buNone/>
                </a:pPr>
                <a:r>
                  <a:rPr lang="zh-CN" altLang="en-US" sz="1800" dirty="0"/>
                  <a:t>一个 </a:t>
                </a:r>
                <a:r>
                  <a:rPr lang="en-US" altLang="zh-CN" sz="1800" dirty="0" err="1"/>
                  <a:t>Hausdorff</a:t>
                </a:r>
                <a:r>
                  <a:rPr lang="en-US" altLang="zh-CN" sz="1800" dirty="0"/>
                  <a:t> </a:t>
                </a:r>
                <a:r>
                  <a:rPr lang="zh-CN" altLang="en-US" sz="1800" dirty="0"/>
                  <a:t>拓扑向量空间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是 </a:t>
                </a:r>
                <a:r>
                  <a:rPr lang="en-US" altLang="zh-CN" sz="1800" dirty="0"/>
                  <a:t>Fréchet </a:t>
                </a:r>
                <a:r>
                  <a:rPr lang="zh-CN" altLang="en-US" sz="1800" dirty="0"/>
                  <a:t>空间，当且仅当：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它的拓扑由一列半范数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ℕ</m:t>
                        </m:r>
                      </m:sub>
                    </m:sSub>
                  </m:oMath>
                </a14:m>
                <a:r>
                  <a:rPr lang="zh-CN" altLang="en-US" sz="1800" dirty="0"/>
                  <a:t>生成（半范数</a:t>
                </a:r>
                <a:r>
                  <a:rPr lang="en-US" altLang="zh-CN" sz="1800" dirty="0"/>
                  <a:t>+</a:t>
                </a:r>
                <a:r>
                  <a:rPr lang="zh-CN" altLang="en-US" sz="1800" dirty="0"/>
                  <a:t>正定性</a:t>
                </a:r>
                <a:r>
                  <a:rPr lang="en-US" altLang="zh-CN" sz="1800" dirty="0"/>
                  <a:t>=</a:t>
                </a:r>
                <a:r>
                  <a:rPr lang="zh-CN" altLang="en-US" sz="1800" dirty="0"/>
                  <a:t>范数）；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它是完备的。 </a:t>
                </a:r>
                <a:endParaRPr lang="en-US" altLang="zh-CN" sz="1800" dirty="0"/>
              </a:p>
              <a:p>
                <a:pPr marL="57150" indent="0">
                  <a:buNone/>
                </a:pPr>
                <a:r>
                  <a:rPr lang="en-US" altLang="zh-CN" sz="1800" dirty="0"/>
                  <a:t>Fréchet </a:t>
                </a:r>
                <a:r>
                  <a:rPr lang="zh-CN" altLang="en-US" sz="1800" dirty="0"/>
                  <a:t>空间本质上就是：</a:t>
                </a:r>
                <a:r>
                  <a:rPr lang="zh-CN" altLang="en-US" sz="1800" b="1" dirty="0"/>
                  <a:t>由可数个半范数描述、并且完备的局部凸空间。</a:t>
                </a:r>
                <a:endParaRPr lang="en-US" altLang="zh-CN" sz="1800" b="1" dirty="0"/>
              </a:p>
              <a:p>
                <a:pPr marL="5715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ar-AE" sz="1800" dirty="0"/>
                  <a:t>：</a:t>
                </a:r>
                <a:r>
                  <a:rPr lang="ja-JP" altLang="en-US" sz="1800" dirty="0"/>
                  <a:t>最经典的非 </a:t>
                </a:r>
                <a:r>
                  <a:rPr lang="en-US" altLang="ja-JP" sz="1800" dirty="0"/>
                  <a:t>Banach </a:t>
                </a:r>
                <a:r>
                  <a:rPr lang="ja-JP" altLang="en-US" sz="1800" dirty="0"/>
                  <a:t>型 </a:t>
                </a:r>
                <a:r>
                  <a:rPr lang="en-US" altLang="ja-JP" sz="1800" dirty="0"/>
                  <a:t>Fréchet </a:t>
                </a:r>
                <a:r>
                  <a:rPr lang="ja-JP" altLang="en-US" sz="1800" dirty="0"/>
                  <a:t>空间</a:t>
                </a:r>
                <a:endParaRPr lang="zh-CN" altLang="en-US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endParaRPr lang="zh-CN" altLang="en-US" sz="1800" dirty="0"/>
              </a:p>
              <a:p>
                <a:pPr marL="0" indent="0">
                  <a:buNone/>
                </a:pPr>
                <a:endParaRPr lang="zh-CN" altLang="en-US" sz="1800" dirty="0"/>
              </a:p>
              <a:p>
                <a:pPr marL="0" indent="0">
                  <a:buNone/>
                </a:pPr>
                <a:endParaRPr lang="zh-CN" altLang="en-US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B4D38B4-D101-8DFD-0BE5-D1A9CAF43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617" t="-15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D5226A-8D2C-7B05-BC30-830D702818CF}"/>
              </a:ext>
            </a:extLst>
          </p:cNvPr>
          <p:cNvSpPr txBox="1"/>
          <p:nvPr/>
        </p:nvSpPr>
        <p:spPr>
          <a:xfrm>
            <a:off x="6253480" y="104745"/>
            <a:ext cx="6131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Banach</a:t>
            </a:r>
            <a:r>
              <a:rPr lang="zh-CN" altLang="en-US" dirty="0"/>
              <a:t>空间（一个范数）⊂</a:t>
            </a:r>
            <a:r>
              <a:rPr lang="en-US" altLang="zh-CN" dirty="0"/>
              <a:t>Fréchet</a:t>
            </a:r>
            <a:r>
              <a:rPr lang="zh-CN" altLang="en-US" dirty="0"/>
              <a:t>空间（一族半范数）</a:t>
            </a:r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7CA91F3-B4DF-0F24-5D1C-62F691DD9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" y="5549095"/>
            <a:ext cx="6013588" cy="120416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68C915-6481-3D7C-3648-1469B07FFF36}"/>
              </a:ext>
            </a:extLst>
          </p:cNvPr>
          <p:cNvSpPr txBox="1"/>
          <p:nvPr/>
        </p:nvSpPr>
        <p:spPr>
          <a:xfrm>
            <a:off x="6882268" y="5863033"/>
            <a:ext cx="5604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平移不变；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诱导的拓扑与原来的半范数拓扑一致；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适合定义 Fréchet 空间中的收敛与完备性</a:t>
            </a:r>
          </a:p>
        </p:txBody>
      </p:sp>
    </p:spTree>
    <p:extLst>
      <p:ext uri="{BB962C8B-B14F-4D97-AF65-F5344CB8AC3E}">
        <p14:creationId xmlns:p14="http://schemas.microsoft.com/office/powerpoint/2010/main" val="2018917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BBF0-A0E7-34B6-9084-3324F923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3B222DD-8204-B8E7-C088-B21FFC855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空间之间定义：</a:t>
            </a:r>
            <a:r>
              <a:rPr lang="en-US" altLang="zh-CN" b="1" dirty="0"/>
              <a:t>Lipschitz </a:t>
            </a:r>
            <a:r>
              <a:rPr lang="zh-CN" altLang="en-US" b="1" dirty="0"/>
              <a:t>连续映射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E3420B83-D689-42CA-C3F2-23C48C2C7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861800" cy="47244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推广：进一步引入与线性结构兼容的空间，如赋范空间、内积空间、局部凸空间、</a:t>
            </a:r>
            <a:r>
              <a:rPr lang="en-US" altLang="zh-CN" dirty="0"/>
              <a:t>Fréchet </a:t>
            </a:r>
            <a:r>
              <a:rPr lang="zh-CN" altLang="en-US" dirty="0"/>
              <a:t>空间、</a:t>
            </a:r>
            <a:r>
              <a:rPr lang="en-US" altLang="zh-CN" dirty="0"/>
              <a:t>Banach </a:t>
            </a:r>
            <a:r>
              <a:rPr lang="zh-CN" altLang="en-US" dirty="0"/>
              <a:t>空间和 </a:t>
            </a:r>
            <a:r>
              <a:rPr lang="en-US" altLang="zh-CN" dirty="0"/>
              <a:t>Hilbert </a:t>
            </a:r>
            <a:r>
              <a:rPr lang="zh-CN" altLang="en-US" dirty="0"/>
              <a:t>空间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范畴观点：若把度量空间配上任意连续映射，得到的态射过于宽泛，因为连续映射只保留拓扑信息，而不保留距离的定量信息。而</a:t>
            </a:r>
            <a:r>
              <a:rPr lang="en-US" altLang="zh-CN" dirty="0"/>
              <a:t>Lipschitz </a:t>
            </a:r>
            <a:r>
              <a:rPr lang="zh-CN" altLang="en-US" dirty="0"/>
              <a:t>映射 明确控制了扰动如何传播，因此更适合做定量分析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Lipschitz </a:t>
            </a:r>
            <a:r>
              <a:rPr lang="zh-CN" altLang="en-US" dirty="0"/>
              <a:t>常数在复合下满足乘法法则，这使得“度量空间 </a:t>
            </a:r>
            <a:r>
              <a:rPr lang="en-US" altLang="zh-CN" dirty="0"/>
              <a:t>+ Lipschitz </a:t>
            </a:r>
            <a:r>
              <a:rPr lang="zh-CN" altLang="en-US" dirty="0"/>
              <a:t>映射”构成一个很自然的定量范畴，并成为后续讨论有界算子、稳定性估计、压缩映射与不动点定理的重要基础。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Lipschitz </a:t>
            </a:r>
            <a:r>
              <a:rPr lang="zh-CN" altLang="en-US" dirty="0"/>
              <a:t>连续映射是度量空间之间的一类连续映射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C57C76-1FA5-782F-E51A-9B0178DD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41" y="4331826"/>
            <a:ext cx="11378239" cy="109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95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A085-FA66-6FE1-87D6-6D9C48C8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FEE47EE-A8FC-D62C-9AD3-A37A17028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Lipschitz </a:t>
            </a:r>
            <a:r>
              <a:rPr lang="zh-CN" altLang="en-US" b="1" dirty="0"/>
              <a:t>连续映射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7898B0B-E1D9-A8D0-165E-85D78F9303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sz="1800" b="1" dirty="0"/>
                  <a:t>1. </a:t>
                </a:r>
                <a:r>
                  <a:rPr lang="zh-CN" altLang="en-US" sz="1800" b="1" dirty="0"/>
                  <a:t>定义在</a:t>
                </a:r>
                <a:r>
                  <a:rPr lang="ja-JP" altLang="en-US" sz="1800" b="1" dirty="0"/>
                  <a:t>赋范向量空间之间</a:t>
                </a:r>
                <a:r>
                  <a:rPr lang="zh-CN" altLang="en-US" sz="1800" b="1" dirty="0"/>
                  <a:t>：</a:t>
                </a:r>
                <a:r>
                  <a:rPr lang="ja-JP" altLang="en-US" sz="1800" dirty="0"/>
                  <a:t>每个赋范空间 </a:t>
                </a:r>
                <a14:m>
                  <m:oMath xmlns:m="http://schemas.openxmlformats.org/officeDocument/2006/math">
                    <m:r>
                      <a:rPr lang="en-US" altLang="ja-JP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1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altLang="ja-JP" sz="1800">
                        <a:latin typeface="Cambria Math" panose="02040503050406030204" pitchFamily="18" charset="0"/>
                      </a:rPr>
                      <m:t>∥⋅∥</m:t>
                    </m:r>
                    <m:r>
                      <a:rPr lang="en-US" altLang="ja-JP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1800" dirty="0"/>
                  <a:t>都有自然距离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∥.</m:t>
                    </m:r>
                  </m:oMath>
                </a14:m>
                <a:r>
                  <a:rPr lang="ja-JP" altLang="en-US" sz="1800" dirty="0"/>
                  <a:t>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sz="1800" dirty="0"/>
                  <a:t>是 </a:t>
                </a:r>
                <a:r>
                  <a:rPr lang="en-US" altLang="ja-JP" sz="1800" dirty="0"/>
                  <a:t>Lipschitz </a:t>
                </a:r>
                <a:r>
                  <a:rPr lang="ja-JP" altLang="en-US" sz="1800" dirty="0"/>
                  <a:t>就等价于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en-US" altLang="ja-JP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sz="1800" dirty="0"/>
                  <a:t>2. </a:t>
                </a:r>
                <a:r>
                  <a:rPr lang="zh-CN" altLang="en-US" sz="1800" dirty="0"/>
                  <a:t>定义在 </a:t>
                </a:r>
                <a:r>
                  <a:rPr lang="en-US" altLang="ja-JP" sz="1800" b="1" dirty="0"/>
                  <a:t>Banach </a:t>
                </a:r>
                <a:r>
                  <a:rPr lang="ja-JP" altLang="en-US" sz="1800" b="1" dirty="0"/>
                  <a:t>空间之间      </a:t>
                </a:r>
                <a:r>
                  <a:rPr lang="en-US" altLang="ja-JP" sz="1800" dirty="0"/>
                  <a:t>Banach </a:t>
                </a:r>
                <a:r>
                  <a:rPr lang="ja-JP" altLang="en-US" sz="1800" dirty="0"/>
                  <a:t>空间本质上是完备赋范空间，所以当然也是度量空间。因此 </a:t>
                </a:r>
                <a:r>
                  <a:rPr lang="en-US" altLang="ja-JP" sz="1800" dirty="0"/>
                  <a:t>Lipschitz </a:t>
                </a:r>
                <a:r>
                  <a:rPr lang="ja-JP" altLang="en-US" sz="1800" dirty="0"/>
                  <a:t>映射也可以定义在 </a:t>
                </a:r>
                <a:r>
                  <a:rPr lang="en-US" altLang="ja-JP" sz="1800" dirty="0"/>
                  <a:t>Banach </a:t>
                </a:r>
                <a:r>
                  <a:rPr lang="ja-JP" altLang="en-US" sz="1800" dirty="0"/>
                  <a:t>空间之间。</a:t>
                </a:r>
                <a:endParaRPr lang="en-US" altLang="ja-JP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sz="1800" b="1" dirty="0"/>
                  <a:t>3. </a:t>
                </a:r>
                <a:r>
                  <a:rPr lang="zh-CN" altLang="en-US" sz="1800" b="1" dirty="0"/>
                  <a:t>定义在</a:t>
                </a:r>
                <a:r>
                  <a:rPr lang="en-US" altLang="ja-JP" sz="1800" b="1" dirty="0"/>
                  <a:t>Hilbert </a:t>
                </a:r>
                <a:r>
                  <a:rPr lang="ja-JP" altLang="en-US" sz="1800" b="1" dirty="0"/>
                  <a:t>空间之间    </a:t>
                </a:r>
                <a:r>
                  <a:rPr lang="en-US" altLang="ja-JP" sz="1800" dirty="0"/>
                  <a:t>Hilbert </a:t>
                </a:r>
                <a:r>
                  <a:rPr lang="ja-JP" altLang="en-US" sz="1800" dirty="0"/>
                  <a:t>空间也是赋范空间，所以也有自然距离。 </a:t>
                </a:r>
                <a:r>
                  <a:rPr lang="en-US" altLang="ja-JP" sz="1800" dirty="0"/>
                  <a:t>Hilbert </a:t>
                </a:r>
                <a:r>
                  <a:rPr lang="ja-JP" altLang="en-US" sz="1800" dirty="0"/>
                  <a:t>空间之间可以讨论 </a:t>
                </a:r>
                <a:r>
                  <a:rPr lang="en-US" altLang="ja-JP" sz="1800" dirty="0"/>
                  <a:t>Lipschitz </a:t>
                </a:r>
                <a:r>
                  <a:rPr lang="ja-JP" altLang="en-US" sz="1800" dirty="0"/>
                  <a:t>映射。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800" b="1" dirty="0"/>
                  <a:t>4. </a:t>
                </a:r>
                <a:r>
                  <a:rPr lang="zh-CN" altLang="en-US" sz="1800" b="1" dirty="0"/>
                  <a:t>一般度量空间之间  </a:t>
                </a:r>
                <a:r>
                  <a:rPr lang="zh-CN" altLang="en-US" sz="1800" dirty="0"/>
                  <a:t>即使没有线性结构，只要有距离，也可以谈 </a:t>
                </a:r>
                <a:r>
                  <a:rPr lang="en-US" altLang="zh-CN" sz="1800" dirty="0"/>
                  <a:t>Lipschitz </a:t>
                </a:r>
                <a:r>
                  <a:rPr lang="zh-CN" altLang="en-US" sz="1800" dirty="0"/>
                  <a:t>映射。</a:t>
                </a:r>
                <a:br>
                  <a:rPr lang="zh-CN" altLang="en-US" sz="1800" dirty="0"/>
                </a:br>
                <a:r>
                  <a:rPr lang="zh-CN" altLang="en-US" sz="1800" dirty="0"/>
                  <a:t>例如：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800" dirty="0"/>
                  <a:t>到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1800" dirty="0"/>
                  <a:t> /  </a:t>
                </a:r>
                <a:r>
                  <a:rPr lang="zh-CN" altLang="en-US" sz="1800" dirty="0"/>
                  <a:t>图空间之间  </a:t>
                </a:r>
                <a:r>
                  <a:rPr lang="en-US" altLang="zh-CN" sz="1800" dirty="0"/>
                  <a:t>/ </a:t>
                </a:r>
                <a:r>
                  <a:rPr lang="zh-CN" altLang="en-US" sz="1800" dirty="0"/>
                  <a:t>概率测度空间之间（若配 </a:t>
                </a:r>
                <a:r>
                  <a:rPr lang="en-US" altLang="zh-CN" sz="1800" dirty="0"/>
                  <a:t>Wasserstein </a:t>
                </a:r>
                <a:r>
                  <a:rPr lang="zh-CN" altLang="en-US" sz="1800" dirty="0"/>
                  <a:t>距离） </a:t>
                </a:r>
                <a:r>
                  <a:rPr lang="en-US" altLang="zh-CN" sz="1800" dirty="0"/>
                  <a:t>/  </a:t>
                </a:r>
                <a:r>
                  <a:rPr lang="zh-CN" altLang="en-US" sz="1800" dirty="0"/>
                  <a:t>几何对象之间</a:t>
                </a:r>
                <a:endParaRPr lang="en-US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一般度量空间里：</a:t>
                </a:r>
                <a:r>
                  <a:rPr lang="en-US" altLang="zh-CN" sz="1800" dirty="0"/>
                  <a:t>Lipschitz </a:t>
                </a:r>
                <a:r>
                  <a:rPr lang="zh-CN" altLang="en-US" sz="1800" dirty="0"/>
                  <a:t>是“定量连续”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赋范空间线性映射里：</a:t>
                </a:r>
                <a:r>
                  <a:rPr lang="en-US" altLang="zh-CN" sz="1800" dirty="0"/>
                  <a:t>Lipschitz = </a:t>
                </a:r>
                <a:r>
                  <a:rPr lang="zh-CN" altLang="en-US" sz="1800" dirty="0"/>
                  <a:t>有界：如果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1800" dirty="0"/>
                  <a:t>是赋范空间，而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1800" dirty="0"/>
                  <a:t>是</a:t>
                </a:r>
                <a:r>
                  <a:rPr lang="zh-CN" altLang="en-US" sz="1800" b="1" dirty="0"/>
                  <a:t>线性映射</a:t>
                </a:r>
                <a:r>
                  <a:rPr lang="zh-CN" altLang="en-US" sz="1800" dirty="0"/>
                  <a:t>，那么：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1800" dirty="0"/>
                  <a:t>是 </a:t>
                </a:r>
                <a:r>
                  <a:rPr lang="en-US" altLang="zh-CN" sz="1800" dirty="0"/>
                  <a:t>Lipschitz </a:t>
                </a:r>
                <a:r>
                  <a:rPr lang="zh-CN" altLang="en-US" sz="1800" dirty="0"/>
                  <a:t>映射当且仅当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1800" dirty="0"/>
                  <a:t>是有界线性算子。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sz="180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7898B0B-E1D9-A8D0-165E-85D78F930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861800" cy="4724400"/>
              </a:xfrm>
              <a:blipFill>
                <a:blip r:embed="rId3"/>
                <a:stretch>
                  <a:fillRect l="-462" r="-411" b="-211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175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77AB-0007-51B6-3B9A-F7A3549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25D6AB0-705E-1C40-B911-84C7EB7FB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  <a:cs typeface="+mj-cs"/>
              </a:rPr>
              <a:t>范畴上看常见空间与态射</a:t>
            </a:r>
            <a:endParaRPr lang="en-US" b="1" dirty="0">
              <a:latin typeface="+mj-ea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FC7071D5-F60E-7737-7109-4DE47AEED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861800" cy="4724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对度量空间来说，至少有三种常见选法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buNone/>
            </a:pPr>
            <a:endParaRPr lang="ja-JP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BB274260-5048-E501-5BE4-D60B8BA682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112696"/>
                  </p:ext>
                </p:extLst>
              </p:nvPr>
            </p:nvGraphicFramePr>
            <p:xfrm>
              <a:off x="401320" y="1577225"/>
              <a:ext cx="10782540" cy="3695816"/>
            </p:xfrm>
            <a:graphic>
              <a:graphicData uri="http://schemas.openxmlformats.org/drawingml/2006/table">
                <a:tbl>
                  <a:tblPr/>
                  <a:tblGrid>
                    <a:gridCol w="1198060">
                      <a:extLst>
                        <a:ext uri="{9D8B030D-6E8A-4147-A177-3AD203B41FA5}">
                          <a16:colId xmlns:a16="http://schemas.microsoft.com/office/drawing/2014/main" val="358584831"/>
                        </a:ext>
                      </a:extLst>
                    </a:gridCol>
                    <a:gridCol w="889820">
                      <a:extLst>
                        <a:ext uri="{9D8B030D-6E8A-4147-A177-3AD203B41FA5}">
                          <a16:colId xmlns:a16="http://schemas.microsoft.com/office/drawing/2014/main" val="3484642055"/>
                        </a:ext>
                      </a:extLst>
                    </a:gridCol>
                    <a:gridCol w="1506300">
                      <a:extLst>
                        <a:ext uri="{9D8B030D-6E8A-4147-A177-3AD203B41FA5}">
                          <a16:colId xmlns:a16="http://schemas.microsoft.com/office/drawing/2014/main" val="1848783745"/>
                        </a:ext>
                      </a:extLst>
                    </a:gridCol>
                    <a:gridCol w="1013380">
                      <a:extLst>
                        <a:ext uri="{9D8B030D-6E8A-4147-A177-3AD203B41FA5}">
                          <a16:colId xmlns:a16="http://schemas.microsoft.com/office/drawing/2014/main" val="4239178645"/>
                        </a:ext>
                      </a:extLst>
                    </a:gridCol>
                    <a:gridCol w="1036320">
                      <a:extLst>
                        <a:ext uri="{9D8B030D-6E8A-4147-A177-3AD203B41FA5}">
                          <a16:colId xmlns:a16="http://schemas.microsoft.com/office/drawing/2014/main" val="2803719577"/>
                        </a:ext>
                      </a:extLst>
                    </a:gridCol>
                    <a:gridCol w="1544480">
                      <a:extLst>
                        <a:ext uri="{9D8B030D-6E8A-4147-A177-3AD203B41FA5}">
                          <a16:colId xmlns:a16="http://schemas.microsoft.com/office/drawing/2014/main" val="3241500402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1244310020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3858269075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677925903"/>
                        </a:ext>
                      </a:extLst>
                    </a:gridCol>
                  </a:tblGrid>
                  <a:tr h="41513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版本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对象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态射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是否成范畴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保留的信息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优点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局限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常见记法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风格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与其他理论的关系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6283756"/>
                      </a:ext>
                    </a:extLst>
                  </a:tr>
                  <a:tr h="8976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度量空间 </a:t>
                          </a:r>
                          <a:r>
                            <a:rPr lang="en-US" altLang="zh-CN" sz="1400"/>
                            <a:t>+ </a:t>
                          </a:r>
                          <a:r>
                            <a:rPr lang="zh-CN" altLang="en-US" sz="1400"/>
                            <a:t>连续映射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连续映射 </a:t>
                          </a:r>
                          <a:r>
                            <a:rPr lang="en-US" altLang="ja-JP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1400" dirty="0"/>
                            <a:t>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主要是拓扑信息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最宽泛，和普通拓扑学兼容；极限与开集结构自然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太弱，不控制距离放大；缺少定量稳定性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𝐌𝐞</m:t>
                                  </m:r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 i="0" dirty="0" err="1">
                                          <a:latin typeface="Cambria Math" panose="02040503050406030204" pitchFamily="18" charset="0"/>
                                        </a:rPr>
                                        <m:t>𝐜𝐨𝐧𝐭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ja-JP" altLang="en-US" sz="1400" dirty="0"/>
                            <a:t>一类非正式记法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本质上接近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ja-JP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𝐓𝐨𝐩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6223657"/>
                      </a:ext>
                    </a:extLst>
                  </a:tr>
                  <a:tr h="9495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1400" dirty="0"/>
                            <a:t>存在 (</a:t>
                          </a:r>
                          <a14:m>
                            <m:oMath xmlns:m="http://schemas.openxmlformats.org/officeDocument/2006/math">
                              <m:r>
                                <a:rPr lang="es-ES" sz="140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s-ES" sz="1400" i="1" dirty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s-ES" sz="1400" dirty="0"/>
                            <a:t>) 使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𝑓𝑥</m:t>
                                  </m:r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𝑓𝑦</m:t>
                                  </m:r>
                                </m:e>
                              </m:d>
                              <m:r>
                                <a:rPr lang="es-ES" sz="1400" i="1" dirty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s-ES" sz="140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sSub>
                                <m:sSubPr>
                                  <m:ctrlP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sz="140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s-ES" sz="1400" dirty="0"/>
                            <a:t>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拓扑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定量距离控制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复合仍 </a:t>
                          </a:r>
                          <a:r>
                            <a:rPr lang="en-US" altLang="zh-CN" sz="1400" dirty="0"/>
                            <a:t>Lipschitz</a:t>
                          </a:r>
                          <a:r>
                            <a:rPr lang="zh-CN" altLang="en-US" sz="1400" dirty="0"/>
                            <a:t>；常数满足乘法法则；适合稳定性、误差传播分析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常数 </a:t>
                          </a:r>
                          <a:r>
                            <a:rPr lang="en-US" altLang="zh-CN" sz="1400"/>
                            <a:t>(L) </a:t>
                          </a:r>
                          <a:r>
                            <a:rPr lang="zh-CN" altLang="en-US" sz="1400"/>
                            <a:t>不是“纯结构保持”，复合时要跟踪常数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𝐌𝐞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 i="0" dirty="0">
                                            <a:latin typeface="Cambria Math" panose="02040503050406030204" pitchFamily="18" charset="0"/>
                                          </a:rPr>
                                          <m:t>𝐋𝐢𝐩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𝐋𝐢𝐩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与分析、几何、</a:t>
                          </a:r>
                          <a:r>
                            <a:rPr lang="en-US" altLang="zh-CN" sz="1400"/>
                            <a:t>ML </a:t>
                          </a:r>
                          <a:r>
                            <a:rPr lang="zh-CN" altLang="en-US" sz="1400"/>
                            <a:t>鲁棒性密切相关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0594106"/>
                      </a:ext>
                    </a:extLst>
                  </a:tr>
                  <a:tr h="111855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+ 1-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𝑓𝑥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𝑓𝑦</m:t>
                                  </m:r>
                                </m:e>
                              </m:d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) </a:t>
                          </a:r>
                          <a:r>
                            <a:rPr lang="ja-JP" altLang="en-US" sz="1400" dirty="0"/>
                            <a:t>的非扩张映射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最严格的距离结构保持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复合最整齐；</a:t>
                          </a:r>
                          <a:r>
                            <a:rPr lang="en-US" altLang="zh-CN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</a:rPr>
                                <m:t>1⋅1=1</m:t>
                              </m:r>
                            </m:oMath>
                          </a14:m>
                          <a:r>
                            <a:rPr lang="en-US" altLang="zh-CN" sz="1400" dirty="0"/>
                            <a:t>)</a:t>
                          </a:r>
                          <a:r>
                            <a:rPr lang="zh-CN" altLang="en-US" sz="1400" dirty="0"/>
                            <a:t>；天然表达“不放大距离”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比一般 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更严格，很多自然映射会被排除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𝐌𝐞𝐭</m:t>
                                  </m:r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𝐌𝐞𝐭</m:t>
                                  </m:r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≤1</m:t>
                                  </m:r>
                                </m:e>
                              </m:d>
                            </m:oMath>
                          </a14:m>
                          <a:r>
                            <a:rPr lang="ja-JP" altLang="en-US" sz="1400" dirty="0"/>
                            <a:t>等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与 </a:t>
                          </a:r>
                          <a:r>
                            <a:rPr lang="en-US" altLang="zh-CN" sz="1400" dirty="0" err="1"/>
                            <a:t>Lawvere</a:t>
                          </a:r>
                          <a:r>
                            <a:rPr lang="en-US" altLang="zh-CN" sz="1400" dirty="0"/>
                            <a:t> </a:t>
                          </a:r>
                          <a:r>
                            <a:rPr lang="zh-CN" altLang="en-US" sz="1400" dirty="0"/>
                            <a:t>度量空间、富集范畴关系最深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02029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BB274260-5048-E501-5BE4-D60B8BA682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112696"/>
                  </p:ext>
                </p:extLst>
              </p:nvPr>
            </p:nvGraphicFramePr>
            <p:xfrm>
              <a:off x="401320" y="1577225"/>
              <a:ext cx="10782540" cy="3695816"/>
            </p:xfrm>
            <a:graphic>
              <a:graphicData uri="http://schemas.openxmlformats.org/drawingml/2006/table">
                <a:tbl>
                  <a:tblPr/>
                  <a:tblGrid>
                    <a:gridCol w="1198060">
                      <a:extLst>
                        <a:ext uri="{9D8B030D-6E8A-4147-A177-3AD203B41FA5}">
                          <a16:colId xmlns:a16="http://schemas.microsoft.com/office/drawing/2014/main" val="358584831"/>
                        </a:ext>
                      </a:extLst>
                    </a:gridCol>
                    <a:gridCol w="889820">
                      <a:extLst>
                        <a:ext uri="{9D8B030D-6E8A-4147-A177-3AD203B41FA5}">
                          <a16:colId xmlns:a16="http://schemas.microsoft.com/office/drawing/2014/main" val="3484642055"/>
                        </a:ext>
                      </a:extLst>
                    </a:gridCol>
                    <a:gridCol w="1506300">
                      <a:extLst>
                        <a:ext uri="{9D8B030D-6E8A-4147-A177-3AD203B41FA5}">
                          <a16:colId xmlns:a16="http://schemas.microsoft.com/office/drawing/2014/main" val="1848783745"/>
                        </a:ext>
                      </a:extLst>
                    </a:gridCol>
                    <a:gridCol w="1013380">
                      <a:extLst>
                        <a:ext uri="{9D8B030D-6E8A-4147-A177-3AD203B41FA5}">
                          <a16:colId xmlns:a16="http://schemas.microsoft.com/office/drawing/2014/main" val="4239178645"/>
                        </a:ext>
                      </a:extLst>
                    </a:gridCol>
                    <a:gridCol w="1036320">
                      <a:extLst>
                        <a:ext uri="{9D8B030D-6E8A-4147-A177-3AD203B41FA5}">
                          <a16:colId xmlns:a16="http://schemas.microsoft.com/office/drawing/2014/main" val="2803719577"/>
                        </a:ext>
                      </a:extLst>
                    </a:gridCol>
                    <a:gridCol w="1544480">
                      <a:extLst>
                        <a:ext uri="{9D8B030D-6E8A-4147-A177-3AD203B41FA5}">
                          <a16:colId xmlns:a16="http://schemas.microsoft.com/office/drawing/2014/main" val="3241500402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1244310020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3858269075"/>
                        </a:ext>
                      </a:extLst>
                    </a:gridCol>
                    <a:gridCol w="1198060">
                      <a:extLst>
                        <a:ext uri="{9D8B030D-6E8A-4147-A177-3AD203B41FA5}">
                          <a16:colId xmlns:a16="http://schemas.microsoft.com/office/drawing/2014/main" val="677925903"/>
                        </a:ext>
                      </a:extLst>
                    </a:gridCol>
                  </a:tblGrid>
                  <a:tr h="4972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版本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对象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态射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是否成范畴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保留的信息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优点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局限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常见记法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风格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与其他理论的关系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6283756"/>
                      </a:ext>
                    </a:extLst>
                  </a:tr>
                  <a:tr h="92395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度量空间 </a:t>
                          </a:r>
                          <a:r>
                            <a:rPr lang="en-US" altLang="zh-CN" sz="1400"/>
                            <a:t>+ </a:t>
                          </a:r>
                          <a:r>
                            <a:rPr lang="zh-CN" altLang="en-US" sz="1400"/>
                            <a:t>连续映射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9271" t="-57237" r="-478543" b="-26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主要是拓扑信息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最宽泛，和普通拓扑学兼容；极限与开集结构自然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太弱，不控制距离放大；缺少定量稳定性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3061" t="-57237" r="-101531" b="-26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8985" t="-57237" r="-1015" b="-26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223657"/>
                      </a:ext>
                    </a:extLst>
                  </a:tr>
                  <a:tr h="113731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9271" t="-127807" r="-478543" b="-116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拓扑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定量距离控制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复合仍 </a:t>
                          </a:r>
                          <a:r>
                            <a:rPr lang="en-US" altLang="zh-CN" sz="1400" dirty="0"/>
                            <a:t>Lipschitz</a:t>
                          </a:r>
                          <a:r>
                            <a:rPr lang="zh-CN" altLang="en-US" sz="1400" dirty="0"/>
                            <a:t>；常数满足乘法法则；适合稳定性、误差传播分析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常数 </a:t>
                          </a:r>
                          <a:r>
                            <a:rPr lang="en-US" altLang="zh-CN" sz="1400"/>
                            <a:t>(L) </a:t>
                          </a:r>
                          <a:r>
                            <a:rPr lang="zh-CN" altLang="en-US" sz="1400"/>
                            <a:t>不是“纯结构保持”，复合时要跟踪常数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3061" t="-127807" r="-101531" b="-116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与分析、几何、</a:t>
                          </a:r>
                          <a:r>
                            <a:rPr lang="en-US" altLang="zh-CN" sz="1400"/>
                            <a:t>ML </a:t>
                          </a:r>
                          <a:r>
                            <a:rPr lang="zh-CN" altLang="en-US" sz="1400"/>
                            <a:t>鲁棒性密切相关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0594106"/>
                      </a:ext>
                    </a:extLst>
                  </a:tr>
                  <a:tr h="113731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+ 1-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映射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度量空间 </a:t>
                          </a:r>
                          <a:r>
                            <a:rPr lang="en-US" altLang="ja-JP" sz="1400"/>
                            <a:t>((</a:t>
                          </a:r>
                          <a:r>
                            <a:rPr lang="en-US" sz="1400"/>
                            <a:t>X,d))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9271" t="-227807" r="-478543" b="-16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是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最严格的距离结构保持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4961" t="-227807" r="-233071" b="-16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比一般 </a:t>
                          </a:r>
                          <a:r>
                            <a:rPr lang="en-US" sz="1400"/>
                            <a:t>Lipschitz </a:t>
                          </a:r>
                          <a:r>
                            <a:rPr lang="ja-JP" altLang="en-US" sz="1400"/>
                            <a:t>更严格，很多自然映射会被排除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3061" t="-227807" r="-101531" b="-16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与 </a:t>
                          </a:r>
                          <a:r>
                            <a:rPr lang="en-US" altLang="zh-CN" sz="1400" dirty="0" err="1"/>
                            <a:t>Lawvere</a:t>
                          </a:r>
                          <a:r>
                            <a:rPr lang="en-US" altLang="zh-CN" sz="1400" dirty="0"/>
                            <a:t> </a:t>
                          </a:r>
                          <a:r>
                            <a:rPr lang="zh-CN" altLang="en-US" sz="1400" dirty="0"/>
                            <a:t>度量空间、富集范畴关系最深</a:t>
                          </a:r>
                        </a:p>
                      </a:txBody>
                      <a:tcPr marL="70513" marR="70513" marT="35257" marB="3525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02029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4B7A3D-79B3-F896-4FE4-562A5810FC7F}"/>
              </a:ext>
            </a:extLst>
          </p:cNvPr>
          <p:cNvSpPr txBox="1"/>
          <p:nvPr/>
        </p:nvSpPr>
        <p:spPr>
          <a:xfrm>
            <a:off x="121920" y="5388560"/>
            <a:ext cx="11948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对度量空间而言，若取连续映射为态射，则得到的范畴更接近拓扑学，因为连续性只保留拓扑信息，而不保留距离的定量控制。</a:t>
            </a:r>
            <a:br>
              <a:rPr lang="zh-CN" altLang="en-US" sz="1600" dirty="0">
                <a:latin typeface="+mj-ea"/>
                <a:ea typeface="+mj-ea"/>
              </a:rPr>
            </a:br>
            <a:r>
              <a:rPr lang="zh-CN" altLang="en-US" sz="1600" dirty="0">
                <a:latin typeface="+mj-ea"/>
                <a:ea typeface="+mj-ea"/>
              </a:rPr>
              <a:t>若取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映射为态射，则得到一个更适合分析与几何的范畴：恒等映射是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的，复合仍是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的，并且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常数在复合下满足乘法法则，因此态射自带定量稳定性。</a:t>
            </a:r>
            <a:br>
              <a:rPr lang="zh-CN" altLang="en-US" sz="1600" dirty="0">
                <a:latin typeface="+mj-ea"/>
                <a:ea typeface="+mj-ea"/>
              </a:rPr>
            </a:br>
            <a:r>
              <a:rPr lang="zh-CN" altLang="en-US" sz="1600" dirty="0">
                <a:latin typeface="+mj-ea"/>
                <a:ea typeface="+mj-ea"/>
              </a:rPr>
              <a:t>若进一步取 </a:t>
            </a:r>
            <a:r>
              <a:rPr lang="en-US" altLang="zh-CN" sz="1600" dirty="0">
                <a:latin typeface="+mj-ea"/>
                <a:ea typeface="+mj-ea"/>
              </a:rPr>
              <a:t>1-Lipschitz</a:t>
            </a:r>
            <a:r>
              <a:rPr lang="zh-CN" altLang="en-US" sz="1600" dirty="0">
                <a:latin typeface="+mj-ea"/>
                <a:ea typeface="+mj-ea"/>
              </a:rPr>
              <a:t>（非扩张）映射为态射，则得到一个尤其整齐的范畴，因为复合下常数保持为 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。这一版本与 </a:t>
            </a:r>
            <a:r>
              <a:rPr lang="en-US" altLang="zh-CN" sz="1600" dirty="0" err="1">
                <a:latin typeface="+mj-ea"/>
                <a:ea typeface="+mj-ea"/>
              </a:rPr>
              <a:t>Lawvere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度量空间以及富集范畴理论有深刻联系，因而在范畴化的定量结构研究中尤为重要。</a:t>
            </a:r>
            <a:endParaRPr lang="ja-JP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0513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73A4-E89D-E5CC-8707-FD3BF543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941DCBC-AE5C-DF31-7B26-EF0117FF9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  <a:cs typeface="+mj-cs"/>
              </a:rPr>
              <a:t>范畴上看常见空间与态射</a:t>
            </a:r>
            <a:endParaRPr lang="en-US" b="1" dirty="0">
              <a:latin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646217CC-6A11-4778-1803-74303D8C4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4610304"/>
                  </p:ext>
                </p:extLst>
              </p:nvPr>
            </p:nvGraphicFramePr>
            <p:xfrm>
              <a:off x="322940" y="1287306"/>
              <a:ext cx="11615060" cy="5004432"/>
            </p:xfrm>
            <a:graphic>
              <a:graphicData uri="http://schemas.openxmlformats.org/drawingml/2006/table">
                <a:tbl>
                  <a:tblPr/>
                  <a:tblGrid>
                    <a:gridCol w="1365477">
                      <a:extLst>
                        <a:ext uri="{9D8B030D-6E8A-4147-A177-3AD203B41FA5}">
                          <a16:colId xmlns:a16="http://schemas.microsoft.com/office/drawing/2014/main" val="3833399371"/>
                        </a:ext>
                      </a:extLst>
                    </a:gridCol>
                    <a:gridCol w="1236879">
                      <a:extLst>
                        <a:ext uri="{9D8B030D-6E8A-4147-A177-3AD203B41FA5}">
                          <a16:colId xmlns:a16="http://schemas.microsoft.com/office/drawing/2014/main" val="3188465360"/>
                        </a:ext>
                      </a:extLst>
                    </a:gridCol>
                    <a:gridCol w="1212309">
                      <a:extLst>
                        <a:ext uri="{9D8B030D-6E8A-4147-A177-3AD203B41FA5}">
                          <a16:colId xmlns:a16="http://schemas.microsoft.com/office/drawing/2014/main" val="63376136"/>
                        </a:ext>
                      </a:extLst>
                    </a:gridCol>
                    <a:gridCol w="1744775">
                      <a:extLst>
                        <a:ext uri="{9D8B030D-6E8A-4147-A177-3AD203B41FA5}">
                          <a16:colId xmlns:a16="http://schemas.microsoft.com/office/drawing/2014/main" val="727023093"/>
                        </a:ext>
                      </a:extLst>
                    </a:gridCol>
                    <a:gridCol w="1766449">
                      <a:extLst>
                        <a:ext uri="{9D8B030D-6E8A-4147-A177-3AD203B41FA5}">
                          <a16:colId xmlns:a16="http://schemas.microsoft.com/office/drawing/2014/main" val="3100284151"/>
                        </a:ext>
                      </a:extLst>
                    </a:gridCol>
                    <a:gridCol w="2037377">
                      <a:extLst>
                        <a:ext uri="{9D8B030D-6E8A-4147-A177-3AD203B41FA5}">
                          <a16:colId xmlns:a16="http://schemas.microsoft.com/office/drawing/2014/main" val="892779043"/>
                        </a:ext>
                      </a:extLst>
                    </a:gridCol>
                    <a:gridCol w="2251794">
                      <a:extLst>
                        <a:ext uri="{9D8B030D-6E8A-4147-A177-3AD203B41FA5}">
                          <a16:colId xmlns:a16="http://schemas.microsoft.com/office/drawing/2014/main" val="2388858805"/>
                        </a:ext>
                      </a:extLst>
                    </a:gridCol>
                  </a:tblGrid>
                  <a:tr h="34448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范畴风格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对象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态射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为什么自然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主要优点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典型局限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特点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常见用途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6951910"/>
                      </a:ext>
                    </a:extLst>
                  </a:tr>
                  <a:tr h="4421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赋范空间 </a:t>
                          </a:r>
                          <a:r>
                            <a:rPr lang="en-US" altLang="zh-CN" sz="1400"/>
                            <a:t>+ </a:t>
                          </a:r>
                          <a:r>
                            <a:rPr lang="zh-CN" altLang="en-US" sz="1400"/>
                            <a:t>有界线性映射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赋范向量空间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有界线性映射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线性映射中有界 </a:t>
                          </a:r>
                          <a:r>
                            <a:rPr lang="en-US" altLang="zh-CN" sz="1400"/>
                            <a:t>= </a:t>
                          </a:r>
                          <a:r>
                            <a:rPr lang="zh-CN" altLang="en-US" sz="1400"/>
                            <a:t>连续 </a:t>
                          </a:r>
                          <a:r>
                            <a:rPr lang="en-US" altLang="zh-CN" sz="1400"/>
                            <a:t>= Lipschitz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同时保留线性与定量控制；最标准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对象不一定完备；某些极限定理不能直接用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基础泛函分析、线性算子理论入门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375677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赋范空间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contractive linear maps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赋范向量空间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(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en-US" sz="1400" dirty="0"/>
                            <a:t>) </a:t>
                          </a:r>
                          <a:r>
                            <a:rPr lang="ja-JP" altLang="en-US" sz="1400" dirty="0"/>
                            <a:t>的线性映射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是有界线性映射的非扩张版本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复合整齐；更适合张量、内</a:t>
                          </a:r>
                          <a:r>
                            <a:rPr lang="en-US" altLang="zh-CN" sz="1400"/>
                            <a:t>Hom</a:t>
                          </a:r>
                          <a:r>
                            <a:rPr lang="zh-CN" altLang="en-US" sz="1400"/>
                            <a:t>、富集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态射更少，很多自然算子不在其中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范畴化分析、幺半闭结构、富集语义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6263301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完备性使核心定理成立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是经典泛函分析主舞台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范畴论上不如 </a:t>
                          </a:r>
                          <a:r>
                            <a:rPr lang="en-US" sz="1400"/>
                            <a:t>contractive </a:t>
                          </a:r>
                          <a:r>
                            <a:rPr lang="ja-JP" altLang="en-US" sz="1400"/>
                            <a:t>版本“整齐”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400" dirty="0"/>
                            <a:t>Banach </a:t>
                          </a:r>
                          <a:r>
                            <a:rPr lang="zh-CN" altLang="en-US" sz="1400" dirty="0"/>
                            <a:t>理论、对偶、谱理论、算子理论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2596749"/>
                      </a:ext>
                    </a:extLst>
                  </a:tr>
                  <a:tr h="6397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contractive linear maps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(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en-US" sz="1400" dirty="0"/>
                            <a:t>) </a:t>
                          </a:r>
                          <a:r>
                            <a:rPr lang="ja-JP" altLang="en-US" sz="1400" dirty="0"/>
                            <a:t>的线性算子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的非扩张版本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对称幺半、</a:t>
                          </a:r>
                          <a:r>
                            <a:rPr lang="en-US" sz="1400"/>
                            <a:t>projective tensor、</a:t>
                          </a:r>
                          <a:r>
                            <a:rPr lang="ja-JP" altLang="en-US" sz="1400"/>
                            <a:t>内</a:t>
                          </a:r>
                          <a:r>
                            <a:rPr lang="en-US" sz="1400"/>
                            <a:t>Hom </a:t>
                          </a:r>
                          <a:r>
                            <a:rPr lang="ja-JP" altLang="en-US" sz="1400"/>
                            <a:t>更自然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比一般有界算子更严格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enriched category、</a:t>
                          </a:r>
                          <a:r>
                            <a:rPr lang="ja-JP" altLang="en-US" sz="1400"/>
                            <a:t>线性逻辑语义、定量范畴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117669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可结合内积、伴随、正交结构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几何与算子理论都很丰富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态射非常多，结构保持不算最严格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量子信息、谱理论、算子代数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4679842"/>
                      </a:ext>
                    </a:extLst>
                  </a:tr>
                  <a:tr h="6397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contraction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(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en-US" sz="1400" dirty="0"/>
                            <a:t>) </a:t>
                          </a:r>
                          <a:r>
                            <a:rPr lang="ja-JP" altLang="en-US" sz="1400" dirty="0"/>
                            <a:t>的有界线性算子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几何下的非扩张算子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定量整齐，又保留 </a:t>
                          </a: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比一般算子范畴更小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contraction theory、dilation theory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4573616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等距线性映射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保范数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保内积的线性映射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直接保持几何结构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表达无失真嵌入，几何意味强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不一定满射，因此未必可逆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几何嵌入、子空间理论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604254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酉算子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酉同构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最严格保持 </a:t>
                          </a: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所有态射都可逆，结构最纯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范畴几乎退化为 </a:t>
                          </a:r>
                          <a:r>
                            <a:rPr lang="en-US" sz="1400" dirty="0"/>
                            <a:t>groupoid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量子对称性、</a:t>
                          </a:r>
                          <a:r>
                            <a:rPr lang="en-US" altLang="zh-CN" sz="1400" dirty="0"/>
                            <a:t>Hilbert </a:t>
                          </a:r>
                          <a:r>
                            <a:rPr lang="zh-CN" altLang="en-US" sz="1400" dirty="0"/>
                            <a:t>空间同构分类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89702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646217CC-6A11-4778-1803-74303D8C4F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4610304"/>
                  </p:ext>
                </p:extLst>
              </p:nvPr>
            </p:nvGraphicFramePr>
            <p:xfrm>
              <a:off x="322940" y="1287306"/>
              <a:ext cx="11615060" cy="5004432"/>
            </p:xfrm>
            <a:graphic>
              <a:graphicData uri="http://schemas.openxmlformats.org/drawingml/2006/table">
                <a:tbl>
                  <a:tblPr/>
                  <a:tblGrid>
                    <a:gridCol w="1365477">
                      <a:extLst>
                        <a:ext uri="{9D8B030D-6E8A-4147-A177-3AD203B41FA5}">
                          <a16:colId xmlns:a16="http://schemas.microsoft.com/office/drawing/2014/main" val="3833399371"/>
                        </a:ext>
                      </a:extLst>
                    </a:gridCol>
                    <a:gridCol w="1236879">
                      <a:extLst>
                        <a:ext uri="{9D8B030D-6E8A-4147-A177-3AD203B41FA5}">
                          <a16:colId xmlns:a16="http://schemas.microsoft.com/office/drawing/2014/main" val="3188465360"/>
                        </a:ext>
                      </a:extLst>
                    </a:gridCol>
                    <a:gridCol w="1212309">
                      <a:extLst>
                        <a:ext uri="{9D8B030D-6E8A-4147-A177-3AD203B41FA5}">
                          <a16:colId xmlns:a16="http://schemas.microsoft.com/office/drawing/2014/main" val="63376136"/>
                        </a:ext>
                      </a:extLst>
                    </a:gridCol>
                    <a:gridCol w="1744775">
                      <a:extLst>
                        <a:ext uri="{9D8B030D-6E8A-4147-A177-3AD203B41FA5}">
                          <a16:colId xmlns:a16="http://schemas.microsoft.com/office/drawing/2014/main" val="727023093"/>
                        </a:ext>
                      </a:extLst>
                    </a:gridCol>
                    <a:gridCol w="1766449">
                      <a:extLst>
                        <a:ext uri="{9D8B030D-6E8A-4147-A177-3AD203B41FA5}">
                          <a16:colId xmlns:a16="http://schemas.microsoft.com/office/drawing/2014/main" val="3100284151"/>
                        </a:ext>
                      </a:extLst>
                    </a:gridCol>
                    <a:gridCol w="2037377">
                      <a:extLst>
                        <a:ext uri="{9D8B030D-6E8A-4147-A177-3AD203B41FA5}">
                          <a16:colId xmlns:a16="http://schemas.microsoft.com/office/drawing/2014/main" val="892779043"/>
                        </a:ext>
                      </a:extLst>
                    </a:gridCol>
                    <a:gridCol w="2251794">
                      <a:extLst>
                        <a:ext uri="{9D8B030D-6E8A-4147-A177-3AD203B41FA5}">
                          <a16:colId xmlns:a16="http://schemas.microsoft.com/office/drawing/2014/main" val="2388858805"/>
                        </a:ext>
                      </a:extLst>
                    </a:gridCol>
                  </a:tblGrid>
                  <a:tr h="34448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范畴风格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对象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态射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为什么自然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主要优点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典型局限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特点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常见用途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6951910"/>
                      </a:ext>
                    </a:extLst>
                  </a:tr>
                  <a:tr h="4759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赋范空间 </a:t>
                          </a:r>
                          <a:r>
                            <a:rPr lang="en-US" altLang="zh-CN" sz="1400"/>
                            <a:t>+ </a:t>
                          </a:r>
                          <a:r>
                            <a:rPr lang="zh-CN" altLang="en-US" sz="1400"/>
                            <a:t>有界线性映射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赋范向量空间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有界线性映射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线性映射中有界 </a:t>
                          </a:r>
                          <a:r>
                            <a:rPr lang="en-US" altLang="zh-CN" sz="1400"/>
                            <a:t>= </a:t>
                          </a:r>
                          <a:r>
                            <a:rPr lang="zh-CN" altLang="en-US" sz="1400"/>
                            <a:t>连续 </a:t>
                          </a:r>
                          <a:r>
                            <a:rPr lang="en-US" altLang="zh-CN" sz="1400"/>
                            <a:t>= Lipschitz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同时保留线性与定量控制；最标准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对象不一定完备；某些极限定理不能直接用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基础泛函分析、线性算子理论入门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4375677"/>
                      </a:ext>
                    </a:extLst>
                  </a:tr>
                  <a:tr h="6892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赋范空间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contractive linear maps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赋范向量空间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5075" t="-120354" r="-644724" b="-518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是有界线性映射的非扩张版本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复合整齐；更适合张量、内</a:t>
                          </a:r>
                          <a:r>
                            <a:rPr lang="en-US" altLang="zh-CN" sz="1400"/>
                            <a:t>Hom</a:t>
                          </a:r>
                          <a:r>
                            <a:rPr lang="zh-CN" altLang="en-US" sz="1400"/>
                            <a:t>、富集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态射更少，很多自然算子不在其中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范畴化分析、幺半闭结构、富集语义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56263301"/>
                      </a:ext>
                    </a:extLst>
                  </a:tr>
                  <a:tr h="6892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完备性使核心定理成立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是经典泛函分析主舞台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范畴论上不如 </a:t>
                          </a:r>
                          <a:r>
                            <a:rPr lang="en-US" sz="1400"/>
                            <a:t>contractive </a:t>
                          </a:r>
                          <a:r>
                            <a:rPr lang="ja-JP" altLang="en-US" sz="1400"/>
                            <a:t>版本“整齐”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400" dirty="0"/>
                            <a:t>Banach </a:t>
                          </a:r>
                          <a:r>
                            <a:rPr lang="zh-CN" altLang="en-US" sz="1400" dirty="0"/>
                            <a:t>理论、对偶、谱理论、算子理论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2596749"/>
                      </a:ext>
                    </a:extLst>
                  </a:tr>
                  <a:tr h="6892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contractive linear maps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5075" t="-320354" r="-644724" b="-318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Banach </a:t>
                          </a:r>
                          <a:r>
                            <a:rPr lang="ja-JP" altLang="en-US" sz="1400"/>
                            <a:t>的非扩张版本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对称幺半、</a:t>
                          </a:r>
                          <a:r>
                            <a:rPr lang="en-US" sz="1400"/>
                            <a:t>projective tensor、</a:t>
                          </a:r>
                          <a:r>
                            <a:rPr lang="ja-JP" altLang="en-US" sz="1400"/>
                            <a:t>内</a:t>
                          </a:r>
                          <a:r>
                            <a:rPr lang="en-US" sz="1400"/>
                            <a:t>Hom </a:t>
                          </a:r>
                          <a:r>
                            <a:rPr lang="ja-JP" altLang="en-US" sz="1400"/>
                            <a:t>更自然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比一般有界算子更严格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enriched category、</a:t>
                          </a:r>
                          <a:r>
                            <a:rPr lang="ja-JP" altLang="en-US" sz="1400"/>
                            <a:t>线性逻辑语义、定量范畴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117669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有界线性算子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可结合内积、伴随、正交结构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几何与算子理论都很丰富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态射非常多，结构保持不算最严格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量子信息、谱理论、算子代数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4679842"/>
                      </a:ext>
                    </a:extLst>
                  </a:tr>
                  <a:tr h="6397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en-US" sz="1400"/>
                            <a:t>contraction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5075" t="-529524" r="-644724" b="-16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几何下的非扩张算子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定量整齐，又保留 </a:t>
                          </a: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比一般算子范畴更小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contraction theory、dilation theory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4573616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等距线性映射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保范数</a:t>
                          </a:r>
                          <a:r>
                            <a:rPr lang="en-US" altLang="zh-CN" sz="1400"/>
                            <a:t>/</a:t>
                          </a:r>
                          <a:r>
                            <a:rPr lang="zh-CN" altLang="en-US" sz="1400"/>
                            <a:t>保内积的线性映射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直接保持几何结构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表达无失真嵌入，几何意味强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不一定满射，因此未必可逆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几何嵌入、子空间理论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5604254"/>
                      </a:ext>
                    </a:extLst>
                  </a:tr>
                  <a:tr h="492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 </a:t>
                          </a:r>
                          <a:r>
                            <a:rPr lang="en-US" altLang="ja-JP" sz="1400"/>
                            <a:t>+ </a:t>
                          </a:r>
                          <a:r>
                            <a:rPr lang="ja-JP" altLang="en-US" sz="1400"/>
                            <a:t>酉算子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空间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酉同构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/>
                            <a:t>最严格保持 </a:t>
                          </a:r>
                          <a:r>
                            <a:rPr lang="en-US" sz="1400"/>
                            <a:t>Hilbert </a:t>
                          </a:r>
                          <a:r>
                            <a:rPr lang="ja-JP" altLang="en-US" sz="1400"/>
                            <a:t>结构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/>
                            <a:t>所有态射都可逆，结构最纯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400" dirty="0"/>
                            <a:t>范畴几乎退化为 </a:t>
                          </a:r>
                          <a:r>
                            <a:rPr lang="en-US" sz="1400" dirty="0"/>
                            <a:t>groupoid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400" dirty="0"/>
                            <a:t>量子对称性、</a:t>
                          </a:r>
                          <a:r>
                            <a:rPr lang="en-US" altLang="zh-CN" sz="1400" dirty="0"/>
                            <a:t>Hilbert </a:t>
                          </a:r>
                          <a:r>
                            <a:rPr lang="zh-CN" altLang="en-US" sz="1400" dirty="0"/>
                            <a:t>空间同构分类</a:t>
                          </a:r>
                        </a:p>
                      </a:txBody>
                      <a:tcPr marL="49212" marR="49212" marT="24606" marB="246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897029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1287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4CBD-53B4-2EC3-F70B-1FE9153F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F8B07C1-F47D-EDA5-D66A-BA9FA807B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  <a:cs typeface="+mj-cs"/>
              </a:rPr>
              <a:t>范畴上看常见空间与态射</a:t>
            </a:r>
            <a:endParaRPr lang="en-US" b="1" dirty="0">
              <a:latin typeface="+mj-ea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73BB2D0C-73E2-3A84-6D4A-B353CC661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861800" cy="472440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空间：</a:t>
            </a:r>
            <a:r>
              <a:rPr lang="en-US" altLang="ja-JP" sz="1800" dirty="0"/>
              <a:t>Hilbert spaces ⊂ Banach spaces ⊂ Normed spaces.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态射：</a:t>
            </a:r>
            <a:r>
              <a:rPr lang="en-US" altLang="ja-JP" sz="1800" dirty="0"/>
              <a:t>isometries / </a:t>
            </a:r>
            <a:r>
              <a:rPr lang="en-US" altLang="ja-JP" sz="1800" dirty="0" err="1"/>
              <a:t>unitaries</a:t>
            </a:r>
            <a:r>
              <a:rPr lang="ja-JP" altLang="en-US" sz="1800" dirty="0"/>
              <a:t>等距</a:t>
            </a:r>
            <a:r>
              <a:rPr lang="en-US" altLang="ja-JP" sz="1800" dirty="0"/>
              <a:t>/</a:t>
            </a:r>
            <a:r>
              <a:rPr lang="ja-JP" altLang="en-US" sz="1800" dirty="0"/>
              <a:t>酉 </a:t>
            </a:r>
            <a:r>
              <a:rPr lang="en-US" altLang="ja-JP" sz="1800" dirty="0"/>
              <a:t>⊂ contractions ⊂ bounded </a:t>
            </a:r>
            <a:r>
              <a:rPr lang="zh-CN" altLang="en-US" sz="1800" dirty="0"/>
              <a:t>有界</a:t>
            </a:r>
            <a:r>
              <a:rPr lang="en-US" altLang="ja-JP" sz="1800" dirty="0"/>
              <a:t> linear maps.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度量空间相关范畴的某种线性化： </a:t>
            </a:r>
            <a:r>
              <a:rPr lang="en-US" altLang="ja-JP" sz="1800" dirty="0"/>
              <a:t>Met</a:t>
            </a:r>
            <a:r>
              <a:rPr lang="en-US" altLang="ja-JP" sz="1800" baseline="-25000" dirty="0"/>
              <a:t>Lip</a:t>
            </a:r>
            <a:r>
              <a:rPr lang="en-US" altLang="ja-JP" sz="1800" dirty="0"/>
              <a:t> ⇝ Normed  </a:t>
            </a:r>
            <a:r>
              <a:rPr lang="zh-CN" altLang="en-US" sz="1800" dirty="0"/>
              <a:t>和 </a:t>
            </a:r>
            <a:r>
              <a:rPr lang="en-US" altLang="ja-JP" sz="1800" dirty="0"/>
              <a:t>Met</a:t>
            </a:r>
            <a:r>
              <a:rPr lang="en-US" altLang="ja-JP" sz="1800" baseline="-25000" dirty="0"/>
              <a:t>1</a:t>
            </a:r>
            <a:r>
              <a:rPr lang="en-US" altLang="ja-JP" sz="1800" dirty="0"/>
              <a:t>⇝Normed</a:t>
            </a:r>
            <a:r>
              <a:rPr lang="en-US" altLang="ja-JP" sz="1800" baseline="-25000" dirty="0"/>
              <a:t>1</a:t>
            </a:r>
            <a:r>
              <a:rPr lang="en-US" altLang="ja-JP" sz="1800" dirty="0"/>
              <a:t>, Ban</a:t>
            </a:r>
            <a:r>
              <a:rPr lang="en-US" altLang="ja-JP" sz="1800" baseline="-25000" dirty="0"/>
              <a:t>1</a:t>
            </a:r>
            <a:r>
              <a:rPr lang="en-US" altLang="ja-JP" sz="1800" dirty="0"/>
              <a:t>, Hilb</a:t>
            </a:r>
            <a:r>
              <a:rPr lang="en-US" altLang="ja-JP" sz="1800" baseline="-25000" dirty="0"/>
              <a:t>1</a:t>
            </a:r>
          </a:p>
          <a:p>
            <a:pPr marL="0" indent="0">
              <a:lnSpc>
                <a:spcPct val="120000"/>
              </a:lnSpc>
              <a:buNone/>
            </a:pPr>
            <a:endParaRPr lang="ja-JP" altLang="en-US" sz="1800" dirty="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02322F23-79FC-ECF0-A71E-A5E7C8C26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749833"/>
              </p:ext>
            </p:extLst>
          </p:nvPr>
        </p:nvGraphicFramePr>
        <p:xfrm>
          <a:off x="401320" y="2443480"/>
          <a:ext cx="11074401" cy="2286000"/>
        </p:xfrm>
        <a:graphic>
          <a:graphicData uri="http://schemas.openxmlformats.org/drawingml/2006/table">
            <a:tbl>
              <a:tblPr/>
              <a:tblGrid>
                <a:gridCol w="3185160">
                  <a:extLst>
                    <a:ext uri="{9D8B030D-6E8A-4147-A177-3AD203B41FA5}">
                      <a16:colId xmlns:a16="http://schemas.microsoft.com/office/drawing/2014/main" val="171532727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3568203564"/>
                    </a:ext>
                  </a:extLst>
                </a:gridCol>
                <a:gridCol w="3926841">
                  <a:extLst>
                    <a:ext uri="{9D8B030D-6E8A-4147-A177-3AD203B41FA5}">
                      <a16:colId xmlns:a16="http://schemas.microsoft.com/office/drawing/2014/main" val="24164307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度量空间版本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线性化后的对应版本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800"/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41295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度量空间 </a:t>
                      </a:r>
                      <a:r>
                        <a:rPr lang="en-US" altLang="zh-CN" sz="1800" dirty="0"/>
                        <a:t>+ </a:t>
                      </a:r>
                      <a:r>
                        <a:rPr lang="zh-CN" altLang="en-US" sz="1800" dirty="0"/>
                        <a:t>连续映射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在线性赋范背景下退化为“连续线性映射”，而这等价于有界线性映射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线性结构极大加强了连续性的含义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387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800"/>
                        <a:t>度量空间 </a:t>
                      </a:r>
                      <a:r>
                        <a:rPr lang="en-US" altLang="ja-JP" sz="1800"/>
                        <a:t>+ </a:t>
                      </a:r>
                      <a:r>
                        <a:rPr lang="en-US" sz="1800"/>
                        <a:t>Lipschitz </a:t>
                      </a:r>
                      <a:r>
                        <a:rPr lang="ja-JP" altLang="en-US" sz="1800"/>
                        <a:t>映射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赋范空间 </a:t>
                      </a:r>
                      <a:r>
                        <a:rPr lang="en-US" altLang="zh-CN" sz="1800"/>
                        <a:t>+ </a:t>
                      </a:r>
                      <a:r>
                        <a:rPr lang="zh-CN" altLang="en-US" sz="1800"/>
                        <a:t>有界线性映射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Lipschitz </a:t>
                      </a:r>
                      <a:r>
                        <a:rPr lang="ja-JP" altLang="en-US" sz="1800"/>
                        <a:t>的线性版本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814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800"/>
                        <a:t>度量空间 </a:t>
                      </a:r>
                      <a:r>
                        <a:rPr lang="en-US" altLang="ja-JP" sz="1800"/>
                        <a:t>+ 1-</a:t>
                      </a:r>
                      <a:r>
                        <a:rPr lang="en-US" sz="1800"/>
                        <a:t>Lipschitz </a:t>
                      </a:r>
                      <a:r>
                        <a:rPr lang="ja-JP" altLang="en-US" sz="1800"/>
                        <a:t>映射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800"/>
                        <a:t>赋范</a:t>
                      </a:r>
                      <a:r>
                        <a:rPr lang="en-US" altLang="ja-JP" sz="1800"/>
                        <a:t>/</a:t>
                      </a:r>
                      <a:r>
                        <a:rPr lang="en-US" sz="1800"/>
                        <a:t>Banach/Hilbert + contractive linear maps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非扩张映射的线性版本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52226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17D30F-837E-B770-0ADF-B076B68CE3D1}"/>
              </a:ext>
            </a:extLst>
          </p:cNvPr>
          <p:cNvSpPr txBox="1"/>
          <p:nvPr/>
        </p:nvSpPr>
        <p:spPr>
          <a:xfrm>
            <a:off x="347980" y="4883259"/>
            <a:ext cx="11181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在赋范空间、</a:t>
            </a:r>
            <a:r>
              <a:rPr lang="en-US" altLang="zh-CN" sz="1600" dirty="0">
                <a:latin typeface="+mj-ea"/>
                <a:ea typeface="+mj-ea"/>
              </a:rPr>
              <a:t>Banach </a:t>
            </a:r>
            <a:r>
              <a:rPr lang="zh-CN" altLang="en-US" sz="1600" dirty="0">
                <a:latin typeface="+mj-ea"/>
                <a:ea typeface="+mj-ea"/>
              </a:rPr>
              <a:t>空间和 </a:t>
            </a:r>
            <a:r>
              <a:rPr lang="en-US" altLang="zh-CN" sz="1600" dirty="0">
                <a:latin typeface="+mj-ea"/>
                <a:ea typeface="+mj-ea"/>
              </a:rPr>
              <a:t>Hilbert </a:t>
            </a:r>
            <a:r>
              <a:rPr lang="zh-CN" altLang="en-US" sz="1600" dirty="0">
                <a:latin typeface="+mj-ea"/>
                <a:ea typeface="+mj-ea"/>
              </a:rPr>
              <a:t>空间的背景下，最自然的态射通常不是任意映射，而是有界线性映射，因为对线性映射而言，有界性、连续性与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性彼此等价。“有界线性映射”可看作度量空间中 </a:t>
            </a:r>
            <a:r>
              <a:rPr lang="en-US" altLang="zh-CN" sz="1600" dirty="0">
                <a:latin typeface="+mj-ea"/>
                <a:ea typeface="+mj-ea"/>
              </a:rPr>
              <a:t>Lipschitz </a:t>
            </a:r>
            <a:r>
              <a:rPr lang="zh-CN" altLang="en-US" sz="1600" dirty="0">
                <a:latin typeface="+mj-ea"/>
                <a:ea typeface="+mj-ea"/>
              </a:rPr>
              <a:t>映射在线性分析中的对应物。</a:t>
            </a:r>
            <a:br>
              <a:rPr lang="zh-CN" altLang="en-US" sz="1600" dirty="0">
                <a:latin typeface="+mj-ea"/>
                <a:ea typeface="+mj-ea"/>
              </a:rPr>
            </a:br>
            <a:r>
              <a:rPr lang="zh-CN" altLang="en-US" sz="1600" dirty="0">
                <a:latin typeface="+mj-ea"/>
                <a:ea typeface="+mj-ea"/>
              </a:rPr>
              <a:t>若进一步将态射限制为范数不超过 </a:t>
            </a:r>
            <a:r>
              <a:rPr lang="en-US" altLang="zh-CN" sz="1600" dirty="0">
                <a:latin typeface="+mj-ea"/>
                <a:ea typeface="+mj-ea"/>
              </a:rPr>
              <a:t>1 </a:t>
            </a:r>
            <a:r>
              <a:rPr lang="zh-CN" altLang="en-US" sz="1600" dirty="0">
                <a:latin typeface="+mj-ea"/>
                <a:ea typeface="+mj-ea"/>
              </a:rPr>
              <a:t>的线性映射，则得到更适合范畴论处理的非扩张版本；这一版本在复合下最整齐，并常与张量积、内 </a:t>
            </a:r>
            <a:r>
              <a:rPr lang="en-US" altLang="zh-CN" sz="1600" dirty="0">
                <a:latin typeface="+mj-ea"/>
                <a:ea typeface="+mj-ea"/>
              </a:rPr>
              <a:t>Hom</a:t>
            </a:r>
            <a:r>
              <a:rPr lang="zh-CN" altLang="en-US" sz="1600" dirty="0">
                <a:latin typeface="+mj-ea"/>
                <a:ea typeface="+mj-ea"/>
              </a:rPr>
              <a:t>、对称幺半闭结构以及富集范畴联系在一起。</a:t>
            </a:r>
            <a:br>
              <a:rPr lang="zh-CN" altLang="en-US" sz="1600" dirty="0">
                <a:latin typeface="+mj-ea"/>
                <a:ea typeface="+mj-ea"/>
              </a:rPr>
            </a:br>
            <a:r>
              <a:rPr lang="zh-CN" altLang="en-US" sz="1600" dirty="0">
                <a:latin typeface="+mj-ea"/>
                <a:ea typeface="+mj-ea"/>
              </a:rPr>
              <a:t>对 </a:t>
            </a:r>
            <a:r>
              <a:rPr lang="en-US" altLang="zh-CN" sz="1600" dirty="0">
                <a:latin typeface="+mj-ea"/>
                <a:ea typeface="+mj-ea"/>
              </a:rPr>
              <a:t>Hilbert </a:t>
            </a:r>
            <a:r>
              <a:rPr lang="zh-CN" altLang="en-US" sz="1600" dirty="0">
                <a:latin typeface="+mj-ea"/>
                <a:ea typeface="+mj-ea"/>
              </a:rPr>
              <a:t>空间而言，还可以进一步考虑等距线性映射或酉算子。前者强调几何上的无失真嵌入，后者则只保留完全保持内积结构的同构，因此几乎形成一个 </a:t>
            </a:r>
            <a:r>
              <a:rPr lang="en-US" altLang="zh-CN" sz="1600" dirty="0">
                <a:latin typeface="+mj-ea"/>
                <a:ea typeface="+mj-ea"/>
              </a:rPr>
              <a:t>groupoid</a:t>
            </a:r>
            <a:r>
              <a:rPr lang="zh-CN" altLang="en-US" sz="1600" dirty="0">
                <a:latin typeface="+mj-ea"/>
                <a:ea typeface="+mj-ea"/>
              </a:rPr>
              <a:t>。由此可见，同一类对象在选择不同态射后，会得到性质非常不同的范畴。</a:t>
            </a:r>
            <a:endParaRPr lang="ja-JP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6421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85622</TotalTime>
  <Words>5454</Words>
  <Application>Microsoft Office PowerPoint</Application>
  <PresentationFormat>ワイド画面</PresentationFormat>
  <Paragraphs>644</Paragraphs>
  <Slides>45</Slides>
  <Notes>40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3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第一节的内容复习部分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复习：谈距离、收敛与稳定性</vt:lpstr>
      <vt:lpstr>本节内容</vt:lpstr>
      <vt:lpstr>目标</vt:lpstr>
      <vt:lpstr>目标</vt:lpstr>
      <vt:lpstr>具体场景引入</vt:lpstr>
      <vt:lpstr>场景 1：逼近问题——为什么“比较函数”不是一件简单的事？</vt:lpstr>
      <vt:lpstr>场景 2：信号误差</vt:lpstr>
      <vt:lpstr>场景 3：PDE的解</vt:lpstr>
      <vt:lpstr>“逼近得好”代表的意思</vt:lpstr>
      <vt:lpstr>“逼近得好”代表的意思</vt:lpstr>
      <vt:lpstr>“逼近得好”代表的意思</vt:lpstr>
      <vt:lpstr>相关空间：Sobolev 空间</vt:lpstr>
      <vt:lpstr>相关空间：Sobolev 空间</vt:lpstr>
      <vt:lpstr>相关空间：Sobolev 空间</vt:lpstr>
      <vt:lpstr>“逼近得好”代表的意思</vt:lpstr>
      <vt:lpstr>相关空间：赋范向量空间</vt:lpstr>
      <vt:lpstr>相关空间：Banach空间</vt:lpstr>
      <vt:lpstr>相关空间：Banach空间</vt:lpstr>
      <vt:lpstr>相关空间：Banach空间</vt:lpstr>
      <vt:lpstr>相关空间：Banach空间</vt:lpstr>
      <vt:lpstr>关于度量空间</vt:lpstr>
      <vt:lpstr>度量的意义与必要推广</vt:lpstr>
      <vt:lpstr>局部凸空间</vt:lpstr>
      <vt:lpstr>Fréchet 空间</vt:lpstr>
      <vt:lpstr>空间之间定义：Lipschitz 连续映射</vt:lpstr>
      <vt:lpstr>Lipschitz 连续映射</vt:lpstr>
      <vt:lpstr>范畴上看常见空间与态射</vt:lpstr>
      <vt:lpstr>范畴上看常见空间与态射</vt:lpstr>
      <vt:lpstr>范畴上看常见空间与态射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4408</cp:revision>
  <dcterms:created xsi:type="dcterms:W3CDTF">2001-07-30T09:48:22Z</dcterms:created>
  <dcterms:modified xsi:type="dcterms:W3CDTF">2026-04-19T10:56:25Z</dcterms:modified>
</cp:coreProperties>
</file>