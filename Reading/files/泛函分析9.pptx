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38"/>
  </p:notesMasterIdLst>
  <p:handoutMasterIdLst>
    <p:handoutMasterId r:id="rId39"/>
  </p:handoutMasterIdLst>
  <p:sldIdLst>
    <p:sldId id="257" r:id="rId2"/>
    <p:sldId id="527" r:id="rId3"/>
    <p:sldId id="528" r:id="rId4"/>
    <p:sldId id="529" r:id="rId5"/>
    <p:sldId id="530" r:id="rId6"/>
    <p:sldId id="531" r:id="rId7"/>
    <p:sldId id="532" r:id="rId8"/>
    <p:sldId id="559" r:id="rId9"/>
    <p:sldId id="533" r:id="rId10"/>
    <p:sldId id="534" r:id="rId11"/>
    <p:sldId id="535" r:id="rId12"/>
    <p:sldId id="536" r:id="rId13"/>
    <p:sldId id="537" r:id="rId14"/>
    <p:sldId id="560" r:id="rId15"/>
    <p:sldId id="538" r:id="rId16"/>
    <p:sldId id="539" r:id="rId17"/>
    <p:sldId id="540" r:id="rId18"/>
    <p:sldId id="541" r:id="rId19"/>
    <p:sldId id="542" r:id="rId20"/>
    <p:sldId id="543" r:id="rId21"/>
    <p:sldId id="544" r:id="rId22"/>
    <p:sldId id="545" r:id="rId23"/>
    <p:sldId id="546" r:id="rId24"/>
    <p:sldId id="547" r:id="rId25"/>
    <p:sldId id="548" r:id="rId26"/>
    <p:sldId id="549" r:id="rId27"/>
    <p:sldId id="550" r:id="rId28"/>
    <p:sldId id="552" r:id="rId29"/>
    <p:sldId id="551" r:id="rId30"/>
    <p:sldId id="553" r:id="rId31"/>
    <p:sldId id="554" r:id="rId32"/>
    <p:sldId id="555" r:id="rId33"/>
    <p:sldId id="556" r:id="rId34"/>
    <p:sldId id="557" r:id="rId35"/>
    <p:sldId id="558" r:id="rId36"/>
    <p:sldId id="503" r:id="rId37"/>
  </p:sldIdLst>
  <p:sldSz cx="12192000" cy="6858000"/>
  <p:notesSz cx="6669088" cy="9926638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000" kern="1200">
        <a:solidFill>
          <a:schemeClr val="tx1"/>
        </a:solidFill>
        <a:latin typeface="Comic Sans MS" panose="030F0902030302020204" pitchFamily="66" charset="0"/>
        <a:ea typeface="ＭＳ Ｐゴシック" panose="020B0600070205080204" pitchFamily="34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000" kern="1200">
        <a:solidFill>
          <a:schemeClr val="tx1"/>
        </a:solidFill>
        <a:latin typeface="Comic Sans MS" panose="030F0902030302020204" pitchFamily="66" charset="0"/>
        <a:ea typeface="ＭＳ Ｐゴシック" panose="020B0600070205080204" pitchFamily="34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000" kern="1200">
        <a:solidFill>
          <a:schemeClr val="tx1"/>
        </a:solidFill>
        <a:latin typeface="Comic Sans MS" panose="030F0902030302020204" pitchFamily="66" charset="0"/>
        <a:ea typeface="ＭＳ Ｐゴシック" panose="020B0600070205080204" pitchFamily="34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000" kern="1200">
        <a:solidFill>
          <a:schemeClr val="tx1"/>
        </a:solidFill>
        <a:latin typeface="Comic Sans MS" panose="030F0902030302020204" pitchFamily="66" charset="0"/>
        <a:ea typeface="ＭＳ Ｐゴシック" panose="020B0600070205080204" pitchFamily="34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000" kern="1200">
        <a:solidFill>
          <a:schemeClr val="tx1"/>
        </a:solidFill>
        <a:latin typeface="Comic Sans MS" panose="030F0902030302020204" pitchFamily="66" charset="0"/>
        <a:ea typeface="ＭＳ Ｐゴシック" panose="020B0600070205080204" pitchFamily="34" charset="-128"/>
        <a:cs typeface="+mn-cs"/>
      </a:defRPr>
    </a:lvl5pPr>
    <a:lvl6pPr marL="2286000" algn="l" defTabSz="914400" rtl="0" eaLnBrk="1" latinLnBrk="0" hangingPunct="1">
      <a:defRPr sz="2000" kern="1200">
        <a:solidFill>
          <a:schemeClr val="tx1"/>
        </a:solidFill>
        <a:latin typeface="Comic Sans MS" panose="030F0902030302020204" pitchFamily="66" charset="0"/>
        <a:ea typeface="ＭＳ Ｐゴシック" panose="020B0600070205080204" pitchFamily="34" charset="-128"/>
        <a:cs typeface="+mn-cs"/>
      </a:defRPr>
    </a:lvl6pPr>
    <a:lvl7pPr marL="2743200" algn="l" defTabSz="914400" rtl="0" eaLnBrk="1" latinLnBrk="0" hangingPunct="1">
      <a:defRPr sz="2000" kern="1200">
        <a:solidFill>
          <a:schemeClr val="tx1"/>
        </a:solidFill>
        <a:latin typeface="Comic Sans MS" panose="030F0902030302020204" pitchFamily="66" charset="0"/>
        <a:ea typeface="ＭＳ Ｐゴシック" panose="020B0600070205080204" pitchFamily="34" charset="-128"/>
        <a:cs typeface="+mn-cs"/>
      </a:defRPr>
    </a:lvl7pPr>
    <a:lvl8pPr marL="3200400" algn="l" defTabSz="914400" rtl="0" eaLnBrk="1" latinLnBrk="0" hangingPunct="1">
      <a:defRPr sz="2000" kern="1200">
        <a:solidFill>
          <a:schemeClr val="tx1"/>
        </a:solidFill>
        <a:latin typeface="Comic Sans MS" panose="030F0902030302020204" pitchFamily="66" charset="0"/>
        <a:ea typeface="ＭＳ Ｐゴシック" panose="020B0600070205080204" pitchFamily="34" charset="-128"/>
        <a:cs typeface="+mn-cs"/>
      </a:defRPr>
    </a:lvl8pPr>
    <a:lvl9pPr marL="3657600" algn="l" defTabSz="914400" rtl="0" eaLnBrk="1" latinLnBrk="0" hangingPunct="1">
      <a:defRPr sz="2000" kern="1200">
        <a:solidFill>
          <a:schemeClr val="tx1"/>
        </a:solidFill>
        <a:latin typeface="Comic Sans MS" panose="030F0902030302020204" pitchFamily="66" charset="0"/>
        <a:ea typeface="ＭＳ Ｐゴシック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7679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70C0"/>
    <a:srgbClr val="F9EAEF"/>
    <a:srgbClr val="1E35A8"/>
    <a:srgbClr val="EDFFED"/>
    <a:srgbClr val="FFFDF0"/>
    <a:srgbClr val="F5F2DF"/>
    <a:srgbClr val="F7F7F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スタイル (中間)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8D230F3-CF80-4859-8CE7-A43EE81993B5}" styleName="淡色スタイル 1 - アクセント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8799B23B-EC83-4686-B30A-512413B5E67A}" styleName="淡色スタイル 3 - アクセント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0660B408-B3CF-4A94-85FC-2B1E0A45F4A2}" styleName="濃色スタイル 2 - アクセント 1/アクセント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7DF18680-E054-41AD-8BC1-D1AEF772440D}" styleName="中間スタイル 2 - アクセント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ED083AE6-46FA-4A59-8FB0-9F97EB10719F}" styleName="淡色スタイル 3 - アクセント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D7AC3CCA-C797-4891-BE02-D94E43425B78}" styleName="スタイル (中間)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26" autoAdjust="0"/>
    <p:restoredTop sz="93447" autoAdjust="0"/>
  </p:normalViewPr>
  <p:slideViewPr>
    <p:cSldViewPr snapToGrid="0">
      <p:cViewPr>
        <p:scale>
          <a:sx n="63" d="100"/>
          <a:sy n="63" d="100"/>
        </p:scale>
        <p:origin x="800" y="32"/>
      </p:cViewPr>
      <p:guideLst>
        <p:guide orient="horz" pos="2160"/>
        <p:guide pos="7679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0" d="100"/>
        <a:sy n="12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handoutMaster" Target="handoutMasters/handout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2">
            <a:extLst>
              <a:ext uri="{FF2B5EF4-FFF2-40B4-BE49-F238E27FC236}">
                <a16:creationId xmlns:a16="http://schemas.microsoft.com/office/drawing/2014/main" id="{52C18442-6CBB-9D4C-BAEA-A8F1BBD35774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89250" cy="496888"/>
          </a:xfrm>
          <a:prstGeom prst="rect">
            <a:avLst/>
          </a:prstGeom>
          <a:noFill/>
          <a:ln>
            <a:noFill/>
          </a:ln>
          <a:effectLst/>
          <a:extLst>
            <a:ext uri="{FAA26D3D-D897-4be2-8F04-BA451C77F1D7}"/>
            <a:ext uri="{909E8E84-426E-40dd-AFC4-6F175D3DCCD1}"/>
            <a:ext uri="{91240B29-F687-4f45-9708-019B960494DF}"/>
            <a:ext uri="{AF507438-7753-43e0-B8FC-AC1667EBCBE1}"/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Comic Sans MS" charset="0"/>
                <a:ea typeface="ＭＳ Ｐゴシック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9395" name="Rectangle 3">
            <a:extLst>
              <a:ext uri="{FF2B5EF4-FFF2-40B4-BE49-F238E27FC236}">
                <a16:creationId xmlns:a16="http://schemas.microsoft.com/office/drawing/2014/main" id="{653F2BA6-0CAA-5945-ACBD-4F338120D7D6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779838" y="0"/>
            <a:ext cx="2889250" cy="496888"/>
          </a:xfrm>
          <a:prstGeom prst="rect">
            <a:avLst/>
          </a:prstGeom>
          <a:noFill/>
          <a:ln>
            <a:noFill/>
          </a:ln>
          <a:effectLst/>
          <a:extLst>
            <a:ext uri="{FAA26D3D-D897-4be2-8F04-BA451C77F1D7}"/>
            <a:ext uri="{909E8E84-426E-40dd-AFC4-6F175D3DCCD1}"/>
            <a:ext uri="{91240B29-F687-4f45-9708-019B960494DF}"/>
            <a:ext uri="{AF507438-7753-43e0-B8FC-AC1667EBCBE1}"/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Comic Sans MS" charset="0"/>
                <a:ea typeface="ＭＳ Ｐゴシック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9396" name="Rectangle 4">
            <a:extLst>
              <a:ext uri="{FF2B5EF4-FFF2-40B4-BE49-F238E27FC236}">
                <a16:creationId xmlns:a16="http://schemas.microsoft.com/office/drawing/2014/main" id="{14557265-7C63-8C48-84E3-2EBF33E87183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429750"/>
            <a:ext cx="2889250" cy="496888"/>
          </a:xfrm>
          <a:prstGeom prst="rect">
            <a:avLst/>
          </a:prstGeom>
          <a:noFill/>
          <a:ln>
            <a:noFill/>
          </a:ln>
          <a:effectLst/>
          <a:extLst>
            <a:ext uri="{FAA26D3D-D897-4be2-8F04-BA451C77F1D7}"/>
            <a:ext uri="{909E8E84-426E-40dd-AFC4-6F175D3DCCD1}"/>
            <a:ext uri="{91240B29-F687-4f45-9708-019B960494DF}"/>
            <a:ext uri="{AF507438-7753-43e0-B8FC-AC1667EBCBE1}"/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Comic Sans MS" charset="0"/>
                <a:ea typeface="ＭＳ Ｐゴシック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9397" name="Rectangle 5">
            <a:extLst>
              <a:ext uri="{FF2B5EF4-FFF2-40B4-BE49-F238E27FC236}">
                <a16:creationId xmlns:a16="http://schemas.microsoft.com/office/drawing/2014/main" id="{708EC389-215B-BB4B-AF04-0D16A0A56207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779838" y="9429750"/>
            <a:ext cx="2889250" cy="496888"/>
          </a:xfrm>
          <a:prstGeom prst="rect">
            <a:avLst/>
          </a:prstGeom>
          <a:noFill/>
          <a:ln>
            <a:noFill/>
          </a:ln>
          <a:effectLst/>
          <a:extLst>
            <a:ext uri="{FAA26D3D-D897-4be2-8F04-BA451C77F1D7}"/>
            <a:ext uri="{909E8E84-426E-40dd-AFC4-6F175D3DCCD1}"/>
            <a:ext uri="{91240B29-F687-4f45-9708-019B960494DF}"/>
            <a:ext uri="{AF507438-7753-43e0-B8FC-AC1667EBCBE1}"/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Comic Sans MS" charset="0"/>
                <a:ea typeface="ＭＳ Ｐゴシック" charset="-128"/>
              </a:defRPr>
            </a:lvl1pPr>
          </a:lstStyle>
          <a:p>
            <a:pPr>
              <a:defRPr/>
            </a:pPr>
            <a:fld id="{A331DE67-792D-4F41-8BD2-183E50FC1F7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C921D813-D54F-5A42-8D81-6FD883C1EBA8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89250" cy="496888"/>
          </a:xfrm>
          <a:prstGeom prst="rect">
            <a:avLst/>
          </a:prstGeom>
          <a:noFill/>
          <a:ln>
            <a:noFill/>
          </a:ln>
          <a:effectLst/>
          <a:extLst>
            <a:ext uri="{FAA26D3D-D897-4be2-8F04-BA451C77F1D7}"/>
            <a:ext uri="{909E8E84-426E-40dd-AFC4-6F175D3DCCD1}"/>
            <a:ext uri="{91240B29-F687-4f45-9708-019B960494DF}"/>
            <a:ext uri="{AF507438-7753-43e0-B8FC-AC1667EBCBE1}"/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Times New Roman" charset="0"/>
                <a:ea typeface="ＭＳ Ｐゴシック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099" name="Rectangle 3">
            <a:extLst>
              <a:ext uri="{FF2B5EF4-FFF2-40B4-BE49-F238E27FC236}">
                <a16:creationId xmlns:a16="http://schemas.microsoft.com/office/drawing/2014/main" id="{F2F4F132-3A51-C24F-AD22-A48CD14B1D3E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779838" y="0"/>
            <a:ext cx="2889250" cy="496888"/>
          </a:xfrm>
          <a:prstGeom prst="rect">
            <a:avLst/>
          </a:prstGeom>
          <a:noFill/>
          <a:ln>
            <a:noFill/>
          </a:ln>
          <a:effectLst/>
          <a:extLst>
            <a:ext uri="{FAA26D3D-D897-4be2-8F04-BA451C77F1D7}"/>
            <a:ext uri="{909E8E84-426E-40dd-AFC4-6F175D3DCCD1}"/>
            <a:ext uri="{91240B29-F687-4f45-9708-019B960494DF}"/>
            <a:ext uri="{AF507438-7753-43e0-B8FC-AC1667EBCBE1}"/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Times New Roman" charset="0"/>
                <a:ea typeface="ＭＳ Ｐゴシック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6" name="Rectangle 4">
            <a:extLst>
              <a:ext uri="{FF2B5EF4-FFF2-40B4-BE49-F238E27FC236}">
                <a16:creationId xmlns:a16="http://schemas.microsoft.com/office/drawing/2014/main" id="{9658DE86-5E13-E64C-84C2-46CB62CE691B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26988" y="744538"/>
            <a:ext cx="6615112" cy="37226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ja-JP" altLang="en-US"/>
          </a:p>
        </p:txBody>
      </p:sp>
      <p:sp>
        <p:nvSpPr>
          <p:cNvPr id="4101" name="Rectangle 5">
            <a:extLst>
              <a:ext uri="{FF2B5EF4-FFF2-40B4-BE49-F238E27FC236}">
                <a16:creationId xmlns:a16="http://schemas.microsoft.com/office/drawing/2014/main" id="{C9D372DE-C786-8D4D-9F53-214241F844F8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889000" y="4714875"/>
            <a:ext cx="4891088" cy="4467225"/>
          </a:xfrm>
          <a:prstGeom prst="rect">
            <a:avLst/>
          </a:prstGeom>
          <a:noFill/>
          <a:ln>
            <a:noFill/>
          </a:ln>
          <a:effectLst/>
          <a:extLst>
            <a:ext uri="{FAA26D3D-D897-4be2-8F04-BA451C77F1D7}"/>
            <a:ext uri="{909E8E84-426E-40dd-AFC4-6F175D3DCCD1}"/>
            <a:ext uri="{91240B29-F687-4f45-9708-019B960494DF}"/>
            <a:ext uri="{AF507438-7753-43e0-B8FC-AC1667EBCBE1}"/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102" name="Rectangle 6">
            <a:extLst>
              <a:ext uri="{FF2B5EF4-FFF2-40B4-BE49-F238E27FC236}">
                <a16:creationId xmlns:a16="http://schemas.microsoft.com/office/drawing/2014/main" id="{6743ADF9-18C0-4240-9800-30D3D32CF585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29750"/>
            <a:ext cx="2889250" cy="496888"/>
          </a:xfrm>
          <a:prstGeom prst="rect">
            <a:avLst/>
          </a:prstGeom>
          <a:noFill/>
          <a:ln>
            <a:noFill/>
          </a:ln>
          <a:effectLst/>
          <a:extLst>
            <a:ext uri="{FAA26D3D-D897-4be2-8F04-BA451C77F1D7}"/>
            <a:ext uri="{909E8E84-426E-40dd-AFC4-6F175D3DCCD1}"/>
            <a:ext uri="{91240B29-F687-4f45-9708-019B960494DF}"/>
            <a:ext uri="{AF507438-7753-43e0-B8FC-AC1667EBCBE1}"/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Times New Roman" charset="0"/>
                <a:ea typeface="ＭＳ Ｐゴシック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103" name="Rectangle 7">
            <a:extLst>
              <a:ext uri="{FF2B5EF4-FFF2-40B4-BE49-F238E27FC236}">
                <a16:creationId xmlns:a16="http://schemas.microsoft.com/office/drawing/2014/main" id="{429AE395-53F8-BF43-BD63-E86F29A94A2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779838" y="9429750"/>
            <a:ext cx="2889250" cy="496888"/>
          </a:xfrm>
          <a:prstGeom prst="rect">
            <a:avLst/>
          </a:prstGeom>
          <a:noFill/>
          <a:ln>
            <a:noFill/>
          </a:ln>
          <a:effectLst/>
          <a:extLst>
            <a:ext uri="{FAA26D3D-D897-4be2-8F04-BA451C77F1D7}"/>
            <a:ext uri="{909E8E84-426E-40dd-AFC4-6F175D3DCCD1}"/>
            <a:ext uri="{91240B29-F687-4f45-9708-019B960494DF}"/>
            <a:ext uri="{AF507438-7753-43e0-B8FC-AC1667EBCBE1}"/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Times New Roman" charset="0"/>
                <a:ea typeface="ＭＳ Ｐゴシック" charset="-128"/>
              </a:defRPr>
            </a:lvl1pPr>
          </a:lstStyle>
          <a:p>
            <a:pPr>
              <a:defRPr/>
            </a:pPr>
            <a:fld id="{AB31E2A7-604B-AC4A-93FF-7D752141A21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ＭＳ Ｐゴシック" charset="0"/>
        <a:cs typeface="ＭＳ Ｐゴシック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ＭＳ Ｐゴシック" charset="0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ＭＳ Ｐゴシック" charset="0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ＭＳ Ｐゴシック" charset="0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>
          <a:xfrm>
            <a:off x="26988" y="744538"/>
            <a:ext cx="6615112" cy="3722687"/>
          </a:xfrm>
        </p:spPr>
        <p:txBody>
          <a:bodyPr/>
          <a:lstStyle/>
          <a:p>
            <a:endParaRPr lang="ja-JP" altLang="en-US"/>
          </a:p>
        </p:txBody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b="0" i="0" kern="1200" dirty="0">
              <a:solidFill>
                <a:schemeClr val="tx1"/>
              </a:solidFill>
              <a:effectLst/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B31E2A7-604B-AC4A-93FF-7D752141A213}" type="slidenum">
              <a:rPr lang="en-US" altLang="en-US" smtClean="0"/>
              <a:pPr>
                <a:defRPr/>
              </a:pPr>
              <a:t>1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39876867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E624C2-31BC-692F-4F81-B47619E74A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AE5E30A1-BE98-FDD7-950E-831AEAB2C7A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6988" y="744538"/>
            <a:ext cx="6615112" cy="3722687"/>
          </a:xfrm>
        </p:spPr>
        <p:txBody>
          <a:bodyPr/>
          <a:lstStyle/>
          <a:p>
            <a:endParaRPr lang="ja-JP" altLang="en-US"/>
          </a:p>
        </p:txBody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6F6D225F-2979-EC8B-6050-6ADB4F21398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b="0" i="0" kern="1200" dirty="0">
              <a:solidFill>
                <a:schemeClr val="tx1"/>
              </a:solidFill>
              <a:effectLst/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AEC660D8-6649-C72D-0C3D-A5D545C99D0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B31E2A7-604B-AC4A-93FF-7D752141A213}" type="slidenum">
              <a:rPr lang="en-US" altLang="en-US" smtClean="0"/>
              <a:pPr>
                <a:defRPr/>
              </a:pPr>
              <a:t>2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19908194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85E01F-FCB7-1F14-B7CC-62B95E2785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DAFB7591-F2AA-F908-928D-3B9142F62DF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6988" y="744538"/>
            <a:ext cx="6615112" cy="3722687"/>
          </a:xfrm>
        </p:spPr>
        <p:txBody>
          <a:bodyPr/>
          <a:lstStyle/>
          <a:p>
            <a:endParaRPr lang="ja-JP" altLang="en-US"/>
          </a:p>
        </p:txBody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9E4FFB8E-DD5C-3687-3639-747FDF1E19E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b="0" i="0" kern="1200" dirty="0">
              <a:solidFill>
                <a:schemeClr val="tx1"/>
              </a:solidFill>
              <a:effectLst/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4F34601F-55A3-26E4-48E2-170B361C803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B31E2A7-604B-AC4A-93FF-7D752141A213}" type="slidenum">
              <a:rPr lang="en-US" altLang="en-US" smtClean="0"/>
              <a:pPr>
                <a:defRPr/>
              </a:pPr>
              <a:t>3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7098304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BD52EC-172B-6B70-1EC5-89ABB36176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326FAB7D-939B-056C-5B81-E400249E287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6988" y="744538"/>
            <a:ext cx="6615112" cy="3722687"/>
          </a:xfrm>
        </p:spPr>
        <p:txBody>
          <a:bodyPr/>
          <a:lstStyle/>
          <a:p>
            <a:endParaRPr lang="ja-JP" altLang="en-US"/>
          </a:p>
        </p:txBody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D368288D-F24E-CF75-134A-7CEB4CE7C1C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b="0" i="0" kern="1200" dirty="0">
              <a:solidFill>
                <a:schemeClr val="tx1"/>
              </a:solidFill>
              <a:effectLst/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0CBB85F5-2131-2289-1462-104B896A751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B31E2A7-604B-AC4A-93FF-7D752141A213}" type="slidenum">
              <a:rPr lang="en-US" altLang="en-US" smtClean="0"/>
              <a:pPr>
                <a:defRPr/>
              </a:pPr>
              <a:t>4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13442073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D0948C-3203-4BBC-24E9-2A466DA175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32F1A4E4-CFB5-6DCE-DB18-A7FEE95A20B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6988" y="744538"/>
            <a:ext cx="6615112" cy="3722687"/>
          </a:xfrm>
        </p:spPr>
        <p:txBody>
          <a:bodyPr/>
          <a:lstStyle/>
          <a:p>
            <a:endParaRPr lang="ja-JP" altLang="en-US"/>
          </a:p>
        </p:txBody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E7E4689C-CAD6-E28F-5211-46D71EFAD71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b="0" i="0" kern="1200" dirty="0">
              <a:solidFill>
                <a:schemeClr val="tx1"/>
              </a:solidFill>
              <a:effectLst/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711B9540-CC0B-3C26-5BCB-5E562B8E1FA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B31E2A7-604B-AC4A-93FF-7D752141A213}" type="slidenum">
              <a:rPr lang="en-US" altLang="en-US" smtClean="0"/>
              <a:pPr>
                <a:defRPr/>
              </a:pPr>
              <a:t>5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86488706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96C3CF-831B-A2C2-34B1-1334F5C176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90961C9B-FC37-BAC1-7BE9-839F22AEB18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6988" y="744538"/>
            <a:ext cx="6615112" cy="3722687"/>
          </a:xfrm>
        </p:spPr>
        <p:txBody>
          <a:bodyPr/>
          <a:lstStyle/>
          <a:p>
            <a:endParaRPr lang="ja-JP" altLang="en-US"/>
          </a:p>
        </p:txBody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AF3EA764-D625-F7C3-F9D8-005157EA047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b="0" i="0" kern="1200" dirty="0">
              <a:solidFill>
                <a:schemeClr val="tx1"/>
              </a:solidFill>
              <a:effectLst/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728EBEE6-4D1E-F992-15F0-2D00B43058C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B31E2A7-604B-AC4A-93FF-7D752141A213}" type="slidenum">
              <a:rPr lang="en-US" altLang="en-US" smtClean="0"/>
              <a:pPr>
                <a:defRPr/>
              </a:pPr>
              <a:t>6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06620890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81F5C3-1A66-73FC-9EB6-33C787C8FA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4327ADCE-8D79-C44B-359C-69785BDA3C4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6988" y="744538"/>
            <a:ext cx="6615112" cy="3722687"/>
          </a:xfrm>
        </p:spPr>
        <p:txBody>
          <a:bodyPr/>
          <a:lstStyle/>
          <a:p>
            <a:endParaRPr lang="ja-JP" altLang="en-US"/>
          </a:p>
        </p:txBody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FAD2BA0A-9890-4196-A385-7C9B02D6225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b="0" i="0" kern="1200" dirty="0">
              <a:solidFill>
                <a:schemeClr val="tx1"/>
              </a:solidFill>
              <a:effectLst/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CE24F747-C8BF-B3D7-2F65-24656FBA856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B31E2A7-604B-AC4A-93FF-7D752141A213}" type="slidenum">
              <a:rPr lang="en-US" altLang="en-US" smtClean="0"/>
              <a:pPr>
                <a:defRPr/>
              </a:pPr>
              <a:t>7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78686515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1959CF-086E-A277-19C9-259B31CE7C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646A5251-D3A3-B09A-BAD8-5C9E504228C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6988" y="744538"/>
            <a:ext cx="6615112" cy="3722687"/>
          </a:xfrm>
        </p:spPr>
        <p:txBody>
          <a:bodyPr/>
          <a:lstStyle/>
          <a:p>
            <a:endParaRPr lang="ja-JP" altLang="en-US"/>
          </a:p>
        </p:txBody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55D570A0-DF74-0845-CD8F-7BF8C804473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b="0" i="0" kern="1200" dirty="0">
              <a:solidFill>
                <a:schemeClr val="tx1"/>
              </a:solidFill>
              <a:effectLst/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78E73109-337B-4209-6BA2-408B17E0624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B31E2A7-604B-AC4A-93FF-7D752141A213}" type="slidenum">
              <a:rPr lang="en-US" altLang="en-US" smtClean="0"/>
              <a:pPr>
                <a:defRPr/>
              </a:pPr>
              <a:t>8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408742220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C973A5-5428-4E46-9AB8-93D99C1B6F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F085C95D-3F21-DDA3-5425-34CC350E4FC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6988" y="744538"/>
            <a:ext cx="6615112" cy="3722687"/>
          </a:xfrm>
        </p:spPr>
        <p:txBody>
          <a:bodyPr/>
          <a:lstStyle/>
          <a:p>
            <a:endParaRPr lang="ja-JP" altLang="en-US"/>
          </a:p>
        </p:txBody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DA0E60F1-0A32-2E99-11A0-622712F2EEC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b="0" i="0" kern="1200" dirty="0">
              <a:solidFill>
                <a:schemeClr val="tx1"/>
              </a:solidFill>
              <a:effectLst/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5889310C-B0E3-9E18-1E36-13BCBDD6742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B31E2A7-604B-AC4A-93FF-7D752141A213}" type="slidenum">
              <a:rPr lang="en-US" altLang="en-US" smtClean="0"/>
              <a:pPr>
                <a:defRPr/>
              </a:pPr>
              <a:t>9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407800398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F85F1A-BC71-4181-5909-06EDCE90C1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9E4B2F8B-F67E-095C-337C-DCACABDE21F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6988" y="744538"/>
            <a:ext cx="6615112" cy="3722687"/>
          </a:xfrm>
        </p:spPr>
        <p:txBody>
          <a:bodyPr/>
          <a:lstStyle/>
          <a:p>
            <a:endParaRPr lang="ja-JP" altLang="en-US"/>
          </a:p>
        </p:txBody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4605D90D-70CD-ABAC-C5EB-F3B1CEDDC6B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b="0" i="0" kern="1200" dirty="0">
              <a:solidFill>
                <a:schemeClr val="tx1"/>
              </a:solidFill>
              <a:effectLst/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02496443-CCD2-0DA9-202B-6D906FB87D6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B31E2A7-604B-AC4A-93FF-7D752141A213}" type="slidenum">
              <a:rPr lang="en-US" altLang="en-US" smtClean="0"/>
              <a:pPr>
                <a:defRPr/>
              </a:pPr>
              <a:t>10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54853654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5CC4C6-5C88-E039-DAC4-A73EF43C33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4B16B303-A01F-4864-28A6-DB8B6CB74E2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6988" y="744538"/>
            <a:ext cx="6615112" cy="3722687"/>
          </a:xfrm>
        </p:spPr>
        <p:txBody>
          <a:bodyPr/>
          <a:lstStyle/>
          <a:p>
            <a:endParaRPr lang="ja-JP" altLang="en-US"/>
          </a:p>
        </p:txBody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272E565C-4B2D-87F3-A37F-043DCAE6694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b="0" i="0" kern="1200" dirty="0">
              <a:solidFill>
                <a:schemeClr val="tx1"/>
              </a:solidFill>
              <a:effectLst/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BCD30D6B-408A-05C5-BEBE-51F2777DE8D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B31E2A7-604B-AC4A-93FF-7D752141A213}" type="slidenum">
              <a:rPr lang="en-US" altLang="en-US" smtClean="0"/>
              <a:pPr>
                <a:defRPr/>
              </a:pPr>
              <a:t>11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38784397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34822D-FD8F-6FE7-7DE2-539D8C07AE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D46B5945-B28D-59C6-E354-FD0F478AFC7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6988" y="744538"/>
            <a:ext cx="6615112" cy="3722687"/>
          </a:xfrm>
        </p:spPr>
        <p:txBody>
          <a:bodyPr/>
          <a:lstStyle/>
          <a:p>
            <a:endParaRPr lang="ja-JP" altLang="en-US"/>
          </a:p>
        </p:txBody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AE9B15F1-9386-5FE5-1922-51244962D25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b="0" i="0" kern="1200" dirty="0">
              <a:solidFill>
                <a:schemeClr val="tx1"/>
              </a:solidFill>
              <a:effectLst/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B729F89C-CBED-19F3-7B50-234A2930E69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B31E2A7-604B-AC4A-93FF-7D752141A213}" type="slidenum">
              <a:rPr lang="en-US" altLang="en-US" smtClean="0"/>
              <a:pPr>
                <a:defRPr/>
              </a:pPr>
              <a:t>12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19365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208D85-6F44-11DF-6F96-96D23C4BED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14A246AF-A336-0033-B281-319BCC4F74B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6988" y="744538"/>
            <a:ext cx="6615112" cy="3722687"/>
          </a:xfrm>
        </p:spPr>
        <p:txBody>
          <a:bodyPr/>
          <a:lstStyle/>
          <a:p>
            <a:endParaRPr lang="ja-JP" altLang="en-US"/>
          </a:p>
        </p:txBody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190D1BE9-4D09-73FE-D0F5-DBC8A2F1ED6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b="0" i="0" kern="1200" dirty="0">
              <a:solidFill>
                <a:schemeClr val="tx1"/>
              </a:solidFill>
              <a:effectLst/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2C6588C4-EC54-FA5D-5BA6-7932FA29A87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B31E2A7-604B-AC4A-93FF-7D752141A213}" type="slidenum">
              <a:rPr lang="en-US" altLang="en-US" smtClean="0"/>
              <a:pPr>
                <a:defRPr/>
              </a:pPr>
              <a:t>13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86410552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9C2857-686D-3845-7B17-79E876949E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7FFEBB62-A300-7BED-566A-0CCFBE4B762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6988" y="744538"/>
            <a:ext cx="6615112" cy="3722687"/>
          </a:xfrm>
        </p:spPr>
        <p:txBody>
          <a:bodyPr/>
          <a:lstStyle/>
          <a:p>
            <a:endParaRPr lang="ja-JP" altLang="en-US"/>
          </a:p>
        </p:txBody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86802A49-89BA-00F0-2EE0-DD0FE3B58F2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b="0" i="0" kern="1200" dirty="0">
              <a:solidFill>
                <a:schemeClr val="tx1"/>
              </a:solidFill>
              <a:effectLst/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EC86E67C-ADA4-E30C-F920-33697120093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B31E2A7-604B-AC4A-93FF-7D752141A213}" type="slidenum">
              <a:rPr lang="en-US" altLang="en-US" smtClean="0"/>
              <a:pPr>
                <a:defRPr/>
              </a:pPr>
              <a:t>14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2460881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C9C5D2-C598-8092-9D79-84A7029B6B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81CC004B-2313-C437-E3F2-5B42F64485C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6988" y="744538"/>
            <a:ext cx="6615112" cy="3722687"/>
          </a:xfrm>
        </p:spPr>
        <p:txBody>
          <a:bodyPr/>
          <a:lstStyle/>
          <a:p>
            <a:endParaRPr lang="ja-JP" altLang="en-US"/>
          </a:p>
        </p:txBody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4726EA31-995A-9B95-4012-40540D105D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b="0" i="0" kern="1200" dirty="0">
              <a:solidFill>
                <a:schemeClr val="tx1"/>
              </a:solidFill>
              <a:effectLst/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940A0E2B-584C-60C1-73F1-7759BFFDD1B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B31E2A7-604B-AC4A-93FF-7D752141A213}" type="slidenum">
              <a:rPr lang="en-US" altLang="en-US" smtClean="0"/>
              <a:pPr>
                <a:defRPr/>
              </a:pPr>
              <a:t>15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07136563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3D81D4-96DA-A587-E44D-7658AFAB27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A2FA16AF-9F76-AA5A-6FC7-D1A35280FBD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6988" y="744538"/>
            <a:ext cx="6615112" cy="3722687"/>
          </a:xfrm>
        </p:spPr>
        <p:txBody>
          <a:bodyPr/>
          <a:lstStyle/>
          <a:p>
            <a:endParaRPr lang="ja-JP" altLang="en-US"/>
          </a:p>
        </p:txBody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3656E5B7-808E-0648-9410-EC3CC94BE83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b="0" i="0" kern="1200" dirty="0">
              <a:solidFill>
                <a:schemeClr val="tx1"/>
              </a:solidFill>
              <a:effectLst/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596D8F20-9232-DECD-D1DC-945D5D6E186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B31E2A7-604B-AC4A-93FF-7D752141A213}" type="slidenum">
              <a:rPr lang="en-US" altLang="en-US" smtClean="0"/>
              <a:pPr>
                <a:defRPr/>
              </a:pPr>
              <a:t>16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83789272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606837-F23D-E5B7-6B09-CCA79C6677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65AD63A4-BDF7-2E1D-A66E-58E8B5EFEB1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6988" y="744538"/>
            <a:ext cx="6615112" cy="3722687"/>
          </a:xfrm>
        </p:spPr>
        <p:txBody>
          <a:bodyPr/>
          <a:lstStyle/>
          <a:p>
            <a:endParaRPr lang="ja-JP" altLang="en-US"/>
          </a:p>
        </p:txBody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7D1DECA4-CABE-04B9-3188-6AA938B2DBF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b="0" i="0" kern="1200" dirty="0">
              <a:solidFill>
                <a:schemeClr val="tx1"/>
              </a:solidFill>
              <a:effectLst/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D42F776A-7F37-3616-0BC2-3F336490BB8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B31E2A7-604B-AC4A-93FF-7D752141A213}" type="slidenum">
              <a:rPr lang="en-US" altLang="en-US" smtClean="0"/>
              <a:pPr>
                <a:defRPr/>
              </a:pPr>
              <a:t>17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29498310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56CEF6-15CE-7C61-1D35-8382CBA7EF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37869EE6-DD11-879A-7A4B-A95BD0494EE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6988" y="744538"/>
            <a:ext cx="6615112" cy="3722687"/>
          </a:xfrm>
        </p:spPr>
        <p:txBody>
          <a:bodyPr/>
          <a:lstStyle/>
          <a:p>
            <a:endParaRPr lang="ja-JP" altLang="en-US"/>
          </a:p>
        </p:txBody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80517F46-22B0-107A-73C3-0CB47757AFA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b="0" i="0" kern="1200" dirty="0">
              <a:solidFill>
                <a:schemeClr val="tx1"/>
              </a:solidFill>
              <a:effectLst/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5487A37B-C13E-27B1-2AD9-63D9391C40A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B31E2A7-604B-AC4A-93FF-7D752141A213}" type="slidenum">
              <a:rPr lang="en-US" altLang="en-US" smtClean="0"/>
              <a:pPr>
                <a:defRPr/>
              </a:pPr>
              <a:t>18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21474254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EF05AC-C5D4-C3BE-9DE1-1EF00428E3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0A5E2B15-084F-E0EE-4857-A01CAF95BA6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6988" y="744538"/>
            <a:ext cx="6615112" cy="3722687"/>
          </a:xfrm>
        </p:spPr>
        <p:txBody>
          <a:bodyPr/>
          <a:lstStyle/>
          <a:p>
            <a:endParaRPr lang="ja-JP" altLang="en-US"/>
          </a:p>
        </p:txBody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F6740AD8-88D4-B1CC-EA88-41CD70BC77F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b="0" i="0" kern="1200" dirty="0">
              <a:solidFill>
                <a:schemeClr val="tx1"/>
              </a:solidFill>
              <a:effectLst/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2C73A743-FFC8-1051-0EF2-32540F159B1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B31E2A7-604B-AC4A-93FF-7D752141A213}" type="slidenum">
              <a:rPr lang="en-US" altLang="en-US" smtClean="0"/>
              <a:pPr>
                <a:defRPr/>
              </a:pPr>
              <a:t>19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35987769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51E964-6283-E31F-110F-FC003B5BD2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3DCEF47C-325D-F1F0-5D56-A54110AFBD1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6988" y="744538"/>
            <a:ext cx="6615112" cy="3722687"/>
          </a:xfrm>
        </p:spPr>
        <p:txBody>
          <a:bodyPr/>
          <a:lstStyle/>
          <a:p>
            <a:endParaRPr lang="ja-JP" altLang="en-US"/>
          </a:p>
        </p:txBody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EA4C43BD-3783-194C-7F5D-1514CBCDD93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b="0" i="0" kern="1200" dirty="0">
              <a:solidFill>
                <a:schemeClr val="tx1"/>
              </a:solidFill>
              <a:effectLst/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3926C030-AC8B-5AD2-68AA-434ECA02236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B31E2A7-604B-AC4A-93FF-7D752141A213}" type="slidenum">
              <a:rPr lang="en-US" altLang="en-US" smtClean="0"/>
              <a:pPr>
                <a:defRPr/>
              </a:pPr>
              <a:t>20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91724341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622BB1-17E3-30D4-99A1-723D1BF3AC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6165759C-6939-EFE3-3BE0-F2586C68A0B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6988" y="744538"/>
            <a:ext cx="6615112" cy="3722687"/>
          </a:xfrm>
        </p:spPr>
        <p:txBody>
          <a:bodyPr/>
          <a:lstStyle/>
          <a:p>
            <a:endParaRPr lang="ja-JP" altLang="en-US"/>
          </a:p>
        </p:txBody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E6A8E584-7171-668D-A0C6-8D1E18CF232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b="0" i="0" kern="1200" dirty="0">
              <a:solidFill>
                <a:schemeClr val="tx1"/>
              </a:solidFill>
              <a:effectLst/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C15C25E6-EBAE-9671-5704-BF5C74B99B0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B31E2A7-604B-AC4A-93FF-7D752141A213}" type="slidenum">
              <a:rPr lang="en-US" altLang="en-US" smtClean="0"/>
              <a:pPr>
                <a:defRPr/>
              </a:pPr>
              <a:t>21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76195887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47ADE9-5E67-8288-E06A-F9424718D1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2976124C-32A8-8DA6-7C8D-15FB251801E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6988" y="744538"/>
            <a:ext cx="6615112" cy="3722687"/>
          </a:xfrm>
        </p:spPr>
        <p:txBody>
          <a:bodyPr/>
          <a:lstStyle/>
          <a:p>
            <a:endParaRPr lang="ja-JP" altLang="en-US"/>
          </a:p>
        </p:txBody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67053510-99F1-B86D-1BEC-88A2B4B9EB8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b="0" i="0" kern="1200" dirty="0">
              <a:solidFill>
                <a:schemeClr val="tx1"/>
              </a:solidFill>
              <a:effectLst/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1DC0CEA5-AFE0-6BE6-C528-DAA257FD059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B31E2A7-604B-AC4A-93FF-7D752141A213}" type="slidenum">
              <a:rPr lang="en-US" altLang="en-US" smtClean="0"/>
              <a:pPr>
                <a:defRPr/>
              </a:pPr>
              <a:t>22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76144813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0A1C26-460A-89C8-D047-11E88AE004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A3B654F7-8634-7A3A-5B13-0BA4C865EDE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6988" y="744538"/>
            <a:ext cx="6615112" cy="3722687"/>
          </a:xfrm>
        </p:spPr>
        <p:txBody>
          <a:bodyPr/>
          <a:lstStyle/>
          <a:p>
            <a:endParaRPr lang="ja-JP" altLang="en-US"/>
          </a:p>
        </p:txBody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A3C92AB5-B23A-6371-B916-80666A42FED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b="0" i="0" kern="1200" dirty="0">
              <a:solidFill>
                <a:schemeClr val="tx1"/>
              </a:solidFill>
              <a:effectLst/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80F7451B-8C40-D7E1-7005-260DB6ECDAC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B31E2A7-604B-AC4A-93FF-7D752141A213}" type="slidenum">
              <a:rPr lang="en-US" altLang="en-US" smtClean="0"/>
              <a:pPr>
                <a:defRPr/>
              </a:pPr>
              <a:t>23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814142656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E8F2DA-A0CE-9CF1-93A4-90B6A5E264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A86D384F-B114-8901-CD5F-A362CBF8274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6988" y="744538"/>
            <a:ext cx="6615112" cy="3722687"/>
          </a:xfrm>
        </p:spPr>
        <p:txBody>
          <a:bodyPr/>
          <a:lstStyle/>
          <a:p>
            <a:endParaRPr lang="ja-JP" altLang="en-US"/>
          </a:p>
        </p:txBody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BCA1D11F-2314-1C9C-65E4-0F0AD20A482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b="0" i="0" kern="1200" dirty="0">
              <a:solidFill>
                <a:schemeClr val="tx1"/>
              </a:solidFill>
              <a:effectLst/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0806F402-CFD2-721D-2603-3690914BC18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B31E2A7-604B-AC4A-93FF-7D752141A213}" type="slidenum">
              <a:rPr lang="en-US" altLang="en-US" smtClean="0"/>
              <a:pPr>
                <a:defRPr/>
              </a:pPr>
              <a:t>24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031797072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CF4C4D-A2F3-9589-EF33-1431D34D93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74E3CC0C-FC86-DCF7-C350-1B2DE8A2644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6988" y="744538"/>
            <a:ext cx="6615112" cy="3722687"/>
          </a:xfrm>
        </p:spPr>
        <p:txBody>
          <a:bodyPr/>
          <a:lstStyle/>
          <a:p>
            <a:endParaRPr lang="ja-JP" altLang="en-US"/>
          </a:p>
        </p:txBody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398428A5-0BAE-4A5F-2D31-CE37ECD1940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b="0" i="0" kern="1200" dirty="0">
              <a:solidFill>
                <a:schemeClr val="tx1"/>
              </a:solidFill>
              <a:effectLst/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B01B8695-3A91-571A-0FFB-287026D04E8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B31E2A7-604B-AC4A-93FF-7D752141A213}" type="slidenum">
              <a:rPr lang="en-US" altLang="en-US" smtClean="0"/>
              <a:pPr>
                <a:defRPr/>
              </a:pPr>
              <a:t>25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805210788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44AD10-DF5C-5B87-59CC-FF47D1A7ED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4554DB10-FEFF-4D81-90F6-6D7A2A598A3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6988" y="744538"/>
            <a:ext cx="6615112" cy="3722687"/>
          </a:xfrm>
        </p:spPr>
        <p:txBody>
          <a:bodyPr/>
          <a:lstStyle/>
          <a:p>
            <a:endParaRPr lang="ja-JP" altLang="en-US"/>
          </a:p>
        </p:txBody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E39AC330-48E4-8887-CD91-E5F95DED872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b="0" i="0" kern="1200" dirty="0">
              <a:solidFill>
                <a:schemeClr val="tx1"/>
              </a:solidFill>
              <a:effectLst/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DDFF296F-B5B1-1153-B3D1-064F2A6A0ED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B31E2A7-604B-AC4A-93FF-7D752141A213}" type="slidenum">
              <a:rPr lang="en-US" altLang="en-US" smtClean="0"/>
              <a:pPr>
                <a:defRPr/>
              </a:pPr>
              <a:t>26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997212004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179AE0-0CD6-E680-9D28-D5F6CF9104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F655C1CB-F042-DE3D-AF18-33AE28B50F2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6988" y="744538"/>
            <a:ext cx="6615112" cy="3722687"/>
          </a:xfrm>
        </p:spPr>
        <p:txBody>
          <a:bodyPr/>
          <a:lstStyle/>
          <a:p>
            <a:endParaRPr lang="ja-JP" altLang="en-US"/>
          </a:p>
        </p:txBody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078B5331-EA15-07B1-E3EC-86AFC458A01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b="0" i="0" kern="1200" dirty="0">
              <a:solidFill>
                <a:schemeClr val="tx1"/>
              </a:solidFill>
              <a:effectLst/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6BF913EB-F9CD-12F4-F0BA-A4E0EA8B1FE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B31E2A7-604B-AC4A-93FF-7D752141A213}" type="slidenum">
              <a:rPr lang="en-US" altLang="en-US" smtClean="0"/>
              <a:pPr>
                <a:defRPr/>
              </a:pPr>
              <a:t>27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530008263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2D91D3-5FFB-205F-40E6-903839D371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C2B367E1-6732-B880-725D-A8A1F647368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6988" y="744538"/>
            <a:ext cx="6615112" cy="3722687"/>
          </a:xfrm>
        </p:spPr>
        <p:txBody>
          <a:bodyPr/>
          <a:lstStyle/>
          <a:p>
            <a:endParaRPr lang="ja-JP" altLang="en-US"/>
          </a:p>
        </p:txBody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C1E7159D-E986-7ECA-C726-CCD6DF9FBBC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b="0" i="0" kern="1200" dirty="0">
              <a:solidFill>
                <a:schemeClr val="tx1"/>
              </a:solidFill>
              <a:effectLst/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AEACC5D6-7D00-638A-11CF-61BDE8CF617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B31E2A7-604B-AC4A-93FF-7D752141A213}" type="slidenum">
              <a:rPr lang="en-US" altLang="en-US" smtClean="0"/>
              <a:pPr>
                <a:defRPr/>
              </a:pPr>
              <a:t>28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581066199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A6A7BA-5BD8-DC4F-8C62-AE04E05023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796E34B0-56FE-BA7F-FEFD-5D3BC4533AE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6988" y="744538"/>
            <a:ext cx="6615112" cy="3722687"/>
          </a:xfrm>
        </p:spPr>
        <p:txBody>
          <a:bodyPr/>
          <a:lstStyle/>
          <a:p>
            <a:endParaRPr lang="ja-JP" altLang="en-US"/>
          </a:p>
        </p:txBody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581DB606-B8E7-3179-BF99-ED14315218D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b="0" i="0" kern="1200" dirty="0">
              <a:solidFill>
                <a:schemeClr val="tx1"/>
              </a:solidFill>
              <a:effectLst/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52C6FDFE-12DA-4DC8-3B99-6FA5BDC2116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B31E2A7-604B-AC4A-93FF-7D752141A213}" type="slidenum">
              <a:rPr lang="en-US" altLang="en-US" smtClean="0"/>
              <a:pPr>
                <a:defRPr/>
              </a:pPr>
              <a:t>29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807040339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DCED9A-E4A4-E9C9-ADDF-CF25CFD04D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8C8EC322-C8DE-8F22-2676-56ED546691A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6988" y="744538"/>
            <a:ext cx="6615112" cy="3722687"/>
          </a:xfrm>
        </p:spPr>
        <p:txBody>
          <a:bodyPr/>
          <a:lstStyle/>
          <a:p>
            <a:endParaRPr lang="ja-JP" altLang="en-US"/>
          </a:p>
        </p:txBody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4BF52A6F-F901-5AE3-F40F-1D55C3E1BA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b="0" i="0" kern="1200" dirty="0">
              <a:solidFill>
                <a:schemeClr val="tx1"/>
              </a:solidFill>
              <a:effectLst/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DA542539-CA89-62BF-A90A-710141D9B2B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B31E2A7-604B-AC4A-93FF-7D752141A213}" type="slidenum">
              <a:rPr lang="en-US" altLang="en-US" smtClean="0"/>
              <a:pPr>
                <a:defRPr/>
              </a:pPr>
              <a:t>30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174606354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A6E5D8-D4ED-8103-0D6A-7E77D3040C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0226021B-8141-E92F-57FF-F75DC4BF0F1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6988" y="744538"/>
            <a:ext cx="6615112" cy="3722687"/>
          </a:xfrm>
        </p:spPr>
        <p:txBody>
          <a:bodyPr/>
          <a:lstStyle/>
          <a:p>
            <a:endParaRPr lang="ja-JP" altLang="en-US"/>
          </a:p>
        </p:txBody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0A5FEDCF-11B5-3D5F-3BE0-EDD6F4779A5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b="0" i="0" kern="1200" dirty="0">
              <a:solidFill>
                <a:schemeClr val="tx1"/>
              </a:solidFill>
              <a:effectLst/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DB3DA72D-3418-A54E-BB88-38EC8A16B90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B31E2A7-604B-AC4A-93FF-7D752141A213}" type="slidenum">
              <a:rPr lang="en-US" altLang="en-US" smtClean="0"/>
              <a:pPr>
                <a:defRPr/>
              </a:pPr>
              <a:t>31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863005324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529E17-680F-53CC-D7B2-B8A702C8CA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30C77387-B1BD-6802-F601-0112DA6CA32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6988" y="744538"/>
            <a:ext cx="6615112" cy="3722687"/>
          </a:xfrm>
        </p:spPr>
        <p:txBody>
          <a:bodyPr/>
          <a:lstStyle/>
          <a:p>
            <a:endParaRPr lang="ja-JP" altLang="en-US"/>
          </a:p>
        </p:txBody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4CCF55B2-669E-4F39-94FB-9C7B17BCFB0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b="0" i="0" kern="1200" dirty="0">
              <a:solidFill>
                <a:schemeClr val="tx1"/>
              </a:solidFill>
              <a:effectLst/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ACE0C3F8-93F5-21BA-F4D4-04D47F17E55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B31E2A7-604B-AC4A-93FF-7D752141A213}" type="slidenum">
              <a:rPr lang="en-US" altLang="en-US" smtClean="0"/>
              <a:pPr>
                <a:defRPr/>
              </a:pPr>
              <a:t>32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567739922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9EA8A5-F396-C7BA-0817-1C98B3B11A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13F2D883-EA27-0E41-BB51-EB71199C87F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6988" y="744538"/>
            <a:ext cx="6615112" cy="3722687"/>
          </a:xfrm>
        </p:spPr>
        <p:txBody>
          <a:bodyPr/>
          <a:lstStyle/>
          <a:p>
            <a:endParaRPr lang="ja-JP" altLang="en-US"/>
          </a:p>
        </p:txBody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03BA62A7-A21B-B3FD-F165-49965C72791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b="0" i="0" kern="1200" dirty="0">
              <a:solidFill>
                <a:schemeClr val="tx1"/>
              </a:solidFill>
              <a:effectLst/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94476630-A0E7-9BA1-16DE-F9A7AD9F7A2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B31E2A7-604B-AC4A-93FF-7D752141A213}" type="slidenum">
              <a:rPr lang="en-US" altLang="en-US" smtClean="0"/>
              <a:pPr>
                <a:defRPr/>
              </a:pPr>
              <a:t>33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909016255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778057-2995-2D2D-0854-2B506A0487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BB338814-6055-6EFC-FB89-A97E51F35F5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6988" y="744538"/>
            <a:ext cx="6615112" cy="3722687"/>
          </a:xfrm>
        </p:spPr>
        <p:txBody>
          <a:bodyPr/>
          <a:lstStyle/>
          <a:p>
            <a:endParaRPr lang="ja-JP" altLang="en-US"/>
          </a:p>
        </p:txBody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1CC82509-BD4F-EC11-144B-A34E08F6A6A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b="0" i="0" kern="1200" dirty="0">
              <a:solidFill>
                <a:schemeClr val="tx1"/>
              </a:solidFill>
              <a:effectLst/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04259EA5-0867-D38D-0735-FEC81EB1DCE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B31E2A7-604B-AC4A-93FF-7D752141A213}" type="slidenum">
              <a:rPr lang="en-US" altLang="en-US" smtClean="0"/>
              <a:pPr>
                <a:defRPr/>
              </a:pPr>
              <a:t>34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055102749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DE9151-202F-89DC-98AA-32BB8E41BF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915BE642-81D7-3918-A0EB-08014E5EE0F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6988" y="744538"/>
            <a:ext cx="6615112" cy="3722687"/>
          </a:xfrm>
        </p:spPr>
        <p:txBody>
          <a:bodyPr/>
          <a:lstStyle/>
          <a:p>
            <a:endParaRPr lang="ja-JP" altLang="en-US"/>
          </a:p>
        </p:txBody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EC45AA8C-52AF-D3F9-3FFC-CA7C45828D5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b="0" i="0" kern="1200" dirty="0">
              <a:solidFill>
                <a:schemeClr val="tx1"/>
              </a:solidFill>
              <a:effectLst/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A0B1F87B-1C8D-25A4-34E2-3F30D6E3E1A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B31E2A7-604B-AC4A-93FF-7D752141A213}" type="slidenum">
              <a:rPr lang="en-US" altLang="en-US" smtClean="0"/>
              <a:pPr>
                <a:defRPr/>
              </a:pPr>
              <a:t>35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7198269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Line 4">
            <a:extLst>
              <a:ext uri="{FF2B5EF4-FFF2-40B4-BE49-F238E27FC236}">
                <a16:creationId xmlns:a16="http://schemas.microsoft.com/office/drawing/2014/main" id="{2CCC2082-249C-0241-A66B-561CCF422836}"/>
              </a:ext>
            </a:extLst>
          </p:cNvPr>
          <p:cNvSpPr>
            <a:spLocks noChangeShapeType="1"/>
          </p:cNvSpPr>
          <p:nvPr/>
        </p:nvSpPr>
        <p:spPr bwMode="auto">
          <a:xfrm>
            <a:off x="609600" y="1066800"/>
            <a:ext cx="11108267" cy="0"/>
          </a:xfrm>
          <a:prstGeom prst="line">
            <a:avLst/>
          </a:prstGeom>
          <a:noFill/>
          <a:ln w="5080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 sz="2000"/>
          </a:p>
        </p:txBody>
      </p:sp>
      <p:sp>
        <p:nvSpPr>
          <p:cNvPr id="1433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09600" y="228600"/>
            <a:ext cx="11176000" cy="8382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0"/>
              <a:t>Section 2</a:t>
            </a:r>
          </a:p>
        </p:txBody>
      </p:sp>
      <p:sp>
        <p:nvSpPr>
          <p:cNvPr id="14339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727200" y="1676400"/>
            <a:ext cx="8331200" cy="914400"/>
          </a:xfrm>
        </p:spPr>
        <p:txBody>
          <a:bodyPr/>
          <a:lstStyle>
            <a:lvl1pPr marL="0" indent="0" algn="ctr">
              <a:buFont typeface="Wingdings" charset="0"/>
              <a:buNone/>
              <a:defRPr sz="3200" b="1">
                <a:solidFill>
                  <a:schemeClr val="accent2"/>
                </a:solidFill>
                <a:latin typeface="Arial" charset="0"/>
              </a:defRPr>
            </a:lvl1pPr>
          </a:lstStyle>
          <a:p>
            <a:pPr lvl="0"/>
            <a:r>
              <a:rPr lang="en-US" noProof="0"/>
              <a:t>Concurrent Programming Abstraction &amp; Java Threads</a:t>
            </a:r>
          </a:p>
          <a:p>
            <a:pPr lvl="0"/>
            <a:endParaRPr lang="en-US" noProof="0"/>
          </a:p>
          <a:p>
            <a:pPr lvl="0"/>
            <a:endParaRPr lang="en-US" noProof="0"/>
          </a:p>
        </p:txBody>
      </p:sp>
      <p:sp>
        <p:nvSpPr>
          <p:cNvPr id="9" name="フッター プレースホルダー 1">
            <a:extLst>
              <a:ext uri="{FF2B5EF4-FFF2-40B4-BE49-F238E27FC236}">
                <a16:creationId xmlns:a16="http://schemas.microsoft.com/office/drawing/2014/main" id="{A1380731-16D9-4669-945F-14AC8AF7543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08000" y="6370638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accent6"/>
                </a:solidFill>
              </a:defRPr>
            </a:lvl1pPr>
          </a:lstStyle>
          <a:p>
            <a:r>
              <a:rPr lang="en-US" dirty="0" err="1"/>
              <a:t>Yiyang</a:t>
            </a:r>
            <a:r>
              <a:rPr lang="en-US" dirty="0"/>
              <a:t> Jia</a:t>
            </a:r>
          </a:p>
        </p:txBody>
      </p:sp>
      <p:sp>
        <p:nvSpPr>
          <p:cNvPr id="10" name="Text Box 8">
            <a:extLst>
              <a:ext uri="{FF2B5EF4-FFF2-40B4-BE49-F238E27FC236}">
                <a16:creationId xmlns:a16="http://schemas.microsoft.com/office/drawing/2014/main" id="{47A380E1-661C-4C30-8B01-8930768AE336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0769600" y="6553199"/>
            <a:ext cx="1422400" cy="53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/>
            <a:ext uri="{91240B29-F687-4f45-9708-019B960494DF}"/>
            <a:ext uri="{AF507438-7753-43e0-B8FC-AC1667EBCBE1}"/>
          </a:extLst>
        </p:spPr>
        <p:txBody>
          <a:bodyPr>
            <a:spAutoFit/>
          </a:bodyPr>
          <a:lstStyle>
            <a:lvl1pPr defTabSz="762000">
              <a:defRPr sz="2000">
                <a:solidFill>
                  <a:schemeClr val="tx1"/>
                </a:solidFill>
                <a:latin typeface="Comic Sans MS" charset="0"/>
                <a:ea typeface="ＭＳ Ｐゴシック" charset="-128"/>
              </a:defRPr>
            </a:lvl1pPr>
            <a:lvl2pPr marL="742950" indent="-285750" defTabSz="762000">
              <a:defRPr sz="2000">
                <a:solidFill>
                  <a:schemeClr val="tx1"/>
                </a:solidFill>
                <a:latin typeface="Comic Sans MS" charset="0"/>
                <a:ea typeface="ＭＳ Ｐゴシック" charset="-128"/>
              </a:defRPr>
            </a:lvl2pPr>
            <a:lvl3pPr marL="1143000" indent="-228600" defTabSz="762000">
              <a:defRPr sz="2000">
                <a:solidFill>
                  <a:schemeClr val="tx1"/>
                </a:solidFill>
                <a:latin typeface="Comic Sans MS" charset="0"/>
                <a:ea typeface="ＭＳ Ｐゴシック" charset="-128"/>
              </a:defRPr>
            </a:lvl3pPr>
            <a:lvl4pPr marL="1600200" indent="-228600" defTabSz="762000">
              <a:defRPr sz="2000">
                <a:solidFill>
                  <a:schemeClr val="tx1"/>
                </a:solidFill>
                <a:latin typeface="Comic Sans MS" charset="0"/>
                <a:ea typeface="ＭＳ Ｐゴシック" charset="-128"/>
              </a:defRPr>
            </a:lvl4pPr>
            <a:lvl5pPr marL="2057400" indent="-228600" defTabSz="762000">
              <a:defRPr sz="2000">
                <a:solidFill>
                  <a:schemeClr val="tx1"/>
                </a:solidFill>
                <a:latin typeface="Comic Sans MS" charset="0"/>
                <a:ea typeface="ＭＳ Ｐゴシック" charset="-128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-128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-128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-128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-128"/>
              </a:defRPr>
            </a:lvl9pPr>
          </a:lstStyle>
          <a:p>
            <a:pPr algn="r">
              <a:spcBef>
                <a:spcPct val="50000"/>
              </a:spcBef>
              <a:defRPr/>
            </a:pPr>
            <a:fld id="{B30D727B-AF9F-1344-87F2-06A074BC649A}" type="slidenum">
              <a:rPr lang="en-GB" altLang="en-US" sz="1400" smtClean="0">
                <a:solidFill>
                  <a:schemeClr val="accent2"/>
                </a:solidFill>
                <a:latin typeface="Times New Roman" charset="0"/>
              </a:rPr>
              <a:pPr algn="r">
                <a:spcBef>
                  <a:spcPct val="50000"/>
                </a:spcBef>
                <a:defRPr/>
              </a:pPr>
              <a:t>‹#›</a:t>
            </a:fld>
            <a:endParaRPr lang="en-GB" altLang="en-US" sz="1400" dirty="0">
              <a:solidFill>
                <a:schemeClr val="accent2"/>
              </a:solidFill>
              <a:latin typeface="Times New Roman" charset="0"/>
            </a:endParaRPr>
          </a:p>
          <a:p>
            <a:pPr algn="r">
              <a:spcBef>
                <a:spcPct val="50000"/>
              </a:spcBef>
              <a:defRPr/>
            </a:pPr>
            <a:endParaRPr lang="en-GB" altLang="en-US" sz="1000" dirty="0">
              <a:solidFill>
                <a:schemeClr val="accent2"/>
              </a:solidFill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703538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baseline="0">
                <a:ea typeface="FangSong" panose="02010609060101010101" pitchFamily="49" charset="-122"/>
              </a:defRPr>
            </a:lvl1pPr>
            <a:lvl2pPr>
              <a:defRPr baseline="0">
                <a:ea typeface="FangSong" panose="02010609060101010101" pitchFamily="49" charset="-122"/>
              </a:defRPr>
            </a:lvl2pPr>
            <a:lvl3pPr>
              <a:defRPr baseline="0">
                <a:ea typeface="FangSong" panose="02010609060101010101" pitchFamily="49" charset="-122"/>
              </a:defRPr>
            </a:lvl3pPr>
            <a:lvl4pPr>
              <a:defRPr baseline="0">
                <a:ea typeface="FangSong" panose="02010609060101010101" pitchFamily="49" charset="-122"/>
              </a:defRPr>
            </a:lvl4pPr>
            <a:lvl5pPr>
              <a:defRPr baseline="0">
                <a:ea typeface="FangSong" panose="02010609060101010101" pitchFamily="49" charset="-122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フッター プレースホルダー 1">
            <a:extLst>
              <a:ext uri="{FF2B5EF4-FFF2-40B4-BE49-F238E27FC236}">
                <a16:creationId xmlns:a16="http://schemas.microsoft.com/office/drawing/2014/main" id="{656708E0-780A-42EA-AEC7-D80580D6D4C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08000" y="6370638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accent6"/>
                </a:solidFill>
              </a:defRPr>
            </a:lvl1pPr>
          </a:lstStyle>
          <a:p>
            <a:r>
              <a:rPr lang="en-US" dirty="0" err="1"/>
              <a:t>Yiyang</a:t>
            </a:r>
            <a:r>
              <a:rPr lang="en-US" dirty="0"/>
              <a:t> Jia</a:t>
            </a:r>
          </a:p>
        </p:txBody>
      </p:sp>
    </p:spTree>
    <p:extLst>
      <p:ext uri="{BB962C8B-B14F-4D97-AF65-F5344CB8AC3E}">
        <p14:creationId xmlns:p14="http://schemas.microsoft.com/office/powerpoint/2010/main" val="5028780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フッター プレースホルダー 1">
            <a:extLst>
              <a:ext uri="{FF2B5EF4-FFF2-40B4-BE49-F238E27FC236}">
                <a16:creationId xmlns:a16="http://schemas.microsoft.com/office/drawing/2014/main" id="{B6DEF749-4806-4EB1-9520-49569C4FCA8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08000" y="6370638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accent6"/>
                </a:solidFill>
              </a:defRPr>
            </a:lvl1pPr>
          </a:lstStyle>
          <a:p>
            <a:r>
              <a:rPr lang="en-US" dirty="0" err="1"/>
              <a:t>Yiyang</a:t>
            </a:r>
            <a:r>
              <a:rPr lang="en-US" dirty="0"/>
              <a:t> Jia</a:t>
            </a:r>
          </a:p>
        </p:txBody>
      </p:sp>
    </p:spTree>
    <p:extLst>
      <p:ext uri="{BB962C8B-B14F-4D97-AF65-F5344CB8AC3E}">
        <p14:creationId xmlns:p14="http://schemas.microsoft.com/office/powerpoint/2010/main" val="34990023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08000" y="1295400"/>
            <a:ext cx="5435600" cy="4724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46800" y="1295400"/>
            <a:ext cx="5435600" cy="4724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フッター プレースホルダー 1">
            <a:extLst>
              <a:ext uri="{FF2B5EF4-FFF2-40B4-BE49-F238E27FC236}">
                <a16:creationId xmlns:a16="http://schemas.microsoft.com/office/drawing/2014/main" id="{071E30C6-AED6-406C-B2B3-B9C14F1924B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08000" y="6370638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accent6"/>
                </a:solidFill>
              </a:defRPr>
            </a:lvl1pPr>
          </a:lstStyle>
          <a:p>
            <a:r>
              <a:rPr lang="en-US" dirty="0" err="1"/>
              <a:t>Yiyang</a:t>
            </a:r>
            <a:r>
              <a:rPr lang="en-US" dirty="0"/>
              <a:t> Jia</a:t>
            </a:r>
          </a:p>
        </p:txBody>
      </p:sp>
    </p:spTree>
    <p:extLst>
      <p:ext uri="{BB962C8B-B14F-4D97-AF65-F5344CB8AC3E}">
        <p14:creationId xmlns:p14="http://schemas.microsoft.com/office/powerpoint/2010/main" val="23882945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フッター プレースホルダー 1">
            <a:extLst>
              <a:ext uri="{FF2B5EF4-FFF2-40B4-BE49-F238E27FC236}">
                <a16:creationId xmlns:a16="http://schemas.microsoft.com/office/drawing/2014/main" id="{D6B50CE3-CD95-4A1F-9A83-500B9C5478C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508000" y="6370638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accent6"/>
                </a:solidFill>
              </a:defRPr>
            </a:lvl1pPr>
          </a:lstStyle>
          <a:p>
            <a:r>
              <a:rPr lang="en-US" dirty="0" err="1"/>
              <a:t>Yiyang</a:t>
            </a:r>
            <a:r>
              <a:rPr lang="en-US" dirty="0"/>
              <a:t> Jia</a:t>
            </a:r>
          </a:p>
        </p:txBody>
      </p:sp>
    </p:spTree>
    <p:extLst>
      <p:ext uri="{BB962C8B-B14F-4D97-AF65-F5344CB8AC3E}">
        <p14:creationId xmlns:p14="http://schemas.microsoft.com/office/powerpoint/2010/main" val="20916090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フッター プレースホルダー 1">
            <a:extLst>
              <a:ext uri="{FF2B5EF4-FFF2-40B4-BE49-F238E27FC236}">
                <a16:creationId xmlns:a16="http://schemas.microsoft.com/office/drawing/2014/main" id="{802880ED-3A6D-4854-B3C1-12A8BF68C9F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08000" y="6370638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accent6"/>
                </a:solidFill>
              </a:defRPr>
            </a:lvl1pPr>
          </a:lstStyle>
          <a:p>
            <a:r>
              <a:rPr lang="en-US" dirty="0" err="1"/>
              <a:t>Yiyang</a:t>
            </a:r>
            <a:r>
              <a:rPr lang="en-US" dirty="0"/>
              <a:t> Jia</a:t>
            </a:r>
          </a:p>
        </p:txBody>
      </p:sp>
    </p:spTree>
    <p:extLst>
      <p:ext uri="{BB962C8B-B14F-4D97-AF65-F5344CB8AC3E}">
        <p14:creationId xmlns:p14="http://schemas.microsoft.com/office/powerpoint/2010/main" val="19410409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フッター プレースホルダー 1">
            <a:extLst>
              <a:ext uri="{FF2B5EF4-FFF2-40B4-BE49-F238E27FC236}">
                <a16:creationId xmlns:a16="http://schemas.microsoft.com/office/drawing/2014/main" id="{19B66A68-EB2C-448A-9C31-2285F6D4EF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08000" y="6370638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accent6"/>
                </a:solidFill>
              </a:defRPr>
            </a:lvl1pPr>
          </a:lstStyle>
          <a:p>
            <a:r>
              <a:rPr lang="en-US" dirty="0" err="1"/>
              <a:t>Yiyang</a:t>
            </a:r>
            <a:r>
              <a:rPr lang="en-US" dirty="0"/>
              <a:t> Jia</a:t>
            </a:r>
          </a:p>
        </p:txBody>
      </p:sp>
    </p:spTree>
    <p:extLst>
      <p:ext uri="{BB962C8B-B14F-4D97-AF65-F5344CB8AC3E}">
        <p14:creationId xmlns:p14="http://schemas.microsoft.com/office/powerpoint/2010/main" val="5683765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968111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4831151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4308044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13800" y="304800"/>
            <a:ext cx="2768600" cy="5715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08000" y="304800"/>
            <a:ext cx="8102600" cy="57150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5906052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044D7B4F-816E-594A-A348-113D4DEB799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508000" y="304800"/>
            <a:ext cx="11074400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endParaRPr lang="en-US" altLang="en-US" dirty="0"/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5984F332-65D3-8E41-9D42-8A248FC50AD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508000" y="1295400"/>
            <a:ext cx="11074400" cy="472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/>
              <a:t>Click to edit Master text styles</a:t>
            </a:r>
          </a:p>
          <a:p>
            <a:pPr lvl="1"/>
            <a:r>
              <a:rPr lang="en-GB" altLang="en-US"/>
              <a:t>Second level</a:t>
            </a:r>
          </a:p>
          <a:p>
            <a:pPr lvl="2"/>
            <a:r>
              <a:rPr lang="en-GB" altLang="en-US"/>
              <a:t>Third level</a:t>
            </a:r>
          </a:p>
          <a:p>
            <a:pPr lvl="3"/>
            <a:r>
              <a:rPr lang="en-GB" altLang="en-US"/>
              <a:t>Fourth level</a:t>
            </a:r>
          </a:p>
          <a:p>
            <a:pPr lvl="4"/>
            <a:r>
              <a:rPr lang="en-GB" altLang="en-US"/>
              <a:t>Fifth level</a:t>
            </a:r>
            <a:endParaRPr lang="en-US" altLang="en-US"/>
          </a:p>
        </p:txBody>
      </p:sp>
      <p:sp>
        <p:nvSpPr>
          <p:cNvPr id="1028" name="Line 7">
            <a:extLst>
              <a:ext uri="{FF2B5EF4-FFF2-40B4-BE49-F238E27FC236}">
                <a16:creationId xmlns:a16="http://schemas.microsoft.com/office/drawing/2014/main" id="{00A13E26-8A0C-4A42-ACC2-0EA997F81C7A}"/>
              </a:ext>
            </a:extLst>
          </p:cNvPr>
          <p:cNvSpPr>
            <a:spLocks noChangeShapeType="1"/>
          </p:cNvSpPr>
          <p:nvPr/>
        </p:nvSpPr>
        <p:spPr bwMode="auto">
          <a:xfrm>
            <a:off x="508000" y="990600"/>
            <a:ext cx="11108267" cy="0"/>
          </a:xfrm>
          <a:prstGeom prst="line">
            <a:avLst/>
          </a:prstGeom>
          <a:noFill/>
          <a:ln w="5080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 sz="2000"/>
          </a:p>
        </p:txBody>
      </p:sp>
      <p:sp>
        <p:nvSpPr>
          <p:cNvPr id="1032" name="Text Box 8">
            <a:extLst>
              <a:ext uri="{FF2B5EF4-FFF2-40B4-BE49-F238E27FC236}">
                <a16:creationId xmlns:a16="http://schemas.microsoft.com/office/drawing/2014/main" id="{7F320112-8054-5C45-9ABE-1300A4072AA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769600" y="6553199"/>
            <a:ext cx="1422400" cy="53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/>
            <a:ext uri="{91240B29-F687-4f45-9708-019B960494DF}"/>
            <a:ext uri="{AF507438-7753-43e0-B8FC-AC1667EBCBE1}"/>
          </a:extLst>
        </p:spPr>
        <p:txBody>
          <a:bodyPr>
            <a:spAutoFit/>
          </a:bodyPr>
          <a:lstStyle>
            <a:lvl1pPr defTabSz="762000">
              <a:defRPr sz="2000">
                <a:solidFill>
                  <a:schemeClr val="tx1"/>
                </a:solidFill>
                <a:latin typeface="Comic Sans MS" charset="0"/>
                <a:ea typeface="ＭＳ Ｐゴシック" charset="-128"/>
              </a:defRPr>
            </a:lvl1pPr>
            <a:lvl2pPr marL="742950" indent="-285750" defTabSz="762000">
              <a:defRPr sz="2000">
                <a:solidFill>
                  <a:schemeClr val="tx1"/>
                </a:solidFill>
                <a:latin typeface="Comic Sans MS" charset="0"/>
                <a:ea typeface="ＭＳ Ｐゴシック" charset="-128"/>
              </a:defRPr>
            </a:lvl2pPr>
            <a:lvl3pPr marL="1143000" indent="-228600" defTabSz="762000">
              <a:defRPr sz="2000">
                <a:solidFill>
                  <a:schemeClr val="tx1"/>
                </a:solidFill>
                <a:latin typeface="Comic Sans MS" charset="0"/>
                <a:ea typeface="ＭＳ Ｐゴシック" charset="-128"/>
              </a:defRPr>
            </a:lvl3pPr>
            <a:lvl4pPr marL="1600200" indent="-228600" defTabSz="762000">
              <a:defRPr sz="2000">
                <a:solidFill>
                  <a:schemeClr val="tx1"/>
                </a:solidFill>
                <a:latin typeface="Comic Sans MS" charset="0"/>
                <a:ea typeface="ＭＳ Ｐゴシック" charset="-128"/>
              </a:defRPr>
            </a:lvl4pPr>
            <a:lvl5pPr marL="2057400" indent="-228600" defTabSz="762000">
              <a:defRPr sz="2000">
                <a:solidFill>
                  <a:schemeClr val="tx1"/>
                </a:solidFill>
                <a:latin typeface="Comic Sans MS" charset="0"/>
                <a:ea typeface="ＭＳ Ｐゴシック" charset="-128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-128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-128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-128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-128"/>
              </a:defRPr>
            </a:lvl9pPr>
          </a:lstStyle>
          <a:p>
            <a:pPr algn="r">
              <a:spcBef>
                <a:spcPct val="50000"/>
              </a:spcBef>
              <a:defRPr/>
            </a:pPr>
            <a:fld id="{B30D727B-AF9F-1344-87F2-06A074BC649A}" type="slidenum">
              <a:rPr lang="en-GB" altLang="en-US" sz="1400" smtClean="0">
                <a:solidFill>
                  <a:schemeClr val="accent2"/>
                </a:solidFill>
                <a:latin typeface="Times New Roman" charset="0"/>
              </a:rPr>
              <a:pPr algn="r">
                <a:spcBef>
                  <a:spcPct val="50000"/>
                </a:spcBef>
                <a:defRPr/>
              </a:pPr>
              <a:t>‹#›</a:t>
            </a:fld>
            <a:endParaRPr lang="en-GB" altLang="en-US" sz="1400" dirty="0">
              <a:solidFill>
                <a:schemeClr val="accent2"/>
              </a:solidFill>
              <a:latin typeface="Times New Roman" charset="0"/>
            </a:endParaRPr>
          </a:p>
          <a:p>
            <a:pPr algn="r">
              <a:spcBef>
                <a:spcPct val="50000"/>
              </a:spcBef>
              <a:defRPr/>
            </a:pPr>
            <a:endParaRPr lang="en-GB" altLang="en-US" sz="1000" dirty="0">
              <a:solidFill>
                <a:schemeClr val="accent2"/>
              </a:solidFill>
              <a:latin typeface="Times New Roman" charset="0"/>
            </a:endParaRPr>
          </a:p>
        </p:txBody>
      </p:sp>
      <p:sp>
        <p:nvSpPr>
          <p:cNvPr id="2" name="フッター プレースホルダー 1">
            <a:extLst>
              <a:ext uri="{FF2B5EF4-FFF2-40B4-BE49-F238E27FC236}">
                <a16:creationId xmlns:a16="http://schemas.microsoft.com/office/drawing/2014/main" id="{699C07AA-4BE4-49A0-B276-13F3D202B7B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08000" y="6370638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accent6"/>
                </a:solidFill>
              </a:defRPr>
            </a:lvl1pPr>
          </a:lstStyle>
          <a:p>
            <a:r>
              <a:rPr lang="en-US" dirty="0" err="1"/>
              <a:t>Yiyang</a:t>
            </a:r>
            <a:r>
              <a:rPr lang="en-US" dirty="0"/>
              <a:t> Jia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35" r:id="rId1"/>
    <p:sldLayoutId id="2147483925" r:id="rId2"/>
    <p:sldLayoutId id="2147483926" r:id="rId3"/>
    <p:sldLayoutId id="2147483927" r:id="rId4"/>
    <p:sldLayoutId id="2147483928" r:id="rId5"/>
    <p:sldLayoutId id="2147483929" r:id="rId6"/>
    <p:sldLayoutId id="2147483930" r:id="rId7"/>
    <p:sldLayoutId id="2147483931" r:id="rId8"/>
    <p:sldLayoutId id="2147483932" r:id="rId9"/>
    <p:sldLayoutId id="2147483933" r:id="rId10"/>
    <p:sldLayoutId id="2147483934" r:id="rId1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2400">
          <a:solidFill>
            <a:schemeClr val="accent2"/>
          </a:solidFill>
          <a:latin typeface="+mj-lt"/>
          <a:ea typeface="+mj-ea"/>
          <a:cs typeface="ＭＳ Ｐゴシック" charset="0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400">
          <a:solidFill>
            <a:schemeClr val="accent2"/>
          </a:solidFill>
          <a:latin typeface="Arial" charset="0"/>
          <a:ea typeface="ＭＳ Ｐゴシック" charset="0"/>
          <a:cs typeface="ＭＳ Ｐゴシック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400">
          <a:solidFill>
            <a:schemeClr val="accent2"/>
          </a:solidFill>
          <a:latin typeface="Arial" charset="0"/>
          <a:ea typeface="ＭＳ Ｐゴシック" charset="0"/>
          <a:cs typeface="ＭＳ Ｐゴシック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400">
          <a:solidFill>
            <a:schemeClr val="accent2"/>
          </a:solidFill>
          <a:latin typeface="Arial" charset="0"/>
          <a:ea typeface="ＭＳ Ｐゴシック" charset="0"/>
          <a:cs typeface="ＭＳ Ｐゴシック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400">
          <a:solidFill>
            <a:schemeClr val="accent2"/>
          </a:solidFill>
          <a:latin typeface="Arial" charset="0"/>
          <a:ea typeface="ＭＳ Ｐゴシック" charset="0"/>
          <a:cs typeface="ＭＳ Ｐゴシック" charset="0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sz="2400">
          <a:solidFill>
            <a:schemeClr val="accent2"/>
          </a:solidFill>
          <a:latin typeface="Arial" charset="0"/>
          <a:ea typeface="ＭＳ Ｐゴシック" charset="0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sz="2400">
          <a:solidFill>
            <a:schemeClr val="accent2"/>
          </a:solidFill>
          <a:latin typeface="Arial" charset="0"/>
          <a:ea typeface="ＭＳ Ｐゴシック" charset="0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sz="2400">
          <a:solidFill>
            <a:schemeClr val="accent2"/>
          </a:solidFill>
          <a:latin typeface="Arial" charset="0"/>
          <a:ea typeface="ＭＳ Ｐゴシック" charset="0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sz="2400">
          <a:solidFill>
            <a:schemeClr val="accent2"/>
          </a:solidFill>
          <a:latin typeface="Arial" charset="0"/>
          <a:ea typeface="ＭＳ Ｐゴシック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rgbClr val="CC0000"/>
        </a:buClr>
        <a:buFont typeface="Wingdings" pitchFamily="2" charset="2"/>
        <a:buChar char="u"/>
        <a:defRPr sz="2000">
          <a:solidFill>
            <a:schemeClr val="tx1"/>
          </a:solidFill>
          <a:latin typeface="+mn-lt"/>
          <a:ea typeface="+mn-ea"/>
          <a:cs typeface="ＭＳ Ｐゴシック" charset="0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l"/>
        <a:defRPr sz="20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rgbClr val="FF3300"/>
        </a:buClr>
        <a:buFont typeface="Wingdings" pitchFamily="2" charset="2"/>
        <a:buChar char="u"/>
        <a:defRPr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rgbClr val="FF3300"/>
        </a:buClr>
        <a:buFont typeface="Wingdings" pitchFamily="2" charset="2"/>
        <a:buChar char="u"/>
        <a:defRPr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rgbClr val="FF3300"/>
        </a:buClr>
        <a:buFont typeface="Wingdings" pitchFamily="2" charset="2"/>
        <a:buChar char="u"/>
        <a:defRPr>
          <a:solidFill>
            <a:schemeClr val="tx1"/>
          </a:solidFill>
          <a:latin typeface="+mn-lt"/>
          <a:ea typeface="+mn-ea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lr>
          <a:srgbClr val="FF3300"/>
        </a:buClr>
        <a:buFont typeface="Wingdings" charset="0"/>
        <a:buChar char="u"/>
        <a:defRPr>
          <a:solidFill>
            <a:schemeClr val="tx1"/>
          </a:solidFill>
          <a:latin typeface="+mn-lt"/>
          <a:ea typeface="+mn-ea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lr>
          <a:srgbClr val="FF3300"/>
        </a:buClr>
        <a:buFont typeface="Wingdings" charset="0"/>
        <a:buChar char="u"/>
        <a:defRPr>
          <a:solidFill>
            <a:schemeClr val="tx1"/>
          </a:solidFill>
          <a:latin typeface="+mn-lt"/>
          <a:ea typeface="+mn-ea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lr>
          <a:srgbClr val="FF3300"/>
        </a:buClr>
        <a:buFont typeface="Wingdings" charset="0"/>
        <a:buChar char="u"/>
        <a:defRPr>
          <a:solidFill>
            <a:schemeClr val="tx1"/>
          </a:solidFill>
          <a:latin typeface="+mn-lt"/>
          <a:ea typeface="+mn-ea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lr>
          <a:srgbClr val="FF3300"/>
        </a:buClr>
        <a:buFont typeface="Wingdings" charset="0"/>
        <a:buChar char="u"/>
        <a:defRPr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0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0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5" name="Rectangle 3">
            <a:extLst>
              <a:ext uri="{FF2B5EF4-FFF2-40B4-BE49-F238E27FC236}">
                <a16:creationId xmlns:a16="http://schemas.microsoft.com/office/drawing/2014/main" id="{C9D3ED6E-29C5-344B-AD25-059465987D18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34754" y="2400701"/>
            <a:ext cx="11762071" cy="914400"/>
          </a:xfrm>
          <a:extLst>
            <a:ext uri="{909E8E84-426E-40dd-AFC4-6F175D3DCCD1}"/>
            <a:ext uri="{91240B29-F687-4f45-9708-019B960494DF}"/>
            <a:ext uri="{AF507438-7753-43e0-B8FC-AC1667EBCBE1}"/>
          </a:extLst>
        </p:spPr>
        <p:txBody>
          <a:bodyPr/>
          <a:lstStyle/>
          <a:p>
            <a:pPr>
              <a:defRPr/>
            </a:pPr>
            <a:r>
              <a:rPr lang="zh-CN" altLang="en-US" sz="4800" dirty="0"/>
              <a:t>第九讲  对偶空间与泛函</a:t>
            </a:r>
            <a:endParaRPr lang="en-US" altLang="zh-CN" sz="4800" b="0" dirty="0">
              <a:solidFill>
                <a:srgbClr val="00B050"/>
              </a:solidFill>
              <a:latin typeface="ＭＳ ゴシック" panose="020B0609070205080204" pitchFamily="49" charset="-128"/>
              <a:ea typeface="ＭＳ ゴシック" panose="020B0609070205080204" pitchFamily="49" charset="-128"/>
              <a:cs typeface="+mn-cs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04557E3E-7542-E03D-E83D-95659A1FF452}"/>
              </a:ext>
            </a:extLst>
          </p:cNvPr>
          <p:cNvSpPr txBox="1"/>
          <p:nvPr/>
        </p:nvSpPr>
        <p:spPr>
          <a:xfrm>
            <a:off x="2058126" y="3959721"/>
            <a:ext cx="8075748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000" dirty="0">
                <a:latin typeface="+mj-ea"/>
                <a:ea typeface="+mj-ea"/>
              </a:rPr>
              <a:t>面向应用的泛函分析：空间、算子与结构</a:t>
            </a:r>
            <a:r>
              <a:rPr lang="en-US" altLang="ja-JP" sz="3000" dirty="0">
                <a:latin typeface="+mj-ea"/>
                <a:ea typeface="+mj-ea"/>
              </a:rPr>
              <a:t>(</a:t>
            </a:r>
            <a:r>
              <a:rPr lang="en-US" altLang="zh-CN" sz="3000" dirty="0">
                <a:latin typeface="+mj-ea"/>
                <a:ea typeface="+mj-ea"/>
              </a:rPr>
              <a:t>9</a:t>
            </a:r>
            <a:r>
              <a:rPr lang="en-US" altLang="ja-JP" sz="3000" dirty="0">
                <a:latin typeface="+mj-ea"/>
                <a:ea typeface="+mj-ea"/>
              </a:rPr>
              <a:t>)</a:t>
            </a:r>
            <a:endParaRPr lang="ja-JP" altLang="en-US" sz="3000" dirty="0">
              <a:latin typeface="+mj-ea"/>
              <a:ea typeface="+mj-ea"/>
            </a:endParaRPr>
          </a:p>
        </p:txBody>
      </p: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D9873AE4-8092-C0CF-6CC8-939EF51604B4}"/>
              </a:ext>
            </a:extLst>
          </p:cNvPr>
          <p:cNvSpPr txBox="1"/>
          <p:nvPr/>
        </p:nvSpPr>
        <p:spPr>
          <a:xfrm>
            <a:off x="4439920" y="5158339"/>
            <a:ext cx="331216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000" dirty="0">
                <a:latin typeface="+mj-ea"/>
                <a:ea typeface="+mj-ea"/>
              </a:rPr>
              <a:t>讲师：贾伊阳</a:t>
            </a:r>
            <a:endParaRPr lang="ja-JP" altLang="en-US" sz="3000" dirty="0">
              <a:latin typeface="+mj-ea"/>
              <a:ea typeface="+mj-e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2D9A04-971B-959E-D445-356FB674EC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>
            <a:extLst>
              <a:ext uri="{FF2B5EF4-FFF2-40B4-BE49-F238E27FC236}">
                <a16:creationId xmlns:a16="http://schemas.microsoft.com/office/drawing/2014/main" id="{F441F8D9-4FF5-76DF-8787-7DACD7AF68D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>
                <a:latin typeface="+mj-ea"/>
              </a:rPr>
              <a:t>主要思想</a:t>
            </a:r>
            <a:endParaRPr lang="ja-JP" altLang="en-US" dirty="0">
              <a:latin typeface="+mj-ea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コンテンツ プレースホルダー 2">
                <a:extLst>
                  <a:ext uri="{FF2B5EF4-FFF2-40B4-BE49-F238E27FC236}">
                    <a16:creationId xmlns:a16="http://schemas.microsoft.com/office/drawing/2014/main" id="{80FDB0C9-588B-5FE1-228A-1C3CA812E63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09880" y="1183640"/>
                <a:ext cx="11572240" cy="5440680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ja-JP" altLang="ja-JP" dirty="0"/>
                  <a:t>对偶空间把“对象”变成“所有线性观测的集合”；</a:t>
                </a:r>
                <a:endParaRPr lang="en-US" altLang="ja-JP" dirty="0"/>
              </a:p>
              <a:p>
                <a:pPr marL="0" indent="0">
                  <a:buNone/>
                </a:pPr>
                <a:r>
                  <a:rPr lang="ja-JP" altLang="ja-JP" dirty="0"/>
                  <a:t>伴随算子描述“观测如何沿映射反向传播”；</a:t>
                </a:r>
                <a:endParaRPr lang="en-US" altLang="ja-JP" dirty="0"/>
              </a:p>
              <a:p>
                <a:pPr marL="0" indent="0">
                  <a:buNone/>
                </a:pPr>
                <a:r>
                  <a:rPr lang="ja-JP" altLang="ja-JP" dirty="0"/>
                  <a:t>Riesz 定理说明在 Hilbert 空间中，每个连续线性观测都可以由一个向量代表。</a:t>
                </a:r>
                <a:endParaRPr lang="en-US" altLang="ja-JP" dirty="0"/>
              </a:p>
              <a:p>
                <a:pPr marL="0" indent="0">
                  <a:buNone/>
                </a:pPr>
                <a:endParaRPr lang="en-US" altLang="ja-JP" dirty="0"/>
              </a:p>
              <a:p>
                <a:pPr marL="0" indent="0">
                  <a:buNone/>
                </a:pPr>
                <a:endParaRPr lang="en-US" altLang="ja-JP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ja-JP" altLang="en-US" i="1">
                          <a:latin typeface="Cambria Math" panose="02040503050406030204" pitchFamily="18" charset="0"/>
                        </a:rPr>
                        <m:t>𝑋</m:t>
                      </m:r>
                      <m:groupChr>
                        <m:groupChrPr>
                          <m:chr m:val="→"/>
                          <m:vertJc m:val="bot"/>
                          <m:ctrlPr>
                            <a:rPr lang="ja-JP" altLang="en-US" i="1">
                              <a:latin typeface="Cambria Math" panose="02040503050406030204" pitchFamily="18" charset="0"/>
                            </a:rPr>
                          </m:ctrlPr>
                        </m:groupChrPr>
                        <m:e>
                          <m:box>
                            <m:boxPr>
                              <m:ctrlPr>
                                <a:rPr lang="ja-JP" altLang="en-US" i="1">
                                  <a:latin typeface="Cambria Math" panose="02040503050406030204" pitchFamily="18" charset="0"/>
                                </a:rPr>
                              </m:ctrlPr>
                            </m:boxPr>
                            <m:e>
                              <m:r>
                                <a:rPr lang="ja-JP" altLang="en-US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</m:box>
                        </m:e>
                      </m:groupChr>
                      <m:r>
                        <a:rPr lang="ja-JP" altLang="en-US" i="1"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en-US" altLang="ja-JP">
                          <a:latin typeface="Cambria Math" panose="02040503050406030204" pitchFamily="18" charset="0"/>
                        </a:rPr>
                        <m:t>, </m:t>
                      </m:r>
                    </m:oMath>
                  </m:oMathPara>
                </a14:m>
                <a:endParaRPr lang="en-US" altLang="ja-JP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ja-JP" alt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ja-JP" altLang="en-US" i="1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p>
                          <m:r>
                            <a:rPr lang="ja-JP" altLang="en-US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groupChr>
                        <m:groupChrPr>
                          <m:chr m:val="→"/>
                          <m:vertJc m:val="bot"/>
                          <m:ctrlPr>
                            <a:rPr lang="ja-JP" altLang="en-US" i="1">
                              <a:latin typeface="Cambria Math" panose="02040503050406030204" pitchFamily="18" charset="0"/>
                            </a:rPr>
                          </m:ctrlPr>
                        </m:groupChrPr>
                        <m:e>
                          <m:box>
                            <m:boxPr>
                              <m:ctrlPr>
                                <a:rPr lang="ja-JP" altLang="en-US" i="1">
                                  <a:latin typeface="Cambria Math" panose="02040503050406030204" pitchFamily="18" charset="0"/>
                                </a:rPr>
                              </m:ctrlPr>
                            </m:boxPr>
                            <m:e>
                              <m:sSup>
                                <m:sSupPr>
                                  <m:ctrlPr>
                                    <a:rPr lang="ja-JP" alt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ja-JP" altLang="en-US" i="1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e>
                                <m:sup>
                                  <m:r>
                                    <a:rPr lang="ja-JP" altLang="en-US">
                                      <a:latin typeface="Cambria Math" panose="02040503050406030204" pitchFamily="18" charset="0"/>
                                    </a:rPr>
                                    <m:t>∗</m:t>
                                  </m:r>
                                </m:sup>
                              </m:sSup>
                            </m:e>
                          </m:box>
                        </m:e>
                      </m:groupChr>
                      <m:sSup>
                        <m:sSupPr>
                          <m:ctrlPr>
                            <a:rPr lang="ja-JP" alt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ja-JP" altLang="en-US" i="1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p>
                          <m:r>
                            <a:rPr lang="ja-JP" altLang="en-US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en-US" altLang="ja-JP">
                          <a:latin typeface="Cambria Math" panose="02040503050406030204" pitchFamily="18" charset="0"/>
                        </a:rPr>
                        <m:t>, </m:t>
                      </m:r>
                    </m:oMath>
                  </m:oMathPara>
                </a14:m>
                <a:endParaRPr lang="en-US" altLang="ja-JP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⟨"/>
                          <m:endChr m:val="⟩"/>
                          <m:sepChr m:val=","/>
                          <m:ctrlPr>
                            <a:rPr lang="ja-JP" alt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ja-JP" alt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ja-JP" altLang="en-US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p>
                              <m:r>
                                <a:rPr lang="ja-JP" altLang="en-US"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</m:e>
                        <m:e>
                          <m:sSup>
                            <m:sSupPr>
                              <m:ctrlPr>
                                <a:rPr lang="ja-JP" alt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ja-JP" altLang="en-US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p>
                              <m:r>
                                <a:rPr lang="ja-JP" altLang="en-US"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  <m:r>
                            <a:rPr lang="ja-JP" alt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altLang="ja-JP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⟨"/>
                          <m:endChr m:val="⟩"/>
                          <m:sepChr m:val=","/>
                          <m:ctrlPr>
                            <a:rPr lang="ja-JP" alt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ja-JP" alt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ja-JP" altLang="en-US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p>
                              <m:r>
                                <a:rPr lang="ja-JP" altLang="en-US"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</m:e>
                        <m:e>
                          <m:r>
                            <a:rPr lang="ja-JP" altLang="en-US" i="1">
                              <a:latin typeface="Cambria Math" panose="02040503050406030204" pitchFamily="18" charset="0"/>
                            </a:rPr>
                            <m:t>𝑇𝑥</m:t>
                          </m:r>
                        </m:e>
                      </m:d>
                      <m:r>
                        <a:rPr lang="en-US" altLang="ja-JP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en-US" altLang="ja-JP" dirty="0"/>
              </a:p>
              <a:p>
                <a:pPr marL="0" indent="0">
                  <a:buNone/>
                </a:pPr>
                <a:endParaRPr lang="en-US" altLang="ja-JP" dirty="0"/>
              </a:p>
              <a:p>
                <a:pPr marL="0" indent="0">
                  <a:buNone/>
                </a:pPr>
                <a:endParaRPr lang="en-US" altLang="ja-JP" dirty="0"/>
              </a:p>
              <a:p>
                <a:pPr marL="0" indent="0">
                  <a:buNone/>
                </a:pPr>
                <a:endParaRPr lang="en-US" altLang="ja-JP" dirty="0"/>
              </a:p>
              <a:p>
                <a:pPr marL="0" indent="0">
                  <a:buNone/>
                </a:pPr>
                <a:endParaRPr lang="en-US" altLang="ja-JP" dirty="0"/>
              </a:p>
              <a:p>
                <a:pPr marL="0" indent="0">
                  <a:buNone/>
                </a:pPr>
                <a:endParaRPr lang="en-US" altLang="ja-JP" dirty="0"/>
              </a:p>
              <a:p>
                <a:pPr marL="0" indent="0">
                  <a:buNone/>
                </a:pPr>
                <a:r>
                  <a:rPr lang="ja-JP" altLang="ja-JP" dirty="0"/>
                  <a:t>可以贯穿泛函分析、微分几何、优化、PDE、同调上同调</a:t>
                </a:r>
              </a:p>
              <a:p>
                <a:pPr marL="0" indent="0">
                  <a:buNone/>
                </a:pPr>
                <a:endParaRPr lang="ja-JP" altLang="ja-JP" dirty="0"/>
              </a:p>
            </p:txBody>
          </p:sp>
        </mc:Choice>
        <mc:Fallback>
          <p:sp>
            <p:nvSpPr>
              <p:cNvPr id="12" name="コンテンツ プレースホルダー 2">
                <a:extLst>
                  <a:ext uri="{FF2B5EF4-FFF2-40B4-BE49-F238E27FC236}">
                    <a16:creationId xmlns:a16="http://schemas.microsoft.com/office/drawing/2014/main" id="{80FDB0C9-588B-5FE1-228A-1C3CA812E63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09880" y="1183640"/>
                <a:ext cx="11572240" cy="5440680"/>
              </a:xfrm>
              <a:blipFill>
                <a:blip r:embed="rId3"/>
                <a:stretch>
                  <a:fillRect l="-580" t="-896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図 2">
            <a:extLst>
              <a:ext uri="{FF2B5EF4-FFF2-40B4-BE49-F238E27FC236}">
                <a16:creationId xmlns:a16="http://schemas.microsoft.com/office/drawing/2014/main" id="{7279D541-BD2C-8CEC-5AF6-DB81DBFD656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84960" y="4456852"/>
            <a:ext cx="9337040" cy="13415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19945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39209D-5ABE-2B77-2107-9E78D78436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>
            <a:extLst>
              <a:ext uri="{FF2B5EF4-FFF2-40B4-BE49-F238E27FC236}">
                <a16:creationId xmlns:a16="http://schemas.microsoft.com/office/drawing/2014/main" id="{B31D6309-B58C-C25F-C728-65B909E8BA8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>
                <a:latin typeface="+mj-ea"/>
              </a:rPr>
              <a:t>对偶空间与泛函</a:t>
            </a:r>
            <a:endParaRPr lang="ja-JP" altLang="en-US" dirty="0">
              <a:latin typeface="+mj-ea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コンテンツ プレースホルダー 2">
                <a:extLst>
                  <a:ext uri="{FF2B5EF4-FFF2-40B4-BE49-F238E27FC236}">
                    <a16:creationId xmlns:a16="http://schemas.microsoft.com/office/drawing/2014/main" id="{50EA1CF7-FAC5-54DA-BA1D-A3BD5199995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09880" y="1183640"/>
                <a:ext cx="11572240" cy="5440680"/>
              </a:xfrm>
            </p:spPr>
            <p:txBody>
              <a:bodyPr/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ja-JP" alt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ja-JP" altLang="en-US" i="1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p>
                          <m:r>
                            <a:rPr lang="ja-JP" altLang="en-US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en-US" altLang="ja-JP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ja-JP" alt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nor/>
                            </m:rPr>
                            <a:rPr lang="ja-JP" altLang="en-US"/>
                            <m:t>连续线性泛函</m:t>
                          </m:r>
                          <m:r>
                            <m:rPr>
                              <m:nor/>
                            </m:rPr>
                            <a:rPr lang="ja-JP" altLang="en-US" i="1"/>
                            <m:t> </m:t>
                          </m:r>
                          <m:r>
                            <a:rPr lang="ja-JP" altLang="en-US" i="1"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en-US" altLang="ja-JP">
                              <a:latin typeface="Cambria Math" panose="02040503050406030204" pitchFamily="18" charset="0"/>
                            </a:rPr>
                            <m:t>:</m:t>
                          </m:r>
                          <m:r>
                            <a:rPr lang="ja-JP" altLang="en-US" i="1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ja-JP" altLang="en-US">
                              <a:latin typeface="Cambria Math" panose="02040503050406030204" pitchFamily="18" charset="0"/>
                            </a:rPr>
                            <m:t>→</m:t>
                          </m:r>
                          <m:r>
                            <a:rPr lang="en-US" altLang="ja-JP">
                              <a:latin typeface="Cambria Math" panose="02040503050406030204" pitchFamily="18" charset="0"/>
                            </a:rPr>
                            <m:t>ℝ</m:t>
                          </m:r>
                        </m:e>
                      </m:d>
                    </m:oMath>
                  </m:oMathPara>
                </a14:m>
                <a:endParaRPr lang="ja-JP" altLang="en-US" b="0" dirty="0"/>
              </a:p>
              <a:p>
                <a:r>
                  <a:rPr lang="ja-JP" altLang="ja-JP" dirty="0"/>
                  <a:t>关键词：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ja-JP" altLang="en-US" b="0"/>
                      <m:t>观测</m:t>
                    </m:r>
                    <m:r>
                      <a:rPr lang="ja-JP" altLang="en-US" i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ja-JP" altLang="en-US"/>
                      <m:t>测试函数</m:t>
                    </m:r>
                    <m:r>
                      <a:rPr lang="ja-JP" altLang="en-US" i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ja-JP" altLang="en-US"/>
                      <m:t>弱解</m:t>
                    </m:r>
                    <m:r>
                      <a:rPr lang="ja-JP" altLang="en-US" i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ja-JP" altLang="en-US"/>
                      <m:t>梯度</m:t>
                    </m:r>
                    <m:r>
                      <a:rPr lang="ja-JP" altLang="en-US" i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ja-JP" altLang="en-US"/>
                      <m:t>伴随</m:t>
                    </m:r>
                    <m:r>
                      <a:rPr lang="ja-JP" altLang="en-US" i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ja-JP" altLang="en-US"/>
                      <m:t>对偶</m:t>
                    </m:r>
                  </m:oMath>
                </a14:m>
                <a:endParaRPr lang="ja-JP" altLang="en-US" b="0" dirty="0"/>
              </a:p>
              <a:p>
                <a:r>
                  <a:rPr lang="ja-JP" altLang="ja-JP" dirty="0"/>
                  <a:t>普遍思想：很多数学对象不是直接研究，而是通过“所有能作用在它上面的线性探针”来研究</a:t>
                </a:r>
                <a:endParaRPr lang="en-US" altLang="ja-JP" dirty="0"/>
              </a:p>
              <a:p>
                <a:endParaRPr lang="en-US" altLang="ja-JP" dirty="0"/>
              </a:p>
              <a:p>
                <a:pPr marL="0" indent="0">
                  <a:buNone/>
                </a:pPr>
                <a:r>
                  <a:rPr lang="zh-CN" altLang="en-US" dirty="0"/>
                  <a:t>讨论以下三个场景：</a:t>
                </a:r>
                <a:endParaRPr lang="en-US" altLang="zh-CN" dirty="0"/>
              </a:p>
              <a:p>
                <a:pPr marL="457200" indent="-457200">
                  <a:buFont typeface="+mj-lt"/>
                  <a:buAutoNum type="arabicPeriod"/>
                </a:pPr>
                <a:r>
                  <a:rPr lang="ja-JP" altLang="ja-JP" dirty="0"/>
                  <a:t>优化：</a:t>
                </a:r>
                <a14:m>
                  <m:oMath xmlns:m="http://schemas.openxmlformats.org/officeDocument/2006/math">
                    <m:r>
                      <a:rPr lang="ja-JP" altLang="en-US" i="1">
                        <a:latin typeface="Cambria Math" panose="02040503050406030204" pitchFamily="18" charset="0"/>
                      </a:rPr>
                      <m:t>𝐷𝐽</m:t>
                    </m:r>
                    <m:d>
                      <m:dPr>
                        <m:ctrlPr>
                          <a:rPr lang="ja-JP" alt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ja-JP" altLang="en-US" i="1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d>
                    <m:d>
                      <m:dPr>
                        <m:ctrlPr>
                          <a:rPr lang="ja-JP" alt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ja-JP" altLang="en-US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d>
                  </m:oMath>
                </a14:m>
                <a:r>
                  <a:rPr lang="ja-JP" altLang="en-US" dirty="0"/>
                  <a:t> </a:t>
                </a:r>
                <a:r>
                  <a:rPr lang="ja-JP" altLang="ja-JP" dirty="0"/>
                  <a:t>一阶变分是对方向 </a:t>
                </a:r>
                <a14:m>
                  <m:oMath xmlns:m="http://schemas.openxmlformats.org/officeDocument/2006/math">
                    <m:r>
                      <a:rPr lang="ja-JP" altLang="en-US" i="1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ja-JP" altLang="ja-JP" dirty="0"/>
                  <a:t>的线性函数。</a:t>
                </a:r>
                <a:endParaRPr lang="en-US" altLang="ja-JP" dirty="0"/>
              </a:p>
              <a:p>
                <a:pPr marL="457200" indent="-457200">
                  <a:buFont typeface="+mj-lt"/>
                  <a:buAutoNum type="arabicPeriod"/>
                </a:pPr>
                <a:r>
                  <a:rPr lang="ja-JP" altLang="ja-JP" dirty="0"/>
                  <a:t>PDE 弱解：</a:t>
                </a:r>
                <a14:m>
                  <m:oMath xmlns:m="http://schemas.openxmlformats.org/officeDocument/2006/math">
                    <m:nary>
                      <m:naryPr>
                        <m:grow m:val="on"/>
                        <m:supHide m:val="on"/>
                        <m:ctrlPr>
                          <a:rPr lang="ja-JP" altLang="en-US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sty m:val="p"/>
                          </m:rPr>
                          <a:rPr lang="en-US" altLang="ja-JP">
                            <a:latin typeface="Cambria Math" panose="02040503050406030204" pitchFamily="18" charset="0"/>
                          </a:rPr>
                          <m:t>Ω</m:t>
                        </m:r>
                      </m:sub>
                      <m:sup/>
                      <m:e>
                        <m:r>
                          <m:rPr>
                            <m:sty m:val="p"/>
                          </m:rPr>
                          <a:rPr lang="ja-JP" altLang="en-US">
                            <a:latin typeface="Cambria Math" panose="02040503050406030204" pitchFamily="18" charset="0"/>
                          </a:rPr>
                          <m:t>∇</m:t>
                        </m:r>
                      </m:e>
                    </m:nary>
                    <m:r>
                      <a:rPr lang="ja-JP" altLang="en-US" i="1">
                        <a:latin typeface="Cambria Math" panose="02040503050406030204" pitchFamily="18" charset="0"/>
                      </a:rPr>
                      <m:t>𝑢</m:t>
                    </m:r>
                    <m:r>
                      <a:rPr lang="ja-JP" altLang="en-US">
                        <a:latin typeface="Cambria Math" panose="02040503050406030204" pitchFamily="18" charset="0"/>
                      </a:rPr>
                      <m:t>⋅</m:t>
                    </m:r>
                    <m:r>
                      <m:rPr>
                        <m:sty m:val="p"/>
                      </m:rPr>
                      <a:rPr lang="ja-JP" altLang="en-US">
                        <a:latin typeface="Cambria Math" panose="02040503050406030204" pitchFamily="18" charset="0"/>
                      </a:rPr>
                      <m:t>∇</m:t>
                    </m:r>
                    <m:r>
                      <a:rPr lang="ja-JP" altLang="en-US" i="1">
                        <a:latin typeface="Cambria Math" panose="02040503050406030204" pitchFamily="18" charset="0"/>
                      </a:rPr>
                      <m:t>𝜑</m:t>
                    </m:r>
                    <m:r>
                      <a:rPr lang="en-US" altLang="ja-JP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grow m:val="on"/>
                        <m:supHide m:val="on"/>
                        <m:ctrlPr>
                          <a:rPr lang="ja-JP" altLang="en-US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sty m:val="p"/>
                          </m:rPr>
                          <a:rPr lang="en-US" altLang="ja-JP">
                            <a:latin typeface="Cambria Math" panose="02040503050406030204" pitchFamily="18" charset="0"/>
                          </a:rPr>
                          <m:t>Ω</m:t>
                        </m:r>
                      </m:sub>
                      <m:sup/>
                      <m:e>
                        <m:r>
                          <a:rPr lang="ja-JP" altLang="en-US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nary>
                    <m:r>
                      <a:rPr lang="ja-JP" altLang="en-US" i="1">
                        <a:latin typeface="Cambria Math" panose="02040503050406030204" pitchFamily="18" charset="0"/>
                      </a:rPr>
                      <m:t>𝜑</m:t>
                    </m:r>
                  </m:oMath>
                </a14:m>
                <a:r>
                  <a:rPr lang="en-US" altLang="ja-JP" dirty="0"/>
                  <a:t>   </a:t>
                </a:r>
                <a:r>
                  <a:rPr lang="ja-JP" altLang="ja-JP" dirty="0"/>
                  <a:t>用测试函数 </a:t>
                </a:r>
                <a14:m>
                  <m:oMath xmlns:m="http://schemas.openxmlformats.org/officeDocument/2006/math">
                    <m:r>
                      <a:rPr lang="ja-JP" altLang="en-US" i="1">
                        <a:latin typeface="Cambria Math" panose="02040503050406030204" pitchFamily="18" charset="0"/>
                      </a:rPr>
                      <m:t>𝜑</m:t>
                    </m:r>
                  </m:oMath>
                </a14:m>
                <a:r>
                  <a:rPr lang="ja-JP" altLang="ja-JP" dirty="0"/>
                  <a:t>检验方程。</a:t>
                </a:r>
                <a:endParaRPr lang="en-US" altLang="ja-JP" dirty="0"/>
              </a:p>
              <a:p>
                <a:pPr marL="457200" indent="-457200">
                  <a:buFont typeface="+mj-lt"/>
                  <a:buAutoNum type="arabicPeriod"/>
                </a:pPr>
                <a:r>
                  <a:rPr lang="ja-JP" altLang="ja-JP" dirty="0"/>
                  <a:t>几何：</a:t>
                </a:r>
                <a14:m>
                  <m:oMath xmlns:m="http://schemas.openxmlformats.org/officeDocument/2006/math">
                    <m:r>
                      <a:rPr lang="ja-JP" altLang="en-US" i="1">
                        <a:latin typeface="Cambria Math" panose="02040503050406030204" pitchFamily="18" charset="0"/>
                      </a:rPr>
                      <m:t>𝑑</m:t>
                    </m:r>
                    <m:sSub>
                      <m:sSubPr>
                        <m:ctrlPr>
                          <a:rPr lang="ja-JP" alt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ja-JP" altLang="en-US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ja-JP" altLang="en-US" i="1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  <m:d>
                      <m:dPr>
                        <m:ctrlPr>
                          <a:rPr lang="ja-JP" alt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ja-JP" altLang="en-US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d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ja-JP" altLang="ja-JP" dirty="0"/>
                  <a:t>微分是作用在切向量上的线性函数。</a:t>
                </a:r>
              </a:p>
              <a:p>
                <a:pPr marL="0" indent="0">
                  <a:buNone/>
                </a:pPr>
                <a:endParaRPr lang="en-US" altLang="ja-JP" b="1" dirty="0"/>
              </a:p>
              <a:p>
                <a:pPr marL="0" indent="0">
                  <a:buNone/>
                </a:pPr>
                <a:r>
                  <a:rPr lang="ja-JP" altLang="ja-JP" dirty="0"/>
                  <a:t>三者共同点：并不总是直接看 </a:t>
                </a:r>
                <a14:m>
                  <m:oMath xmlns:m="http://schemas.openxmlformats.org/officeDocument/2006/math">
                    <m:r>
                      <a:rPr lang="ja-JP" altLang="en-US" i="1"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lang="ja-JP" altLang="ja-JP" dirty="0"/>
                  <a:t>、</a:t>
                </a:r>
                <a14:m>
                  <m:oMath xmlns:m="http://schemas.openxmlformats.org/officeDocument/2006/math">
                    <m:r>
                      <a:rPr lang="ja-JP" altLang="en-US" i="1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ja-JP" altLang="ja-JP" dirty="0"/>
                  <a:t>、</a:t>
                </a:r>
                <a14:m>
                  <m:oMath xmlns:m="http://schemas.openxmlformats.org/officeDocument/2006/math">
                    <m:r>
                      <a:rPr lang="ja-JP" altLang="en-US" i="1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ja-JP" altLang="ja-JP" dirty="0"/>
                  <a:t>，而是看“它对所有测试方向、测试函数、切向量的响应”。</a:t>
                </a:r>
              </a:p>
              <a:p>
                <a:pPr marL="0" indent="0">
                  <a:buNone/>
                </a:pPr>
                <a:endParaRPr lang="ja-JP" altLang="ja-JP" dirty="0"/>
              </a:p>
            </p:txBody>
          </p:sp>
        </mc:Choice>
        <mc:Fallback>
          <p:sp>
            <p:nvSpPr>
              <p:cNvPr id="12" name="コンテンツ プレースホルダー 2">
                <a:extLst>
                  <a:ext uri="{FF2B5EF4-FFF2-40B4-BE49-F238E27FC236}">
                    <a16:creationId xmlns:a16="http://schemas.microsoft.com/office/drawing/2014/main" id="{50EA1CF7-FAC5-54DA-BA1D-A3BD5199995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09880" y="1183640"/>
                <a:ext cx="11572240" cy="5440680"/>
              </a:xfrm>
              <a:blipFill>
                <a:blip r:embed="rId3"/>
                <a:stretch>
                  <a:fillRect l="-790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631128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8912F9-F6D3-4774-FBE0-662FE3B6AA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6626" name="Rectangle 2">
                <a:extLst>
                  <a:ext uri="{FF2B5EF4-FFF2-40B4-BE49-F238E27FC236}">
                    <a16:creationId xmlns:a16="http://schemas.microsoft.com/office/drawing/2014/main" id="{305DFB14-0BD0-626B-8F68-9DFC067792F6}"/>
                  </a:ext>
                </a:extLst>
              </p:cNvPr>
              <p:cNvSpPr>
                <a:spLocks noGrp="1" noChangeArrowheads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ja-JP" altLang="ja-JP" b="1" dirty="0"/>
                  <a:t>优化：</a:t>
                </a:r>
                <a14:m>
                  <m:oMath xmlns:m="http://schemas.openxmlformats.org/officeDocument/2006/math">
                    <m:r>
                      <a:rPr lang="ja-JP" altLang="en-US" b="1" i="1">
                        <a:latin typeface="Cambria Math" panose="02040503050406030204" pitchFamily="18" charset="0"/>
                      </a:rPr>
                      <m:t>𝑫𝑱</m:t>
                    </m:r>
                    <m:d>
                      <m:dPr>
                        <m:ctrlPr>
                          <a:rPr lang="ja-JP" altLang="en-US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ja-JP" altLang="en-US" b="1" i="1">
                            <a:latin typeface="Cambria Math" panose="02040503050406030204" pitchFamily="18" charset="0"/>
                          </a:rPr>
                          <m:t>𝒖</m:t>
                        </m:r>
                      </m:e>
                    </m:d>
                    <m:d>
                      <m:dPr>
                        <m:ctrlPr>
                          <a:rPr lang="ja-JP" altLang="en-US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ja-JP" altLang="en-US" b="1" i="1">
                            <a:latin typeface="Cambria Math" panose="02040503050406030204" pitchFamily="18" charset="0"/>
                          </a:rPr>
                          <m:t>𝒗</m:t>
                        </m:r>
                      </m:e>
                    </m:d>
                  </m:oMath>
                </a14:m>
                <a:r>
                  <a:rPr lang="ja-JP" altLang="en-US" b="1" dirty="0"/>
                  <a:t> </a:t>
                </a:r>
                <a:r>
                  <a:rPr lang="ja-JP" altLang="ja-JP" b="1" dirty="0"/>
                  <a:t>一阶变分是对方向 </a:t>
                </a:r>
                <a14:m>
                  <m:oMath xmlns:m="http://schemas.openxmlformats.org/officeDocument/2006/math">
                    <m:r>
                      <a:rPr lang="ja-JP" altLang="en-US" b="1" i="1">
                        <a:latin typeface="Cambria Math" panose="02040503050406030204" pitchFamily="18" charset="0"/>
                      </a:rPr>
                      <m:t>𝒗</m:t>
                    </m:r>
                  </m:oMath>
                </a14:m>
                <a:r>
                  <a:rPr lang="ja-JP" altLang="ja-JP" b="1" dirty="0"/>
                  <a:t>的线性函数</a:t>
                </a:r>
                <a:endParaRPr lang="ja-JP" altLang="en-US" b="1" dirty="0">
                  <a:latin typeface="+mj-ea"/>
                </a:endParaRPr>
              </a:p>
            </p:txBody>
          </p:sp>
        </mc:Choice>
        <mc:Fallback xmlns="">
          <p:sp>
            <p:nvSpPr>
              <p:cNvPr id="26626" name="Rectangle 2">
                <a:extLst>
                  <a:ext uri="{FF2B5EF4-FFF2-40B4-BE49-F238E27FC236}">
                    <a16:creationId xmlns:a16="http://schemas.microsoft.com/office/drawing/2014/main" id="{305DFB14-0BD0-626B-8F68-9DFC067792F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3"/>
                <a:stretch>
                  <a:fillRect l="-826" b="-885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コンテンツ プレースホルダー 2">
                <a:extLst>
                  <a:ext uri="{FF2B5EF4-FFF2-40B4-BE49-F238E27FC236}">
                    <a16:creationId xmlns:a16="http://schemas.microsoft.com/office/drawing/2014/main" id="{F9B0E8E7-CAF7-FEC4-9BF5-913E15CC20B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09880" y="1112520"/>
                <a:ext cx="11572240" cy="5440680"/>
              </a:xfrm>
            </p:spPr>
            <p:txBody>
              <a:bodyPr/>
              <a:lstStyle/>
              <a:p>
                <a:pPr marL="457200" indent="-457200">
                  <a:buFont typeface="+mj-lt"/>
                  <a:buAutoNum type="arabicPeriod"/>
                </a:pPr>
                <a:r>
                  <a:rPr lang="ja-JP" altLang="ja-JP" sz="1800" dirty="0"/>
                  <a:t>优化：</a:t>
                </a:r>
                <a14:m>
                  <m:oMath xmlns:m="http://schemas.openxmlformats.org/officeDocument/2006/math">
                    <m:r>
                      <a:rPr lang="ja-JP" altLang="en-US" sz="1800" i="1">
                        <a:latin typeface="Cambria Math" panose="02040503050406030204" pitchFamily="18" charset="0"/>
                      </a:rPr>
                      <m:t>𝐷𝐽</m:t>
                    </m:r>
                    <m:d>
                      <m:dPr>
                        <m:ctrlPr>
                          <a:rPr lang="ja-JP" altLang="en-US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ja-JP" altLang="en-US" sz="1800" i="1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d>
                    <m:d>
                      <m:dPr>
                        <m:ctrlPr>
                          <a:rPr lang="ja-JP" altLang="en-US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ja-JP" altLang="en-US" sz="1800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d>
                  </m:oMath>
                </a14:m>
                <a:r>
                  <a:rPr lang="ja-JP" altLang="en-US" sz="1800" dirty="0"/>
                  <a:t> </a:t>
                </a:r>
                <a:r>
                  <a:rPr lang="ja-JP" altLang="ja-JP" sz="1800" dirty="0"/>
                  <a:t>一阶变分是对方向 </a:t>
                </a:r>
                <a14:m>
                  <m:oMath xmlns:m="http://schemas.openxmlformats.org/officeDocument/2006/math">
                    <m:r>
                      <a:rPr lang="ja-JP" altLang="en-US" sz="1800" i="1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ja-JP" altLang="ja-JP" sz="1800" dirty="0"/>
                  <a:t>的线性函数。</a:t>
                </a:r>
                <a:endParaRPr lang="en-US" altLang="ja-JP" sz="1800" dirty="0"/>
              </a:p>
              <a:p>
                <a:pPr marL="0" indent="0">
                  <a:buNone/>
                </a:pPr>
                <a:endParaRPr lang="en-US" altLang="ja-JP" sz="1800" dirty="0"/>
              </a:p>
              <a:p>
                <a:pPr marL="0" indent="0">
                  <a:buNone/>
                </a:pPr>
                <a:r>
                  <a:rPr lang="ja-JP" altLang="ja-JP" sz="1800" dirty="0"/>
                  <a:t>假设有一个普通函数：</a:t>
                </a:r>
                <a14:m>
                  <m:oMath xmlns:m="http://schemas.openxmlformats.org/officeDocument/2006/math">
                    <m:r>
                      <a:rPr lang="ja-JP" altLang="en-US" sz="1800" i="1"/>
                      <m:t>𝐽</m:t>
                    </m:r>
                    <m:r>
                      <a:rPr lang="en-US" altLang="ja-JP" sz="1800"/>
                      <m:t>:</m:t>
                    </m:r>
                    <m:sSup>
                      <m:sSupPr>
                        <m:ctrlPr>
                          <a:rPr lang="ja-JP" altLang="en-US" sz="1800" i="1"/>
                        </m:ctrlPr>
                      </m:sSupPr>
                      <m:e>
                        <m:r>
                          <a:rPr lang="en-US" altLang="ja-JP" sz="1800"/>
                          <m:t>ℝ</m:t>
                        </m:r>
                      </m:e>
                      <m:sup>
                        <m:r>
                          <a:rPr lang="ja-JP" altLang="en-US" sz="1800" i="1"/>
                          <m:t>𝑛</m:t>
                        </m:r>
                      </m:sup>
                    </m:sSup>
                    <m:r>
                      <a:rPr lang="ja-JP" altLang="en-US" sz="1800"/>
                      <m:t>→</m:t>
                    </m:r>
                    <m:r>
                      <a:rPr lang="en-US" altLang="ja-JP" sz="1800"/>
                      <m:t>ℝ</m:t>
                    </m:r>
                    <m:r>
                      <a:rPr lang="en-US" altLang="ja-JP" sz="1800"/>
                      <m:t>.</m:t>
                    </m:r>
                  </m:oMath>
                </a14:m>
                <a:r>
                  <a:rPr lang="en-US" altLang="ja-JP" sz="1800" dirty="0"/>
                  <a:t> </a:t>
                </a:r>
                <a14:m>
                  <m:oMath xmlns:m="http://schemas.openxmlformats.org/officeDocument/2006/math">
                    <m:r>
                      <a:rPr lang="ja-JP" altLang="en-US" sz="1800" i="1"/>
                      <m:t>𝐽</m:t>
                    </m:r>
                    <m:d>
                      <m:dPr>
                        <m:ctrlPr>
                          <a:rPr lang="ja-JP" altLang="en-US" sz="1800" i="1"/>
                        </m:ctrlPr>
                      </m:dPr>
                      <m:e>
                        <m:r>
                          <a:rPr lang="ja-JP" altLang="en-US" sz="1800" i="1"/>
                          <m:t>𝑥</m:t>
                        </m:r>
                      </m:e>
                    </m:d>
                    <m:r>
                      <a:rPr lang="en-US" altLang="ja-JP" sz="1800"/>
                      <m:t>=</m:t>
                    </m:r>
                    <m:sSubSup>
                      <m:sSubSupPr>
                        <m:ctrlPr>
                          <a:rPr lang="ja-JP" altLang="en-US" sz="1800" i="1"/>
                        </m:ctrlPr>
                      </m:sSubSupPr>
                      <m:e>
                        <m:r>
                          <a:rPr lang="ja-JP" altLang="en-US" sz="1800" i="1"/>
                          <m:t>𝑥</m:t>
                        </m:r>
                      </m:e>
                      <m:sub>
                        <m:r>
                          <a:rPr lang="en-US" altLang="ja-JP" sz="1800"/>
                          <m:t>1</m:t>
                        </m:r>
                      </m:sub>
                      <m:sup>
                        <m:r>
                          <a:rPr lang="en-US" altLang="ja-JP" sz="1800"/>
                          <m:t>2</m:t>
                        </m:r>
                      </m:sup>
                    </m:sSubSup>
                    <m:r>
                      <a:rPr lang="en-US" altLang="ja-JP" sz="1800"/>
                      <m:t>+</m:t>
                    </m:r>
                    <m:sSubSup>
                      <m:sSubSupPr>
                        <m:ctrlPr>
                          <a:rPr lang="ja-JP" altLang="en-US" sz="1800" i="1"/>
                        </m:ctrlPr>
                      </m:sSubSupPr>
                      <m:e>
                        <m:r>
                          <a:rPr lang="ja-JP" altLang="en-US" sz="1800" i="1"/>
                          <m:t>𝑥</m:t>
                        </m:r>
                      </m:e>
                      <m:sub>
                        <m:r>
                          <a:rPr lang="en-US" altLang="ja-JP" sz="1800"/>
                          <m:t>2</m:t>
                        </m:r>
                      </m:sub>
                      <m:sup>
                        <m:r>
                          <a:rPr lang="en-US" altLang="ja-JP" sz="1800"/>
                          <m:t>2</m:t>
                        </m:r>
                      </m:sup>
                    </m:sSubSup>
                    <m:r>
                      <a:rPr lang="en-US" altLang="ja-JP" sz="1800"/>
                      <m:t>.</m:t>
                    </m:r>
                  </m:oMath>
                </a14:m>
                <a:r>
                  <a:rPr lang="en-US" altLang="ja-JP" sz="1800" dirty="0"/>
                  <a:t> </a:t>
                </a:r>
                <a:r>
                  <a:rPr lang="ja-JP" altLang="ja-JP" sz="1800" dirty="0"/>
                  <a:t>当 </a:t>
                </a:r>
                <a14:m>
                  <m:oMath xmlns:m="http://schemas.openxmlformats.org/officeDocument/2006/math">
                    <m:r>
                      <a:rPr lang="ja-JP" altLang="en-US" sz="1800" i="1"/>
                      <m:t>𝑥</m:t>
                    </m:r>
                  </m:oMath>
                </a14:m>
                <a:r>
                  <a:rPr lang="ja-JP" altLang="ja-JP" sz="1800" dirty="0"/>
                  <a:t>从某一点 </a:t>
                </a:r>
                <a14:m>
                  <m:oMath xmlns:m="http://schemas.openxmlformats.org/officeDocument/2006/math">
                    <m:r>
                      <a:rPr lang="ja-JP" altLang="en-US" sz="1800" i="1"/>
                      <m:t>𝑢</m:t>
                    </m:r>
                  </m:oMath>
                </a14:m>
                <a:r>
                  <a:rPr lang="ja-JP" altLang="ja-JP" sz="1800" dirty="0"/>
                  <a:t>出发，沿着方向 </a:t>
                </a:r>
                <a14:m>
                  <m:oMath xmlns:m="http://schemas.openxmlformats.org/officeDocument/2006/math">
                    <m:r>
                      <a:rPr lang="ja-JP" altLang="en-US" sz="1800" i="1"/>
                      <m:t>𝑣</m:t>
                    </m:r>
                  </m:oMath>
                </a14:m>
                <a:r>
                  <a:rPr lang="ja-JP" altLang="ja-JP" sz="1800" dirty="0"/>
                  <a:t>稍微移动一点时，</a:t>
                </a:r>
                <a14:m>
                  <m:oMath xmlns:m="http://schemas.openxmlformats.org/officeDocument/2006/math">
                    <m:r>
                      <a:rPr lang="ja-JP" altLang="en-US" sz="1800" i="1"/>
                      <m:t>𝐽</m:t>
                    </m:r>
                  </m:oMath>
                </a14:m>
                <a:r>
                  <a:rPr lang="ja-JP" altLang="ja-JP" sz="1800" dirty="0"/>
                  <a:t> 怎么变化。</a:t>
                </a:r>
              </a:p>
              <a:p>
                <a:pPr marL="0" indent="0">
                  <a:buNone/>
                </a:pPr>
                <a:r>
                  <a:rPr lang="ja-JP" altLang="ja-JP" sz="1800" dirty="0"/>
                  <a:t>考虑：</a:t>
                </a:r>
                <a14:m>
                  <m:oMath xmlns:m="http://schemas.openxmlformats.org/officeDocument/2006/math">
                    <m:r>
                      <a:rPr lang="ja-JP" altLang="en-US" sz="1800" i="1"/>
                      <m:t>𝑢</m:t>
                    </m:r>
                    <m:r>
                      <a:rPr lang="en-US" altLang="ja-JP" sz="1800"/>
                      <m:t>+</m:t>
                    </m:r>
                    <m:r>
                      <a:rPr lang="ja-JP" altLang="en-US" sz="1800" i="1"/>
                      <m:t>𝜀</m:t>
                    </m:r>
                    <m:r>
                      <a:rPr lang="ja-JP" altLang="en-US" sz="1800" i="1"/>
                      <m:t>𝑣</m:t>
                    </m:r>
                    <m:r>
                      <a:rPr lang="en-US" altLang="ja-JP" sz="1800"/>
                      <m:t>.</m:t>
                    </m:r>
                  </m:oMath>
                </a14:m>
                <a:r>
                  <a:rPr lang="en-US" altLang="ja-JP" sz="1800" dirty="0"/>
                  <a:t> </a:t>
                </a:r>
                <a:r>
                  <a:rPr lang="ja-JP" altLang="ja-JP" sz="1800" dirty="0"/>
                  <a:t>其中：</a:t>
                </a:r>
                <a14:m>
                  <m:oMath xmlns:m="http://schemas.openxmlformats.org/officeDocument/2006/math">
                    <m:r>
                      <a:rPr lang="ja-JP" altLang="en-US" sz="1800" i="1"/>
                      <m:t>𝑢</m:t>
                    </m:r>
                    <m:r>
                      <a:rPr lang="ja-JP" altLang="en-US" sz="1800"/>
                      <m:t>∈</m:t>
                    </m:r>
                    <m:sSup>
                      <m:sSupPr>
                        <m:ctrlPr>
                          <a:rPr lang="ja-JP" altLang="en-US" sz="1800" i="1"/>
                        </m:ctrlPr>
                      </m:sSupPr>
                      <m:e>
                        <m:r>
                          <a:rPr lang="en-US" altLang="ja-JP" sz="1800"/>
                          <m:t>ℝ</m:t>
                        </m:r>
                      </m:e>
                      <m:sup>
                        <m:r>
                          <a:rPr lang="ja-JP" altLang="en-US" sz="1800" i="1"/>
                          <m:t>𝑛</m:t>
                        </m:r>
                      </m:sup>
                    </m:sSup>
                  </m:oMath>
                </a14:m>
                <a:r>
                  <a:rPr lang="ja-JP" altLang="ja-JP" sz="1800" dirty="0"/>
                  <a:t>是当前点，</a:t>
                </a:r>
                <a14:m>
                  <m:oMath xmlns:m="http://schemas.openxmlformats.org/officeDocument/2006/math">
                    <m:r>
                      <a:rPr lang="ja-JP" altLang="en-US" sz="1800" i="1"/>
                      <m:t>𝑣</m:t>
                    </m:r>
                    <m:r>
                      <a:rPr lang="ja-JP" altLang="en-US" sz="1800"/>
                      <m:t>∈</m:t>
                    </m:r>
                    <m:sSup>
                      <m:sSupPr>
                        <m:ctrlPr>
                          <a:rPr lang="ja-JP" altLang="en-US" sz="1800" i="1"/>
                        </m:ctrlPr>
                      </m:sSupPr>
                      <m:e>
                        <m:r>
                          <a:rPr lang="en-US" altLang="ja-JP" sz="1800"/>
                          <m:t>ℝ</m:t>
                        </m:r>
                      </m:e>
                      <m:sup>
                        <m:r>
                          <a:rPr lang="ja-JP" altLang="en-US" sz="1800" i="1"/>
                          <m:t>𝑛</m:t>
                        </m:r>
                      </m:sup>
                    </m:sSup>
                  </m:oMath>
                </a14:m>
                <a:r>
                  <a:rPr lang="ja-JP" altLang="ja-JP" sz="1800" dirty="0"/>
                  <a:t>是移动方向，</a:t>
                </a:r>
                <a14:m>
                  <m:oMath xmlns:m="http://schemas.openxmlformats.org/officeDocument/2006/math">
                    <m:r>
                      <a:rPr lang="ja-JP" altLang="en-US" sz="1800" i="1" smtClean="0"/>
                      <m:t>𝜀</m:t>
                    </m:r>
                  </m:oMath>
                </a14:m>
                <a:r>
                  <a:rPr lang="ja-JP" altLang="ja-JP" sz="1800" dirty="0"/>
                  <a:t>是很小的实数。看：</a:t>
                </a:r>
                <a14:m>
                  <m:oMath xmlns:m="http://schemas.openxmlformats.org/officeDocument/2006/math">
                    <m:r>
                      <a:rPr lang="ja-JP" altLang="en-US" sz="1800" i="1"/>
                      <m:t>𝐽</m:t>
                    </m:r>
                    <m:d>
                      <m:dPr>
                        <m:ctrlPr>
                          <a:rPr lang="ja-JP" altLang="en-US" sz="1800" i="1"/>
                        </m:ctrlPr>
                      </m:dPr>
                      <m:e>
                        <m:r>
                          <a:rPr lang="ja-JP" altLang="en-US" sz="1800" i="1"/>
                          <m:t>𝑢</m:t>
                        </m:r>
                        <m:r>
                          <a:rPr lang="en-US" altLang="ja-JP" sz="1800"/>
                          <m:t>+</m:t>
                        </m:r>
                        <m:r>
                          <a:rPr lang="ja-JP" altLang="en-US" sz="1800" i="1"/>
                          <m:t>𝜀</m:t>
                        </m:r>
                        <m:r>
                          <a:rPr lang="ja-JP" altLang="en-US" sz="1800" i="1"/>
                          <m:t>𝑣</m:t>
                        </m:r>
                      </m:e>
                    </m:d>
                    <m:r>
                      <a:rPr lang="ja-JP" altLang="en-US" sz="1800"/>
                      <m:t>−</m:t>
                    </m:r>
                    <m:r>
                      <a:rPr lang="ja-JP" altLang="en-US" sz="1800" i="1"/>
                      <m:t>𝐽</m:t>
                    </m:r>
                    <m:d>
                      <m:dPr>
                        <m:ctrlPr>
                          <a:rPr lang="ja-JP" altLang="en-US" sz="1800" i="1"/>
                        </m:ctrlPr>
                      </m:dPr>
                      <m:e>
                        <m:r>
                          <a:rPr lang="ja-JP" altLang="en-US" sz="1800" i="1"/>
                          <m:t>𝑢</m:t>
                        </m:r>
                      </m:e>
                    </m:d>
                    <m:r>
                      <a:rPr lang="en-US" altLang="ja-JP" sz="1800"/>
                      <m:t>.</m:t>
                    </m:r>
                  </m:oMath>
                </a14:m>
                <a:endParaRPr lang="en-US" altLang="ja-JP" sz="1800" dirty="0"/>
              </a:p>
              <a:p>
                <a:r>
                  <a:rPr lang="ja-JP" altLang="ja-JP" sz="1800" dirty="0"/>
                  <a:t>如果只看一阶变化，就得到方向导数：</a:t>
                </a:r>
                <a:endParaRPr lang="en-US" altLang="ja-JP" sz="18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ja-JP" altLang="en-US" sz="1800" i="1"/>
                        <m:t>𝐷𝐽</m:t>
                      </m:r>
                      <m:d>
                        <m:dPr>
                          <m:ctrlPr>
                            <a:rPr lang="ja-JP" altLang="en-US" sz="1800" i="1"/>
                          </m:ctrlPr>
                        </m:dPr>
                        <m:e>
                          <m:r>
                            <a:rPr lang="ja-JP" altLang="en-US" sz="1800" i="1"/>
                            <m:t>𝑢</m:t>
                          </m:r>
                        </m:e>
                      </m:d>
                      <m:d>
                        <m:dPr>
                          <m:ctrlPr>
                            <a:rPr lang="ja-JP" altLang="en-US" sz="1800" i="1"/>
                          </m:ctrlPr>
                        </m:dPr>
                        <m:e>
                          <m:r>
                            <a:rPr lang="ja-JP" altLang="en-US" sz="1800" i="1"/>
                            <m:t>𝑣</m:t>
                          </m:r>
                        </m:e>
                      </m:d>
                      <m:r>
                        <a:rPr lang="en-US" altLang="ja-JP" sz="1800"/>
                        <m:t>=</m:t>
                      </m:r>
                      <m:sSub>
                        <m:sSubPr>
                          <m:ctrlPr>
                            <a:rPr lang="ja-JP" altLang="en-US" sz="1800" i="1"/>
                          </m:ctrlPr>
                        </m:sSubPr>
                        <m:e>
                          <m:f>
                            <m:fPr>
                              <m:ctrlPr>
                                <a:rPr lang="ja-JP" altLang="en-US" sz="1800" i="1"/>
                              </m:ctrlPr>
                            </m:fPr>
                            <m:num>
                              <m:r>
                                <a:rPr lang="ja-JP" altLang="en-US" sz="1800" i="1"/>
                                <m:t>𝑑</m:t>
                              </m:r>
                            </m:num>
                            <m:den>
                              <m:r>
                                <a:rPr lang="ja-JP" altLang="en-US" sz="1800" i="1"/>
                                <m:t>𝑑</m:t>
                              </m:r>
                              <m:r>
                                <a:rPr lang="ja-JP" altLang="en-US" sz="1800" i="1"/>
                                <m:t>𝜀</m:t>
                              </m:r>
                            </m:den>
                          </m:f>
                          <m:r>
                            <a:rPr lang="ja-JP" altLang="en-US" sz="1800" i="1"/>
                            <m:t>𝐽</m:t>
                          </m:r>
                          <m:d>
                            <m:dPr>
                              <m:begChr m:val=""/>
                              <m:endChr m:val="∣"/>
                              <m:ctrlPr>
                                <a:rPr lang="ja-JP" altLang="en-US" sz="1800" i="1"/>
                              </m:ctrlPr>
                            </m:dPr>
                            <m:e>
                              <m:d>
                                <m:dPr>
                                  <m:ctrlPr>
                                    <a:rPr lang="ja-JP" altLang="en-US" sz="1800" i="1"/>
                                  </m:ctrlPr>
                                </m:dPr>
                                <m:e>
                                  <m:r>
                                    <a:rPr lang="ja-JP" altLang="en-US" sz="1800" i="1"/>
                                    <m:t>𝑢</m:t>
                                  </m:r>
                                  <m:r>
                                    <a:rPr lang="en-US" altLang="ja-JP" sz="1800"/>
                                    <m:t>+</m:t>
                                  </m:r>
                                  <m:r>
                                    <a:rPr lang="ja-JP" altLang="en-US" sz="1800" i="1"/>
                                    <m:t>𝜀</m:t>
                                  </m:r>
                                  <m:r>
                                    <a:rPr lang="ja-JP" altLang="en-US" sz="1800" i="1"/>
                                    <m:t>𝑣</m:t>
                                  </m:r>
                                </m:e>
                              </m:d>
                            </m:e>
                          </m:d>
                        </m:e>
                        <m:sub>
                          <m:r>
                            <a:rPr lang="ja-JP" altLang="en-US" sz="1800" i="1"/>
                            <m:t>𝜀</m:t>
                          </m:r>
                          <m:r>
                            <a:rPr lang="en-US" altLang="ja-JP" sz="1800"/>
                            <m:t>=0</m:t>
                          </m:r>
                        </m:sub>
                      </m:sSub>
                      <m:r>
                        <a:rPr lang="en-US" altLang="ja-JP" sz="1800"/>
                        <m:t>.</m:t>
                      </m:r>
                    </m:oMath>
                  </m:oMathPara>
                </a14:m>
                <a:endParaRPr lang="en-US" altLang="ja-JP" sz="1800" dirty="0"/>
              </a:p>
              <a:p>
                <a:pPr marL="0" indent="0">
                  <a:buNone/>
                </a:pPr>
                <a:br>
                  <a:rPr lang="ja-JP" altLang="ja-JP" sz="1800" dirty="0"/>
                </a:br>
                <a14:m>
                  <m:oMath xmlns:m="http://schemas.openxmlformats.org/officeDocument/2006/math">
                    <m:r>
                      <a:rPr lang="ja-JP" altLang="en-US" sz="1800" i="1"/>
                      <m:t>𝐷𝐽</m:t>
                    </m:r>
                    <m:d>
                      <m:dPr>
                        <m:ctrlPr>
                          <a:rPr lang="ja-JP" altLang="en-US" sz="1800" i="1"/>
                        </m:ctrlPr>
                      </m:dPr>
                      <m:e>
                        <m:r>
                          <a:rPr lang="ja-JP" altLang="en-US" sz="1800" i="1"/>
                          <m:t>𝑢</m:t>
                        </m:r>
                      </m:e>
                    </m:d>
                    <m:d>
                      <m:dPr>
                        <m:ctrlPr>
                          <a:rPr lang="ja-JP" altLang="en-US" sz="1800" i="1"/>
                        </m:ctrlPr>
                      </m:dPr>
                      <m:e>
                        <m:r>
                          <a:rPr lang="ja-JP" altLang="en-US" sz="1800" i="1"/>
                          <m:t>𝑣</m:t>
                        </m:r>
                      </m:e>
                    </m:d>
                    <m:r>
                      <a:rPr lang="zh-CN" altLang="en-US" sz="1800" i="1">
                        <a:latin typeface="Cambria Math" panose="02040503050406030204" pitchFamily="18" charset="0"/>
                      </a:rPr>
                      <m:t>：</m:t>
                    </m:r>
                    <m:r>
                      <a:rPr lang="ja-JP" altLang="en-US" sz="1800" i="1"/>
                      <m:t>𝐽</m:t>
                    </m:r>
                  </m:oMath>
                </a14:m>
                <a:r>
                  <a:rPr lang="ja-JP" altLang="ja-JP" sz="1800" dirty="0"/>
                  <a:t>是泛函。例如优化问题中要最小化</a:t>
                </a:r>
                <a14:m>
                  <m:oMath xmlns:m="http://schemas.openxmlformats.org/officeDocument/2006/math">
                    <m:r>
                      <a:rPr lang="ja-JP" altLang="en-US" sz="1800" i="1"/>
                      <m:t>𝐽</m:t>
                    </m:r>
                    <m:d>
                      <m:dPr>
                        <m:ctrlPr>
                          <a:rPr lang="ja-JP" altLang="en-US" sz="1800" i="1"/>
                        </m:ctrlPr>
                      </m:dPr>
                      <m:e>
                        <m:r>
                          <a:rPr lang="ja-JP" altLang="en-US" sz="1800" i="1"/>
                          <m:t>𝑢</m:t>
                        </m:r>
                      </m:e>
                    </m:d>
                    <m:r>
                      <a:rPr lang="en-US" altLang="ja-JP" sz="1800"/>
                      <m:t>.</m:t>
                    </m:r>
                  </m:oMath>
                </a14:m>
                <a:endParaRPr lang="en-US" altLang="ja-JP" sz="1800" dirty="0"/>
              </a:p>
              <a:p>
                <a:pPr>
                  <a:buFont typeface="Wingdings" panose="05000000000000000000" pitchFamily="2" charset="2"/>
                  <a:buChar char="Ø"/>
                </a:pPr>
                <a14:m>
                  <m:oMath xmlns:m="http://schemas.openxmlformats.org/officeDocument/2006/math">
                    <m:r>
                      <a:rPr lang="ja-JP" altLang="en-US" sz="1800" i="1"/>
                      <m:t>𝐷𝐽</m:t>
                    </m:r>
                    <m:d>
                      <m:dPr>
                        <m:ctrlPr>
                          <a:rPr lang="ja-JP" altLang="en-US" sz="1800" i="1"/>
                        </m:ctrlPr>
                      </m:dPr>
                      <m:e>
                        <m:r>
                          <a:rPr lang="ja-JP" altLang="en-US" sz="1800" i="1"/>
                          <m:t>𝑢</m:t>
                        </m:r>
                      </m:e>
                    </m:d>
                  </m:oMath>
                </a14:m>
                <a:r>
                  <a:rPr lang="ja-JP" altLang="ja-JP" sz="1800" dirty="0"/>
                  <a:t>是 </a:t>
                </a:r>
                <a14:m>
                  <m:oMath xmlns:m="http://schemas.openxmlformats.org/officeDocument/2006/math">
                    <m:r>
                      <a:rPr lang="ja-JP" altLang="en-US" sz="1800" i="1"/>
                      <m:t>𝐽</m:t>
                    </m:r>
                  </m:oMath>
                </a14:m>
                <a:r>
                  <a:rPr lang="ja-JP" altLang="ja-JP" sz="1800" dirty="0"/>
                  <a:t>在 </a:t>
                </a:r>
                <a14:m>
                  <m:oMath xmlns:m="http://schemas.openxmlformats.org/officeDocument/2006/math">
                    <m:r>
                      <a:rPr lang="ja-JP" altLang="en-US" sz="1800" i="1"/>
                      <m:t>𝑢</m:t>
                    </m:r>
                  </m:oMath>
                </a14:m>
                <a:r>
                  <a:rPr lang="ja-JP" altLang="ja-JP" sz="1800" dirty="0"/>
                  <a:t>处的导数。但是这个导数不是单纯一个数，而是一个映射：</a:t>
                </a:r>
                <a14:m>
                  <m:oMath xmlns:m="http://schemas.openxmlformats.org/officeDocument/2006/math">
                    <m:r>
                      <a:rPr lang="ja-JP" altLang="en-US" sz="1800" i="1"/>
                      <m:t>𝐷𝐽</m:t>
                    </m:r>
                    <m:d>
                      <m:dPr>
                        <m:ctrlPr>
                          <a:rPr lang="ja-JP" altLang="en-US" sz="1800" i="1"/>
                        </m:ctrlPr>
                      </m:dPr>
                      <m:e>
                        <m:r>
                          <a:rPr lang="ja-JP" altLang="en-US" sz="1800" i="1"/>
                          <m:t>𝑢</m:t>
                        </m:r>
                      </m:e>
                    </m:d>
                    <m:r>
                      <a:rPr lang="en-US" altLang="ja-JP" sz="1800"/>
                      <m:t>:</m:t>
                    </m:r>
                    <m:r>
                      <a:rPr lang="ja-JP" altLang="en-US" sz="1800" i="1"/>
                      <m:t>𝑋</m:t>
                    </m:r>
                    <m:r>
                      <a:rPr lang="ja-JP" altLang="en-US" sz="1800"/>
                      <m:t>→</m:t>
                    </m:r>
                    <m:r>
                      <a:rPr lang="en-US" altLang="ja-JP" sz="1800"/>
                      <m:t>ℝ</m:t>
                    </m:r>
                    <m:r>
                      <a:rPr lang="en-US" altLang="ja-JP" sz="1800"/>
                      <m:t>.</m:t>
                    </m:r>
                  </m:oMath>
                </a14:m>
                <a:endParaRPr lang="en-US" altLang="ja-JP" sz="1800" dirty="0"/>
              </a:p>
              <a:p>
                <a:pPr>
                  <a:buFont typeface="Wingdings" panose="05000000000000000000" pitchFamily="2" charset="2"/>
                  <a:buChar char="Ø"/>
                </a:pPr>
                <a14:m>
                  <m:oMath xmlns:m="http://schemas.openxmlformats.org/officeDocument/2006/math">
                    <m:r>
                      <a:rPr lang="ja-JP" altLang="en-US" sz="1800" i="1"/>
                      <m:t>𝐷𝐽</m:t>
                    </m:r>
                    <m:d>
                      <m:dPr>
                        <m:ctrlPr>
                          <a:rPr lang="ja-JP" altLang="en-US" sz="1800" i="1"/>
                        </m:ctrlPr>
                      </m:dPr>
                      <m:e>
                        <m:r>
                          <a:rPr lang="ja-JP" altLang="en-US" sz="1800" i="1"/>
                          <m:t>𝑢</m:t>
                        </m:r>
                      </m:e>
                    </m:d>
                    <m:d>
                      <m:dPr>
                        <m:ctrlPr>
                          <a:rPr lang="ja-JP" altLang="en-US" sz="1800" i="1"/>
                        </m:ctrlPr>
                      </m:dPr>
                      <m:e>
                        <m:r>
                          <a:rPr lang="ja-JP" altLang="en-US" sz="1800" i="1"/>
                          <m:t>𝑣</m:t>
                        </m:r>
                      </m:e>
                    </m:d>
                  </m:oMath>
                </a14:m>
                <a:r>
                  <a:rPr lang="ja-JP" altLang="ja-JP" sz="1800" dirty="0"/>
                  <a:t>表示把方向 </a:t>
                </a:r>
                <a14:m>
                  <m:oMath xmlns:m="http://schemas.openxmlformats.org/officeDocument/2006/math">
                    <m:r>
                      <a:rPr lang="ja-JP" altLang="en-US" sz="1800" i="1"/>
                      <m:t>𝑣</m:t>
                    </m:r>
                  </m:oMath>
                </a14:m>
                <a:r>
                  <a:rPr lang="ja-JP" altLang="ja-JP" sz="1800" dirty="0"/>
                  <a:t>输入到这个导数映射里，得到一个实数。</a:t>
                </a:r>
              </a:p>
              <a:p>
                <a:pPr>
                  <a:buFont typeface="Wingdings" panose="05000000000000000000" pitchFamily="2" charset="2"/>
                  <a:buChar char="Ø"/>
                </a:pPr>
                <a14:m>
                  <m:oMath xmlns:m="http://schemas.openxmlformats.org/officeDocument/2006/math">
                    <m:r>
                      <a:rPr lang="ja-JP" altLang="en-US" sz="1800" i="1"/>
                      <m:t>𝑣</m:t>
                    </m:r>
                    <m:r>
                      <a:rPr lang="ja-JP" altLang="en-US" sz="1800"/>
                      <m:t>↦</m:t>
                    </m:r>
                    <m:r>
                      <a:rPr lang="ja-JP" altLang="en-US" sz="1800" i="1"/>
                      <m:t>𝐷𝐽</m:t>
                    </m:r>
                    <m:d>
                      <m:dPr>
                        <m:ctrlPr>
                          <a:rPr lang="ja-JP" altLang="en-US" sz="1800" i="1"/>
                        </m:ctrlPr>
                      </m:dPr>
                      <m:e>
                        <m:r>
                          <a:rPr lang="ja-JP" altLang="en-US" sz="1800" i="1"/>
                          <m:t>𝑢</m:t>
                        </m:r>
                      </m:e>
                    </m:d>
                    <m:d>
                      <m:dPr>
                        <m:ctrlPr>
                          <a:rPr lang="ja-JP" altLang="en-US" sz="1800" i="1"/>
                        </m:ctrlPr>
                      </m:dPr>
                      <m:e>
                        <m:r>
                          <a:rPr lang="ja-JP" altLang="en-US" sz="1800" i="1"/>
                          <m:t>𝑣</m:t>
                        </m:r>
                      </m:e>
                    </m:d>
                  </m:oMath>
                </a14:m>
                <a:r>
                  <a:rPr lang="ja-JP" altLang="ja-JP" sz="1800" dirty="0"/>
                  <a:t>是一个关于 </a:t>
                </a:r>
                <a14:m>
                  <m:oMath xmlns:m="http://schemas.openxmlformats.org/officeDocument/2006/math">
                    <m:r>
                      <a:rPr lang="ja-JP" altLang="en-US" sz="1800" i="1"/>
                      <m:t>𝑣</m:t>
                    </m:r>
                  </m:oMath>
                </a14:m>
                <a:r>
                  <a:rPr lang="ja-JP" altLang="ja-JP" sz="1800" dirty="0"/>
                  <a:t>的函数。而且这个函数是线性的。</a:t>
                </a:r>
              </a:p>
              <a:p>
                <a:pPr marL="0" indent="0">
                  <a:buNone/>
                </a:pPr>
                <a:r>
                  <a:rPr lang="ja-JP" altLang="ja-JP" sz="1800" dirty="0"/>
                  <a:t>在有限维欧氏空间里，经常写：</a:t>
                </a:r>
                <a14:m>
                  <m:oMath xmlns:m="http://schemas.openxmlformats.org/officeDocument/2006/math">
                    <m:r>
                      <a:rPr lang="ja-JP" altLang="en-US" sz="1800" i="1"/>
                      <m:t>𝐷𝐽</m:t>
                    </m:r>
                    <m:d>
                      <m:dPr>
                        <m:ctrlPr>
                          <a:rPr lang="ja-JP" altLang="en-US" sz="1800" i="1"/>
                        </m:ctrlPr>
                      </m:dPr>
                      <m:e>
                        <m:r>
                          <a:rPr lang="ja-JP" altLang="en-US" sz="1800" i="1"/>
                          <m:t>𝑢</m:t>
                        </m:r>
                      </m:e>
                    </m:d>
                    <m:d>
                      <m:dPr>
                        <m:ctrlPr>
                          <a:rPr lang="ja-JP" altLang="en-US" sz="1800" i="1"/>
                        </m:ctrlPr>
                      </m:dPr>
                      <m:e>
                        <m:r>
                          <a:rPr lang="ja-JP" altLang="en-US" sz="1800" i="1"/>
                          <m:t>𝑣</m:t>
                        </m:r>
                      </m:e>
                    </m:d>
                    <m:r>
                      <a:rPr lang="en-US" altLang="ja-JP" sz="1800"/>
                      <m:t>=</m:t>
                    </m:r>
                    <m:r>
                      <m:rPr>
                        <m:sty m:val="p"/>
                      </m:rPr>
                      <a:rPr lang="en-US" altLang="ja-JP" sz="1800"/>
                      <m:t>∇</m:t>
                    </m:r>
                    <m:r>
                      <a:rPr lang="ja-JP" altLang="en-US" sz="1800" i="1"/>
                      <m:t>𝐽</m:t>
                    </m:r>
                    <m:d>
                      <m:dPr>
                        <m:ctrlPr>
                          <a:rPr lang="ja-JP" altLang="en-US" sz="1800" i="1"/>
                        </m:ctrlPr>
                      </m:dPr>
                      <m:e>
                        <m:r>
                          <a:rPr lang="ja-JP" altLang="en-US" sz="1800" i="1"/>
                          <m:t>𝑢</m:t>
                        </m:r>
                      </m:e>
                    </m:d>
                    <m:r>
                      <a:rPr lang="ja-JP" altLang="en-US" sz="1800"/>
                      <m:t>⋅</m:t>
                    </m:r>
                    <m:r>
                      <a:rPr lang="ja-JP" altLang="en-US" sz="1800" i="1"/>
                      <m:t>𝑣</m:t>
                    </m:r>
                    <m:r>
                      <a:rPr lang="en-US" altLang="ja-JP" sz="1800"/>
                      <m:t>.</m:t>
                    </m:r>
                  </m:oMath>
                </a14:m>
                <a:r>
                  <a:rPr lang="en-US" altLang="ja-JP" sz="1800" dirty="0"/>
                  <a:t> </a:t>
                </a:r>
                <a:r>
                  <a:rPr lang="ja-JP" altLang="ja-JP" sz="1800" dirty="0"/>
                  <a:t>容易误以为：</a:t>
                </a:r>
                <a14:m>
                  <m:oMath xmlns:m="http://schemas.openxmlformats.org/officeDocument/2006/math">
                    <m:r>
                      <a:rPr lang="ja-JP" altLang="en-US" sz="1800" i="1"/>
                      <m:t>𝐷𝐽</m:t>
                    </m:r>
                    <m:d>
                      <m:dPr>
                        <m:ctrlPr>
                          <a:rPr lang="ja-JP" altLang="en-US" sz="1800" i="1"/>
                        </m:ctrlPr>
                      </m:dPr>
                      <m:e>
                        <m:r>
                          <a:rPr lang="ja-JP" altLang="en-US" sz="1800" i="1"/>
                          <m:t>𝑢</m:t>
                        </m:r>
                      </m:e>
                    </m:d>
                    <m:r>
                      <a:rPr lang="en-US" altLang="ja-JP" sz="1800"/>
                      <m:t>=</m:t>
                    </m:r>
                    <m:r>
                      <m:rPr>
                        <m:sty m:val="p"/>
                      </m:rPr>
                      <a:rPr lang="en-US" altLang="ja-JP" sz="1800"/>
                      <m:t>∇</m:t>
                    </m:r>
                    <m:r>
                      <a:rPr lang="ja-JP" altLang="en-US" sz="1800" i="1"/>
                      <m:t>𝐽</m:t>
                    </m:r>
                    <m:d>
                      <m:dPr>
                        <m:ctrlPr>
                          <a:rPr lang="ja-JP" altLang="en-US" sz="1800" i="1"/>
                        </m:ctrlPr>
                      </m:dPr>
                      <m:e>
                        <m:r>
                          <a:rPr lang="ja-JP" altLang="en-US" sz="1800" i="1"/>
                          <m:t>𝑢</m:t>
                        </m:r>
                      </m:e>
                    </m:d>
                    <m:r>
                      <a:rPr lang="en-US" altLang="ja-JP" sz="1800"/>
                      <m:t>.</m:t>
                    </m:r>
                  </m:oMath>
                </a14:m>
                <a:r>
                  <a:rPr lang="en-US" altLang="ja-JP" sz="1800" dirty="0"/>
                  <a:t> </a:t>
                </a:r>
                <a:r>
                  <a:rPr lang="ja-JP" altLang="ja-JP" sz="1800" dirty="0"/>
                  <a:t>但严格来说：</a:t>
                </a:r>
              </a:p>
              <a:p>
                <a14:m>
                  <m:oMath xmlns:m="http://schemas.openxmlformats.org/officeDocument/2006/math">
                    <m:r>
                      <a:rPr lang="ja-JP" altLang="en-US" sz="1800" i="1"/>
                      <m:t>𝐷𝐽</m:t>
                    </m:r>
                    <m:d>
                      <m:dPr>
                        <m:ctrlPr>
                          <a:rPr lang="ja-JP" altLang="en-US" sz="1800" i="1"/>
                        </m:ctrlPr>
                      </m:dPr>
                      <m:e>
                        <m:r>
                          <a:rPr lang="ja-JP" altLang="en-US" sz="1800" i="1"/>
                          <m:t>𝑢</m:t>
                        </m:r>
                      </m:e>
                    </m:d>
                    <m:r>
                      <a:rPr lang="ja-JP" altLang="en-US" sz="1800"/>
                      <m:t>∈</m:t>
                    </m:r>
                    <m:sSup>
                      <m:sSupPr>
                        <m:ctrlPr>
                          <a:rPr lang="ja-JP" altLang="en-US" sz="1800" i="1"/>
                        </m:ctrlPr>
                      </m:sSupPr>
                      <m:e>
                        <m:r>
                          <a:rPr lang="ja-JP" altLang="en-US" sz="1800" i="1"/>
                          <m:t>𝑋</m:t>
                        </m:r>
                      </m:e>
                      <m:sup>
                        <m:r>
                          <a:rPr lang="ja-JP" altLang="en-US" sz="1800"/>
                          <m:t>∗</m:t>
                        </m:r>
                      </m:sup>
                    </m:sSup>
                  </m:oMath>
                </a14:m>
                <a:r>
                  <a:rPr lang="ja-JP" altLang="ja-JP" sz="1800" dirty="0"/>
                  <a:t>是一个线性泛函；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ja-JP" altLang="en-US" sz="1800"/>
                      <m:t>∇</m:t>
                    </m:r>
                    <m:r>
                      <a:rPr lang="ja-JP" altLang="en-US" sz="1800" i="1"/>
                      <m:t>𝐽</m:t>
                    </m:r>
                    <m:d>
                      <m:dPr>
                        <m:ctrlPr>
                          <a:rPr lang="ja-JP" altLang="en-US" sz="1800" i="1"/>
                        </m:ctrlPr>
                      </m:dPr>
                      <m:e>
                        <m:r>
                          <a:rPr lang="ja-JP" altLang="en-US" sz="1800" i="1"/>
                          <m:t>𝑢</m:t>
                        </m:r>
                      </m:e>
                    </m:d>
                    <m:r>
                      <a:rPr lang="ja-JP" altLang="en-US" sz="1800"/>
                      <m:t>∈</m:t>
                    </m:r>
                    <m:r>
                      <a:rPr lang="ja-JP" altLang="en-US" sz="1800" i="1"/>
                      <m:t>𝑋</m:t>
                    </m:r>
                  </m:oMath>
                </a14:m>
                <a:r>
                  <a:rPr lang="ja-JP" altLang="ja-JP" sz="1800" dirty="0"/>
                  <a:t>是一个向量。它们不属于同一个空间。</a:t>
                </a:r>
              </a:p>
              <a:p>
                <a:r>
                  <a:rPr lang="ja-JP" altLang="ja-JP" sz="1800" dirty="0"/>
                  <a:t>二者之间的关系是通过内积建立的：</a:t>
                </a:r>
                <a14:m>
                  <m:oMath xmlns:m="http://schemas.openxmlformats.org/officeDocument/2006/math">
                    <m:r>
                      <a:rPr lang="ja-JP" altLang="en-US" sz="1800" i="1"/>
                      <m:t>𝐷𝐽</m:t>
                    </m:r>
                    <m:d>
                      <m:dPr>
                        <m:ctrlPr>
                          <a:rPr lang="ja-JP" altLang="en-US" sz="1800" i="1"/>
                        </m:ctrlPr>
                      </m:dPr>
                      <m:e>
                        <m:r>
                          <a:rPr lang="ja-JP" altLang="en-US" sz="1800" i="1"/>
                          <m:t>𝑢</m:t>
                        </m:r>
                      </m:e>
                    </m:d>
                    <m:d>
                      <m:dPr>
                        <m:ctrlPr>
                          <a:rPr lang="ja-JP" altLang="en-US" sz="1800" i="1"/>
                        </m:ctrlPr>
                      </m:dPr>
                      <m:e>
                        <m:r>
                          <a:rPr lang="ja-JP" altLang="en-US" sz="1800" i="1"/>
                          <m:t>𝑣</m:t>
                        </m:r>
                      </m:e>
                    </m:d>
                    <m:r>
                      <a:rPr lang="en-US" altLang="ja-JP" sz="1800"/>
                      <m:t>=</m:t>
                    </m:r>
                    <m:d>
                      <m:dPr>
                        <m:begChr m:val="⟨"/>
                        <m:endChr m:val="⟩"/>
                        <m:sepChr m:val=","/>
                        <m:ctrlPr>
                          <a:rPr lang="ja-JP" altLang="en-US" sz="1800" i="1"/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ja-JP" altLang="en-US" sz="1800"/>
                          <m:t>∇</m:t>
                        </m:r>
                        <m:r>
                          <a:rPr lang="ja-JP" altLang="en-US" sz="1800" i="1">
                            <a:latin typeface="Cambria Math" panose="02040503050406030204" pitchFamily="18" charset="0"/>
                          </a:rPr>
                          <m:t>𝐽</m:t>
                        </m:r>
                        <m:d>
                          <m:dPr>
                            <m:ctrlPr>
                              <a:rPr lang="ja-JP" altLang="en-US" sz="18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ja-JP" altLang="en-US" sz="1800" i="1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</m:d>
                      </m:e>
                      <m:e>
                        <m:r>
                          <a:rPr lang="ja-JP" altLang="en-US" sz="1800" i="1"/>
                          <m:t>𝑣</m:t>
                        </m:r>
                      </m:e>
                    </m:d>
                    <m:r>
                      <a:rPr lang="en-US" altLang="ja-JP" sz="1800"/>
                      <m:t>.</m:t>
                    </m:r>
                  </m:oMath>
                </a14:m>
                <a:endParaRPr lang="en-US" altLang="ja-JP" sz="1800" dirty="0"/>
              </a:p>
              <a:p>
                <a:pPr marL="0" indent="0">
                  <a:buNone/>
                </a:pPr>
                <a:r>
                  <a:rPr lang="ja-JP" altLang="ja-JP" sz="1800" dirty="0"/>
                  <a:t>在 Hilbert 空间中，Riesz 表示定理告诉我们：每个连续线性泛函都可以由某个向量通过内积表示。</a:t>
                </a:r>
              </a:p>
              <a:p>
                <a:r>
                  <a:rPr lang="ja-JP" altLang="ja-JP" sz="1800" dirty="0"/>
                  <a:t>所以：</a:t>
                </a:r>
                <a14:m>
                  <m:oMath xmlns:m="http://schemas.openxmlformats.org/officeDocument/2006/math">
                    <m:r>
                      <a:rPr lang="ja-JP" altLang="en-US" sz="1800" i="1"/>
                      <m:t>𝐷𝐽</m:t>
                    </m:r>
                    <m:d>
                      <m:dPr>
                        <m:ctrlPr>
                          <a:rPr lang="ja-JP" altLang="en-US" sz="1800" i="1"/>
                        </m:ctrlPr>
                      </m:dPr>
                      <m:e>
                        <m:r>
                          <a:rPr lang="ja-JP" altLang="en-US" sz="1800" i="1"/>
                          <m:t>𝑢</m:t>
                        </m:r>
                      </m:e>
                    </m:d>
                    <m:r>
                      <a:rPr lang="ja-JP" altLang="en-US" sz="1800"/>
                      <m:t>∈</m:t>
                    </m:r>
                    <m:sSup>
                      <m:sSupPr>
                        <m:ctrlPr>
                          <a:rPr lang="ja-JP" altLang="en-US" sz="1800" i="1"/>
                        </m:ctrlPr>
                      </m:sSupPr>
                      <m:e>
                        <m:r>
                          <a:rPr lang="ja-JP" altLang="en-US" sz="1800" i="1"/>
                          <m:t>𝐻</m:t>
                        </m:r>
                      </m:e>
                      <m:sup>
                        <m:r>
                          <a:rPr lang="ja-JP" altLang="en-US" sz="1800"/>
                          <m:t>∗</m:t>
                        </m:r>
                      </m:sup>
                    </m:sSup>
                  </m:oMath>
                </a14:m>
                <a:r>
                  <a:rPr lang="ja-JP" altLang="ja-JP" sz="1800" dirty="0"/>
                  <a:t>可以用一个向量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ja-JP" altLang="en-US" sz="1800"/>
                      <m:t>∇</m:t>
                    </m:r>
                    <m:r>
                      <a:rPr lang="ja-JP" altLang="en-US" sz="1800" i="1"/>
                      <m:t>𝐽</m:t>
                    </m:r>
                    <m:d>
                      <m:dPr>
                        <m:ctrlPr>
                          <a:rPr lang="ja-JP" altLang="en-US" sz="1800" i="1"/>
                        </m:ctrlPr>
                      </m:dPr>
                      <m:e>
                        <m:r>
                          <a:rPr lang="ja-JP" altLang="en-US" sz="1800" i="1"/>
                          <m:t>𝑢</m:t>
                        </m:r>
                      </m:e>
                    </m:d>
                    <m:r>
                      <a:rPr lang="ja-JP" altLang="en-US" sz="1800"/>
                      <m:t>∈</m:t>
                    </m:r>
                    <m:r>
                      <a:rPr lang="ja-JP" altLang="en-US" sz="1800" i="1"/>
                      <m:t>𝐻</m:t>
                    </m:r>
                  </m:oMath>
                </a14:m>
                <a:r>
                  <a:rPr lang="ja-JP" altLang="ja-JP" sz="1800" dirty="0"/>
                  <a:t>表示</a:t>
                </a:r>
              </a:p>
            </p:txBody>
          </p:sp>
        </mc:Choice>
        <mc:Fallback>
          <p:sp>
            <p:nvSpPr>
              <p:cNvPr id="12" name="コンテンツ プレースホルダー 2">
                <a:extLst>
                  <a:ext uri="{FF2B5EF4-FFF2-40B4-BE49-F238E27FC236}">
                    <a16:creationId xmlns:a16="http://schemas.microsoft.com/office/drawing/2014/main" id="{F9B0E8E7-CAF7-FEC4-9BF5-913E15CC20B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09880" y="1112520"/>
                <a:ext cx="11572240" cy="5440680"/>
              </a:xfrm>
              <a:blipFill>
                <a:blip r:embed="rId4"/>
                <a:stretch>
                  <a:fillRect l="-632" t="-1457" b="-6839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726244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1C7E51-330E-AB9B-3063-4DCDB0950C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6626" name="Rectangle 2">
                <a:extLst>
                  <a:ext uri="{FF2B5EF4-FFF2-40B4-BE49-F238E27FC236}">
                    <a16:creationId xmlns:a16="http://schemas.microsoft.com/office/drawing/2014/main" id="{4C6801A6-E2AB-3D1E-EFA0-303FE3045FE0}"/>
                  </a:ext>
                </a:extLst>
              </p:cNvPr>
              <p:cNvSpPr>
                <a:spLocks noGrp="1" noChangeArrowheads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ja-JP" altLang="ja-JP" b="1" dirty="0"/>
                  <a:t>PDE 弱解：</a:t>
                </a:r>
                <a14:m>
                  <m:oMath xmlns:m="http://schemas.openxmlformats.org/officeDocument/2006/math">
                    <m:nary>
                      <m:naryPr>
                        <m:grow m:val="on"/>
                        <m:supHide m:val="on"/>
                        <m:ctrlPr>
                          <a:rPr lang="ja-JP" altLang="en-US" b="1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ja-JP" b="1" i="1">
                            <a:latin typeface="Cambria Math" panose="02040503050406030204" pitchFamily="18" charset="0"/>
                          </a:rPr>
                          <m:t>𝜴</m:t>
                        </m:r>
                      </m:sub>
                      <m:sup/>
                      <m:e>
                        <m:r>
                          <a:rPr lang="ja-JP" altLang="en-US" b="1" i="1">
                            <a:latin typeface="Cambria Math" panose="02040503050406030204" pitchFamily="18" charset="0"/>
                          </a:rPr>
                          <m:t>𝜵</m:t>
                        </m:r>
                      </m:e>
                    </m:nary>
                    <m:r>
                      <a:rPr lang="ja-JP" altLang="en-US" b="1" i="1">
                        <a:latin typeface="Cambria Math" panose="02040503050406030204" pitchFamily="18" charset="0"/>
                      </a:rPr>
                      <m:t>𝒖</m:t>
                    </m:r>
                    <m:r>
                      <a:rPr lang="ja-JP" altLang="en-US" b="1">
                        <a:latin typeface="Cambria Math" panose="02040503050406030204" pitchFamily="18" charset="0"/>
                      </a:rPr>
                      <m:t>⋅</m:t>
                    </m:r>
                    <m:r>
                      <a:rPr lang="ja-JP" altLang="en-US" b="1" i="1">
                        <a:latin typeface="Cambria Math" panose="02040503050406030204" pitchFamily="18" charset="0"/>
                      </a:rPr>
                      <m:t>𝜵𝝋</m:t>
                    </m:r>
                    <m:r>
                      <a:rPr lang="en-US" altLang="ja-JP" b="1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grow m:val="on"/>
                        <m:supHide m:val="on"/>
                        <m:ctrlPr>
                          <a:rPr lang="ja-JP" altLang="en-US" b="1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ja-JP" b="1" i="1">
                            <a:latin typeface="Cambria Math" panose="02040503050406030204" pitchFamily="18" charset="0"/>
                          </a:rPr>
                          <m:t>𝜴</m:t>
                        </m:r>
                      </m:sub>
                      <m:sup/>
                      <m:e>
                        <m:r>
                          <a:rPr lang="ja-JP" altLang="en-US" b="1" i="1">
                            <a:latin typeface="Cambria Math" panose="02040503050406030204" pitchFamily="18" charset="0"/>
                          </a:rPr>
                          <m:t>𝒇</m:t>
                        </m:r>
                      </m:e>
                    </m:nary>
                    <m:r>
                      <a:rPr lang="ja-JP" altLang="en-US" b="1" i="1">
                        <a:latin typeface="Cambria Math" panose="02040503050406030204" pitchFamily="18" charset="0"/>
                      </a:rPr>
                      <m:t>𝝋</m:t>
                    </m:r>
                  </m:oMath>
                </a14:m>
                <a:r>
                  <a:rPr lang="en-US" altLang="ja-JP" b="1" dirty="0"/>
                  <a:t>   </a:t>
                </a:r>
                <a:r>
                  <a:rPr lang="ja-JP" altLang="ja-JP" b="1" dirty="0"/>
                  <a:t>用测试函数 </a:t>
                </a:r>
                <a14:m>
                  <m:oMath xmlns:m="http://schemas.openxmlformats.org/officeDocument/2006/math">
                    <m:r>
                      <a:rPr lang="ja-JP" altLang="en-US" b="1" i="1">
                        <a:latin typeface="Cambria Math" panose="02040503050406030204" pitchFamily="18" charset="0"/>
                      </a:rPr>
                      <m:t>𝝋</m:t>
                    </m:r>
                  </m:oMath>
                </a14:m>
                <a:r>
                  <a:rPr lang="ja-JP" altLang="ja-JP" b="1" dirty="0"/>
                  <a:t>检验方程</a:t>
                </a:r>
                <a:endParaRPr lang="ja-JP" altLang="en-US" b="1" dirty="0">
                  <a:latin typeface="+mj-ea"/>
                </a:endParaRPr>
              </a:p>
            </p:txBody>
          </p:sp>
        </mc:Choice>
        <mc:Fallback xmlns="">
          <p:sp>
            <p:nvSpPr>
              <p:cNvPr id="26626" name="Rectangle 2">
                <a:extLst>
                  <a:ext uri="{FF2B5EF4-FFF2-40B4-BE49-F238E27FC236}">
                    <a16:creationId xmlns:a16="http://schemas.microsoft.com/office/drawing/2014/main" id="{4C6801A6-E2AB-3D1E-EFA0-303FE3045FE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3"/>
                <a:stretch>
                  <a:fillRect l="-826" t="-94690" b="-140708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コンテンツ プレースホルダー 2">
                <a:extLst>
                  <a:ext uri="{FF2B5EF4-FFF2-40B4-BE49-F238E27FC236}">
                    <a16:creationId xmlns:a16="http://schemas.microsoft.com/office/drawing/2014/main" id="{F0AE5E8D-7351-C21F-AFF1-9689DCE40A4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09880" y="1183640"/>
                <a:ext cx="11572240" cy="5440680"/>
              </a:xfrm>
            </p:spPr>
            <p:txBody>
              <a:bodyPr/>
              <a:lstStyle/>
              <a:p>
                <a:pPr marL="457200" indent="-457200">
                  <a:buFont typeface="+mj-lt"/>
                  <a:buAutoNum type="arabicPeriod" startAt="2"/>
                </a:pPr>
                <a:r>
                  <a:rPr lang="ja-JP" altLang="ja-JP" sz="1800" dirty="0"/>
                  <a:t>PDE 弱解：</a:t>
                </a:r>
                <a14:m>
                  <m:oMath xmlns:m="http://schemas.openxmlformats.org/officeDocument/2006/math">
                    <m:nary>
                      <m:naryPr>
                        <m:grow m:val="on"/>
                        <m:supHide m:val="on"/>
                        <m:ctrlPr>
                          <a:rPr lang="ja-JP" altLang="en-US" sz="18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sty m:val="p"/>
                          </m:rPr>
                          <a:rPr lang="en-US" altLang="ja-JP" sz="1800">
                            <a:latin typeface="Cambria Math" panose="02040503050406030204" pitchFamily="18" charset="0"/>
                          </a:rPr>
                          <m:t>Ω</m:t>
                        </m:r>
                      </m:sub>
                      <m:sup/>
                      <m:e>
                        <m:r>
                          <m:rPr>
                            <m:sty m:val="p"/>
                          </m:rPr>
                          <a:rPr lang="ja-JP" altLang="en-US" sz="1800">
                            <a:latin typeface="Cambria Math" panose="02040503050406030204" pitchFamily="18" charset="0"/>
                          </a:rPr>
                          <m:t>∇</m:t>
                        </m:r>
                      </m:e>
                    </m:nary>
                    <m:r>
                      <a:rPr lang="ja-JP" altLang="en-US" sz="1800" i="1">
                        <a:latin typeface="Cambria Math" panose="02040503050406030204" pitchFamily="18" charset="0"/>
                      </a:rPr>
                      <m:t>𝑢</m:t>
                    </m:r>
                    <m:r>
                      <a:rPr lang="ja-JP" altLang="en-US" sz="1800">
                        <a:latin typeface="Cambria Math" panose="02040503050406030204" pitchFamily="18" charset="0"/>
                      </a:rPr>
                      <m:t>⋅</m:t>
                    </m:r>
                    <m:r>
                      <m:rPr>
                        <m:sty m:val="p"/>
                      </m:rPr>
                      <a:rPr lang="ja-JP" altLang="en-US" sz="1800">
                        <a:latin typeface="Cambria Math" panose="02040503050406030204" pitchFamily="18" charset="0"/>
                      </a:rPr>
                      <m:t>∇</m:t>
                    </m:r>
                    <m:r>
                      <a:rPr lang="ja-JP" altLang="en-US" sz="1800" i="1">
                        <a:latin typeface="Cambria Math" panose="02040503050406030204" pitchFamily="18" charset="0"/>
                      </a:rPr>
                      <m:t>𝜑</m:t>
                    </m:r>
                    <m:r>
                      <a:rPr lang="en-US" altLang="ja-JP" sz="180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grow m:val="on"/>
                        <m:supHide m:val="on"/>
                        <m:ctrlPr>
                          <a:rPr lang="ja-JP" altLang="en-US" sz="18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sty m:val="p"/>
                          </m:rPr>
                          <a:rPr lang="en-US" altLang="ja-JP" sz="1800">
                            <a:latin typeface="Cambria Math" panose="02040503050406030204" pitchFamily="18" charset="0"/>
                          </a:rPr>
                          <m:t>Ω</m:t>
                        </m:r>
                      </m:sub>
                      <m:sup/>
                      <m:e>
                        <m:r>
                          <a:rPr lang="ja-JP" altLang="en-US" sz="1800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nary>
                    <m:r>
                      <a:rPr lang="ja-JP" altLang="en-US" sz="1800" i="1">
                        <a:latin typeface="Cambria Math" panose="02040503050406030204" pitchFamily="18" charset="0"/>
                      </a:rPr>
                      <m:t>𝜑</m:t>
                    </m:r>
                  </m:oMath>
                </a14:m>
                <a:r>
                  <a:rPr lang="en-US" altLang="ja-JP" sz="1800" dirty="0"/>
                  <a:t>   </a:t>
                </a:r>
                <a:r>
                  <a:rPr lang="ja-JP" altLang="ja-JP" sz="1800" dirty="0"/>
                  <a:t>用测试函数 </a:t>
                </a:r>
                <a14:m>
                  <m:oMath xmlns:m="http://schemas.openxmlformats.org/officeDocument/2006/math">
                    <m:r>
                      <a:rPr lang="ja-JP" altLang="en-US" sz="1800" i="1">
                        <a:latin typeface="Cambria Math" panose="02040503050406030204" pitchFamily="18" charset="0"/>
                      </a:rPr>
                      <m:t>𝜑</m:t>
                    </m:r>
                  </m:oMath>
                </a14:m>
                <a:r>
                  <a:rPr lang="ja-JP" altLang="ja-JP" sz="1800" dirty="0"/>
                  <a:t>检验方程</a:t>
                </a:r>
                <a:endParaRPr lang="en-US" altLang="ja-JP" sz="1800" dirty="0"/>
              </a:p>
              <a:p>
                <a:pPr marL="0" indent="0">
                  <a:buNone/>
                </a:pPr>
                <a:r>
                  <a:rPr lang="ja-JP" altLang="ja-JP" sz="1800" dirty="0"/>
                  <a:t>假设 </a:t>
                </a:r>
                <a14:m>
                  <m:oMath xmlns:m="http://schemas.openxmlformats.org/officeDocument/2006/math">
                    <m:r>
                      <a:rPr lang="ja-JP" altLang="en-US" sz="1800" i="1"/>
                      <m:t>𝑢</m:t>
                    </m:r>
                  </m:oMath>
                </a14:m>
                <a:r>
                  <a:rPr lang="ja-JP" altLang="ja-JP" sz="1800" dirty="0"/>
                  <a:t>很光滑，比如 </a:t>
                </a:r>
                <a14:m>
                  <m:oMath xmlns:m="http://schemas.openxmlformats.org/officeDocument/2006/math">
                    <m:r>
                      <a:rPr lang="ja-JP" altLang="en-US" sz="1800" i="1"/>
                      <m:t>𝑢</m:t>
                    </m:r>
                    <m:r>
                      <a:rPr lang="ja-JP" altLang="en-US" sz="1800"/>
                      <m:t>∈</m:t>
                    </m:r>
                    <m:sSup>
                      <m:sSupPr>
                        <m:ctrlPr>
                          <a:rPr lang="ja-JP" altLang="en-US" sz="1800" i="1"/>
                        </m:ctrlPr>
                      </m:sSupPr>
                      <m:e>
                        <m:r>
                          <a:rPr lang="ja-JP" altLang="en-US" sz="1800" i="1"/>
                          <m:t>𝐶</m:t>
                        </m:r>
                      </m:e>
                      <m:sup>
                        <m:r>
                          <a:rPr lang="en-US" altLang="ja-JP" sz="1800"/>
                          <m:t>2</m:t>
                        </m:r>
                      </m:sup>
                    </m:sSup>
                    <m:d>
                      <m:dPr>
                        <m:ctrlPr>
                          <a:rPr lang="ja-JP" altLang="en-US" sz="1800" i="1"/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altLang="ja-JP" sz="1800"/>
                          <m:t>Ω</m:t>
                        </m:r>
                      </m:e>
                    </m:d>
                  </m:oMath>
                </a14:m>
                <a:r>
                  <a:rPr lang="ja-JP" altLang="ja-JP" sz="1800" dirty="0"/>
                  <a:t>。Poisson 方程是：</a:t>
                </a:r>
                <a14:m>
                  <m:oMath xmlns:m="http://schemas.openxmlformats.org/officeDocument/2006/math">
                    <m:r>
                      <a:rPr lang="ja-JP" altLang="en-US" sz="1800"/>
                      <m:t>−</m:t>
                    </m:r>
                    <m:r>
                      <m:rPr>
                        <m:sty m:val="p"/>
                      </m:rPr>
                      <a:rPr lang="en-US" altLang="ja-JP" sz="1800"/>
                      <m:t>Δ</m:t>
                    </m:r>
                    <m:r>
                      <a:rPr lang="ja-JP" altLang="en-US" sz="1800" i="1"/>
                      <m:t>𝑢</m:t>
                    </m:r>
                    <m:r>
                      <a:rPr lang="en-US" altLang="ja-JP" sz="1800"/>
                      <m:t>=</m:t>
                    </m:r>
                    <m:r>
                      <a:rPr lang="ja-JP" altLang="en-US" sz="1800" i="1"/>
                      <m:t>𝑓</m:t>
                    </m:r>
                    <m:r>
                      <a:rPr lang="en-US" altLang="ja-JP" sz="1800"/>
                      <m:t>.</m:t>
                    </m:r>
                    <m:r>
                      <a:rPr lang="en-US" altLang="ja-JP" sz="1800" b="0" i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ja-JP" altLang="ja-JP" sz="1800" dirty="0"/>
                  <a:t>其中：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ja-JP" sz="1800"/>
                      <m:t>Δ</m:t>
                    </m:r>
                    <m:r>
                      <a:rPr lang="ja-JP" altLang="en-US" sz="1800" i="1"/>
                      <m:t>𝑢</m:t>
                    </m:r>
                    <m:r>
                      <a:rPr lang="en-US" altLang="ja-JP" sz="1800"/>
                      <m:t>=</m:t>
                    </m:r>
                    <m:f>
                      <m:fPr>
                        <m:ctrlPr>
                          <a:rPr lang="ja-JP" altLang="en-US" sz="1800" i="1"/>
                        </m:ctrlPr>
                      </m:fPr>
                      <m:num>
                        <m:sSup>
                          <m:sSupPr>
                            <m:ctrlPr>
                              <a:rPr lang="ja-JP" altLang="en-US" sz="1800" i="1"/>
                            </m:ctrlPr>
                          </m:sSupPr>
                          <m:e>
                            <m:r>
                              <a:rPr lang="ja-JP" altLang="en-US" sz="1800"/>
                              <m:t>∂</m:t>
                            </m:r>
                          </m:e>
                          <m:sup>
                            <m:r>
                              <a:rPr lang="en-US" altLang="ja-JP" sz="1800"/>
                              <m:t>2</m:t>
                            </m:r>
                          </m:sup>
                        </m:sSup>
                        <m:r>
                          <a:rPr lang="ja-JP" altLang="en-US" sz="1800" i="1"/>
                          <m:t>𝑢</m:t>
                        </m:r>
                      </m:num>
                      <m:den>
                        <m:r>
                          <a:rPr lang="ja-JP" altLang="en-US" sz="1800"/>
                          <m:t>∂</m:t>
                        </m:r>
                        <m:sSubSup>
                          <m:sSubSupPr>
                            <m:ctrlPr>
                              <a:rPr lang="ja-JP" altLang="en-US" sz="1800" i="1"/>
                            </m:ctrlPr>
                          </m:sSubSupPr>
                          <m:e>
                            <m:r>
                              <a:rPr lang="ja-JP" altLang="en-US" sz="1800" i="1"/>
                              <m:t>𝑥</m:t>
                            </m:r>
                          </m:e>
                          <m:sub>
                            <m:r>
                              <a:rPr lang="en-US" altLang="ja-JP" sz="1800"/>
                              <m:t>1</m:t>
                            </m:r>
                          </m:sub>
                          <m:sup>
                            <m:r>
                              <a:rPr lang="en-US" altLang="ja-JP" sz="1800"/>
                              <m:t>2</m:t>
                            </m:r>
                          </m:sup>
                        </m:sSubSup>
                      </m:den>
                    </m:f>
                    <m:r>
                      <a:rPr lang="en-US" altLang="ja-JP" sz="1800"/>
                      <m:t>+⋯+</m:t>
                    </m:r>
                    <m:f>
                      <m:fPr>
                        <m:ctrlPr>
                          <a:rPr lang="ja-JP" altLang="en-US" sz="1800" i="1"/>
                        </m:ctrlPr>
                      </m:fPr>
                      <m:num>
                        <m:sSup>
                          <m:sSupPr>
                            <m:ctrlPr>
                              <a:rPr lang="ja-JP" altLang="en-US" sz="1800" i="1"/>
                            </m:ctrlPr>
                          </m:sSupPr>
                          <m:e>
                            <m:r>
                              <a:rPr lang="ja-JP" altLang="en-US" sz="1800"/>
                              <m:t>∂</m:t>
                            </m:r>
                          </m:e>
                          <m:sup>
                            <m:r>
                              <a:rPr lang="en-US" altLang="ja-JP" sz="1800"/>
                              <m:t>2</m:t>
                            </m:r>
                          </m:sup>
                        </m:sSup>
                        <m:r>
                          <a:rPr lang="ja-JP" altLang="en-US" sz="1800" i="1"/>
                          <m:t>𝑢</m:t>
                        </m:r>
                      </m:num>
                      <m:den>
                        <m:r>
                          <a:rPr lang="ja-JP" altLang="en-US" sz="1800"/>
                          <m:t>∂</m:t>
                        </m:r>
                        <m:sSubSup>
                          <m:sSubSupPr>
                            <m:ctrlPr>
                              <a:rPr lang="ja-JP" altLang="en-US" sz="1800" i="1"/>
                            </m:ctrlPr>
                          </m:sSubSupPr>
                          <m:e>
                            <m:r>
                              <a:rPr lang="ja-JP" altLang="en-US" sz="1800" i="1"/>
                              <m:t>𝑥</m:t>
                            </m:r>
                          </m:e>
                          <m:sub>
                            <m:r>
                              <a:rPr lang="ja-JP" altLang="en-US" sz="1800" i="1"/>
                              <m:t>𝑛</m:t>
                            </m:r>
                          </m:sub>
                          <m:sup>
                            <m:r>
                              <a:rPr lang="en-US" altLang="ja-JP" sz="1800"/>
                              <m:t>2</m:t>
                            </m:r>
                          </m:sup>
                        </m:sSubSup>
                      </m:den>
                    </m:f>
                    <m:r>
                      <a:rPr lang="en-US" altLang="ja-JP" sz="1800"/>
                      <m:t>.</m:t>
                    </m:r>
                  </m:oMath>
                </a14:m>
                <a:endParaRPr lang="en-US" altLang="ja-JP" sz="1800" dirty="0"/>
              </a:p>
              <a:p>
                <a:pPr marL="0" indent="0">
                  <a:buNone/>
                </a:pPr>
                <a:r>
                  <a:rPr lang="ja-JP" altLang="ja-JP" sz="1800" dirty="0"/>
                  <a:t>如果 </a:t>
                </a:r>
                <a14:m>
                  <m:oMath xmlns:m="http://schemas.openxmlformats.org/officeDocument/2006/math">
                    <m:r>
                      <a:rPr lang="ja-JP" altLang="en-US" sz="1800" i="1"/>
                      <m:t>𝑛</m:t>
                    </m:r>
                    <m:r>
                      <a:rPr lang="en-US" altLang="ja-JP" sz="1800"/>
                      <m:t>=2</m:t>
                    </m:r>
                  </m:oMath>
                </a14:m>
                <a:r>
                  <a:rPr lang="ja-JP" altLang="ja-JP" sz="1800" dirty="0"/>
                  <a:t>，就是：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ja-JP" sz="1800"/>
                      <m:t>Δ</m:t>
                    </m:r>
                    <m:r>
                      <a:rPr lang="ja-JP" altLang="en-US" sz="1800" i="1"/>
                      <m:t>𝑢</m:t>
                    </m:r>
                    <m:r>
                      <a:rPr lang="en-US" altLang="ja-JP" sz="1800"/>
                      <m:t>=</m:t>
                    </m:r>
                    <m:sSub>
                      <m:sSubPr>
                        <m:ctrlPr>
                          <a:rPr lang="ja-JP" altLang="en-US" sz="1800" i="1"/>
                        </m:ctrlPr>
                      </m:sSubPr>
                      <m:e>
                        <m:r>
                          <a:rPr lang="ja-JP" altLang="en-US" sz="1800" i="1"/>
                          <m:t>𝑢</m:t>
                        </m:r>
                      </m:e>
                      <m:sub>
                        <m:r>
                          <a:rPr lang="ja-JP" altLang="en-US" sz="1800" i="1"/>
                          <m:t>𝑥𝑥</m:t>
                        </m:r>
                      </m:sub>
                    </m:sSub>
                    <m:r>
                      <a:rPr lang="en-US" altLang="ja-JP" sz="1800"/>
                      <m:t>+</m:t>
                    </m:r>
                    <m:sSub>
                      <m:sSubPr>
                        <m:ctrlPr>
                          <a:rPr lang="ja-JP" altLang="en-US" sz="1800" i="1"/>
                        </m:ctrlPr>
                      </m:sSubPr>
                      <m:e>
                        <m:r>
                          <a:rPr lang="ja-JP" altLang="en-US" sz="1800" i="1"/>
                          <m:t>𝑢</m:t>
                        </m:r>
                      </m:e>
                      <m:sub>
                        <m:r>
                          <a:rPr lang="ja-JP" altLang="en-US" sz="1800" i="1"/>
                          <m:t>𝑦𝑦</m:t>
                        </m:r>
                      </m:sub>
                    </m:sSub>
                    <m:r>
                      <a:rPr lang="en-US" altLang="ja-JP" sz="1800"/>
                      <m:t>.</m:t>
                    </m:r>
                  </m:oMath>
                </a14:m>
                <a:r>
                  <a:rPr lang="en-US" altLang="ja-JP" sz="1800" dirty="0"/>
                  <a:t> </a:t>
                </a:r>
                <a:r>
                  <a:rPr lang="ja-JP" altLang="ja-JP" sz="1800" dirty="0"/>
                  <a:t>所以方程是：</a:t>
                </a:r>
                <a14:m>
                  <m:oMath xmlns:m="http://schemas.openxmlformats.org/officeDocument/2006/math">
                    <m:r>
                      <a:rPr lang="ja-JP" altLang="en-US" sz="1800"/>
                      <m:t>−</m:t>
                    </m:r>
                    <m:d>
                      <m:dPr>
                        <m:ctrlPr>
                          <a:rPr lang="ja-JP" altLang="en-US" sz="1800" i="1"/>
                        </m:ctrlPr>
                      </m:dPr>
                      <m:e>
                        <m:sSub>
                          <m:sSubPr>
                            <m:ctrlPr>
                              <a:rPr lang="ja-JP" altLang="en-US" sz="1800" i="1"/>
                            </m:ctrlPr>
                          </m:sSubPr>
                          <m:e>
                            <m:r>
                              <a:rPr lang="ja-JP" altLang="en-US" sz="1800" i="1"/>
                              <m:t>𝑢</m:t>
                            </m:r>
                          </m:e>
                          <m:sub>
                            <m:r>
                              <a:rPr lang="ja-JP" altLang="en-US" sz="1800" i="1"/>
                              <m:t>𝑥𝑥</m:t>
                            </m:r>
                          </m:sub>
                        </m:sSub>
                        <m:r>
                          <a:rPr lang="en-US" altLang="ja-JP" sz="1800"/>
                          <m:t>+</m:t>
                        </m:r>
                        <m:sSub>
                          <m:sSubPr>
                            <m:ctrlPr>
                              <a:rPr lang="ja-JP" altLang="en-US" sz="1800" i="1"/>
                            </m:ctrlPr>
                          </m:sSubPr>
                          <m:e>
                            <m:r>
                              <a:rPr lang="ja-JP" altLang="en-US" sz="1800" i="1"/>
                              <m:t>𝑢</m:t>
                            </m:r>
                          </m:e>
                          <m:sub>
                            <m:r>
                              <a:rPr lang="ja-JP" altLang="en-US" sz="1800" i="1"/>
                              <m:t>𝑦𝑦</m:t>
                            </m:r>
                          </m:sub>
                        </m:sSub>
                      </m:e>
                    </m:d>
                    <m:r>
                      <a:rPr lang="en-US" altLang="ja-JP" sz="1800"/>
                      <m:t>=</m:t>
                    </m:r>
                    <m:r>
                      <a:rPr lang="ja-JP" altLang="en-US" sz="1800" i="1"/>
                      <m:t>𝑓</m:t>
                    </m:r>
                    <m:r>
                      <a:rPr lang="en-US" altLang="ja-JP" sz="1800"/>
                      <m:t>.</m:t>
                    </m:r>
                  </m:oMath>
                </a14:m>
                <a:endParaRPr lang="en-US" altLang="ja-JP" sz="1800" dirty="0"/>
              </a:p>
              <a:p>
                <a:pPr marL="0" indent="0">
                  <a:buNone/>
                </a:pPr>
                <a:r>
                  <a:rPr lang="ja-JP" altLang="ja-JP" sz="1800" dirty="0"/>
                  <a:t>是一个“点态方程”，意思是对于每个点 </a:t>
                </a:r>
                <a14:m>
                  <m:oMath xmlns:m="http://schemas.openxmlformats.org/officeDocument/2006/math">
                    <m:r>
                      <a:rPr lang="ja-JP" altLang="en-US" sz="1800" i="1"/>
                      <m:t>𝑥</m:t>
                    </m:r>
                    <m:r>
                      <a:rPr lang="ja-JP" altLang="en-US" sz="1800"/>
                      <m:t>∈</m:t>
                    </m:r>
                    <m:r>
                      <m:rPr>
                        <m:sty m:val="p"/>
                      </m:rPr>
                      <a:rPr lang="en-US" altLang="ja-JP" sz="1800"/>
                      <m:t>Ω</m:t>
                    </m:r>
                  </m:oMath>
                </a14:m>
                <a:r>
                  <a:rPr lang="ja-JP" altLang="ja-JP" sz="1800" dirty="0"/>
                  <a:t>，都有：</a:t>
                </a:r>
                <a14:m>
                  <m:oMath xmlns:m="http://schemas.openxmlformats.org/officeDocument/2006/math">
                    <m:r>
                      <a:rPr lang="ja-JP" altLang="en-US" sz="1800"/>
                      <m:t>−</m:t>
                    </m:r>
                    <m:r>
                      <m:rPr>
                        <m:sty m:val="p"/>
                      </m:rPr>
                      <a:rPr lang="en-US" altLang="ja-JP" sz="1800"/>
                      <m:t>Δ</m:t>
                    </m:r>
                    <m:r>
                      <a:rPr lang="ja-JP" altLang="en-US" sz="1800" i="1"/>
                      <m:t>𝑢</m:t>
                    </m:r>
                    <m:d>
                      <m:dPr>
                        <m:ctrlPr>
                          <a:rPr lang="ja-JP" altLang="en-US" sz="1800" i="1"/>
                        </m:ctrlPr>
                      </m:dPr>
                      <m:e>
                        <m:r>
                          <a:rPr lang="ja-JP" altLang="en-US" sz="1800" i="1"/>
                          <m:t>𝑥</m:t>
                        </m:r>
                      </m:e>
                    </m:d>
                    <m:r>
                      <a:rPr lang="en-US" altLang="ja-JP" sz="1800"/>
                      <m:t>=</m:t>
                    </m:r>
                    <m:r>
                      <a:rPr lang="ja-JP" altLang="en-US" sz="1800" i="1"/>
                      <m:t>𝑓</m:t>
                    </m:r>
                    <m:d>
                      <m:dPr>
                        <m:ctrlPr>
                          <a:rPr lang="ja-JP" altLang="en-US" sz="1800" i="1"/>
                        </m:ctrlPr>
                      </m:dPr>
                      <m:e>
                        <m:r>
                          <a:rPr lang="ja-JP" altLang="en-US" sz="1800" i="1"/>
                          <m:t>𝑥</m:t>
                        </m:r>
                      </m:e>
                    </m:d>
                    <m:r>
                      <a:rPr lang="en-US" altLang="ja-JP" sz="1800"/>
                      <m:t>.</m:t>
                    </m:r>
                  </m:oMath>
                </a14:m>
                <a:endParaRPr lang="en-US" altLang="ja-JP" sz="1800" dirty="0"/>
              </a:p>
              <a:p>
                <a:pPr marL="0" indent="0">
                  <a:buNone/>
                </a:pPr>
                <a:r>
                  <a:rPr lang="ja-JP" altLang="ja-JP" sz="1800" dirty="0"/>
                  <a:t>经典解要求 </a:t>
                </a:r>
                <a14:m>
                  <m:oMath xmlns:m="http://schemas.openxmlformats.org/officeDocument/2006/math">
                    <m:r>
                      <a:rPr lang="ja-JP" altLang="en-US" sz="1800" i="1"/>
                      <m:t>𝑢</m:t>
                    </m:r>
                  </m:oMath>
                </a14:m>
                <a:r>
                  <a:rPr lang="ja-JP" altLang="ja-JP" sz="1800" dirty="0"/>
                  <a:t>至少有二阶导数。但是很多实际问题中，解不够光滑。比如：</a:t>
                </a:r>
                <a14:m>
                  <m:oMath xmlns:m="http://schemas.openxmlformats.org/officeDocument/2006/math">
                    <m:r>
                      <a:rPr lang="ja-JP" altLang="en-US" sz="1800" i="1"/>
                      <m:t>𝑢</m:t>
                    </m:r>
                  </m:oMath>
                </a14:m>
                <a:r>
                  <a:rPr lang="ja-JP" altLang="ja-JP" sz="1800" dirty="0"/>
                  <a:t>可能只有一阶弱导数，属于 Sobolev 空间：这时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ja-JP" sz="1800"/>
                      <m:t>Δ</m:t>
                    </m:r>
                    <m:r>
                      <a:rPr lang="ja-JP" altLang="en-US" sz="1800" i="1"/>
                      <m:t>𝑢</m:t>
                    </m:r>
                  </m:oMath>
                </a14:m>
                <a:r>
                  <a:rPr lang="ja-JP" altLang="ja-JP" sz="1800" dirty="0"/>
                  <a:t>作为普通函数可能不存在，于是改用一种更弱的方式表达方程：不直接要求二阶导数存在，而是用积分关系表达它。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zh-CN" altLang="en-US" sz="1800" i="1" dirty="0" smtClean="0">
                        <a:latin typeface="Cambria Math" panose="02040503050406030204" pitchFamily="18" charset="0"/>
                      </a:rPr>
                      <m:t>对</m:t>
                    </m:r>
                    <m:r>
                      <a:rPr lang="ja-JP" altLang="en-US" sz="1800"/>
                      <m:t>−</m:t>
                    </m:r>
                    <m:r>
                      <m:rPr>
                        <m:sty m:val="p"/>
                      </m:rPr>
                      <a:rPr lang="en-US" altLang="ja-JP" sz="1800"/>
                      <m:t>Δ</m:t>
                    </m:r>
                    <m:r>
                      <a:rPr lang="ja-JP" altLang="en-US" sz="1800" i="1"/>
                      <m:t>𝑢</m:t>
                    </m:r>
                    <m:r>
                      <a:rPr lang="en-US" altLang="ja-JP" sz="1800"/>
                      <m:t>=</m:t>
                    </m:r>
                    <m:r>
                      <a:rPr lang="ja-JP" altLang="en-US" sz="1800" i="1"/>
                      <m:t>𝑓</m:t>
                    </m:r>
                    <m:r>
                      <a:rPr lang="en-US" altLang="ja-JP" sz="1800"/>
                      <m:t>.</m:t>
                    </m:r>
                  </m:oMath>
                </a14:m>
                <a:r>
                  <a:rPr lang="ja-JP" altLang="ja-JP" sz="1800" dirty="0"/>
                  <a:t>取一个测试函数：</a:t>
                </a:r>
                <a14:m>
                  <m:oMath xmlns:m="http://schemas.openxmlformats.org/officeDocument/2006/math">
                    <m:r>
                      <a:rPr lang="ja-JP" altLang="en-US" sz="1800" i="1"/>
                      <m:t>𝜑</m:t>
                    </m:r>
                    <m:r>
                      <a:rPr lang="ja-JP" altLang="en-US" sz="1800"/>
                      <m:t>∈</m:t>
                    </m:r>
                    <m:sSubSup>
                      <m:sSubSupPr>
                        <m:ctrlPr>
                          <a:rPr lang="ja-JP" altLang="en-US" sz="1800" i="1"/>
                        </m:ctrlPr>
                      </m:sSubSupPr>
                      <m:e>
                        <m:r>
                          <a:rPr lang="ja-JP" altLang="en-US" sz="1800" i="1"/>
                          <m:t>𝐶</m:t>
                        </m:r>
                      </m:e>
                      <m:sub>
                        <m:r>
                          <a:rPr lang="ja-JP" altLang="en-US" sz="1800" i="1"/>
                          <m:t>𝑐</m:t>
                        </m:r>
                      </m:sub>
                      <m:sup>
                        <m:r>
                          <a:rPr lang="ja-JP" altLang="en-US" sz="1800"/>
                          <m:t>∞</m:t>
                        </m:r>
                      </m:sup>
                    </m:sSubSup>
                    <m:d>
                      <m:dPr>
                        <m:ctrlPr>
                          <a:rPr lang="ja-JP" altLang="en-US" sz="1800" i="1"/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altLang="ja-JP" sz="1800"/>
                          <m:t>Ω</m:t>
                        </m:r>
                      </m:e>
                    </m:d>
                    <m:r>
                      <a:rPr lang="en-US" altLang="ja-JP" sz="1800"/>
                      <m:t>,</m:t>
                    </m:r>
                  </m:oMath>
                </a14:m>
                <a:r>
                  <a:rPr lang="en-US" altLang="ja-JP" sz="1800" dirty="0"/>
                  <a:t> </a:t>
                </a:r>
                <a:r>
                  <a:rPr lang="ja-JP" altLang="ja-JP" sz="1800" dirty="0"/>
                  <a:t>把方程两边乘以 </a:t>
                </a:r>
                <a14:m>
                  <m:oMath xmlns:m="http://schemas.openxmlformats.org/officeDocument/2006/math">
                    <m:r>
                      <a:rPr lang="ja-JP" altLang="en-US" sz="1800" i="1"/>
                      <m:t>𝜑</m:t>
                    </m:r>
                  </m:oMath>
                </a14:m>
                <a:r>
                  <a:rPr lang="ja-JP" altLang="ja-JP" sz="1800" dirty="0"/>
                  <a:t>，再在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ja-JP" sz="1800"/>
                      <m:t>Ω</m:t>
                    </m:r>
                  </m:oMath>
                </a14:m>
                <a:r>
                  <a:rPr lang="ja-JP" altLang="ja-JP" sz="1800" dirty="0"/>
                  <a:t>上积分：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grow m:val="on"/>
                          <m:supHide m:val="on"/>
                          <m:ctrlPr>
                            <a:rPr lang="ja-JP" altLang="en-US" sz="1800"/>
                          </m:ctrlPr>
                        </m:naryPr>
                        <m:sub>
                          <m:r>
                            <m:rPr>
                              <m:sty m:val="p"/>
                            </m:rPr>
                            <a:rPr lang="en-US" altLang="ja-JP" sz="1800"/>
                            <m:t>Ω</m:t>
                          </m:r>
                        </m:sub>
                        <m:sup/>
                        <m:e>
                          <m:r>
                            <a:rPr lang="en-US" altLang="ja-JP" sz="1800"/>
                            <m:t>(</m:t>
                          </m:r>
                        </m:e>
                      </m:nary>
                      <m:d>
                        <m:dPr>
                          <m:begChr m:val=""/>
                          <m:ctrlPr>
                            <a:rPr lang="ja-JP" altLang="en-US" sz="1800" i="1"/>
                          </m:ctrlPr>
                        </m:dPr>
                        <m:e>
                          <m:r>
                            <a:rPr lang="ja-JP" altLang="en-US" sz="1800"/>
                            <m:t>−</m:t>
                          </m:r>
                          <m:r>
                            <m:rPr>
                              <m:sty m:val="p"/>
                            </m:rPr>
                            <a:rPr lang="en-US" altLang="ja-JP" sz="1800"/>
                            <m:t>Δ</m:t>
                          </m:r>
                          <m:r>
                            <a:rPr lang="ja-JP" altLang="en-US" sz="1800" i="1"/>
                            <m:t>𝑢</m:t>
                          </m:r>
                        </m:e>
                      </m:d>
                      <m:r>
                        <a:rPr lang="ja-JP" altLang="en-US" sz="1800" i="1"/>
                        <m:t>𝜑</m:t>
                      </m:r>
                      <m:r>
                        <m:rPr>
                          <m:nor/>
                        </m:rPr>
                        <a:rPr lang="ja-JP" altLang="en-US" sz="1800" i="1"/>
                        <m:t> </m:t>
                      </m:r>
                      <m:r>
                        <a:rPr lang="ja-JP" altLang="en-US" sz="1800" i="1"/>
                        <m:t>𝑑𝑥</m:t>
                      </m:r>
                      <m:r>
                        <a:rPr lang="en-US" altLang="ja-JP" sz="1800"/>
                        <m:t>=</m:t>
                      </m:r>
                      <m:nary>
                        <m:naryPr>
                          <m:grow m:val="on"/>
                          <m:supHide m:val="on"/>
                          <m:ctrlPr>
                            <a:rPr lang="ja-JP" altLang="en-US" sz="1800" i="1"/>
                          </m:ctrlPr>
                        </m:naryPr>
                        <m:sub>
                          <m:r>
                            <m:rPr>
                              <m:sty m:val="p"/>
                            </m:rPr>
                            <a:rPr lang="en-US" altLang="ja-JP" sz="1800"/>
                            <m:t>Ω</m:t>
                          </m:r>
                        </m:sub>
                        <m:sup/>
                        <m:e>
                          <m:r>
                            <a:rPr lang="ja-JP" altLang="en-US" sz="1800" i="1"/>
                            <m:t>𝑓</m:t>
                          </m:r>
                        </m:e>
                      </m:nary>
                      <m:r>
                        <a:rPr lang="ja-JP" altLang="en-US" sz="1800" i="1"/>
                        <m:t>𝜑</m:t>
                      </m:r>
                      <m:r>
                        <m:rPr>
                          <m:nor/>
                        </m:rPr>
                        <a:rPr lang="ja-JP" altLang="en-US" sz="1800" i="1"/>
                        <m:t> </m:t>
                      </m:r>
                      <m:r>
                        <a:rPr lang="ja-JP" altLang="en-US" sz="1800" i="1"/>
                        <m:t>𝑑𝑥</m:t>
                      </m:r>
                      <m:r>
                        <a:rPr lang="en-US" altLang="ja-JP" sz="1800"/>
                        <m:t>.</m:t>
                      </m:r>
                    </m:oMath>
                  </m:oMathPara>
                </a14:m>
                <a:endParaRPr lang="en-US" altLang="ja-JP" sz="1800" b="0" dirty="0"/>
              </a:p>
              <a:p>
                <a:r>
                  <a:rPr lang="ja-JP" altLang="ja-JP" sz="1800" dirty="0"/>
                  <a:t>这一步的意思是：不直接看每一点的方程，而是用 </a:t>
                </a:r>
                <a14:m>
                  <m:oMath xmlns:m="http://schemas.openxmlformats.org/officeDocument/2006/math">
                    <m:r>
                      <a:rPr lang="ja-JP" altLang="en-US" sz="1800" i="1"/>
                      <m:t>𝜑</m:t>
                    </m:r>
                  </m:oMath>
                </a14:m>
                <a:r>
                  <a:rPr lang="ja-JP" altLang="ja-JP" sz="1800" dirty="0"/>
                  <a:t>对方程进行加权平均检验。</a:t>
                </a:r>
              </a:p>
              <a:p>
                <a:pPr marL="0" indent="0">
                  <a:buNone/>
                </a:pPr>
                <a:r>
                  <a:rPr lang="ja-JP" altLang="ja-JP" sz="1800" dirty="0"/>
                  <a:t>由 Green 公式，若边界项消失，则：</a:t>
                </a:r>
                <a14:m>
                  <m:oMath xmlns:m="http://schemas.openxmlformats.org/officeDocument/2006/math">
                    <m:nary>
                      <m:naryPr>
                        <m:grow m:val="on"/>
                        <m:supHide m:val="on"/>
                        <m:ctrlPr>
                          <a:rPr lang="ja-JP" altLang="en-US" sz="1800"/>
                        </m:ctrlPr>
                      </m:naryPr>
                      <m:sub>
                        <m:r>
                          <m:rPr>
                            <m:sty m:val="p"/>
                          </m:rPr>
                          <a:rPr lang="en-US" altLang="ja-JP" sz="1800"/>
                          <m:t>Ω</m:t>
                        </m:r>
                      </m:sub>
                      <m:sup/>
                      <m:e>
                        <m:r>
                          <a:rPr lang="en-US" altLang="ja-JP" sz="1800"/>
                          <m:t>(</m:t>
                        </m:r>
                      </m:e>
                    </m:nary>
                    <m:d>
                      <m:dPr>
                        <m:begChr m:val=""/>
                        <m:ctrlPr>
                          <a:rPr lang="ja-JP" altLang="en-US" sz="1800" i="1"/>
                        </m:ctrlPr>
                      </m:dPr>
                      <m:e>
                        <m:r>
                          <a:rPr lang="ja-JP" altLang="en-US" sz="1800"/>
                          <m:t>−</m:t>
                        </m:r>
                        <m:r>
                          <m:rPr>
                            <m:sty m:val="p"/>
                          </m:rPr>
                          <a:rPr lang="en-US" altLang="ja-JP" sz="1800"/>
                          <m:t>Δ</m:t>
                        </m:r>
                        <m:r>
                          <a:rPr lang="ja-JP" altLang="en-US" sz="1800" i="1"/>
                          <m:t>𝑢</m:t>
                        </m:r>
                      </m:e>
                    </m:d>
                    <m:r>
                      <a:rPr lang="ja-JP" altLang="en-US" sz="1800" i="1"/>
                      <m:t>𝜑</m:t>
                    </m:r>
                    <m:r>
                      <m:rPr>
                        <m:nor/>
                      </m:rPr>
                      <a:rPr lang="ja-JP" altLang="en-US" sz="1800" i="1"/>
                      <m:t> </m:t>
                    </m:r>
                    <m:r>
                      <a:rPr lang="ja-JP" altLang="en-US" sz="1800" i="1"/>
                      <m:t>𝑑𝑥</m:t>
                    </m:r>
                    <m:r>
                      <a:rPr lang="en-US" altLang="ja-JP" sz="1800"/>
                      <m:t>=</m:t>
                    </m:r>
                    <m:nary>
                      <m:naryPr>
                        <m:grow m:val="on"/>
                        <m:supHide m:val="on"/>
                        <m:ctrlPr>
                          <a:rPr lang="ja-JP" altLang="en-US" sz="1800" i="1"/>
                        </m:ctrlPr>
                      </m:naryPr>
                      <m:sub>
                        <m:r>
                          <m:rPr>
                            <m:sty m:val="p"/>
                          </m:rPr>
                          <a:rPr lang="en-US" altLang="ja-JP" sz="1800"/>
                          <m:t>Ω</m:t>
                        </m:r>
                      </m:sub>
                      <m:sup/>
                      <m:e>
                        <m:r>
                          <m:rPr>
                            <m:sty m:val="p"/>
                          </m:rPr>
                          <a:rPr lang="ja-JP" altLang="en-US" sz="1800"/>
                          <m:t>∇</m:t>
                        </m:r>
                      </m:e>
                    </m:nary>
                    <m:r>
                      <a:rPr lang="ja-JP" altLang="en-US" sz="1800" i="1"/>
                      <m:t>𝑢</m:t>
                    </m:r>
                    <m:r>
                      <a:rPr lang="ja-JP" altLang="en-US" sz="1800"/>
                      <m:t>⋅</m:t>
                    </m:r>
                    <m:r>
                      <m:rPr>
                        <m:sty m:val="p"/>
                      </m:rPr>
                      <a:rPr lang="ja-JP" altLang="en-US" sz="1800"/>
                      <m:t>∇</m:t>
                    </m:r>
                    <m:r>
                      <a:rPr lang="ja-JP" altLang="en-US" sz="1800" i="1"/>
                      <m:t>𝜑</m:t>
                    </m:r>
                    <m:r>
                      <m:rPr>
                        <m:nor/>
                      </m:rPr>
                      <a:rPr lang="ja-JP" altLang="en-US" sz="1800" i="1"/>
                      <m:t> </m:t>
                    </m:r>
                    <m:r>
                      <a:rPr lang="ja-JP" altLang="en-US" sz="1800" i="1"/>
                      <m:t>𝑑𝑥</m:t>
                    </m:r>
                    <m:r>
                      <a:rPr lang="en-US" altLang="ja-JP" sz="1800"/>
                      <m:t>.</m:t>
                    </m:r>
                  </m:oMath>
                </a14:m>
                <a:endParaRPr lang="en-US" altLang="ja-JP" sz="1800" b="0" dirty="0"/>
              </a:p>
              <a:p>
                <a:pPr marL="0" indent="0">
                  <a:buNone/>
                </a:pPr>
                <a:r>
                  <a:rPr lang="ja-JP" altLang="ja-JP" sz="1800" dirty="0"/>
                  <a:t>因此方程变成：</a:t>
                </a:r>
                <a14:m>
                  <m:oMath xmlns:m="http://schemas.openxmlformats.org/officeDocument/2006/math">
                    <m:nary>
                      <m:naryPr>
                        <m:grow m:val="on"/>
                        <m:supHide m:val="on"/>
                        <m:ctrlPr>
                          <a:rPr lang="ja-JP" altLang="en-US" sz="1800"/>
                        </m:ctrlPr>
                      </m:naryPr>
                      <m:sub>
                        <m:r>
                          <m:rPr>
                            <m:sty m:val="p"/>
                          </m:rPr>
                          <a:rPr lang="en-US" altLang="ja-JP" sz="1800"/>
                          <m:t>Ω</m:t>
                        </m:r>
                      </m:sub>
                      <m:sup/>
                      <m:e>
                        <m:r>
                          <m:rPr>
                            <m:sty m:val="p"/>
                          </m:rPr>
                          <a:rPr lang="ja-JP" altLang="en-US" sz="1800"/>
                          <m:t>∇</m:t>
                        </m:r>
                      </m:e>
                    </m:nary>
                    <m:r>
                      <a:rPr lang="ja-JP" altLang="en-US" sz="1800" i="1"/>
                      <m:t>𝑢</m:t>
                    </m:r>
                    <m:r>
                      <a:rPr lang="ja-JP" altLang="en-US" sz="1800"/>
                      <m:t>⋅</m:t>
                    </m:r>
                    <m:r>
                      <m:rPr>
                        <m:sty m:val="p"/>
                      </m:rPr>
                      <a:rPr lang="ja-JP" altLang="en-US" sz="1800"/>
                      <m:t>∇</m:t>
                    </m:r>
                    <m:r>
                      <a:rPr lang="ja-JP" altLang="en-US" sz="1800" i="1"/>
                      <m:t>𝜑</m:t>
                    </m:r>
                    <m:r>
                      <m:rPr>
                        <m:nor/>
                      </m:rPr>
                      <a:rPr lang="ja-JP" altLang="en-US" sz="1800" i="1"/>
                      <m:t> </m:t>
                    </m:r>
                    <m:r>
                      <a:rPr lang="ja-JP" altLang="en-US" sz="1800" i="1"/>
                      <m:t>𝑑𝑥</m:t>
                    </m:r>
                    <m:r>
                      <a:rPr lang="en-US" altLang="ja-JP" sz="1800"/>
                      <m:t>=</m:t>
                    </m:r>
                    <m:nary>
                      <m:naryPr>
                        <m:grow m:val="on"/>
                        <m:supHide m:val="on"/>
                        <m:ctrlPr>
                          <a:rPr lang="ja-JP" altLang="en-US" sz="1800" i="1"/>
                        </m:ctrlPr>
                      </m:naryPr>
                      <m:sub>
                        <m:r>
                          <m:rPr>
                            <m:sty m:val="p"/>
                          </m:rPr>
                          <a:rPr lang="en-US" altLang="ja-JP" sz="1800"/>
                          <m:t>Ω</m:t>
                        </m:r>
                      </m:sub>
                      <m:sup/>
                      <m:e>
                        <m:r>
                          <a:rPr lang="ja-JP" altLang="en-US" sz="1800" i="1"/>
                          <m:t>𝑓</m:t>
                        </m:r>
                      </m:e>
                    </m:nary>
                    <m:r>
                      <a:rPr lang="ja-JP" altLang="en-US" sz="1800" i="1"/>
                      <m:t>𝜑</m:t>
                    </m:r>
                    <m:r>
                      <m:rPr>
                        <m:nor/>
                      </m:rPr>
                      <a:rPr lang="ja-JP" altLang="en-US" sz="1800" i="1"/>
                      <m:t> </m:t>
                    </m:r>
                    <m:r>
                      <a:rPr lang="ja-JP" altLang="en-US" sz="1800" i="1"/>
                      <m:t>𝑑𝑥</m:t>
                    </m:r>
                    <m:r>
                      <a:rPr lang="en-US" altLang="ja-JP" sz="1800"/>
                      <m:t>.</m:t>
                    </m:r>
                  </m:oMath>
                </a14:m>
                <a:r>
                  <a:rPr lang="en-US" altLang="ja-JP" sz="1800" b="0" dirty="0"/>
                  <a:t> </a:t>
                </a:r>
                <a:r>
                  <a:rPr lang="ja-JP" altLang="ja-JP" sz="1800" dirty="0"/>
                  <a:t>这就是弱形式。</a:t>
                </a:r>
                <a:endParaRPr lang="ja-JP" altLang="ja-JP" sz="1800" b="1" dirty="0"/>
              </a:p>
              <a:p>
                <a:r>
                  <a:rPr lang="ja-JP" altLang="ja-JP" sz="1800" dirty="0"/>
                  <a:t>对于 Dirichlet 边界问题：</a:t>
                </a:r>
                <a14:m>
                  <m:oMath xmlns:m="http://schemas.openxmlformats.org/officeDocument/2006/math">
                    <m:r>
                      <a:rPr lang="ja-JP" altLang="en-US" sz="1800"/>
                      <m:t>−</m:t>
                    </m:r>
                    <m:r>
                      <m:rPr>
                        <m:sty m:val="p"/>
                      </m:rPr>
                      <a:rPr lang="en-US" altLang="ja-JP" sz="1800"/>
                      <m:t>Δ</m:t>
                    </m:r>
                    <m:r>
                      <a:rPr lang="ja-JP" altLang="en-US" sz="1800" i="1"/>
                      <m:t>𝑢</m:t>
                    </m:r>
                    <m:r>
                      <a:rPr lang="en-US" altLang="ja-JP" sz="1800"/>
                      <m:t>=</m:t>
                    </m:r>
                    <m:r>
                      <a:rPr lang="ja-JP" altLang="en-US" sz="1800" i="1"/>
                      <m:t>𝑓</m:t>
                    </m:r>
                    <m:r>
                      <a:rPr lang="ja-JP" altLang="en-US" sz="1800"/>
                      <m:t> </m:t>
                    </m:r>
                    <m:r>
                      <m:rPr>
                        <m:nor/>
                      </m:rPr>
                      <a:rPr lang="en-US" altLang="ja-JP" sz="1800" i="1"/>
                      <m:t>in</m:t>
                    </m:r>
                    <m:r>
                      <m:rPr>
                        <m:nor/>
                      </m:rPr>
                      <a:rPr lang="en-US" altLang="ja-JP" sz="1800" i="1"/>
                      <m:t> </m:t>
                    </m:r>
                    <m:r>
                      <m:rPr>
                        <m:sty m:val="p"/>
                      </m:rPr>
                      <a:rPr lang="en-US" altLang="ja-JP" sz="1800"/>
                      <m:t>Ω</m:t>
                    </m:r>
                    <m:r>
                      <a:rPr lang="en-US" altLang="ja-JP" sz="1800"/>
                      <m:t>,</m:t>
                    </m:r>
                  </m:oMath>
                </a14:m>
                <a:r>
                  <a:rPr lang="en-US" altLang="ja-JP" sz="1800" b="0" dirty="0"/>
                  <a:t> </a:t>
                </a:r>
                <a14:m>
                  <m:oMath xmlns:m="http://schemas.openxmlformats.org/officeDocument/2006/math">
                    <m:r>
                      <a:rPr lang="ja-JP" altLang="en-US" sz="1800" i="1"/>
                      <m:t>𝑢</m:t>
                    </m:r>
                    <m:r>
                      <a:rPr lang="en-US" altLang="ja-JP" sz="1800"/>
                      <m:t>=0 </m:t>
                    </m:r>
                    <m:r>
                      <m:rPr>
                        <m:nor/>
                      </m:rPr>
                      <a:rPr lang="en-US" altLang="ja-JP" sz="1800" i="1"/>
                      <m:t>on</m:t>
                    </m:r>
                    <m:r>
                      <m:rPr>
                        <m:nor/>
                      </m:rPr>
                      <a:rPr lang="en-US" altLang="ja-JP" sz="1800" i="1"/>
                      <m:t> </m:t>
                    </m:r>
                    <m:r>
                      <a:rPr lang="ja-JP" altLang="en-US" sz="1800"/>
                      <m:t>∂</m:t>
                    </m:r>
                    <m:r>
                      <m:rPr>
                        <m:sty m:val="p"/>
                      </m:rPr>
                      <a:rPr lang="en-US" altLang="ja-JP" sz="1800"/>
                      <m:t>Ω</m:t>
                    </m:r>
                    <m:r>
                      <a:rPr lang="en-US" altLang="ja-JP" sz="1800"/>
                      <m:t>,</m:t>
                    </m:r>
                  </m:oMath>
                </a14:m>
                <a:r>
                  <a:rPr lang="en-US" altLang="ja-JP" sz="1800" b="0" dirty="0"/>
                  <a:t> </a:t>
                </a:r>
                <a:r>
                  <a:rPr lang="ja-JP" altLang="ja-JP" sz="1800" dirty="0"/>
                  <a:t>弱解定义为：寻找</a:t>
                </a:r>
                <a14:m>
                  <m:oMath xmlns:m="http://schemas.openxmlformats.org/officeDocument/2006/math">
                    <m:r>
                      <a:rPr lang="ja-JP" altLang="en-US" sz="1800" i="1"/>
                      <m:t>𝑢</m:t>
                    </m:r>
                    <m:r>
                      <a:rPr lang="ja-JP" altLang="en-US" sz="1800"/>
                      <m:t>∈</m:t>
                    </m:r>
                    <m:sSubSup>
                      <m:sSubSupPr>
                        <m:ctrlPr>
                          <a:rPr lang="ja-JP" altLang="en-US" sz="1800" i="1"/>
                        </m:ctrlPr>
                      </m:sSubSupPr>
                      <m:e>
                        <m:r>
                          <a:rPr lang="ja-JP" altLang="en-US" sz="1800" i="1"/>
                          <m:t>𝐻</m:t>
                        </m:r>
                      </m:e>
                      <m:sub>
                        <m:r>
                          <a:rPr lang="en-US" altLang="ja-JP" sz="1800"/>
                          <m:t>0</m:t>
                        </m:r>
                      </m:sub>
                      <m:sup>
                        <m:r>
                          <a:rPr lang="en-US" altLang="ja-JP" sz="1800"/>
                          <m:t>1</m:t>
                        </m:r>
                      </m:sup>
                    </m:sSubSup>
                    <m:d>
                      <m:dPr>
                        <m:ctrlPr>
                          <a:rPr lang="ja-JP" altLang="en-US" sz="1800" i="1"/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altLang="ja-JP" sz="1800"/>
                          <m:t>Ω</m:t>
                        </m:r>
                      </m:e>
                    </m:d>
                    <m:r>
                      <a:rPr lang="en-US" altLang="ja-JP" sz="1800"/>
                      <m:t>,</m:t>
                    </m:r>
                  </m:oMath>
                </a14:m>
                <a:r>
                  <a:rPr lang="en-US" altLang="ja-JP" sz="1800" dirty="0"/>
                  <a:t> </a:t>
                </a:r>
                <a:r>
                  <a:rPr lang="ja-JP" altLang="ja-JP" sz="1800" dirty="0"/>
                  <a:t>使得对所有测试函数</a:t>
                </a:r>
                <a14:m>
                  <m:oMath xmlns:m="http://schemas.openxmlformats.org/officeDocument/2006/math">
                    <m:r>
                      <a:rPr lang="ja-JP" altLang="en-US" sz="1800" i="1"/>
                      <m:t>𝜑</m:t>
                    </m:r>
                    <m:r>
                      <a:rPr lang="ja-JP" altLang="en-US" sz="1800"/>
                      <m:t>∈</m:t>
                    </m:r>
                    <m:sSubSup>
                      <m:sSubSupPr>
                        <m:ctrlPr>
                          <a:rPr lang="ja-JP" altLang="en-US" sz="1800" i="1"/>
                        </m:ctrlPr>
                      </m:sSubSupPr>
                      <m:e>
                        <m:r>
                          <a:rPr lang="ja-JP" altLang="en-US" sz="1800" i="1"/>
                          <m:t>𝐻</m:t>
                        </m:r>
                      </m:e>
                      <m:sub>
                        <m:r>
                          <a:rPr lang="en-US" altLang="ja-JP" sz="1800"/>
                          <m:t>0</m:t>
                        </m:r>
                      </m:sub>
                      <m:sup>
                        <m:r>
                          <a:rPr lang="en-US" altLang="ja-JP" sz="1800"/>
                          <m:t>1</m:t>
                        </m:r>
                      </m:sup>
                    </m:sSubSup>
                    <m:d>
                      <m:dPr>
                        <m:ctrlPr>
                          <a:rPr lang="ja-JP" altLang="en-US" sz="1800" i="1"/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altLang="ja-JP" sz="1800"/>
                          <m:t>Ω</m:t>
                        </m:r>
                      </m:e>
                    </m:d>
                    <m:r>
                      <a:rPr lang="en-US" altLang="ja-JP" sz="1800"/>
                      <m:t>,</m:t>
                    </m:r>
                  </m:oMath>
                </a14:m>
                <a:r>
                  <a:rPr lang="en-US" altLang="ja-JP" sz="1800" dirty="0"/>
                  <a:t> </a:t>
                </a:r>
                <a:r>
                  <a:rPr lang="ja-JP" altLang="ja-JP" sz="1800" dirty="0"/>
                  <a:t>都有：</a:t>
                </a:r>
                <a14:m>
                  <m:oMath xmlns:m="http://schemas.openxmlformats.org/officeDocument/2006/math">
                    <m:nary>
                      <m:naryPr>
                        <m:grow m:val="on"/>
                        <m:supHide m:val="on"/>
                        <m:ctrlPr>
                          <a:rPr lang="ja-JP" altLang="en-US" sz="1800"/>
                        </m:ctrlPr>
                      </m:naryPr>
                      <m:sub>
                        <m:r>
                          <m:rPr>
                            <m:sty m:val="p"/>
                          </m:rPr>
                          <a:rPr lang="en-US" altLang="ja-JP" sz="1800"/>
                          <m:t>Ω</m:t>
                        </m:r>
                      </m:sub>
                      <m:sup/>
                      <m:e>
                        <m:r>
                          <m:rPr>
                            <m:sty m:val="p"/>
                          </m:rPr>
                          <a:rPr lang="ja-JP" altLang="en-US" sz="1800"/>
                          <m:t>∇</m:t>
                        </m:r>
                      </m:e>
                    </m:nary>
                    <m:r>
                      <a:rPr lang="ja-JP" altLang="en-US" sz="1800" i="1"/>
                      <m:t>𝑢</m:t>
                    </m:r>
                    <m:r>
                      <a:rPr lang="ja-JP" altLang="en-US" sz="1800"/>
                      <m:t>⋅</m:t>
                    </m:r>
                    <m:r>
                      <m:rPr>
                        <m:sty m:val="p"/>
                      </m:rPr>
                      <a:rPr lang="ja-JP" altLang="en-US" sz="1800"/>
                      <m:t>∇</m:t>
                    </m:r>
                    <m:r>
                      <a:rPr lang="ja-JP" altLang="en-US" sz="1800" i="1"/>
                      <m:t>𝜑</m:t>
                    </m:r>
                    <m:r>
                      <m:rPr>
                        <m:nor/>
                      </m:rPr>
                      <a:rPr lang="ja-JP" altLang="en-US" sz="1800" i="1"/>
                      <m:t> </m:t>
                    </m:r>
                    <m:r>
                      <a:rPr lang="ja-JP" altLang="en-US" sz="1800" i="1"/>
                      <m:t>𝑑𝑥</m:t>
                    </m:r>
                    <m:r>
                      <a:rPr lang="en-US" altLang="ja-JP" sz="1800"/>
                      <m:t>=</m:t>
                    </m:r>
                    <m:nary>
                      <m:naryPr>
                        <m:grow m:val="on"/>
                        <m:supHide m:val="on"/>
                        <m:ctrlPr>
                          <a:rPr lang="ja-JP" altLang="en-US" sz="1800" i="1"/>
                        </m:ctrlPr>
                      </m:naryPr>
                      <m:sub>
                        <m:r>
                          <m:rPr>
                            <m:sty m:val="p"/>
                          </m:rPr>
                          <a:rPr lang="en-US" altLang="ja-JP" sz="1800"/>
                          <m:t>Ω</m:t>
                        </m:r>
                      </m:sub>
                      <m:sup/>
                      <m:e>
                        <m:r>
                          <a:rPr lang="ja-JP" altLang="en-US" sz="1800" i="1"/>
                          <m:t>𝑓</m:t>
                        </m:r>
                      </m:e>
                    </m:nary>
                    <m:r>
                      <a:rPr lang="ja-JP" altLang="en-US" sz="1800" i="1"/>
                      <m:t>𝜑</m:t>
                    </m:r>
                    <m:r>
                      <m:rPr>
                        <m:nor/>
                      </m:rPr>
                      <a:rPr lang="ja-JP" altLang="en-US" sz="1800" i="1"/>
                      <m:t> </m:t>
                    </m:r>
                    <m:r>
                      <a:rPr lang="ja-JP" altLang="en-US" sz="1800" i="1"/>
                      <m:t>𝑑𝑥</m:t>
                    </m:r>
                    <m:r>
                      <a:rPr lang="en-US" altLang="ja-JP" sz="1800"/>
                      <m:t>.</m:t>
                    </m:r>
                  </m:oMath>
                </a14:m>
                <a:r>
                  <a:rPr lang="en-US" altLang="ja-JP" sz="1800" b="0" dirty="0"/>
                  <a:t> </a:t>
                </a:r>
                <a:r>
                  <a:rPr lang="ja-JP" altLang="ja-JP" sz="1800" dirty="0"/>
                  <a:t>这就是弱解。</a:t>
                </a:r>
              </a:p>
              <a:p>
                <a:pPr marL="0" indent="0">
                  <a:buNone/>
                </a:pPr>
                <a:endParaRPr lang="ja-JP" altLang="ja-JP" sz="1800" dirty="0"/>
              </a:p>
            </p:txBody>
          </p:sp>
        </mc:Choice>
        <mc:Fallback>
          <p:sp>
            <p:nvSpPr>
              <p:cNvPr id="12" name="コンテンツ プレースホルダー 2">
                <a:extLst>
                  <a:ext uri="{FF2B5EF4-FFF2-40B4-BE49-F238E27FC236}">
                    <a16:creationId xmlns:a16="http://schemas.microsoft.com/office/drawing/2014/main" id="{F0AE5E8D-7351-C21F-AFF1-9689DCE40A4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09880" y="1183640"/>
                <a:ext cx="11572240" cy="5440680"/>
              </a:xfrm>
              <a:blipFill>
                <a:blip r:embed="rId4"/>
                <a:stretch>
                  <a:fillRect l="-632" t="-9966" r="-316" b="-10862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428622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B5AB47-BDF5-1C2D-BDE9-855BA77E9A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6626" name="Rectangle 2">
                <a:extLst>
                  <a:ext uri="{FF2B5EF4-FFF2-40B4-BE49-F238E27FC236}">
                    <a16:creationId xmlns:a16="http://schemas.microsoft.com/office/drawing/2014/main" id="{632A6A70-89BD-6215-C1A5-6A311086B775}"/>
                  </a:ext>
                </a:extLst>
              </p:cNvPr>
              <p:cNvSpPr>
                <a:spLocks noGrp="1" noChangeArrowheads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ja-JP" altLang="ja-JP" b="1" dirty="0"/>
                  <a:t>几何：</a:t>
                </a:r>
                <a14:m>
                  <m:oMath xmlns:m="http://schemas.openxmlformats.org/officeDocument/2006/math">
                    <m:r>
                      <a:rPr lang="ja-JP" altLang="en-US" b="1" i="1">
                        <a:latin typeface="Cambria Math" panose="02040503050406030204" pitchFamily="18" charset="0"/>
                      </a:rPr>
                      <m:t>𝒅</m:t>
                    </m:r>
                    <m:sSub>
                      <m:sSubPr>
                        <m:ctrlPr>
                          <a:rPr lang="ja-JP" altLang="en-US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ja-JP" altLang="en-US" b="1" i="1">
                            <a:latin typeface="Cambria Math" panose="02040503050406030204" pitchFamily="18" charset="0"/>
                          </a:rPr>
                          <m:t>𝒇</m:t>
                        </m:r>
                      </m:e>
                      <m:sub>
                        <m:r>
                          <a:rPr lang="ja-JP" altLang="en-US" b="1" i="1">
                            <a:latin typeface="Cambria Math" panose="02040503050406030204" pitchFamily="18" charset="0"/>
                          </a:rPr>
                          <m:t>𝒑</m:t>
                        </m:r>
                      </m:sub>
                    </m:sSub>
                    <m:d>
                      <m:dPr>
                        <m:ctrlPr>
                          <a:rPr lang="ja-JP" altLang="en-US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ja-JP" altLang="en-US" b="1" i="1">
                            <a:latin typeface="Cambria Math" panose="02040503050406030204" pitchFamily="18" charset="0"/>
                          </a:rPr>
                          <m:t>𝒗</m:t>
                        </m:r>
                      </m:e>
                    </m:d>
                    <m:r>
                      <a:rPr lang="en-US" altLang="ja-JP" b="1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ja-JP" altLang="ja-JP" b="1" dirty="0"/>
                  <a:t>微分是作用在切向量上的线性函数</a:t>
                </a:r>
              </a:p>
            </p:txBody>
          </p:sp>
        </mc:Choice>
        <mc:Fallback xmlns="">
          <p:sp>
            <p:nvSpPr>
              <p:cNvPr id="26626" name="Rectangle 2">
                <a:extLst>
                  <a:ext uri="{FF2B5EF4-FFF2-40B4-BE49-F238E27FC236}">
                    <a16:creationId xmlns:a16="http://schemas.microsoft.com/office/drawing/2014/main" id="{632A6A70-89BD-6215-C1A5-6A311086B77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3"/>
                <a:stretch>
                  <a:fillRect l="-826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コンテンツ プレースホルダー 2">
                <a:extLst>
                  <a:ext uri="{FF2B5EF4-FFF2-40B4-BE49-F238E27FC236}">
                    <a16:creationId xmlns:a16="http://schemas.microsoft.com/office/drawing/2014/main" id="{82771F2A-3CA8-A6C3-9A23-45A1E400F02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09880" y="1183640"/>
                <a:ext cx="11572240" cy="5440680"/>
              </a:xfrm>
            </p:spPr>
            <p:txBody>
              <a:bodyPr/>
              <a:lstStyle/>
              <a:p>
                <a:pPr marL="457200" indent="-457200">
                  <a:buFont typeface="+mj-lt"/>
                  <a:buAutoNum type="arabicPeriod" startAt="3"/>
                </a:pPr>
                <a:r>
                  <a:rPr lang="ja-JP" altLang="ja-JP" sz="1800" dirty="0"/>
                  <a:t>几何：</a:t>
                </a:r>
                <a14:m>
                  <m:oMath xmlns:m="http://schemas.openxmlformats.org/officeDocument/2006/math">
                    <m:r>
                      <a:rPr lang="ja-JP" altLang="en-US" sz="1800" i="1">
                        <a:latin typeface="Cambria Math" panose="02040503050406030204" pitchFamily="18" charset="0"/>
                      </a:rPr>
                      <m:t>𝑑</m:t>
                    </m:r>
                    <m:sSub>
                      <m:sSubPr>
                        <m:ctrlPr>
                          <a:rPr lang="ja-JP" altLang="en-US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ja-JP" altLang="en-US" sz="1800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ja-JP" altLang="en-US" sz="1800" i="1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  <m:d>
                      <m:dPr>
                        <m:ctrlPr>
                          <a:rPr lang="ja-JP" altLang="en-US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ja-JP" altLang="en-US" sz="1800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d>
                    <m:r>
                      <a:rPr lang="en-US" altLang="ja-JP" sz="18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ja-JP" altLang="ja-JP" sz="1800" dirty="0"/>
                  <a:t>微分是作用在切向量上的线性函数。</a:t>
                </a:r>
                <a:endParaRPr lang="en-US" altLang="ja-JP" sz="1800" dirty="0"/>
              </a:p>
              <a:p>
                <a:pPr marL="0" indent="0">
                  <a:buNone/>
                </a:pPr>
                <a:r>
                  <a:rPr lang="ja-JP" altLang="ja-JP" sz="1800" dirty="0"/>
                  <a:t>在微分几何中，</a:t>
                </a:r>
                <a14:m>
                  <m:oMath xmlns:m="http://schemas.openxmlformats.org/officeDocument/2006/math">
                    <m:r>
                      <a:rPr lang="ja-JP" altLang="en-US" sz="1800" i="1"/>
                      <m:t>𝑑</m:t>
                    </m:r>
                    <m:sSub>
                      <m:sSubPr>
                        <m:ctrlPr>
                          <a:rPr lang="ja-JP" altLang="en-US" sz="1800" i="1"/>
                        </m:ctrlPr>
                      </m:sSubPr>
                      <m:e>
                        <m:r>
                          <a:rPr lang="ja-JP" altLang="en-US" sz="1800" i="1"/>
                          <m:t>𝑓</m:t>
                        </m:r>
                      </m:e>
                      <m:sub>
                        <m:r>
                          <a:rPr lang="ja-JP" altLang="en-US" sz="1800" i="1"/>
                          <m:t>𝑝</m:t>
                        </m:r>
                      </m:sub>
                    </m:sSub>
                  </m:oMath>
                </a14:m>
                <a:r>
                  <a:rPr lang="ja-JP" altLang="ja-JP" sz="1800" dirty="0"/>
                  <a:t> 不是普通的数，也不是普通向量，而是一个作用在切向量 </a:t>
                </a:r>
                <a14:m>
                  <m:oMath xmlns:m="http://schemas.openxmlformats.org/officeDocument/2006/math">
                    <m:r>
                      <a:rPr lang="ja-JP" altLang="en-US" sz="1800" i="1"/>
                      <m:t>𝑣</m:t>
                    </m:r>
                  </m:oMath>
                </a14:m>
                <a:r>
                  <a:rPr lang="ja-JP" altLang="ja-JP" sz="1800" dirty="0"/>
                  <a:t>上的线性函数。</a:t>
                </a:r>
                <a:br>
                  <a:rPr lang="ja-JP" altLang="ja-JP" sz="1800" dirty="0"/>
                </a:br>
                <a:r>
                  <a:rPr lang="ja-JP" altLang="ja-JP" sz="1800" dirty="0"/>
                  <a:t>因此</a:t>
                </a:r>
                <a14:m>
                  <m:oMath xmlns:m="http://schemas.openxmlformats.org/officeDocument/2006/math">
                    <m:r>
                      <a:rPr lang="ja-JP" altLang="en-US" sz="1800" i="1"/>
                      <m:t>𝑑</m:t>
                    </m:r>
                    <m:sSub>
                      <m:sSubPr>
                        <m:ctrlPr>
                          <a:rPr lang="ja-JP" altLang="en-US" sz="1800" i="1"/>
                        </m:ctrlPr>
                      </m:sSubPr>
                      <m:e>
                        <m:r>
                          <a:rPr lang="ja-JP" altLang="en-US" sz="1800" i="1"/>
                          <m:t>𝑓</m:t>
                        </m:r>
                      </m:e>
                      <m:sub>
                        <m:r>
                          <a:rPr lang="ja-JP" altLang="en-US" sz="1800" i="1"/>
                          <m:t>𝑝</m:t>
                        </m:r>
                      </m:sub>
                    </m:sSub>
                    <m:r>
                      <a:rPr lang="ja-JP" altLang="en-US" sz="1800"/>
                      <m:t>∈</m:t>
                    </m:r>
                    <m:sSubSup>
                      <m:sSubSupPr>
                        <m:ctrlPr>
                          <a:rPr lang="ja-JP" altLang="en-US" sz="1800" i="1"/>
                        </m:ctrlPr>
                      </m:sSubSupPr>
                      <m:e>
                        <m:r>
                          <a:rPr lang="ja-JP" altLang="en-US" sz="1800" i="1"/>
                          <m:t>𝑇</m:t>
                        </m:r>
                      </m:e>
                      <m:sub>
                        <m:r>
                          <a:rPr lang="ja-JP" altLang="en-US" sz="1800" i="1"/>
                          <m:t>𝑝</m:t>
                        </m:r>
                      </m:sub>
                      <m:sup>
                        <m:r>
                          <a:rPr lang="ja-JP" altLang="en-US" sz="1800"/>
                          <m:t>∗</m:t>
                        </m:r>
                      </m:sup>
                    </m:sSubSup>
                    <m:r>
                      <a:rPr lang="ja-JP" altLang="en-US" sz="1800" i="1"/>
                      <m:t>𝑀</m:t>
                    </m:r>
                  </m:oMath>
                </a14:m>
                <a:r>
                  <a:rPr lang="ja-JP" altLang="ja-JP" sz="1800" dirty="0"/>
                  <a:t>是余切向量，也就是切空间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ja-JP" altLang="en-US" sz="1800"/>
                        </m:ctrlPr>
                      </m:sSubPr>
                      <m:e>
                        <m:r>
                          <a:rPr lang="ja-JP" altLang="en-US" sz="1800" i="1"/>
                          <m:t>𝑇</m:t>
                        </m:r>
                      </m:e>
                      <m:sub>
                        <m:r>
                          <a:rPr lang="ja-JP" altLang="en-US" sz="1800" i="1"/>
                          <m:t>𝑝</m:t>
                        </m:r>
                      </m:sub>
                    </m:sSub>
                    <m:r>
                      <a:rPr lang="ja-JP" altLang="en-US" sz="1800" i="1"/>
                      <m:t>𝑀</m:t>
                    </m:r>
                  </m:oMath>
                </a14:m>
                <a:r>
                  <a:rPr lang="ja-JP" altLang="ja-JP" sz="1800" dirty="0"/>
                  <a:t>的对偶空间中的元素。</a:t>
                </a:r>
                <a:endParaRPr lang="en-US" altLang="ja-JP" sz="1800" dirty="0"/>
              </a:p>
              <a:p>
                <a:pPr marL="0" indent="0">
                  <a:buNone/>
                </a:pPr>
                <a:r>
                  <a:rPr lang="ja-JP" altLang="ja-JP" sz="1800" dirty="0"/>
                  <a:t>考虑：</a:t>
                </a:r>
                <a14:m>
                  <m:oMath xmlns:m="http://schemas.openxmlformats.org/officeDocument/2006/math">
                    <m:r>
                      <a:rPr lang="ja-JP" altLang="en-US" sz="1800" i="1"/>
                      <m:t>𝑓</m:t>
                    </m:r>
                    <m:r>
                      <a:rPr lang="en-US" altLang="ja-JP" sz="1800"/>
                      <m:t>:</m:t>
                    </m:r>
                    <m:sSup>
                      <m:sSupPr>
                        <m:ctrlPr>
                          <a:rPr lang="ja-JP" altLang="en-US" sz="1800" i="1"/>
                        </m:ctrlPr>
                      </m:sSupPr>
                      <m:e>
                        <m:r>
                          <a:rPr lang="en-US" altLang="ja-JP" sz="1800"/>
                          <m:t>ℝ</m:t>
                        </m:r>
                      </m:e>
                      <m:sup>
                        <m:r>
                          <a:rPr lang="ja-JP" altLang="en-US" sz="1800" i="1"/>
                          <m:t>𝑛</m:t>
                        </m:r>
                      </m:sup>
                    </m:sSup>
                    <m:r>
                      <a:rPr lang="ja-JP" altLang="en-US" sz="1800"/>
                      <m:t>→</m:t>
                    </m:r>
                    <m:r>
                      <a:rPr lang="en-US" altLang="ja-JP" sz="1800"/>
                      <m:t>ℝ</m:t>
                    </m:r>
                    <m:r>
                      <a:rPr lang="en-US" altLang="ja-JP" sz="1800"/>
                      <m:t>.</m:t>
                    </m:r>
                  </m:oMath>
                </a14:m>
                <a:r>
                  <a:rPr lang="en-US" altLang="ja-JP" sz="1800" dirty="0"/>
                  <a:t> </a:t>
                </a:r>
                <a:r>
                  <a:rPr lang="ja-JP" altLang="ja-JP" sz="1800" dirty="0"/>
                  <a:t>在点 </a:t>
                </a:r>
                <a14:m>
                  <m:oMath xmlns:m="http://schemas.openxmlformats.org/officeDocument/2006/math">
                    <m:r>
                      <a:rPr lang="ja-JP" altLang="en-US" sz="1800" i="1"/>
                      <m:t>𝑝</m:t>
                    </m:r>
                    <m:r>
                      <a:rPr lang="ja-JP" altLang="en-US" sz="1800"/>
                      <m:t>∈</m:t>
                    </m:r>
                    <m:sSup>
                      <m:sSupPr>
                        <m:ctrlPr>
                          <a:rPr lang="ja-JP" altLang="en-US" sz="1800" i="1"/>
                        </m:ctrlPr>
                      </m:sSupPr>
                      <m:e>
                        <m:r>
                          <a:rPr lang="en-US" altLang="ja-JP" sz="1800"/>
                          <m:t>ℝ</m:t>
                        </m:r>
                      </m:e>
                      <m:sup>
                        <m:r>
                          <a:rPr lang="ja-JP" altLang="en-US" sz="1800" i="1"/>
                          <m:t>𝑛</m:t>
                        </m:r>
                      </m:sup>
                    </m:sSup>
                  </m:oMath>
                </a14:m>
                <a:r>
                  <a:rPr lang="ja-JP" altLang="ja-JP" sz="1800" dirty="0"/>
                  <a:t>处，方向向量是：</a:t>
                </a:r>
                <a14:m>
                  <m:oMath xmlns:m="http://schemas.openxmlformats.org/officeDocument/2006/math">
                    <m:r>
                      <a:rPr lang="ja-JP" altLang="en-US" sz="1800" i="1"/>
                      <m:t>𝑣</m:t>
                    </m:r>
                    <m:r>
                      <a:rPr lang="ja-JP" altLang="en-US" sz="1800"/>
                      <m:t>∈</m:t>
                    </m:r>
                    <m:sSup>
                      <m:sSupPr>
                        <m:ctrlPr>
                          <a:rPr lang="ja-JP" altLang="en-US" sz="1800" i="1"/>
                        </m:ctrlPr>
                      </m:sSupPr>
                      <m:e>
                        <m:r>
                          <a:rPr lang="en-US" altLang="ja-JP" sz="1800"/>
                          <m:t>ℝ</m:t>
                        </m:r>
                      </m:e>
                      <m:sup>
                        <m:r>
                          <a:rPr lang="ja-JP" altLang="en-US" sz="1800" i="1"/>
                          <m:t>𝑛</m:t>
                        </m:r>
                      </m:sup>
                    </m:sSup>
                    <m:r>
                      <a:rPr lang="en-US" altLang="ja-JP" sz="1800"/>
                      <m:t>.</m:t>
                    </m:r>
                  </m:oMath>
                </a14:m>
                <a:r>
                  <a:rPr lang="en-US" altLang="ja-JP" sz="1800" dirty="0"/>
                  <a:t> </a:t>
                </a:r>
                <a:r>
                  <a:rPr lang="ja-JP" altLang="ja-JP" sz="1800" dirty="0"/>
                  <a:t>看</a:t>
                </a:r>
                <a14:m>
                  <m:oMath xmlns:m="http://schemas.openxmlformats.org/officeDocument/2006/math">
                    <m:r>
                      <a:rPr lang="ja-JP" altLang="en-US" sz="1800" i="1"/>
                      <m:t>𝑝</m:t>
                    </m:r>
                    <m:r>
                      <a:rPr lang="en-US" altLang="ja-JP" sz="1800"/>
                      <m:t>+</m:t>
                    </m:r>
                    <m:r>
                      <a:rPr lang="ja-JP" altLang="en-US" sz="1800" i="1"/>
                      <m:t>𝜀</m:t>
                    </m:r>
                    <m:r>
                      <a:rPr lang="ja-JP" altLang="en-US" sz="1800" i="1"/>
                      <m:t>𝑣</m:t>
                    </m:r>
                    <m:r>
                      <a:rPr lang="en-US" altLang="ja-JP" sz="1800"/>
                      <m:t>.</m:t>
                    </m:r>
                  </m:oMath>
                </a14:m>
                <a:r>
                  <a:rPr lang="en-US" altLang="ja-JP" sz="1800" dirty="0"/>
                  <a:t> </a:t>
                </a:r>
                <a:r>
                  <a:rPr lang="ja-JP" altLang="ja-JP" sz="1800" dirty="0"/>
                  <a:t>一阶展开为：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ja-JP" altLang="en-US" sz="1800" i="1"/>
                        <m:t>𝑓</m:t>
                      </m:r>
                      <m:d>
                        <m:dPr>
                          <m:ctrlPr>
                            <a:rPr lang="ja-JP" altLang="en-US" sz="1800" i="1"/>
                          </m:ctrlPr>
                        </m:dPr>
                        <m:e>
                          <m:r>
                            <a:rPr lang="ja-JP" altLang="en-US" sz="1800" i="1"/>
                            <m:t>𝑝</m:t>
                          </m:r>
                          <m:r>
                            <a:rPr lang="en-US" altLang="ja-JP" sz="1800"/>
                            <m:t>+</m:t>
                          </m:r>
                          <m:r>
                            <a:rPr lang="ja-JP" altLang="en-US" sz="1800" i="1"/>
                            <m:t>𝜀</m:t>
                          </m:r>
                          <m:r>
                            <a:rPr lang="ja-JP" altLang="en-US" sz="1800" i="1"/>
                            <m:t>𝑣</m:t>
                          </m:r>
                        </m:e>
                      </m:d>
                      <m:r>
                        <a:rPr lang="en-US" altLang="ja-JP" sz="1800"/>
                        <m:t>=</m:t>
                      </m:r>
                      <m:r>
                        <a:rPr lang="ja-JP" altLang="en-US" sz="1800" i="1"/>
                        <m:t>𝑓</m:t>
                      </m:r>
                      <m:d>
                        <m:dPr>
                          <m:ctrlPr>
                            <a:rPr lang="ja-JP" altLang="en-US" sz="1800" i="1"/>
                          </m:ctrlPr>
                        </m:dPr>
                        <m:e>
                          <m:r>
                            <a:rPr lang="ja-JP" altLang="en-US" sz="1800" i="1"/>
                            <m:t>𝑝</m:t>
                          </m:r>
                        </m:e>
                      </m:d>
                      <m:r>
                        <a:rPr lang="en-US" altLang="ja-JP" sz="1800"/>
                        <m:t>+</m:t>
                      </m:r>
                      <m:r>
                        <a:rPr lang="ja-JP" altLang="en-US" sz="1800" i="1"/>
                        <m:t>𝜀</m:t>
                      </m:r>
                      <m:r>
                        <a:rPr lang="ja-JP" altLang="en-US" sz="1800" i="1"/>
                        <m:t>𝑑</m:t>
                      </m:r>
                      <m:sSub>
                        <m:sSubPr>
                          <m:ctrlPr>
                            <a:rPr lang="ja-JP" altLang="en-US" sz="1800" i="1"/>
                          </m:ctrlPr>
                        </m:sSubPr>
                        <m:e>
                          <m:r>
                            <a:rPr lang="ja-JP" altLang="en-US" sz="1800" i="1"/>
                            <m:t>𝑓</m:t>
                          </m:r>
                        </m:e>
                        <m:sub>
                          <m:r>
                            <a:rPr lang="ja-JP" altLang="en-US" sz="1800" i="1"/>
                            <m:t>𝑝</m:t>
                          </m:r>
                        </m:sub>
                      </m:sSub>
                      <m:d>
                        <m:dPr>
                          <m:ctrlPr>
                            <a:rPr lang="ja-JP" altLang="en-US" sz="1800" i="1"/>
                          </m:ctrlPr>
                        </m:dPr>
                        <m:e>
                          <m:r>
                            <a:rPr lang="ja-JP" altLang="en-US" sz="1800" i="1"/>
                            <m:t>𝑣</m:t>
                          </m:r>
                        </m:e>
                      </m:d>
                      <m:r>
                        <a:rPr lang="en-US" altLang="ja-JP" sz="1800"/>
                        <m:t>+</m:t>
                      </m:r>
                      <m:r>
                        <a:rPr lang="ja-JP" altLang="en-US" sz="1800" i="1"/>
                        <m:t>𝑜</m:t>
                      </m:r>
                      <m:d>
                        <m:dPr>
                          <m:ctrlPr>
                            <a:rPr lang="ja-JP" altLang="en-US" sz="1800" i="1"/>
                          </m:ctrlPr>
                        </m:dPr>
                        <m:e>
                          <m:r>
                            <a:rPr lang="ja-JP" altLang="en-US" sz="1800" i="1"/>
                            <m:t>𝜀</m:t>
                          </m:r>
                        </m:e>
                      </m:d>
                      <m:r>
                        <a:rPr lang="en-US" altLang="ja-JP" sz="1800"/>
                        <m:t>.</m:t>
                      </m:r>
                    </m:oMath>
                  </m:oMathPara>
                </a14:m>
                <a:endParaRPr lang="en-US" altLang="ja-JP" sz="1800" dirty="0"/>
              </a:p>
              <a:p>
                <a:pPr marL="0" indent="0">
                  <a:buNone/>
                </a:pPr>
                <a:r>
                  <a:rPr lang="ja-JP" altLang="ja-JP" sz="1800" dirty="0"/>
                  <a:t>其中：</a:t>
                </a:r>
                <a14:m>
                  <m:oMath xmlns:m="http://schemas.openxmlformats.org/officeDocument/2006/math">
                    <m:r>
                      <a:rPr lang="ja-JP" altLang="en-US" sz="1800" i="1"/>
                      <m:t>𝑑</m:t>
                    </m:r>
                    <m:sSub>
                      <m:sSubPr>
                        <m:ctrlPr>
                          <a:rPr lang="ja-JP" altLang="en-US" sz="1800" i="1"/>
                        </m:ctrlPr>
                      </m:sSubPr>
                      <m:e>
                        <m:r>
                          <a:rPr lang="ja-JP" altLang="en-US" sz="1800" i="1"/>
                          <m:t>𝑓</m:t>
                        </m:r>
                      </m:e>
                      <m:sub>
                        <m:r>
                          <a:rPr lang="ja-JP" altLang="en-US" sz="1800" i="1"/>
                          <m:t>𝑝</m:t>
                        </m:r>
                      </m:sub>
                    </m:sSub>
                    <m:d>
                      <m:dPr>
                        <m:ctrlPr>
                          <a:rPr lang="ja-JP" altLang="en-US" sz="1800" i="1"/>
                        </m:ctrlPr>
                      </m:dPr>
                      <m:e>
                        <m:r>
                          <a:rPr lang="ja-JP" altLang="en-US" sz="1800" i="1"/>
                          <m:t>𝑣</m:t>
                        </m:r>
                      </m:e>
                    </m:d>
                    <m:r>
                      <a:rPr lang="en-US" altLang="ja-JP" sz="1800"/>
                      <m:t>=</m:t>
                    </m:r>
                    <m:sSub>
                      <m:sSubPr>
                        <m:ctrlPr>
                          <a:rPr lang="ja-JP" altLang="en-US" sz="1800" i="1"/>
                        </m:ctrlPr>
                      </m:sSubPr>
                      <m:e>
                        <m:f>
                          <m:fPr>
                            <m:ctrlPr>
                              <a:rPr lang="ja-JP" altLang="en-US" sz="1800" i="1"/>
                            </m:ctrlPr>
                          </m:fPr>
                          <m:num>
                            <m:r>
                              <a:rPr lang="ja-JP" altLang="en-US" sz="1800" i="1"/>
                              <m:t>𝑑</m:t>
                            </m:r>
                          </m:num>
                          <m:den>
                            <m:r>
                              <a:rPr lang="ja-JP" altLang="en-US" sz="1800" i="1"/>
                              <m:t>𝑑</m:t>
                            </m:r>
                            <m:r>
                              <a:rPr lang="ja-JP" altLang="en-US" sz="1800" i="1"/>
                              <m:t>𝜀</m:t>
                            </m:r>
                          </m:den>
                        </m:f>
                        <m:r>
                          <a:rPr lang="ja-JP" altLang="en-US" sz="1800" i="1"/>
                          <m:t>𝑓</m:t>
                        </m:r>
                        <m:d>
                          <m:dPr>
                            <m:begChr m:val=""/>
                            <m:endChr m:val="∣"/>
                            <m:ctrlPr>
                              <a:rPr lang="ja-JP" altLang="en-US" sz="1800" i="1"/>
                            </m:ctrlPr>
                          </m:dPr>
                          <m:e>
                            <m:d>
                              <m:dPr>
                                <m:ctrlPr>
                                  <a:rPr lang="ja-JP" altLang="en-US" sz="1800" i="1"/>
                                </m:ctrlPr>
                              </m:dPr>
                              <m:e>
                                <m:r>
                                  <a:rPr lang="ja-JP" altLang="en-US" sz="1800" i="1"/>
                                  <m:t>𝑝</m:t>
                                </m:r>
                                <m:r>
                                  <a:rPr lang="en-US" altLang="ja-JP" sz="1800"/>
                                  <m:t>+</m:t>
                                </m:r>
                                <m:r>
                                  <a:rPr lang="ja-JP" altLang="en-US" sz="1800" i="1"/>
                                  <m:t>𝜀</m:t>
                                </m:r>
                                <m:r>
                                  <a:rPr lang="ja-JP" altLang="en-US" sz="1800" i="1"/>
                                  <m:t>𝑣</m:t>
                                </m:r>
                              </m:e>
                            </m:d>
                          </m:e>
                        </m:d>
                      </m:e>
                      <m:sub>
                        <m:r>
                          <a:rPr lang="ja-JP" altLang="en-US" sz="1800" i="1"/>
                          <m:t>𝜀</m:t>
                        </m:r>
                        <m:r>
                          <a:rPr lang="en-US" altLang="ja-JP" sz="1800"/>
                          <m:t>=0</m:t>
                        </m:r>
                      </m:sub>
                    </m:sSub>
                    <m:r>
                      <a:rPr lang="en-US" altLang="ja-JP" sz="1800"/>
                      <m:t>.</m:t>
                    </m:r>
                  </m:oMath>
                </a14:m>
                <a:endParaRPr lang="en-US" altLang="ja-JP" sz="1800" dirty="0"/>
              </a:p>
              <a:p>
                <a:pPr marL="0" indent="0">
                  <a:buNone/>
                </a:pPr>
                <a:r>
                  <a:rPr lang="ja-JP" altLang="ja-JP" sz="1800" dirty="0"/>
                  <a:t>写成坐标，设：</a:t>
                </a:r>
                <a14:m>
                  <m:oMath xmlns:m="http://schemas.openxmlformats.org/officeDocument/2006/math">
                    <m:r>
                      <a:rPr lang="ja-JP" altLang="en-US" sz="1800" i="1"/>
                      <m:t>𝑝</m:t>
                    </m:r>
                    <m:r>
                      <a:rPr lang="en-US" altLang="ja-JP" sz="1800"/>
                      <m:t>=</m:t>
                    </m:r>
                    <m:d>
                      <m:dPr>
                        <m:sepChr m:val=","/>
                        <m:ctrlPr>
                          <a:rPr lang="ja-JP" altLang="en-US" sz="1800" i="1"/>
                        </m:ctrlPr>
                      </m:dPr>
                      <m:e>
                        <m:sSup>
                          <m:sSupPr>
                            <m:ctrlPr>
                              <a:rPr lang="ja-JP" altLang="en-US" sz="1800" i="1"/>
                            </m:ctrlPr>
                          </m:sSupPr>
                          <m:e>
                            <m:r>
                              <a:rPr lang="ja-JP" altLang="en-US" sz="1800" i="1"/>
                              <m:t>𝑝</m:t>
                            </m:r>
                          </m:e>
                          <m:sup>
                            <m:r>
                              <a:rPr lang="en-US" altLang="ja-JP" sz="1800"/>
                              <m:t>1</m:t>
                            </m:r>
                          </m:sup>
                        </m:sSup>
                      </m:e>
                      <m:e>
                        <m:r>
                          <a:rPr lang="en-US" altLang="ja-JP" sz="1800"/>
                          <m:t>…</m:t>
                        </m:r>
                      </m:e>
                      <m:e>
                        <m:sSup>
                          <m:sSupPr>
                            <m:ctrlPr>
                              <a:rPr lang="ja-JP" altLang="en-US" sz="1800" i="1"/>
                            </m:ctrlPr>
                          </m:sSupPr>
                          <m:e>
                            <m:r>
                              <a:rPr lang="ja-JP" altLang="en-US" sz="1800" i="1"/>
                              <m:t>𝑝</m:t>
                            </m:r>
                          </m:e>
                          <m:sup>
                            <m:r>
                              <a:rPr lang="ja-JP" altLang="en-US" sz="1800" i="1"/>
                              <m:t>𝑛</m:t>
                            </m:r>
                          </m:sup>
                        </m:sSup>
                      </m:e>
                    </m:d>
                    <m:r>
                      <a:rPr lang="en-US" altLang="ja-JP" sz="1800"/>
                      <m:t>, </m:t>
                    </m:r>
                    <m:r>
                      <a:rPr lang="ja-JP" altLang="en-US" sz="1800" i="1"/>
                      <m:t>𝑣</m:t>
                    </m:r>
                    <m:r>
                      <a:rPr lang="en-US" altLang="ja-JP" sz="1800"/>
                      <m:t>=</m:t>
                    </m:r>
                    <m:d>
                      <m:dPr>
                        <m:sepChr m:val=","/>
                        <m:ctrlPr>
                          <a:rPr lang="ja-JP" altLang="en-US" sz="1800" i="1"/>
                        </m:ctrlPr>
                      </m:dPr>
                      <m:e>
                        <m:sSup>
                          <m:sSupPr>
                            <m:ctrlPr>
                              <a:rPr lang="ja-JP" altLang="en-US" sz="1800" i="1"/>
                            </m:ctrlPr>
                          </m:sSupPr>
                          <m:e>
                            <m:r>
                              <a:rPr lang="ja-JP" altLang="en-US" sz="1800" i="1"/>
                              <m:t>𝑣</m:t>
                            </m:r>
                          </m:e>
                          <m:sup>
                            <m:r>
                              <a:rPr lang="en-US" altLang="ja-JP" sz="1800"/>
                              <m:t>1</m:t>
                            </m:r>
                          </m:sup>
                        </m:sSup>
                      </m:e>
                      <m:e>
                        <m:r>
                          <a:rPr lang="en-US" altLang="ja-JP" sz="1800"/>
                          <m:t>…</m:t>
                        </m:r>
                      </m:e>
                      <m:e>
                        <m:sSup>
                          <m:sSupPr>
                            <m:ctrlPr>
                              <a:rPr lang="ja-JP" altLang="en-US" sz="1800" i="1"/>
                            </m:ctrlPr>
                          </m:sSupPr>
                          <m:e>
                            <m:r>
                              <a:rPr lang="ja-JP" altLang="en-US" sz="1800" i="1"/>
                              <m:t>𝑣</m:t>
                            </m:r>
                          </m:e>
                          <m:sup>
                            <m:r>
                              <a:rPr lang="ja-JP" altLang="en-US" sz="1800" i="1"/>
                              <m:t>𝑛</m:t>
                            </m:r>
                          </m:sup>
                        </m:sSup>
                      </m:e>
                    </m:d>
                    <m:r>
                      <a:rPr lang="en-US" altLang="ja-JP" sz="1800"/>
                      <m:t>,</m:t>
                    </m:r>
                  </m:oMath>
                </a14:m>
                <a:endParaRPr lang="en-US" altLang="ja-JP" sz="1800" dirty="0"/>
              </a:p>
              <a:p>
                <a:pPr marL="0" indent="0">
                  <a:buNone/>
                </a:pPr>
                <a:r>
                  <a:rPr lang="ja-JP" altLang="ja-JP" sz="1800" dirty="0"/>
                  <a:t>那么：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ja-JP" altLang="en-US" sz="1800" i="1"/>
                        <m:t>𝑑</m:t>
                      </m:r>
                      <m:sSub>
                        <m:sSubPr>
                          <m:ctrlPr>
                            <a:rPr lang="ja-JP" altLang="en-US" sz="1800" i="1"/>
                          </m:ctrlPr>
                        </m:sSubPr>
                        <m:e>
                          <m:r>
                            <a:rPr lang="ja-JP" altLang="en-US" sz="1800" i="1"/>
                            <m:t>𝑓</m:t>
                          </m:r>
                        </m:e>
                        <m:sub>
                          <m:r>
                            <a:rPr lang="ja-JP" altLang="en-US" sz="1800" i="1"/>
                            <m:t>𝑝</m:t>
                          </m:r>
                        </m:sub>
                      </m:sSub>
                      <m:d>
                        <m:dPr>
                          <m:ctrlPr>
                            <a:rPr lang="ja-JP" altLang="en-US" sz="1800" i="1"/>
                          </m:ctrlPr>
                        </m:dPr>
                        <m:e>
                          <m:r>
                            <a:rPr lang="ja-JP" altLang="en-US" sz="1800" i="1"/>
                            <m:t>𝑣</m:t>
                          </m:r>
                        </m:e>
                      </m:d>
                      <m:r>
                        <a:rPr lang="en-US" altLang="ja-JP" sz="1800"/>
                        <m:t>=</m:t>
                      </m:r>
                      <m:f>
                        <m:fPr>
                          <m:ctrlPr>
                            <a:rPr lang="ja-JP" altLang="en-US" sz="1800" i="1"/>
                          </m:ctrlPr>
                        </m:fPr>
                        <m:num>
                          <m:r>
                            <a:rPr lang="ja-JP" altLang="en-US" sz="1800"/>
                            <m:t>∂</m:t>
                          </m:r>
                          <m:r>
                            <a:rPr lang="ja-JP" altLang="en-US" sz="1800" i="1"/>
                            <m:t>𝑓</m:t>
                          </m:r>
                        </m:num>
                        <m:den>
                          <m:r>
                            <a:rPr lang="ja-JP" altLang="en-US" sz="1800"/>
                            <m:t>∂</m:t>
                          </m:r>
                          <m:sSup>
                            <m:sSupPr>
                              <m:ctrlPr>
                                <a:rPr lang="ja-JP" altLang="en-US" sz="1800" i="1"/>
                              </m:ctrlPr>
                            </m:sSupPr>
                            <m:e>
                              <m:r>
                                <a:rPr lang="ja-JP" altLang="en-US" sz="1800" i="1"/>
                                <m:t>𝑥</m:t>
                              </m:r>
                            </m:e>
                            <m:sup>
                              <m:r>
                                <a:rPr lang="en-US" altLang="ja-JP" sz="1800"/>
                                <m:t>1</m:t>
                              </m:r>
                            </m:sup>
                          </m:sSup>
                        </m:den>
                      </m:f>
                      <m:d>
                        <m:dPr>
                          <m:ctrlPr>
                            <a:rPr lang="ja-JP" altLang="en-US" sz="1800" i="1"/>
                          </m:ctrlPr>
                        </m:dPr>
                        <m:e>
                          <m:r>
                            <a:rPr lang="ja-JP" altLang="en-US" sz="1800" i="1"/>
                            <m:t>𝑝</m:t>
                          </m:r>
                        </m:e>
                      </m:d>
                      <m:sSup>
                        <m:sSupPr>
                          <m:ctrlPr>
                            <a:rPr lang="ja-JP" altLang="en-US" sz="1800" i="1"/>
                          </m:ctrlPr>
                        </m:sSupPr>
                        <m:e>
                          <m:r>
                            <a:rPr lang="ja-JP" altLang="en-US" sz="1800" i="1"/>
                            <m:t>𝑣</m:t>
                          </m:r>
                        </m:e>
                        <m:sup>
                          <m:r>
                            <a:rPr lang="en-US" altLang="ja-JP" sz="1800"/>
                            <m:t>1</m:t>
                          </m:r>
                        </m:sup>
                      </m:sSup>
                      <m:r>
                        <a:rPr lang="en-US" altLang="ja-JP" sz="1800"/>
                        <m:t>+⋯+</m:t>
                      </m:r>
                      <m:f>
                        <m:fPr>
                          <m:ctrlPr>
                            <a:rPr lang="ja-JP" altLang="en-US" sz="1800" i="1"/>
                          </m:ctrlPr>
                        </m:fPr>
                        <m:num>
                          <m:r>
                            <a:rPr lang="ja-JP" altLang="en-US" sz="1800"/>
                            <m:t>∂</m:t>
                          </m:r>
                          <m:r>
                            <a:rPr lang="ja-JP" altLang="en-US" sz="1800" i="1"/>
                            <m:t>𝑓</m:t>
                          </m:r>
                        </m:num>
                        <m:den>
                          <m:r>
                            <a:rPr lang="ja-JP" altLang="en-US" sz="1800"/>
                            <m:t>∂</m:t>
                          </m:r>
                          <m:sSup>
                            <m:sSupPr>
                              <m:ctrlPr>
                                <a:rPr lang="ja-JP" altLang="en-US" sz="1800" i="1"/>
                              </m:ctrlPr>
                            </m:sSupPr>
                            <m:e>
                              <m:r>
                                <a:rPr lang="ja-JP" altLang="en-US" sz="1800" i="1"/>
                                <m:t>𝑥</m:t>
                              </m:r>
                            </m:e>
                            <m:sup>
                              <m:r>
                                <a:rPr lang="ja-JP" altLang="en-US" sz="1800" i="1"/>
                                <m:t>𝑛</m:t>
                              </m:r>
                            </m:sup>
                          </m:sSup>
                        </m:den>
                      </m:f>
                      <m:d>
                        <m:dPr>
                          <m:ctrlPr>
                            <a:rPr lang="ja-JP" altLang="en-US" sz="1800" i="1"/>
                          </m:ctrlPr>
                        </m:dPr>
                        <m:e>
                          <m:r>
                            <a:rPr lang="ja-JP" altLang="en-US" sz="1800" i="1"/>
                            <m:t>𝑝</m:t>
                          </m:r>
                        </m:e>
                      </m:d>
                      <m:sSup>
                        <m:sSupPr>
                          <m:ctrlPr>
                            <a:rPr lang="ja-JP" altLang="en-US" sz="1800" i="1"/>
                          </m:ctrlPr>
                        </m:sSupPr>
                        <m:e>
                          <m:r>
                            <a:rPr lang="ja-JP" altLang="en-US" sz="1800" i="1"/>
                            <m:t>𝑣</m:t>
                          </m:r>
                        </m:e>
                        <m:sup>
                          <m:r>
                            <a:rPr lang="ja-JP" altLang="en-US" sz="1800" i="1"/>
                            <m:t>𝑛</m:t>
                          </m:r>
                        </m:sup>
                      </m:sSup>
                      <m:r>
                        <a:rPr lang="en-US" altLang="ja-JP" sz="1800"/>
                        <m:t>.</m:t>
                      </m:r>
                    </m:oMath>
                  </m:oMathPara>
                </a14:m>
                <a:endParaRPr lang="en-US" altLang="ja-JP" sz="1800" dirty="0"/>
              </a:p>
              <a:p>
                <a:pPr marL="0" indent="0">
                  <a:buNone/>
                </a:pPr>
                <a:r>
                  <a:rPr lang="ja-JP" altLang="ja-JP" sz="1800" dirty="0"/>
                  <a:t>也就是：</a:t>
                </a:r>
                <a14:m>
                  <m:oMath xmlns:m="http://schemas.openxmlformats.org/officeDocument/2006/math">
                    <m:r>
                      <a:rPr lang="ja-JP" altLang="en-US" sz="1800" i="1"/>
                      <m:t>𝑑</m:t>
                    </m:r>
                    <m:sSub>
                      <m:sSubPr>
                        <m:ctrlPr>
                          <a:rPr lang="ja-JP" altLang="en-US" sz="1800" i="1"/>
                        </m:ctrlPr>
                      </m:sSubPr>
                      <m:e>
                        <m:r>
                          <a:rPr lang="ja-JP" altLang="en-US" sz="1800" i="1"/>
                          <m:t>𝑓</m:t>
                        </m:r>
                      </m:e>
                      <m:sub>
                        <m:r>
                          <a:rPr lang="ja-JP" altLang="en-US" sz="1800" i="1"/>
                          <m:t>𝑝</m:t>
                        </m:r>
                      </m:sub>
                    </m:sSub>
                    <m:d>
                      <m:dPr>
                        <m:ctrlPr>
                          <a:rPr lang="ja-JP" altLang="en-US" sz="1800" i="1"/>
                        </m:ctrlPr>
                      </m:dPr>
                      <m:e>
                        <m:r>
                          <a:rPr lang="ja-JP" altLang="en-US" sz="1800" i="1"/>
                          <m:t>𝑣</m:t>
                        </m:r>
                      </m:e>
                    </m:d>
                    <m:r>
                      <a:rPr lang="en-US" altLang="ja-JP" sz="1800"/>
                      <m:t>=</m:t>
                    </m:r>
                    <m:nary>
                      <m:naryPr>
                        <m:chr m:val="∑"/>
                        <m:grow m:val="on"/>
                        <m:ctrlPr>
                          <a:rPr lang="ja-JP" altLang="en-US" sz="1800" i="1"/>
                        </m:ctrlPr>
                      </m:naryPr>
                      <m:sub>
                        <m:r>
                          <a:rPr lang="ja-JP" altLang="en-US" sz="1800" i="1"/>
                          <m:t>𝑖</m:t>
                        </m:r>
                        <m:r>
                          <a:rPr lang="en-US" altLang="ja-JP" sz="1800"/>
                          <m:t>=1</m:t>
                        </m:r>
                      </m:sub>
                      <m:sup>
                        <m:r>
                          <a:rPr lang="ja-JP" altLang="en-US" sz="1800" i="1"/>
                          <m:t>𝑛</m:t>
                        </m:r>
                      </m:sup>
                      <m:e>
                        <m:f>
                          <m:fPr>
                            <m:ctrlPr>
                              <a:rPr lang="ja-JP" altLang="en-US" sz="1800" i="1"/>
                            </m:ctrlPr>
                          </m:fPr>
                          <m:num>
                            <m:r>
                              <a:rPr lang="ja-JP" altLang="en-US" sz="1800"/>
                              <m:t>∂</m:t>
                            </m:r>
                            <m:r>
                              <a:rPr lang="ja-JP" altLang="en-US" sz="1800" i="1"/>
                              <m:t>𝑓</m:t>
                            </m:r>
                          </m:num>
                          <m:den>
                            <m:r>
                              <a:rPr lang="ja-JP" altLang="en-US" sz="1800"/>
                              <m:t>∂</m:t>
                            </m:r>
                            <m:sSup>
                              <m:sSupPr>
                                <m:ctrlPr>
                                  <a:rPr lang="ja-JP" altLang="en-US" sz="1800" i="1"/>
                                </m:ctrlPr>
                              </m:sSupPr>
                              <m:e>
                                <m:r>
                                  <a:rPr lang="ja-JP" altLang="en-US" sz="1800" i="1"/>
                                  <m:t>𝑥</m:t>
                                </m:r>
                              </m:e>
                              <m:sup>
                                <m:r>
                                  <a:rPr lang="ja-JP" altLang="en-US" sz="1800" i="1"/>
                                  <m:t>𝑖</m:t>
                                </m:r>
                              </m:sup>
                            </m:sSup>
                          </m:den>
                        </m:f>
                      </m:e>
                    </m:nary>
                    <m:d>
                      <m:dPr>
                        <m:ctrlPr>
                          <a:rPr lang="ja-JP" altLang="en-US" sz="1800" i="1"/>
                        </m:ctrlPr>
                      </m:dPr>
                      <m:e>
                        <m:r>
                          <a:rPr lang="ja-JP" altLang="en-US" sz="1800" i="1"/>
                          <m:t>𝑝</m:t>
                        </m:r>
                      </m:e>
                    </m:d>
                    <m:sSup>
                      <m:sSupPr>
                        <m:ctrlPr>
                          <a:rPr lang="ja-JP" altLang="en-US" sz="1800" i="1"/>
                        </m:ctrlPr>
                      </m:sSupPr>
                      <m:e>
                        <m:r>
                          <a:rPr lang="ja-JP" altLang="en-US" sz="1800" i="1"/>
                          <m:t>𝑣</m:t>
                        </m:r>
                      </m:e>
                      <m:sup>
                        <m:r>
                          <a:rPr lang="ja-JP" altLang="en-US" sz="1800" i="1"/>
                          <m:t>𝑖</m:t>
                        </m:r>
                      </m:sup>
                    </m:sSup>
                    <m:r>
                      <a:rPr lang="en-US" altLang="ja-JP" sz="1800"/>
                      <m:t>.</m:t>
                    </m:r>
                  </m:oMath>
                </a14:m>
                <a:r>
                  <a:rPr lang="en-US" altLang="ja-JP" sz="1800" dirty="0"/>
                  <a:t> </a:t>
                </a:r>
                <a:r>
                  <a:rPr lang="ja-JP" altLang="ja-JP" sz="1800" dirty="0"/>
                  <a:t>这说明固定 </a:t>
                </a:r>
                <a14:m>
                  <m:oMath xmlns:m="http://schemas.openxmlformats.org/officeDocument/2006/math">
                    <m:r>
                      <a:rPr lang="ja-JP" altLang="en-US" sz="1800" i="1"/>
                      <m:t>𝑝</m:t>
                    </m:r>
                  </m:oMath>
                </a14:m>
                <a:r>
                  <a:rPr lang="ja-JP" altLang="ja-JP" sz="1800" dirty="0"/>
                  <a:t>后：</a:t>
                </a:r>
                <a14:m>
                  <m:oMath xmlns:m="http://schemas.openxmlformats.org/officeDocument/2006/math">
                    <m:r>
                      <a:rPr lang="ja-JP" altLang="en-US" sz="1800" i="1"/>
                      <m:t>𝑣</m:t>
                    </m:r>
                    <m:r>
                      <a:rPr lang="ja-JP" altLang="en-US" sz="1800"/>
                      <m:t>↦</m:t>
                    </m:r>
                    <m:r>
                      <a:rPr lang="ja-JP" altLang="en-US" sz="1800" i="1"/>
                      <m:t>𝑑</m:t>
                    </m:r>
                    <m:sSub>
                      <m:sSubPr>
                        <m:ctrlPr>
                          <a:rPr lang="ja-JP" altLang="en-US" sz="1800" i="1"/>
                        </m:ctrlPr>
                      </m:sSubPr>
                      <m:e>
                        <m:r>
                          <a:rPr lang="ja-JP" altLang="en-US" sz="1800" i="1"/>
                          <m:t>𝑓</m:t>
                        </m:r>
                      </m:e>
                      <m:sub>
                        <m:r>
                          <a:rPr lang="ja-JP" altLang="en-US" sz="1800" i="1"/>
                          <m:t>𝑝</m:t>
                        </m:r>
                      </m:sub>
                    </m:sSub>
                    <m:d>
                      <m:dPr>
                        <m:ctrlPr>
                          <a:rPr lang="ja-JP" altLang="en-US" sz="1800" i="1"/>
                        </m:ctrlPr>
                      </m:dPr>
                      <m:e>
                        <m:r>
                          <a:rPr lang="ja-JP" altLang="en-US" sz="1800" i="1"/>
                          <m:t>𝑣</m:t>
                        </m:r>
                      </m:e>
                    </m:d>
                  </m:oMath>
                </a14:m>
                <a:r>
                  <a:rPr lang="en-US" altLang="ja-JP" sz="1800" dirty="0"/>
                  <a:t> </a:t>
                </a:r>
                <a:r>
                  <a:rPr lang="ja-JP" altLang="ja-JP" sz="1800" dirty="0"/>
                  <a:t>是线性的。</a:t>
                </a:r>
              </a:p>
              <a:p>
                <a:pPr marL="0" indent="0">
                  <a:buNone/>
                </a:pPr>
                <a:r>
                  <a:rPr lang="ja-JP" altLang="ja-JP" sz="1800" dirty="0"/>
                  <a:t>因为：</a:t>
                </a:r>
                <a14:m>
                  <m:oMath xmlns:m="http://schemas.openxmlformats.org/officeDocument/2006/math">
                    <m:r>
                      <a:rPr lang="ja-JP" altLang="en-US" sz="1800" i="1">
                        <a:latin typeface="Cambria Math" panose="02040503050406030204" pitchFamily="18" charset="0"/>
                      </a:rPr>
                      <m:t>𝑑</m:t>
                    </m:r>
                    <m:sSub>
                      <m:sSubPr>
                        <m:ctrlPr>
                          <a:rPr lang="ja-JP" altLang="en-US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ja-JP" altLang="en-US" sz="1800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ja-JP" altLang="en-US" sz="1800" i="1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  <m:d>
                      <m:dPr>
                        <m:ctrlPr>
                          <a:rPr lang="ja-JP" altLang="en-US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ja-JP" altLang="en-US" sz="1800" i="1">
                            <a:latin typeface="Cambria Math" panose="02040503050406030204" pitchFamily="18" charset="0"/>
                          </a:rPr>
                          <m:t>𝑣</m:t>
                        </m:r>
                        <m:r>
                          <a:rPr lang="en-US" altLang="ja-JP" sz="180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ja-JP" altLang="en-US" sz="1800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</m:d>
                    <m:r>
                      <a:rPr lang="en-US" altLang="ja-JP" sz="1800">
                        <a:latin typeface="Cambria Math" panose="02040503050406030204" pitchFamily="18" charset="0"/>
                      </a:rPr>
                      <m:t>=</m:t>
                    </m:r>
                    <m:r>
                      <a:rPr lang="ja-JP" altLang="en-US" sz="1800" i="1">
                        <a:latin typeface="Cambria Math" panose="02040503050406030204" pitchFamily="18" charset="0"/>
                      </a:rPr>
                      <m:t>𝑑</m:t>
                    </m:r>
                    <m:sSub>
                      <m:sSubPr>
                        <m:ctrlPr>
                          <a:rPr lang="ja-JP" altLang="en-US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ja-JP" altLang="en-US" sz="1800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ja-JP" altLang="en-US" sz="1800" i="1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  <m:d>
                      <m:dPr>
                        <m:ctrlPr>
                          <a:rPr lang="ja-JP" altLang="en-US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ja-JP" altLang="en-US" sz="1800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d>
                    <m:r>
                      <a:rPr lang="en-US" altLang="ja-JP" sz="1800">
                        <a:latin typeface="Cambria Math" panose="02040503050406030204" pitchFamily="18" charset="0"/>
                      </a:rPr>
                      <m:t>+</m:t>
                    </m:r>
                    <m:r>
                      <a:rPr lang="ja-JP" altLang="en-US" sz="1800" i="1">
                        <a:latin typeface="Cambria Math" panose="02040503050406030204" pitchFamily="18" charset="0"/>
                      </a:rPr>
                      <m:t>𝑑</m:t>
                    </m:r>
                    <m:sSub>
                      <m:sSubPr>
                        <m:ctrlPr>
                          <a:rPr lang="ja-JP" altLang="en-US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ja-JP" altLang="en-US" sz="1800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ja-JP" altLang="en-US" sz="1800" i="1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  <m:d>
                      <m:dPr>
                        <m:ctrlPr>
                          <a:rPr lang="ja-JP" altLang="en-US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ja-JP" altLang="en-US" sz="1800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</m:d>
                    <m:r>
                      <a:rPr lang="en-US" altLang="ja-JP" sz="180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ja-JP" sz="18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ja-JP" altLang="en-US" sz="1800" i="1">
                        <a:latin typeface="Cambria Math" panose="02040503050406030204" pitchFamily="18" charset="0"/>
                      </a:rPr>
                      <m:t>𝑑</m:t>
                    </m:r>
                    <m:sSub>
                      <m:sSubPr>
                        <m:ctrlPr>
                          <a:rPr lang="ja-JP" altLang="en-US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ja-JP" altLang="en-US" sz="1800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ja-JP" altLang="en-US" sz="1800" i="1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  <m:d>
                      <m:dPr>
                        <m:ctrlPr>
                          <a:rPr lang="ja-JP" altLang="en-US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ja-JP" altLang="en-US" sz="1800" i="1">
                            <a:latin typeface="Cambria Math" panose="02040503050406030204" pitchFamily="18" charset="0"/>
                          </a:rPr>
                          <m:t>𝜆</m:t>
                        </m:r>
                        <m:r>
                          <a:rPr lang="ja-JP" altLang="en-US" sz="1800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d>
                    <m:r>
                      <a:rPr lang="en-US" altLang="ja-JP" sz="1800">
                        <a:latin typeface="Cambria Math" panose="02040503050406030204" pitchFamily="18" charset="0"/>
                      </a:rPr>
                      <m:t>=</m:t>
                    </m:r>
                    <m:r>
                      <a:rPr lang="ja-JP" altLang="en-US" sz="1800" i="1">
                        <a:latin typeface="Cambria Math" panose="02040503050406030204" pitchFamily="18" charset="0"/>
                      </a:rPr>
                      <m:t>𝜆</m:t>
                    </m:r>
                    <m:r>
                      <a:rPr lang="ja-JP" altLang="en-US" sz="1800" i="1">
                        <a:latin typeface="Cambria Math" panose="02040503050406030204" pitchFamily="18" charset="0"/>
                      </a:rPr>
                      <m:t>𝑑</m:t>
                    </m:r>
                    <m:sSub>
                      <m:sSubPr>
                        <m:ctrlPr>
                          <a:rPr lang="ja-JP" altLang="en-US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ja-JP" altLang="en-US" sz="1800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ja-JP" altLang="en-US" sz="1800" i="1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  <m:d>
                      <m:dPr>
                        <m:ctrlPr>
                          <a:rPr lang="ja-JP" altLang="en-US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ja-JP" altLang="en-US" sz="1800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d>
                    <m:r>
                      <a:rPr lang="en-US" altLang="ja-JP" sz="180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r>
                  <a:rPr lang="en-US" altLang="ja-JP" sz="1800" dirty="0"/>
                  <a:t> </a:t>
                </a:r>
                <a:r>
                  <a:rPr lang="ja-JP" altLang="ja-JP" sz="1800" dirty="0"/>
                  <a:t>所以</a:t>
                </a:r>
                <a14:m>
                  <m:oMath xmlns:m="http://schemas.openxmlformats.org/officeDocument/2006/math">
                    <m:r>
                      <a:rPr lang="ja-JP" altLang="en-US" sz="1800" i="1"/>
                      <m:t>𝑑</m:t>
                    </m:r>
                    <m:sSub>
                      <m:sSubPr>
                        <m:ctrlPr>
                          <a:rPr lang="ja-JP" altLang="en-US" sz="1800" i="1"/>
                        </m:ctrlPr>
                      </m:sSubPr>
                      <m:e>
                        <m:r>
                          <a:rPr lang="ja-JP" altLang="en-US" sz="1800" i="1"/>
                          <m:t>𝑓</m:t>
                        </m:r>
                      </m:e>
                      <m:sub>
                        <m:r>
                          <a:rPr lang="ja-JP" altLang="en-US" sz="1800" i="1"/>
                          <m:t>𝑝</m:t>
                        </m:r>
                      </m:sub>
                    </m:sSub>
                  </m:oMath>
                </a14:m>
                <a:r>
                  <a:rPr lang="ja-JP" altLang="ja-JP" sz="1800" dirty="0"/>
                  <a:t>本身是一个线性函数。</a:t>
                </a:r>
              </a:p>
              <a:p>
                <a:pPr marL="0" indent="0">
                  <a:buNone/>
                </a:pPr>
                <a:r>
                  <a:rPr lang="ja-JP" altLang="ja-JP" sz="1800" dirty="0"/>
                  <a:t>在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ja-JP" altLang="en-US" sz="1800"/>
                        </m:ctrlPr>
                      </m:sSupPr>
                      <m:e>
                        <m:r>
                          <a:rPr lang="en-US" altLang="ja-JP" sz="1800"/>
                          <m:t>ℝ</m:t>
                        </m:r>
                      </m:e>
                      <m:sup>
                        <m:r>
                          <a:rPr lang="ja-JP" altLang="en-US" sz="1800" i="1"/>
                          <m:t>𝑛</m:t>
                        </m:r>
                      </m:sup>
                    </m:sSup>
                  </m:oMath>
                </a14:m>
                <a:r>
                  <a:rPr lang="ja-JP" altLang="ja-JP" sz="1800" dirty="0"/>
                  <a:t>中，点 </a:t>
                </a:r>
                <a14:m>
                  <m:oMath xmlns:m="http://schemas.openxmlformats.org/officeDocument/2006/math">
                    <m:r>
                      <a:rPr lang="ja-JP" altLang="en-US" sz="1800" i="1"/>
                      <m:t>𝑝</m:t>
                    </m:r>
                  </m:oMath>
                </a14:m>
                <a:r>
                  <a:rPr lang="ja-JP" altLang="ja-JP" sz="1800" dirty="0"/>
                  <a:t>处的切空间是：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ja-JP" altLang="en-US" sz="1800"/>
                        </m:ctrlPr>
                      </m:sSubPr>
                      <m:e>
                        <m:r>
                          <a:rPr lang="ja-JP" altLang="en-US" sz="1800" i="1"/>
                          <m:t>𝑇</m:t>
                        </m:r>
                      </m:e>
                      <m:sub>
                        <m:r>
                          <a:rPr lang="ja-JP" altLang="en-US" sz="1800" i="1"/>
                          <m:t>𝑝</m:t>
                        </m:r>
                      </m:sub>
                    </m:sSub>
                    <m:sSup>
                      <m:sSupPr>
                        <m:ctrlPr>
                          <a:rPr lang="ja-JP" altLang="en-US" sz="1800" i="1"/>
                        </m:ctrlPr>
                      </m:sSupPr>
                      <m:e>
                        <m:r>
                          <a:rPr lang="en-US" altLang="ja-JP" sz="1800"/>
                          <m:t>ℝ</m:t>
                        </m:r>
                      </m:e>
                      <m:sup>
                        <m:r>
                          <a:rPr lang="ja-JP" altLang="en-US" sz="1800" i="1"/>
                          <m:t>𝑛</m:t>
                        </m:r>
                      </m:sup>
                    </m:sSup>
                    <m:r>
                      <a:rPr lang="ja-JP" altLang="en-US" sz="1800"/>
                      <m:t>≅</m:t>
                    </m:r>
                    <m:sSup>
                      <m:sSupPr>
                        <m:ctrlPr>
                          <a:rPr lang="ja-JP" altLang="en-US" sz="1800" i="1"/>
                        </m:ctrlPr>
                      </m:sSupPr>
                      <m:e>
                        <m:r>
                          <a:rPr lang="en-US" altLang="ja-JP" sz="1800"/>
                          <m:t>ℝ</m:t>
                        </m:r>
                      </m:e>
                      <m:sup>
                        <m:r>
                          <a:rPr lang="ja-JP" altLang="en-US" sz="1800" i="1"/>
                          <m:t>𝑛</m:t>
                        </m:r>
                      </m:sup>
                    </m:sSup>
                    <m:r>
                      <a:rPr lang="en-US" altLang="ja-JP" sz="1800"/>
                      <m:t>.</m:t>
                    </m:r>
                  </m:oMath>
                </a14:m>
                <a:r>
                  <a:rPr lang="en-US" altLang="ja-JP" sz="1800" dirty="0"/>
                  <a:t> </a:t>
                </a:r>
                <a:r>
                  <a:rPr lang="ja-JP" altLang="ja-JP" sz="1800" dirty="0"/>
                  <a:t>切向量：</a:t>
                </a:r>
                <a14:m>
                  <m:oMath xmlns:m="http://schemas.openxmlformats.org/officeDocument/2006/math">
                    <m:r>
                      <a:rPr lang="ja-JP" altLang="en-US" sz="1800" i="1"/>
                      <m:t>𝑣</m:t>
                    </m:r>
                    <m:r>
                      <a:rPr lang="ja-JP" altLang="en-US" sz="1800"/>
                      <m:t>∈</m:t>
                    </m:r>
                    <m:sSub>
                      <m:sSubPr>
                        <m:ctrlPr>
                          <a:rPr lang="ja-JP" altLang="en-US" sz="1800" i="1"/>
                        </m:ctrlPr>
                      </m:sSubPr>
                      <m:e>
                        <m:r>
                          <a:rPr lang="ja-JP" altLang="en-US" sz="1800" i="1"/>
                          <m:t>𝑇</m:t>
                        </m:r>
                      </m:e>
                      <m:sub>
                        <m:r>
                          <a:rPr lang="ja-JP" altLang="en-US" sz="1800" i="1"/>
                          <m:t>𝑝</m:t>
                        </m:r>
                      </m:sub>
                    </m:sSub>
                    <m:sSup>
                      <m:sSupPr>
                        <m:ctrlPr>
                          <a:rPr lang="ja-JP" altLang="en-US" sz="1800" i="1"/>
                        </m:ctrlPr>
                      </m:sSupPr>
                      <m:e>
                        <m:r>
                          <a:rPr lang="en-US" altLang="ja-JP" sz="1800"/>
                          <m:t>ℝ</m:t>
                        </m:r>
                      </m:e>
                      <m:sup>
                        <m:r>
                          <a:rPr lang="ja-JP" altLang="en-US" sz="1800" i="1"/>
                          <m:t>𝑛</m:t>
                        </m:r>
                      </m:sup>
                    </m:sSup>
                    <m:r>
                      <a:rPr lang="en-US" altLang="ja-JP" sz="1800"/>
                      <m:t>.</m:t>
                    </m:r>
                  </m:oMath>
                </a14:m>
                <a:r>
                  <a:rPr lang="en-US" altLang="ja-JP" sz="1800" dirty="0"/>
                  <a:t> </a:t>
                </a:r>
                <a:r>
                  <a:rPr lang="ja-JP" altLang="ja-JP" sz="1800" dirty="0"/>
                  <a:t>而 </a:t>
                </a:r>
                <a14:m>
                  <m:oMath xmlns:m="http://schemas.openxmlformats.org/officeDocument/2006/math">
                    <m:r>
                      <a:rPr lang="ja-JP" altLang="en-US" sz="1800" i="1"/>
                      <m:t>𝑑</m:t>
                    </m:r>
                    <m:sSub>
                      <m:sSubPr>
                        <m:ctrlPr>
                          <a:rPr lang="ja-JP" altLang="en-US" sz="1800" i="1"/>
                        </m:ctrlPr>
                      </m:sSubPr>
                      <m:e>
                        <m:r>
                          <a:rPr lang="ja-JP" altLang="en-US" sz="1800" i="1"/>
                          <m:t>𝑓</m:t>
                        </m:r>
                      </m:e>
                      <m:sub>
                        <m:r>
                          <a:rPr lang="ja-JP" altLang="en-US" sz="1800" i="1"/>
                          <m:t>𝑝</m:t>
                        </m:r>
                      </m:sub>
                    </m:sSub>
                  </m:oMath>
                </a14:m>
                <a:r>
                  <a:rPr lang="ja-JP" altLang="ja-JP" sz="1800" dirty="0"/>
                  <a:t>是作用在切向量上的线性函数：</a:t>
                </a:r>
                <a14:m>
                  <m:oMath xmlns:m="http://schemas.openxmlformats.org/officeDocument/2006/math">
                    <m:r>
                      <a:rPr lang="ja-JP" altLang="en-US" sz="1800" i="1"/>
                      <m:t>𝑑</m:t>
                    </m:r>
                    <m:sSub>
                      <m:sSubPr>
                        <m:ctrlPr>
                          <a:rPr lang="ja-JP" altLang="en-US" sz="1800" i="1"/>
                        </m:ctrlPr>
                      </m:sSubPr>
                      <m:e>
                        <m:r>
                          <a:rPr lang="ja-JP" altLang="en-US" sz="1800" i="1"/>
                          <m:t>𝑓</m:t>
                        </m:r>
                      </m:e>
                      <m:sub>
                        <m:r>
                          <a:rPr lang="ja-JP" altLang="en-US" sz="1800" i="1"/>
                          <m:t>𝑝</m:t>
                        </m:r>
                      </m:sub>
                    </m:sSub>
                    <m:r>
                      <a:rPr lang="en-US" altLang="ja-JP" sz="1800"/>
                      <m:t>:</m:t>
                    </m:r>
                    <m:sSub>
                      <m:sSubPr>
                        <m:ctrlPr>
                          <a:rPr lang="ja-JP" altLang="en-US" sz="1800" i="1"/>
                        </m:ctrlPr>
                      </m:sSubPr>
                      <m:e>
                        <m:r>
                          <a:rPr lang="ja-JP" altLang="en-US" sz="1800" i="1"/>
                          <m:t>𝑇</m:t>
                        </m:r>
                      </m:e>
                      <m:sub>
                        <m:r>
                          <a:rPr lang="ja-JP" altLang="en-US" sz="1800" i="1"/>
                          <m:t>𝑝</m:t>
                        </m:r>
                      </m:sub>
                    </m:sSub>
                    <m:sSup>
                      <m:sSupPr>
                        <m:ctrlPr>
                          <a:rPr lang="ja-JP" altLang="en-US" sz="1800" i="1"/>
                        </m:ctrlPr>
                      </m:sSupPr>
                      <m:e>
                        <m:r>
                          <a:rPr lang="en-US" altLang="ja-JP" sz="1800"/>
                          <m:t>ℝ</m:t>
                        </m:r>
                      </m:e>
                      <m:sup>
                        <m:r>
                          <a:rPr lang="ja-JP" altLang="en-US" sz="1800" i="1"/>
                          <m:t>𝑛</m:t>
                        </m:r>
                      </m:sup>
                    </m:sSup>
                    <m:r>
                      <a:rPr lang="ja-JP" altLang="en-US" sz="1800"/>
                      <m:t>→</m:t>
                    </m:r>
                    <m:r>
                      <a:rPr lang="en-US" altLang="ja-JP" sz="1800"/>
                      <m:t>ℝ</m:t>
                    </m:r>
                    <m:r>
                      <a:rPr lang="en-US" altLang="ja-JP" sz="1800"/>
                      <m:t>.</m:t>
                    </m:r>
                  </m:oMath>
                </a14:m>
                <a:r>
                  <a:rPr lang="en-US" altLang="ja-JP" sz="1800" dirty="0"/>
                  <a:t> </a:t>
                </a:r>
                <a:r>
                  <a:rPr lang="ja-JP" altLang="ja-JP" sz="1800" dirty="0"/>
                  <a:t>因此：</a:t>
                </a:r>
                <a14:m>
                  <m:oMath xmlns:m="http://schemas.openxmlformats.org/officeDocument/2006/math">
                    <m:r>
                      <a:rPr lang="ja-JP" altLang="en-US" sz="1800" i="1"/>
                      <m:t>𝑑</m:t>
                    </m:r>
                    <m:sSub>
                      <m:sSubPr>
                        <m:ctrlPr>
                          <a:rPr lang="ja-JP" altLang="en-US" sz="1800" i="1"/>
                        </m:ctrlPr>
                      </m:sSubPr>
                      <m:e>
                        <m:r>
                          <a:rPr lang="ja-JP" altLang="en-US" sz="1800" i="1"/>
                          <m:t>𝑓</m:t>
                        </m:r>
                      </m:e>
                      <m:sub>
                        <m:r>
                          <a:rPr lang="ja-JP" altLang="en-US" sz="1800" i="1"/>
                          <m:t>𝑝</m:t>
                        </m:r>
                      </m:sub>
                    </m:sSub>
                    <m:r>
                      <a:rPr lang="ja-JP" altLang="en-US" sz="1800"/>
                      <m:t>∈</m:t>
                    </m:r>
                    <m:sSup>
                      <m:sSupPr>
                        <m:ctrlPr>
                          <a:rPr lang="ja-JP" altLang="en-US" sz="1800" i="1"/>
                        </m:ctrlPr>
                      </m:sSupPr>
                      <m:e>
                        <m:d>
                          <m:dPr>
                            <m:ctrlPr>
                              <a:rPr lang="ja-JP" altLang="en-US" sz="1800" i="1"/>
                            </m:ctrlPr>
                          </m:dPr>
                          <m:e>
                            <m:sSub>
                              <m:sSubPr>
                                <m:ctrlPr>
                                  <a:rPr lang="ja-JP" altLang="en-US" sz="1800" i="1"/>
                                </m:ctrlPr>
                              </m:sSubPr>
                              <m:e>
                                <m:r>
                                  <a:rPr lang="ja-JP" altLang="en-US" sz="1800" i="1"/>
                                  <m:t>𝑇</m:t>
                                </m:r>
                              </m:e>
                              <m:sub>
                                <m:r>
                                  <a:rPr lang="ja-JP" altLang="en-US" sz="1800" i="1"/>
                                  <m:t>𝑝</m:t>
                                </m:r>
                              </m:sub>
                            </m:sSub>
                            <m:sSup>
                              <m:sSupPr>
                                <m:ctrlPr>
                                  <a:rPr lang="ja-JP" altLang="en-US" sz="1800" i="1"/>
                                </m:ctrlPr>
                              </m:sSupPr>
                              <m:e>
                                <m:r>
                                  <a:rPr lang="en-US" altLang="ja-JP" sz="1800"/>
                                  <m:t>ℝ</m:t>
                                </m:r>
                              </m:e>
                              <m:sup>
                                <m:r>
                                  <a:rPr lang="ja-JP" altLang="en-US" sz="1800" i="1"/>
                                  <m:t>𝑛</m:t>
                                </m:r>
                              </m:sup>
                            </m:sSup>
                          </m:e>
                        </m:d>
                      </m:e>
                      <m:sup>
                        <m:r>
                          <a:rPr lang="ja-JP" altLang="en-US" sz="1800"/>
                          <m:t>∗</m:t>
                        </m:r>
                      </m:sup>
                    </m:sSup>
                    <m:r>
                      <a:rPr lang="en-US" altLang="ja-JP" sz="1800"/>
                      <m:t>.</m:t>
                    </m:r>
                  </m:oMath>
                </a14:m>
                <a:r>
                  <a:rPr lang="en-US" altLang="ja-JP" sz="1800" dirty="0"/>
                  <a:t> </a:t>
                </a:r>
                <a:r>
                  <a:rPr lang="ja-JP" altLang="ja-JP" sz="1800" dirty="0"/>
                  <a:t>这个对偶空间叫做余切空间：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ja-JP" altLang="en-US" sz="1800"/>
                        </m:ctrlPr>
                      </m:sSubSupPr>
                      <m:e>
                        <m:r>
                          <a:rPr lang="ja-JP" altLang="en-US" sz="1800" i="1"/>
                          <m:t>𝑇</m:t>
                        </m:r>
                      </m:e>
                      <m:sub>
                        <m:r>
                          <a:rPr lang="ja-JP" altLang="en-US" sz="1800" i="1"/>
                          <m:t>𝑝</m:t>
                        </m:r>
                      </m:sub>
                      <m:sup>
                        <m:r>
                          <a:rPr lang="ja-JP" altLang="en-US" sz="1800"/>
                          <m:t>∗</m:t>
                        </m:r>
                      </m:sup>
                    </m:sSubSup>
                    <m:sSup>
                      <m:sSupPr>
                        <m:ctrlPr>
                          <a:rPr lang="ja-JP" altLang="en-US" sz="1800" i="1"/>
                        </m:ctrlPr>
                      </m:sSupPr>
                      <m:e>
                        <m:r>
                          <a:rPr lang="en-US" altLang="ja-JP" sz="1800"/>
                          <m:t>ℝ</m:t>
                        </m:r>
                      </m:e>
                      <m:sup>
                        <m:r>
                          <a:rPr lang="ja-JP" altLang="en-US" sz="1800" i="1"/>
                          <m:t>𝑛</m:t>
                        </m:r>
                      </m:sup>
                    </m:sSup>
                    <m:r>
                      <a:rPr lang="en-US" altLang="ja-JP" sz="1800"/>
                      <m:t>=</m:t>
                    </m:r>
                    <m:sSup>
                      <m:sSupPr>
                        <m:ctrlPr>
                          <a:rPr lang="ja-JP" altLang="en-US" sz="1800" i="1"/>
                        </m:ctrlPr>
                      </m:sSupPr>
                      <m:e>
                        <m:d>
                          <m:dPr>
                            <m:ctrlPr>
                              <a:rPr lang="ja-JP" altLang="en-US" sz="1800" i="1"/>
                            </m:ctrlPr>
                          </m:dPr>
                          <m:e>
                            <m:sSub>
                              <m:sSubPr>
                                <m:ctrlPr>
                                  <a:rPr lang="ja-JP" altLang="en-US" sz="1800" i="1"/>
                                </m:ctrlPr>
                              </m:sSubPr>
                              <m:e>
                                <m:r>
                                  <a:rPr lang="ja-JP" altLang="en-US" sz="1800" i="1"/>
                                  <m:t>𝑇</m:t>
                                </m:r>
                              </m:e>
                              <m:sub>
                                <m:r>
                                  <a:rPr lang="ja-JP" altLang="en-US" sz="1800" i="1"/>
                                  <m:t>𝑝</m:t>
                                </m:r>
                              </m:sub>
                            </m:sSub>
                            <m:sSup>
                              <m:sSupPr>
                                <m:ctrlPr>
                                  <a:rPr lang="ja-JP" altLang="en-US" sz="1800" i="1"/>
                                </m:ctrlPr>
                              </m:sSupPr>
                              <m:e>
                                <m:r>
                                  <a:rPr lang="en-US" altLang="ja-JP" sz="1800"/>
                                  <m:t>ℝ</m:t>
                                </m:r>
                              </m:e>
                              <m:sup>
                                <m:r>
                                  <a:rPr lang="ja-JP" altLang="en-US" sz="1800" i="1"/>
                                  <m:t>𝑛</m:t>
                                </m:r>
                              </m:sup>
                            </m:sSup>
                          </m:e>
                        </m:d>
                      </m:e>
                      <m:sup>
                        <m:r>
                          <a:rPr lang="ja-JP" altLang="en-US" sz="1800"/>
                          <m:t>∗</m:t>
                        </m:r>
                      </m:sup>
                    </m:sSup>
                    <m:r>
                      <a:rPr lang="en-US" altLang="ja-JP" sz="1800"/>
                      <m:t>.</m:t>
                    </m:r>
                  </m:oMath>
                </a14:m>
                <a:r>
                  <a:rPr lang="en-US" altLang="ja-JP" sz="1800" dirty="0"/>
                  <a:t> </a:t>
                </a:r>
                <a:r>
                  <a:rPr lang="ja-JP" altLang="ja-JP" sz="1800" dirty="0"/>
                  <a:t>所以：</a:t>
                </a:r>
                <a14:m>
                  <m:oMath xmlns:m="http://schemas.openxmlformats.org/officeDocument/2006/math">
                    <m:r>
                      <a:rPr lang="ja-JP" altLang="en-US" sz="1800" i="1"/>
                      <m:t>𝑑</m:t>
                    </m:r>
                    <m:sSub>
                      <m:sSubPr>
                        <m:ctrlPr>
                          <a:rPr lang="ja-JP" altLang="en-US" sz="1800" i="1"/>
                        </m:ctrlPr>
                      </m:sSubPr>
                      <m:e>
                        <m:r>
                          <a:rPr lang="ja-JP" altLang="en-US" sz="1800" i="1"/>
                          <m:t>𝑓</m:t>
                        </m:r>
                      </m:e>
                      <m:sub>
                        <m:r>
                          <a:rPr lang="ja-JP" altLang="en-US" sz="1800" i="1"/>
                          <m:t>𝑝</m:t>
                        </m:r>
                      </m:sub>
                    </m:sSub>
                    <m:r>
                      <a:rPr lang="ja-JP" altLang="en-US" sz="1800"/>
                      <m:t>∈</m:t>
                    </m:r>
                    <m:sSubSup>
                      <m:sSubSupPr>
                        <m:ctrlPr>
                          <a:rPr lang="ja-JP" altLang="en-US" sz="1800" i="1"/>
                        </m:ctrlPr>
                      </m:sSubSupPr>
                      <m:e>
                        <m:r>
                          <a:rPr lang="ja-JP" altLang="en-US" sz="1800" i="1"/>
                          <m:t>𝑇</m:t>
                        </m:r>
                      </m:e>
                      <m:sub>
                        <m:r>
                          <a:rPr lang="ja-JP" altLang="en-US" sz="1800" i="1"/>
                          <m:t>𝑝</m:t>
                        </m:r>
                      </m:sub>
                      <m:sup>
                        <m:r>
                          <a:rPr lang="ja-JP" altLang="en-US" sz="1800"/>
                          <m:t>∗</m:t>
                        </m:r>
                      </m:sup>
                    </m:sSubSup>
                    <m:sSup>
                      <m:sSupPr>
                        <m:ctrlPr>
                          <a:rPr lang="ja-JP" altLang="en-US" sz="1800" i="1"/>
                        </m:ctrlPr>
                      </m:sSupPr>
                      <m:e>
                        <m:r>
                          <a:rPr lang="en-US" altLang="ja-JP" sz="1800"/>
                          <m:t>ℝ</m:t>
                        </m:r>
                      </m:e>
                      <m:sup>
                        <m:r>
                          <a:rPr lang="ja-JP" altLang="en-US" sz="1800" i="1"/>
                          <m:t>𝑛</m:t>
                        </m:r>
                      </m:sup>
                    </m:sSup>
                    <m:r>
                      <a:rPr lang="en-US" altLang="ja-JP" sz="1800"/>
                      <m:t>.</m:t>
                    </m:r>
                  </m:oMath>
                </a14:m>
                <a:endParaRPr lang="en-US" altLang="ja-JP" sz="1800" dirty="0"/>
              </a:p>
              <a:p>
                <a:r>
                  <a:rPr lang="ja-JP" altLang="ja-JP" sz="1800" dirty="0"/>
                  <a:t>一句话说：切向量 </a:t>
                </a:r>
                <a14:m>
                  <m:oMath xmlns:m="http://schemas.openxmlformats.org/officeDocument/2006/math">
                    <m:r>
                      <a:rPr lang="ja-JP" altLang="en-US" sz="1800" i="1"/>
                      <m:t>𝑣</m:t>
                    </m:r>
                  </m:oMath>
                </a14:m>
                <a:r>
                  <a:rPr lang="ja-JP" altLang="ja-JP" sz="1800" dirty="0"/>
                  <a:t>是方向；微分 </a:t>
                </a:r>
                <a14:m>
                  <m:oMath xmlns:m="http://schemas.openxmlformats.org/officeDocument/2006/math">
                    <m:r>
                      <a:rPr lang="ja-JP" altLang="en-US" sz="1800" i="1"/>
                      <m:t>𝑑</m:t>
                    </m:r>
                    <m:sSub>
                      <m:sSubPr>
                        <m:ctrlPr>
                          <a:rPr lang="ja-JP" altLang="en-US" sz="1800" i="1"/>
                        </m:ctrlPr>
                      </m:sSubPr>
                      <m:e>
                        <m:r>
                          <a:rPr lang="ja-JP" altLang="en-US" sz="1800" i="1"/>
                          <m:t>𝑓</m:t>
                        </m:r>
                      </m:e>
                      <m:sub>
                        <m:r>
                          <a:rPr lang="ja-JP" altLang="en-US" sz="1800" i="1"/>
                          <m:t>𝑝</m:t>
                        </m:r>
                      </m:sub>
                    </m:sSub>
                  </m:oMath>
                </a14:m>
                <a:r>
                  <a:rPr lang="ja-JP" altLang="ja-JP" sz="1800" dirty="0"/>
                  <a:t>是测量函数 </a:t>
                </a:r>
                <a14:m>
                  <m:oMath xmlns:m="http://schemas.openxmlformats.org/officeDocument/2006/math">
                    <m:r>
                      <a:rPr lang="ja-JP" altLang="en-US" sz="1800" i="1"/>
                      <m:t>𝑓</m:t>
                    </m:r>
                  </m:oMath>
                </a14:m>
                <a:r>
                  <a:rPr lang="ja-JP" altLang="ja-JP" sz="1800" dirty="0"/>
                  <a:t>沿这个方向变化率的线性工具。</a:t>
                </a:r>
              </a:p>
              <a:p>
                <a:pPr marL="0" indent="0">
                  <a:buNone/>
                </a:pPr>
                <a:endParaRPr lang="ja-JP" altLang="ja-JP" sz="1800" dirty="0"/>
              </a:p>
              <a:p>
                <a:pPr marL="0" indent="0">
                  <a:buNone/>
                </a:pPr>
                <a:endParaRPr lang="ja-JP" altLang="ja-JP" sz="1800" dirty="0"/>
              </a:p>
            </p:txBody>
          </p:sp>
        </mc:Choice>
        <mc:Fallback>
          <p:sp>
            <p:nvSpPr>
              <p:cNvPr id="12" name="コンテンツ プレースホルダー 2">
                <a:extLst>
                  <a:ext uri="{FF2B5EF4-FFF2-40B4-BE49-F238E27FC236}">
                    <a16:creationId xmlns:a16="http://schemas.microsoft.com/office/drawing/2014/main" id="{82771F2A-3CA8-A6C3-9A23-45A1E400F02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09880" y="1183640"/>
                <a:ext cx="11572240" cy="5440680"/>
              </a:xfrm>
              <a:blipFill>
                <a:blip r:embed="rId4"/>
                <a:stretch>
                  <a:fillRect l="-632" t="-1344" b="-1792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95303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EAEDB0-DE16-F7B5-4C5C-EE4CACBCBC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>
            <a:extLst>
              <a:ext uri="{FF2B5EF4-FFF2-40B4-BE49-F238E27FC236}">
                <a16:creationId xmlns:a16="http://schemas.microsoft.com/office/drawing/2014/main" id="{4DC89025-E0AB-2A33-2C72-6CC09BEE9F1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ja-JP" dirty="0"/>
              <a:t>pairing</a:t>
            </a:r>
            <a:endParaRPr lang="ja-JP" altLang="ja-JP" b="1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コンテンツ プレースホルダー 2">
                <a:extLst>
                  <a:ext uri="{FF2B5EF4-FFF2-40B4-BE49-F238E27FC236}">
                    <a16:creationId xmlns:a16="http://schemas.microsoft.com/office/drawing/2014/main" id="{03EE7FAC-BA89-8BC0-C91D-AE4BB029B88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09880" y="1183640"/>
                <a:ext cx="11572240" cy="5440680"/>
              </a:xfrm>
            </p:spPr>
            <p:txBody>
              <a:bodyPr/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⟨"/>
                          <m:endChr m:val="⟩"/>
                          <m:sepChr m:val=","/>
                          <m:ctrlPr>
                            <a:rPr lang="ja-JP" alt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ja-JP" altLang="en-US" i="1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e>
                          <m:r>
                            <a:rPr lang="ja-JP" alt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altLang="ja-JP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ja-JP" altLang="en-US" i="1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ja-JP" alt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ja-JP" alt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altLang="ja-JP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ja-JP" altLang="en-US" i="1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ja-JP" altLang="en-US">
                          <a:latin typeface="Cambria Math" panose="02040503050406030204" pitchFamily="18" charset="0"/>
                        </a:rPr>
                        <m:t>∈</m:t>
                      </m:r>
                      <m:sSup>
                        <m:sSupPr>
                          <m:ctrlPr>
                            <a:rPr lang="ja-JP" alt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ja-JP" altLang="en-US" i="1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p>
                          <m:r>
                            <a:rPr lang="ja-JP" altLang="en-US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en-US" altLang="ja-JP">
                          <a:latin typeface="Cambria Math" panose="02040503050406030204" pitchFamily="18" charset="0"/>
                        </a:rPr>
                        <m:t>,</m:t>
                      </m:r>
                      <m:r>
                        <m:rPr>
                          <m:nor/>
                        </m:rPr>
                        <a:rPr lang="ja-JP" altLang="en-US" i="1"/>
                        <m:t> </m:t>
                      </m:r>
                      <m:r>
                        <a:rPr lang="ja-JP" altLang="en-US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ja-JP" altLang="en-US"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ja-JP" altLang="en-US" i="1"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US" altLang="ja-JP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en-US" altLang="ja-JP" b="0" dirty="0"/>
              </a:p>
              <a:p>
                <a:r>
                  <a:rPr lang="ja-JP" altLang="ja-JP" dirty="0"/>
                  <a:t>这不是内积，而是</a:t>
                </a:r>
                <a:r>
                  <a:rPr lang="ja-JP" altLang="ja-JP" b="1" dirty="0"/>
                  <a:t>对偶配对</a:t>
                </a:r>
                <a:r>
                  <a:rPr lang="ja-JP" altLang="ja-JP" dirty="0"/>
                  <a:t>。</a:t>
                </a:r>
              </a:p>
              <a:p>
                <a:r>
                  <a:rPr lang="ja-JP" altLang="ja-JP" dirty="0"/>
                  <a:t>统一形式：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ja-JP" altLang="en-US" b="0"/>
                      <m:t>对象</m:t>
                    </m:r>
                    <m:r>
                      <m:rPr>
                        <m:nor/>
                      </m:rPr>
                      <a:rPr lang="ja-JP" altLang="en-US" b="0" i="1"/>
                      <m:t> </m:t>
                    </m:r>
                    <m:r>
                      <a:rPr lang="ja-JP" altLang="en-US" b="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ja-JP" altLang="en-US">
                        <a:latin typeface="Cambria Math" panose="02040503050406030204" pitchFamily="18" charset="0"/>
                      </a:rPr>
                      <m:t> ⟷ </m:t>
                    </m:r>
                    <m:r>
                      <m:rPr>
                        <m:nor/>
                      </m:rPr>
                      <a:rPr lang="ja-JP" altLang="en-US"/>
                      <m:t>所有观测</m:t>
                    </m:r>
                    <m:r>
                      <m:rPr>
                        <m:nor/>
                      </m:rPr>
                      <a:rPr lang="ja-JP" altLang="en-US" i="1"/>
                      <m:t> </m:t>
                    </m:r>
                    <m:r>
                      <a:rPr lang="ja-JP" altLang="en-US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ja-JP" alt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ja-JP" alt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altLang="ja-JP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altLang="ja-JP" b="0" dirty="0"/>
              </a:p>
              <a:p>
                <a:r>
                  <a:rPr lang="zh-CN" altLang="en-US" dirty="0"/>
                  <a:t>注意</a:t>
                </a:r>
                <a14:m>
                  <m:oMath xmlns:m="http://schemas.openxmlformats.org/officeDocument/2006/math">
                    <m:d>
                      <m:dPr>
                        <m:begChr m:val="⟨"/>
                        <m:endChr m:val="⟩"/>
                        <m:sepChr m:val=","/>
                        <m:ctrlPr>
                          <a:rPr lang="ja-JP" alt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ja-JP" altLang="en-US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e>
                        <m:r>
                          <a:rPr lang="ja-JP" alt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ja-JP" altLang="ja-JP" dirty="0"/>
                  <a:t> 只是记号，不一定是内积。内积是 Hilbert 空间上的结构，而对偶配对存在于更一般的线性空间、Banach 空间、分布空间中。</a:t>
                </a:r>
                <a:endParaRPr lang="en-US" altLang="ja-JP" dirty="0"/>
              </a:p>
              <a:p>
                <a:pPr marL="0" indent="0">
                  <a:buNone/>
                </a:pPr>
                <a:endParaRPr lang="en-US" altLang="ja-JP" dirty="0"/>
              </a:p>
              <a:p>
                <a:pPr marL="0" indent="0">
                  <a:buNone/>
                </a:pPr>
                <a:r>
                  <a:rPr lang="ja-JP" altLang="ja-JP" dirty="0"/>
                  <a:t>设 </a:t>
                </a:r>
                <a14:m>
                  <m:oMath xmlns:m="http://schemas.openxmlformats.org/officeDocument/2006/math">
                    <m:r>
                      <a:rPr lang="ja-JP" altLang="en-US" i="1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ja-JP" altLang="ja-JP" dirty="0"/>
                  <a:t>是一个向量空间，或者 Banach 空间。它的对偶空间是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ja-JP" alt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ja-JP" altLang="en-US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p>
                        <m:r>
                          <a:rPr lang="ja-JP" altLang="en-US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altLang="ja-JP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altLang="ja-JP">
                        <a:latin typeface="Cambria Math" panose="02040503050406030204" pitchFamily="18" charset="0"/>
                      </a:rPr>
                      <m:t>Hom</m:t>
                    </m:r>
                    <m:d>
                      <m:dPr>
                        <m:sepChr m:val=","/>
                        <m:ctrlPr>
                          <a:rPr lang="ja-JP" alt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ja-JP" altLang="en-US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e>
                        <m:r>
                          <a:rPr lang="en-US" altLang="ja-JP">
                            <a:latin typeface="Cambria Math" panose="02040503050406030204" pitchFamily="18" charset="0"/>
                          </a:rPr>
                          <m:t>ℝ</m:t>
                        </m:r>
                      </m:e>
                    </m:d>
                  </m:oMath>
                </a14:m>
                <a:r>
                  <a:rPr lang="zh-CN" altLang="en-US" dirty="0"/>
                  <a:t>，</a:t>
                </a:r>
                <a:r>
                  <a:rPr lang="ja-JP" altLang="ja-JP" dirty="0"/>
                  <a:t>或者在 Banach 空间中写成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ja-JP" alt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ja-JP" altLang="en-US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p>
                        <m:r>
                          <a:rPr lang="ja-JP" altLang="en-US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altLang="ja-JP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ja-JP">
                        <a:latin typeface="Cambria Math" panose="02040503050406030204" pitchFamily="18" charset="0"/>
                      </a:rPr>
                      <m:t>ℒ</m:t>
                    </m:r>
                    <m:d>
                      <m:dPr>
                        <m:sepChr m:val=","/>
                        <m:ctrlPr>
                          <a:rPr lang="ja-JP" alt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ja-JP" altLang="en-US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e>
                        <m:r>
                          <a:rPr lang="en-US" altLang="ja-JP">
                            <a:latin typeface="Cambria Math" panose="02040503050406030204" pitchFamily="18" charset="0"/>
                          </a:rPr>
                          <m:t>ℝ</m:t>
                        </m:r>
                      </m:e>
                    </m:d>
                    <m:r>
                      <a:rPr lang="en-US" altLang="ja-JP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ja-JP" altLang="ja-JP" dirty="0"/>
                  <a:t>也就是从 </a:t>
                </a:r>
                <a14:m>
                  <m:oMath xmlns:m="http://schemas.openxmlformats.org/officeDocument/2006/math">
                    <m:r>
                      <a:rPr lang="ja-JP" altLang="en-US" i="1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ja-JP" altLang="ja-JP" dirty="0"/>
                  <a:t>到标量域 </a:t>
                </a:r>
                <a14:m>
                  <m:oMath xmlns:m="http://schemas.openxmlformats.org/officeDocument/2006/math">
                    <m:r>
                      <a:rPr lang="en-US" altLang="ja-JP">
                        <a:latin typeface="Cambria Math" panose="02040503050406030204" pitchFamily="18" charset="0"/>
                      </a:rPr>
                      <m:t>ℝ</m:t>
                    </m:r>
                  </m:oMath>
                </a14:m>
                <a:r>
                  <a:rPr lang="ja-JP" altLang="ja-JP" dirty="0"/>
                  <a:t>的连续线性映射全体。元素</a:t>
                </a:r>
                <a14:m>
                  <m:oMath xmlns:m="http://schemas.openxmlformats.org/officeDocument/2006/math">
                    <m:r>
                      <a:rPr lang="ja-JP" altLang="en-US" i="1">
                        <a:latin typeface="Cambria Math" panose="02040503050406030204" pitchFamily="18" charset="0"/>
                      </a:rPr>
                      <m:t>𝑓</m:t>
                    </m:r>
                    <m:r>
                      <a:rPr lang="ja-JP" altLang="en-US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ja-JP" alt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ja-JP" altLang="en-US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p>
                        <m:r>
                          <a:rPr lang="ja-JP" altLang="en-US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ja-JP" altLang="ja-JP" dirty="0"/>
                  <a:t>本身就是一个映射：</a:t>
                </a:r>
                <a14:m>
                  <m:oMath xmlns:m="http://schemas.openxmlformats.org/officeDocument/2006/math">
                    <m:r>
                      <a:rPr lang="ja-JP" altLang="en-US" i="1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altLang="ja-JP">
                        <a:latin typeface="Cambria Math" panose="02040503050406030204" pitchFamily="18" charset="0"/>
                      </a:rPr>
                      <m:t>:</m:t>
                    </m:r>
                    <m:r>
                      <a:rPr lang="ja-JP" altLang="en-US" i="1">
                        <a:latin typeface="Cambria Math" panose="02040503050406030204" pitchFamily="18" charset="0"/>
                      </a:rPr>
                      <m:t>𝑋</m:t>
                    </m:r>
                    <m:r>
                      <a:rPr lang="ja-JP" altLang="en-US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altLang="ja-JP">
                        <a:latin typeface="Cambria Math" panose="02040503050406030204" pitchFamily="18" charset="0"/>
                      </a:rPr>
                      <m:t>ℝ</m:t>
                    </m:r>
                    <m:r>
                      <a:rPr lang="en-US" altLang="ja-JP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altLang="ja-JP" dirty="0"/>
              </a:p>
              <a:p>
                <a:pPr marL="0" indent="0">
                  <a:buNone/>
                </a:pPr>
                <a:endParaRPr lang="en-US" altLang="ja-JP" dirty="0"/>
              </a:p>
              <a:p>
                <a:r>
                  <a:rPr lang="ja-JP" altLang="ja-JP" dirty="0"/>
                  <a:t>Hilbert 空间 </a:t>
                </a:r>
                <a14:m>
                  <m:oMath xmlns:m="http://schemas.openxmlformats.org/officeDocument/2006/math">
                    <m:r>
                      <a:rPr lang="ja-JP" altLang="en-US" i="1"/>
                      <m:t>𝐻</m:t>
                    </m:r>
                  </m:oMath>
                </a14:m>
                <a:r>
                  <a:rPr lang="ja-JP" altLang="ja-JP" dirty="0"/>
                  <a:t>中，由 Riesz 表示定理：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ja-JP" altLang="en-US"/>
                        </m:ctrlPr>
                      </m:sSupPr>
                      <m:e>
                        <m:r>
                          <a:rPr lang="ja-JP" altLang="en-US" i="1"/>
                          <m:t>𝐻</m:t>
                        </m:r>
                      </m:e>
                      <m:sup>
                        <m:r>
                          <a:rPr lang="ja-JP" altLang="en-US"/>
                          <m:t>∗</m:t>
                        </m:r>
                      </m:sup>
                    </m:sSup>
                    <m:r>
                      <a:rPr lang="ja-JP" altLang="en-US"/>
                      <m:t>≅</m:t>
                    </m:r>
                    <m:r>
                      <a:rPr lang="ja-JP" altLang="en-US" i="1"/>
                      <m:t>𝐻</m:t>
                    </m:r>
                    <m:r>
                      <a:rPr lang="en-US" altLang="ja-JP"/>
                      <m:t>.</m:t>
                    </m:r>
                  </m:oMath>
                </a14:m>
                <a:endParaRPr lang="en-US" altLang="ja-JP" dirty="0"/>
              </a:p>
              <a:p>
                <a:pPr marL="0" indent="0">
                  <a:buNone/>
                </a:pPr>
                <a:endParaRPr lang="en-US" altLang="ja-JP" dirty="0"/>
              </a:p>
              <a:p>
                <a:pPr marL="0" indent="0">
                  <a:buNone/>
                </a:pPr>
                <a:endParaRPr lang="en-US" altLang="ja-JP" b="0" dirty="0"/>
              </a:p>
            </p:txBody>
          </p:sp>
        </mc:Choice>
        <mc:Fallback>
          <p:sp>
            <p:nvSpPr>
              <p:cNvPr id="12" name="コンテンツ プレースホルダー 2">
                <a:extLst>
                  <a:ext uri="{FF2B5EF4-FFF2-40B4-BE49-F238E27FC236}">
                    <a16:creationId xmlns:a16="http://schemas.microsoft.com/office/drawing/2014/main" id="{03EE7FAC-BA89-8BC0-C91D-AE4BB029B88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09880" y="1183640"/>
                <a:ext cx="11572240" cy="5440680"/>
              </a:xfrm>
              <a:blipFill>
                <a:blip r:embed="rId3"/>
                <a:stretch>
                  <a:fillRect l="-580" r="-474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3F4298EF-EF1A-4AAB-151F-27CAC574D8E4}"/>
              </a:ext>
            </a:extLst>
          </p:cNvPr>
          <p:cNvSpPr txBox="1"/>
          <p:nvPr/>
        </p:nvSpPr>
        <p:spPr>
          <a:xfrm>
            <a:off x="3053080" y="4686905"/>
            <a:ext cx="610616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endParaRPr lang="ja-JP" altLang="ja-JP" b="1" dirty="0">
              <a:solidFill>
                <a:srgbClr val="7030A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739420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26E870-E63D-5F5D-D2C9-BF935CBE53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>
            <a:extLst>
              <a:ext uri="{FF2B5EF4-FFF2-40B4-BE49-F238E27FC236}">
                <a16:creationId xmlns:a16="http://schemas.microsoft.com/office/drawing/2014/main" id="{7836676E-C4A1-13F2-6FDF-115B5DE2042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ja-JP" dirty="0"/>
              <a:t>pairing</a:t>
            </a:r>
            <a:endParaRPr lang="ja-JP" altLang="ja-JP" b="1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コンテンツ プレースホルダー 2">
                <a:extLst>
                  <a:ext uri="{FF2B5EF4-FFF2-40B4-BE49-F238E27FC236}">
                    <a16:creationId xmlns:a16="http://schemas.microsoft.com/office/drawing/2014/main" id="{C2AB0FF9-8997-7319-F90D-160B91278CD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09880" y="1183640"/>
                <a:ext cx="11572240" cy="5440680"/>
              </a:xfrm>
            </p:spPr>
            <p:txBody>
              <a:bodyPr/>
              <a:lstStyle/>
              <a:p>
                <a:pPr marL="0" indent="0">
                  <a:lnSpc>
                    <a:spcPct val="12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⟨"/>
                          <m:endChr m:val="⟩"/>
                          <m:sepChr m:val=","/>
                          <m:ctrlPr>
                            <a:rPr lang="ja-JP" alt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ja-JP" altLang="en-US" i="1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e>
                          <m:r>
                            <a:rPr lang="ja-JP" alt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altLang="ja-JP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ja-JP" altLang="en-US" i="1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ja-JP" alt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ja-JP" alt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altLang="ja-JP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ja-JP" altLang="en-US" i="1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ja-JP" altLang="en-US">
                          <a:latin typeface="Cambria Math" panose="02040503050406030204" pitchFamily="18" charset="0"/>
                        </a:rPr>
                        <m:t>∈</m:t>
                      </m:r>
                      <m:sSup>
                        <m:sSupPr>
                          <m:ctrlPr>
                            <a:rPr lang="ja-JP" alt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ja-JP" altLang="en-US" i="1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p>
                          <m:r>
                            <a:rPr lang="ja-JP" altLang="en-US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en-US" altLang="ja-JP">
                          <a:latin typeface="Cambria Math" panose="02040503050406030204" pitchFamily="18" charset="0"/>
                        </a:rPr>
                        <m:t>,</m:t>
                      </m:r>
                      <m:r>
                        <m:rPr>
                          <m:nor/>
                        </m:rPr>
                        <a:rPr lang="ja-JP" altLang="en-US" i="1"/>
                        <m:t> </m:t>
                      </m:r>
                      <m:r>
                        <a:rPr lang="ja-JP" altLang="en-US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ja-JP" altLang="en-US"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ja-JP" altLang="en-US" i="1"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US" altLang="ja-JP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br>
                  <a:rPr lang="ja-JP" altLang="ja-JP" dirty="0"/>
                </a:br>
                <a:r>
                  <a:rPr lang="ja-JP" altLang="ja-JP" b="1" dirty="0"/>
                  <a:t>范畴论视角：对偶是 Hom 到单位对象</a:t>
                </a:r>
              </a:p>
              <a:p>
                <a:pPr>
                  <a:lnSpc>
                    <a:spcPct val="120000"/>
                  </a:lnSpc>
                </a:pPr>
                <a:r>
                  <a:rPr lang="ja-JP" altLang="ja-JP" dirty="0"/>
                  <a:t>在向量空间范畴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ja-JP" altLang="en-US" b="1"/>
                        </m:ctrlPr>
                      </m:sSubPr>
                      <m:e>
                        <m:r>
                          <a:rPr lang="ja-JP" altLang="en-US" b="1"/>
                          <m:t>𝐕𝐞𝐜𝐭</m:t>
                        </m:r>
                      </m:e>
                      <m:sub>
                        <m:r>
                          <a:rPr lang="en-US" altLang="ja-JP"/>
                          <m:t>ℝ</m:t>
                        </m:r>
                      </m:sub>
                    </m:sSub>
                  </m:oMath>
                </a14:m>
                <a:r>
                  <a:rPr lang="ja-JP" altLang="ja-JP" dirty="0"/>
                  <a:t>中，标量域 </a:t>
                </a:r>
                <a14:m>
                  <m:oMath xmlns:m="http://schemas.openxmlformats.org/officeDocument/2006/math">
                    <m:r>
                      <a:rPr lang="en-US" altLang="ja-JP"/>
                      <m:t>ℝ</m:t>
                    </m:r>
                  </m:oMath>
                </a14:m>
                <a:r>
                  <a:rPr lang="ja-JP" altLang="ja-JP" dirty="0"/>
                  <a:t>是一个特殊对象。对任意对象 </a:t>
                </a:r>
                <a14:m>
                  <m:oMath xmlns:m="http://schemas.openxmlformats.org/officeDocument/2006/math">
                    <m:r>
                      <a:rPr lang="ja-JP" altLang="en-US" i="1"/>
                      <m:t>𝑋</m:t>
                    </m:r>
                  </m:oMath>
                </a14:m>
                <a:r>
                  <a:rPr lang="ja-JP" altLang="ja-JP" dirty="0"/>
                  <a:t>，定义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ja-JP" altLang="en-US"/>
                        </m:ctrlPr>
                      </m:sSupPr>
                      <m:e>
                        <m:r>
                          <a:rPr lang="ja-JP" altLang="en-US" i="1"/>
                          <m:t>𝑋</m:t>
                        </m:r>
                      </m:e>
                      <m:sup>
                        <m:r>
                          <a:rPr lang="ja-JP" altLang="en-US"/>
                          <m:t>∗</m:t>
                        </m:r>
                      </m:sup>
                    </m:sSup>
                    <m:r>
                      <a:rPr lang="en-US" altLang="ja-JP"/>
                      <m:t>=</m:t>
                    </m:r>
                    <m:sSub>
                      <m:sSubPr>
                        <m:ctrlPr>
                          <a:rPr lang="ja-JP" altLang="en-US" i="1"/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ja-JP"/>
                          <m:t>Hom</m:t>
                        </m:r>
                      </m:e>
                      <m:sub>
                        <m:r>
                          <a:rPr lang="ja-JP" altLang="en-US" b="1"/>
                          <m:t>𝐕𝐞𝐜𝐭</m:t>
                        </m:r>
                      </m:sub>
                    </m:sSub>
                    <m:d>
                      <m:dPr>
                        <m:sepChr m:val=","/>
                        <m:ctrlPr>
                          <a:rPr lang="ja-JP" altLang="en-US" b="1" i="1"/>
                        </m:ctrlPr>
                      </m:dPr>
                      <m:e>
                        <m:r>
                          <a:rPr lang="ja-JP" altLang="en-US" i="1"/>
                          <m:t>𝑋</m:t>
                        </m:r>
                      </m:e>
                      <m:e>
                        <m:r>
                          <a:rPr lang="en-US" altLang="ja-JP"/>
                          <m:t>ℝ</m:t>
                        </m:r>
                      </m:e>
                    </m:d>
                    <m:r>
                      <a:rPr lang="en-US" altLang="ja-JP"/>
                      <m:t>.</m:t>
                    </m:r>
                  </m:oMath>
                </a14:m>
                <a:endParaRPr lang="en-US" altLang="ja-JP" b="0" dirty="0"/>
              </a:p>
              <a:p>
                <a:pPr>
                  <a:lnSpc>
                    <a:spcPct val="120000"/>
                  </a:lnSpc>
                </a:pPr>
                <a:r>
                  <a:rPr lang="ja-JP" altLang="ja-JP" dirty="0"/>
                  <a:t>这表示：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ja-JP" altLang="en-US"/>
                        </m:ctrlPr>
                      </m:sSupPr>
                      <m:e>
                        <m:r>
                          <a:rPr lang="ja-JP" altLang="en-US" i="1"/>
                          <m:t>𝑋</m:t>
                        </m:r>
                      </m:e>
                      <m:sup>
                        <m:r>
                          <a:rPr lang="ja-JP" altLang="en-US"/>
                          <m:t>∗</m:t>
                        </m:r>
                      </m:sup>
                    </m:sSup>
                  </m:oMath>
                </a14:m>
                <a:r>
                  <a:rPr lang="ja-JP" altLang="ja-JP" dirty="0"/>
                  <a:t>是所有从 </a:t>
                </a:r>
                <a14:m>
                  <m:oMath xmlns:m="http://schemas.openxmlformats.org/officeDocument/2006/math">
                    <m:r>
                      <a:rPr lang="ja-JP" altLang="en-US" i="1"/>
                      <m:t>𝑋</m:t>
                    </m:r>
                  </m:oMath>
                </a14:m>
                <a:r>
                  <a:rPr lang="ja-JP" altLang="ja-JP" dirty="0"/>
                  <a:t>到 </a:t>
                </a:r>
                <a14:m>
                  <m:oMath xmlns:m="http://schemas.openxmlformats.org/officeDocument/2006/math">
                    <m:r>
                      <a:rPr lang="en-US" altLang="ja-JP"/>
                      <m:t>ℝ</m:t>
                    </m:r>
                  </m:oMath>
                </a14:m>
                <a:r>
                  <a:rPr lang="ja-JP" altLang="ja-JP" dirty="0"/>
                  <a:t>的线性态射组成的对象。 Hom 集合：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ja-JP" altLang="en-US"/>
                        </m:ctrlPr>
                      </m:sSupPr>
                      <m:e>
                        <m:r>
                          <a:rPr lang="ja-JP" altLang="en-US" i="1"/>
                          <m:t>𝑋</m:t>
                        </m:r>
                      </m:e>
                      <m:sup>
                        <m:r>
                          <a:rPr lang="ja-JP" altLang="en-US"/>
                          <m:t>∗</m:t>
                        </m:r>
                      </m:sup>
                    </m:sSup>
                    <m:r>
                      <a:rPr lang="en-US" altLang="ja-JP"/>
                      <m:t>=</m:t>
                    </m:r>
                    <m:r>
                      <m:rPr>
                        <m:sty m:val="p"/>
                      </m:rPr>
                      <a:rPr lang="en-US" altLang="ja-JP"/>
                      <m:t>Hom</m:t>
                    </m:r>
                    <m:d>
                      <m:dPr>
                        <m:sepChr m:val=","/>
                        <m:ctrlPr>
                          <a:rPr lang="ja-JP" altLang="en-US" i="1"/>
                        </m:ctrlPr>
                      </m:dPr>
                      <m:e>
                        <m:r>
                          <a:rPr lang="ja-JP" altLang="en-US" i="1"/>
                          <m:t>𝑋</m:t>
                        </m:r>
                      </m:e>
                      <m:e>
                        <m:r>
                          <a:rPr lang="en-US" altLang="ja-JP"/>
                          <m:t>ℝ</m:t>
                        </m:r>
                      </m:e>
                    </m:d>
                    <m:r>
                      <a:rPr lang="en-US" altLang="ja-JP"/>
                      <m:t>.</m:t>
                    </m:r>
                  </m:oMath>
                </a14:m>
                <a:r>
                  <a:rPr lang="en-US" altLang="ja-JP" dirty="0"/>
                  <a:t> </a:t>
                </a:r>
              </a:p>
              <a:p>
                <a:pPr lvl="1">
                  <a:lnSpc>
                    <a:spcPct val="120000"/>
                  </a:lnSpc>
                  <a:buFont typeface="Wingdings" panose="05000000000000000000" pitchFamily="2" charset="2"/>
                  <a:buChar char="Ø"/>
                </a:pPr>
                <a:r>
                  <a:rPr lang="ja-JP" altLang="ja-JP" dirty="0"/>
                  <a:t>这里的 </a:t>
                </a:r>
                <a14:m>
                  <m:oMath xmlns:m="http://schemas.openxmlformats.org/officeDocument/2006/math">
                    <m:r>
                      <a:rPr lang="en-US" altLang="ja-JP"/>
                      <m:t>ℝ</m:t>
                    </m:r>
                  </m:oMath>
                </a14:m>
                <a:r>
                  <a:rPr lang="ja-JP" altLang="ja-JP" dirty="0"/>
                  <a:t>可以理解为“数值对象”或“观测结果所在的对象”。</a:t>
                </a:r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ja-JP" altLang="ja-JP" dirty="0"/>
                  <a:t>范畴论语言下：</a:t>
                </a:r>
                <a14:m>
                  <m:oMath xmlns:m="http://schemas.openxmlformats.org/officeDocument/2006/math">
                    <m:r>
                      <a:rPr lang="ja-JP" altLang="en-US" i="1"/>
                      <m:t>𝑓</m:t>
                    </m:r>
                    <m:r>
                      <a:rPr lang="ja-JP" altLang="en-US"/>
                      <m:t>∈</m:t>
                    </m:r>
                    <m:sSup>
                      <m:sSupPr>
                        <m:ctrlPr>
                          <a:rPr lang="ja-JP" altLang="en-US" i="1"/>
                        </m:ctrlPr>
                      </m:sSupPr>
                      <m:e>
                        <m:r>
                          <a:rPr lang="ja-JP" altLang="en-US" i="1"/>
                          <m:t>𝑋</m:t>
                        </m:r>
                      </m:e>
                      <m:sup>
                        <m:r>
                          <a:rPr lang="ja-JP" altLang="en-US"/>
                          <m:t>∗</m:t>
                        </m:r>
                      </m:sup>
                    </m:sSup>
                  </m:oMath>
                </a14:m>
                <a:r>
                  <a:rPr lang="ja-JP" altLang="ja-JP" dirty="0"/>
                  <a:t>就是一个态射：</a:t>
                </a:r>
                <a14:m>
                  <m:oMath xmlns:m="http://schemas.openxmlformats.org/officeDocument/2006/math">
                    <m:r>
                      <a:rPr lang="ja-JP" altLang="en-US" i="1"/>
                      <m:t>𝑓</m:t>
                    </m:r>
                    <m:r>
                      <a:rPr lang="en-US" altLang="ja-JP"/>
                      <m:t>:</m:t>
                    </m:r>
                    <m:r>
                      <a:rPr lang="ja-JP" altLang="en-US" i="1"/>
                      <m:t>𝑋</m:t>
                    </m:r>
                    <m:r>
                      <a:rPr lang="ja-JP" altLang="en-US"/>
                      <m:t>→</m:t>
                    </m:r>
                    <m:r>
                      <a:rPr lang="en-US" altLang="ja-JP"/>
                      <m:t>ℝ</m:t>
                    </m:r>
                    <m:r>
                      <a:rPr lang="en-US" altLang="ja-JP"/>
                      <m:t>.</m:t>
                    </m:r>
                  </m:oMath>
                </a14:m>
                <a:r>
                  <a:rPr lang="en-US" altLang="ja-JP" dirty="0"/>
                  <a:t> </a:t>
                </a:r>
                <a:r>
                  <a:rPr lang="ja-JP" altLang="ja-JP" dirty="0"/>
                  <a:t>而</a:t>
                </a:r>
                <a14:m>
                  <m:oMath xmlns:m="http://schemas.openxmlformats.org/officeDocument/2006/math">
                    <m:r>
                      <a:rPr lang="ja-JP" altLang="en-US" i="1"/>
                      <m:t>𝑥</m:t>
                    </m:r>
                    <m:r>
                      <a:rPr lang="ja-JP" altLang="en-US"/>
                      <m:t>∈</m:t>
                    </m:r>
                    <m:r>
                      <a:rPr lang="ja-JP" altLang="en-US" i="1"/>
                      <m:t>𝑋</m:t>
                    </m:r>
                  </m:oMath>
                </a14:m>
                <a:r>
                  <a:rPr lang="ja-JP" altLang="ja-JP" dirty="0"/>
                  <a:t>可以理解为从单位对象到 </a:t>
                </a:r>
                <a14:m>
                  <m:oMath xmlns:m="http://schemas.openxmlformats.org/officeDocument/2006/math">
                    <m:r>
                      <a:rPr lang="ja-JP" altLang="en-US" i="1"/>
                      <m:t>𝑋</m:t>
                    </m:r>
                  </m:oMath>
                </a14:m>
                <a:r>
                  <a:rPr lang="ja-JP" altLang="ja-JP" dirty="0"/>
                  <a:t>的一个广义元素。在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ja-JP" altLang="en-US" b="1"/>
                        </m:ctrlPr>
                      </m:sSubPr>
                      <m:e>
                        <m:r>
                          <a:rPr lang="ja-JP" altLang="en-US" b="1"/>
                          <m:t>𝐕𝐞𝐜𝐭</m:t>
                        </m:r>
                      </m:e>
                      <m:sub>
                        <m:r>
                          <a:rPr lang="en-US" altLang="ja-JP"/>
                          <m:t>ℝ</m:t>
                        </m:r>
                      </m:sub>
                    </m:sSub>
                  </m:oMath>
                </a14:m>
                <a:r>
                  <a:rPr lang="ja-JP" altLang="ja-JP" dirty="0"/>
                  <a:t>中，单位对象可以取 </a:t>
                </a:r>
                <a14:m>
                  <m:oMath xmlns:m="http://schemas.openxmlformats.org/officeDocument/2006/math">
                    <m:r>
                      <a:rPr lang="en-US" altLang="ja-JP"/>
                      <m:t>ℝ</m:t>
                    </m:r>
                  </m:oMath>
                </a14:m>
                <a:r>
                  <a:rPr lang="ja-JP" altLang="ja-JP" dirty="0"/>
                  <a:t>，于是一个向量 </a:t>
                </a:r>
                <a14:m>
                  <m:oMath xmlns:m="http://schemas.openxmlformats.org/officeDocument/2006/math">
                    <m:r>
                      <a:rPr lang="ja-JP" altLang="en-US" i="1"/>
                      <m:t>𝑥</m:t>
                    </m:r>
                    <m:r>
                      <a:rPr lang="ja-JP" altLang="en-US"/>
                      <m:t>∈</m:t>
                    </m:r>
                    <m:r>
                      <a:rPr lang="ja-JP" altLang="en-US" i="1"/>
                      <m:t>𝑋</m:t>
                    </m:r>
                  </m:oMath>
                </a14:m>
                <a:r>
                  <a:rPr lang="ja-JP" altLang="ja-JP" dirty="0"/>
                  <a:t>等价于一个线性映射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ja-JP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ja-JP" b="0" i="1" smtClean="0">
                            <a:latin typeface="Cambria Math" panose="02040503050406030204" pitchFamily="18" charset="0"/>
                          </a:rPr>
                          <m:t>x</m:t>
                        </m:r>
                      </m:e>
                    </m:acc>
                    <m:r>
                      <a:rPr lang="en-US" altLang="ja-JP"/>
                      <m:t>:</m:t>
                    </m:r>
                    <m:r>
                      <a:rPr lang="en-US" altLang="ja-JP"/>
                      <m:t>ℝ</m:t>
                    </m:r>
                    <m:r>
                      <a:rPr lang="en-US" altLang="ja-JP"/>
                      <m:t>→</m:t>
                    </m:r>
                    <m:r>
                      <a:rPr lang="ja-JP" altLang="en-US" i="1"/>
                      <m:t>𝑋</m:t>
                    </m:r>
                    <m:r>
                      <a:rPr lang="en-US" altLang="ja-JP"/>
                      <m:t>,</m:t>
                    </m:r>
                  </m:oMath>
                </a14:m>
                <a:r>
                  <a:rPr lang="en-US" altLang="ja-JP" dirty="0"/>
                  <a:t> </a:t>
                </a:r>
                <a:r>
                  <a:rPr lang="ja-JP" altLang="ja-JP" dirty="0"/>
                  <a:t>满足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ja-JP" i="1">
                            <a:latin typeface="Cambria Math" panose="02040503050406030204" pitchFamily="18" charset="0"/>
                          </a:rPr>
                          <m:t>x</m:t>
                        </m:r>
                      </m:e>
                    </m:acc>
                    <m:r>
                      <a:rPr lang="en-US" altLang="ja-JP" i="1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ja-JP" altLang="en-US" i="1"/>
                        </m:ctrlPr>
                      </m:dPr>
                      <m:e>
                        <m:r>
                          <a:rPr lang="en-US" altLang="ja-JP"/>
                          <m:t>1</m:t>
                        </m:r>
                      </m:e>
                    </m:d>
                    <m:r>
                      <a:rPr lang="en-US" altLang="ja-JP"/>
                      <m:t>=</m:t>
                    </m:r>
                    <m:r>
                      <a:rPr lang="ja-JP" altLang="en-US" i="1"/>
                      <m:t>𝑥</m:t>
                    </m:r>
                    <m:r>
                      <a:rPr lang="en-US" altLang="ja-JP"/>
                      <m:t>.</m:t>
                    </m:r>
                  </m:oMath>
                </a14:m>
                <a:r>
                  <a:rPr lang="ja-JP" altLang="ja-JP" dirty="0"/>
                  <a:t>这样，</a:t>
                </a:r>
                <a14:m>
                  <m:oMath xmlns:m="http://schemas.openxmlformats.org/officeDocument/2006/math">
                    <m:r>
                      <a:rPr lang="ja-JP" altLang="en-US" i="1"/>
                      <m:t>𝑓</m:t>
                    </m:r>
                    <m:d>
                      <m:dPr>
                        <m:ctrlPr>
                          <a:rPr lang="ja-JP" altLang="en-US" i="1"/>
                        </m:ctrlPr>
                      </m:dPr>
                      <m:e>
                        <m:r>
                          <a:rPr lang="ja-JP" altLang="en-US" i="1"/>
                          <m:t>𝑥</m:t>
                        </m:r>
                      </m:e>
                    </m:d>
                  </m:oMath>
                </a14:m>
                <a:r>
                  <a:rPr lang="ja-JP" altLang="ja-JP" dirty="0"/>
                  <a:t> 可以写成复合：</a:t>
                </a:r>
                <a14:m>
                  <m:oMath xmlns:m="http://schemas.openxmlformats.org/officeDocument/2006/math">
                    <m:r>
                      <a:rPr lang="en-US" altLang="ja-JP"/>
                      <m:t>ℝ</m:t>
                    </m:r>
                    <m:groupChr>
                      <m:groupChrPr>
                        <m:chr m:val="→"/>
                        <m:vertJc m:val="bot"/>
                        <m:ctrlPr>
                          <a:rPr lang="ja-JP" altLang="en-US" i="1"/>
                        </m:ctrlPr>
                      </m:groupChrPr>
                      <m:e>
                        <m:box>
                          <m:boxPr>
                            <m:ctrlPr>
                              <a:rPr lang="ja-JP" altLang="en-US" i="1"/>
                            </m:ctrlPr>
                          </m:boxPr>
                          <m:e>
                            <m:acc>
                              <m:accPr>
                                <m:chr m:val="̅"/>
                                <m:ctrlP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  <m:t>x</m:t>
                                </m:r>
                              </m:e>
                            </m:acc>
                          </m:e>
                        </m:box>
                      </m:e>
                    </m:groupChr>
                    <m:r>
                      <a:rPr lang="ja-JP" altLang="en-US" i="1"/>
                      <m:t>𝑋</m:t>
                    </m:r>
                    <m:groupChr>
                      <m:groupChrPr>
                        <m:chr m:val="→"/>
                        <m:vertJc m:val="bot"/>
                        <m:ctrlPr>
                          <a:rPr lang="ja-JP" altLang="en-US" i="1"/>
                        </m:ctrlPr>
                      </m:groupChrPr>
                      <m:e>
                        <m:box>
                          <m:boxPr>
                            <m:ctrlPr>
                              <a:rPr lang="ja-JP" altLang="en-US" i="1"/>
                            </m:ctrlPr>
                          </m:boxPr>
                          <m:e>
                            <m:r>
                              <a:rPr lang="ja-JP" altLang="en-US" i="1"/>
                              <m:t>𝑓</m:t>
                            </m:r>
                          </m:e>
                        </m:box>
                      </m:e>
                    </m:groupChr>
                    <m:r>
                      <a:rPr lang="en-US" altLang="ja-JP"/>
                      <m:t>ℝ</m:t>
                    </m:r>
                    <m:r>
                      <a:rPr lang="en-US" altLang="ja-JP"/>
                      <m:t>.</m:t>
                    </m:r>
                  </m:oMath>
                </a14:m>
                <a:r>
                  <a:rPr lang="en-US" altLang="ja-JP" dirty="0"/>
                  <a:t> </a:t>
                </a:r>
                <a:r>
                  <a:rPr lang="ja-JP" altLang="ja-JP" dirty="0"/>
                  <a:t>也就是说：</a:t>
                </a:r>
                <a14:m>
                  <m:oMath xmlns:m="http://schemas.openxmlformats.org/officeDocument/2006/math">
                    <m:r>
                      <a:rPr lang="ja-JP" altLang="en-US" i="1"/>
                      <m:t>𝑓</m:t>
                    </m:r>
                    <m:d>
                      <m:dPr>
                        <m:ctrlPr>
                          <a:rPr lang="ja-JP" altLang="en-US" i="1"/>
                        </m:ctrlPr>
                      </m:dPr>
                      <m:e>
                        <m:r>
                          <a:rPr lang="ja-JP" altLang="en-US" i="1"/>
                          <m:t>𝑥</m:t>
                        </m:r>
                      </m:e>
                    </m:d>
                    <m:r>
                      <a:rPr lang="en-US" altLang="ja-JP"/>
                      <m:t>=</m:t>
                    </m:r>
                    <m:d>
                      <m:dPr>
                        <m:ctrlPr>
                          <a:rPr lang="ja-JP" altLang="en-US" i="1"/>
                        </m:ctrlPr>
                      </m:dPr>
                      <m:e>
                        <m:r>
                          <a:rPr lang="ja-JP" altLang="en-US" i="1"/>
                          <m:t>𝑓</m:t>
                        </m:r>
                        <m:r>
                          <a:rPr lang="ja-JP" altLang="en-US"/>
                          <m:t>∘</m:t>
                        </m:r>
                        <m:acc>
                          <m:accPr>
                            <m:chr m:val="̅"/>
                            <m:ctrlPr>
                              <a:rPr lang="en-US" altLang="ja-JP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m:rPr>
                                <m:sty m:val="p"/>
                              </m:rPr>
                              <a:rPr lang="en-US" altLang="ja-JP" i="1">
                                <a:latin typeface="Cambria Math" panose="02040503050406030204" pitchFamily="18" charset="0"/>
                              </a:rPr>
                              <m:t>x</m:t>
                            </m:r>
                          </m:e>
                        </m:acc>
                      </m:e>
                    </m:d>
                    <m:d>
                      <m:dPr>
                        <m:ctrlPr>
                          <a:rPr lang="ja-JP" altLang="en-US" i="1"/>
                        </m:ctrlPr>
                      </m:dPr>
                      <m:e>
                        <m:r>
                          <a:rPr lang="en-US" altLang="ja-JP"/>
                          <m:t>1</m:t>
                        </m:r>
                      </m:e>
                    </m:d>
                    <m:r>
                      <a:rPr lang="en-US" altLang="ja-JP"/>
                      <m:t>.</m:t>
                    </m:r>
                  </m:oMath>
                </a14:m>
                <a:r>
                  <a:rPr lang="en-US" altLang="ja-JP" dirty="0"/>
                  <a:t> </a:t>
                </a:r>
                <a:r>
                  <a:rPr lang="ja-JP" altLang="ja-JP" dirty="0"/>
                  <a:t>从范畴论角度看，配对</a:t>
                </a:r>
                <a14:m>
                  <m:oMath xmlns:m="http://schemas.openxmlformats.org/officeDocument/2006/math">
                    <m:d>
                      <m:dPr>
                        <m:begChr m:val="⟨"/>
                        <m:endChr m:val="⟩"/>
                        <m:sepChr m:val=","/>
                        <m:ctrlPr>
                          <a:rPr lang="ja-JP" altLang="en-US"/>
                        </m:ctrlPr>
                      </m:dPr>
                      <m:e>
                        <m:r>
                          <a:rPr lang="ja-JP" altLang="en-US" i="1"/>
                          <m:t>𝑓</m:t>
                        </m:r>
                      </m:e>
                      <m:e>
                        <m:r>
                          <a:rPr lang="ja-JP" altLang="en-US" i="1"/>
                          <m:t>𝑥</m:t>
                        </m:r>
                      </m:e>
                    </m:d>
                  </m:oMath>
                </a14:m>
                <a:r>
                  <a:rPr lang="ja-JP" altLang="ja-JP" dirty="0"/>
                  <a:t>就是两个态射的复合。</a:t>
                </a:r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ja-JP" altLang="ja-JP" dirty="0"/>
                  <a:t>更直接地说，有一个自然的映射：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ja-JP" altLang="en-US"/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ja-JP"/>
                          <m:t>ev</m:t>
                        </m:r>
                      </m:fName>
                      <m:e>
                        <m:r>
                          <a:rPr lang="en-US" altLang="ja-JP"/>
                          <m:t>:</m:t>
                        </m:r>
                      </m:e>
                    </m:func>
                    <m:sSup>
                      <m:sSupPr>
                        <m:ctrlPr>
                          <a:rPr lang="ja-JP" altLang="en-US" i="1"/>
                        </m:ctrlPr>
                      </m:sSupPr>
                      <m:e>
                        <m:r>
                          <a:rPr lang="ja-JP" altLang="en-US" i="1"/>
                          <m:t>𝑋</m:t>
                        </m:r>
                      </m:e>
                      <m:sup>
                        <m:r>
                          <a:rPr lang="ja-JP" altLang="en-US"/>
                          <m:t>∗</m:t>
                        </m:r>
                      </m:sup>
                    </m:sSup>
                    <m:r>
                      <a:rPr lang="en-US" altLang="ja-JP"/>
                      <m:t>×</m:t>
                    </m:r>
                    <m:r>
                      <a:rPr lang="ja-JP" altLang="en-US" i="1"/>
                      <m:t>𝑋</m:t>
                    </m:r>
                    <m:r>
                      <a:rPr lang="ja-JP" altLang="en-US"/>
                      <m:t>→</m:t>
                    </m:r>
                    <m:r>
                      <a:rPr lang="en-US" altLang="ja-JP"/>
                      <m:t>ℝ</m:t>
                    </m:r>
                    <m:r>
                      <a:rPr lang="en-US" altLang="ja-JP"/>
                      <m:t>,</m:t>
                    </m:r>
                  </m:oMath>
                </a14:m>
                <a:r>
                  <a:rPr lang="en-US" altLang="ja-JP" dirty="0"/>
                  <a:t> </a:t>
                </a:r>
                <a:r>
                  <a:rPr lang="ja-JP" altLang="ja-JP" dirty="0"/>
                  <a:t>定义为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ja-JP"/>
                      <m:t>ev</m:t>
                    </m:r>
                    <m:r>
                      <a:rPr lang="ja-JP" altLang="en-US"/>
                      <m:t>⁡</m:t>
                    </m:r>
                    <m:d>
                      <m:dPr>
                        <m:sepChr m:val=","/>
                        <m:ctrlPr>
                          <a:rPr lang="ja-JP" altLang="en-US" i="1"/>
                        </m:ctrlPr>
                      </m:dPr>
                      <m:e>
                        <m:r>
                          <a:rPr lang="ja-JP" altLang="en-US" i="1"/>
                          <m:t>𝑓</m:t>
                        </m:r>
                      </m:e>
                      <m:e>
                        <m:r>
                          <a:rPr lang="ja-JP" altLang="en-US" i="1"/>
                          <m:t>𝑥</m:t>
                        </m:r>
                      </m:e>
                    </m:d>
                    <m:r>
                      <a:rPr lang="en-US" altLang="ja-JP"/>
                      <m:t>=</m:t>
                    </m:r>
                    <m:r>
                      <a:rPr lang="ja-JP" altLang="en-US" i="1"/>
                      <m:t>𝑓</m:t>
                    </m:r>
                    <m:d>
                      <m:dPr>
                        <m:ctrlPr>
                          <a:rPr lang="ja-JP" altLang="en-US" i="1"/>
                        </m:ctrlPr>
                      </m:dPr>
                      <m:e>
                        <m:r>
                          <a:rPr lang="ja-JP" altLang="en-US" i="1"/>
                          <m:t>𝑥</m:t>
                        </m:r>
                      </m:e>
                    </m:d>
                    <m:r>
                      <a:rPr lang="en-US" altLang="ja-JP"/>
                      <m:t>.</m:t>
                    </m:r>
                  </m:oMath>
                </a14:m>
                <a:r>
                  <a:rPr lang="ja-JP" altLang="ja-JP" dirty="0"/>
                  <a:t>这个映射叫做</a:t>
                </a:r>
                <a:r>
                  <a:rPr lang="ja-JP" altLang="ja-JP" b="1" dirty="0"/>
                  <a:t>评价映射</a:t>
                </a:r>
                <a:r>
                  <a:rPr lang="ja-JP" altLang="ja-JP" dirty="0"/>
                  <a:t>。</a:t>
                </a:r>
              </a:p>
              <a:p>
                <a:pPr marL="0" indent="0">
                  <a:lnSpc>
                    <a:spcPct val="120000"/>
                  </a:lnSpc>
                  <a:buNone/>
                </a:pPr>
                <a14:m>
                  <m:oMath xmlns:m="http://schemas.openxmlformats.org/officeDocument/2006/math">
                    <m:d>
                      <m:dPr>
                        <m:begChr m:val="⟨"/>
                        <m:endChr m:val="⟩"/>
                        <m:sepChr m:val=","/>
                        <m:ctrlPr>
                          <a:rPr lang="ja-JP" altLang="en-US"/>
                        </m:ctrlPr>
                      </m:dPr>
                      <m:e>
                        <m:r>
                          <a:rPr lang="ja-JP" altLang="en-US" i="1"/>
                          <m:t>𝑓</m:t>
                        </m:r>
                      </m:e>
                      <m:e>
                        <m:r>
                          <a:rPr lang="ja-JP" altLang="en-US" i="1"/>
                          <m:t>𝑥</m:t>
                        </m:r>
                      </m:e>
                    </m:d>
                    <m:r>
                      <a:rPr lang="en-US" altLang="ja-JP"/>
                      <m:t>=</m:t>
                    </m:r>
                    <m:r>
                      <a:rPr lang="ja-JP" altLang="en-US" i="1"/>
                      <m:t>𝑓</m:t>
                    </m:r>
                    <m:d>
                      <m:dPr>
                        <m:ctrlPr>
                          <a:rPr lang="ja-JP" altLang="en-US" i="1"/>
                        </m:ctrlPr>
                      </m:dPr>
                      <m:e>
                        <m:r>
                          <a:rPr lang="ja-JP" altLang="en-US" i="1"/>
                          <m:t>𝑥</m:t>
                        </m:r>
                      </m:e>
                    </m:d>
                  </m:oMath>
                </a14:m>
                <a:r>
                  <a:rPr lang="ja-JP" altLang="en-US" dirty="0"/>
                  <a:t> </a:t>
                </a:r>
                <a:r>
                  <a:rPr lang="ja-JP" altLang="ja-JP" dirty="0"/>
                  <a:t>其实就是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ja-JP"/>
                      <m:t>ev</m:t>
                    </m:r>
                    <m:r>
                      <a:rPr lang="ja-JP" altLang="en-US"/>
                      <m:t>⁡</m:t>
                    </m:r>
                    <m:d>
                      <m:dPr>
                        <m:sepChr m:val=","/>
                        <m:ctrlPr>
                          <a:rPr lang="ja-JP" altLang="en-US" i="1"/>
                        </m:ctrlPr>
                      </m:dPr>
                      <m:e>
                        <m:r>
                          <a:rPr lang="ja-JP" altLang="en-US" i="1"/>
                          <m:t>𝑓</m:t>
                        </m:r>
                      </m:e>
                      <m:e>
                        <m:r>
                          <a:rPr lang="ja-JP" altLang="en-US" i="1"/>
                          <m:t>𝑥</m:t>
                        </m:r>
                      </m:e>
                    </m:d>
                    <m:r>
                      <a:rPr lang="en-US" altLang="ja-JP"/>
                      <m:t>.</m:t>
                    </m:r>
                  </m:oMath>
                </a14:m>
                <a:endParaRPr lang="en-US" altLang="ja-JP" dirty="0"/>
              </a:p>
              <a:p>
                <a:pPr>
                  <a:lnSpc>
                    <a:spcPct val="120000"/>
                  </a:lnSpc>
                </a:pPr>
                <a:r>
                  <a:rPr lang="ja-JP" altLang="ja-JP" dirty="0"/>
                  <a:t>在范畴论中，这个结构非常基础：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ja-JP" altLang="en-US"/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ja-JP"/>
                          <m:t>ev</m:t>
                        </m:r>
                      </m:fName>
                      <m:e>
                        <m:r>
                          <a:rPr lang="en-US" altLang="ja-JP"/>
                          <m:t>:</m:t>
                        </m:r>
                      </m:e>
                    </m:func>
                    <m:sSup>
                      <m:sSupPr>
                        <m:ctrlPr>
                          <a:rPr lang="ja-JP" altLang="en-US" i="1"/>
                        </m:ctrlPr>
                      </m:sSupPr>
                      <m:e>
                        <m:r>
                          <a:rPr lang="ja-JP" altLang="en-US" i="1"/>
                          <m:t>𝑋</m:t>
                        </m:r>
                      </m:e>
                      <m:sup>
                        <m:r>
                          <a:rPr lang="ja-JP" altLang="en-US"/>
                          <m:t>∗</m:t>
                        </m:r>
                      </m:sup>
                    </m:sSup>
                    <m:nary>
                      <m:naryPr>
                        <m:chr m:val="⊗"/>
                        <m:subHide m:val="on"/>
                        <m:supHide m:val="on"/>
                        <m:ctrlPr>
                          <a:rPr lang="ja-JP" altLang="en-US" i="1"/>
                        </m:ctrlPr>
                      </m:naryPr>
                      <m:sub/>
                      <m:sup/>
                      <m:e>
                        <m:r>
                          <a:rPr lang="ja-JP" altLang="en-US" i="1"/>
                          <m:t>𝑋</m:t>
                        </m:r>
                      </m:e>
                    </m:nary>
                    <m:r>
                      <a:rPr lang="ja-JP" altLang="en-US"/>
                      <m:t>→</m:t>
                    </m:r>
                    <m:r>
                      <a:rPr lang="en-US" altLang="ja-JP"/>
                      <m:t>ℝ</m:t>
                    </m:r>
                    <m:r>
                      <a:rPr lang="en-US" altLang="ja-JP"/>
                      <m:t>.</m:t>
                    </m:r>
                  </m:oMath>
                </a14:m>
                <a:endParaRPr lang="en-US" altLang="ja-JP" dirty="0"/>
              </a:p>
              <a:p>
                <a:pPr>
                  <a:lnSpc>
                    <a:spcPct val="120000"/>
                  </a:lnSpc>
                </a:pPr>
                <a:r>
                  <a:rPr lang="ja-JP" altLang="ja-JP" dirty="0"/>
                  <a:t>如果我们在张量范畴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ja-JP" altLang="en-US" b="1"/>
                        </m:ctrlPr>
                      </m:sSubPr>
                      <m:e>
                        <m:r>
                          <a:rPr lang="ja-JP" altLang="en-US" b="1"/>
                          <m:t>𝐕𝐞𝐜𝐭</m:t>
                        </m:r>
                      </m:e>
                      <m:sub>
                        <m:r>
                          <a:rPr lang="en-US" altLang="ja-JP"/>
                          <m:t>ℝ</m:t>
                        </m:r>
                      </m:sub>
                    </m:sSub>
                  </m:oMath>
                </a14:m>
                <a:r>
                  <a:rPr lang="ja-JP" altLang="ja-JP" dirty="0"/>
                  <a:t>中工作，则更自然地写成：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ja-JP" altLang="en-US"/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ja-JP"/>
                          <m:t>ev</m:t>
                        </m:r>
                      </m:fName>
                      <m:e>
                        <m:r>
                          <a:rPr lang="en-US" altLang="ja-JP"/>
                          <m:t>:</m:t>
                        </m:r>
                      </m:e>
                    </m:func>
                    <m:sSup>
                      <m:sSupPr>
                        <m:ctrlPr>
                          <a:rPr lang="ja-JP" altLang="en-US" i="1"/>
                        </m:ctrlPr>
                      </m:sSupPr>
                      <m:e>
                        <m:r>
                          <a:rPr lang="ja-JP" altLang="en-US" i="1"/>
                          <m:t>𝑋</m:t>
                        </m:r>
                      </m:e>
                      <m:sup>
                        <m:r>
                          <a:rPr lang="ja-JP" altLang="en-US"/>
                          <m:t>∗</m:t>
                        </m:r>
                      </m:sup>
                    </m:sSup>
                    <m:nary>
                      <m:naryPr>
                        <m:chr m:val="⊗"/>
                        <m:subHide m:val="on"/>
                        <m:supHide m:val="on"/>
                        <m:ctrlPr>
                          <a:rPr lang="ja-JP" altLang="en-US" i="1"/>
                        </m:ctrlPr>
                      </m:naryPr>
                      <m:sub/>
                      <m:sup/>
                      <m:e>
                        <m:r>
                          <a:rPr lang="ja-JP" altLang="en-US" i="1"/>
                          <m:t>𝑋</m:t>
                        </m:r>
                      </m:e>
                    </m:nary>
                    <m:r>
                      <a:rPr lang="ja-JP" altLang="en-US"/>
                      <m:t>→</m:t>
                    </m:r>
                    <m:r>
                      <a:rPr lang="en-US" altLang="ja-JP"/>
                      <m:t>ℝ</m:t>
                    </m:r>
                    <m:r>
                      <a:rPr lang="en-US" altLang="ja-JP"/>
                      <m:t>.</m:t>
                    </m:r>
                  </m:oMath>
                </a14:m>
                <a:r>
                  <a:rPr lang="ja-JP" altLang="ja-JP" dirty="0"/>
                  <a:t>定义为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ja-JP"/>
                      <m:t>ev</m:t>
                    </m:r>
                    <m:r>
                      <a:rPr lang="ja-JP" altLang="en-US"/>
                      <m:t>⁡</m:t>
                    </m:r>
                    <m:d>
                      <m:dPr>
                        <m:ctrlPr>
                          <a:rPr lang="ja-JP" altLang="en-US" i="1"/>
                        </m:ctrlPr>
                      </m:dPr>
                      <m:e>
                        <m:r>
                          <a:rPr lang="ja-JP" altLang="en-US" i="1"/>
                          <m:t>𝑓</m:t>
                        </m:r>
                        <m:nary>
                          <m:naryPr>
                            <m:chr m:val="⊗"/>
                            <m:subHide m:val="on"/>
                            <m:supHide m:val="on"/>
                            <m:ctrlPr>
                              <a:rPr lang="ja-JP" altLang="en-US" i="1"/>
                            </m:ctrlPr>
                          </m:naryPr>
                          <m:sub/>
                          <m:sup/>
                          <m:e>
                            <m:r>
                              <a:rPr lang="ja-JP" altLang="en-US" i="1"/>
                              <m:t>𝑥</m:t>
                            </m:r>
                          </m:e>
                        </m:nary>
                      </m:e>
                    </m:d>
                    <m:r>
                      <a:rPr lang="en-US" altLang="ja-JP"/>
                      <m:t>=</m:t>
                    </m:r>
                    <m:r>
                      <a:rPr lang="ja-JP" altLang="en-US" i="1"/>
                      <m:t>𝑓</m:t>
                    </m:r>
                    <m:d>
                      <m:dPr>
                        <m:ctrlPr>
                          <a:rPr lang="ja-JP" altLang="en-US" i="1"/>
                        </m:ctrlPr>
                      </m:dPr>
                      <m:e>
                        <m:r>
                          <a:rPr lang="ja-JP" altLang="en-US" i="1"/>
                          <m:t>𝑥</m:t>
                        </m:r>
                      </m:e>
                    </m:d>
                    <m:r>
                      <a:rPr lang="en-US" altLang="ja-JP"/>
                      <m:t>.</m:t>
                    </m:r>
                  </m:oMath>
                </a14:m>
                <a:endParaRPr lang="en-US" altLang="ja-JP" dirty="0"/>
              </a:p>
              <a:p>
                <a:pPr marL="0" indent="0">
                  <a:lnSpc>
                    <a:spcPct val="120000"/>
                  </a:lnSpc>
                  <a:buNone/>
                </a:pPr>
                <a:endParaRPr lang="en-US" altLang="ja-JP" b="0" dirty="0"/>
              </a:p>
            </p:txBody>
          </p:sp>
        </mc:Choice>
        <mc:Fallback>
          <p:sp>
            <p:nvSpPr>
              <p:cNvPr id="12" name="コンテンツ プレースホルダー 2">
                <a:extLst>
                  <a:ext uri="{FF2B5EF4-FFF2-40B4-BE49-F238E27FC236}">
                    <a16:creationId xmlns:a16="http://schemas.microsoft.com/office/drawing/2014/main" id="{C2AB0FF9-8997-7319-F90D-160B91278CD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09880" y="1183640"/>
                <a:ext cx="11572240" cy="5440680"/>
              </a:xfrm>
              <a:blipFill>
                <a:blip r:embed="rId3"/>
                <a:stretch>
                  <a:fillRect l="-580" b="-13886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843404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F688DC-203B-4C53-3326-8183C9A9BD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>
            <a:extLst>
              <a:ext uri="{FF2B5EF4-FFF2-40B4-BE49-F238E27FC236}">
                <a16:creationId xmlns:a16="http://schemas.microsoft.com/office/drawing/2014/main" id="{F548B09B-EBF2-18E7-CD9D-5A6D2DA5B40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有限维复习：列向量与行向量</a:t>
            </a:r>
            <a:endParaRPr lang="ja-JP" altLang="ja-JP" b="1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コンテンツ プレースホルダー 2">
                <a:extLst>
                  <a:ext uri="{FF2B5EF4-FFF2-40B4-BE49-F238E27FC236}">
                    <a16:creationId xmlns:a16="http://schemas.microsoft.com/office/drawing/2014/main" id="{4F62ECF2-1118-ACA5-EA5D-C29C41353A6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09880" y="1183640"/>
                <a:ext cx="11572240" cy="5440680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ja-JP" altLang="ja-JP" dirty="0"/>
                  <a:t>若 </a:t>
                </a:r>
                <a14:m>
                  <m:oMath xmlns:m="http://schemas.openxmlformats.org/officeDocument/2006/math">
                    <m:r>
                      <a:rPr lang="ja-JP" altLang="en-US" i="1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altLang="ja-JP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ja-JP" alt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ja-JP">
                            <a:latin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ja-JP" altLang="en-US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ja-JP" altLang="ja-JP" dirty="0"/>
                  <a:t>，则线性泛函形如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ja-JP" altLang="en-US" i="1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ja-JP" alt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ja-JP" alt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altLang="ja-JP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ja-JP" alt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ja-JP" altLang="en-US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altLang="ja-JP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ja-JP" alt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ja-JP" alt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ja-JP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ja-JP">
                          <a:latin typeface="Cambria Math" panose="02040503050406030204" pitchFamily="18" charset="0"/>
                        </a:rPr>
                        <m:t>+⋯+</m:t>
                      </m:r>
                      <m:sSub>
                        <m:sSubPr>
                          <m:ctrlPr>
                            <a:rPr lang="ja-JP" alt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ja-JP" altLang="en-US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ja-JP" altLang="en-US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sSub>
                        <m:sSubPr>
                          <m:ctrlPr>
                            <a:rPr lang="ja-JP" alt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ja-JP" alt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ja-JP" altLang="en-US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altLang="ja-JP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en-US" altLang="ja-JP" dirty="0"/>
              </a:p>
              <a:p>
                <a:pPr marL="0" indent="0">
                  <a:buNone/>
                </a:pPr>
                <a:r>
                  <a:rPr lang="ja-JP" altLang="ja-JP" dirty="0"/>
                  <a:t>写成矩阵：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ja-JP" altLang="en-US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ja-JP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ja-JP" alt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ja-JP" altLang="en-US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ja-JP" alt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ja-JP" altLang="en-US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altLang="ja-JP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a:rPr lang="ja-JP" altLang="en-US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  <m:phant>
                                  <m:phantPr>
                                    <m:zeroAsc m:val="on"/>
                                    <m:ctrlPr>
                                      <a:rPr lang="ja-JP" alt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phantPr>
                                  <m:e>
                                    <m:r>
                                      <a:rPr lang="ja-JP" altLang="en-US"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</m:e>
                                </m:phant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ja-JP" alt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ja-JP" altLang="en-US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ja-JP" altLang="en-US" i="1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  <m:r>
                        <a:rPr lang="en-US" altLang="ja-JP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ja-JP" altLang="en-US" i="1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altLang="ja-JP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ja-JP" alt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ja-JP" altLang="en-US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ja-JP" alt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ja-JP" altLang="en-US" i="1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altLang="ja-JP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ja-JP" altLang="en-US">
                                    <a:latin typeface="Cambria Math" panose="02040503050406030204" pitchFamily="18" charset="0"/>
                                  </a:rPr>
                                  <m:t>⋯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ja-JP" alt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ja-JP" altLang="en-US" i="1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ja-JP" altLang="en-US" i="1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  <m:r>
                        <a:rPr lang="en-US" altLang="ja-JP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en-US" altLang="ja-JP" dirty="0"/>
              </a:p>
              <a:p>
                <a:pPr marL="0" indent="0">
                  <a:buNone/>
                </a:pPr>
                <a:r>
                  <a:rPr lang="ja-JP" altLang="ja-JP" dirty="0"/>
                  <a:t>所以：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ja-JP" alt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ja-JP" altLang="en-US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p>
                        <m:r>
                          <a:rPr lang="ja-JP" altLang="en-US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ja-JP" altLang="en-US">
                        <a:latin typeface="Cambria Math" panose="02040503050406030204" pitchFamily="18" charset="0"/>
                      </a:rPr>
                      <m:t>≅</m:t>
                    </m:r>
                    <m:r>
                      <m:rPr>
                        <m:nor/>
                      </m:rPr>
                      <a:rPr lang="ja-JP" altLang="en-US"/>
                      <m:t>行向量空间</m:t>
                    </m:r>
                    <m:r>
                      <a:rPr lang="en-US" altLang="ja-JP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altLang="ja-JP" b="0" dirty="0"/>
              </a:p>
              <a:p>
                <a:endParaRPr lang="en-US" altLang="ja-JP" b="1" dirty="0"/>
              </a:p>
              <a:p>
                <a:r>
                  <a:rPr lang="ja-JP" altLang="ja-JP" dirty="0"/>
                  <a:t>有限维中，我们经常偷偷把列向量和行向量混同，但在无限维中这件事不能随便做。</a:t>
                </a:r>
              </a:p>
            </p:txBody>
          </p:sp>
        </mc:Choice>
        <mc:Fallback>
          <p:sp>
            <p:nvSpPr>
              <p:cNvPr id="12" name="コンテンツ プレースホルダー 2">
                <a:extLst>
                  <a:ext uri="{FF2B5EF4-FFF2-40B4-BE49-F238E27FC236}">
                    <a16:creationId xmlns:a16="http://schemas.microsoft.com/office/drawing/2014/main" id="{4F62ECF2-1118-ACA5-EA5D-C29C41353A6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09880" y="1183640"/>
                <a:ext cx="11572240" cy="5440680"/>
              </a:xfrm>
              <a:blipFill>
                <a:blip r:embed="rId3"/>
                <a:stretch>
                  <a:fillRect l="-580" t="-896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475644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8F9F68-4384-6143-E31C-66892F0F51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>
            <a:extLst>
              <a:ext uri="{FF2B5EF4-FFF2-40B4-BE49-F238E27FC236}">
                <a16:creationId xmlns:a16="http://schemas.microsoft.com/office/drawing/2014/main" id="{C833C780-1317-4D85-62E7-B524AC00198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对偶基：坐标就是线性泛函</a:t>
            </a:r>
            <a:endParaRPr lang="ja-JP" altLang="ja-JP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コンテンツ プレースホルダー 2">
                <a:extLst>
                  <a:ext uri="{FF2B5EF4-FFF2-40B4-BE49-F238E27FC236}">
                    <a16:creationId xmlns:a16="http://schemas.microsoft.com/office/drawing/2014/main" id="{3D4F4C33-E958-8D07-F374-395F04321C2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09880" y="1183640"/>
                <a:ext cx="11572240" cy="5440680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ja-JP" altLang="ja-JP" dirty="0"/>
                  <a:t>若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sepChr m:val=","/>
                        <m:ctrlPr>
                          <a:rPr lang="ja-JP" alt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ja-JP" alt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ja-JP" altLang="en-US" i="1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b>
                            <m:r>
                              <a:rPr lang="en-US" altLang="ja-JP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  <m:e>
                        <m:r>
                          <a:rPr lang="en-US" altLang="ja-JP">
                            <a:latin typeface="Cambria Math" panose="02040503050406030204" pitchFamily="18" charset="0"/>
                          </a:rPr>
                          <m:t>…</m:t>
                        </m:r>
                      </m:e>
                      <m:e>
                        <m:sSub>
                          <m:sSubPr>
                            <m:ctrlPr>
                              <a:rPr lang="ja-JP" alt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ja-JP" altLang="en-US" i="1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b>
                            <m:r>
                              <a:rPr lang="ja-JP" altLang="en-US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d>
                  </m:oMath>
                </a14:m>
                <a:r>
                  <a:rPr lang="ja-JP" altLang="ja-JP" dirty="0"/>
                  <a:t>是 </a:t>
                </a:r>
                <a14:m>
                  <m:oMath xmlns:m="http://schemas.openxmlformats.org/officeDocument/2006/math">
                    <m:r>
                      <a:rPr lang="ja-JP" altLang="en-US" i="1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ja-JP" altLang="ja-JP" dirty="0"/>
                  <a:t>的基，则对偶基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sepChr m:val=","/>
                        <m:ctrlPr>
                          <a:rPr lang="ja-JP" alt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ja-JP" alt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ja-JP" altLang="en-US" i="1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altLang="ja-JP"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</m:e>
                      <m:e>
                        <m:r>
                          <a:rPr lang="en-US" altLang="ja-JP">
                            <a:latin typeface="Cambria Math" panose="02040503050406030204" pitchFamily="18" charset="0"/>
                          </a:rPr>
                          <m:t>…</m:t>
                        </m:r>
                      </m:e>
                      <m:e>
                        <m:sSup>
                          <m:sSupPr>
                            <m:ctrlPr>
                              <a:rPr lang="ja-JP" alt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ja-JP" altLang="en-US" i="1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ja-JP" altLang="en-US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</m:e>
                    </m:d>
                    <m:r>
                      <a:rPr lang="ja-JP" altLang="en-US">
                        <a:latin typeface="Cambria Math" panose="02040503050406030204" pitchFamily="18" charset="0"/>
                      </a:rPr>
                      <m:t>⊂</m:t>
                    </m:r>
                    <m:sSup>
                      <m:sSupPr>
                        <m:ctrlPr>
                          <a:rPr lang="ja-JP" alt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ja-JP" altLang="en-US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p>
                        <m:r>
                          <a:rPr lang="ja-JP" altLang="en-US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ja-JP" altLang="ja-JP" dirty="0"/>
                  <a:t>满足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ja-JP" alt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ja-JP" altLang="en-US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ja-JP" alt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</m:sup>
                      </m:sSup>
                      <m:d>
                        <m:dPr>
                          <m:ctrlPr>
                            <a:rPr lang="ja-JP" alt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ja-JP" alt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ja-JP" altLang="en-US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b>
                              <m:r>
                                <a:rPr lang="ja-JP" altLang="en-US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e>
                      </m:d>
                      <m:r>
                        <a:rPr lang="en-US" altLang="ja-JP"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ja-JP" altLang="en-US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ja-JP" altLang="en-US" i="1">
                              <a:latin typeface="Cambria Math" panose="02040503050406030204" pitchFamily="18" charset="0"/>
                            </a:rPr>
                            <m:t>𝛿</m:t>
                          </m:r>
                        </m:e>
                        <m:sub>
                          <m:r>
                            <a:rPr lang="ja-JP" altLang="en-US" i="1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>
                          <m:r>
                            <a:rPr lang="ja-JP" alt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</m:sup>
                      </m:sSubSup>
                      <m:r>
                        <a:rPr lang="en-US" altLang="ja-JP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en-US" altLang="ja-JP" dirty="0"/>
              </a:p>
              <a:p>
                <a:pPr marL="0" indent="0">
                  <a:buNone/>
                </a:pPr>
                <a:r>
                  <a:rPr lang="ja-JP" altLang="ja-JP" dirty="0"/>
                  <a:t>任意向量：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ja-JP" altLang="en-US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ja-JP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grow m:val="on"/>
                          <m:ctrlPr>
                            <a:rPr lang="ja-JP" alt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ja-JP" altLang="en-US" i="1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altLang="ja-JP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ja-JP" altLang="en-US" i="1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b>
                            <m:sSubPr>
                              <m:ctrlPr>
                                <a:rPr lang="ja-JP" alt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ja-JP" alt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ja-JP" altLang="en-US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e>
                      </m:nary>
                      <m:sSub>
                        <m:sSubPr>
                          <m:ctrlPr>
                            <a:rPr lang="ja-JP" alt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ja-JP" altLang="en-US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ja-JP" altLang="en-US" i="1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US" altLang="ja-JP"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en-US" altLang="ja-JP" dirty="0"/>
              </a:p>
              <a:p>
                <a:pPr marL="0" indent="0">
                  <a:buNone/>
                </a:pPr>
                <a:r>
                  <a:rPr lang="ja-JP" altLang="ja-JP" dirty="0"/>
                  <a:t>坐标由对偶基读出：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ja-JP" alt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ja-JP" alt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ja-JP" altLang="en-US" i="1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US" altLang="ja-JP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ja-JP" alt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ja-JP" altLang="en-US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ja-JP" altLang="en-US" i="1">
                              <a:latin typeface="Cambria Math" panose="02040503050406030204" pitchFamily="18" charset="0"/>
                            </a:rPr>
                            <m:t>𝑗</m:t>
                          </m:r>
                        </m:sup>
                      </m:sSup>
                      <m:d>
                        <m:dPr>
                          <m:ctrlPr>
                            <a:rPr lang="ja-JP" alt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ja-JP" alt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altLang="ja-JP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en-US" altLang="ja-JP" dirty="0"/>
              </a:p>
              <a:p>
                <a:pPr marL="0" indent="0">
                  <a:buNone/>
                </a:pPr>
                <a:r>
                  <a:rPr lang="zh-CN" altLang="en-US" dirty="0"/>
                  <a:t>注意</a:t>
                </a:r>
                <a:r>
                  <a:rPr lang="en-US" altLang="zh-CN" dirty="0"/>
                  <a:t>: </a:t>
                </a:r>
                <a:r>
                  <a:rPr lang="ja-JP" altLang="ja-JP" dirty="0"/>
                  <a:t>坐标不是向量本身，而是作用在向量上的线性函数。坐标函数属于对偶空间。</a:t>
                </a:r>
              </a:p>
            </p:txBody>
          </p:sp>
        </mc:Choice>
        <mc:Fallback xmlns="">
          <p:sp>
            <p:nvSpPr>
              <p:cNvPr id="12" name="コンテンツ プレースホルダー 2">
                <a:extLst>
                  <a:ext uri="{FF2B5EF4-FFF2-40B4-BE49-F238E27FC236}">
                    <a16:creationId xmlns:a16="http://schemas.microsoft.com/office/drawing/2014/main" id="{3D4F4C33-E958-8D07-F374-395F04321C2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09880" y="1183640"/>
                <a:ext cx="11572240" cy="5440680"/>
              </a:xfrm>
              <a:blipFill>
                <a:blip r:embed="rId3"/>
                <a:stretch>
                  <a:fillRect l="-580" t="-560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0084591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F46BD5-C0D7-1AA8-F1E1-A14BEC42D3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>
            <a:extLst>
              <a:ext uri="{FF2B5EF4-FFF2-40B4-BE49-F238E27FC236}">
                <a16:creationId xmlns:a16="http://schemas.microsoft.com/office/drawing/2014/main" id="{ADF1356A-CA52-58E0-E93A-045338A9D52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无限维中的关键差别：代数对偶太大</a:t>
            </a:r>
            <a:endParaRPr lang="ja-JP" altLang="ja-JP" b="1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コンテンツ プレースホルダー 2">
                <a:extLst>
                  <a:ext uri="{FF2B5EF4-FFF2-40B4-BE49-F238E27FC236}">
                    <a16:creationId xmlns:a16="http://schemas.microsoft.com/office/drawing/2014/main" id="{19E62D22-64BB-915E-C0E1-4610A5E90E6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09880" y="1183640"/>
                <a:ext cx="11811000" cy="5440680"/>
              </a:xfrm>
            </p:spPr>
            <p:txBody>
              <a:bodyPr/>
              <a:lstStyle/>
              <a:p>
                <a:r>
                  <a:rPr lang="ja-JP" altLang="ja-JP" dirty="0"/>
                  <a:t>代数对偶：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ja-JP" alt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ja-JP" altLang="en-US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p>
                        <m:r>
                          <a:rPr lang="en-US" altLang="ja-JP">
                            <a:latin typeface="Cambria Math" panose="02040503050406030204" pitchFamily="18" charset="0"/>
                          </a:rPr>
                          <m:t>#</m:t>
                        </m:r>
                      </m:sup>
                    </m:sSup>
                    <m:r>
                      <a:rPr lang="en-US" altLang="ja-JP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ja-JP" alt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lang="ja-JP" altLang="en-US"/>
                          <m:t>所有线性泛函 </m:t>
                        </m:r>
                        <m:r>
                          <a:rPr lang="ja-JP" altLang="en-US" i="1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ja-JP" altLang="en-US"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a:rPr lang="en-US" altLang="ja-JP">
                            <a:latin typeface="Cambria Math" panose="02040503050406030204" pitchFamily="18" charset="0"/>
                          </a:rPr>
                          <m:t>ℝ</m:t>
                        </m:r>
                      </m:e>
                    </m:d>
                    <m:r>
                      <a:rPr lang="en-US" altLang="ja-JP"/>
                      <m:t>=</m:t>
                    </m:r>
                    <m:sSub>
                      <m:sSubPr>
                        <m:ctrlPr>
                          <a:rPr lang="ja-JP" altLang="en-US" i="1"/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i="1">
                            <a:latin typeface="Cambria Math" panose="02040503050406030204" pitchFamily="18" charset="0"/>
                          </a:rPr>
                          <m:t>Hom</m:t>
                        </m:r>
                      </m:e>
                      <m:sub>
                        <m:r>
                          <a:rPr lang="ja-JP" altLang="en-US" b="1"/>
                          <m:t>𝐕𝐞𝐜𝐭</m:t>
                        </m:r>
                      </m:sub>
                    </m:sSub>
                    <m:d>
                      <m:dPr>
                        <m:sepChr m:val=","/>
                        <m:ctrlPr>
                          <a:rPr lang="ja-JP" altLang="en-US" b="1" i="1"/>
                        </m:ctrlPr>
                      </m:dPr>
                      <m:e>
                        <m:r>
                          <a:rPr lang="ja-JP" altLang="en-US" i="1"/>
                          <m:t>𝑋</m:t>
                        </m:r>
                      </m:e>
                      <m:e>
                        <m:r>
                          <a:rPr lang="en-US" altLang="ja-JP"/>
                          <m:t>ℝ</m:t>
                        </m:r>
                      </m:e>
                    </m:d>
                    <m:r>
                      <a:rPr lang="en-US" altLang="ja-JP"/>
                      <m:t>.</m:t>
                    </m:r>
                  </m:oMath>
                </a14:m>
                <a:r>
                  <a:rPr lang="en-US" altLang="ja-JP" b="0" dirty="0"/>
                  <a:t> </a:t>
                </a:r>
                <a:r>
                  <a:rPr lang="zh-CN" altLang="en-US" b="0" dirty="0"/>
                  <a:t>（</a:t>
                </a:r>
                <a:r>
                  <a:rPr lang="ja-JP" altLang="ja-JP" dirty="0"/>
                  <a:t>只看</a:t>
                </a:r>
                <a:r>
                  <a:rPr lang="ja-JP" altLang="ja-JP" b="1" dirty="0"/>
                  <a:t>线性结构</a:t>
                </a:r>
                <a:r>
                  <a:rPr lang="zh-CN" altLang="en-US" b="0" dirty="0"/>
                  <a:t>）</a:t>
                </a:r>
                <a:endParaRPr lang="en-US" altLang="ja-JP" b="0" dirty="0"/>
              </a:p>
              <a:p>
                <a:pPr marL="0" indent="0">
                  <a:buNone/>
                </a:pPr>
                <a:r>
                  <a:rPr lang="ja-JP" altLang="ja-JP" dirty="0"/>
                  <a:t>连续对偶：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ja-JP" alt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ja-JP" altLang="en-US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p>
                        <m:r>
                          <a:rPr lang="ja-JP" altLang="en-US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altLang="ja-JP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ja-JP" alt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lang="ja-JP" altLang="en-US"/>
                          <m:t>连续线性泛函 </m:t>
                        </m:r>
                        <m:r>
                          <a:rPr lang="ja-JP" altLang="en-US" i="1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ja-JP" altLang="en-US"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a:rPr lang="en-US" altLang="ja-JP">
                            <a:latin typeface="Cambria Math" panose="02040503050406030204" pitchFamily="18" charset="0"/>
                          </a:rPr>
                          <m:t>ℝ</m:t>
                        </m:r>
                      </m:e>
                    </m:d>
                    <m:r>
                      <a:rPr lang="en-US" altLang="ja-JP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r>
                  <a:rPr lang="en-US" altLang="ja-JP" b="0" dirty="0"/>
                  <a:t> </a:t>
                </a:r>
                <a:r>
                  <a:rPr lang="zh-CN" altLang="en-US" b="0" dirty="0"/>
                  <a:t>（</a:t>
                </a:r>
                <a:r>
                  <a:rPr lang="ja-JP" altLang="ja-JP" dirty="0"/>
                  <a:t>同时看</a:t>
                </a:r>
                <a:r>
                  <a:rPr lang="ja-JP" altLang="ja-JP" b="1" dirty="0"/>
                  <a:t>线性结构 + 拓扑结构/范数结构</a:t>
                </a:r>
                <a:r>
                  <a:rPr lang="zh-CN" altLang="en-US" b="0" dirty="0"/>
                  <a:t>）</a:t>
                </a:r>
                <a:endParaRPr lang="en-US" altLang="ja-JP" b="0" dirty="0"/>
              </a:p>
              <a:p>
                <a:pPr marL="0" indent="0">
                  <a:buNone/>
                </a:pPr>
                <a:endParaRPr lang="en-US" altLang="ja-JP" dirty="0"/>
              </a:p>
              <a:p>
                <a:pPr marL="0" indent="0">
                  <a:buNone/>
                </a:pPr>
                <a:r>
                  <a:rPr lang="ja-JP" altLang="ja-JP" dirty="0"/>
                  <a:t>在泛函分析中通常研究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ja-JP" alt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ja-JP" altLang="en-US" i="0"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p>
                        <m:r>
                          <a:rPr lang="ja-JP" altLang="en-US" i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altLang="ja-JP" i="0">
                        <a:latin typeface="Cambria Math" panose="02040503050406030204" pitchFamily="18" charset="0"/>
                      </a:rPr>
                      <m:t>, </m:t>
                    </m:r>
                    <m:r>
                      <m:rPr>
                        <m:nor/>
                      </m:rPr>
                      <a:rPr lang="ja-JP" altLang="en-US"/>
                      <m:t>不是 </m:t>
                    </m:r>
                    <m:sSup>
                      <m:sSupPr>
                        <m:ctrlPr>
                          <a:rPr lang="ja-JP" alt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ja-JP" altLang="en-US" i="0"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p>
                        <m:r>
                          <a:rPr lang="en-US" altLang="ja-JP" i="0">
                            <a:latin typeface="Cambria Math" panose="02040503050406030204" pitchFamily="18" charset="0"/>
                          </a:rPr>
                          <m:t>#</m:t>
                        </m:r>
                      </m:sup>
                    </m:sSup>
                    <m:r>
                      <a:rPr lang="en-US" altLang="ja-JP" i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altLang="ja-JP" b="0" dirty="0"/>
              </a:p>
              <a:p>
                <a:r>
                  <a:rPr lang="ja-JP" altLang="ja-JP" dirty="0"/>
                  <a:t>无限维空间里，不连续线性泛函非常多，而且通常不能被分析方法控制。泛函分析关心拓扑、极限、收敛，因此要研究连续线性泛函。</a:t>
                </a:r>
              </a:p>
              <a:p>
                <a:endParaRPr lang="en-US" altLang="ja-JP" b="1" dirty="0"/>
              </a:p>
              <a:p>
                <a:pPr marL="0" indent="0">
                  <a:buNone/>
                </a:pPr>
                <a:r>
                  <a:rPr lang="ja-JP" altLang="ja-JP" b="1" dirty="0"/>
                  <a:t>线性泛函连续性的判据</a:t>
                </a:r>
              </a:p>
              <a:p>
                <a:pPr marL="0" indent="0">
                  <a:buNone/>
                </a:pPr>
                <a:r>
                  <a:rPr lang="ja-JP" altLang="ja-JP" dirty="0"/>
                  <a:t>设 </a:t>
                </a:r>
                <a14:m>
                  <m:oMath xmlns:m="http://schemas.openxmlformats.org/officeDocument/2006/math">
                    <m:r>
                      <a:rPr lang="ja-JP" altLang="en-US" i="1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ja-JP" altLang="ja-JP" dirty="0"/>
                  <a:t>是赋范线性空间，</a:t>
                </a:r>
                <a14:m>
                  <m:oMath xmlns:m="http://schemas.openxmlformats.org/officeDocument/2006/math">
                    <m:r>
                      <a:rPr lang="ja-JP" altLang="en-US" i="1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altLang="ja-JP">
                        <a:latin typeface="Cambria Math" panose="02040503050406030204" pitchFamily="18" charset="0"/>
                      </a:rPr>
                      <m:t>:</m:t>
                    </m:r>
                    <m:r>
                      <a:rPr lang="ja-JP" altLang="en-US" i="1">
                        <a:latin typeface="Cambria Math" panose="02040503050406030204" pitchFamily="18" charset="0"/>
                      </a:rPr>
                      <m:t>𝑋</m:t>
                    </m:r>
                    <m:r>
                      <a:rPr lang="ja-JP" altLang="en-US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altLang="ja-JP">
                        <a:latin typeface="Cambria Math" panose="02040503050406030204" pitchFamily="18" charset="0"/>
                      </a:rPr>
                      <m:t>ℝ</m:t>
                    </m:r>
                  </m:oMath>
                </a14:m>
                <a:r>
                  <a:rPr lang="ja-JP" altLang="ja-JP" dirty="0"/>
                  <a:t> 线性。以下等价：</a:t>
                </a: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r>
                      <a:rPr lang="ja-JP" altLang="en-US" i="1"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nor/>
                      </m:rPr>
                      <a:rPr lang="ja-JP" altLang="en-US" i="1"/>
                      <m:t> </m:t>
                    </m:r>
                    <m:r>
                      <m:rPr>
                        <m:nor/>
                      </m:rPr>
                      <a:rPr lang="ja-JP" altLang="en-US"/>
                      <m:t>连</m:t>
                    </m:r>
                    <m:r>
                      <m:rPr>
                        <m:nor/>
                      </m:rPr>
                      <a:rPr lang="ja-JP" altLang="en-US" smtClean="0"/>
                      <m:t>续</m:t>
                    </m:r>
                    <m:r>
                      <a:rPr lang="en-US" altLang="ja-JP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ja-JP" altLang="en-US">
                        <a:latin typeface="Cambria Math" panose="02040503050406030204" pitchFamily="18" charset="0"/>
                      </a:rPr>
                      <m:t>⟺</m:t>
                    </m:r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ja-JP" altLang="en-US" i="1"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nor/>
                      </m:rPr>
                      <a:rPr lang="ja-JP" altLang="en-US" i="1"/>
                      <m:t> </m:t>
                    </m:r>
                    <m:r>
                      <m:rPr>
                        <m:nor/>
                      </m:rPr>
                      <a:rPr lang="ja-JP" altLang="en-US"/>
                      <m:t>在</m:t>
                    </m:r>
                    <m:r>
                      <m:rPr>
                        <m:nor/>
                      </m:rPr>
                      <a:rPr lang="ja-JP" altLang="en-US" i="1"/>
                      <m:t> </m:t>
                    </m:r>
                    <m:r>
                      <a:rPr lang="en-US" altLang="ja-JP"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nor/>
                      </m:rPr>
                      <a:rPr lang="ja-JP" altLang="en-US" i="1"/>
                      <m:t> </m:t>
                    </m:r>
                    <m:r>
                      <m:rPr>
                        <m:nor/>
                      </m:rPr>
                      <a:rPr lang="ja-JP" altLang="en-US"/>
                      <m:t>处连续</m:t>
                    </m:r>
                    <m:r>
                      <m:rPr>
                        <m:nor/>
                      </m:rPr>
                      <a:rPr lang="en-US" altLang="ja-JP" b="0" smtClean="0"/>
                      <m:t> </m:t>
                    </m:r>
                    <m:r>
                      <a:rPr lang="ja-JP" altLang="en-US">
                        <a:latin typeface="Cambria Math" panose="02040503050406030204" pitchFamily="18" charset="0"/>
                      </a:rPr>
                      <m:t>⟺</m:t>
                    </m:r>
                  </m:oMath>
                </a14:m>
                <a:r>
                  <a:rPr lang="en-US" altLang="ja-JP" dirty="0"/>
                  <a:t> </a:t>
                </a:r>
                <a:r>
                  <a:rPr lang="ja-JP" altLang="ja-JP" dirty="0"/>
                  <a:t>存在 </a:t>
                </a:r>
                <a14:m>
                  <m:oMath xmlns:m="http://schemas.openxmlformats.org/officeDocument/2006/math">
                    <m:r>
                      <a:rPr lang="ja-JP" altLang="en-US" i="1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altLang="ja-JP"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r>
                  <a:rPr lang="ja-JP" altLang="ja-JP" dirty="0"/>
                  <a:t>，使得</a:t>
                </a:r>
                <a14:m>
                  <m:oMath xmlns:m="http://schemas.openxmlformats.org/officeDocument/2006/math">
                    <m:r>
                      <a:rPr lang="ja-JP" altLang="en-US">
                        <a:latin typeface="Cambria Math" panose="02040503050406030204" pitchFamily="18" charset="0"/>
                      </a:rPr>
                      <m:t>∣</m:t>
                    </m:r>
                    <m:r>
                      <a:rPr lang="ja-JP" altLang="en-US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ja-JP" alt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ja-JP" alt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ja-JP" altLang="en-US">
                        <a:latin typeface="Cambria Math" panose="02040503050406030204" pitchFamily="18" charset="0"/>
                      </a:rPr>
                      <m:t>∣≤</m:t>
                    </m:r>
                    <m:r>
                      <a:rPr lang="ja-JP" altLang="en-US" i="1">
                        <a:latin typeface="Cambria Math" panose="02040503050406030204" pitchFamily="18" charset="0"/>
                      </a:rPr>
                      <m:t>𝐶</m:t>
                    </m:r>
                    <m:r>
                      <a:rPr lang="ja-JP" altLang="en-US">
                        <a:latin typeface="Cambria Math" panose="02040503050406030204" pitchFamily="18" charset="0"/>
                      </a:rPr>
                      <m:t>∥</m:t>
                    </m:r>
                    <m:r>
                      <a:rPr lang="ja-JP" altLang="en-US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ja-JP" altLang="en-US">
                        <a:latin typeface="Cambria Math" panose="02040503050406030204" pitchFamily="18" charset="0"/>
                      </a:rPr>
                      <m:t>∥</m:t>
                    </m:r>
                    <m:r>
                      <a:rPr lang="en-US" altLang="ja-JP">
                        <a:latin typeface="Cambria Math" panose="02040503050406030204" pitchFamily="18" charset="0"/>
                      </a:rPr>
                      <m:t>, ∀</m:t>
                    </m:r>
                    <m:r>
                      <a:rPr lang="ja-JP" altLang="en-US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ja-JP" altLang="en-US">
                        <a:latin typeface="Cambria Math" panose="02040503050406030204" pitchFamily="18" charset="0"/>
                      </a:rPr>
                      <m:t>∈</m:t>
                    </m:r>
                    <m:r>
                      <a:rPr lang="ja-JP" altLang="en-US" i="1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altLang="ja-JP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altLang="ja-JP" dirty="0"/>
              </a:p>
              <a:p>
                <a:pPr marL="0" indent="0">
                  <a:buNone/>
                </a:pPr>
                <a:endParaRPr lang="en-US" altLang="ja-JP" dirty="0"/>
              </a:p>
              <a:p>
                <a:pPr marL="0" indent="0">
                  <a:buNone/>
                </a:pPr>
                <a:r>
                  <a:rPr lang="ja-JP" altLang="ja-JP" dirty="0"/>
                  <a:t>于是定义：</a:t>
                </a:r>
                <a:endParaRPr lang="en-US" altLang="ja-JP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ja-JP" altLang="en-US">
                          <a:latin typeface="Cambria Math" panose="02040503050406030204" pitchFamily="18" charset="0"/>
                        </a:rPr>
                        <m:t>∥</m:t>
                      </m:r>
                      <m:r>
                        <a:rPr lang="ja-JP" altLang="en-US" i="1">
                          <a:latin typeface="Cambria Math" panose="02040503050406030204" pitchFamily="18" charset="0"/>
                        </a:rPr>
                        <m:t>𝑓</m:t>
                      </m:r>
                      <m:sSub>
                        <m:sSubPr>
                          <m:ctrlPr>
                            <a:rPr lang="ja-JP" alt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ja-JP" altLang="en-US">
                              <a:latin typeface="Cambria Math" panose="02040503050406030204" pitchFamily="18" charset="0"/>
                            </a:rPr>
                            <m:t>∥</m:t>
                          </m:r>
                        </m:e>
                        <m:sub>
                          <m:sSup>
                            <m:sSupPr>
                              <m:ctrlPr>
                                <a:rPr lang="ja-JP" alt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ja-JP" altLang="en-US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p>
                              <m:r>
                                <a:rPr lang="ja-JP" altLang="en-US"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</m:sub>
                      </m:sSub>
                      <m:r>
                        <a:rPr lang="en-US" altLang="ja-JP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ja-JP" alt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i="1">
                              <a:latin typeface="Cambria Math" panose="02040503050406030204" pitchFamily="18" charset="0"/>
                            </a:rPr>
                            <m:t>su</m:t>
                          </m:r>
                          <m:r>
                            <m:rPr>
                              <m:sty m:val="p"/>
                            </m:r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p</m:t>
                          </m:r>
                        </m:e>
                        <m:sub>
                          <m:r>
                            <a:rPr lang="ja-JP" altLang="en-US">
                              <a:latin typeface="Cambria Math" panose="02040503050406030204" pitchFamily="18" charset="0"/>
                            </a:rPr>
                            <m:t>∥</m:t>
                          </m:r>
                          <m:r>
                            <a:rPr lang="ja-JP" alt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ja-JP" altLang="en-US">
                              <a:latin typeface="Cambria Math" panose="02040503050406030204" pitchFamily="18" charset="0"/>
                            </a:rPr>
                            <m:t>∥≤</m:t>
                          </m:r>
                          <m:r>
                            <a:rPr lang="en-US" altLang="ja-JP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ja-JP" altLang="en-US">
                          <a:latin typeface="Cambria Math" panose="02040503050406030204" pitchFamily="18" charset="0"/>
                        </a:rPr>
                        <m:t>∣</m:t>
                      </m:r>
                      <m:r>
                        <a:rPr lang="ja-JP" altLang="en-US" i="1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ja-JP" alt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ja-JP" alt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ja-JP" altLang="en-US">
                          <a:latin typeface="Cambria Math" panose="02040503050406030204" pitchFamily="18" charset="0"/>
                        </a:rPr>
                        <m:t>∣</m:t>
                      </m:r>
                      <m:r>
                        <a:rPr lang="en-US" altLang="ja-JP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en-US" altLang="ja-JP" dirty="0"/>
              </a:p>
              <a:p>
                <a:pPr marL="0" indent="0">
                  <a:buNone/>
                </a:pPr>
                <a:endParaRPr lang="en-US" altLang="ja-JP" dirty="0"/>
              </a:p>
              <a:p>
                <a:pPr marL="0" indent="0">
                  <a:buNone/>
                </a:pPr>
                <a:r>
                  <a:rPr lang="zh-CN" altLang="en-US" dirty="0"/>
                  <a:t>核心：</a:t>
                </a:r>
                <a:r>
                  <a:rPr lang="ja-JP" altLang="ja-JP" dirty="0"/>
                  <a:t>“连续线性泛函”等价于“有统一常数控制”</a:t>
                </a:r>
              </a:p>
            </p:txBody>
          </p:sp>
        </mc:Choice>
        <mc:Fallback>
          <p:sp>
            <p:nvSpPr>
              <p:cNvPr id="12" name="コンテンツ プレースホルダー 2">
                <a:extLst>
                  <a:ext uri="{FF2B5EF4-FFF2-40B4-BE49-F238E27FC236}">
                    <a16:creationId xmlns:a16="http://schemas.microsoft.com/office/drawing/2014/main" id="{19E62D22-64BB-915E-C0E1-4610A5E90E6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09880" y="1183640"/>
                <a:ext cx="11811000" cy="5440680"/>
              </a:xfrm>
              <a:blipFill>
                <a:blip r:embed="rId3"/>
                <a:stretch>
                  <a:fillRect l="-568" t="-784" b="-1120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7501174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CB2014-261E-625F-4EF6-CDC13A298F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>
            <a:extLst>
              <a:ext uri="{FF2B5EF4-FFF2-40B4-BE49-F238E27FC236}">
                <a16:creationId xmlns:a16="http://schemas.microsoft.com/office/drawing/2014/main" id="{9EC367A2-CFEA-CA53-ADB1-95D7DEC667F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例子：积分泛函</a:t>
            </a:r>
            <a:endParaRPr lang="ja-JP" altLang="ja-JP" b="1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コンテンツ プレースホルダー 2">
                <a:extLst>
                  <a:ext uri="{FF2B5EF4-FFF2-40B4-BE49-F238E27FC236}">
                    <a16:creationId xmlns:a16="http://schemas.microsoft.com/office/drawing/2014/main" id="{4A86FF2B-DEC1-DEF0-11C5-DD3E4359431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09880" y="1183640"/>
                <a:ext cx="11811000" cy="5440680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ja-JP" altLang="ja-JP" dirty="0"/>
                  <a:t>在 </a:t>
                </a:r>
                <a14:m>
                  <m:oMath xmlns:m="http://schemas.openxmlformats.org/officeDocument/2006/math">
                    <m:r>
                      <a:rPr lang="ja-JP" altLang="en-US" i="1">
                        <a:latin typeface="Cambria Math" panose="02040503050406030204" pitchFamily="18" charset="0"/>
                      </a:rPr>
                      <m:t>𝐶</m:t>
                    </m:r>
                    <m:d>
                      <m:dPr>
                        <m:begChr m:val="["/>
                        <m:endChr m:val="]"/>
                        <m:sepChr m:val=","/>
                        <m:ctrlPr>
                          <a:rPr lang="ja-JP" alt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>
                            <a:latin typeface="Cambria Math" panose="02040503050406030204" pitchFamily="18" charset="0"/>
                          </a:rPr>
                          <m:t>0</m:t>
                        </m:r>
                      </m:e>
                      <m:e>
                        <m:r>
                          <a:rPr lang="en-US" altLang="ja-JP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r>
                  <a:rPr lang="ja-JP" altLang="ja-JP" dirty="0"/>
                  <a:t>上，取</a:t>
                </a:r>
                <a:endParaRPr lang="en-US" altLang="ja-JP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ja-JP" altLang="en-US" i="1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ja-JP" alt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ja-JP" altLang="en-US" i="1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</m:d>
                      <m:r>
                        <a:rPr lang="en-US" altLang="ja-JP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grow m:val="on"/>
                          <m:ctrlPr>
                            <a:rPr lang="ja-JP" alt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ja-JP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altLang="ja-JP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  <m:e>
                          <m:r>
                            <a:rPr lang="ja-JP" altLang="en-US" i="1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</m:nary>
                      <m:d>
                        <m:dPr>
                          <m:ctrlPr>
                            <a:rPr lang="ja-JP" alt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ja-JP" alt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m:rPr>
                          <m:nor/>
                        </m:rPr>
                        <a:rPr lang="ja-JP" altLang="en-US" i="1"/>
                        <m:t> </m:t>
                      </m:r>
                      <m:r>
                        <a:rPr lang="ja-JP" altLang="en-US" i="1">
                          <a:latin typeface="Cambria Math" panose="02040503050406030204" pitchFamily="18" charset="0"/>
                        </a:rPr>
                        <m:t>𝑑𝑡</m:t>
                      </m:r>
                      <m:r>
                        <a:rPr lang="en-US" altLang="ja-JP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en-US" altLang="ja-JP" b="0" dirty="0"/>
              </a:p>
              <a:p>
                <a:pPr marL="0" indent="0">
                  <a:buNone/>
                </a:pPr>
                <a:r>
                  <a:rPr lang="ja-JP" altLang="ja-JP" dirty="0"/>
                  <a:t>若使用 </a:t>
                </a:r>
                <a14:m>
                  <m:oMath xmlns:m="http://schemas.openxmlformats.org/officeDocument/2006/math">
                    <m:r>
                      <a:rPr lang="ja-JP" altLang="en-US">
                        <a:latin typeface="Cambria Math" panose="02040503050406030204" pitchFamily="18" charset="0"/>
                      </a:rPr>
                      <m:t>∥⋅</m:t>
                    </m:r>
                    <m:sSub>
                      <m:sSubPr>
                        <m:ctrlPr>
                          <a:rPr lang="ja-JP" alt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ja-JP" altLang="en-US">
                            <a:latin typeface="Cambria Math" panose="02040503050406030204" pitchFamily="18" charset="0"/>
                          </a:rPr>
                          <m:t>∥</m:t>
                        </m:r>
                      </m:e>
                      <m:sub>
                        <m:r>
                          <a:rPr lang="ja-JP" altLang="en-US">
                            <a:latin typeface="Cambria Math" panose="02040503050406030204" pitchFamily="18" charset="0"/>
                          </a:rPr>
                          <m:t>∞</m:t>
                        </m:r>
                      </m:sub>
                    </m:sSub>
                  </m:oMath>
                </a14:m>
                <a:r>
                  <a:rPr lang="en-US" altLang="ja-JP" dirty="0"/>
                  <a:t>(</a:t>
                </a:r>
                <a:r>
                  <a:rPr lang="ja-JP" altLang="ja-JP" dirty="0"/>
                  <a:t>对一个对象，取它所有分量或所有函数值的“最大绝对值”</a:t>
                </a:r>
                <a:r>
                  <a:rPr lang="en-US" altLang="ja-JP" dirty="0"/>
                  <a:t>)</a:t>
                </a:r>
                <a:r>
                  <a:rPr lang="ja-JP" altLang="ja-JP" dirty="0"/>
                  <a:t>，则</a:t>
                </a:r>
                <a:endParaRPr lang="en-US" altLang="ja-JP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ja-JP" altLang="en-US">
                          <a:latin typeface="Cambria Math" panose="02040503050406030204" pitchFamily="18" charset="0"/>
                        </a:rPr>
                        <m:t>∣</m:t>
                      </m:r>
                      <m:r>
                        <a:rPr lang="ja-JP" altLang="en-US" i="1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ja-JP" alt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ja-JP" altLang="en-US" i="1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</m:d>
                      <m:r>
                        <a:rPr lang="ja-JP" altLang="en-US">
                          <a:latin typeface="Cambria Math" panose="02040503050406030204" pitchFamily="18" charset="0"/>
                        </a:rPr>
                        <m:t>∣≤</m:t>
                      </m:r>
                      <m:nary>
                        <m:naryPr>
                          <m:grow m:val="on"/>
                          <m:ctrlPr>
                            <a:rPr lang="ja-JP" alt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ja-JP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altLang="ja-JP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  <m:e>
                          <m:r>
                            <a:rPr lang="ja-JP" altLang="en-US">
                              <a:latin typeface="Cambria Math" panose="02040503050406030204" pitchFamily="18" charset="0"/>
                            </a:rPr>
                            <m:t>∣</m:t>
                          </m:r>
                        </m:e>
                      </m:nary>
                      <m:r>
                        <a:rPr lang="ja-JP" altLang="en-US" i="1">
                          <a:latin typeface="Cambria Math" panose="02040503050406030204" pitchFamily="18" charset="0"/>
                        </a:rPr>
                        <m:t>𝑢</m:t>
                      </m:r>
                      <m:d>
                        <m:dPr>
                          <m:ctrlPr>
                            <a:rPr lang="ja-JP" alt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ja-JP" alt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ja-JP" altLang="en-US">
                          <a:latin typeface="Cambria Math" panose="02040503050406030204" pitchFamily="18" charset="0"/>
                        </a:rPr>
                        <m:t>∣</m:t>
                      </m:r>
                      <m:r>
                        <m:rPr>
                          <m:nor/>
                        </m:rPr>
                        <a:rPr lang="ja-JP" altLang="en-US" i="1"/>
                        <m:t> </m:t>
                      </m:r>
                      <m:r>
                        <a:rPr lang="ja-JP" altLang="en-US" i="1">
                          <a:latin typeface="Cambria Math" panose="02040503050406030204" pitchFamily="18" charset="0"/>
                        </a:rPr>
                        <m:t>𝑑𝑡</m:t>
                      </m:r>
                      <m:r>
                        <a:rPr lang="ja-JP" altLang="en-US">
                          <a:latin typeface="Cambria Math" panose="02040503050406030204" pitchFamily="18" charset="0"/>
                        </a:rPr>
                        <m:t>≤∥</m:t>
                      </m:r>
                      <m:r>
                        <a:rPr lang="ja-JP" altLang="en-US" i="1">
                          <a:latin typeface="Cambria Math" panose="02040503050406030204" pitchFamily="18" charset="0"/>
                        </a:rPr>
                        <m:t>𝑢</m:t>
                      </m:r>
                      <m:sSub>
                        <m:sSubPr>
                          <m:ctrlPr>
                            <a:rPr lang="ja-JP" alt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ja-JP" altLang="en-US">
                              <a:latin typeface="Cambria Math" panose="02040503050406030204" pitchFamily="18" charset="0"/>
                            </a:rPr>
                            <m:t>∥</m:t>
                          </m:r>
                        </m:e>
                        <m:sub>
                          <m:r>
                            <a:rPr lang="ja-JP" altLang="en-US">
                              <a:latin typeface="Cambria Math" panose="02040503050406030204" pitchFamily="18" charset="0"/>
                            </a:rPr>
                            <m:t>∞</m:t>
                          </m:r>
                        </m:sub>
                      </m:sSub>
                      <m:r>
                        <a:rPr lang="en-US" altLang="ja-JP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en-US" altLang="ja-JP" b="0" dirty="0"/>
              </a:p>
              <a:p>
                <a:pPr marL="0" indent="0">
                  <a:buNone/>
                </a:pPr>
                <a:r>
                  <a:rPr lang="ja-JP" altLang="ja-JP" dirty="0"/>
                  <a:t>所以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ja-JP" altLang="en-US" i="1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ja-JP" altLang="en-US"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ja-JP" altLang="en-US" i="1">
                          <a:latin typeface="Cambria Math" panose="02040503050406030204" pitchFamily="18" charset="0"/>
                        </a:rPr>
                        <m:t>𝐶</m:t>
                      </m:r>
                      <m:sSup>
                        <m:sSupPr>
                          <m:ctrlPr>
                            <a:rPr lang="ja-JP" alt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["/>
                              <m:endChr m:val="]"/>
                              <m:sepChr m:val=","/>
                              <m:ctrlPr>
                                <a:rPr lang="ja-JP" alt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ja-JP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ja-JP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d>
                        </m:e>
                        <m:sup>
                          <m:r>
                            <a:rPr lang="ja-JP" altLang="en-US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en-US" altLang="ja-JP">
                          <a:latin typeface="Cambria Math" panose="02040503050406030204" pitchFamily="18" charset="0"/>
                        </a:rPr>
                        <m:t>, ∥</m:t>
                      </m:r>
                      <m:r>
                        <a:rPr lang="ja-JP" altLang="en-US" i="1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ja-JP" altLang="en-US">
                          <a:latin typeface="Cambria Math" panose="02040503050406030204" pitchFamily="18" charset="0"/>
                        </a:rPr>
                        <m:t>∥≤</m:t>
                      </m:r>
                      <m:r>
                        <a:rPr lang="en-US" altLang="ja-JP">
                          <a:latin typeface="Cambria Math" panose="02040503050406030204" pitchFamily="18" charset="0"/>
                        </a:rPr>
                        <m:t>1.</m:t>
                      </m:r>
                    </m:oMath>
                  </m:oMathPara>
                </a14:m>
                <a:endParaRPr lang="en-US" altLang="ja-JP" dirty="0"/>
              </a:p>
              <a:p>
                <a:pPr marL="0" indent="0">
                  <a:buNone/>
                </a:pPr>
                <a:r>
                  <a:rPr lang="ja-JP" altLang="ja-JP" dirty="0"/>
                  <a:t>事实上 </a:t>
                </a:r>
                <a14:m>
                  <m:oMath xmlns:m="http://schemas.openxmlformats.org/officeDocument/2006/math">
                    <m:r>
                      <a:rPr lang="ja-JP" altLang="en-US">
                        <a:latin typeface="Cambria Math" panose="02040503050406030204" pitchFamily="18" charset="0"/>
                      </a:rPr>
                      <m:t>∥</m:t>
                    </m:r>
                    <m:r>
                      <a:rPr lang="ja-JP" altLang="en-US" i="1">
                        <a:latin typeface="Cambria Math" panose="02040503050406030204" pitchFamily="18" charset="0"/>
                      </a:rPr>
                      <m:t>𝑓</m:t>
                    </m:r>
                    <m:r>
                      <a:rPr lang="ja-JP" altLang="en-US">
                        <a:latin typeface="Cambria Math" panose="02040503050406030204" pitchFamily="18" charset="0"/>
                      </a:rPr>
                      <m:t>∥</m:t>
                    </m:r>
                    <m:r>
                      <a:rPr lang="en-US" altLang="ja-JP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ja-JP" altLang="ja-JP" dirty="0"/>
                  <a:t>。</a:t>
                </a:r>
              </a:p>
              <a:p>
                <a:pPr marL="0" indent="0">
                  <a:buNone/>
                </a:pPr>
                <a:br>
                  <a:rPr lang="ja-JP" altLang="ja-JP" dirty="0"/>
                </a:br>
                <a:r>
                  <a:rPr lang="ja-JP" altLang="ja-JP" dirty="0"/>
                  <a:t>这是最朴素的泛函：输入一个函数，输出一个数。</a:t>
                </a:r>
                <a:endParaRPr lang="en-US" altLang="ja-JP" dirty="0"/>
              </a:p>
              <a:p>
                <a:pPr marL="0" indent="0">
                  <a:buNone/>
                </a:pPr>
                <a:r>
                  <a:rPr lang="ja-JP" altLang="ja-JP" dirty="0"/>
                  <a:t>泛函分析中的“点”经常本身就是函数，而“函数上的函数”就是泛函。</a:t>
                </a:r>
              </a:p>
              <a:p>
                <a:endParaRPr lang="ja-JP" altLang="ja-JP" dirty="0"/>
              </a:p>
            </p:txBody>
          </p:sp>
        </mc:Choice>
        <mc:Fallback>
          <p:sp>
            <p:nvSpPr>
              <p:cNvPr id="12" name="コンテンツ プレースホルダー 2">
                <a:extLst>
                  <a:ext uri="{FF2B5EF4-FFF2-40B4-BE49-F238E27FC236}">
                    <a16:creationId xmlns:a16="http://schemas.microsoft.com/office/drawing/2014/main" id="{4A86FF2B-DEC1-DEF0-11C5-DD3E4359431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09880" y="1183640"/>
                <a:ext cx="11811000" cy="5440680"/>
              </a:xfrm>
              <a:blipFill>
                <a:blip r:embed="rId3"/>
                <a:stretch>
                  <a:fillRect l="-568" t="-896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3472385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7E0E17-E823-A7EC-9481-B15724E5E0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>
            <a:extLst>
              <a:ext uri="{FF2B5EF4-FFF2-40B4-BE49-F238E27FC236}">
                <a16:creationId xmlns:a16="http://schemas.microsoft.com/office/drawing/2014/main" id="{F38962C7-BEFE-AD0D-413C-B8D4449C9DF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例子：</a:t>
            </a:r>
            <a:r>
              <a:rPr lang="ja-JP" altLang="ja-JP" b="1" dirty="0"/>
              <a:t>点值泛函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コンテンツ プレースホルダー 2">
                <a:extLst>
                  <a:ext uri="{FF2B5EF4-FFF2-40B4-BE49-F238E27FC236}">
                    <a16:creationId xmlns:a16="http://schemas.microsoft.com/office/drawing/2014/main" id="{668E6F36-01C7-31AB-138A-597E7AF744B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09880" y="1183640"/>
                <a:ext cx="11811000" cy="5440680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ja-JP" altLang="ja-JP" dirty="0"/>
                  <a:t>在 </a:t>
                </a:r>
                <a14:m>
                  <m:oMath xmlns:m="http://schemas.openxmlformats.org/officeDocument/2006/math">
                    <m:r>
                      <a:rPr lang="ja-JP" altLang="en-US" i="1">
                        <a:latin typeface="Cambria Math" panose="02040503050406030204" pitchFamily="18" charset="0"/>
                      </a:rPr>
                      <m:t>𝐶</m:t>
                    </m:r>
                    <m:d>
                      <m:dPr>
                        <m:begChr m:val="["/>
                        <m:endChr m:val="]"/>
                        <m:sepChr m:val=","/>
                        <m:ctrlPr>
                          <a:rPr lang="ja-JP" alt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>
                            <a:latin typeface="Cambria Math" panose="02040503050406030204" pitchFamily="18" charset="0"/>
                          </a:rPr>
                          <m:t>0</m:t>
                        </m:r>
                      </m:e>
                      <m:e>
                        <m:r>
                          <a:rPr lang="en-US" altLang="ja-JP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r>
                  <a:rPr lang="ja-JP" altLang="ja-JP" dirty="0"/>
                  <a:t>上，对固定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ja-JP" alt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ja-JP" altLang="en-US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altLang="ja-JP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ja-JP" altLang="en-US"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["/>
                        <m:endChr m:val="]"/>
                        <m:sepChr m:val=","/>
                        <m:ctrlPr>
                          <a:rPr lang="ja-JP" alt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>
                            <a:latin typeface="Cambria Math" panose="02040503050406030204" pitchFamily="18" charset="0"/>
                          </a:rPr>
                          <m:t>0</m:t>
                        </m:r>
                      </m:e>
                      <m:e>
                        <m:r>
                          <a:rPr lang="en-US" altLang="ja-JP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r>
                  <a:rPr lang="ja-JP" altLang="ja-JP" dirty="0"/>
                  <a:t>，定义</a:t>
                </a:r>
                <a:endParaRPr lang="en-US" altLang="ja-JP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ja-JP" alt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ja-JP" altLang="en-US" i="1">
                              <a:latin typeface="Cambria Math" panose="02040503050406030204" pitchFamily="18" charset="0"/>
                            </a:rPr>
                            <m:t>𝛿</m:t>
                          </m:r>
                        </m:e>
                        <m:sub>
                          <m:sSub>
                            <m:sSubPr>
                              <m:ctrlPr>
                                <a:rPr lang="ja-JP" alt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ja-JP" altLang="en-US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altLang="ja-JP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sub>
                      </m:sSub>
                      <m:d>
                        <m:dPr>
                          <m:ctrlPr>
                            <a:rPr lang="ja-JP" alt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ja-JP" altLang="en-US" i="1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</m:d>
                      <m:r>
                        <a:rPr lang="en-US" altLang="ja-JP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ja-JP" altLang="en-US" i="1">
                          <a:latin typeface="Cambria Math" panose="02040503050406030204" pitchFamily="18" charset="0"/>
                        </a:rPr>
                        <m:t>𝑢</m:t>
                      </m:r>
                      <m:d>
                        <m:dPr>
                          <m:ctrlPr>
                            <a:rPr lang="ja-JP" alt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ja-JP" alt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ja-JP" altLang="en-US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altLang="ja-JP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e>
                      </m:d>
                      <m:r>
                        <a:rPr lang="en-US" altLang="ja-JP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en-US" altLang="ja-JP" dirty="0"/>
              </a:p>
              <a:p>
                <a:pPr marL="0" indent="0">
                  <a:buNone/>
                </a:pPr>
                <a:r>
                  <a:rPr lang="ja-JP" altLang="ja-JP" dirty="0"/>
                  <a:t>则</a:t>
                </a:r>
                <a:endParaRPr lang="en-US" altLang="ja-JP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ja-JP" altLang="en-US">
                          <a:latin typeface="Cambria Math" panose="02040503050406030204" pitchFamily="18" charset="0"/>
                        </a:rPr>
                        <m:t>∣</m:t>
                      </m:r>
                      <m:sSub>
                        <m:sSubPr>
                          <m:ctrlPr>
                            <a:rPr lang="ja-JP" alt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ja-JP" altLang="en-US" i="1">
                              <a:latin typeface="Cambria Math" panose="02040503050406030204" pitchFamily="18" charset="0"/>
                            </a:rPr>
                            <m:t>𝛿</m:t>
                          </m:r>
                        </m:e>
                        <m:sub>
                          <m:sSub>
                            <m:sSubPr>
                              <m:ctrlPr>
                                <a:rPr lang="ja-JP" alt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ja-JP" altLang="en-US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altLang="ja-JP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sub>
                      </m:sSub>
                      <m:d>
                        <m:dPr>
                          <m:ctrlPr>
                            <a:rPr lang="ja-JP" alt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ja-JP" altLang="en-US" i="1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</m:d>
                      <m:r>
                        <a:rPr lang="ja-JP" altLang="en-US">
                          <a:latin typeface="Cambria Math" panose="02040503050406030204" pitchFamily="18" charset="0"/>
                        </a:rPr>
                        <m:t>∣≤∥</m:t>
                      </m:r>
                      <m:r>
                        <a:rPr lang="ja-JP" altLang="en-US" i="1">
                          <a:latin typeface="Cambria Math" panose="02040503050406030204" pitchFamily="18" charset="0"/>
                        </a:rPr>
                        <m:t>𝑢</m:t>
                      </m:r>
                      <m:sSub>
                        <m:sSubPr>
                          <m:ctrlPr>
                            <a:rPr lang="ja-JP" alt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ja-JP" altLang="en-US">
                              <a:latin typeface="Cambria Math" panose="02040503050406030204" pitchFamily="18" charset="0"/>
                            </a:rPr>
                            <m:t>∥</m:t>
                          </m:r>
                        </m:e>
                        <m:sub>
                          <m:r>
                            <a:rPr lang="ja-JP" altLang="en-US">
                              <a:latin typeface="Cambria Math" panose="02040503050406030204" pitchFamily="18" charset="0"/>
                            </a:rPr>
                            <m:t>∞</m:t>
                          </m:r>
                        </m:sub>
                      </m:sSub>
                      <m:r>
                        <a:rPr lang="en-US" altLang="ja-JP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en-US" altLang="ja-JP" dirty="0"/>
              </a:p>
              <a:p>
                <a:pPr marL="0" indent="0">
                  <a:buNone/>
                </a:pPr>
                <a:r>
                  <a:rPr lang="ja-JP" altLang="ja-JP" dirty="0"/>
                  <a:t>所以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ja-JP" alt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ja-JP" altLang="en-US" i="1">
                            <a:latin typeface="Cambria Math" panose="02040503050406030204" pitchFamily="18" charset="0"/>
                          </a:rPr>
                          <m:t>𝛿</m:t>
                        </m:r>
                      </m:e>
                      <m:sub>
                        <m:sSub>
                          <m:sSubPr>
                            <m:ctrlPr>
                              <a:rPr lang="ja-JP" alt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ja-JP" altLang="en-US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altLang="ja-JP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sub>
                    </m:sSub>
                    <m:r>
                      <a:rPr lang="ja-JP" altLang="en-US">
                        <a:latin typeface="Cambria Math" panose="02040503050406030204" pitchFamily="18" charset="0"/>
                      </a:rPr>
                      <m:t>∈</m:t>
                    </m:r>
                    <m:r>
                      <a:rPr lang="ja-JP" altLang="en-US" i="1">
                        <a:latin typeface="Cambria Math" panose="02040503050406030204" pitchFamily="18" charset="0"/>
                      </a:rPr>
                      <m:t>𝐶</m:t>
                    </m:r>
                    <m:sSup>
                      <m:sSupPr>
                        <m:ctrlPr>
                          <a:rPr lang="ja-JP" alt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["/>
                            <m:endChr m:val="]"/>
                            <m:sepChr m:val=","/>
                            <m:ctrlPr>
                              <a:rPr lang="ja-JP" alt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ja-JP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  <m:e>
                            <m:r>
                              <a:rPr lang="en-US" altLang="ja-JP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e>
                      <m:sup>
                        <m:r>
                          <a:rPr lang="ja-JP" altLang="en-US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altLang="ja-JP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altLang="ja-JP" dirty="0"/>
              </a:p>
              <a:p>
                <a:pPr marL="0" indent="0">
                  <a:buNone/>
                </a:pPr>
                <a:r>
                  <a:rPr lang="ja-JP" altLang="ja-JP" dirty="0"/>
                  <a:t>这就是 </a:t>
                </a:r>
                <a:r>
                  <a:rPr lang="ja-JP" altLang="ja-JP" dirty="0">
                    <a:solidFill>
                      <a:srgbClr val="FF0000"/>
                    </a:solidFill>
                  </a:rPr>
                  <a:t>Dirac 点质量</a:t>
                </a:r>
                <a:r>
                  <a:rPr lang="ja-JP" altLang="ja-JP" dirty="0"/>
                  <a:t>的雏形。</a:t>
                </a:r>
                <a:endParaRPr lang="en-US" altLang="ja-JP" dirty="0"/>
              </a:p>
              <a:p>
                <a:pPr marL="0" indent="0">
                  <a:buNone/>
                </a:pPr>
                <a:r>
                  <a:rPr lang="ja-JP" altLang="ja-JP" dirty="0"/>
                  <a:t>点值不是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ja-JP" alt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ja-JP" altLang="en-US" i="1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p>
                        <m:r>
                          <a:rPr lang="en-US" altLang="ja-JP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lang="ja-JP" altLang="ja-JP" dirty="0"/>
                  <a:t>函数积分出来的，但它仍然是一个连续线性泛函。</a:t>
                </a:r>
                <a:endParaRPr lang="en-US" altLang="ja-JP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ja-JP" altLang="en-US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𝐶</m:t>
                      </m:r>
                      <m:sSup>
                        <m:sSupPr>
                          <m:ctrlPr>
                            <a:rPr lang="ja-JP" altLang="en-US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ja-JP" altLang="en-US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ja-JP" altLang="en-US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e>
                          </m:d>
                        </m:e>
                        <m:sup>
                          <m:r>
                            <a:rPr lang="ja-JP" altLang="en-US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ja-JP" altLang="en-US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≅</m:t>
                      </m:r>
                      <m:d>
                        <m:dPr>
                          <m:begChr m:val="{"/>
                          <m:endChr m:val="}"/>
                          <m:ctrlPr>
                            <a:rPr lang="ja-JP" altLang="en-US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nor/>
                            </m:rPr>
                            <a:rPr lang="ja-JP" altLang="en-US">
                              <a:solidFill>
                                <a:srgbClr val="7030A0"/>
                              </a:solidFill>
                            </a:rPr>
                            <m:t>有限符号 </m:t>
                          </m:r>
                          <m:r>
                            <m:rPr>
                              <m:nor/>
                            </m:rPr>
                            <a:rPr lang="en-US" altLang="ja-JP">
                              <a:solidFill>
                                <a:srgbClr val="7030A0"/>
                              </a:solidFill>
                            </a:rPr>
                            <m:t>Borel</m:t>
                          </m:r>
                          <m:r>
                            <m:rPr>
                              <m:nor/>
                            </m:rPr>
                            <a:rPr lang="en-US" altLang="ja-JP">
                              <a:solidFill>
                                <a:srgbClr val="7030A0"/>
                              </a:solidFill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ja-JP" altLang="en-US">
                              <a:solidFill>
                                <a:srgbClr val="7030A0"/>
                              </a:solidFill>
                            </a:rPr>
                            <m:t>测度</m:t>
                          </m:r>
                        </m:e>
                      </m:d>
                      <m:r>
                        <a:rPr lang="en-US" altLang="ja-JP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en-US" altLang="ja-JP" dirty="0"/>
              </a:p>
              <a:p>
                <a:pPr marL="0" indent="0">
                  <a:buNone/>
                </a:pPr>
                <a:r>
                  <a:rPr lang="ja-JP" altLang="ja-JP" dirty="0"/>
                  <a:t>在紧 Hausdorff 空间 </a:t>
                </a:r>
                <a14:m>
                  <m:oMath xmlns:m="http://schemas.openxmlformats.org/officeDocument/2006/math">
                    <m:r>
                      <a:rPr lang="ja-JP" altLang="en-US" i="1"/>
                      <m:t>𝐾</m:t>
                    </m:r>
                  </m:oMath>
                </a14:m>
                <a:r>
                  <a:rPr lang="ja-JP" altLang="ja-JP" dirty="0"/>
                  <a:t>上，每一个连续线性泛函</a:t>
                </a:r>
                <a14:m>
                  <m:oMath xmlns:m="http://schemas.openxmlformats.org/officeDocument/2006/math">
                    <m:r>
                      <a:rPr lang="ja-JP" altLang="en-US" i="1"/>
                      <m:t>𝐹</m:t>
                    </m:r>
                    <m:r>
                      <a:rPr lang="en-US" altLang="ja-JP"/>
                      <m:t>:</m:t>
                    </m:r>
                    <m:r>
                      <a:rPr lang="ja-JP" altLang="en-US" i="1"/>
                      <m:t>𝐶</m:t>
                    </m:r>
                    <m:d>
                      <m:dPr>
                        <m:ctrlPr>
                          <a:rPr lang="ja-JP" altLang="en-US" i="1"/>
                        </m:ctrlPr>
                      </m:dPr>
                      <m:e>
                        <m:r>
                          <a:rPr lang="ja-JP" altLang="en-US" i="1"/>
                          <m:t>𝐾</m:t>
                        </m:r>
                      </m:e>
                    </m:d>
                    <m:r>
                      <a:rPr lang="ja-JP" altLang="en-US"/>
                      <m:t>→</m:t>
                    </m:r>
                    <m:r>
                      <a:rPr lang="en-US" altLang="ja-JP"/>
                      <m:t>ℝ</m:t>
                    </m:r>
                  </m:oMath>
                </a14:m>
                <a:r>
                  <a:rPr lang="en-US" altLang="ja-JP" dirty="0"/>
                  <a:t> </a:t>
                </a:r>
                <a:r>
                  <a:rPr lang="ja-JP" altLang="ja-JP" dirty="0"/>
                  <a:t>都可以唯一地写成“对某个有限符号 Borel 测度积分”的形式</a:t>
                </a:r>
                <a14:m>
                  <m:oMath xmlns:m="http://schemas.openxmlformats.org/officeDocument/2006/math">
                    <m:r>
                      <a:rPr lang="ja-JP" altLang="en-US" i="1"/>
                      <m:t>𝐹</m:t>
                    </m:r>
                    <m:d>
                      <m:dPr>
                        <m:ctrlPr>
                          <a:rPr lang="ja-JP" altLang="en-US" i="1"/>
                        </m:ctrlPr>
                      </m:dPr>
                      <m:e>
                        <m:r>
                          <a:rPr lang="ja-JP" altLang="en-US" i="1"/>
                          <m:t>𝑓</m:t>
                        </m:r>
                      </m:e>
                    </m:d>
                    <m:r>
                      <a:rPr lang="en-US" altLang="ja-JP"/>
                      <m:t>=</m:t>
                    </m:r>
                    <m:nary>
                      <m:naryPr>
                        <m:grow m:val="on"/>
                        <m:supHide m:val="on"/>
                        <m:ctrlPr>
                          <a:rPr lang="ja-JP" altLang="en-US" i="1"/>
                        </m:ctrlPr>
                      </m:naryPr>
                      <m:sub>
                        <m:r>
                          <a:rPr lang="ja-JP" altLang="en-US" i="1"/>
                          <m:t>𝐾</m:t>
                        </m:r>
                      </m:sub>
                      <m:sup/>
                      <m:e>
                        <m:r>
                          <a:rPr lang="ja-JP" altLang="en-US" i="1"/>
                          <m:t>𝑓</m:t>
                        </m:r>
                      </m:e>
                    </m:nary>
                    <m:r>
                      <m:rPr>
                        <m:nor/>
                      </m:rPr>
                      <a:rPr lang="ja-JP" altLang="en-US" i="1"/>
                      <m:t> </m:t>
                    </m:r>
                    <m:r>
                      <a:rPr lang="ja-JP" altLang="en-US" i="1"/>
                      <m:t>𝑑</m:t>
                    </m:r>
                    <m:r>
                      <a:rPr lang="ja-JP" altLang="en-US" i="1"/>
                      <m:t>𝜇</m:t>
                    </m:r>
                    <m:r>
                      <a:rPr lang="en-US" altLang="ja-JP"/>
                      <m:t>.</m:t>
                    </m:r>
                  </m:oMath>
                </a14:m>
                <a:endParaRPr lang="en-US" altLang="ja-JP" b="0" dirty="0"/>
              </a:p>
              <a:p>
                <a:pPr marL="0" indent="0">
                  <a:buNone/>
                </a:pPr>
                <a:endParaRPr lang="en-US" altLang="ja-JP" b="0" dirty="0"/>
              </a:p>
            </p:txBody>
          </p:sp>
        </mc:Choice>
        <mc:Fallback>
          <p:sp>
            <p:nvSpPr>
              <p:cNvPr id="12" name="コンテンツ プレースホルダー 2">
                <a:extLst>
                  <a:ext uri="{FF2B5EF4-FFF2-40B4-BE49-F238E27FC236}">
                    <a16:creationId xmlns:a16="http://schemas.microsoft.com/office/drawing/2014/main" id="{668E6F36-01C7-31AB-138A-597E7AF744B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09880" y="1183640"/>
                <a:ext cx="11811000" cy="5440680"/>
              </a:xfrm>
              <a:blipFill>
                <a:blip r:embed="rId3"/>
                <a:stretch>
                  <a:fillRect l="-568" t="-896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2809932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C0BAF6-4D03-41F4-2679-B9036F47F4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>
            <a:extLst>
              <a:ext uri="{FF2B5EF4-FFF2-40B4-BE49-F238E27FC236}">
                <a16:creationId xmlns:a16="http://schemas.microsoft.com/office/drawing/2014/main" id="{2A4F6A60-890C-048F-779F-C18822FB4C0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例子：</a:t>
            </a:r>
            <a:r>
              <a:rPr lang="ja-JP" altLang="ja-JP" b="1" dirty="0"/>
              <a:t>点值泛函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コンテンツ プレースホルダー 2">
                <a:extLst>
                  <a:ext uri="{FF2B5EF4-FFF2-40B4-BE49-F238E27FC236}">
                    <a16:creationId xmlns:a16="http://schemas.microsoft.com/office/drawing/2014/main" id="{4486E22D-8F8C-DEF5-BDA9-B98E2FAA503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90500" y="970280"/>
                <a:ext cx="11811000" cy="5440680"/>
              </a:xfrm>
            </p:spPr>
            <p:txBody>
              <a:bodyPr/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ja-JP" altLang="en-US" sz="180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𝐶</m:t>
                      </m:r>
                      <m:sSup>
                        <m:sSupPr>
                          <m:ctrlPr>
                            <a:rPr lang="ja-JP" altLang="en-US" sz="18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ja-JP" altLang="en-US" sz="1800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ja-JP" altLang="en-US" sz="1800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e>
                          </m:d>
                        </m:e>
                        <m:sup>
                          <m:r>
                            <a:rPr lang="ja-JP" altLang="en-US" sz="180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ja-JP" altLang="en-US" sz="180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≅</m:t>
                      </m:r>
                      <m:d>
                        <m:dPr>
                          <m:begChr m:val="{"/>
                          <m:endChr m:val="}"/>
                          <m:ctrlPr>
                            <a:rPr lang="ja-JP" altLang="en-US" sz="18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nor/>
                            </m:rPr>
                            <a:rPr lang="ja-JP" altLang="en-US" sz="1800">
                              <a:solidFill>
                                <a:srgbClr val="7030A0"/>
                              </a:solidFill>
                            </a:rPr>
                            <m:t>有限符号 </m:t>
                          </m:r>
                          <m:r>
                            <m:rPr>
                              <m:nor/>
                            </m:rPr>
                            <a:rPr lang="en-US" altLang="ja-JP" sz="1800">
                              <a:solidFill>
                                <a:srgbClr val="7030A0"/>
                              </a:solidFill>
                            </a:rPr>
                            <m:t>Borel</m:t>
                          </m:r>
                          <m:r>
                            <m:rPr>
                              <m:nor/>
                            </m:rPr>
                            <a:rPr lang="en-US" altLang="ja-JP" sz="1800">
                              <a:solidFill>
                                <a:srgbClr val="7030A0"/>
                              </a:solidFill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ja-JP" altLang="en-US" sz="1800">
                              <a:solidFill>
                                <a:srgbClr val="7030A0"/>
                              </a:solidFill>
                            </a:rPr>
                            <m:t>测度</m:t>
                          </m:r>
                        </m:e>
                      </m:d>
                      <m:r>
                        <a:rPr lang="en-US" altLang="ja-JP" sz="180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en-US" altLang="ja-JP" sz="1800" dirty="0"/>
              </a:p>
              <a:p>
                <a14:m>
                  <m:oMath xmlns:m="http://schemas.openxmlformats.org/officeDocument/2006/math">
                    <m:r>
                      <a:rPr lang="ja-JP" altLang="en-US" sz="1800" i="1"/>
                      <m:t>𝐾</m:t>
                    </m:r>
                  </m:oMath>
                </a14:m>
                <a:r>
                  <a:rPr lang="ja-JP" altLang="ja-JP" sz="1800" dirty="0"/>
                  <a:t>是一个紧空间，比如：</a:t>
                </a:r>
                <a14:m>
                  <m:oMath xmlns:m="http://schemas.openxmlformats.org/officeDocument/2006/math">
                    <m:r>
                      <a:rPr lang="ja-JP" altLang="en-US" sz="1800" i="1"/>
                      <m:t>𝐾</m:t>
                    </m:r>
                    <m:r>
                      <a:rPr lang="en-US" altLang="ja-JP" sz="1800"/>
                      <m:t>=</m:t>
                    </m:r>
                    <m:d>
                      <m:dPr>
                        <m:begChr m:val="["/>
                        <m:endChr m:val="]"/>
                        <m:sepChr m:val=","/>
                        <m:ctrlPr>
                          <a:rPr lang="ja-JP" altLang="en-US" sz="1800" i="1"/>
                        </m:ctrlPr>
                      </m:dPr>
                      <m:e>
                        <m:r>
                          <a:rPr lang="en-US" altLang="ja-JP" sz="1800"/>
                          <m:t>0</m:t>
                        </m:r>
                      </m:e>
                      <m:e>
                        <m:r>
                          <a:rPr lang="en-US" altLang="ja-JP" sz="1800"/>
                          <m:t>1</m:t>
                        </m:r>
                      </m:e>
                    </m:d>
                    <m:r>
                      <a:rPr lang="en-US" altLang="ja-JP" sz="1800"/>
                      <m:t>,</m:t>
                    </m:r>
                  </m:oMath>
                </a14:m>
                <a:r>
                  <a:rPr lang="en-US" altLang="ja-JP" sz="1800" dirty="0"/>
                  <a:t> </a:t>
                </a:r>
                <a14:m>
                  <m:oMath xmlns:m="http://schemas.openxmlformats.org/officeDocument/2006/math">
                    <m:r>
                      <a:rPr lang="ja-JP" altLang="en-US" sz="1800" i="1"/>
                      <m:t>𝐶</m:t>
                    </m:r>
                    <m:d>
                      <m:dPr>
                        <m:ctrlPr>
                          <a:rPr lang="ja-JP" altLang="en-US" sz="1800" i="1"/>
                        </m:ctrlPr>
                      </m:dPr>
                      <m:e>
                        <m:r>
                          <a:rPr lang="ja-JP" altLang="en-US" sz="1800" i="1"/>
                          <m:t>𝐾</m:t>
                        </m:r>
                      </m:e>
                    </m:d>
                  </m:oMath>
                </a14:m>
                <a:r>
                  <a:rPr lang="ja-JP" altLang="ja-JP" sz="1800" dirty="0"/>
                  <a:t>表示 </a:t>
                </a:r>
                <a14:m>
                  <m:oMath xmlns:m="http://schemas.openxmlformats.org/officeDocument/2006/math">
                    <m:r>
                      <a:rPr lang="ja-JP" altLang="en-US" sz="1800" i="1"/>
                      <m:t>𝐾</m:t>
                    </m:r>
                  </m:oMath>
                </a14:m>
                <a:r>
                  <a:rPr lang="ja-JP" altLang="ja-JP" sz="1800" dirty="0"/>
                  <a:t>上的所有连续实值函数：</a:t>
                </a:r>
                <a14:m>
                  <m:oMath xmlns:m="http://schemas.openxmlformats.org/officeDocument/2006/math">
                    <m:r>
                      <a:rPr lang="ja-JP" altLang="en-US" sz="1800" i="1"/>
                      <m:t>𝐶</m:t>
                    </m:r>
                    <m:d>
                      <m:dPr>
                        <m:ctrlPr>
                          <a:rPr lang="ja-JP" altLang="en-US" sz="1800" i="1"/>
                        </m:ctrlPr>
                      </m:dPr>
                      <m:e>
                        <m:r>
                          <a:rPr lang="ja-JP" altLang="en-US" sz="1800" i="1"/>
                          <m:t>𝐾</m:t>
                        </m:r>
                      </m:e>
                    </m:d>
                    <m:r>
                      <a:rPr lang="en-US" altLang="ja-JP" sz="1800"/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ja-JP" altLang="en-US" sz="1800" i="1"/>
                        </m:ctrlPr>
                      </m:dPr>
                      <m:e>
                        <m:r>
                          <a:rPr lang="ja-JP" altLang="en-US" sz="1800" i="1"/>
                          <m:t>𝑓</m:t>
                        </m:r>
                        <m:r>
                          <a:rPr lang="en-US" altLang="ja-JP" sz="1800"/>
                          <m:t>:</m:t>
                        </m:r>
                        <m:r>
                          <a:rPr lang="ja-JP" altLang="en-US" sz="1800" i="1"/>
                          <m:t>𝐾</m:t>
                        </m:r>
                        <m:r>
                          <a:rPr lang="ja-JP" altLang="en-US" sz="1800"/>
                          <m:t>→</m:t>
                        </m:r>
                        <m:r>
                          <a:rPr lang="en-US" altLang="ja-JP" sz="1800"/>
                          <m:t>ℝ</m:t>
                        </m:r>
                        <m:r>
                          <a:rPr lang="en-US" altLang="ja-JP" sz="1800"/>
                          <m:t>∣</m:t>
                        </m:r>
                        <m:r>
                          <a:rPr lang="ja-JP" altLang="en-US" sz="1800" i="1"/>
                          <m:t>𝑓</m:t>
                        </m:r>
                        <m:r>
                          <m:rPr>
                            <m:nor/>
                          </m:rPr>
                          <a:rPr lang="ja-JP" altLang="en-US" sz="1800" i="1"/>
                          <m:t> 连续</m:t>
                        </m:r>
                      </m:e>
                    </m:d>
                    <m:r>
                      <a:rPr lang="en-US" altLang="ja-JP" sz="1800"/>
                      <m:t>.</m:t>
                    </m:r>
                  </m:oMath>
                </a14:m>
                <a:endParaRPr lang="en-US" altLang="ja-JP" sz="1800" b="0" dirty="0"/>
              </a:p>
              <a:p>
                <a:pPr marL="0" indent="0">
                  <a:buNone/>
                </a:pPr>
                <a:r>
                  <a:rPr lang="ja-JP" altLang="ja-JP" sz="1800" dirty="0"/>
                  <a:t>通常配备无穷范数：</a:t>
                </a:r>
                <a14:m>
                  <m:oMath xmlns:m="http://schemas.openxmlformats.org/officeDocument/2006/math">
                    <m:r>
                      <a:rPr lang="ja-JP" altLang="en-US" sz="1800"/>
                      <m:t>∥</m:t>
                    </m:r>
                    <m:r>
                      <a:rPr lang="ja-JP" altLang="en-US" sz="1800" i="1"/>
                      <m:t>𝑓</m:t>
                    </m:r>
                    <m:sSub>
                      <m:sSubPr>
                        <m:ctrlPr>
                          <a:rPr lang="ja-JP" altLang="en-US" sz="1800" i="1"/>
                        </m:ctrlPr>
                      </m:sSubPr>
                      <m:e>
                        <m:r>
                          <a:rPr lang="ja-JP" altLang="en-US" sz="1800"/>
                          <m:t>∥</m:t>
                        </m:r>
                      </m:e>
                      <m:sub>
                        <m:r>
                          <a:rPr lang="ja-JP" altLang="en-US" sz="1800"/>
                          <m:t>∞</m:t>
                        </m:r>
                      </m:sub>
                    </m:sSub>
                    <m:r>
                      <a:rPr lang="en-US" altLang="ja-JP" sz="1800"/>
                      <m:t>=</m:t>
                    </m:r>
                    <m:limLow>
                      <m:limLowPr>
                        <m:ctrlPr>
                          <a:rPr lang="ja-JP" altLang="en-US" sz="1800" i="1"/>
                        </m:ctrlPr>
                      </m:limLowPr>
                      <m:e>
                        <m:r>
                          <m:rPr>
                            <m:sty m:val="p"/>
                          </m:rPr>
                          <a:rPr lang="en-US" altLang="ja-JP" sz="1800">
                            <a:latin typeface="Cambria Math" panose="02040503050406030204" pitchFamily="18" charset="0"/>
                          </a:rPr>
                          <m:t>sup</m:t>
                        </m:r>
                      </m:e>
                      <m:lim>
                        <m:r>
                          <a:rPr lang="ja-JP" altLang="en-US" sz="1800" i="1"/>
                          <m:t>𝑥</m:t>
                        </m:r>
                        <m:r>
                          <a:rPr lang="ja-JP" altLang="en-US" sz="1800"/>
                          <m:t>∈</m:t>
                        </m:r>
                        <m:r>
                          <a:rPr lang="ja-JP" altLang="en-US" sz="1800" i="1"/>
                          <m:t>𝐾</m:t>
                        </m:r>
                      </m:lim>
                    </m:limLow>
                    <m:r>
                      <a:rPr lang="ja-JP" altLang="en-US" sz="1800"/>
                      <m:t>∣</m:t>
                    </m:r>
                    <m:r>
                      <a:rPr lang="ja-JP" altLang="en-US" sz="1800" i="1"/>
                      <m:t>𝑓</m:t>
                    </m:r>
                    <m:d>
                      <m:dPr>
                        <m:ctrlPr>
                          <a:rPr lang="ja-JP" altLang="en-US" sz="1800" i="1"/>
                        </m:ctrlPr>
                      </m:dPr>
                      <m:e>
                        <m:r>
                          <a:rPr lang="ja-JP" altLang="en-US" sz="1800" i="1"/>
                          <m:t>𝑥</m:t>
                        </m:r>
                      </m:e>
                    </m:d>
                    <m:r>
                      <a:rPr lang="ja-JP" altLang="en-US" sz="1800"/>
                      <m:t>∣</m:t>
                    </m:r>
                  </m:oMath>
                </a14:m>
                <a:r>
                  <a:rPr lang="ja-JP" altLang="ja-JP" sz="1800" dirty="0"/>
                  <a:t> </a:t>
                </a:r>
                <a14:m>
                  <m:oMath xmlns:m="http://schemas.openxmlformats.org/officeDocument/2006/math">
                    <m:r>
                      <a:rPr lang="zh-CN" altLang="en-US" sz="1800" i="1" dirty="0">
                        <a:latin typeface="Cambria Math" panose="02040503050406030204" pitchFamily="18" charset="0"/>
                      </a:rPr>
                      <m:t>，</m:t>
                    </m:r>
                    <m:r>
                      <a:rPr lang="ja-JP" altLang="en-US" sz="1800" i="1"/>
                      <m:t>𝐾</m:t>
                    </m:r>
                  </m:oMath>
                </a14:m>
                <a:r>
                  <a:rPr lang="ja-JP" altLang="ja-JP" sz="1800" dirty="0"/>
                  <a:t>紧</a:t>
                </a:r>
                <a:r>
                  <a:rPr lang="zh-CN" altLang="en-US" sz="1800" dirty="0"/>
                  <a:t>则</a:t>
                </a:r>
                <a:r>
                  <a:rPr lang="ja-JP" altLang="ja-JP" sz="1800" dirty="0"/>
                  <a:t>连续函数一定有最大值，所以也可以写成：</a:t>
                </a:r>
                <a14:m>
                  <m:oMath xmlns:m="http://schemas.openxmlformats.org/officeDocument/2006/math">
                    <m:r>
                      <a:rPr lang="ja-JP" altLang="en-US" sz="1800"/>
                      <m:t>∥</m:t>
                    </m:r>
                    <m:r>
                      <a:rPr lang="ja-JP" altLang="en-US" sz="1800" i="1"/>
                      <m:t>𝑓</m:t>
                    </m:r>
                    <m:sSub>
                      <m:sSubPr>
                        <m:ctrlPr>
                          <a:rPr lang="ja-JP" altLang="en-US" sz="1800" i="1"/>
                        </m:ctrlPr>
                      </m:sSubPr>
                      <m:e>
                        <m:r>
                          <a:rPr lang="ja-JP" altLang="en-US" sz="1800"/>
                          <m:t>∥</m:t>
                        </m:r>
                      </m:e>
                      <m:sub>
                        <m:r>
                          <a:rPr lang="ja-JP" altLang="en-US" sz="1800"/>
                          <m:t>∞</m:t>
                        </m:r>
                      </m:sub>
                    </m:sSub>
                    <m:r>
                      <a:rPr lang="en-US" altLang="ja-JP" sz="1800"/>
                      <m:t>=</m:t>
                    </m:r>
                    <m:limLow>
                      <m:limLowPr>
                        <m:ctrlPr>
                          <a:rPr lang="ja-JP" altLang="en-US" sz="1800" i="1"/>
                        </m:ctrlPr>
                      </m:limLowPr>
                      <m:e>
                        <m:r>
                          <m:rPr>
                            <m:sty m:val="p"/>
                          </m:rPr>
                          <a:rPr lang="en-US" altLang="ja-JP" sz="1800">
                            <a:latin typeface="Cambria Math" panose="02040503050406030204" pitchFamily="18" charset="0"/>
                          </a:rPr>
                          <m:t>max</m:t>
                        </m:r>
                      </m:e>
                      <m:lim>
                        <m:r>
                          <a:rPr lang="ja-JP" altLang="en-US" sz="1800" i="1"/>
                          <m:t>𝑥</m:t>
                        </m:r>
                        <m:r>
                          <a:rPr lang="ja-JP" altLang="en-US" sz="1800"/>
                          <m:t>∈</m:t>
                        </m:r>
                        <m:r>
                          <a:rPr lang="ja-JP" altLang="en-US" sz="1800" i="1"/>
                          <m:t>𝐾</m:t>
                        </m:r>
                      </m:lim>
                    </m:limLow>
                    <m:r>
                      <a:rPr lang="ja-JP" altLang="en-US" sz="1800"/>
                      <m:t>∣</m:t>
                    </m:r>
                    <m:r>
                      <a:rPr lang="ja-JP" altLang="en-US" sz="1800" i="1"/>
                      <m:t>𝑓</m:t>
                    </m:r>
                    <m:d>
                      <m:dPr>
                        <m:ctrlPr>
                          <a:rPr lang="ja-JP" altLang="en-US" sz="1800" i="1"/>
                        </m:ctrlPr>
                      </m:dPr>
                      <m:e>
                        <m:r>
                          <a:rPr lang="ja-JP" altLang="en-US" sz="1800" i="1"/>
                          <m:t>𝑥</m:t>
                        </m:r>
                      </m:e>
                    </m:d>
                    <m:r>
                      <a:rPr lang="ja-JP" altLang="en-US" sz="1800"/>
                      <m:t>∣</m:t>
                    </m:r>
                    <m:r>
                      <a:rPr lang="en-US" altLang="ja-JP" sz="1800"/>
                      <m:t>.</m:t>
                    </m:r>
                  </m:oMath>
                </a14:m>
                <a:r>
                  <a:rPr lang="en-US" altLang="ja-JP" sz="1800" dirty="0"/>
                  <a:t> </a:t>
                </a:r>
                <a:r>
                  <a:rPr lang="ja-JP" altLang="ja-JP" sz="1800" dirty="0"/>
                  <a:t>因此 </a:t>
                </a:r>
                <a14:m>
                  <m:oMath xmlns:m="http://schemas.openxmlformats.org/officeDocument/2006/math">
                    <m:r>
                      <a:rPr lang="ja-JP" altLang="en-US" sz="1800" i="1"/>
                      <m:t>𝐶</m:t>
                    </m:r>
                    <m:d>
                      <m:dPr>
                        <m:ctrlPr>
                          <a:rPr lang="ja-JP" altLang="en-US" sz="1800" i="1"/>
                        </m:ctrlPr>
                      </m:dPr>
                      <m:e>
                        <m:r>
                          <a:rPr lang="ja-JP" altLang="en-US" sz="1800" i="1"/>
                          <m:t>𝐾</m:t>
                        </m:r>
                      </m:e>
                    </m:d>
                  </m:oMath>
                </a14:m>
                <a:r>
                  <a:rPr lang="ja-JP" altLang="ja-JP" sz="1800" dirty="0"/>
                  <a:t>是一个 Banach 空间。</a:t>
                </a:r>
                <a14:m>
                  <m:oMath xmlns:m="http://schemas.openxmlformats.org/officeDocument/2006/math">
                    <m:r>
                      <a:rPr lang="ja-JP" altLang="en-US" sz="1800" i="1"/>
                      <m:t>𝐶</m:t>
                    </m:r>
                    <m:sSup>
                      <m:sSupPr>
                        <m:ctrlPr>
                          <a:rPr lang="ja-JP" altLang="en-US" sz="1800" i="1"/>
                        </m:ctrlPr>
                      </m:sSupPr>
                      <m:e>
                        <m:d>
                          <m:dPr>
                            <m:ctrlPr>
                              <a:rPr lang="ja-JP" altLang="en-US" sz="1800" i="1"/>
                            </m:ctrlPr>
                          </m:dPr>
                          <m:e>
                            <m:r>
                              <a:rPr lang="ja-JP" altLang="en-US" sz="1800" i="1"/>
                              <m:t>𝐾</m:t>
                            </m:r>
                          </m:e>
                        </m:d>
                      </m:e>
                      <m:sup>
                        <m:r>
                          <a:rPr lang="ja-JP" altLang="en-US" sz="1800"/>
                          <m:t>∗</m:t>
                        </m:r>
                      </m:sup>
                    </m:sSup>
                  </m:oMath>
                </a14:m>
                <a:r>
                  <a:rPr lang="ja-JP" altLang="ja-JP" sz="1800" dirty="0"/>
                  <a:t>表示 </a:t>
                </a:r>
                <a14:m>
                  <m:oMath xmlns:m="http://schemas.openxmlformats.org/officeDocument/2006/math">
                    <m:r>
                      <a:rPr lang="ja-JP" altLang="en-US" sz="1800" i="1"/>
                      <m:t>𝐶</m:t>
                    </m:r>
                    <m:d>
                      <m:dPr>
                        <m:ctrlPr>
                          <a:rPr lang="ja-JP" altLang="en-US" sz="1800" i="1"/>
                        </m:ctrlPr>
                      </m:dPr>
                      <m:e>
                        <m:r>
                          <a:rPr lang="ja-JP" altLang="en-US" sz="1800" i="1"/>
                          <m:t>𝐾</m:t>
                        </m:r>
                      </m:e>
                    </m:d>
                  </m:oMath>
                </a14:m>
                <a:r>
                  <a:rPr lang="ja-JP" altLang="ja-JP" sz="1800" dirty="0"/>
                  <a:t>的连续对偶空间，也就是所有连续线性泛函：</a:t>
                </a:r>
                <a14:m>
                  <m:oMath xmlns:m="http://schemas.openxmlformats.org/officeDocument/2006/math">
                    <m:r>
                      <a:rPr lang="ja-JP" altLang="en-US" sz="1800" i="1"/>
                      <m:t>𝐹</m:t>
                    </m:r>
                    <m:r>
                      <a:rPr lang="en-US" altLang="ja-JP" sz="1800"/>
                      <m:t>:</m:t>
                    </m:r>
                    <m:r>
                      <a:rPr lang="ja-JP" altLang="en-US" sz="1800" i="1"/>
                      <m:t>𝐶</m:t>
                    </m:r>
                    <m:d>
                      <m:dPr>
                        <m:ctrlPr>
                          <a:rPr lang="ja-JP" altLang="en-US" sz="1800" i="1"/>
                        </m:ctrlPr>
                      </m:dPr>
                      <m:e>
                        <m:r>
                          <a:rPr lang="ja-JP" altLang="en-US" sz="1800" i="1"/>
                          <m:t>𝐾</m:t>
                        </m:r>
                      </m:e>
                    </m:d>
                    <m:r>
                      <a:rPr lang="ja-JP" altLang="en-US" sz="1800"/>
                      <m:t>→</m:t>
                    </m:r>
                    <m:r>
                      <a:rPr lang="en-US" altLang="ja-JP" sz="1800"/>
                      <m:t>ℝ</m:t>
                    </m:r>
                    <m:r>
                      <a:rPr lang="en-US" altLang="ja-JP" sz="1800"/>
                      <m:t>.</m:t>
                    </m:r>
                  </m:oMath>
                </a14:m>
                <a:r>
                  <a:rPr lang="en-US" altLang="ja-JP" sz="1800" dirty="0"/>
                  <a:t> </a:t>
                </a:r>
                <a:r>
                  <a:rPr lang="ja-JP" altLang="ja-JP" sz="1800" dirty="0"/>
                  <a:t>一个 </a:t>
                </a:r>
                <a14:m>
                  <m:oMath xmlns:m="http://schemas.openxmlformats.org/officeDocument/2006/math">
                    <m:r>
                      <a:rPr lang="ja-JP" altLang="en-US" sz="1800" i="1"/>
                      <m:t>𝐹</m:t>
                    </m:r>
                  </m:oMath>
                </a14:m>
                <a:r>
                  <a:rPr lang="ja-JP" altLang="ja-JP" sz="1800" dirty="0"/>
                  <a:t>的输入是一个连续函数 </a:t>
                </a:r>
                <a14:m>
                  <m:oMath xmlns:m="http://schemas.openxmlformats.org/officeDocument/2006/math">
                    <m:r>
                      <a:rPr lang="ja-JP" altLang="en-US" sz="1800" i="1"/>
                      <m:t>𝑓</m:t>
                    </m:r>
                  </m:oMath>
                </a14:m>
                <a:r>
                  <a:rPr lang="ja-JP" altLang="ja-JP" sz="1800" dirty="0"/>
                  <a:t>，输出是一个数：</a:t>
                </a:r>
                <a14:m>
                  <m:oMath xmlns:m="http://schemas.openxmlformats.org/officeDocument/2006/math">
                    <m:r>
                      <a:rPr lang="ja-JP" altLang="en-US" sz="1800" i="1"/>
                      <m:t>𝑓</m:t>
                    </m:r>
                    <m:r>
                      <a:rPr lang="ja-JP" altLang="en-US" sz="1800"/>
                      <m:t>↦</m:t>
                    </m:r>
                    <m:r>
                      <a:rPr lang="ja-JP" altLang="en-US" sz="1800" i="1"/>
                      <m:t>𝐹</m:t>
                    </m:r>
                    <m:d>
                      <m:dPr>
                        <m:ctrlPr>
                          <a:rPr lang="ja-JP" altLang="en-US" sz="1800" i="1"/>
                        </m:ctrlPr>
                      </m:dPr>
                      <m:e>
                        <m:r>
                          <a:rPr lang="ja-JP" altLang="en-US" sz="1800" i="1"/>
                          <m:t>𝑓</m:t>
                        </m:r>
                      </m:e>
                    </m:d>
                    <m:r>
                      <a:rPr lang="en-US" altLang="ja-JP" sz="1800"/>
                      <m:t>.</m:t>
                    </m:r>
                  </m:oMath>
                </a14:m>
                <a:r>
                  <a:rPr lang="en-US" altLang="ja-JP" sz="1800" dirty="0"/>
                  <a:t> </a:t>
                </a:r>
                <a:r>
                  <a:rPr lang="zh-CN" altLang="en-US" sz="1800" dirty="0"/>
                  <a:t>例如</a:t>
                </a:r>
                <a14:m>
                  <m:oMath xmlns:m="http://schemas.openxmlformats.org/officeDocument/2006/math">
                    <m:r>
                      <a:rPr lang="ja-JP" altLang="en-US" sz="1800" i="1"/>
                      <m:t>𝐹</m:t>
                    </m:r>
                    <m:d>
                      <m:dPr>
                        <m:ctrlPr>
                          <a:rPr lang="ja-JP" altLang="en-US" sz="1800" i="1"/>
                        </m:ctrlPr>
                      </m:dPr>
                      <m:e>
                        <m:r>
                          <a:rPr lang="ja-JP" altLang="en-US" sz="1800" i="1"/>
                          <m:t>𝑓</m:t>
                        </m:r>
                      </m:e>
                    </m:d>
                    <m:r>
                      <a:rPr lang="en-US" altLang="ja-JP" sz="1800"/>
                      <m:t>=</m:t>
                    </m:r>
                    <m:nary>
                      <m:naryPr>
                        <m:grow m:val="on"/>
                        <m:ctrlPr>
                          <a:rPr lang="ja-JP" altLang="en-US" sz="1800" i="1"/>
                        </m:ctrlPr>
                      </m:naryPr>
                      <m:sub>
                        <m:r>
                          <a:rPr lang="en-US" altLang="ja-JP" sz="1800"/>
                          <m:t>0</m:t>
                        </m:r>
                      </m:sub>
                      <m:sup>
                        <m:r>
                          <a:rPr lang="en-US" altLang="ja-JP" sz="1800"/>
                          <m:t>1</m:t>
                        </m:r>
                      </m:sup>
                      <m:e>
                        <m:r>
                          <a:rPr lang="ja-JP" altLang="en-US" sz="1800" i="1"/>
                          <m:t>𝑓</m:t>
                        </m:r>
                      </m:e>
                    </m:nary>
                    <m:d>
                      <m:dPr>
                        <m:ctrlPr>
                          <a:rPr lang="ja-JP" altLang="en-US" sz="1800" i="1"/>
                        </m:ctrlPr>
                      </m:dPr>
                      <m:e>
                        <m:r>
                          <a:rPr lang="ja-JP" altLang="en-US" sz="1800" i="1"/>
                          <m:t>𝑥</m:t>
                        </m:r>
                      </m:e>
                    </m:d>
                    <m:r>
                      <m:rPr>
                        <m:nor/>
                      </m:rPr>
                      <a:rPr lang="ja-JP" altLang="en-US" sz="1800" i="1"/>
                      <m:t> </m:t>
                    </m:r>
                    <m:r>
                      <a:rPr lang="ja-JP" altLang="en-US" sz="1800" i="1"/>
                      <m:t>𝑑𝑥</m:t>
                    </m:r>
                    <m:r>
                      <a:rPr lang="en-US" altLang="ja-JP" sz="1800"/>
                      <m:t>.</m:t>
                    </m:r>
                  </m:oMath>
                </a14:m>
                <a:endParaRPr lang="en-US" altLang="ja-JP" sz="1800" b="0" dirty="0"/>
              </a:p>
              <a:p>
                <a:pPr marL="0" indent="0">
                  <a:buNone/>
                </a:pPr>
                <a:r>
                  <a:rPr lang="ja-JP" altLang="ja-JP" sz="1800" dirty="0"/>
                  <a:t>它把一个连续函数变成它在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sepChr m:val=","/>
                        <m:ctrlPr>
                          <a:rPr lang="ja-JP" altLang="en-US" sz="1800"/>
                        </m:ctrlPr>
                      </m:dPr>
                      <m:e>
                        <m:r>
                          <a:rPr lang="en-US" altLang="ja-JP" sz="1800"/>
                          <m:t>0</m:t>
                        </m:r>
                      </m:e>
                      <m:e>
                        <m:r>
                          <a:rPr lang="en-US" altLang="ja-JP" sz="1800"/>
                          <m:t>1</m:t>
                        </m:r>
                      </m:e>
                    </m:d>
                  </m:oMath>
                </a14:m>
                <a:r>
                  <a:rPr lang="ja-JP" altLang="ja-JP" sz="1800" dirty="0"/>
                  <a:t>上的积分。</a:t>
                </a:r>
                <a:endParaRPr lang="en-US" altLang="ja-JP" sz="1800" dirty="0"/>
              </a:p>
              <a:p>
                <a:pPr marL="0" indent="0">
                  <a:buNone/>
                </a:pPr>
                <a:r>
                  <a:rPr lang="ja-JP" altLang="ja-JP" sz="1800" dirty="0"/>
                  <a:t>给定一个有限符号 Borel 测度 </a:t>
                </a:r>
                <a14:m>
                  <m:oMath xmlns:m="http://schemas.openxmlformats.org/officeDocument/2006/math">
                    <m:r>
                      <a:rPr lang="ja-JP" altLang="en-US" sz="1800" i="1"/>
                      <m:t>𝜇</m:t>
                    </m:r>
                  </m:oMath>
                </a14:m>
                <a:r>
                  <a:rPr lang="ja-JP" altLang="ja-JP" sz="1800" dirty="0"/>
                  <a:t>，可以定义：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ja-JP" altLang="en-US" sz="1800"/>
                        </m:ctrlPr>
                      </m:sSubPr>
                      <m:e>
                        <m:r>
                          <a:rPr lang="ja-JP" altLang="en-US" sz="1800" i="1"/>
                          <m:t>𝐹</m:t>
                        </m:r>
                      </m:e>
                      <m:sub>
                        <m:r>
                          <a:rPr lang="ja-JP" altLang="en-US" sz="1800" i="1"/>
                          <m:t>𝜇</m:t>
                        </m:r>
                      </m:sub>
                    </m:sSub>
                    <m:d>
                      <m:dPr>
                        <m:ctrlPr>
                          <a:rPr lang="ja-JP" altLang="en-US" sz="1800" i="1"/>
                        </m:ctrlPr>
                      </m:dPr>
                      <m:e>
                        <m:r>
                          <a:rPr lang="ja-JP" altLang="en-US" sz="1800" i="1"/>
                          <m:t>𝑓</m:t>
                        </m:r>
                      </m:e>
                    </m:d>
                    <m:r>
                      <a:rPr lang="en-US" altLang="ja-JP" sz="1800"/>
                      <m:t>=</m:t>
                    </m:r>
                    <m:nary>
                      <m:naryPr>
                        <m:grow m:val="on"/>
                        <m:supHide m:val="on"/>
                        <m:ctrlPr>
                          <a:rPr lang="ja-JP" altLang="en-US" sz="1800" i="1"/>
                        </m:ctrlPr>
                      </m:naryPr>
                      <m:sub>
                        <m:r>
                          <a:rPr lang="ja-JP" altLang="en-US" sz="1800" i="1"/>
                          <m:t>𝐾</m:t>
                        </m:r>
                      </m:sub>
                      <m:sup/>
                      <m:e>
                        <m:r>
                          <a:rPr lang="ja-JP" altLang="en-US" sz="1800" i="1"/>
                          <m:t>𝑓</m:t>
                        </m:r>
                      </m:e>
                    </m:nary>
                    <m:r>
                      <m:rPr>
                        <m:nor/>
                      </m:rPr>
                      <a:rPr lang="ja-JP" altLang="en-US" sz="1800" i="1"/>
                      <m:t> </m:t>
                    </m:r>
                    <m:r>
                      <a:rPr lang="ja-JP" altLang="en-US" sz="1800" i="1"/>
                      <m:t>𝑑</m:t>
                    </m:r>
                    <m:r>
                      <a:rPr lang="ja-JP" altLang="en-US" sz="1800" i="1"/>
                      <m:t>𝜇</m:t>
                    </m:r>
                    <m:r>
                      <a:rPr lang="en-US" altLang="ja-JP" sz="1800"/>
                      <m:t>.</m:t>
                    </m:r>
                  </m:oMath>
                </a14:m>
                <a:r>
                  <a:rPr lang="en-US" altLang="ja-JP" sz="1800" b="0" dirty="0"/>
                  <a:t> </a:t>
                </a:r>
                <a:r>
                  <a:rPr lang="ja-JP" altLang="ja-JP" sz="1800" dirty="0"/>
                  <a:t>这个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ja-JP" altLang="en-US" sz="1800"/>
                        </m:ctrlPr>
                      </m:sSubPr>
                      <m:e>
                        <m:r>
                          <a:rPr lang="ja-JP" altLang="en-US" sz="1800" i="1"/>
                          <m:t>𝐹</m:t>
                        </m:r>
                      </m:e>
                      <m:sub>
                        <m:r>
                          <a:rPr lang="ja-JP" altLang="en-US" sz="1800" i="1"/>
                          <m:t>𝜇</m:t>
                        </m:r>
                      </m:sub>
                    </m:sSub>
                  </m:oMath>
                </a14:m>
                <a:r>
                  <a:rPr lang="ja-JP" altLang="ja-JP" sz="1800" dirty="0"/>
                  <a:t>是 </a:t>
                </a:r>
                <a14:m>
                  <m:oMath xmlns:m="http://schemas.openxmlformats.org/officeDocument/2006/math">
                    <m:r>
                      <a:rPr lang="ja-JP" altLang="en-US" sz="1800" i="1"/>
                      <m:t>𝐶</m:t>
                    </m:r>
                    <m:d>
                      <m:dPr>
                        <m:ctrlPr>
                          <a:rPr lang="ja-JP" altLang="en-US" sz="1800" i="1"/>
                        </m:ctrlPr>
                      </m:dPr>
                      <m:e>
                        <m:r>
                          <a:rPr lang="ja-JP" altLang="en-US" sz="1800" i="1"/>
                          <m:t>𝐾</m:t>
                        </m:r>
                      </m:e>
                    </m:d>
                  </m:oMath>
                </a14:m>
                <a:r>
                  <a:rPr lang="ja-JP" altLang="ja-JP" sz="1800" dirty="0"/>
                  <a:t>上的连续线性泛函。</a:t>
                </a:r>
              </a:p>
              <a:p>
                <a:r>
                  <a:rPr lang="ja-JP" altLang="ja-JP" sz="1800" b="1" dirty="0"/>
                  <a:t>线性性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ja-JP" altLang="en-US" sz="1800"/>
                        </m:ctrlPr>
                      </m:sSubPr>
                      <m:e>
                        <m:r>
                          <a:rPr lang="ja-JP" altLang="en-US" sz="1800" i="1"/>
                          <m:t>𝐹</m:t>
                        </m:r>
                      </m:e>
                      <m:sub>
                        <m:r>
                          <a:rPr lang="ja-JP" altLang="en-US" sz="1800" i="1"/>
                          <m:t>𝜇</m:t>
                        </m:r>
                      </m:sub>
                    </m:sSub>
                    <m:d>
                      <m:dPr>
                        <m:ctrlPr>
                          <a:rPr lang="ja-JP" altLang="en-US" sz="1800" i="1"/>
                        </m:ctrlPr>
                      </m:dPr>
                      <m:e>
                        <m:r>
                          <a:rPr lang="ja-JP" altLang="en-US" sz="1800" i="1"/>
                          <m:t>𝑎𝑓</m:t>
                        </m:r>
                        <m:r>
                          <a:rPr lang="en-US" altLang="ja-JP" sz="1800"/>
                          <m:t>+</m:t>
                        </m:r>
                        <m:r>
                          <a:rPr lang="ja-JP" altLang="en-US" sz="1800" i="1"/>
                          <m:t>𝑏𝑔</m:t>
                        </m:r>
                      </m:e>
                    </m:d>
                    <m:r>
                      <a:rPr lang="en-US" altLang="ja-JP" sz="1800"/>
                      <m:t>=</m:t>
                    </m:r>
                    <m:nary>
                      <m:naryPr>
                        <m:grow m:val="on"/>
                        <m:supHide m:val="on"/>
                        <m:ctrlPr>
                          <a:rPr lang="ja-JP" altLang="en-US" sz="1800" i="1"/>
                        </m:ctrlPr>
                      </m:naryPr>
                      <m:sub>
                        <m:r>
                          <a:rPr lang="ja-JP" altLang="en-US" sz="1800" i="1"/>
                          <m:t>𝐾</m:t>
                        </m:r>
                      </m:sub>
                      <m:sup/>
                      <m:e>
                        <m:r>
                          <a:rPr lang="en-US" altLang="ja-JP" sz="1800"/>
                          <m:t>(</m:t>
                        </m:r>
                      </m:e>
                    </m:nary>
                    <m:d>
                      <m:dPr>
                        <m:begChr m:val=""/>
                        <m:ctrlPr>
                          <a:rPr lang="ja-JP" altLang="en-US" sz="1800" i="1"/>
                        </m:ctrlPr>
                      </m:dPr>
                      <m:e>
                        <m:r>
                          <a:rPr lang="ja-JP" altLang="en-US" sz="1800" i="1"/>
                          <m:t>𝑎𝑓</m:t>
                        </m:r>
                        <m:r>
                          <a:rPr lang="en-US" altLang="ja-JP" sz="1800"/>
                          <m:t>+</m:t>
                        </m:r>
                        <m:r>
                          <a:rPr lang="ja-JP" altLang="en-US" sz="1800" i="1"/>
                          <m:t>𝑏𝑔</m:t>
                        </m:r>
                      </m:e>
                    </m:d>
                    <m:r>
                      <m:rPr>
                        <m:nor/>
                      </m:rPr>
                      <a:rPr lang="ja-JP" altLang="en-US" sz="1800" i="1"/>
                      <m:t> </m:t>
                    </m:r>
                    <m:r>
                      <a:rPr lang="ja-JP" altLang="en-US" sz="1800" i="1"/>
                      <m:t>𝑑</m:t>
                    </m:r>
                    <m:r>
                      <a:rPr lang="ja-JP" altLang="en-US" sz="1800" i="1"/>
                      <m:t>𝜇</m:t>
                    </m:r>
                    <m:r>
                      <a:rPr lang="en-US" altLang="ja-JP" sz="1800"/>
                      <m:t>=</m:t>
                    </m:r>
                    <m:r>
                      <a:rPr lang="ja-JP" altLang="en-US" sz="1800" i="1"/>
                      <m:t>𝑎</m:t>
                    </m:r>
                    <m:nary>
                      <m:naryPr>
                        <m:grow m:val="on"/>
                        <m:supHide m:val="on"/>
                        <m:ctrlPr>
                          <a:rPr lang="ja-JP" altLang="en-US" sz="1800" i="1"/>
                        </m:ctrlPr>
                      </m:naryPr>
                      <m:sub>
                        <m:r>
                          <a:rPr lang="ja-JP" altLang="en-US" sz="1800" i="1"/>
                          <m:t>𝐾</m:t>
                        </m:r>
                      </m:sub>
                      <m:sup/>
                      <m:e>
                        <m:r>
                          <a:rPr lang="ja-JP" altLang="en-US" sz="1800" i="1"/>
                          <m:t>𝑓</m:t>
                        </m:r>
                      </m:e>
                    </m:nary>
                    <m:r>
                      <m:rPr>
                        <m:nor/>
                      </m:rPr>
                      <a:rPr lang="ja-JP" altLang="en-US" sz="1800" i="1"/>
                      <m:t> </m:t>
                    </m:r>
                    <m:r>
                      <a:rPr lang="ja-JP" altLang="en-US" sz="1800" i="1"/>
                      <m:t>𝑑</m:t>
                    </m:r>
                    <m:r>
                      <a:rPr lang="ja-JP" altLang="en-US" sz="1800" i="1"/>
                      <m:t>𝜇</m:t>
                    </m:r>
                    <m:r>
                      <a:rPr lang="en-US" altLang="ja-JP" sz="1800"/>
                      <m:t>+</m:t>
                    </m:r>
                    <m:r>
                      <a:rPr lang="ja-JP" altLang="en-US" sz="1800" i="1"/>
                      <m:t>𝑏</m:t>
                    </m:r>
                    <m:nary>
                      <m:naryPr>
                        <m:grow m:val="on"/>
                        <m:supHide m:val="on"/>
                        <m:ctrlPr>
                          <a:rPr lang="ja-JP" altLang="en-US" sz="1800" i="1"/>
                        </m:ctrlPr>
                      </m:naryPr>
                      <m:sub>
                        <m:r>
                          <a:rPr lang="ja-JP" altLang="en-US" sz="1800" i="1"/>
                          <m:t>𝐾</m:t>
                        </m:r>
                      </m:sub>
                      <m:sup/>
                      <m:e>
                        <m:r>
                          <a:rPr lang="ja-JP" altLang="en-US" sz="1800" i="1"/>
                          <m:t>𝑔</m:t>
                        </m:r>
                      </m:e>
                    </m:nary>
                    <m:r>
                      <m:rPr>
                        <m:nor/>
                      </m:rPr>
                      <a:rPr lang="ja-JP" altLang="en-US" sz="1800" i="1"/>
                      <m:t> </m:t>
                    </m:r>
                    <m:r>
                      <a:rPr lang="ja-JP" altLang="en-US" sz="1800" i="1"/>
                      <m:t>𝑑</m:t>
                    </m:r>
                    <m:r>
                      <a:rPr lang="ja-JP" altLang="en-US" sz="1800" i="1"/>
                      <m:t>𝜇</m:t>
                    </m:r>
                    <m:r>
                      <a:rPr lang="en-US" altLang="ja-JP" sz="1800"/>
                      <m:t>.</m:t>
                    </m:r>
                  </m:oMath>
                </a14:m>
                <a:r>
                  <a:rPr lang="en-US" altLang="ja-JP" sz="1800" dirty="0"/>
                  <a:t> </a:t>
                </a:r>
                <a:r>
                  <a:rPr lang="ja-JP" altLang="ja-JP" sz="1800" dirty="0"/>
                  <a:t>所以：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ja-JP" altLang="en-US" sz="1800"/>
                        </m:ctrlPr>
                      </m:sSubPr>
                      <m:e>
                        <m:r>
                          <a:rPr lang="ja-JP" altLang="en-US" sz="1800" i="1"/>
                          <m:t>𝐹</m:t>
                        </m:r>
                      </m:e>
                      <m:sub>
                        <m:r>
                          <a:rPr lang="ja-JP" altLang="en-US" sz="1800" i="1"/>
                          <m:t>𝜇</m:t>
                        </m:r>
                      </m:sub>
                    </m:sSub>
                    <m:d>
                      <m:dPr>
                        <m:ctrlPr>
                          <a:rPr lang="ja-JP" altLang="en-US" sz="1800" i="1"/>
                        </m:ctrlPr>
                      </m:dPr>
                      <m:e>
                        <m:r>
                          <a:rPr lang="ja-JP" altLang="en-US" sz="1800" i="1"/>
                          <m:t>𝑎𝑓</m:t>
                        </m:r>
                        <m:r>
                          <a:rPr lang="en-US" altLang="ja-JP" sz="1800"/>
                          <m:t>+</m:t>
                        </m:r>
                        <m:r>
                          <a:rPr lang="ja-JP" altLang="en-US" sz="1800" i="1"/>
                          <m:t>𝑏𝑔</m:t>
                        </m:r>
                      </m:e>
                    </m:d>
                    <m:r>
                      <a:rPr lang="en-US" altLang="ja-JP" sz="1800"/>
                      <m:t>=</m:t>
                    </m:r>
                    <m:r>
                      <a:rPr lang="ja-JP" altLang="en-US" sz="1800" i="1"/>
                      <m:t>𝑎</m:t>
                    </m:r>
                    <m:sSub>
                      <m:sSubPr>
                        <m:ctrlPr>
                          <a:rPr lang="ja-JP" altLang="en-US" sz="1800" i="1"/>
                        </m:ctrlPr>
                      </m:sSubPr>
                      <m:e>
                        <m:r>
                          <a:rPr lang="ja-JP" altLang="en-US" sz="1800" i="1"/>
                          <m:t>𝐹</m:t>
                        </m:r>
                      </m:e>
                      <m:sub>
                        <m:r>
                          <a:rPr lang="ja-JP" altLang="en-US" sz="1800" i="1"/>
                          <m:t>𝜇</m:t>
                        </m:r>
                      </m:sub>
                    </m:sSub>
                    <m:d>
                      <m:dPr>
                        <m:ctrlPr>
                          <a:rPr lang="ja-JP" altLang="en-US" sz="1800" i="1"/>
                        </m:ctrlPr>
                      </m:dPr>
                      <m:e>
                        <m:r>
                          <a:rPr lang="ja-JP" altLang="en-US" sz="1800" i="1"/>
                          <m:t>𝑓</m:t>
                        </m:r>
                      </m:e>
                    </m:d>
                    <m:r>
                      <a:rPr lang="en-US" altLang="ja-JP" sz="1800"/>
                      <m:t>+</m:t>
                    </m:r>
                    <m:r>
                      <a:rPr lang="ja-JP" altLang="en-US" sz="1800" i="1"/>
                      <m:t>𝑏</m:t>
                    </m:r>
                    <m:sSub>
                      <m:sSubPr>
                        <m:ctrlPr>
                          <a:rPr lang="ja-JP" altLang="en-US" sz="1800" i="1"/>
                        </m:ctrlPr>
                      </m:sSubPr>
                      <m:e>
                        <m:r>
                          <a:rPr lang="ja-JP" altLang="en-US" sz="1800" i="1"/>
                          <m:t>𝐹</m:t>
                        </m:r>
                      </m:e>
                      <m:sub>
                        <m:r>
                          <a:rPr lang="ja-JP" altLang="en-US" sz="1800" i="1"/>
                          <m:t>𝜇</m:t>
                        </m:r>
                      </m:sub>
                    </m:sSub>
                    <m:d>
                      <m:dPr>
                        <m:ctrlPr>
                          <a:rPr lang="ja-JP" altLang="en-US" sz="1800" i="1"/>
                        </m:ctrlPr>
                      </m:dPr>
                      <m:e>
                        <m:r>
                          <a:rPr lang="ja-JP" altLang="en-US" sz="1800" i="1"/>
                          <m:t>𝑔</m:t>
                        </m:r>
                      </m:e>
                    </m:d>
                    <m:r>
                      <a:rPr lang="en-US" altLang="ja-JP" sz="1800"/>
                      <m:t>.</m:t>
                    </m:r>
                  </m:oMath>
                </a14:m>
                <a:endParaRPr lang="en-US" altLang="ja-JP" sz="1800" dirty="0"/>
              </a:p>
              <a:p>
                <a:r>
                  <a:rPr lang="ja-JP" altLang="ja-JP" sz="1800" b="1" dirty="0"/>
                  <a:t>连续性</a:t>
                </a:r>
                <a:r>
                  <a:rPr lang="en-US" altLang="ja-JP" sz="1800" b="1" dirty="0"/>
                  <a:t> </a:t>
                </a:r>
                <a:r>
                  <a:rPr lang="ja-JP" altLang="ja-JP" sz="1800" dirty="0"/>
                  <a:t> </a:t>
                </a:r>
                <a14:m>
                  <m:oMath xmlns:m="http://schemas.openxmlformats.org/officeDocument/2006/math">
                    <m:r>
                      <a:rPr lang="ja-JP" altLang="en-US" sz="1800" i="1"/>
                      <m:t>𝜇</m:t>
                    </m:r>
                  </m:oMath>
                </a14:m>
                <a:r>
                  <a:rPr lang="ja-JP" altLang="ja-JP" sz="1800" dirty="0"/>
                  <a:t>是有限符号测度，记它的总变差测度为 </a:t>
                </a:r>
                <a14:m>
                  <m:oMath xmlns:m="http://schemas.openxmlformats.org/officeDocument/2006/math">
                    <m:r>
                      <a:rPr lang="ja-JP" altLang="en-US" sz="1800"/>
                      <m:t>∣</m:t>
                    </m:r>
                    <m:r>
                      <a:rPr lang="ja-JP" altLang="en-US" sz="1800" i="1"/>
                      <m:t>𝜇</m:t>
                    </m:r>
                    <m:r>
                      <a:rPr lang="ja-JP" altLang="en-US" sz="1800"/>
                      <m:t>∣</m:t>
                    </m:r>
                  </m:oMath>
                </a14:m>
                <a:r>
                  <a:rPr lang="ja-JP" altLang="ja-JP" sz="1800" dirty="0"/>
                  <a:t>，则</a:t>
                </a:r>
                <a14:m>
                  <m:oMath xmlns:m="http://schemas.openxmlformats.org/officeDocument/2006/math">
                    <m:d>
                      <m:dPr>
                        <m:begChr m:val="∣"/>
                        <m:endChr m:val="∣"/>
                        <m:ctrlPr>
                          <a:rPr lang="ja-JP" altLang="en-US" sz="1800"/>
                        </m:ctrlPr>
                      </m:dPr>
                      <m:e>
                        <m:nary>
                          <m:naryPr>
                            <m:grow m:val="on"/>
                            <m:supHide m:val="on"/>
                            <m:ctrlPr>
                              <a:rPr lang="ja-JP" altLang="en-US" sz="1800"/>
                            </m:ctrlPr>
                          </m:naryPr>
                          <m:sub>
                            <m:r>
                              <a:rPr lang="ja-JP" altLang="en-US" sz="1800" i="1"/>
                              <m:t>𝐾</m:t>
                            </m:r>
                          </m:sub>
                          <m:sup/>
                          <m:e>
                            <m:r>
                              <a:rPr lang="ja-JP" altLang="en-US" sz="1800" i="1"/>
                              <m:t>𝑓</m:t>
                            </m:r>
                          </m:e>
                        </m:nary>
                        <m:r>
                          <m:rPr>
                            <m:nor/>
                          </m:rPr>
                          <a:rPr lang="ja-JP" altLang="en-US" sz="1800" i="1"/>
                          <m:t> </m:t>
                        </m:r>
                        <m:r>
                          <a:rPr lang="ja-JP" altLang="en-US" sz="1800" i="1"/>
                          <m:t>𝑑</m:t>
                        </m:r>
                        <m:r>
                          <a:rPr lang="ja-JP" altLang="en-US" sz="1800" i="1"/>
                          <m:t>𝜇</m:t>
                        </m:r>
                      </m:e>
                    </m:d>
                    <m:r>
                      <a:rPr lang="ja-JP" altLang="en-US" sz="1800"/>
                      <m:t>≤</m:t>
                    </m:r>
                    <m:nary>
                      <m:naryPr>
                        <m:grow m:val="on"/>
                        <m:supHide m:val="on"/>
                        <m:ctrlPr>
                          <a:rPr lang="ja-JP" altLang="en-US" sz="1800" i="1"/>
                        </m:ctrlPr>
                      </m:naryPr>
                      <m:sub>
                        <m:r>
                          <a:rPr lang="ja-JP" altLang="en-US" sz="1800" i="1"/>
                          <m:t>𝐾</m:t>
                        </m:r>
                      </m:sub>
                      <m:sup/>
                      <m:e>
                        <m:r>
                          <a:rPr lang="ja-JP" altLang="en-US" sz="1800"/>
                          <m:t>∣</m:t>
                        </m:r>
                      </m:e>
                    </m:nary>
                    <m:r>
                      <a:rPr lang="ja-JP" altLang="en-US" sz="1800" i="1"/>
                      <m:t>𝑓</m:t>
                    </m:r>
                    <m:r>
                      <a:rPr lang="ja-JP" altLang="en-US" sz="1800"/>
                      <m:t>∣</m:t>
                    </m:r>
                    <m:r>
                      <m:rPr>
                        <m:nor/>
                      </m:rPr>
                      <a:rPr lang="ja-JP" altLang="en-US" sz="1800" i="1"/>
                      <m:t> </m:t>
                    </m:r>
                    <m:r>
                      <a:rPr lang="ja-JP" altLang="en-US" sz="1800" i="1"/>
                      <m:t>𝑑</m:t>
                    </m:r>
                    <m:r>
                      <a:rPr lang="ja-JP" altLang="en-US" sz="1800"/>
                      <m:t>∣</m:t>
                    </m:r>
                    <m:r>
                      <a:rPr lang="ja-JP" altLang="en-US" sz="1800" i="1"/>
                      <m:t>𝜇</m:t>
                    </m:r>
                    <m:r>
                      <a:rPr lang="ja-JP" altLang="en-US" sz="1800"/>
                      <m:t>∣≤∥</m:t>
                    </m:r>
                    <m:r>
                      <a:rPr lang="ja-JP" altLang="en-US" sz="1800" i="1"/>
                      <m:t>𝑓</m:t>
                    </m:r>
                    <m:sSub>
                      <m:sSubPr>
                        <m:ctrlPr>
                          <a:rPr lang="ja-JP" altLang="en-US" sz="1800" i="1"/>
                        </m:ctrlPr>
                      </m:sSubPr>
                      <m:e>
                        <m:r>
                          <a:rPr lang="ja-JP" altLang="en-US" sz="1800"/>
                          <m:t>∥</m:t>
                        </m:r>
                      </m:e>
                      <m:sub>
                        <m:r>
                          <a:rPr lang="ja-JP" altLang="en-US" sz="1800"/>
                          <m:t>∞</m:t>
                        </m:r>
                      </m:sub>
                    </m:sSub>
                    <m:r>
                      <a:rPr lang="ja-JP" altLang="en-US" sz="1800"/>
                      <m:t>∣</m:t>
                    </m:r>
                    <m:r>
                      <a:rPr lang="ja-JP" altLang="en-US" sz="1800" i="1"/>
                      <m:t>𝜇</m:t>
                    </m:r>
                    <m:r>
                      <a:rPr lang="ja-JP" altLang="en-US" sz="1800"/>
                      <m:t>∣</m:t>
                    </m:r>
                    <m:d>
                      <m:dPr>
                        <m:ctrlPr>
                          <a:rPr lang="ja-JP" altLang="en-US" sz="1800" i="1"/>
                        </m:ctrlPr>
                      </m:dPr>
                      <m:e>
                        <m:r>
                          <a:rPr lang="ja-JP" altLang="en-US" sz="1800" i="1"/>
                          <m:t>𝐾</m:t>
                        </m:r>
                      </m:e>
                    </m:d>
                    <m:r>
                      <a:rPr lang="en-US" altLang="ja-JP" sz="1800"/>
                      <m:t>.</m:t>
                    </m:r>
                  </m:oMath>
                </a14:m>
                <a:endParaRPr lang="en-US" altLang="ja-JP" sz="1800" b="0" dirty="0"/>
              </a:p>
              <a:p>
                <a:pPr marL="0" indent="0">
                  <a:buNone/>
                </a:pPr>
                <a:r>
                  <a:rPr lang="ja-JP" altLang="ja-JP" sz="1800" dirty="0"/>
                  <a:t>所以：</a:t>
                </a:r>
                <a14:m>
                  <m:oMath xmlns:m="http://schemas.openxmlformats.org/officeDocument/2006/math">
                    <m:r>
                      <a:rPr lang="ja-JP" altLang="en-US" sz="1800"/>
                      <m:t>∣</m:t>
                    </m:r>
                    <m:sSub>
                      <m:sSubPr>
                        <m:ctrlPr>
                          <a:rPr lang="ja-JP" altLang="en-US" sz="1800" i="1"/>
                        </m:ctrlPr>
                      </m:sSubPr>
                      <m:e>
                        <m:r>
                          <a:rPr lang="ja-JP" altLang="en-US" sz="1800" i="1"/>
                          <m:t>𝐹</m:t>
                        </m:r>
                      </m:e>
                      <m:sub>
                        <m:r>
                          <a:rPr lang="ja-JP" altLang="en-US" sz="1800" i="1"/>
                          <m:t>𝜇</m:t>
                        </m:r>
                      </m:sub>
                    </m:sSub>
                    <m:d>
                      <m:dPr>
                        <m:ctrlPr>
                          <a:rPr lang="ja-JP" altLang="en-US" sz="1800" i="1"/>
                        </m:ctrlPr>
                      </m:dPr>
                      <m:e>
                        <m:r>
                          <a:rPr lang="ja-JP" altLang="en-US" sz="1800" i="1"/>
                          <m:t>𝑓</m:t>
                        </m:r>
                      </m:e>
                    </m:d>
                    <m:r>
                      <a:rPr lang="ja-JP" altLang="en-US" sz="1800"/>
                      <m:t>∣≤∣</m:t>
                    </m:r>
                    <m:r>
                      <a:rPr lang="ja-JP" altLang="en-US" sz="1800" i="1"/>
                      <m:t>𝜇</m:t>
                    </m:r>
                    <m:r>
                      <a:rPr lang="ja-JP" altLang="en-US" sz="1800"/>
                      <m:t>∣</m:t>
                    </m:r>
                    <m:d>
                      <m:dPr>
                        <m:ctrlPr>
                          <a:rPr lang="ja-JP" altLang="en-US" sz="1800" i="1"/>
                        </m:ctrlPr>
                      </m:dPr>
                      <m:e>
                        <m:r>
                          <a:rPr lang="ja-JP" altLang="en-US" sz="1800" i="1"/>
                          <m:t>𝐾</m:t>
                        </m:r>
                      </m:e>
                    </m:d>
                    <m:r>
                      <a:rPr lang="ja-JP" altLang="en-US" sz="1800"/>
                      <m:t>∥</m:t>
                    </m:r>
                    <m:r>
                      <a:rPr lang="ja-JP" altLang="en-US" sz="1800" i="1"/>
                      <m:t>𝑓</m:t>
                    </m:r>
                    <m:sSub>
                      <m:sSubPr>
                        <m:ctrlPr>
                          <a:rPr lang="ja-JP" altLang="en-US" sz="1800" i="1"/>
                        </m:ctrlPr>
                      </m:sSubPr>
                      <m:e>
                        <m:r>
                          <a:rPr lang="ja-JP" altLang="en-US" sz="1800"/>
                          <m:t>∥</m:t>
                        </m:r>
                      </m:e>
                      <m:sub>
                        <m:r>
                          <a:rPr lang="ja-JP" altLang="en-US" sz="1800"/>
                          <m:t>∞</m:t>
                        </m:r>
                      </m:sub>
                    </m:sSub>
                    <m:r>
                      <a:rPr lang="en-US" altLang="ja-JP" sz="1800"/>
                      <m:t>.</m:t>
                    </m:r>
                  </m:oMath>
                </a14:m>
                <a:endParaRPr lang="en-US" altLang="ja-JP" sz="1800" dirty="0"/>
              </a:p>
              <a:p>
                <a:r>
                  <a:rPr lang="ja-JP" altLang="ja-JP" sz="1800" dirty="0"/>
                  <a:t>这说明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ja-JP" altLang="en-US" sz="1800"/>
                        </m:ctrlPr>
                      </m:sSubPr>
                      <m:e>
                        <m:r>
                          <a:rPr lang="ja-JP" altLang="en-US" sz="1800" i="1"/>
                          <m:t>𝐹</m:t>
                        </m:r>
                      </m:e>
                      <m:sub>
                        <m:r>
                          <a:rPr lang="ja-JP" altLang="en-US" sz="1800" i="1"/>
                          <m:t>𝜇</m:t>
                        </m:r>
                      </m:sub>
                    </m:sSub>
                  </m:oMath>
                </a14:m>
                <a:r>
                  <a:rPr lang="ja-JP" altLang="ja-JP" sz="1800" dirty="0"/>
                  <a:t>是连续线性泛函，并且</a:t>
                </a:r>
                <a14:m>
                  <m:oMath xmlns:m="http://schemas.openxmlformats.org/officeDocument/2006/math">
                    <m:r>
                      <a:rPr lang="ja-JP" altLang="en-US" sz="1800"/>
                      <m:t>∥</m:t>
                    </m:r>
                    <m:sSub>
                      <m:sSubPr>
                        <m:ctrlPr>
                          <a:rPr lang="ja-JP" altLang="en-US" sz="1800" i="1"/>
                        </m:ctrlPr>
                      </m:sSubPr>
                      <m:e>
                        <m:r>
                          <a:rPr lang="ja-JP" altLang="en-US" sz="1800" i="1"/>
                          <m:t>𝐹</m:t>
                        </m:r>
                      </m:e>
                      <m:sub>
                        <m:r>
                          <a:rPr lang="ja-JP" altLang="en-US" sz="1800" i="1"/>
                          <m:t>𝜇</m:t>
                        </m:r>
                      </m:sub>
                    </m:sSub>
                    <m:r>
                      <a:rPr lang="ja-JP" altLang="en-US" sz="1800"/>
                      <m:t>∥≤∣</m:t>
                    </m:r>
                    <m:r>
                      <a:rPr lang="ja-JP" altLang="en-US" sz="1800" i="1"/>
                      <m:t>𝜇</m:t>
                    </m:r>
                    <m:r>
                      <a:rPr lang="ja-JP" altLang="en-US" sz="1800"/>
                      <m:t>∣</m:t>
                    </m:r>
                    <m:d>
                      <m:dPr>
                        <m:ctrlPr>
                          <a:rPr lang="ja-JP" altLang="en-US" sz="1800" i="1"/>
                        </m:ctrlPr>
                      </m:dPr>
                      <m:e>
                        <m:r>
                          <a:rPr lang="ja-JP" altLang="en-US" sz="1800" i="1"/>
                          <m:t>𝐾</m:t>
                        </m:r>
                      </m:e>
                    </m:d>
                    <m:r>
                      <a:rPr lang="en-US" altLang="ja-JP" sz="1800"/>
                      <m:t>.</m:t>
                    </m:r>
                  </m:oMath>
                </a14:m>
                <a:r>
                  <a:rPr lang="en-US" altLang="ja-JP" sz="1800" dirty="0"/>
                  <a:t> </a:t>
                </a:r>
                <a:r>
                  <a:rPr lang="ja-JP" altLang="ja-JP" sz="1800" dirty="0"/>
                  <a:t>有</a:t>
                </a:r>
                <a14:m>
                  <m:oMath xmlns:m="http://schemas.openxmlformats.org/officeDocument/2006/math">
                    <m:r>
                      <a:rPr lang="ja-JP" altLang="en-US" sz="1800"/>
                      <m:t>∥</m:t>
                    </m:r>
                    <m:sSub>
                      <m:sSubPr>
                        <m:ctrlPr>
                          <a:rPr lang="ja-JP" altLang="en-US" sz="1800" i="1"/>
                        </m:ctrlPr>
                      </m:sSubPr>
                      <m:e>
                        <m:r>
                          <a:rPr lang="ja-JP" altLang="en-US" sz="1800" i="1"/>
                          <m:t>𝐹</m:t>
                        </m:r>
                      </m:e>
                      <m:sub>
                        <m:r>
                          <a:rPr lang="ja-JP" altLang="en-US" sz="1800" i="1"/>
                          <m:t>𝜇</m:t>
                        </m:r>
                      </m:sub>
                    </m:sSub>
                    <m:r>
                      <a:rPr lang="ja-JP" altLang="en-US" sz="1800"/>
                      <m:t>∥</m:t>
                    </m:r>
                    <m:r>
                      <a:rPr lang="en-US" altLang="ja-JP" sz="1800"/>
                      <m:t>=∣</m:t>
                    </m:r>
                    <m:r>
                      <a:rPr lang="ja-JP" altLang="en-US" sz="1800" i="1"/>
                      <m:t>𝜇</m:t>
                    </m:r>
                    <m:r>
                      <a:rPr lang="ja-JP" altLang="en-US" sz="1800"/>
                      <m:t>∣</m:t>
                    </m:r>
                    <m:d>
                      <m:dPr>
                        <m:ctrlPr>
                          <a:rPr lang="ja-JP" altLang="en-US" sz="1800" i="1"/>
                        </m:ctrlPr>
                      </m:dPr>
                      <m:e>
                        <m:r>
                          <a:rPr lang="ja-JP" altLang="en-US" sz="1800" i="1"/>
                          <m:t>𝐾</m:t>
                        </m:r>
                      </m:e>
                    </m:d>
                    <m:r>
                      <a:rPr lang="en-US" altLang="ja-JP" sz="1800"/>
                      <m:t>.</m:t>
                    </m:r>
                  </m:oMath>
                </a14:m>
                <a:endParaRPr lang="en-US" altLang="ja-JP" sz="1800" dirty="0"/>
              </a:p>
              <a:p>
                <a14:m>
                  <m:oMath xmlns:m="http://schemas.openxmlformats.org/officeDocument/2006/math">
                    <m:r>
                      <a:rPr lang="ja-JP" altLang="en-US" sz="1800" i="1"/>
                      <m:t>𝜇</m:t>
                    </m:r>
                    <m:r>
                      <a:rPr lang="ja-JP" altLang="en-US" sz="1800"/>
                      <m:t>↦</m:t>
                    </m:r>
                    <m:sSub>
                      <m:sSubPr>
                        <m:ctrlPr>
                          <a:rPr lang="ja-JP" altLang="en-US" sz="1800" i="1"/>
                        </m:ctrlPr>
                      </m:sSubPr>
                      <m:e>
                        <m:r>
                          <a:rPr lang="ja-JP" altLang="en-US" sz="1800" i="1"/>
                          <m:t>𝐹</m:t>
                        </m:r>
                      </m:e>
                      <m:sub>
                        <m:r>
                          <a:rPr lang="ja-JP" altLang="en-US" sz="1800" i="1"/>
                          <m:t>𝜇</m:t>
                        </m:r>
                      </m:sub>
                    </m:sSub>
                  </m:oMath>
                </a14:m>
                <a:r>
                  <a:rPr lang="en-US" altLang="ja-JP" sz="1800" dirty="0"/>
                  <a:t> </a:t>
                </a:r>
                <a:r>
                  <a:rPr lang="ja-JP" altLang="ja-JP" sz="1800" dirty="0"/>
                  <a:t>可以把有限符号 Borel 测度送到连续线性泛函。</a:t>
                </a:r>
              </a:p>
              <a:p>
                <a:r>
                  <a:rPr lang="ja-JP" altLang="ja-JP" sz="1800" dirty="0"/>
                  <a:t>Riesz 表示定理说反过来也成立：每一个连续线性泛函 </a:t>
                </a:r>
                <a14:m>
                  <m:oMath xmlns:m="http://schemas.openxmlformats.org/officeDocument/2006/math">
                    <m:r>
                      <a:rPr lang="ja-JP" altLang="en-US" sz="1800" i="1"/>
                      <m:t>𝐹</m:t>
                    </m:r>
                    <m:r>
                      <a:rPr lang="ja-JP" altLang="en-US" sz="1800"/>
                      <m:t>∈</m:t>
                    </m:r>
                    <m:r>
                      <a:rPr lang="ja-JP" altLang="en-US" sz="1800" i="1"/>
                      <m:t>𝐶</m:t>
                    </m:r>
                    <m:sSup>
                      <m:sSupPr>
                        <m:ctrlPr>
                          <a:rPr lang="ja-JP" altLang="en-US" sz="1800" i="1"/>
                        </m:ctrlPr>
                      </m:sSupPr>
                      <m:e>
                        <m:d>
                          <m:dPr>
                            <m:ctrlPr>
                              <a:rPr lang="ja-JP" altLang="en-US" sz="1800" i="1"/>
                            </m:ctrlPr>
                          </m:dPr>
                          <m:e>
                            <m:r>
                              <a:rPr lang="ja-JP" altLang="en-US" sz="1800" i="1"/>
                              <m:t>𝐾</m:t>
                            </m:r>
                          </m:e>
                        </m:d>
                      </m:e>
                      <m:sup>
                        <m:r>
                          <a:rPr lang="ja-JP" altLang="en-US" sz="1800"/>
                          <m:t>∗</m:t>
                        </m:r>
                      </m:sup>
                    </m:sSup>
                  </m:oMath>
                </a14:m>
                <a:r>
                  <a:rPr lang="ja-JP" altLang="ja-JP" sz="1800" dirty="0"/>
                  <a:t>，都一定来自某个唯一的有限符号 Borel 测度 </a:t>
                </a:r>
                <a14:m>
                  <m:oMath xmlns:m="http://schemas.openxmlformats.org/officeDocument/2006/math">
                    <m:r>
                      <a:rPr lang="ja-JP" altLang="en-US" sz="1800" i="1"/>
                      <m:t>𝜇</m:t>
                    </m:r>
                  </m:oMath>
                </a14:m>
                <a:r>
                  <a:rPr lang="ja-JP" altLang="ja-JP" sz="1800" dirty="0"/>
                  <a:t>。也就是说，对任意</a:t>
                </a:r>
                <a14:m>
                  <m:oMath xmlns:m="http://schemas.openxmlformats.org/officeDocument/2006/math">
                    <m:r>
                      <a:rPr lang="ja-JP" altLang="en-US" sz="1800" i="1"/>
                      <m:t>𝐹</m:t>
                    </m:r>
                    <m:r>
                      <a:rPr lang="ja-JP" altLang="en-US" sz="1800"/>
                      <m:t>∈</m:t>
                    </m:r>
                    <m:r>
                      <a:rPr lang="ja-JP" altLang="en-US" sz="1800" i="1"/>
                      <m:t>𝐶</m:t>
                    </m:r>
                    <m:sSup>
                      <m:sSupPr>
                        <m:ctrlPr>
                          <a:rPr lang="ja-JP" altLang="en-US" sz="1800" i="1"/>
                        </m:ctrlPr>
                      </m:sSupPr>
                      <m:e>
                        <m:d>
                          <m:dPr>
                            <m:ctrlPr>
                              <a:rPr lang="ja-JP" altLang="en-US" sz="1800" i="1"/>
                            </m:ctrlPr>
                          </m:dPr>
                          <m:e>
                            <m:r>
                              <a:rPr lang="ja-JP" altLang="en-US" sz="1800" i="1"/>
                              <m:t>𝐾</m:t>
                            </m:r>
                          </m:e>
                        </m:d>
                      </m:e>
                      <m:sup>
                        <m:r>
                          <a:rPr lang="ja-JP" altLang="en-US" sz="1800"/>
                          <m:t>∗</m:t>
                        </m:r>
                      </m:sup>
                    </m:sSup>
                    <m:r>
                      <a:rPr lang="en-US" altLang="ja-JP" sz="1800"/>
                      <m:t>,</m:t>
                    </m:r>
                  </m:oMath>
                </a14:m>
                <a:r>
                  <a:rPr lang="en-US" altLang="ja-JP" sz="1800" dirty="0"/>
                  <a:t> </a:t>
                </a:r>
                <a:r>
                  <a:rPr lang="ja-JP" altLang="ja-JP" sz="1800" dirty="0"/>
                  <a:t>存在唯一的有限符号 Borel 测度 </a:t>
                </a:r>
                <a14:m>
                  <m:oMath xmlns:m="http://schemas.openxmlformats.org/officeDocument/2006/math">
                    <m:r>
                      <a:rPr lang="ja-JP" altLang="en-US" sz="1800" i="1"/>
                      <m:t>𝜇</m:t>
                    </m:r>
                  </m:oMath>
                </a14:m>
                <a:r>
                  <a:rPr lang="ja-JP" altLang="ja-JP" sz="1800" dirty="0"/>
                  <a:t>，使得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ja-JP" altLang="en-US" sz="1800" i="1"/>
                        <m:t>𝐹</m:t>
                      </m:r>
                      <m:d>
                        <m:dPr>
                          <m:ctrlPr>
                            <a:rPr lang="ja-JP" altLang="en-US" sz="1800" i="1"/>
                          </m:ctrlPr>
                        </m:dPr>
                        <m:e>
                          <m:r>
                            <a:rPr lang="ja-JP" altLang="en-US" sz="1800" i="1"/>
                            <m:t>𝑓</m:t>
                          </m:r>
                        </m:e>
                      </m:d>
                      <m:r>
                        <a:rPr lang="en-US" altLang="ja-JP" sz="1800"/>
                        <m:t>=</m:t>
                      </m:r>
                      <m:nary>
                        <m:naryPr>
                          <m:grow m:val="on"/>
                          <m:supHide m:val="on"/>
                          <m:ctrlPr>
                            <a:rPr lang="ja-JP" altLang="en-US" sz="1800" i="1"/>
                          </m:ctrlPr>
                        </m:naryPr>
                        <m:sub>
                          <m:r>
                            <a:rPr lang="ja-JP" altLang="en-US" sz="1800" i="1"/>
                            <m:t>𝐾</m:t>
                          </m:r>
                        </m:sub>
                        <m:sup/>
                        <m:e>
                          <m:r>
                            <a:rPr lang="ja-JP" altLang="en-US" sz="1800" i="1"/>
                            <m:t>𝑓</m:t>
                          </m:r>
                        </m:e>
                      </m:nary>
                      <m:r>
                        <m:rPr>
                          <m:nor/>
                        </m:rPr>
                        <a:rPr lang="ja-JP" altLang="en-US" sz="1800" i="1"/>
                        <m:t> </m:t>
                      </m:r>
                      <m:r>
                        <a:rPr lang="ja-JP" altLang="en-US" sz="1800" i="1"/>
                        <m:t>𝑑</m:t>
                      </m:r>
                      <m:r>
                        <a:rPr lang="ja-JP" altLang="en-US" sz="1800" i="1"/>
                        <m:t>𝜇</m:t>
                      </m:r>
                      <m:r>
                        <a:rPr lang="en-US" altLang="ja-JP" sz="1800"/>
                        <m:t>, ∀</m:t>
                      </m:r>
                      <m:r>
                        <a:rPr lang="ja-JP" altLang="en-US" sz="1800" i="1"/>
                        <m:t>𝑓</m:t>
                      </m:r>
                      <m:r>
                        <a:rPr lang="ja-JP" altLang="en-US" sz="1800"/>
                        <m:t>∈</m:t>
                      </m:r>
                      <m:r>
                        <a:rPr lang="ja-JP" altLang="en-US" sz="1800" i="1"/>
                        <m:t>𝐶</m:t>
                      </m:r>
                      <m:d>
                        <m:dPr>
                          <m:ctrlPr>
                            <a:rPr lang="ja-JP" altLang="en-US" sz="1800" i="1"/>
                          </m:ctrlPr>
                        </m:dPr>
                        <m:e>
                          <m:r>
                            <a:rPr lang="ja-JP" altLang="en-US" sz="1800" i="1"/>
                            <m:t>𝐾</m:t>
                          </m:r>
                        </m:e>
                      </m:d>
                      <m:r>
                        <a:rPr lang="en-US" altLang="ja-JP" sz="1800"/>
                        <m:t>.</m:t>
                      </m:r>
                    </m:oMath>
                  </m:oMathPara>
                </a14:m>
                <a:endParaRPr lang="en-US" altLang="ja-JP" sz="1800" b="0" dirty="0"/>
              </a:p>
              <a:p>
                <a:r>
                  <a:rPr lang="ja-JP" altLang="ja-JP" sz="1800" dirty="0"/>
                  <a:t>因此：</a:t>
                </a:r>
                <a14:m>
                  <m:oMath xmlns:m="http://schemas.openxmlformats.org/officeDocument/2006/math">
                    <m:r>
                      <a:rPr lang="ja-JP" altLang="en-US" sz="1800" i="1"/>
                      <m:t>𝐶</m:t>
                    </m:r>
                    <m:sSup>
                      <m:sSupPr>
                        <m:ctrlPr>
                          <a:rPr lang="ja-JP" altLang="en-US" sz="1800" i="1"/>
                        </m:ctrlPr>
                      </m:sSupPr>
                      <m:e>
                        <m:d>
                          <m:dPr>
                            <m:ctrlPr>
                              <a:rPr lang="ja-JP" altLang="en-US" sz="1800" i="1"/>
                            </m:ctrlPr>
                          </m:dPr>
                          <m:e>
                            <m:r>
                              <a:rPr lang="ja-JP" altLang="en-US" sz="1800" i="1"/>
                              <m:t>𝐾</m:t>
                            </m:r>
                          </m:e>
                        </m:d>
                      </m:e>
                      <m:sup>
                        <m:r>
                          <a:rPr lang="ja-JP" altLang="en-US" sz="1800"/>
                          <m:t>∗</m:t>
                        </m:r>
                      </m:sup>
                    </m:sSup>
                    <m:r>
                      <a:rPr lang="ja-JP" altLang="en-US" sz="1800"/>
                      <m:t>≅</m:t>
                    </m:r>
                    <m:r>
                      <a:rPr lang="ja-JP" altLang="en-US" sz="1800" i="1"/>
                      <m:t>𝑀</m:t>
                    </m:r>
                    <m:d>
                      <m:dPr>
                        <m:ctrlPr>
                          <a:rPr lang="ja-JP" altLang="en-US" sz="1800" i="1"/>
                        </m:ctrlPr>
                      </m:dPr>
                      <m:e>
                        <m:r>
                          <a:rPr lang="ja-JP" altLang="en-US" sz="1800" i="1"/>
                          <m:t>𝐾</m:t>
                        </m:r>
                      </m:e>
                    </m:d>
                    <m:r>
                      <a:rPr lang="en-US" altLang="ja-JP" sz="1800"/>
                      <m:t>.</m:t>
                    </m:r>
                  </m:oMath>
                </a14:m>
                <a:r>
                  <a:rPr lang="en-US" altLang="ja-JP" sz="1800" dirty="0"/>
                  <a:t> </a:t>
                </a:r>
                <a:r>
                  <a:rPr lang="ja-JP" altLang="ja-JP" sz="1800" dirty="0"/>
                  <a:t>这里的 </a:t>
                </a:r>
                <a14:m>
                  <m:oMath xmlns:m="http://schemas.openxmlformats.org/officeDocument/2006/math">
                    <m:r>
                      <a:rPr lang="ja-JP" altLang="en-US" sz="1800"/>
                      <m:t>≅</m:t>
                    </m:r>
                  </m:oMath>
                </a14:m>
                <a:r>
                  <a:rPr lang="ja-JP" altLang="ja-JP" sz="1800" dirty="0"/>
                  <a:t>表示二者可以自然同构，而且范数也对应：</a:t>
                </a:r>
                <a14:m>
                  <m:oMath xmlns:m="http://schemas.openxmlformats.org/officeDocument/2006/math">
                    <m:r>
                      <a:rPr lang="ja-JP" altLang="en-US" sz="1800"/>
                      <m:t>∥</m:t>
                    </m:r>
                    <m:r>
                      <a:rPr lang="ja-JP" altLang="en-US" sz="1800" i="1"/>
                      <m:t>𝐹</m:t>
                    </m:r>
                    <m:r>
                      <a:rPr lang="ja-JP" altLang="en-US" sz="1800"/>
                      <m:t>∥</m:t>
                    </m:r>
                    <m:r>
                      <a:rPr lang="en-US" altLang="ja-JP" sz="1800"/>
                      <m:t>=∣</m:t>
                    </m:r>
                    <m:r>
                      <a:rPr lang="ja-JP" altLang="en-US" sz="1800" i="1"/>
                      <m:t>𝜇</m:t>
                    </m:r>
                    <m:r>
                      <a:rPr lang="ja-JP" altLang="en-US" sz="1800"/>
                      <m:t>∣</m:t>
                    </m:r>
                    <m:d>
                      <m:dPr>
                        <m:ctrlPr>
                          <a:rPr lang="ja-JP" altLang="en-US" sz="1800" i="1"/>
                        </m:ctrlPr>
                      </m:dPr>
                      <m:e>
                        <m:r>
                          <a:rPr lang="ja-JP" altLang="en-US" sz="1800" i="1"/>
                          <m:t>𝐾</m:t>
                        </m:r>
                      </m:e>
                    </m:d>
                    <m:r>
                      <a:rPr lang="en-US" altLang="ja-JP" sz="1800"/>
                      <m:t>.</m:t>
                    </m:r>
                  </m:oMath>
                </a14:m>
                <a:endParaRPr lang="en-US" altLang="ja-JP" sz="1800" dirty="0"/>
              </a:p>
              <a:p>
                <a:pPr marL="0" indent="0">
                  <a:buNone/>
                </a:pPr>
                <a:endParaRPr lang="en-US" altLang="ja-JP" sz="1800" b="0" dirty="0"/>
              </a:p>
            </p:txBody>
          </p:sp>
        </mc:Choice>
        <mc:Fallback>
          <p:sp>
            <p:nvSpPr>
              <p:cNvPr id="12" name="コンテンツ プレースホルダー 2">
                <a:extLst>
                  <a:ext uri="{FF2B5EF4-FFF2-40B4-BE49-F238E27FC236}">
                    <a16:creationId xmlns:a16="http://schemas.microsoft.com/office/drawing/2014/main" id="{4486E22D-8F8C-DEF5-BDA9-B98E2FAA503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90500" y="970280"/>
                <a:ext cx="11811000" cy="5440680"/>
              </a:xfrm>
              <a:blipFill>
                <a:blip r:embed="rId3"/>
                <a:stretch>
                  <a:fillRect l="-413" b="-9518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8547173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6C716D-E1DE-162D-F486-25C7C24493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6626" name="Rectangle 2">
                <a:extLst>
                  <a:ext uri="{FF2B5EF4-FFF2-40B4-BE49-F238E27FC236}">
                    <a16:creationId xmlns:a16="http://schemas.microsoft.com/office/drawing/2014/main" id="{AED0079A-3355-F2BA-A531-985A66728ACE}"/>
                  </a:ext>
                </a:extLst>
              </p:cNvPr>
              <p:cNvSpPr>
                <a:spLocks noGrp="1" noChangeArrowheads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zh-CN" altLang="en-US" b="1" dirty="0"/>
                  <a:t>例子：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ja-JP" alt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ja-JP" altLang="en-US" i="1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p>
                        <m:r>
                          <a:rPr lang="ja-JP" altLang="en-US" i="1">
                            <a:latin typeface="Cambria Math" panose="02040503050406030204" pitchFamily="18" charset="0"/>
                          </a:rPr>
                          <m:t>𝑝</m:t>
                        </m:r>
                      </m:sup>
                    </m:sSup>
                  </m:oMath>
                </a14:m>
                <a:r>
                  <a:rPr lang="ja-JP" altLang="ja-JP" b="1" dirty="0"/>
                  <a:t> 对偶</a:t>
                </a:r>
              </a:p>
            </p:txBody>
          </p:sp>
        </mc:Choice>
        <mc:Fallback xmlns="">
          <p:sp>
            <p:nvSpPr>
              <p:cNvPr id="26626" name="Rectangle 2">
                <a:extLst>
                  <a:ext uri="{FF2B5EF4-FFF2-40B4-BE49-F238E27FC236}">
                    <a16:creationId xmlns:a16="http://schemas.microsoft.com/office/drawing/2014/main" id="{AED0079A-3355-F2BA-A531-985A66728AC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3"/>
                <a:stretch>
                  <a:fillRect l="-826" b="-885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コンテンツ プレースホルダー 2">
                <a:extLst>
                  <a:ext uri="{FF2B5EF4-FFF2-40B4-BE49-F238E27FC236}">
                    <a16:creationId xmlns:a16="http://schemas.microsoft.com/office/drawing/2014/main" id="{B8A27537-1A86-94C4-A34C-5BC35521CB0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09880" y="1183640"/>
                <a:ext cx="11811000" cy="5440680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ja-JP" altLang="ja-JP" dirty="0"/>
                  <a:t>若 </a:t>
                </a:r>
                <a14:m>
                  <m:oMath xmlns:m="http://schemas.openxmlformats.org/officeDocument/2006/math">
                    <m:r>
                      <a:rPr lang="en-US" altLang="ja-JP">
                        <a:latin typeface="Cambria Math" panose="02040503050406030204" pitchFamily="18" charset="0"/>
                      </a:rPr>
                      <m:t>1&lt;</m:t>
                    </m:r>
                    <m:r>
                      <a:rPr lang="ja-JP" altLang="en-US" i="1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altLang="ja-JP">
                        <a:latin typeface="Cambria Math" panose="02040503050406030204" pitchFamily="18" charset="0"/>
                      </a:rPr>
                      <m:t>&lt;∞</m:t>
                    </m:r>
                  </m:oMath>
                </a14:m>
                <a:r>
                  <a:rPr lang="ja-JP" altLang="ja-JP" dirty="0"/>
                  <a:t>，且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ja-JP" alt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ja-JP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ja-JP" altLang="en-US" i="1">
                              <a:latin typeface="Cambria Math" panose="02040503050406030204" pitchFamily="18" charset="0"/>
                            </a:rPr>
                            <m:t>𝑝</m:t>
                          </m:r>
                        </m:den>
                      </m:f>
                      <m:r>
                        <a:rPr lang="en-US" altLang="ja-JP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ja-JP" alt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ja-JP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ja-JP" altLang="en-US" i="1">
                              <a:latin typeface="Cambria Math" panose="02040503050406030204" pitchFamily="18" charset="0"/>
                            </a:rPr>
                            <m:t>𝑞</m:t>
                          </m:r>
                        </m:den>
                      </m:f>
                      <m:r>
                        <a:rPr lang="en-US" altLang="ja-JP">
                          <a:latin typeface="Cambria Math" panose="02040503050406030204" pitchFamily="18" charset="0"/>
                        </a:rPr>
                        <m:t>=1,</m:t>
                      </m:r>
                    </m:oMath>
                  </m:oMathPara>
                </a14:m>
                <a:endParaRPr lang="en-US" altLang="ja-JP" dirty="0"/>
              </a:p>
              <a:p>
                <a:pPr marL="0" indent="0">
                  <a:buNone/>
                </a:pPr>
                <a:r>
                  <a:rPr lang="ja-JP" altLang="ja-JP" dirty="0"/>
                  <a:t>则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ja-JP" alt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ja-JP" alt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ja-JP" alt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ja-JP" altLang="en-US" i="1"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</m:e>
                                <m:sup>
                                  <m:r>
                                    <a:rPr lang="ja-JP" altLang="en-US" i="1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sup>
                              </m:sSup>
                              <m:d>
                                <m:dPr>
                                  <m:ctrlPr>
                                    <a:rPr lang="ja-JP" alt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ja-JP">
                                      <a:latin typeface="Cambria Math" panose="02040503050406030204" pitchFamily="18" charset="0"/>
                                    </a:rPr>
                                    <m:t>Ω</m:t>
                                  </m:r>
                                </m:e>
                              </m:d>
                            </m:e>
                          </m:d>
                        </m:e>
                        <m:sup>
                          <m:r>
                            <a:rPr lang="ja-JP" altLang="en-US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ja-JP" altLang="en-US">
                          <a:latin typeface="Cambria Math" panose="02040503050406030204" pitchFamily="18" charset="0"/>
                        </a:rPr>
                        <m:t>≅</m:t>
                      </m:r>
                      <m:sSup>
                        <m:sSupPr>
                          <m:ctrlPr>
                            <a:rPr lang="ja-JP" alt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ja-JP" altLang="en-US" i="1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p>
                          <m:r>
                            <a:rPr lang="ja-JP" altLang="en-US" i="1">
                              <a:latin typeface="Cambria Math" panose="02040503050406030204" pitchFamily="18" charset="0"/>
                            </a:rPr>
                            <m:t>𝑞</m:t>
                          </m:r>
                        </m:sup>
                      </m:sSup>
                      <m:d>
                        <m:dPr>
                          <m:ctrlPr>
                            <a:rPr lang="ja-JP" alt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altLang="ja-JP">
                              <a:latin typeface="Cambria Math" panose="02040503050406030204" pitchFamily="18" charset="0"/>
                            </a:rPr>
                            <m:t>Ω</m:t>
                          </m:r>
                        </m:e>
                      </m:d>
                      <m:r>
                        <a:rPr lang="en-US" altLang="ja-JP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en-US" altLang="ja-JP" dirty="0"/>
              </a:p>
              <a:p>
                <a:pPr marL="0" indent="0">
                  <a:buNone/>
                </a:pPr>
                <a:r>
                  <a:rPr lang="ja-JP" altLang="ja-JP" dirty="0"/>
                  <a:t>对应关系：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ja-JP" altLang="en-US" i="1"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lang="ja-JP" altLang="en-US">
                          <a:latin typeface="Cambria Math" panose="02040503050406030204" pitchFamily="18" charset="0"/>
                        </a:rPr>
                        <m:t>∈</m:t>
                      </m:r>
                      <m:sSup>
                        <m:sSupPr>
                          <m:ctrlPr>
                            <a:rPr lang="ja-JP" alt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ja-JP" altLang="en-US" i="1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p>
                          <m:r>
                            <a:rPr lang="ja-JP" altLang="en-US" i="1">
                              <a:latin typeface="Cambria Math" panose="02040503050406030204" pitchFamily="18" charset="0"/>
                            </a:rPr>
                            <m:t>𝑞</m:t>
                          </m:r>
                        </m:sup>
                      </m:sSup>
                      <m:r>
                        <a:rPr lang="ja-JP" altLang="en-US">
                          <a:latin typeface="Cambria Math" panose="02040503050406030204" pitchFamily="18" charset="0"/>
                        </a:rPr>
                        <m:t> ↦ </m:t>
                      </m:r>
                      <m:sSub>
                        <m:sSubPr>
                          <m:ctrlPr>
                            <a:rPr lang="ja-JP" alt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ja-JP" altLang="en-US" i="1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ja-JP" altLang="en-US" i="1">
                              <a:latin typeface="Cambria Math" panose="02040503050406030204" pitchFamily="18" charset="0"/>
                            </a:rPr>
                            <m:t>𝑔</m:t>
                          </m:r>
                        </m:sub>
                      </m:sSub>
                      <m:d>
                        <m:dPr>
                          <m:ctrlPr>
                            <a:rPr lang="ja-JP" alt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ja-JP" altLang="en-US" i="1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</m:d>
                      <m:r>
                        <a:rPr lang="en-US" altLang="ja-JP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grow m:val="on"/>
                          <m:supHide m:val="on"/>
                          <m:ctrlPr>
                            <a:rPr lang="ja-JP" alt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sty m:val="p"/>
                            </m:rPr>
                            <a:rPr lang="en-US" altLang="ja-JP">
                              <a:latin typeface="Cambria Math" panose="02040503050406030204" pitchFamily="18" charset="0"/>
                            </a:rPr>
                            <m:t>Ω</m:t>
                          </m:r>
                        </m:sub>
                        <m:sup/>
                        <m:e>
                          <m:r>
                            <a:rPr lang="ja-JP" altLang="en-US" i="1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</m:nary>
                      <m:d>
                        <m:dPr>
                          <m:ctrlPr>
                            <a:rPr lang="ja-JP" alt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ja-JP" alt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ja-JP" altLang="en-US" i="1">
                          <a:latin typeface="Cambria Math" panose="02040503050406030204" pitchFamily="18" charset="0"/>
                        </a:rPr>
                        <m:t>𝑔</m:t>
                      </m:r>
                      <m:d>
                        <m:dPr>
                          <m:ctrlPr>
                            <a:rPr lang="ja-JP" alt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ja-JP" alt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m:rPr>
                          <m:nor/>
                        </m:rPr>
                        <a:rPr lang="ja-JP" altLang="en-US" i="1"/>
                        <m:t> </m:t>
                      </m:r>
                      <m:r>
                        <a:rPr lang="ja-JP" altLang="en-US" i="1">
                          <a:latin typeface="Cambria Math" panose="02040503050406030204" pitchFamily="18" charset="0"/>
                        </a:rPr>
                        <m:t>𝑑𝑥</m:t>
                      </m:r>
                      <m:r>
                        <a:rPr lang="en-US" altLang="ja-JP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en-US" altLang="ja-JP" b="0" dirty="0"/>
              </a:p>
              <a:p>
                <a:pPr marL="0" indent="0">
                  <a:buNone/>
                </a:pPr>
                <a:r>
                  <a:rPr lang="ja-JP" altLang="ja-JP" dirty="0"/>
                  <a:t>由 Hölder 不等式</a:t>
                </a:r>
                <a:r>
                  <a:rPr lang="zh-CN" altLang="en-US" dirty="0"/>
                  <a:t>（</a:t>
                </a:r>
                <a:r>
                  <a:rPr lang="ja-JP" altLang="ja-JP" dirty="0"/>
                  <a:t>两个函数乘积的积分，可以被它们各自的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ja-JP" altLang="en-US"/>
                        </m:ctrlPr>
                      </m:sSupPr>
                      <m:e>
                        <m:r>
                          <a:rPr lang="ja-JP" altLang="en-US" i="1"/>
                          <m:t>𝐿</m:t>
                        </m:r>
                      </m:e>
                      <m:sup>
                        <m:r>
                          <a:rPr lang="ja-JP" altLang="en-US" i="1"/>
                          <m:t>𝑝</m:t>
                        </m:r>
                      </m:sup>
                    </m:sSup>
                  </m:oMath>
                </a14:m>
                <a:r>
                  <a:rPr lang="ja-JP" altLang="ja-JP" dirty="0"/>
                  <a:t>、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ja-JP" altLang="en-US"/>
                        </m:ctrlPr>
                      </m:sSupPr>
                      <m:e>
                        <m:r>
                          <a:rPr lang="ja-JP" altLang="en-US" i="1"/>
                          <m:t>𝐿</m:t>
                        </m:r>
                      </m:e>
                      <m:sup>
                        <m:r>
                          <a:rPr lang="ja-JP" altLang="en-US" i="1"/>
                          <m:t>𝑞</m:t>
                        </m:r>
                      </m:sup>
                    </m:sSup>
                  </m:oMath>
                </a14:m>
                <a:r>
                  <a:rPr lang="ja-JP" altLang="ja-JP" dirty="0"/>
                  <a:t> 范数控制</a:t>
                </a:r>
                <a:r>
                  <a:rPr lang="zh-CN" altLang="en-US" dirty="0"/>
                  <a:t>）</a:t>
                </a:r>
                <a:r>
                  <a:rPr lang="ja-JP" altLang="ja-JP" dirty="0"/>
                  <a:t>：</a:t>
                </a:r>
                <a:endParaRPr lang="en-US" altLang="ja-JP" dirty="0"/>
              </a:p>
              <a:p>
                <a:pPr marL="0" indent="0">
                  <a:buNone/>
                </a:pPr>
                <a:endParaRPr lang="ja-JP" altLang="ja-JP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ja-JP" altLang="en-US">
                          <a:latin typeface="Cambria Math" panose="02040503050406030204" pitchFamily="18" charset="0"/>
                        </a:rPr>
                        <m:t>∣</m:t>
                      </m:r>
                      <m:sSub>
                        <m:sSubPr>
                          <m:ctrlPr>
                            <a:rPr lang="ja-JP" alt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ja-JP" altLang="en-US" i="1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ja-JP" altLang="en-US" i="1">
                              <a:latin typeface="Cambria Math" panose="02040503050406030204" pitchFamily="18" charset="0"/>
                            </a:rPr>
                            <m:t>𝑔</m:t>
                          </m:r>
                        </m:sub>
                      </m:sSub>
                      <m:d>
                        <m:dPr>
                          <m:ctrlPr>
                            <a:rPr lang="ja-JP" alt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ja-JP" altLang="en-US" i="1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</m:d>
                      <m:r>
                        <a:rPr lang="ja-JP" altLang="en-US">
                          <a:latin typeface="Cambria Math" panose="02040503050406030204" pitchFamily="18" charset="0"/>
                        </a:rPr>
                        <m:t>∣≤∥</m:t>
                      </m:r>
                      <m:r>
                        <a:rPr lang="ja-JP" altLang="en-US" i="1">
                          <a:latin typeface="Cambria Math" panose="02040503050406030204" pitchFamily="18" charset="0"/>
                        </a:rPr>
                        <m:t>𝑢</m:t>
                      </m:r>
                      <m:sSub>
                        <m:sSubPr>
                          <m:ctrlPr>
                            <a:rPr lang="ja-JP" alt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ja-JP" altLang="en-US">
                              <a:latin typeface="Cambria Math" panose="02040503050406030204" pitchFamily="18" charset="0"/>
                            </a:rPr>
                            <m:t>∥</m:t>
                          </m:r>
                        </m:e>
                        <m:sub>
                          <m:r>
                            <a:rPr lang="ja-JP" altLang="en-US" i="1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  <m:r>
                        <a:rPr lang="ja-JP" altLang="en-US">
                          <a:latin typeface="Cambria Math" panose="02040503050406030204" pitchFamily="18" charset="0"/>
                        </a:rPr>
                        <m:t>∥</m:t>
                      </m:r>
                      <m:r>
                        <a:rPr lang="ja-JP" altLang="en-US" i="1">
                          <a:latin typeface="Cambria Math" panose="02040503050406030204" pitchFamily="18" charset="0"/>
                        </a:rPr>
                        <m:t>𝑔</m:t>
                      </m:r>
                      <m:sSub>
                        <m:sSubPr>
                          <m:ctrlPr>
                            <a:rPr lang="ja-JP" alt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ja-JP" altLang="en-US">
                              <a:latin typeface="Cambria Math" panose="02040503050406030204" pitchFamily="18" charset="0"/>
                            </a:rPr>
                            <m:t>∥</m:t>
                          </m:r>
                        </m:e>
                        <m:sub>
                          <m:r>
                            <a:rPr lang="ja-JP" altLang="en-US" i="1">
                              <a:latin typeface="Cambria Math" panose="02040503050406030204" pitchFamily="18" charset="0"/>
                            </a:rPr>
                            <m:t>𝑞</m:t>
                          </m:r>
                        </m:sub>
                      </m:sSub>
                      <m:r>
                        <a:rPr lang="en-US" altLang="ja-JP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en-US" altLang="ja-JP" dirty="0"/>
              </a:p>
              <a:p>
                <a:pPr marL="0" indent="0">
                  <a:buNone/>
                </a:pPr>
                <a:endParaRPr lang="en-US" altLang="ja-JP" dirty="0"/>
              </a:p>
              <a:p>
                <a:pPr marL="0" indent="0">
                  <a:buNone/>
                </a:pPr>
                <a:r>
                  <a:rPr lang="ja-JP" altLang="ja-JP" dirty="0"/>
                  <a:t>这就是“泛函由积分核表示”。Riesz 表示定理在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ja-JP" alt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ja-JP" altLang="en-US" i="1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p>
                        <m:r>
                          <a:rPr lang="en-US" altLang="ja-JP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ja-JP" altLang="ja-JP" dirty="0"/>
                  <a:t>中是这个现象最漂亮的形式。</a:t>
                </a:r>
              </a:p>
              <a:p>
                <a:endParaRPr lang="ja-JP" altLang="ja-JP" dirty="0"/>
              </a:p>
            </p:txBody>
          </p:sp>
        </mc:Choice>
        <mc:Fallback>
          <p:sp>
            <p:nvSpPr>
              <p:cNvPr id="12" name="コンテンツ プレースホルダー 2">
                <a:extLst>
                  <a:ext uri="{FF2B5EF4-FFF2-40B4-BE49-F238E27FC236}">
                    <a16:creationId xmlns:a16="http://schemas.microsoft.com/office/drawing/2014/main" id="{B8A27537-1A86-94C4-A34C-5BC35521CB0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09880" y="1183640"/>
                <a:ext cx="11811000" cy="5440680"/>
              </a:xfrm>
              <a:blipFill>
                <a:blip r:embed="rId4"/>
                <a:stretch>
                  <a:fillRect l="-568" t="-896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図 2">
            <a:extLst>
              <a:ext uri="{FF2B5EF4-FFF2-40B4-BE49-F238E27FC236}">
                <a16:creationId xmlns:a16="http://schemas.microsoft.com/office/drawing/2014/main" id="{6D996A08-692C-3048-AE3A-3C276014831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56399" y="233680"/>
            <a:ext cx="4600541" cy="5361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196312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B5B858-CD25-1394-074D-2B46AF9A96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>
            <a:extLst>
              <a:ext uri="{FF2B5EF4-FFF2-40B4-BE49-F238E27FC236}">
                <a16:creationId xmlns:a16="http://schemas.microsoft.com/office/drawing/2014/main" id="{3FC4B879-C0DA-8DB9-462C-6DA3BE99B8D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rPr lang="ja-JP" altLang="ja-JP" b="1" dirty="0"/>
              <a:t>对偶空间依赖于范数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コンテンツ プレースホルダー 2">
                <a:extLst>
                  <a:ext uri="{FF2B5EF4-FFF2-40B4-BE49-F238E27FC236}">
                    <a16:creationId xmlns:a16="http://schemas.microsoft.com/office/drawing/2014/main" id="{6316965C-72B1-A7A3-C412-EC03616AF81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09880" y="1183640"/>
                <a:ext cx="11811000" cy="5440680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ja-JP" altLang="ja-JP" dirty="0"/>
                  <a:t>同一个线性空间，换范数，对偶空间可能改变。</a:t>
                </a:r>
              </a:p>
              <a:p>
                <a:pPr marL="0" indent="0">
                  <a:buNone/>
                </a:pPr>
                <a:r>
                  <a:rPr lang="ja-JP" altLang="ja-JP" dirty="0"/>
                  <a:t>例子：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ja-JP" altLang="en-US" i="1">
                          <a:latin typeface="Cambria Math" panose="02040503050406030204" pitchFamily="18" charset="0"/>
                        </a:rPr>
                        <m:t>𝐶</m:t>
                      </m:r>
                      <m:d>
                        <m:dPr>
                          <m:begChr m:val="["/>
                          <m:endChr m:val="]"/>
                          <m:sepChr m:val=","/>
                          <m:ctrlPr>
                            <a:rPr lang="ja-JP" alt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ja-JP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  <m:e>
                          <m:r>
                            <a:rPr lang="en-US" altLang="ja-JP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a:rPr lang="ja-JP" altLang="en-US">
                          <a:latin typeface="Cambria Math" panose="02040503050406030204" pitchFamily="18" charset="0"/>
                        </a:rPr>
                        <m:t>⊂</m:t>
                      </m:r>
                      <m:sSup>
                        <m:sSupPr>
                          <m:ctrlPr>
                            <a:rPr lang="ja-JP" alt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ja-JP" altLang="en-US" i="1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p>
                          <m:r>
                            <a:rPr lang="en-US" altLang="ja-JP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d>
                        <m:dPr>
                          <m:begChr m:val="["/>
                          <m:endChr m:val="]"/>
                          <m:sepChr m:val=","/>
                          <m:ctrlPr>
                            <a:rPr lang="ja-JP" alt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ja-JP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  <m:e>
                          <m:r>
                            <a:rPr lang="en-US" altLang="ja-JP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a:rPr lang="en-US" altLang="ja-JP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en-US" altLang="ja-JP" dirty="0"/>
              </a:p>
              <a:p>
                <a:pPr marL="0" indent="0">
                  <a:buNone/>
                </a:pPr>
                <a:r>
                  <a:rPr lang="ja-JP" altLang="ja-JP" dirty="0"/>
                  <a:t>点值泛函</a:t>
                </a:r>
                <a14:m>
                  <m:oMath xmlns:m="http://schemas.openxmlformats.org/officeDocument/2006/math">
                    <m:r>
                      <a:rPr lang="ja-JP" altLang="en-US" i="1">
                        <a:latin typeface="Cambria Math" panose="02040503050406030204" pitchFamily="18" charset="0"/>
                      </a:rPr>
                      <m:t>𝑢</m:t>
                    </m:r>
                    <m:r>
                      <a:rPr lang="ja-JP" altLang="en-US">
                        <a:latin typeface="Cambria Math" panose="02040503050406030204" pitchFamily="18" charset="0"/>
                      </a:rPr>
                      <m:t>↦</m:t>
                    </m:r>
                    <m:r>
                      <a:rPr lang="ja-JP" altLang="en-US" i="1">
                        <a:latin typeface="Cambria Math" panose="02040503050406030204" pitchFamily="18" charset="0"/>
                      </a:rPr>
                      <m:t>𝑢</m:t>
                    </m:r>
                    <m:d>
                      <m:dPr>
                        <m:ctrlPr>
                          <a:rPr lang="ja-JP" alt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ja-JP" alt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ja-JP" altLang="en-US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altLang="ja-JP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d>
                  </m:oMath>
                </a14:m>
                <a:r>
                  <a:rPr lang="ja-JP" altLang="ja-JP" dirty="0"/>
                  <a:t>在 </a:t>
                </a:r>
                <a14:m>
                  <m:oMath xmlns:m="http://schemas.openxmlformats.org/officeDocument/2006/math">
                    <m:r>
                      <a:rPr lang="ja-JP" altLang="en-US">
                        <a:latin typeface="Cambria Math" panose="02040503050406030204" pitchFamily="18" charset="0"/>
                      </a:rPr>
                      <m:t>∥</m:t>
                    </m:r>
                    <m:r>
                      <a:rPr lang="ja-JP" altLang="en-US" i="1">
                        <a:latin typeface="Cambria Math" panose="02040503050406030204" pitchFamily="18" charset="0"/>
                      </a:rPr>
                      <m:t>𝑢</m:t>
                    </m:r>
                    <m:sSub>
                      <m:sSubPr>
                        <m:ctrlPr>
                          <a:rPr lang="ja-JP" alt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ja-JP" altLang="en-US">
                            <a:latin typeface="Cambria Math" panose="02040503050406030204" pitchFamily="18" charset="0"/>
                          </a:rPr>
                          <m:t>∥</m:t>
                        </m:r>
                      </m:e>
                      <m:sub>
                        <m:r>
                          <a:rPr lang="ja-JP" altLang="en-US">
                            <a:latin typeface="Cambria Math" panose="02040503050406030204" pitchFamily="18" charset="0"/>
                          </a:rPr>
                          <m:t>∞</m:t>
                        </m:r>
                      </m:sub>
                    </m:sSub>
                  </m:oMath>
                </a14:m>
                <a:r>
                  <a:rPr lang="ja-JP" altLang="ja-JP" dirty="0"/>
                  <a:t>下连续</a:t>
                </a:r>
                <a:r>
                  <a:rPr lang="en-US" altLang="ja-JP" dirty="0"/>
                  <a:t>(</a:t>
                </a:r>
                <a:r>
                  <a:rPr lang="ja-JP" altLang="ja-JP" dirty="0"/>
                  <a:t>它衡量函数图像的最大高度</a:t>
                </a:r>
                <a:r>
                  <a:rPr lang="en-US" altLang="ja-JP" dirty="0"/>
                  <a:t>)</a:t>
                </a:r>
                <a:r>
                  <a:rPr lang="ja-JP" altLang="ja-JP" dirty="0"/>
                  <a:t>，但在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ja-JP" alt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ja-JP" altLang="en-US" i="1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p>
                        <m:r>
                          <a:rPr lang="en-US" altLang="ja-JP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ja-JP" altLang="ja-JP" dirty="0"/>
                  <a:t>范数</a:t>
                </a:r>
                <a:r>
                  <a:rPr lang="en-US" altLang="ja-JP" dirty="0"/>
                  <a:t>(</a:t>
                </a:r>
                <a14:m>
                  <m:oMath xmlns:m="http://schemas.openxmlformats.org/officeDocument/2006/math">
                    <m:r>
                      <a:rPr lang="ja-JP" altLang="en-US">
                        <a:latin typeface="Cambria Math" panose="02040503050406030204" pitchFamily="18" charset="0"/>
                      </a:rPr>
                      <m:t>∥</m:t>
                    </m:r>
                    <m:r>
                      <a:rPr lang="ja-JP" altLang="en-US" i="1">
                        <a:latin typeface="Cambria Math" panose="02040503050406030204" pitchFamily="18" charset="0"/>
                      </a:rPr>
                      <m:t>𝑢</m:t>
                    </m:r>
                    <m:sSub>
                      <m:sSubPr>
                        <m:ctrlPr>
                          <a:rPr lang="ja-JP" alt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ja-JP" altLang="en-US">
                            <a:latin typeface="Cambria Math" panose="02040503050406030204" pitchFamily="18" charset="0"/>
                          </a:rPr>
                          <m:t>∥</m:t>
                        </m:r>
                      </m:e>
                      <m:sub>
                        <m:r>
                          <a:rPr lang="en-US" altLang="ja-JP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ja-JP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ja-JP" alt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ja-JP" alt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nary>
                              <m:naryPr>
                                <m:grow m:val="on"/>
                                <m:ctrlPr>
                                  <a:rPr lang="ja-JP" altLang="en-US" i="1">
                                    <a:latin typeface="Cambria Math" panose="02040503050406030204" pitchFamily="18" charset="0"/>
                                  </a:rPr>
                                </m:ctrlPr>
                              </m:naryPr>
                              <m:sub>
                                <m:r>
                                  <a:rPr lang="en-US" altLang="ja-JP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  <m:sup>
                                <m:r>
                                  <a:rPr lang="en-US" altLang="ja-JP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p>
                              <m:e>
                                <m:r>
                                  <a:rPr lang="ja-JP" altLang="en-US">
                                    <a:latin typeface="Cambria Math" panose="02040503050406030204" pitchFamily="18" charset="0"/>
                                  </a:rPr>
                                  <m:t>∣</m:t>
                                </m:r>
                              </m:e>
                            </m:nary>
                            <m:r>
                              <a:rPr lang="ja-JP" altLang="en-US" i="1">
                                <a:latin typeface="Cambria Math" panose="02040503050406030204" pitchFamily="18" charset="0"/>
                              </a:rPr>
                              <m:t>𝑢</m:t>
                            </m:r>
                            <m:d>
                              <m:dPr>
                                <m:ctrlPr>
                                  <a:rPr lang="ja-JP" alt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ja-JP" altLang="en-US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</m:d>
                            <m:sSup>
                              <m:sSupPr>
                                <m:ctrlPr>
                                  <a:rPr lang="ja-JP" altLang="en-US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ja-JP" altLang="en-US">
                                    <a:latin typeface="Cambria Math" panose="02040503050406030204" pitchFamily="18" charset="0"/>
                                  </a:rPr>
                                  <m:t>∣</m:t>
                                </m:r>
                              </m:e>
                              <m:sup>
                                <m:r>
                                  <a:rPr lang="en-US" altLang="ja-JP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nor/>
                              </m:rPr>
                              <a:rPr lang="ja-JP" altLang="en-US" i="1"/>
                              <m:t> </m:t>
                            </m:r>
                            <m:r>
                              <a:rPr lang="ja-JP" altLang="en-US" i="1">
                                <a:latin typeface="Cambria Math" panose="02040503050406030204" pitchFamily="18" charset="0"/>
                              </a:rPr>
                              <m:t>𝑑𝑡</m:t>
                            </m:r>
                          </m:e>
                        </m:d>
                      </m:e>
                      <m:sup>
                        <m:r>
                          <a:rPr lang="en-US" altLang="ja-JP">
                            <a:latin typeface="Cambria Math" panose="02040503050406030204" pitchFamily="18" charset="0"/>
                          </a:rPr>
                          <m:t>1/2</m:t>
                        </m:r>
                      </m:sup>
                    </m:sSup>
                    <m:r>
                      <a:rPr lang="en-US" altLang="ja-JP" b="0" i="0" smtClean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ja-JP" altLang="ja-JP" dirty="0"/>
                  <a:t>它衡量的是函数整体平方平均意义下的大小</a:t>
                </a:r>
                <a:r>
                  <a:rPr lang="en-US" altLang="ja-JP" dirty="0"/>
                  <a:t>,</a:t>
                </a:r>
                <a:r>
                  <a:rPr lang="ja-JP" altLang="ja-JP" dirty="0"/>
                  <a:t>允许在很小的区域里出现比较大的偏差，只要这个区域足够窄，整体积分仍然很小</a:t>
                </a:r>
                <a:r>
                  <a:rPr lang="en-US" altLang="ja-JP" dirty="0"/>
                  <a:t>)</a:t>
                </a:r>
                <a:r>
                  <a:rPr lang="ja-JP" altLang="ja-JP" dirty="0"/>
                  <a:t>下不连续。</a:t>
                </a:r>
                <a:endParaRPr lang="en-US" altLang="ja-JP" dirty="0"/>
              </a:p>
              <a:p>
                <a:pPr marL="0" indent="0">
                  <a:buNone/>
                </a:pPr>
                <a:r>
                  <a:rPr lang="ja-JP" altLang="ja-JP" dirty="0"/>
                  <a:t>用</a:t>
                </a:r>
                <a14:m>
                  <m:oMath xmlns:m="http://schemas.openxmlformats.org/officeDocument/2006/math">
                    <m:r>
                      <a:rPr lang="ja-JP" altLang="en-US">
                        <a:latin typeface="Cambria Math" panose="02040503050406030204" pitchFamily="18" charset="0"/>
                      </a:rPr>
                      <m:t>∥</m:t>
                    </m:r>
                    <m:r>
                      <a:rPr lang="ja-JP" altLang="en-US" i="1">
                        <a:latin typeface="Cambria Math" panose="02040503050406030204" pitchFamily="18" charset="0"/>
                      </a:rPr>
                      <m:t>𝑢</m:t>
                    </m:r>
                    <m:sSub>
                      <m:sSubPr>
                        <m:ctrlPr>
                          <a:rPr lang="ja-JP" alt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ja-JP" altLang="en-US">
                            <a:latin typeface="Cambria Math" panose="02040503050406030204" pitchFamily="18" charset="0"/>
                          </a:rPr>
                          <m:t>∥</m:t>
                        </m:r>
                      </m:e>
                      <m:sub>
                        <m:r>
                          <a:rPr lang="en-US" altLang="ja-JP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ja-JP" altLang="ja-JP" dirty="0"/>
                  <a:t>来衡量函数大小。如果点值泛函在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ja-JP" alt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ja-JP" altLang="en-US" i="1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p>
                        <m:r>
                          <a:rPr lang="en-US" altLang="ja-JP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ja-JP" altLang="ja-JP" dirty="0"/>
                  <a:t>范数下连续，那么应该存在常数 </a:t>
                </a:r>
                <a14:m>
                  <m:oMath xmlns:m="http://schemas.openxmlformats.org/officeDocument/2006/math">
                    <m:r>
                      <a:rPr lang="ja-JP" altLang="en-US" i="1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altLang="ja-JP"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r>
                  <a:rPr lang="ja-JP" altLang="ja-JP" dirty="0"/>
                  <a:t>，使得：</a:t>
                </a:r>
                <a14:m>
                  <m:oMath xmlns:m="http://schemas.openxmlformats.org/officeDocument/2006/math">
                    <m:r>
                      <a:rPr lang="ja-JP" altLang="en-US">
                        <a:latin typeface="Cambria Math" panose="02040503050406030204" pitchFamily="18" charset="0"/>
                      </a:rPr>
                      <m:t>∣</m:t>
                    </m:r>
                    <m:r>
                      <a:rPr lang="ja-JP" altLang="en-US" i="1">
                        <a:latin typeface="Cambria Math" panose="02040503050406030204" pitchFamily="18" charset="0"/>
                      </a:rPr>
                      <m:t>𝑢</m:t>
                    </m:r>
                    <m:d>
                      <m:dPr>
                        <m:ctrlPr>
                          <a:rPr lang="ja-JP" alt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ja-JP" alt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ja-JP" altLang="en-US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altLang="ja-JP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d>
                    <m:r>
                      <a:rPr lang="ja-JP" altLang="en-US">
                        <a:latin typeface="Cambria Math" panose="02040503050406030204" pitchFamily="18" charset="0"/>
                      </a:rPr>
                      <m:t>∣≤</m:t>
                    </m:r>
                    <m:r>
                      <a:rPr lang="ja-JP" altLang="en-US" i="1">
                        <a:latin typeface="Cambria Math" panose="02040503050406030204" pitchFamily="18" charset="0"/>
                      </a:rPr>
                      <m:t>𝐶</m:t>
                    </m:r>
                    <m:r>
                      <a:rPr lang="ja-JP" altLang="en-US">
                        <a:latin typeface="Cambria Math" panose="02040503050406030204" pitchFamily="18" charset="0"/>
                      </a:rPr>
                      <m:t>∥</m:t>
                    </m:r>
                    <m:r>
                      <a:rPr lang="ja-JP" altLang="en-US" i="1">
                        <a:latin typeface="Cambria Math" panose="02040503050406030204" pitchFamily="18" charset="0"/>
                      </a:rPr>
                      <m:t>𝑢</m:t>
                    </m:r>
                    <m:sSub>
                      <m:sSubPr>
                        <m:ctrlPr>
                          <a:rPr lang="ja-JP" alt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ja-JP" altLang="en-US">
                            <a:latin typeface="Cambria Math" panose="02040503050406030204" pitchFamily="18" charset="0"/>
                          </a:rPr>
                          <m:t>∥</m:t>
                        </m:r>
                      </m:e>
                      <m:sub>
                        <m:r>
                          <a:rPr lang="en-US" altLang="ja-JP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ja-JP" altLang="ja-JP" dirty="0"/>
                  <a:t>对所有连续函数 </a:t>
                </a:r>
                <a14:m>
                  <m:oMath xmlns:m="http://schemas.openxmlformats.org/officeDocument/2006/math">
                    <m:r>
                      <a:rPr lang="ja-JP" altLang="en-US" i="1">
                        <a:latin typeface="Cambria Math" panose="02040503050406030204" pitchFamily="18" charset="0"/>
                      </a:rPr>
                      <m:t>𝑢</m:t>
                    </m:r>
                    <m:r>
                      <a:rPr lang="ja-JP" altLang="en-US">
                        <a:latin typeface="Cambria Math" panose="02040503050406030204" pitchFamily="18" charset="0"/>
                      </a:rPr>
                      <m:t>∈</m:t>
                    </m:r>
                    <m:r>
                      <a:rPr lang="ja-JP" altLang="en-US" i="1">
                        <a:latin typeface="Cambria Math" panose="02040503050406030204" pitchFamily="18" charset="0"/>
                      </a:rPr>
                      <m:t>𝐶</m:t>
                    </m:r>
                    <m:d>
                      <m:dPr>
                        <m:begChr m:val="["/>
                        <m:endChr m:val="]"/>
                        <m:sepChr m:val=","/>
                        <m:ctrlPr>
                          <a:rPr lang="ja-JP" alt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>
                            <a:latin typeface="Cambria Math" panose="02040503050406030204" pitchFamily="18" charset="0"/>
                          </a:rPr>
                          <m:t>0</m:t>
                        </m:r>
                      </m:e>
                      <m:e>
                        <m:r>
                          <a:rPr lang="en-US" altLang="ja-JP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r>
                  <a:rPr lang="ja-JP" altLang="ja-JP" dirty="0"/>
                  <a:t>都成立。但是这个不等式不可能成立。原因是：我们可以构造一个函数，它在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ja-JP" alt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ja-JP" altLang="en-US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altLang="ja-JP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ja-JP" altLang="ja-JP" dirty="0"/>
                  <a:t>处取值很大，甚至固定为 1，但只集中在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ja-JP" alt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ja-JP" altLang="en-US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altLang="ja-JP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ja-JP" altLang="ja-JP" dirty="0"/>
                  <a:t>附近非常窄的区域里。这样它的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ja-JP" alt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ja-JP" altLang="en-US" i="1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p>
                        <m:r>
                          <a:rPr lang="en-US" altLang="ja-JP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ja-JP" altLang="ja-JP" dirty="0"/>
                  <a:t>范数可以非常小，但点值仍然不小。</a:t>
                </a:r>
              </a:p>
              <a:p>
                <a:pPr marL="0" indent="0">
                  <a:buNone/>
                </a:pPr>
                <a:endParaRPr lang="en-US" altLang="ja-JP" dirty="0"/>
              </a:p>
              <a:p>
                <a:pPr marL="0" indent="0">
                  <a:buNone/>
                </a:pPr>
                <a:r>
                  <a:rPr lang="ja-JP" altLang="ja-JP" dirty="0"/>
                  <a:t>对偶</a:t>
                </a:r>
                <a:r>
                  <a:rPr lang="zh-CN" altLang="en-US" dirty="0"/>
                  <a:t>不是</a:t>
                </a:r>
                <a:r>
                  <a:rPr lang="ja-JP" altLang="ja-JP" dirty="0"/>
                  <a:t>只和线性结构有关。泛函分析中的连续对偶同时依赖线性结构和拓扑结构。</a:t>
                </a:r>
                <a:endParaRPr lang="en-US" altLang="ja-JP" dirty="0"/>
              </a:p>
              <a:p>
                <a:r>
                  <a:rPr lang="ja-JP" altLang="ja-JP" dirty="0"/>
                  <a:t>在无限维空间里，“连续对偶空间”不仅取决于这个集合/线性空间本身，还取决于我们给它选择什么范数，也就是选择什么“距离”和“收敛方式”。</a:t>
                </a:r>
              </a:p>
              <a:p>
                <a:r>
                  <a:rPr lang="ja-JP" altLang="ja-JP" dirty="0"/>
                  <a:t>同一个函数集合，如果用不同范数衡量“接近”，那么哪些线性泛函是连续的，也可能不同。</a:t>
                </a:r>
              </a:p>
              <a:p>
                <a:endParaRPr lang="en-US" altLang="ja-JP" dirty="0"/>
              </a:p>
              <a:p>
                <a:pPr marL="0" indent="0">
                  <a:buNone/>
                </a:pPr>
                <a:endParaRPr lang="ja-JP" altLang="ja-JP" dirty="0"/>
              </a:p>
            </p:txBody>
          </p:sp>
        </mc:Choice>
        <mc:Fallback>
          <p:sp>
            <p:nvSpPr>
              <p:cNvPr id="12" name="コンテンツ プレースホルダー 2">
                <a:extLst>
                  <a:ext uri="{FF2B5EF4-FFF2-40B4-BE49-F238E27FC236}">
                    <a16:creationId xmlns:a16="http://schemas.microsoft.com/office/drawing/2014/main" id="{6316965C-72B1-A7A3-C412-EC03616AF81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09880" y="1183640"/>
                <a:ext cx="11811000" cy="5440680"/>
              </a:xfrm>
              <a:blipFill>
                <a:blip r:embed="rId3"/>
                <a:stretch>
                  <a:fillRect l="-568" t="-896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5294898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93CF39-B5CC-8634-8E5A-9DD37EA6E7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>
            <a:extLst>
              <a:ext uri="{FF2B5EF4-FFF2-40B4-BE49-F238E27FC236}">
                <a16:creationId xmlns:a16="http://schemas.microsoft.com/office/drawing/2014/main" id="{7917CA4A-E051-BAE8-2156-2B73F9A586D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ja-JP" b="1" dirty="0"/>
              <a:t>Riesz 表示定理：Hilbert 空间的核心桥梁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コンテンツ プレースホルダー 2">
                <a:extLst>
                  <a:ext uri="{FF2B5EF4-FFF2-40B4-BE49-F238E27FC236}">
                    <a16:creationId xmlns:a16="http://schemas.microsoft.com/office/drawing/2014/main" id="{27AC73EB-73B3-4695-8E61-2017AD67A2D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32080" y="1183640"/>
                <a:ext cx="11988800" cy="5440680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ja-JP" altLang="ja-JP" dirty="0"/>
                  <a:t>设 </a:t>
                </a:r>
                <a14:m>
                  <m:oMath xmlns:m="http://schemas.openxmlformats.org/officeDocument/2006/math">
                    <m:r>
                      <a:rPr lang="ja-JP" altLang="en-US" i="1">
                        <a:latin typeface="Cambria Math" panose="02040503050406030204" pitchFamily="18" charset="0"/>
                      </a:rPr>
                      <m:t>𝐻</m:t>
                    </m:r>
                  </m:oMath>
                </a14:m>
                <a:r>
                  <a:rPr lang="ja-JP" altLang="ja-JP" dirty="0"/>
                  <a:t>是 Hilbert 空间。对每个 </a:t>
                </a:r>
                <a14:m>
                  <m:oMath xmlns:m="http://schemas.openxmlformats.org/officeDocument/2006/math">
                    <m:r>
                      <a:rPr lang="ja-JP" altLang="en-US" i="1">
                        <a:latin typeface="Cambria Math" panose="02040503050406030204" pitchFamily="18" charset="0"/>
                      </a:rPr>
                      <m:t>𝑓</m:t>
                    </m:r>
                    <m:r>
                      <a:rPr lang="ja-JP" altLang="en-US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ja-JP" alt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ja-JP" altLang="en-US" i="1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p>
                        <m:r>
                          <a:rPr lang="ja-JP" altLang="en-US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ja-JP" altLang="ja-JP" dirty="0"/>
                  <a:t>，存在唯一 </a:t>
                </a:r>
                <a14:m>
                  <m:oMath xmlns:m="http://schemas.openxmlformats.org/officeDocument/2006/math">
                    <m:r>
                      <a:rPr lang="ja-JP" altLang="en-US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ja-JP" altLang="en-US">
                        <a:latin typeface="Cambria Math" panose="02040503050406030204" pitchFamily="18" charset="0"/>
                      </a:rPr>
                      <m:t>∈</m:t>
                    </m:r>
                    <m:r>
                      <a:rPr lang="ja-JP" altLang="en-US" i="1">
                        <a:latin typeface="Cambria Math" panose="02040503050406030204" pitchFamily="18" charset="0"/>
                      </a:rPr>
                      <m:t>𝐻</m:t>
                    </m:r>
                  </m:oMath>
                </a14:m>
                <a:r>
                  <a:rPr lang="ja-JP" altLang="ja-JP" dirty="0"/>
                  <a:t>，使得</a:t>
                </a:r>
                <a14:m>
                  <m:oMath xmlns:m="http://schemas.openxmlformats.org/officeDocument/2006/math">
                    <m:r>
                      <a:rPr lang="ja-JP" altLang="en-US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ja-JP" alt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ja-JP" alt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altLang="ja-JP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ja-JP" alt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⟨"/>
                            <m:endChr m:val="⟩"/>
                            <m:sepChr m:val=","/>
                            <m:ctrlPr>
                              <a:rPr lang="ja-JP" alt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ja-JP" alt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e>
                            <m:r>
                              <a:rPr lang="ja-JP" altLang="en-US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d>
                      </m:e>
                      <m:sub>
                        <m:r>
                          <a:rPr lang="ja-JP" altLang="en-US" i="1">
                            <a:latin typeface="Cambria Math" panose="02040503050406030204" pitchFamily="18" charset="0"/>
                          </a:rPr>
                          <m:t>𝐻</m:t>
                        </m:r>
                      </m:sub>
                    </m:sSub>
                    <m:r>
                      <a:rPr lang="en-US" altLang="ja-JP">
                        <a:latin typeface="Cambria Math" panose="02040503050406030204" pitchFamily="18" charset="0"/>
                      </a:rPr>
                      <m:t>, ∀</m:t>
                    </m:r>
                    <m:r>
                      <a:rPr lang="ja-JP" altLang="en-US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ja-JP" altLang="en-US">
                        <a:latin typeface="Cambria Math" panose="02040503050406030204" pitchFamily="18" charset="0"/>
                      </a:rPr>
                      <m:t>∈</m:t>
                    </m:r>
                    <m:r>
                      <a:rPr lang="ja-JP" altLang="en-US" i="1">
                        <a:latin typeface="Cambria Math" panose="02040503050406030204" pitchFamily="18" charset="0"/>
                      </a:rPr>
                      <m:t>𝐻</m:t>
                    </m:r>
                    <m:r>
                      <a:rPr lang="en-US" altLang="ja-JP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r>
                  <a:rPr lang="en-US" altLang="ja-JP" dirty="0"/>
                  <a:t> </a:t>
                </a:r>
                <a:r>
                  <a:rPr lang="ja-JP" altLang="ja-JP" dirty="0"/>
                  <a:t>并且</a:t>
                </a:r>
                <a14:m>
                  <m:oMath xmlns:m="http://schemas.openxmlformats.org/officeDocument/2006/math">
                    <m:r>
                      <a:rPr lang="ja-JP" altLang="en-US">
                        <a:latin typeface="Cambria Math" panose="02040503050406030204" pitchFamily="18" charset="0"/>
                      </a:rPr>
                      <m:t>∥</m:t>
                    </m:r>
                    <m:r>
                      <a:rPr lang="ja-JP" altLang="en-US" i="1">
                        <a:latin typeface="Cambria Math" panose="02040503050406030204" pitchFamily="18" charset="0"/>
                      </a:rPr>
                      <m:t>𝑓</m:t>
                    </m:r>
                    <m:sSub>
                      <m:sSubPr>
                        <m:ctrlPr>
                          <a:rPr lang="ja-JP" alt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ja-JP" altLang="en-US">
                            <a:latin typeface="Cambria Math" panose="02040503050406030204" pitchFamily="18" charset="0"/>
                          </a:rPr>
                          <m:t>∥</m:t>
                        </m:r>
                      </m:e>
                      <m:sub>
                        <m:sSup>
                          <m:sSupPr>
                            <m:ctrlPr>
                              <a:rPr lang="ja-JP" alt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ja-JP" altLang="en-US" i="1">
                                <a:latin typeface="Cambria Math" panose="02040503050406030204" pitchFamily="18" charset="0"/>
                              </a:rPr>
                              <m:t>𝐻</m:t>
                            </m:r>
                          </m:e>
                          <m:sup>
                            <m:r>
                              <a:rPr lang="ja-JP" altLang="en-US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</m:sub>
                    </m:sSub>
                    <m:r>
                      <a:rPr lang="en-US" altLang="ja-JP">
                        <a:latin typeface="Cambria Math" panose="02040503050406030204" pitchFamily="18" charset="0"/>
                      </a:rPr>
                      <m:t>=∥</m:t>
                    </m:r>
                    <m:r>
                      <a:rPr lang="ja-JP" altLang="en-US" i="1">
                        <a:latin typeface="Cambria Math" panose="02040503050406030204" pitchFamily="18" charset="0"/>
                      </a:rPr>
                      <m:t>𝑦</m:t>
                    </m:r>
                    <m:sSub>
                      <m:sSubPr>
                        <m:ctrlPr>
                          <a:rPr lang="ja-JP" alt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ja-JP" altLang="en-US">
                            <a:latin typeface="Cambria Math" panose="02040503050406030204" pitchFamily="18" charset="0"/>
                          </a:rPr>
                          <m:t>∥</m:t>
                        </m:r>
                      </m:e>
                      <m:sub>
                        <m:r>
                          <a:rPr lang="ja-JP" altLang="en-US" i="1">
                            <a:latin typeface="Cambria Math" panose="02040503050406030204" pitchFamily="18" charset="0"/>
                          </a:rPr>
                          <m:t>𝐻</m:t>
                        </m:r>
                      </m:sub>
                    </m:sSub>
                    <m:r>
                      <a:rPr lang="en-US" altLang="ja-JP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r>
                  <a:rPr lang="en-US" altLang="ja-JP" dirty="0"/>
                  <a:t>  </a:t>
                </a:r>
              </a:p>
              <a:p>
                <a:pPr marL="0" indent="0">
                  <a:buNone/>
                </a:pPr>
                <a:r>
                  <a:rPr lang="ja-JP" altLang="ja-JP" dirty="0"/>
                  <a:t>因此：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ja-JP" alt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ja-JP" altLang="en-US" i="1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p>
                        <m:r>
                          <a:rPr lang="ja-JP" altLang="en-US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ja-JP" altLang="en-US">
                        <a:latin typeface="Cambria Math" panose="02040503050406030204" pitchFamily="18" charset="0"/>
                      </a:rPr>
                      <m:t>≅</m:t>
                    </m:r>
                    <m:r>
                      <a:rPr lang="ja-JP" altLang="en-US" i="1">
                        <a:latin typeface="Cambria Math" panose="02040503050406030204" pitchFamily="18" charset="0"/>
                      </a:rPr>
                      <m:t>𝐻</m:t>
                    </m:r>
                    <m:r>
                      <a:rPr lang="en-US" altLang="ja-JP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r>
                  <a:rPr lang="en-US" altLang="ja-JP" dirty="0"/>
                  <a:t>   </a:t>
                </a:r>
                <a:r>
                  <a:rPr lang="ja-JP" altLang="ja-JP" dirty="0">
                    <a:solidFill>
                      <a:srgbClr val="7030A0"/>
                    </a:solidFill>
                  </a:rPr>
                  <a:t>这不是“显然的”。它依赖 Hilbert 空间的完备性和内积结构。Banach 空间一般不能这样把对偶空间和原空间识别。</a:t>
                </a:r>
                <a:endParaRPr lang="en-US" altLang="ja-JP" dirty="0">
                  <a:solidFill>
                    <a:srgbClr val="7030A0"/>
                  </a:solidFill>
                </a:endParaRPr>
              </a:p>
              <a:p>
                <a:r>
                  <a:rPr lang="zh-CN" altLang="en-US" dirty="0">
                    <a:solidFill>
                      <a:srgbClr val="C00000"/>
                    </a:solidFill>
                  </a:rPr>
                  <a:t>唯一性</a:t>
                </a:r>
                <a:r>
                  <a:rPr lang="zh-CN" altLang="en-US" dirty="0"/>
                  <a:t>：</a:t>
                </a:r>
                <a:r>
                  <a:rPr lang="ja-JP" altLang="ja-JP" dirty="0"/>
                  <a:t>如果有两个向量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ja-JP" altLang="en-US"/>
                        </m:ctrlPr>
                      </m:sSubPr>
                      <m:e>
                        <m:r>
                          <a:rPr lang="ja-JP" altLang="en-US" i="1"/>
                          <m:t>𝑦</m:t>
                        </m:r>
                      </m:e>
                      <m:sub>
                        <m:r>
                          <a:rPr lang="en-US" altLang="ja-JP"/>
                          <m:t>1</m:t>
                        </m:r>
                      </m:sub>
                    </m:sSub>
                    <m:r>
                      <a:rPr lang="en-US" altLang="ja-JP"/>
                      <m:t>,</m:t>
                    </m:r>
                    <m:sSub>
                      <m:sSubPr>
                        <m:ctrlPr>
                          <a:rPr lang="ja-JP" altLang="en-US" i="1"/>
                        </m:ctrlPr>
                      </m:sSubPr>
                      <m:e>
                        <m:r>
                          <a:rPr lang="ja-JP" altLang="en-US" i="1"/>
                          <m:t>𝑦</m:t>
                        </m:r>
                      </m:e>
                      <m:sub>
                        <m:r>
                          <a:rPr lang="en-US" altLang="ja-JP"/>
                          <m:t>2</m:t>
                        </m:r>
                      </m:sub>
                    </m:sSub>
                    <m:r>
                      <a:rPr lang="ja-JP" altLang="en-US"/>
                      <m:t>∈</m:t>
                    </m:r>
                    <m:r>
                      <a:rPr lang="ja-JP" altLang="en-US" i="1"/>
                      <m:t>𝐻</m:t>
                    </m:r>
                  </m:oMath>
                </a14:m>
                <a:r>
                  <a:rPr lang="ja-JP" altLang="ja-JP" dirty="0"/>
                  <a:t>，都能表示同一个泛函 </a:t>
                </a:r>
                <a14:m>
                  <m:oMath xmlns:m="http://schemas.openxmlformats.org/officeDocument/2006/math">
                    <m:r>
                      <a:rPr lang="ja-JP" altLang="en-US" i="1"/>
                      <m:t>𝑓</m:t>
                    </m:r>
                  </m:oMath>
                </a14:m>
                <a:r>
                  <a:rPr lang="ja-JP" altLang="ja-JP" dirty="0"/>
                  <a:t>，那么：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ja-JP" altLang="en-US"/>
                        </m:ctrlPr>
                      </m:sSubPr>
                      <m:e>
                        <m:d>
                          <m:dPr>
                            <m:begChr m:val="⟨"/>
                            <m:endChr m:val="⟩"/>
                            <m:sepChr m:val=","/>
                            <m:ctrlPr>
                              <a:rPr lang="ja-JP" altLang="en-US"/>
                            </m:ctrlPr>
                          </m:dPr>
                          <m:e>
                            <m:r>
                              <a:rPr lang="ja-JP" altLang="en-US" i="1"/>
                              <m:t>𝑥</m:t>
                            </m:r>
                          </m:e>
                          <m:e>
                            <m:sSub>
                              <m:sSubPr>
                                <m:ctrlPr>
                                  <a:rPr lang="ja-JP" altLang="en-US" i="1"/>
                                </m:ctrlPr>
                              </m:sSubPr>
                              <m:e>
                                <m:r>
                                  <a:rPr lang="ja-JP" altLang="en-US" i="1"/>
                                  <m:t>𝑦</m:t>
                                </m:r>
                              </m:e>
                              <m:sub>
                                <m:r>
                                  <a:rPr lang="en-US" altLang="ja-JP"/>
                                  <m:t>1</m:t>
                                </m:r>
                              </m:sub>
                            </m:sSub>
                          </m:e>
                        </m:d>
                      </m:e>
                      <m:sub>
                        <m:r>
                          <a:rPr lang="ja-JP" altLang="en-US" i="1"/>
                          <m:t>𝐻</m:t>
                        </m:r>
                      </m:sub>
                    </m:sSub>
                    <m:r>
                      <a:rPr lang="en-US" altLang="ja-JP"/>
                      <m:t>=</m:t>
                    </m:r>
                    <m:sSub>
                      <m:sSubPr>
                        <m:ctrlPr>
                          <a:rPr lang="ja-JP" altLang="en-US" i="1"/>
                        </m:ctrlPr>
                      </m:sSubPr>
                      <m:e>
                        <m:d>
                          <m:dPr>
                            <m:begChr m:val="⟨"/>
                            <m:endChr m:val="⟩"/>
                            <m:sepChr m:val=","/>
                            <m:ctrlPr>
                              <a:rPr lang="ja-JP" altLang="en-US" i="1"/>
                            </m:ctrlPr>
                          </m:dPr>
                          <m:e>
                            <m:r>
                              <a:rPr lang="ja-JP" altLang="en-US" i="1"/>
                              <m:t>𝑥</m:t>
                            </m:r>
                          </m:e>
                          <m:e>
                            <m:sSub>
                              <m:sSubPr>
                                <m:ctrlPr>
                                  <a:rPr lang="ja-JP" altLang="en-US" i="1"/>
                                </m:ctrlPr>
                              </m:sSubPr>
                              <m:e>
                                <m:r>
                                  <a:rPr lang="ja-JP" altLang="en-US" i="1"/>
                                  <m:t>𝑦</m:t>
                                </m:r>
                              </m:e>
                              <m:sub>
                                <m:r>
                                  <a:rPr lang="en-US" altLang="ja-JP"/>
                                  <m:t>2</m:t>
                                </m:r>
                              </m:sub>
                            </m:sSub>
                          </m:e>
                        </m:d>
                      </m:e>
                      <m:sub>
                        <m:r>
                          <a:rPr lang="ja-JP" altLang="en-US" i="1"/>
                          <m:t>𝐻</m:t>
                        </m:r>
                      </m:sub>
                    </m:sSub>
                    <m:r>
                      <a:rPr lang="en-US" altLang="ja-JP"/>
                      <m:t>, ∀</m:t>
                    </m:r>
                    <m:r>
                      <a:rPr lang="ja-JP" altLang="en-US" i="1"/>
                      <m:t>𝑥</m:t>
                    </m:r>
                    <m:r>
                      <a:rPr lang="ja-JP" altLang="en-US"/>
                      <m:t>∈</m:t>
                    </m:r>
                    <m:r>
                      <a:rPr lang="ja-JP" altLang="en-US" i="1"/>
                      <m:t>𝐻</m:t>
                    </m:r>
                    <m:r>
                      <a:rPr lang="en-US" altLang="ja-JP"/>
                      <m:t>.</m:t>
                    </m:r>
                  </m:oMath>
                </a14:m>
                <a:endParaRPr lang="en-US" altLang="ja-JP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ja-JP" altLang="en-US"/>
                          </m:ctrlPr>
                        </m:sSubPr>
                        <m:e>
                          <m:d>
                            <m:dPr>
                              <m:begChr m:val="⟨"/>
                              <m:endChr m:val="⟩"/>
                              <m:sepChr m:val=","/>
                              <m:ctrlPr>
                                <a:rPr lang="ja-JP" altLang="en-US"/>
                              </m:ctrlPr>
                            </m:dPr>
                            <m:e>
                              <m:r>
                                <a:rPr lang="ja-JP" altLang="en-US" i="1"/>
                                <m:t>𝑥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ja-JP" altLang="en-US" i="1"/>
                                  </m:ctrlPr>
                                </m:sSubPr>
                                <m:e>
                                  <m:r>
                                    <a:rPr lang="ja-JP" altLang="en-US" i="1"/>
                                    <m:t>𝑦</m:t>
                                  </m:r>
                                </m:e>
                                <m:sub>
                                  <m:r>
                                    <a:rPr lang="en-US" altLang="ja-JP"/>
                                    <m:t>1</m:t>
                                  </m:r>
                                </m:sub>
                              </m:sSub>
                              <m:r>
                                <a:rPr lang="ja-JP" altLang="en-US"/>
                                <m:t>−</m:t>
                              </m:r>
                              <m:sSub>
                                <m:sSubPr>
                                  <m:ctrlPr>
                                    <a:rPr lang="ja-JP" altLang="en-US" i="1"/>
                                  </m:ctrlPr>
                                </m:sSubPr>
                                <m:e>
                                  <m:r>
                                    <a:rPr lang="ja-JP" altLang="en-US" i="1"/>
                                    <m:t>𝑦</m:t>
                                  </m:r>
                                </m:e>
                                <m:sub>
                                  <m:r>
                                    <a:rPr lang="en-US" altLang="ja-JP"/>
                                    <m:t>2</m:t>
                                  </m:r>
                                </m:sub>
                              </m:sSub>
                            </m:e>
                          </m:d>
                        </m:e>
                        <m:sub>
                          <m:r>
                            <a:rPr lang="ja-JP" altLang="en-US" i="1"/>
                            <m:t>𝐻</m:t>
                          </m:r>
                        </m:sub>
                      </m:sSub>
                      <m:r>
                        <a:rPr lang="en-US" altLang="ja-JP"/>
                        <m:t>=0, ∀</m:t>
                      </m:r>
                      <m:r>
                        <a:rPr lang="ja-JP" altLang="en-US" i="1"/>
                        <m:t>𝑥</m:t>
                      </m:r>
                      <m:r>
                        <a:rPr lang="ja-JP" altLang="en-US"/>
                        <m:t>∈</m:t>
                      </m:r>
                      <m:r>
                        <a:rPr lang="ja-JP" altLang="en-US" i="1"/>
                        <m:t>𝐻</m:t>
                      </m:r>
                      <m:r>
                        <a:rPr lang="en-US" altLang="ja-JP"/>
                        <m:t>.</m:t>
                      </m:r>
                    </m:oMath>
                  </m:oMathPara>
                </a14:m>
                <a:endParaRPr lang="en-US" altLang="ja-JP" dirty="0"/>
              </a:p>
              <a:p>
                <a:pPr marL="0" indent="0">
                  <a:buNone/>
                </a:pPr>
                <a:r>
                  <a:rPr lang="ja-JP" altLang="ja-JP" dirty="0"/>
                  <a:t>取</a:t>
                </a:r>
                <a14:m>
                  <m:oMath xmlns:m="http://schemas.openxmlformats.org/officeDocument/2006/math">
                    <m:r>
                      <a:rPr lang="ja-JP" altLang="en-US" i="1"/>
                      <m:t>𝑥</m:t>
                    </m:r>
                    <m:r>
                      <a:rPr lang="en-US" altLang="ja-JP"/>
                      <m:t>=</m:t>
                    </m:r>
                    <m:sSub>
                      <m:sSubPr>
                        <m:ctrlPr>
                          <a:rPr lang="ja-JP" altLang="en-US" i="1"/>
                        </m:ctrlPr>
                      </m:sSubPr>
                      <m:e>
                        <m:r>
                          <a:rPr lang="ja-JP" altLang="en-US" i="1"/>
                          <m:t>𝑦</m:t>
                        </m:r>
                      </m:e>
                      <m:sub>
                        <m:r>
                          <a:rPr lang="en-US" altLang="ja-JP"/>
                          <m:t>1</m:t>
                        </m:r>
                      </m:sub>
                    </m:sSub>
                    <m:r>
                      <a:rPr lang="ja-JP" altLang="en-US"/>
                      <m:t>−</m:t>
                    </m:r>
                    <m:sSub>
                      <m:sSubPr>
                        <m:ctrlPr>
                          <a:rPr lang="ja-JP" altLang="en-US" i="1"/>
                        </m:ctrlPr>
                      </m:sSubPr>
                      <m:e>
                        <m:r>
                          <a:rPr lang="ja-JP" altLang="en-US" i="1"/>
                          <m:t>𝑦</m:t>
                        </m:r>
                      </m:e>
                      <m:sub>
                        <m:r>
                          <a:rPr lang="en-US" altLang="ja-JP"/>
                          <m:t>2</m:t>
                        </m:r>
                      </m:sub>
                    </m:sSub>
                    <m:r>
                      <a:rPr lang="en-US" altLang="ja-JP"/>
                      <m:t>.</m:t>
                    </m:r>
                  </m:oMath>
                </a14:m>
                <a:r>
                  <a:rPr lang="en-US" altLang="ja-JP" dirty="0"/>
                  <a:t> </a:t>
                </a:r>
                <a:r>
                  <a:rPr lang="ja-JP" altLang="ja-JP" dirty="0"/>
                  <a:t>则：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ja-JP" altLang="en-US"/>
                        </m:ctrlPr>
                      </m:sSubPr>
                      <m:e>
                        <m:d>
                          <m:dPr>
                            <m:begChr m:val="⟨"/>
                            <m:endChr m:val="⟩"/>
                            <m:sepChr m:val=","/>
                            <m:ctrlPr>
                              <a:rPr lang="ja-JP" altLang="en-US"/>
                            </m:ctrlPr>
                          </m:dPr>
                          <m:e>
                            <m:sSub>
                              <m:sSubPr>
                                <m:ctrlPr>
                                  <a:rPr lang="ja-JP" altLang="en-US" i="1"/>
                                </m:ctrlPr>
                              </m:sSubPr>
                              <m:e>
                                <m:r>
                                  <a:rPr lang="ja-JP" altLang="en-US" i="1"/>
                                  <m:t>𝑦</m:t>
                                </m:r>
                              </m:e>
                              <m:sub>
                                <m:r>
                                  <a:rPr lang="en-US" altLang="ja-JP"/>
                                  <m:t>1</m:t>
                                </m:r>
                              </m:sub>
                            </m:sSub>
                            <m:r>
                              <a:rPr lang="ja-JP" altLang="en-US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ja-JP" alt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ja-JP" altLang="en-US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altLang="ja-JP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e>
                          <m:e>
                            <m:sSub>
                              <m:sSubPr>
                                <m:ctrlPr>
                                  <a:rPr lang="ja-JP" altLang="en-US" i="1"/>
                                </m:ctrlPr>
                              </m:sSubPr>
                              <m:e>
                                <m:r>
                                  <a:rPr lang="ja-JP" altLang="en-US" i="1"/>
                                  <m:t>𝑦</m:t>
                                </m:r>
                              </m:e>
                              <m:sub>
                                <m:r>
                                  <a:rPr lang="en-US" altLang="ja-JP"/>
                                  <m:t>1</m:t>
                                </m:r>
                              </m:sub>
                            </m:sSub>
                            <m:r>
                              <a:rPr lang="ja-JP" altLang="en-US"/>
                              <m:t>−</m:t>
                            </m:r>
                            <m:sSub>
                              <m:sSubPr>
                                <m:ctrlPr>
                                  <a:rPr lang="ja-JP" altLang="en-US" i="1"/>
                                </m:ctrlPr>
                              </m:sSubPr>
                              <m:e>
                                <m:r>
                                  <a:rPr lang="ja-JP" altLang="en-US" i="1"/>
                                  <m:t>𝑦</m:t>
                                </m:r>
                              </m:e>
                              <m:sub>
                                <m:r>
                                  <a:rPr lang="en-US" altLang="ja-JP"/>
                                  <m:t>2</m:t>
                                </m:r>
                              </m:sub>
                            </m:sSub>
                          </m:e>
                        </m:d>
                      </m:e>
                      <m:sub>
                        <m:r>
                          <a:rPr lang="ja-JP" altLang="en-US" i="1"/>
                          <m:t>𝐻</m:t>
                        </m:r>
                      </m:sub>
                    </m:sSub>
                    <m:r>
                      <a:rPr lang="en-US" altLang="ja-JP"/>
                      <m:t>=0.</m:t>
                    </m:r>
                  </m:oMath>
                </a14:m>
                <a:r>
                  <a:rPr lang="en-US" altLang="ja-JP" dirty="0"/>
                  <a:t>  </a:t>
                </a:r>
                <a:r>
                  <a:rPr lang="ja-JP" altLang="ja-JP" dirty="0"/>
                  <a:t>也就是：</a:t>
                </a:r>
                <a14:m>
                  <m:oMath xmlns:m="http://schemas.openxmlformats.org/officeDocument/2006/math">
                    <m:r>
                      <a:rPr lang="ja-JP" altLang="en-US"/>
                      <m:t>∥</m:t>
                    </m:r>
                    <m:sSub>
                      <m:sSubPr>
                        <m:ctrlPr>
                          <a:rPr lang="ja-JP" altLang="en-US" i="1"/>
                        </m:ctrlPr>
                      </m:sSubPr>
                      <m:e>
                        <m:r>
                          <a:rPr lang="ja-JP" altLang="en-US" i="1"/>
                          <m:t>𝑦</m:t>
                        </m:r>
                      </m:e>
                      <m:sub>
                        <m:r>
                          <a:rPr lang="en-US" altLang="ja-JP"/>
                          <m:t>1</m:t>
                        </m:r>
                      </m:sub>
                    </m:sSub>
                    <m:r>
                      <a:rPr lang="ja-JP" altLang="en-US"/>
                      <m:t>−</m:t>
                    </m:r>
                    <m:sSub>
                      <m:sSubPr>
                        <m:ctrlPr>
                          <a:rPr lang="ja-JP" altLang="en-US" i="1"/>
                        </m:ctrlPr>
                      </m:sSubPr>
                      <m:e>
                        <m:r>
                          <a:rPr lang="ja-JP" altLang="en-US" i="1"/>
                          <m:t>𝑦</m:t>
                        </m:r>
                      </m:e>
                      <m:sub>
                        <m:r>
                          <a:rPr lang="en-US" altLang="ja-JP"/>
                          <m:t>2</m:t>
                        </m:r>
                      </m:sub>
                    </m:sSub>
                    <m:sSubSup>
                      <m:sSubSupPr>
                        <m:ctrlPr>
                          <a:rPr lang="ja-JP" altLang="en-US" i="1"/>
                        </m:ctrlPr>
                      </m:sSubSupPr>
                      <m:e>
                        <m:r>
                          <a:rPr lang="ja-JP" altLang="en-US"/>
                          <m:t>∥</m:t>
                        </m:r>
                      </m:e>
                      <m:sub>
                        <m:r>
                          <a:rPr lang="ja-JP" altLang="en-US" i="1"/>
                          <m:t>𝐻</m:t>
                        </m:r>
                      </m:sub>
                      <m:sup>
                        <m:r>
                          <a:rPr lang="en-US" altLang="ja-JP"/>
                          <m:t>2</m:t>
                        </m:r>
                      </m:sup>
                    </m:sSubSup>
                    <m:r>
                      <a:rPr lang="en-US" altLang="ja-JP"/>
                      <m:t>=0.</m:t>
                    </m:r>
                    <m:r>
                      <a:rPr lang="en-US" altLang="ja-JP" b="0" i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ja-JP" altLang="ja-JP" dirty="0"/>
                  <a:t>所以：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ja-JP" altLang="en-US"/>
                        </m:ctrlPr>
                      </m:sSubPr>
                      <m:e>
                        <m:r>
                          <a:rPr lang="ja-JP" altLang="en-US" i="1"/>
                          <m:t>𝑦</m:t>
                        </m:r>
                      </m:e>
                      <m:sub>
                        <m:r>
                          <a:rPr lang="en-US" altLang="ja-JP"/>
                          <m:t>1</m:t>
                        </m:r>
                      </m:sub>
                    </m:sSub>
                    <m:r>
                      <a:rPr lang="ja-JP" altLang="en-US"/>
                      <m:t>−</m:t>
                    </m:r>
                    <m:sSub>
                      <m:sSubPr>
                        <m:ctrlPr>
                          <a:rPr lang="ja-JP" altLang="en-US" i="1"/>
                        </m:ctrlPr>
                      </m:sSubPr>
                      <m:e>
                        <m:r>
                          <a:rPr lang="ja-JP" altLang="en-US" i="1"/>
                          <m:t>𝑦</m:t>
                        </m:r>
                      </m:e>
                      <m:sub>
                        <m:r>
                          <a:rPr lang="en-US" altLang="ja-JP"/>
                          <m:t>2</m:t>
                        </m:r>
                      </m:sub>
                    </m:sSub>
                    <m:r>
                      <a:rPr lang="en-US" altLang="ja-JP"/>
                      <m:t>=0.</m:t>
                    </m:r>
                  </m:oMath>
                </a14:m>
                <a:r>
                  <a:rPr lang="en-US" altLang="ja-JP" dirty="0"/>
                  <a:t> </a:t>
                </a:r>
                <a:r>
                  <a:rPr lang="ja-JP" altLang="ja-JP" dirty="0"/>
                  <a:t>因此：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ja-JP" altLang="en-US"/>
                        </m:ctrlPr>
                      </m:sSubPr>
                      <m:e>
                        <m:r>
                          <a:rPr lang="ja-JP" altLang="en-US" i="1"/>
                          <m:t>𝑦</m:t>
                        </m:r>
                      </m:e>
                      <m:sub>
                        <m:r>
                          <a:rPr lang="en-US" altLang="ja-JP"/>
                          <m:t>1</m:t>
                        </m:r>
                      </m:sub>
                    </m:sSub>
                    <m:r>
                      <a:rPr lang="en-US" altLang="ja-JP"/>
                      <m:t>=</m:t>
                    </m:r>
                    <m:sSub>
                      <m:sSubPr>
                        <m:ctrlPr>
                          <a:rPr lang="ja-JP" altLang="en-US" i="1"/>
                        </m:ctrlPr>
                      </m:sSubPr>
                      <m:e>
                        <m:r>
                          <a:rPr lang="ja-JP" altLang="en-US" i="1"/>
                          <m:t>𝑦</m:t>
                        </m:r>
                      </m:e>
                      <m:sub>
                        <m:r>
                          <a:rPr lang="en-US" altLang="ja-JP"/>
                          <m:t>2</m:t>
                        </m:r>
                      </m:sub>
                    </m:sSub>
                    <m:r>
                      <a:rPr lang="en-US" altLang="ja-JP"/>
                      <m:t>.</m:t>
                    </m:r>
                  </m:oMath>
                </a14:m>
                <a:endParaRPr lang="en-US" altLang="ja-JP" dirty="0"/>
              </a:p>
              <a:p>
                <a:pPr marL="0" indent="0">
                  <a:buNone/>
                </a:pPr>
                <a:r>
                  <a:rPr lang="ja-JP" altLang="ja-JP" dirty="0"/>
                  <a:t>Riesz 定理还说：</a:t>
                </a:r>
                <a14:m>
                  <m:oMath xmlns:m="http://schemas.openxmlformats.org/officeDocument/2006/math">
                    <m:r>
                      <a:rPr lang="ja-JP" altLang="en-US"/>
                      <m:t>∥</m:t>
                    </m:r>
                    <m:r>
                      <a:rPr lang="ja-JP" altLang="en-US" i="1"/>
                      <m:t>𝑓</m:t>
                    </m:r>
                    <m:sSub>
                      <m:sSubPr>
                        <m:ctrlPr>
                          <a:rPr lang="ja-JP" altLang="en-US" i="1"/>
                        </m:ctrlPr>
                      </m:sSubPr>
                      <m:e>
                        <m:r>
                          <a:rPr lang="ja-JP" altLang="en-US"/>
                          <m:t>∥</m:t>
                        </m:r>
                      </m:e>
                      <m:sub>
                        <m:sSup>
                          <m:sSupPr>
                            <m:ctrlPr>
                              <a:rPr lang="ja-JP" altLang="en-US" i="1"/>
                            </m:ctrlPr>
                          </m:sSupPr>
                          <m:e>
                            <m:r>
                              <a:rPr lang="ja-JP" altLang="en-US" i="1"/>
                              <m:t>𝐻</m:t>
                            </m:r>
                          </m:e>
                          <m:sup>
                            <m:r>
                              <a:rPr lang="ja-JP" altLang="en-US"/>
                              <m:t>∗</m:t>
                            </m:r>
                          </m:sup>
                        </m:sSup>
                      </m:sub>
                    </m:sSub>
                    <m:r>
                      <a:rPr lang="en-US" altLang="ja-JP"/>
                      <m:t>=∥</m:t>
                    </m:r>
                    <m:r>
                      <a:rPr lang="ja-JP" altLang="en-US" i="1"/>
                      <m:t>𝑦</m:t>
                    </m:r>
                    <m:sSub>
                      <m:sSubPr>
                        <m:ctrlPr>
                          <a:rPr lang="ja-JP" altLang="en-US" i="1"/>
                        </m:ctrlPr>
                      </m:sSubPr>
                      <m:e>
                        <m:r>
                          <a:rPr lang="ja-JP" altLang="en-US"/>
                          <m:t>∥</m:t>
                        </m:r>
                      </m:e>
                      <m:sub>
                        <m:r>
                          <a:rPr lang="ja-JP" altLang="en-US" i="1"/>
                          <m:t>𝐻</m:t>
                        </m:r>
                      </m:sub>
                    </m:sSub>
                    <m:r>
                      <a:rPr lang="en-US" altLang="ja-JP"/>
                      <m:t>.</m:t>
                    </m:r>
                  </m:oMath>
                </a14:m>
                <a:r>
                  <a:rPr lang="en-US" altLang="ja-JP" dirty="0"/>
                  <a:t>  </a:t>
                </a:r>
                <a:r>
                  <a:rPr lang="ja-JP" altLang="ja-JP" dirty="0"/>
                  <a:t>这里：</a:t>
                </a:r>
                <a14:m>
                  <m:oMath xmlns:m="http://schemas.openxmlformats.org/officeDocument/2006/math">
                    <m:r>
                      <a:rPr lang="ja-JP" altLang="en-US"/>
                      <m:t>∥</m:t>
                    </m:r>
                    <m:r>
                      <a:rPr lang="ja-JP" altLang="en-US" i="1"/>
                      <m:t>𝑓</m:t>
                    </m:r>
                    <m:sSub>
                      <m:sSubPr>
                        <m:ctrlPr>
                          <a:rPr lang="ja-JP" altLang="en-US" i="1"/>
                        </m:ctrlPr>
                      </m:sSubPr>
                      <m:e>
                        <m:r>
                          <a:rPr lang="ja-JP" altLang="en-US"/>
                          <m:t>∥</m:t>
                        </m:r>
                      </m:e>
                      <m:sub>
                        <m:sSup>
                          <m:sSupPr>
                            <m:ctrlPr>
                              <a:rPr lang="ja-JP" altLang="en-US" i="1"/>
                            </m:ctrlPr>
                          </m:sSupPr>
                          <m:e>
                            <m:r>
                              <a:rPr lang="ja-JP" altLang="en-US" i="1"/>
                              <m:t>𝐻</m:t>
                            </m:r>
                          </m:e>
                          <m:sup>
                            <m:r>
                              <a:rPr lang="ja-JP" altLang="en-US"/>
                              <m:t>∗</m:t>
                            </m:r>
                          </m:sup>
                        </m:sSup>
                      </m:sub>
                    </m:sSub>
                    <m:r>
                      <a:rPr lang="en-US" altLang="ja-JP"/>
                      <m:t>=</m:t>
                    </m:r>
                    <m:limLow>
                      <m:limLowPr>
                        <m:ctrlPr>
                          <a:rPr lang="ja-JP" altLang="en-US" i="1"/>
                        </m:ctrlPr>
                      </m:limLowPr>
                      <m:e>
                        <m:r>
                          <m:rPr>
                            <m:sty m:val="p"/>
                          </m:rPr>
                          <a:rPr lang="en-US" altLang="ja-JP">
                            <a:latin typeface="Cambria Math" panose="02040503050406030204" pitchFamily="18" charset="0"/>
                          </a:rPr>
                          <m:t>sup</m:t>
                        </m:r>
                      </m:e>
                      <m:lim>
                        <m:r>
                          <a:rPr lang="ja-JP" altLang="en-US"/>
                          <m:t>∥</m:t>
                        </m:r>
                        <m:r>
                          <a:rPr lang="ja-JP" altLang="en-US" i="1"/>
                          <m:t>𝑥</m:t>
                        </m:r>
                        <m:sSub>
                          <m:sSubPr>
                            <m:ctrlPr>
                              <a:rPr lang="ja-JP" altLang="en-US" i="1"/>
                            </m:ctrlPr>
                          </m:sSubPr>
                          <m:e>
                            <m:r>
                              <a:rPr lang="ja-JP" altLang="en-US"/>
                              <m:t>∥</m:t>
                            </m:r>
                          </m:e>
                          <m:sub>
                            <m:r>
                              <a:rPr lang="ja-JP" altLang="en-US" i="1"/>
                              <m:t>𝐻</m:t>
                            </m:r>
                          </m:sub>
                        </m:sSub>
                        <m:r>
                          <a:rPr lang="ja-JP" altLang="en-US"/>
                          <m:t>≤</m:t>
                        </m:r>
                        <m:r>
                          <a:rPr lang="en-US" altLang="ja-JP"/>
                          <m:t>1</m:t>
                        </m:r>
                      </m:lim>
                    </m:limLow>
                    <m:r>
                      <a:rPr lang="ja-JP" altLang="en-US"/>
                      <m:t>∣</m:t>
                    </m:r>
                    <m:r>
                      <a:rPr lang="ja-JP" altLang="en-US" i="1"/>
                      <m:t>𝑓</m:t>
                    </m:r>
                    <m:d>
                      <m:dPr>
                        <m:ctrlPr>
                          <a:rPr lang="ja-JP" altLang="en-US" i="1"/>
                        </m:ctrlPr>
                      </m:dPr>
                      <m:e>
                        <m:r>
                          <a:rPr lang="ja-JP" altLang="en-US" i="1"/>
                          <m:t>𝑥</m:t>
                        </m:r>
                      </m:e>
                    </m:d>
                    <m:r>
                      <a:rPr lang="ja-JP" altLang="en-US"/>
                      <m:t>∣</m:t>
                    </m:r>
                    <m:r>
                      <a:rPr lang="en-US" altLang="ja-JP"/>
                      <m:t>.</m:t>
                    </m:r>
                  </m:oMath>
                </a14:m>
                <a:endParaRPr lang="en-US" altLang="ja-JP" dirty="0"/>
              </a:p>
              <a:p>
                <a:r>
                  <a:rPr lang="ja-JP" altLang="ja-JP" dirty="0"/>
                  <a:t>由于：</a:t>
                </a:r>
                <a14:m>
                  <m:oMath xmlns:m="http://schemas.openxmlformats.org/officeDocument/2006/math">
                    <m:r>
                      <a:rPr lang="ja-JP" altLang="en-US" i="1"/>
                      <m:t>𝑓</m:t>
                    </m:r>
                    <m:d>
                      <m:dPr>
                        <m:ctrlPr>
                          <a:rPr lang="ja-JP" altLang="en-US" i="1"/>
                        </m:ctrlPr>
                      </m:dPr>
                      <m:e>
                        <m:r>
                          <a:rPr lang="ja-JP" altLang="en-US" i="1"/>
                          <m:t>𝑥</m:t>
                        </m:r>
                      </m:e>
                    </m:d>
                    <m:r>
                      <a:rPr lang="en-US" altLang="ja-JP"/>
                      <m:t>=</m:t>
                    </m:r>
                    <m:sSub>
                      <m:sSubPr>
                        <m:ctrlPr>
                          <a:rPr lang="ja-JP" altLang="en-US" i="1"/>
                        </m:ctrlPr>
                      </m:sSubPr>
                      <m:e>
                        <m:d>
                          <m:dPr>
                            <m:begChr m:val="⟨"/>
                            <m:endChr m:val="⟩"/>
                            <m:sepChr m:val=","/>
                            <m:ctrlPr>
                              <a:rPr lang="ja-JP" altLang="en-US" i="1"/>
                            </m:ctrlPr>
                          </m:dPr>
                          <m:e>
                            <m:r>
                              <a:rPr lang="ja-JP" altLang="en-US" i="1"/>
                              <m:t>𝑥</m:t>
                            </m:r>
                          </m:e>
                          <m:e>
                            <m:r>
                              <a:rPr lang="ja-JP" altLang="en-US" i="1"/>
                              <m:t>𝑦</m:t>
                            </m:r>
                          </m:e>
                        </m:d>
                      </m:e>
                      <m:sub>
                        <m:r>
                          <a:rPr lang="ja-JP" altLang="en-US" i="1"/>
                          <m:t>𝐻</m:t>
                        </m:r>
                      </m:sub>
                    </m:sSub>
                    <m:r>
                      <a:rPr lang="en-US" altLang="ja-JP"/>
                      <m:t>,</m:t>
                    </m:r>
                  </m:oMath>
                </a14:m>
                <a:r>
                  <a:rPr lang="en-US" altLang="ja-JP" dirty="0"/>
                  <a:t> </a:t>
                </a:r>
                <a:r>
                  <a:rPr lang="ja-JP" altLang="ja-JP" dirty="0"/>
                  <a:t>由 Cauchy–Schwarz 不等式：</a:t>
                </a:r>
                <a:r>
                  <a:rPr lang="en-US" altLang="ja-JP" dirty="0"/>
                  <a:t> </a:t>
                </a:r>
                <a14:m>
                  <m:oMath xmlns:m="http://schemas.openxmlformats.org/officeDocument/2006/math">
                    <m:r>
                      <a:rPr lang="ja-JP" altLang="en-US"/>
                      <m:t>∣</m:t>
                    </m:r>
                    <m:r>
                      <a:rPr lang="ja-JP" altLang="en-US" i="1"/>
                      <m:t>𝑓</m:t>
                    </m:r>
                    <m:d>
                      <m:dPr>
                        <m:ctrlPr>
                          <a:rPr lang="ja-JP" altLang="en-US" i="1"/>
                        </m:ctrlPr>
                      </m:dPr>
                      <m:e>
                        <m:r>
                          <a:rPr lang="ja-JP" altLang="en-US" i="1"/>
                          <m:t>𝑥</m:t>
                        </m:r>
                      </m:e>
                    </m:d>
                    <m:r>
                      <a:rPr lang="ja-JP" altLang="en-US"/>
                      <m:t>∣</m:t>
                    </m:r>
                    <m:r>
                      <a:rPr lang="en-US" altLang="ja-JP"/>
                      <m:t>=∣</m:t>
                    </m:r>
                    <m:sSub>
                      <m:sSubPr>
                        <m:ctrlPr>
                          <a:rPr lang="ja-JP" altLang="en-US" i="1"/>
                        </m:ctrlPr>
                      </m:sSubPr>
                      <m:e>
                        <m:d>
                          <m:dPr>
                            <m:begChr m:val="⟨"/>
                            <m:endChr m:val="⟩"/>
                            <m:sepChr m:val=","/>
                            <m:ctrlPr>
                              <a:rPr lang="ja-JP" altLang="en-US" i="1"/>
                            </m:ctrlPr>
                          </m:dPr>
                          <m:e>
                            <m:r>
                              <a:rPr lang="ja-JP" altLang="en-US" i="1"/>
                              <m:t>𝑥</m:t>
                            </m:r>
                          </m:e>
                          <m:e>
                            <m:r>
                              <a:rPr lang="ja-JP" altLang="en-US" i="1"/>
                              <m:t>𝑦</m:t>
                            </m:r>
                          </m:e>
                        </m:d>
                      </m:e>
                      <m:sub>
                        <m:r>
                          <a:rPr lang="ja-JP" altLang="en-US" i="1"/>
                          <m:t>𝐻</m:t>
                        </m:r>
                      </m:sub>
                    </m:sSub>
                    <m:r>
                      <a:rPr lang="ja-JP" altLang="en-US"/>
                      <m:t>∣≤∥</m:t>
                    </m:r>
                    <m:r>
                      <a:rPr lang="ja-JP" altLang="en-US" i="1"/>
                      <m:t>𝑥</m:t>
                    </m:r>
                    <m:sSub>
                      <m:sSubPr>
                        <m:ctrlPr>
                          <a:rPr lang="ja-JP" altLang="en-US" i="1"/>
                        </m:ctrlPr>
                      </m:sSubPr>
                      <m:e>
                        <m:r>
                          <a:rPr lang="ja-JP" altLang="en-US"/>
                          <m:t>∥</m:t>
                        </m:r>
                      </m:e>
                      <m:sub>
                        <m:r>
                          <a:rPr lang="ja-JP" altLang="en-US" i="1"/>
                          <m:t>𝐻</m:t>
                        </m:r>
                      </m:sub>
                    </m:sSub>
                    <m:r>
                      <a:rPr lang="ja-JP" altLang="en-US"/>
                      <m:t>∥</m:t>
                    </m:r>
                    <m:r>
                      <a:rPr lang="ja-JP" altLang="en-US" i="1"/>
                      <m:t>𝑦</m:t>
                    </m:r>
                    <m:sSub>
                      <m:sSubPr>
                        <m:ctrlPr>
                          <a:rPr lang="ja-JP" altLang="en-US" i="1"/>
                        </m:ctrlPr>
                      </m:sSubPr>
                      <m:e>
                        <m:r>
                          <a:rPr lang="ja-JP" altLang="en-US"/>
                          <m:t>∥</m:t>
                        </m:r>
                      </m:e>
                      <m:sub>
                        <m:r>
                          <a:rPr lang="ja-JP" altLang="en-US" i="1"/>
                          <m:t>𝐻</m:t>
                        </m:r>
                      </m:sub>
                    </m:sSub>
                    <m:r>
                      <a:rPr lang="en-US" altLang="ja-JP"/>
                      <m:t>.</m:t>
                    </m:r>
                  </m:oMath>
                </a14:m>
                <a:r>
                  <a:rPr lang="en-US" altLang="ja-JP" dirty="0"/>
                  <a:t> </a:t>
                </a:r>
                <a:r>
                  <a:rPr lang="ja-JP" altLang="ja-JP" dirty="0"/>
                  <a:t>当</a:t>
                </a:r>
                <a14:m>
                  <m:oMath xmlns:m="http://schemas.openxmlformats.org/officeDocument/2006/math">
                    <m:r>
                      <a:rPr lang="ja-JP" altLang="en-US"/>
                      <m:t>∥</m:t>
                    </m:r>
                    <m:r>
                      <a:rPr lang="ja-JP" altLang="en-US" i="1"/>
                      <m:t>𝑥</m:t>
                    </m:r>
                    <m:sSub>
                      <m:sSubPr>
                        <m:ctrlPr>
                          <a:rPr lang="ja-JP" altLang="en-US" i="1"/>
                        </m:ctrlPr>
                      </m:sSubPr>
                      <m:e>
                        <m:r>
                          <a:rPr lang="ja-JP" altLang="en-US"/>
                          <m:t>∥</m:t>
                        </m:r>
                      </m:e>
                      <m:sub>
                        <m:r>
                          <a:rPr lang="ja-JP" altLang="en-US" i="1"/>
                          <m:t>𝐻</m:t>
                        </m:r>
                      </m:sub>
                    </m:sSub>
                    <m:r>
                      <a:rPr lang="ja-JP" altLang="en-US"/>
                      <m:t>≤</m:t>
                    </m:r>
                    <m:r>
                      <a:rPr lang="en-US" altLang="ja-JP"/>
                      <m:t>1</m:t>
                    </m:r>
                  </m:oMath>
                </a14:m>
                <a:r>
                  <a:rPr lang="ja-JP" altLang="ja-JP" dirty="0"/>
                  <a:t>：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ja-JP" altLang="en-US"/>
                      <m:t>∣</m:t>
                    </m:r>
                    <m:r>
                      <a:rPr lang="ja-JP" altLang="en-US" i="1"/>
                      <m:t>𝑓</m:t>
                    </m:r>
                    <m:d>
                      <m:dPr>
                        <m:ctrlPr>
                          <a:rPr lang="ja-JP" altLang="en-US" i="1"/>
                        </m:ctrlPr>
                      </m:dPr>
                      <m:e>
                        <m:r>
                          <a:rPr lang="ja-JP" altLang="en-US" i="1"/>
                          <m:t>𝑥</m:t>
                        </m:r>
                      </m:e>
                    </m:d>
                    <m:r>
                      <a:rPr lang="ja-JP" altLang="en-US"/>
                      <m:t>∣≤∥</m:t>
                    </m:r>
                    <m:r>
                      <a:rPr lang="ja-JP" altLang="en-US" i="1"/>
                      <m:t>𝑦</m:t>
                    </m:r>
                    <m:sSub>
                      <m:sSubPr>
                        <m:ctrlPr>
                          <a:rPr lang="ja-JP" altLang="en-US" i="1"/>
                        </m:ctrlPr>
                      </m:sSubPr>
                      <m:e>
                        <m:r>
                          <a:rPr lang="ja-JP" altLang="en-US"/>
                          <m:t>∥</m:t>
                        </m:r>
                      </m:e>
                      <m:sub>
                        <m:r>
                          <a:rPr lang="ja-JP" altLang="en-US" i="1"/>
                          <m:t>𝐻</m:t>
                        </m:r>
                      </m:sub>
                    </m:sSub>
                    <m:r>
                      <a:rPr lang="en-US" altLang="ja-JP"/>
                      <m:t>.</m:t>
                    </m:r>
                  </m:oMath>
                </a14:m>
                <a:r>
                  <a:rPr lang="en-US" altLang="ja-JP" dirty="0"/>
                  <a:t> </a:t>
                </a:r>
                <a:r>
                  <a:rPr lang="ja-JP" altLang="ja-JP" dirty="0"/>
                  <a:t>所以：</a:t>
                </a:r>
                <a14:m>
                  <m:oMath xmlns:m="http://schemas.openxmlformats.org/officeDocument/2006/math">
                    <m:r>
                      <a:rPr lang="ja-JP" altLang="en-US"/>
                      <m:t>∥</m:t>
                    </m:r>
                    <m:r>
                      <a:rPr lang="ja-JP" altLang="en-US" i="1"/>
                      <m:t>𝑓</m:t>
                    </m:r>
                    <m:sSub>
                      <m:sSubPr>
                        <m:ctrlPr>
                          <a:rPr lang="ja-JP" altLang="en-US" i="1"/>
                        </m:ctrlPr>
                      </m:sSubPr>
                      <m:e>
                        <m:r>
                          <a:rPr lang="ja-JP" altLang="en-US"/>
                          <m:t>∥</m:t>
                        </m:r>
                      </m:e>
                      <m:sub>
                        <m:sSup>
                          <m:sSupPr>
                            <m:ctrlPr>
                              <a:rPr lang="ja-JP" altLang="en-US" i="1"/>
                            </m:ctrlPr>
                          </m:sSupPr>
                          <m:e>
                            <m:r>
                              <a:rPr lang="ja-JP" altLang="en-US" i="1"/>
                              <m:t>𝐻</m:t>
                            </m:r>
                          </m:e>
                          <m:sup>
                            <m:r>
                              <a:rPr lang="ja-JP" altLang="en-US"/>
                              <m:t>∗</m:t>
                            </m:r>
                          </m:sup>
                        </m:sSup>
                      </m:sub>
                    </m:sSub>
                    <m:r>
                      <a:rPr lang="ja-JP" altLang="en-US"/>
                      <m:t>≤∥</m:t>
                    </m:r>
                    <m:r>
                      <a:rPr lang="ja-JP" altLang="en-US" i="1"/>
                      <m:t>𝑦</m:t>
                    </m:r>
                    <m:sSub>
                      <m:sSubPr>
                        <m:ctrlPr>
                          <a:rPr lang="ja-JP" altLang="en-US" i="1"/>
                        </m:ctrlPr>
                      </m:sSubPr>
                      <m:e>
                        <m:r>
                          <a:rPr lang="ja-JP" altLang="en-US"/>
                          <m:t>∥</m:t>
                        </m:r>
                      </m:e>
                      <m:sub>
                        <m:r>
                          <a:rPr lang="ja-JP" altLang="en-US" i="1"/>
                          <m:t>𝐻</m:t>
                        </m:r>
                      </m:sub>
                    </m:sSub>
                    <m:r>
                      <a:rPr lang="en-US" altLang="ja-JP"/>
                      <m:t>.</m:t>
                    </m:r>
                  </m:oMath>
                </a14:m>
                <a:r>
                  <a:rPr lang="en-US" altLang="ja-JP" dirty="0"/>
                  <a:t> </a:t>
                </a:r>
                <a:r>
                  <a:rPr lang="ja-JP" altLang="ja-JP" dirty="0"/>
                  <a:t>反过来，如果 </a:t>
                </a:r>
                <a14:m>
                  <m:oMath xmlns:m="http://schemas.openxmlformats.org/officeDocument/2006/math">
                    <m:r>
                      <a:rPr lang="ja-JP" altLang="en-US" i="1"/>
                      <m:t>𝑦</m:t>
                    </m:r>
                    <m:r>
                      <a:rPr lang="ja-JP" altLang="en-US"/>
                      <m:t>≠</m:t>
                    </m:r>
                    <m:r>
                      <a:rPr lang="en-US" altLang="ja-JP"/>
                      <m:t>0</m:t>
                    </m:r>
                  </m:oMath>
                </a14:m>
                <a:r>
                  <a:rPr lang="ja-JP" altLang="ja-JP" dirty="0"/>
                  <a:t>，取：</a:t>
                </a:r>
                <a14:m>
                  <m:oMath xmlns:m="http://schemas.openxmlformats.org/officeDocument/2006/math">
                    <m:r>
                      <a:rPr lang="ja-JP" altLang="en-US" i="1"/>
                      <m:t>𝑥</m:t>
                    </m:r>
                    <m:r>
                      <a:rPr lang="en-US" altLang="ja-JP"/>
                      <m:t>=</m:t>
                    </m:r>
                    <m:f>
                      <m:fPr>
                        <m:ctrlPr>
                          <a:rPr lang="ja-JP" altLang="en-US" i="1"/>
                        </m:ctrlPr>
                      </m:fPr>
                      <m:num>
                        <m:r>
                          <a:rPr lang="ja-JP" altLang="en-US" i="1"/>
                          <m:t>𝑦</m:t>
                        </m:r>
                      </m:num>
                      <m:den>
                        <m:r>
                          <a:rPr lang="ja-JP" altLang="en-US"/>
                          <m:t>∥</m:t>
                        </m:r>
                        <m:r>
                          <a:rPr lang="ja-JP" altLang="en-US" i="1"/>
                          <m:t>𝑦</m:t>
                        </m:r>
                        <m:sSub>
                          <m:sSubPr>
                            <m:ctrlPr>
                              <a:rPr lang="ja-JP" altLang="en-US" i="1"/>
                            </m:ctrlPr>
                          </m:sSubPr>
                          <m:e>
                            <m:r>
                              <a:rPr lang="ja-JP" altLang="en-US"/>
                              <m:t>∥</m:t>
                            </m:r>
                          </m:e>
                          <m:sub>
                            <m:r>
                              <a:rPr lang="ja-JP" altLang="en-US" i="1"/>
                              <m:t>𝐻</m:t>
                            </m:r>
                          </m:sub>
                        </m:sSub>
                      </m:den>
                    </m:f>
                    <m:r>
                      <a:rPr lang="en-US" altLang="ja-JP"/>
                      <m:t>.</m:t>
                    </m:r>
                  </m:oMath>
                </a14:m>
                <a:r>
                  <a:rPr lang="en-US" altLang="ja-JP" dirty="0"/>
                  <a:t> </a:t>
                </a:r>
                <a:r>
                  <a:rPr lang="ja-JP" altLang="ja-JP" dirty="0"/>
                  <a:t>那么：</a:t>
                </a:r>
                <a14:m>
                  <m:oMath xmlns:m="http://schemas.openxmlformats.org/officeDocument/2006/math">
                    <m:r>
                      <a:rPr lang="ja-JP" altLang="en-US"/>
                      <m:t>∥</m:t>
                    </m:r>
                    <m:r>
                      <a:rPr lang="ja-JP" altLang="en-US" i="1"/>
                      <m:t>𝑥</m:t>
                    </m:r>
                    <m:sSub>
                      <m:sSubPr>
                        <m:ctrlPr>
                          <a:rPr lang="ja-JP" altLang="en-US" i="1"/>
                        </m:ctrlPr>
                      </m:sSubPr>
                      <m:e>
                        <m:r>
                          <a:rPr lang="ja-JP" altLang="en-US"/>
                          <m:t>∥</m:t>
                        </m:r>
                      </m:e>
                      <m:sub>
                        <m:r>
                          <a:rPr lang="ja-JP" altLang="en-US" i="1"/>
                          <m:t>𝐻</m:t>
                        </m:r>
                      </m:sub>
                    </m:sSub>
                    <m:r>
                      <a:rPr lang="en-US" altLang="ja-JP"/>
                      <m:t>=1.</m:t>
                    </m:r>
                  </m:oMath>
                </a14:m>
                <a:endParaRPr lang="en-US" altLang="ja-JP" dirty="0"/>
              </a:p>
              <a:p>
                <a:pPr marL="0" indent="0">
                  <a:buNone/>
                </a:pPr>
                <a:r>
                  <a:rPr lang="ja-JP" altLang="ja-JP" dirty="0"/>
                  <a:t>并且：</a:t>
                </a:r>
                <a14:m>
                  <m:oMath xmlns:m="http://schemas.openxmlformats.org/officeDocument/2006/math">
                    <m:r>
                      <a:rPr lang="ja-JP" altLang="en-US" i="1"/>
                      <m:t>𝑓</m:t>
                    </m:r>
                    <m:d>
                      <m:dPr>
                        <m:ctrlPr>
                          <a:rPr lang="ja-JP" altLang="en-US" i="1"/>
                        </m:ctrlPr>
                      </m:dPr>
                      <m:e>
                        <m:r>
                          <a:rPr lang="ja-JP" altLang="en-US" i="1"/>
                          <m:t>𝑥</m:t>
                        </m:r>
                      </m:e>
                    </m:d>
                    <m:r>
                      <a:rPr lang="en-US" altLang="ja-JP"/>
                      <m:t>=</m:t>
                    </m:r>
                    <m:sSub>
                      <m:sSubPr>
                        <m:ctrlPr>
                          <a:rPr lang="ja-JP" altLang="en-US" i="1"/>
                        </m:ctrlPr>
                      </m:sSubPr>
                      <m:e>
                        <m:d>
                          <m:dPr>
                            <m:begChr m:val="⟨"/>
                            <m:endChr m:val="⟩"/>
                            <m:sepChr m:val=","/>
                            <m:ctrlPr>
                              <a:rPr lang="ja-JP" altLang="en-US" i="1"/>
                            </m:ctrlPr>
                          </m:dPr>
                          <m:e>
                            <m:f>
                              <m:fPr>
                                <m:ctrlPr>
                                  <a:rPr lang="ja-JP" altLang="en-US" i="1"/>
                                </m:ctrlPr>
                              </m:fPr>
                              <m:num>
                                <m:r>
                                  <a:rPr lang="ja-JP" altLang="en-US" i="1"/>
                                  <m:t>𝑦</m:t>
                                </m:r>
                              </m:num>
                              <m:den>
                                <m:r>
                                  <a:rPr lang="ja-JP" altLang="en-US"/>
                                  <m:t>∥</m:t>
                                </m:r>
                                <m:r>
                                  <a:rPr lang="ja-JP" altLang="en-US" i="1"/>
                                  <m:t>𝑦</m:t>
                                </m:r>
                                <m:sSub>
                                  <m:sSubPr>
                                    <m:ctrlPr>
                                      <a:rPr lang="ja-JP" altLang="en-US" i="1"/>
                                    </m:ctrlPr>
                                  </m:sSubPr>
                                  <m:e>
                                    <m:r>
                                      <a:rPr lang="ja-JP" altLang="en-US"/>
                                      <m:t>∥</m:t>
                                    </m:r>
                                  </m:e>
                                  <m:sub>
                                    <m:r>
                                      <a:rPr lang="ja-JP" altLang="en-US" i="1"/>
                                      <m:t>𝐻</m:t>
                                    </m:r>
                                  </m:sub>
                                </m:sSub>
                              </m:den>
                            </m:f>
                          </m:e>
                          <m:e>
                            <m:r>
                              <a:rPr lang="ja-JP" altLang="en-US" i="1"/>
                              <m:t>𝑦</m:t>
                            </m:r>
                          </m:e>
                        </m:d>
                      </m:e>
                      <m:sub>
                        <m:r>
                          <a:rPr lang="ja-JP" altLang="en-US" i="1"/>
                          <m:t>𝐻</m:t>
                        </m:r>
                      </m:sub>
                    </m:sSub>
                    <m:r>
                      <a:rPr lang="en-US" altLang="ja-JP"/>
                      <m:t>=</m:t>
                    </m:r>
                    <m:f>
                      <m:fPr>
                        <m:ctrlPr>
                          <a:rPr lang="ja-JP" altLang="en-US" i="1"/>
                        </m:ctrlPr>
                      </m:fPr>
                      <m:num>
                        <m:r>
                          <a:rPr lang="ja-JP" altLang="en-US"/>
                          <m:t>∥</m:t>
                        </m:r>
                        <m:r>
                          <a:rPr lang="ja-JP" altLang="en-US" i="1"/>
                          <m:t>𝑦</m:t>
                        </m:r>
                        <m:sSubSup>
                          <m:sSubSupPr>
                            <m:ctrlPr>
                              <a:rPr lang="ja-JP" altLang="en-US" i="1"/>
                            </m:ctrlPr>
                          </m:sSubSupPr>
                          <m:e>
                            <m:r>
                              <a:rPr lang="ja-JP" altLang="en-US"/>
                              <m:t>∥</m:t>
                            </m:r>
                          </m:e>
                          <m:sub>
                            <m:r>
                              <a:rPr lang="ja-JP" altLang="en-US" i="1"/>
                              <m:t>𝐻</m:t>
                            </m:r>
                          </m:sub>
                          <m:sup>
                            <m:r>
                              <a:rPr lang="en-US" altLang="ja-JP"/>
                              <m:t>2</m:t>
                            </m:r>
                          </m:sup>
                        </m:sSubSup>
                      </m:num>
                      <m:den>
                        <m:r>
                          <a:rPr lang="ja-JP" altLang="en-US"/>
                          <m:t>∥</m:t>
                        </m:r>
                        <m:r>
                          <a:rPr lang="ja-JP" altLang="en-US" i="1"/>
                          <m:t>𝑦</m:t>
                        </m:r>
                        <m:sSub>
                          <m:sSubPr>
                            <m:ctrlPr>
                              <a:rPr lang="ja-JP" altLang="en-US" i="1"/>
                            </m:ctrlPr>
                          </m:sSubPr>
                          <m:e>
                            <m:r>
                              <a:rPr lang="ja-JP" altLang="en-US"/>
                              <m:t>∥</m:t>
                            </m:r>
                          </m:e>
                          <m:sub>
                            <m:r>
                              <a:rPr lang="ja-JP" altLang="en-US" i="1"/>
                              <m:t>𝐻</m:t>
                            </m:r>
                          </m:sub>
                        </m:sSub>
                      </m:den>
                    </m:f>
                    <m:r>
                      <a:rPr lang="en-US" altLang="ja-JP"/>
                      <m:t>=∥</m:t>
                    </m:r>
                    <m:r>
                      <a:rPr lang="ja-JP" altLang="en-US" i="1"/>
                      <m:t>𝑦</m:t>
                    </m:r>
                    <m:sSub>
                      <m:sSubPr>
                        <m:ctrlPr>
                          <a:rPr lang="ja-JP" altLang="en-US" i="1"/>
                        </m:ctrlPr>
                      </m:sSubPr>
                      <m:e>
                        <m:r>
                          <a:rPr lang="ja-JP" altLang="en-US"/>
                          <m:t>∥</m:t>
                        </m:r>
                      </m:e>
                      <m:sub>
                        <m:r>
                          <a:rPr lang="ja-JP" altLang="en-US" i="1"/>
                          <m:t>𝐻</m:t>
                        </m:r>
                      </m:sub>
                    </m:sSub>
                    <m:r>
                      <a:rPr lang="en-US" altLang="ja-JP"/>
                      <m:t>.</m:t>
                    </m:r>
                  </m:oMath>
                </a14:m>
                <a:r>
                  <a:rPr lang="en-US" altLang="ja-JP" dirty="0"/>
                  <a:t> </a:t>
                </a:r>
                <a:r>
                  <a:rPr lang="ja-JP" altLang="ja-JP" dirty="0"/>
                  <a:t>所以：</a:t>
                </a:r>
                <a14:m>
                  <m:oMath xmlns:m="http://schemas.openxmlformats.org/officeDocument/2006/math">
                    <m:r>
                      <a:rPr lang="ja-JP" altLang="en-US"/>
                      <m:t>∥</m:t>
                    </m:r>
                    <m:r>
                      <a:rPr lang="ja-JP" altLang="en-US" i="1"/>
                      <m:t>𝑓</m:t>
                    </m:r>
                    <m:sSub>
                      <m:sSubPr>
                        <m:ctrlPr>
                          <a:rPr lang="ja-JP" altLang="en-US" i="1"/>
                        </m:ctrlPr>
                      </m:sSubPr>
                      <m:e>
                        <m:r>
                          <a:rPr lang="ja-JP" altLang="en-US"/>
                          <m:t>∥</m:t>
                        </m:r>
                      </m:e>
                      <m:sub>
                        <m:sSup>
                          <m:sSupPr>
                            <m:ctrlPr>
                              <a:rPr lang="ja-JP" altLang="en-US" i="1"/>
                            </m:ctrlPr>
                          </m:sSupPr>
                          <m:e>
                            <m:r>
                              <a:rPr lang="ja-JP" altLang="en-US" i="1"/>
                              <m:t>𝐻</m:t>
                            </m:r>
                          </m:e>
                          <m:sup>
                            <m:r>
                              <a:rPr lang="ja-JP" altLang="en-US"/>
                              <m:t>∗</m:t>
                            </m:r>
                          </m:sup>
                        </m:sSup>
                      </m:sub>
                    </m:sSub>
                    <m:r>
                      <a:rPr lang="ja-JP" altLang="en-US"/>
                      <m:t>≥∥</m:t>
                    </m:r>
                    <m:r>
                      <a:rPr lang="ja-JP" altLang="en-US" i="1"/>
                      <m:t>𝑦</m:t>
                    </m:r>
                    <m:sSub>
                      <m:sSubPr>
                        <m:ctrlPr>
                          <a:rPr lang="ja-JP" altLang="en-US" i="1"/>
                        </m:ctrlPr>
                      </m:sSubPr>
                      <m:e>
                        <m:r>
                          <a:rPr lang="ja-JP" altLang="en-US"/>
                          <m:t>∥</m:t>
                        </m:r>
                      </m:e>
                      <m:sub>
                        <m:r>
                          <a:rPr lang="ja-JP" altLang="en-US" i="1"/>
                          <m:t>𝐻</m:t>
                        </m:r>
                      </m:sub>
                    </m:sSub>
                    <m:r>
                      <a:rPr lang="en-US" altLang="ja-JP"/>
                      <m:t>.</m:t>
                    </m:r>
                  </m:oMath>
                </a14:m>
                <a:r>
                  <a:rPr lang="en-US" altLang="ja-JP" dirty="0"/>
                  <a:t> </a:t>
                </a:r>
                <a:r>
                  <a:rPr lang="ja-JP" altLang="ja-JP" dirty="0"/>
                  <a:t>因此：</a:t>
                </a:r>
                <a14:m>
                  <m:oMath xmlns:m="http://schemas.openxmlformats.org/officeDocument/2006/math">
                    <m:r>
                      <a:rPr lang="ja-JP" altLang="en-US" smtClean="0">
                        <a:solidFill>
                          <a:srgbClr val="C00000"/>
                        </a:solidFill>
                      </a:rPr>
                      <m:t>∥</m:t>
                    </m:r>
                    <m:r>
                      <a:rPr lang="ja-JP" altLang="en-US" i="1">
                        <a:solidFill>
                          <a:srgbClr val="C00000"/>
                        </a:solidFill>
                      </a:rPr>
                      <m:t>𝑓</m:t>
                    </m:r>
                    <m:sSub>
                      <m:sSubPr>
                        <m:ctrlPr>
                          <a:rPr lang="ja-JP" altLang="en-US" i="1">
                            <a:solidFill>
                              <a:srgbClr val="C00000"/>
                            </a:solidFill>
                          </a:rPr>
                        </m:ctrlPr>
                      </m:sSubPr>
                      <m:e>
                        <m:r>
                          <a:rPr lang="ja-JP" altLang="en-US">
                            <a:solidFill>
                              <a:srgbClr val="C00000"/>
                            </a:solidFill>
                          </a:rPr>
                          <m:t>∥</m:t>
                        </m:r>
                      </m:e>
                      <m:sub>
                        <m:sSup>
                          <m:sSupPr>
                            <m:ctrlPr>
                              <a:rPr lang="ja-JP" altLang="en-US" i="1">
                                <a:solidFill>
                                  <a:srgbClr val="C00000"/>
                                </a:solidFill>
                              </a:rPr>
                            </m:ctrlPr>
                          </m:sSupPr>
                          <m:e>
                            <m:r>
                              <a:rPr lang="ja-JP" altLang="en-US" i="1">
                                <a:solidFill>
                                  <a:srgbClr val="C00000"/>
                                </a:solidFill>
                              </a:rPr>
                              <m:t>𝐻</m:t>
                            </m:r>
                          </m:e>
                          <m:sup>
                            <m:r>
                              <a:rPr lang="ja-JP" altLang="en-US">
                                <a:solidFill>
                                  <a:srgbClr val="C00000"/>
                                </a:solidFill>
                              </a:rPr>
                              <m:t>∗</m:t>
                            </m:r>
                          </m:sup>
                        </m:sSup>
                      </m:sub>
                    </m:sSub>
                    <m:r>
                      <a:rPr lang="en-US" altLang="ja-JP">
                        <a:solidFill>
                          <a:srgbClr val="C00000"/>
                        </a:solidFill>
                      </a:rPr>
                      <m:t>=∥</m:t>
                    </m:r>
                    <m:r>
                      <a:rPr lang="ja-JP" altLang="en-US" i="1">
                        <a:solidFill>
                          <a:srgbClr val="C00000"/>
                        </a:solidFill>
                      </a:rPr>
                      <m:t>𝑦</m:t>
                    </m:r>
                    <m:sSub>
                      <m:sSubPr>
                        <m:ctrlPr>
                          <a:rPr lang="ja-JP" altLang="en-US" i="1">
                            <a:solidFill>
                              <a:srgbClr val="C00000"/>
                            </a:solidFill>
                          </a:rPr>
                        </m:ctrlPr>
                      </m:sSubPr>
                      <m:e>
                        <m:r>
                          <a:rPr lang="ja-JP" altLang="en-US">
                            <a:solidFill>
                              <a:srgbClr val="C00000"/>
                            </a:solidFill>
                          </a:rPr>
                          <m:t>∥</m:t>
                        </m:r>
                      </m:e>
                      <m:sub>
                        <m:r>
                          <a:rPr lang="ja-JP" altLang="en-US" i="1">
                            <a:solidFill>
                              <a:srgbClr val="C00000"/>
                            </a:solidFill>
                          </a:rPr>
                          <m:t>𝐻</m:t>
                        </m:r>
                      </m:sub>
                    </m:sSub>
                    <m:r>
                      <a:rPr lang="en-US" altLang="ja-JP">
                        <a:solidFill>
                          <a:srgbClr val="C00000"/>
                        </a:solidFill>
                      </a:rPr>
                      <m:t>.</m:t>
                    </m:r>
                  </m:oMath>
                </a14:m>
                <a:endParaRPr lang="en-US" altLang="ja-JP" dirty="0"/>
              </a:p>
              <a:p>
                <a:r>
                  <a:rPr lang="ja-JP" altLang="ja-JP" dirty="0"/>
                  <a:t>Riesz 定理给出了一个对应关系：</a:t>
                </a:r>
                <a14:m>
                  <m:oMath xmlns:m="http://schemas.openxmlformats.org/officeDocument/2006/math">
                    <m:r>
                      <a:rPr lang="ja-JP" altLang="en-US" i="1"/>
                      <m:t>𝐻</m:t>
                    </m:r>
                    <m:r>
                      <a:rPr lang="ja-JP" altLang="en-US"/>
                      <m:t>→</m:t>
                    </m:r>
                    <m:sSup>
                      <m:sSupPr>
                        <m:ctrlPr>
                          <a:rPr lang="ja-JP" altLang="en-US" i="1"/>
                        </m:ctrlPr>
                      </m:sSupPr>
                      <m:e>
                        <m:r>
                          <a:rPr lang="ja-JP" altLang="en-US" i="1"/>
                          <m:t>𝐻</m:t>
                        </m:r>
                      </m:e>
                      <m:sup>
                        <m:r>
                          <a:rPr lang="ja-JP" altLang="en-US"/>
                          <m:t>∗</m:t>
                        </m:r>
                      </m:sup>
                    </m:sSup>
                    <m:r>
                      <a:rPr lang="en-US" altLang="ja-JP"/>
                      <m:t>,</m:t>
                    </m:r>
                    <m:r>
                      <a:rPr lang="ja-JP" altLang="en-US" i="1"/>
                      <m:t>𝑦</m:t>
                    </m:r>
                    <m:r>
                      <a:rPr lang="ja-JP" altLang="en-US"/>
                      <m:t>↦</m:t>
                    </m:r>
                    <m:sSub>
                      <m:sSubPr>
                        <m:ctrlPr>
                          <a:rPr lang="ja-JP" altLang="en-US" i="1"/>
                        </m:ctrlPr>
                      </m:sSubPr>
                      <m:e>
                        <m:r>
                          <a:rPr lang="ja-JP" altLang="en-US" i="1"/>
                          <m:t>𝑓</m:t>
                        </m:r>
                      </m:e>
                      <m:sub>
                        <m:r>
                          <a:rPr lang="ja-JP" altLang="en-US" i="1"/>
                          <m:t>𝑦</m:t>
                        </m:r>
                      </m:sub>
                    </m:sSub>
                    <m:r>
                      <a:rPr lang="en-US" altLang="ja-JP"/>
                      <m:t>,</m:t>
                    </m:r>
                  </m:oMath>
                </a14:m>
                <a:r>
                  <a:rPr lang="en-US" altLang="ja-JP" dirty="0"/>
                  <a:t> </a:t>
                </a:r>
                <a:r>
                  <a:rPr lang="ja-JP" altLang="ja-JP" dirty="0"/>
                  <a:t>其中：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ja-JP" altLang="en-US"/>
                        </m:ctrlPr>
                      </m:sSubPr>
                      <m:e>
                        <m:r>
                          <a:rPr lang="ja-JP" altLang="en-US" i="1"/>
                          <m:t>𝑓</m:t>
                        </m:r>
                      </m:e>
                      <m:sub>
                        <m:r>
                          <a:rPr lang="ja-JP" altLang="en-US" i="1"/>
                          <m:t>𝑦</m:t>
                        </m:r>
                      </m:sub>
                    </m:sSub>
                    <m:d>
                      <m:dPr>
                        <m:ctrlPr>
                          <a:rPr lang="ja-JP" altLang="en-US" i="1"/>
                        </m:ctrlPr>
                      </m:dPr>
                      <m:e>
                        <m:r>
                          <a:rPr lang="ja-JP" altLang="en-US" i="1"/>
                          <m:t>𝑥</m:t>
                        </m:r>
                      </m:e>
                    </m:d>
                    <m:r>
                      <a:rPr lang="en-US" altLang="ja-JP"/>
                      <m:t>=</m:t>
                    </m:r>
                    <m:sSub>
                      <m:sSubPr>
                        <m:ctrlPr>
                          <a:rPr lang="ja-JP" altLang="en-US" i="1"/>
                        </m:ctrlPr>
                      </m:sSubPr>
                      <m:e>
                        <m:d>
                          <m:dPr>
                            <m:begChr m:val="⟨"/>
                            <m:endChr m:val="⟩"/>
                            <m:sepChr m:val=","/>
                            <m:ctrlPr>
                              <a:rPr lang="ja-JP" altLang="en-US" i="1"/>
                            </m:ctrlPr>
                          </m:dPr>
                          <m:e>
                            <m:r>
                              <a:rPr lang="ja-JP" altLang="en-US" i="1"/>
                              <m:t>𝑥</m:t>
                            </m:r>
                          </m:e>
                          <m:e>
                            <m:r>
                              <a:rPr lang="ja-JP" altLang="en-US" i="1"/>
                              <m:t>𝑦</m:t>
                            </m:r>
                          </m:e>
                        </m:d>
                      </m:e>
                      <m:sub>
                        <m:r>
                          <a:rPr lang="ja-JP" altLang="en-US" i="1"/>
                          <m:t>𝐻</m:t>
                        </m:r>
                      </m:sub>
                    </m:sSub>
                    <m:r>
                      <a:rPr lang="en-US" altLang="ja-JP"/>
                      <m:t>.</m:t>
                    </m:r>
                  </m:oMath>
                </a14:m>
                <a:endParaRPr lang="en-US" altLang="ja-JP" dirty="0"/>
              </a:p>
              <a:p>
                <a:pPr marL="0" indent="0">
                  <a:buNone/>
                </a:pPr>
                <a:r>
                  <a:rPr lang="ja-JP" altLang="ja-JP" dirty="0"/>
                  <a:t>这个映射满足：每个 </a:t>
                </a:r>
                <a14:m>
                  <m:oMath xmlns:m="http://schemas.openxmlformats.org/officeDocument/2006/math">
                    <m:r>
                      <a:rPr lang="ja-JP" altLang="en-US" i="1"/>
                      <m:t>𝑦</m:t>
                    </m:r>
                    <m:r>
                      <a:rPr lang="ja-JP" altLang="en-US"/>
                      <m:t>∈</m:t>
                    </m:r>
                    <m:r>
                      <a:rPr lang="ja-JP" altLang="en-US" i="1"/>
                      <m:t>𝐻</m:t>
                    </m:r>
                  </m:oMath>
                </a14:m>
                <a:r>
                  <a:rPr lang="ja-JP" altLang="ja-JP" dirty="0"/>
                  <a:t>给出一个连续线性泛函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ja-JP" altLang="en-US"/>
                        </m:ctrlPr>
                      </m:sSubPr>
                      <m:e>
                        <m:r>
                          <a:rPr lang="ja-JP" altLang="en-US" i="1"/>
                          <m:t>𝑓</m:t>
                        </m:r>
                      </m:e>
                      <m:sub>
                        <m:r>
                          <a:rPr lang="ja-JP" altLang="en-US" i="1"/>
                          <m:t>𝑦</m:t>
                        </m:r>
                      </m:sub>
                    </m:sSub>
                  </m:oMath>
                </a14:m>
                <a:r>
                  <a:rPr lang="ja-JP" altLang="ja-JP" dirty="0"/>
                  <a:t>； 每个 </a:t>
                </a:r>
                <a14:m>
                  <m:oMath xmlns:m="http://schemas.openxmlformats.org/officeDocument/2006/math">
                    <m:r>
                      <a:rPr lang="ja-JP" altLang="en-US" i="1"/>
                      <m:t>𝑓</m:t>
                    </m:r>
                    <m:r>
                      <a:rPr lang="ja-JP" altLang="en-US"/>
                      <m:t>∈</m:t>
                    </m:r>
                    <m:sSup>
                      <m:sSupPr>
                        <m:ctrlPr>
                          <a:rPr lang="ja-JP" altLang="en-US" i="1"/>
                        </m:ctrlPr>
                      </m:sSupPr>
                      <m:e>
                        <m:r>
                          <a:rPr lang="ja-JP" altLang="en-US" i="1"/>
                          <m:t>𝐻</m:t>
                        </m:r>
                      </m:e>
                      <m:sup>
                        <m:r>
                          <a:rPr lang="ja-JP" altLang="en-US"/>
                          <m:t>∗</m:t>
                        </m:r>
                      </m:sup>
                    </m:sSup>
                  </m:oMath>
                </a14:m>
                <a:r>
                  <a:rPr lang="ja-JP" altLang="ja-JP" dirty="0"/>
                  <a:t>都来自唯一的 </a:t>
                </a:r>
                <a14:m>
                  <m:oMath xmlns:m="http://schemas.openxmlformats.org/officeDocument/2006/math">
                    <m:r>
                      <a:rPr lang="ja-JP" altLang="en-US" i="1"/>
                      <m:t>𝑦</m:t>
                    </m:r>
                    <m:r>
                      <a:rPr lang="ja-JP" altLang="en-US"/>
                      <m:t>∈</m:t>
                    </m:r>
                    <m:r>
                      <a:rPr lang="ja-JP" altLang="en-US" i="1"/>
                      <m:t>𝐻</m:t>
                    </m:r>
                  </m:oMath>
                </a14:m>
                <a:r>
                  <a:rPr lang="ja-JP" altLang="ja-JP" dirty="0"/>
                  <a:t>； </a:t>
                </a:r>
                <a:endParaRPr lang="en-US" altLang="ja-JP" dirty="0"/>
              </a:p>
              <a:p>
                <a:pPr marL="0" indent="0">
                  <a:buNone/>
                </a:pPr>
                <a:r>
                  <a:rPr lang="ja-JP" altLang="ja-JP" dirty="0"/>
                  <a:t>范数保持：</a:t>
                </a:r>
                <a14:m>
                  <m:oMath xmlns:m="http://schemas.openxmlformats.org/officeDocument/2006/math">
                    <m:r>
                      <a:rPr lang="ja-JP" altLang="en-US"/>
                      <m:t>∥</m:t>
                    </m:r>
                    <m:sSub>
                      <m:sSubPr>
                        <m:ctrlPr>
                          <a:rPr lang="ja-JP" altLang="en-US" i="1"/>
                        </m:ctrlPr>
                      </m:sSubPr>
                      <m:e>
                        <m:r>
                          <a:rPr lang="ja-JP" altLang="en-US" i="1"/>
                          <m:t>𝑓</m:t>
                        </m:r>
                      </m:e>
                      <m:sub>
                        <m:r>
                          <a:rPr lang="ja-JP" altLang="en-US" i="1"/>
                          <m:t>𝑦</m:t>
                        </m:r>
                      </m:sub>
                    </m:sSub>
                    <m:sSub>
                      <m:sSubPr>
                        <m:ctrlPr>
                          <a:rPr lang="ja-JP" altLang="en-US" i="1"/>
                        </m:ctrlPr>
                      </m:sSubPr>
                      <m:e>
                        <m:r>
                          <a:rPr lang="ja-JP" altLang="en-US"/>
                          <m:t>∥</m:t>
                        </m:r>
                      </m:e>
                      <m:sub>
                        <m:sSup>
                          <m:sSupPr>
                            <m:ctrlPr>
                              <a:rPr lang="ja-JP" altLang="en-US" i="1"/>
                            </m:ctrlPr>
                          </m:sSupPr>
                          <m:e>
                            <m:r>
                              <a:rPr lang="ja-JP" altLang="en-US" i="1"/>
                              <m:t>𝐻</m:t>
                            </m:r>
                          </m:e>
                          <m:sup>
                            <m:r>
                              <a:rPr lang="ja-JP" altLang="en-US"/>
                              <m:t>∗</m:t>
                            </m:r>
                          </m:sup>
                        </m:sSup>
                      </m:sub>
                    </m:sSub>
                    <m:r>
                      <a:rPr lang="en-US" altLang="ja-JP"/>
                      <m:t>=∥</m:t>
                    </m:r>
                    <m:r>
                      <a:rPr lang="ja-JP" altLang="en-US" i="1"/>
                      <m:t>𝑦</m:t>
                    </m:r>
                    <m:sSub>
                      <m:sSubPr>
                        <m:ctrlPr>
                          <a:rPr lang="ja-JP" altLang="en-US" i="1"/>
                        </m:ctrlPr>
                      </m:sSubPr>
                      <m:e>
                        <m:r>
                          <a:rPr lang="ja-JP" altLang="en-US"/>
                          <m:t>∥</m:t>
                        </m:r>
                      </m:e>
                      <m:sub>
                        <m:r>
                          <a:rPr lang="ja-JP" altLang="en-US" i="1"/>
                          <m:t>𝐻</m:t>
                        </m:r>
                      </m:sub>
                    </m:sSub>
                    <m:r>
                      <a:rPr lang="en-US" altLang="ja-JP"/>
                      <m:t>.</m:t>
                    </m:r>
                  </m:oMath>
                </a14:m>
                <a:r>
                  <a:rPr lang="ja-JP" altLang="ja-JP" dirty="0"/>
                  <a:t>所以 </a:t>
                </a:r>
                <a14:m>
                  <m:oMath xmlns:m="http://schemas.openxmlformats.org/officeDocument/2006/math">
                    <m:r>
                      <a:rPr lang="ja-JP" altLang="en-US" i="1"/>
                      <m:t>𝐻</m:t>
                    </m:r>
                  </m:oMath>
                </a14:m>
                <a:r>
                  <a:rPr lang="ja-JP" altLang="ja-JP" dirty="0"/>
                  <a:t>和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ja-JP" altLang="en-US"/>
                        </m:ctrlPr>
                      </m:sSupPr>
                      <m:e>
                        <m:r>
                          <a:rPr lang="ja-JP" altLang="en-US" i="1"/>
                          <m:t>𝐻</m:t>
                        </m:r>
                      </m:e>
                      <m:sup>
                        <m:r>
                          <a:rPr lang="ja-JP" altLang="en-US"/>
                          <m:t>∗</m:t>
                        </m:r>
                      </m:sup>
                    </m:sSup>
                  </m:oMath>
                </a14:m>
                <a:r>
                  <a:rPr lang="ja-JP" altLang="ja-JP" dirty="0"/>
                  <a:t>在结构上可以一一对应，并且长度也完全一致。</a:t>
                </a:r>
              </a:p>
              <a:p>
                <a:pPr marL="0" indent="0">
                  <a:buNone/>
                </a:pPr>
                <a:endParaRPr lang="ja-JP" altLang="ja-JP" dirty="0"/>
              </a:p>
            </p:txBody>
          </p:sp>
        </mc:Choice>
        <mc:Fallback>
          <p:sp>
            <p:nvSpPr>
              <p:cNvPr id="12" name="コンテンツ プレースホルダー 2">
                <a:extLst>
                  <a:ext uri="{FF2B5EF4-FFF2-40B4-BE49-F238E27FC236}">
                    <a16:creationId xmlns:a16="http://schemas.microsoft.com/office/drawing/2014/main" id="{27AC73EB-73B3-4695-8E61-2017AD67A2D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2080" y="1183640"/>
                <a:ext cx="11988800" cy="5440680"/>
              </a:xfrm>
              <a:blipFill>
                <a:blip r:embed="rId3"/>
                <a:stretch>
                  <a:fillRect l="-560" t="-896" b="-2240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3970036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A4E6DD-376E-BC75-4EC3-33B62CA9B4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>
            <a:extLst>
              <a:ext uri="{FF2B5EF4-FFF2-40B4-BE49-F238E27FC236}">
                <a16:creationId xmlns:a16="http://schemas.microsoft.com/office/drawing/2014/main" id="{E427CB1F-FE09-775E-1791-61CE1A7FDAF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rPr lang="ja-JP" altLang="ja-JP" b="1" dirty="0"/>
              <a:t>Riesz 定理的几何图像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コンテンツ プレースホルダー 2">
                <a:extLst>
                  <a:ext uri="{FF2B5EF4-FFF2-40B4-BE49-F238E27FC236}">
                    <a16:creationId xmlns:a16="http://schemas.microsoft.com/office/drawing/2014/main" id="{C3F40723-6799-3827-C986-846C8FC1F3B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09880" y="1183640"/>
                <a:ext cx="11811000" cy="5440680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ja-JP" altLang="ja-JP" dirty="0"/>
                  <a:t>非零线性泛函 </a:t>
                </a:r>
                <a14:m>
                  <m:oMath xmlns:m="http://schemas.openxmlformats.org/officeDocument/2006/math">
                    <m:r>
                      <a:rPr lang="ja-JP" altLang="en-US" i="1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ja-JP" altLang="ja-JP" dirty="0"/>
                  <a:t>的核：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ja-JP" altLang="en-US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ja-JP">
                              <a:latin typeface="Cambria Math" panose="02040503050406030204" pitchFamily="18" charset="0"/>
                            </a:rPr>
                            <m:t>ker</m:t>
                          </m:r>
                        </m:fName>
                        <m:e>
                          <m:r>
                            <a:rPr lang="ja-JP" altLang="en-US" i="1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</m:func>
                      <m:r>
                        <a:rPr lang="en-US" altLang="ja-JP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ja-JP" alt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ja-JP" alt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ja-JP" altLang="en-US"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a:rPr lang="ja-JP" altLang="en-US" i="1">
                              <a:latin typeface="Cambria Math" panose="02040503050406030204" pitchFamily="18" charset="0"/>
                            </a:rPr>
                            <m:t>𝐻</m:t>
                          </m:r>
                          <m:r>
                            <a:rPr lang="en-US" altLang="ja-JP">
                              <a:latin typeface="Cambria Math" panose="02040503050406030204" pitchFamily="18" charset="0"/>
                            </a:rPr>
                            <m:t>:</m:t>
                          </m:r>
                          <m:r>
                            <a:rPr lang="ja-JP" altLang="en-US" i="1"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ja-JP" alt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ja-JP" alt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en-US" altLang="ja-JP">
                              <a:latin typeface="Cambria Math" panose="02040503050406030204" pitchFamily="18" charset="0"/>
                            </a:rPr>
                            <m:t>=0</m:t>
                          </m:r>
                        </m:e>
                      </m:d>
                    </m:oMath>
                  </m:oMathPara>
                </a14:m>
                <a:endParaRPr lang="ja-JP" altLang="en-US" dirty="0"/>
              </a:p>
              <a:p>
                <a:r>
                  <a:rPr lang="ja-JP" altLang="ja-JP" dirty="0"/>
                  <a:t>是一个闭超平面。</a:t>
                </a:r>
                <a:r>
                  <a:rPr lang="zh-CN" altLang="en-US" dirty="0"/>
                  <a:t>（</a:t>
                </a:r>
                <a14:m>
                  <m:oMath xmlns:m="http://schemas.openxmlformats.org/officeDocument/2006/math">
                    <m:r>
                      <a:rPr lang="ja-JP" altLang="ja-JP" i="1" dirty="0" smtClean="0">
                        <a:latin typeface="Cambria Math" panose="02040503050406030204" pitchFamily="18" charset="0"/>
                      </a:rPr>
                      <m:t>𝑘𝑒𝑟𝑓</m:t>
                    </m:r>
                    <m:r>
                      <a:rPr lang="ja-JP" altLang="ja-JP" i="1" dirty="0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ja-JP" altLang="en-US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ja-JP" altLang="ja-JP" i="1" dirty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en-US" altLang="ja-JP" b="0" i="1" dirty="0" smtClean="0">
                            <a:latin typeface="Cambria Math" panose="02040503050406030204" pitchFamily="18" charset="0"/>
                          </a:rPr>
                          <m:t>-1</m:t>
                        </m:r>
                      </m:sup>
                    </m:sSup>
                    <m:r>
                      <a:rPr lang="ja-JP" altLang="ja-JP" i="1" dirty="0" smtClean="0">
                        <a:latin typeface="Cambria Math" panose="02040503050406030204" pitchFamily="18" charset="0"/>
                      </a:rPr>
                      <m:t> ({0})</m:t>
                    </m:r>
                  </m:oMath>
                </a14:m>
                <a:r>
                  <a:rPr lang="ja-JP" altLang="ja-JP" dirty="0"/>
                  <a:t>. 也就是说，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ja-JP" altLang="en-US"/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ja-JP"/>
                          <m:t>ker</m:t>
                        </m:r>
                      </m:fName>
                      <m:e>
                        <m:r>
                          <a:rPr lang="ja-JP" altLang="en-US" i="1"/>
                          <m:t>𝑓</m:t>
                        </m:r>
                      </m:e>
                    </m:func>
                  </m:oMath>
                </a14:m>
                <a:r>
                  <a:rPr lang="ja-JP" altLang="ja-JP" dirty="0"/>
                  <a:t> 是集合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ja-JP" altLang="en-US"/>
                        </m:ctrlPr>
                      </m:dPr>
                      <m:e>
                        <m:r>
                          <a:rPr lang="en-US" altLang="ja-JP"/>
                          <m:t>0</m:t>
                        </m:r>
                      </m:e>
                    </m:d>
                  </m:oMath>
                </a14:m>
                <a:r>
                  <a:rPr lang="ja-JP" altLang="ja-JP" dirty="0"/>
                  <a:t>在 </a:t>
                </a:r>
                <a14:m>
                  <m:oMath xmlns:m="http://schemas.openxmlformats.org/officeDocument/2006/math">
                    <m:r>
                      <a:rPr lang="ja-JP" altLang="en-US" i="1"/>
                      <m:t>𝑓</m:t>
                    </m:r>
                  </m:oMath>
                </a14:m>
                <a:r>
                  <a:rPr lang="ja-JP" altLang="ja-JP" dirty="0"/>
                  <a:t>下的原像。而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ja-JP" altLang="en-US"/>
                        </m:ctrlPr>
                      </m:dPr>
                      <m:e>
                        <m:r>
                          <a:rPr lang="en-US" altLang="ja-JP"/>
                          <m:t>0</m:t>
                        </m:r>
                      </m:e>
                    </m:d>
                    <m:r>
                      <a:rPr lang="ja-JP" altLang="en-US"/>
                      <m:t>⊂</m:t>
                    </m:r>
                    <m:r>
                      <a:rPr lang="en-US" altLang="ja-JP"/>
                      <m:t>ℝ</m:t>
                    </m:r>
                  </m:oMath>
                </a14:m>
                <a:r>
                  <a:rPr lang="ja-JP" altLang="ja-JP" dirty="0"/>
                  <a:t>是闭集。连续映射的闭集原像仍然是闭集。</a:t>
                </a:r>
                <a:r>
                  <a:rPr lang="zh-CN" altLang="en-US" dirty="0"/>
                  <a:t>）</a:t>
                </a:r>
                <a:endParaRPr lang="en-US" altLang="zh-CN" dirty="0"/>
              </a:p>
              <a:p>
                <a:pPr lvl="1">
                  <a:buFont typeface="Wingdings" panose="05000000000000000000" pitchFamily="2" charset="2"/>
                  <a:buChar char="Ø"/>
                </a:pPr>
                <a:r>
                  <a:rPr lang="ja-JP" altLang="ja-JP" dirty="0"/>
                  <a:t>在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ja-JP" altLang="en-US"/>
                        </m:ctrlPr>
                      </m:sSupPr>
                      <m:e>
                        <m:r>
                          <a:rPr lang="en-US" altLang="ja-JP"/>
                          <m:t>ℝ</m:t>
                        </m:r>
                      </m:e>
                      <m:sup>
                        <m:r>
                          <a:rPr lang="en-US" altLang="ja-JP"/>
                          <m:t>2</m:t>
                        </m:r>
                      </m:sup>
                    </m:sSup>
                  </m:oMath>
                </a14:m>
                <a:r>
                  <a:rPr lang="ja-JP" altLang="ja-JP" dirty="0"/>
                  <a:t>中，非零线性泛函的核是一条直线； </a:t>
                </a:r>
              </a:p>
              <a:p>
                <a:pPr lvl="1">
                  <a:buFont typeface="Wingdings" panose="05000000000000000000" pitchFamily="2" charset="2"/>
                  <a:buChar char="Ø"/>
                </a:pPr>
                <a:r>
                  <a:rPr lang="ja-JP" altLang="ja-JP" dirty="0"/>
                  <a:t>在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ja-JP" altLang="en-US"/>
                        </m:ctrlPr>
                      </m:sSupPr>
                      <m:e>
                        <m:r>
                          <a:rPr lang="en-US" altLang="ja-JP"/>
                          <m:t>ℝ</m:t>
                        </m:r>
                      </m:e>
                      <m:sup>
                        <m:r>
                          <a:rPr lang="en-US" altLang="ja-JP"/>
                          <m:t>3</m:t>
                        </m:r>
                      </m:sup>
                    </m:sSup>
                  </m:oMath>
                </a14:m>
                <a:r>
                  <a:rPr lang="ja-JP" altLang="ja-JP" dirty="0"/>
                  <a:t>中，非零线性泛函的核是一个平面； </a:t>
                </a:r>
              </a:p>
              <a:p>
                <a:pPr lvl="1">
                  <a:buFont typeface="Wingdings" panose="05000000000000000000" pitchFamily="2" charset="2"/>
                  <a:buChar char="Ø"/>
                </a:pPr>
                <a:r>
                  <a:rPr lang="ja-JP" altLang="ja-JP" dirty="0"/>
                  <a:t>在一般 Hilbert 空间中，非零连续线性泛函的核是一个“余维 </a:t>
                </a:r>
                <a14:m>
                  <m:oMath xmlns:m="http://schemas.openxmlformats.org/officeDocument/2006/math">
                    <m:r>
                      <a:rPr lang="en-US" altLang="ja-JP"/>
                      <m:t>1</m:t>
                    </m:r>
                  </m:oMath>
                </a14:m>
                <a:r>
                  <a:rPr lang="ja-JP" altLang="ja-JP" dirty="0"/>
                  <a:t>”的闭子空间，称为闭超平面。 </a:t>
                </a:r>
              </a:p>
              <a:p>
                <a:pPr lvl="1">
                  <a:buFont typeface="Wingdings" panose="05000000000000000000" pitchFamily="2" charset="2"/>
                  <a:buChar char="Ø"/>
                </a:pPr>
                <a:r>
                  <a:rPr lang="ja-JP" altLang="ja-JP" dirty="0"/>
                  <a:t>例如：</a:t>
                </a:r>
                <a14:m>
                  <m:oMath xmlns:m="http://schemas.openxmlformats.org/officeDocument/2006/math">
                    <m:r>
                      <a:rPr lang="ja-JP" altLang="en-US" i="1"/>
                      <m:t>𝑓</m:t>
                    </m:r>
                    <m:d>
                      <m:dPr>
                        <m:sepChr m:val=","/>
                        <m:ctrlPr>
                          <a:rPr lang="ja-JP" altLang="en-US" i="1"/>
                        </m:ctrlPr>
                      </m:dPr>
                      <m:e>
                        <m:sSub>
                          <m:sSubPr>
                            <m:ctrlPr>
                              <a:rPr lang="ja-JP" altLang="en-US" i="1"/>
                            </m:ctrlPr>
                          </m:sSubPr>
                          <m:e>
                            <m:r>
                              <a:rPr lang="ja-JP" altLang="en-US" i="1"/>
                              <m:t>𝑥</m:t>
                            </m:r>
                          </m:e>
                          <m:sub>
                            <m:r>
                              <a:rPr lang="en-US" altLang="ja-JP"/>
                              <m:t>1</m:t>
                            </m:r>
                          </m:sub>
                        </m:sSub>
                      </m:e>
                      <m:e>
                        <m:sSub>
                          <m:sSubPr>
                            <m:ctrlPr>
                              <a:rPr lang="ja-JP" altLang="en-US" i="1"/>
                            </m:ctrlPr>
                          </m:sSubPr>
                          <m:e>
                            <m:r>
                              <a:rPr lang="ja-JP" altLang="en-US" i="1"/>
                              <m:t>𝑥</m:t>
                            </m:r>
                          </m:e>
                          <m:sub>
                            <m:r>
                              <a:rPr lang="en-US" altLang="ja-JP"/>
                              <m:t>2</m:t>
                            </m:r>
                          </m:sub>
                        </m:sSub>
                      </m:e>
                      <m:e>
                        <m:sSub>
                          <m:sSubPr>
                            <m:ctrlPr>
                              <a:rPr lang="ja-JP" altLang="en-US" i="1"/>
                            </m:ctrlPr>
                          </m:sSubPr>
                          <m:e>
                            <m:r>
                              <a:rPr lang="ja-JP" altLang="en-US" i="1"/>
                              <m:t>𝑥</m:t>
                            </m:r>
                          </m:e>
                          <m:sub>
                            <m:r>
                              <a:rPr lang="en-US" altLang="ja-JP"/>
                              <m:t>3</m:t>
                            </m:r>
                          </m:sub>
                        </m:sSub>
                      </m:e>
                    </m:d>
                    <m:r>
                      <a:rPr lang="en-US" altLang="ja-JP"/>
                      <m:t>=</m:t>
                    </m:r>
                    <m:sSub>
                      <m:sSubPr>
                        <m:ctrlPr>
                          <a:rPr lang="ja-JP" altLang="en-US" i="1"/>
                        </m:ctrlPr>
                      </m:sSubPr>
                      <m:e>
                        <m:r>
                          <a:rPr lang="ja-JP" altLang="en-US" i="1"/>
                          <m:t>𝑥</m:t>
                        </m:r>
                      </m:e>
                      <m:sub>
                        <m:r>
                          <a:rPr lang="en-US" altLang="ja-JP"/>
                          <m:t>1</m:t>
                        </m:r>
                      </m:sub>
                    </m:sSub>
                    <m:r>
                      <a:rPr lang="en-US" altLang="ja-JP"/>
                      <m:t>+2</m:t>
                    </m:r>
                    <m:sSub>
                      <m:sSubPr>
                        <m:ctrlPr>
                          <a:rPr lang="ja-JP" altLang="en-US" i="1"/>
                        </m:ctrlPr>
                      </m:sSubPr>
                      <m:e>
                        <m:r>
                          <a:rPr lang="ja-JP" altLang="en-US" i="1"/>
                          <m:t>𝑥</m:t>
                        </m:r>
                      </m:e>
                      <m:sub>
                        <m:r>
                          <a:rPr lang="en-US" altLang="ja-JP"/>
                          <m:t>2</m:t>
                        </m:r>
                      </m:sub>
                    </m:sSub>
                    <m:r>
                      <a:rPr lang="ja-JP" altLang="en-US"/>
                      <m:t>−</m:t>
                    </m:r>
                    <m:sSub>
                      <m:sSubPr>
                        <m:ctrlPr>
                          <a:rPr lang="ja-JP" altLang="en-US" i="1"/>
                        </m:ctrlPr>
                      </m:sSubPr>
                      <m:e>
                        <m:r>
                          <a:rPr lang="ja-JP" altLang="en-US" i="1"/>
                          <m:t>𝑥</m:t>
                        </m:r>
                      </m:e>
                      <m:sub>
                        <m:r>
                          <a:rPr lang="en-US" altLang="ja-JP"/>
                          <m:t>3</m:t>
                        </m:r>
                      </m:sub>
                    </m:sSub>
                    <m:r>
                      <a:rPr lang="en-US" altLang="ja-JP"/>
                      <m:t>.</m:t>
                    </m:r>
                  </m:oMath>
                </a14:m>
                <a:r>
                  <a:rPr lang="en-US" altLang="ja-JP" dirty="0"/>
                  <a:t> </a:t>
                </a:r>
                <a:r>
                  <a:rPr lang="ja-JP" altLang="ja-JP" dirty="0"/>
                  <a:t>那么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ja-JP" altLang="en-US"/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ja-JP"/>
                          <m:t>ker</m:t>
                        </m:r>
                      </m:fName>
                      <m:e>
                        <m:r>
                          <a:rPr lang="ja-JP" altLang="en-US" i="1"/>
                          <m:t>𝑓</m:t>
                        </m:r>
                      </m:e>
                    </m:func>
                    <m:r>
                      <a:rPr lang="en-US" altLang="ja-JP"/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ja-JP" altLang="en-US" i="1"/>
                        </m:ctrlPr>
                      </m:dPr>
                      <m:e>
                        <m:d>
                          <m:dPr>
                            <m:sepChr m:val=","/>
                            <m:ctrlPr>
                              <a:rPr lang="ja-JP" altLang="en-US" i="1"/>
                            </m:ctrlPr>
                          </m:dPr>
                          <m:e>
                            <m:sSub>
                              <m:sSubPr>
                                <m:ctrlPr>
                                  <a:rPr lang="ja-JP" altLang="en-US" i="1"/>
                                </m:ctrlPr>
                              </m:sSubPr>
                              <m:e>
                                <m:r>
                                  <a:rPr lang="ja-JP" altLang="en-US" i="1"/>
                                  <m:t>𝑥</m:t>
                                </m:r>
                              </m:e>
                              <m:sub>
                                <m:r>
                                  <a:rPr lang="en-US" altLang="ja-JP"/>
                                  <m:t>1</m:t>
                                </m:r>
                              </m:sub>
                            </m:sSub>
                          </m:e>
                          <m:e>
                            <m:sSub>
                              <m:sSubPr>
                                <m:ctrlPr>
                                  <a:rPr lang="ja-JP" altLang="en-US" i="1"/>
                                </m:ctrlPr>
                              </m:sSubPr>
                              <m:e>
                                <m:r>
                                  <a:rPr lang="ja-JP" altLang="en-US" i="1"/>
                                  <m:t>𝑥</m:t>
                                </m:r>
                              </m:e>
                              <m:sub>
                                <m:r>
                                  <a:rPr lang="en-US" altLang="ja-JP"/>
                                  <m:t>2</m:t>
                                </m:r>
                              </m:sub>
                            </m:sSub>
                          </m:e>
                          <m:e>
                            <m:sSub>
                              <m:sSubPr>
                                <m:ctrlPr>
                                  <a:rPr lang="ja-JP" altLang="en-US" i="1"/>
                                </m:ctrlPr>
                              </m:sSubPr>
                              <m:e>
                                <m:r>
                                  <a:rPr lang="ja-JP" altLang="en-US" i="1"/>
                                  <m:t>𝑥</m:t>
                                </m:r>
                              </m:e>
                              <m:sub>
                                <m:r>
                                  <a:rPr lang="en-US" altLang="ja-JP"/>
                                  <m:t>3</m:t>
                                </m:r>
                              </m:sub>
                            </m:sSub>
                          </m:e>
                        </m:d>
                        <m:r>
                          <a:rPr lang="en-US" altLang="ja-JP"/>
                          <m:t>:</m:t>
                        </m:r>
                        <m:sSub>
                          <m:sSubPr>
                            <m:ctrlPr>
                              <a:rPr lang="ja-JP" altLang="en-US" i="1"/>
                            </m:ctrlPr>
                          </m:sSubPr>
                          <m:e>
                            <m:r>
                              <a:rPr lang="ja-JP" altLang="en-US" i="1"/>
                              <m:t>𝑥</m:t>
                            </m:r>
                          </m:e>
                          <m:sub>
                            <m:r>
                              <a:rPr lang="en-US" altLang="ja-JP"/>
                              <m:t>1</m:t>
                            </m:r>
                          </m:sub>
                        </m:sSub>
                        <m:r>
                          <a:rPr lang="en-US" altLang="ja-JP"/>
                          <m:t>+2</m:t>
                        </m:r>
                        <m:sSub>
                          <m:sSubPr>
                            <m:ctrlPr>
                              <a:rPr lang="ja-JP" altLang="en-US" i="1"/>
                            </m:ctrlPr>
                          </m:sSubPr>
                          <m:e>
                            <m:r>
                              <a:rPr lang="ja-JP" altLang="en-US" i="1"/>
                              <m:t>𝑥</m:t>
                            </m:r>
                          </m:e>
                          <m:sub>
                            <m:r>
                              <a:rPr lang="en-US" altLang="ja-JP"/>
                              <m:t>2</m:t>
                            </m:r>
                          </m:sub>
                        </m:sSub>
                        <m:r>
                          <a:rPr lang="ja-JP" altLang="en-US"/>
                          <m:t>−</m:t>
                        </m:r>
                        <m:sSub>
                          <m:sSubPr>
                            <m:ctrlPr>
                              <a:rPr lang="ja-JP" altLang="en-US" i="1"/>
                            </m:ctrlPr>
                          </m:sSubPr>
                          <m:e>
                            <m:r>
                              <a:rPr lang="ja-JP" altLang="en-US" i="1"/>
                              <m:t>𝑥</m:t>
                            </m:r>
                          </m:e>
                          <m:sub>
                            <m:r>
                              <a:rPr lang="en-US" altLang="ja-JP"/>
                              <m:t>3</m:t>
                            </m:r>
                          </m:sub>
                        </m:sSub>
                        <m:r>
                          <a:rPr lang="en-US" altLang="ja-JP"/>
                          <m:t>=0</m:t>
                        </m:r>
                      </m:e>
                    </m:d>
                    <m:r>
                      <a:rPr lang="en-US" altLang="ja-JP"/>
                      <m:t>.</m:t>
                    </m:r>
                  </m:oMath>
                </a14:m>
                <a:r>
                  <a:rPr lang="ja-JP" altLang="ja-JP" dirty="0"/>
                  <a:t>这是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ja-JP" altLang="en-US"/>
                        </m:ctrlPr>
                      </m:sSupPr>
                      <m:e>
                        <m:r>
                          <a:rPr lang="en-US" altLang="ja-JP"/>
                          <m:t>ℝ</m:t>
                        </m:r>
                      </m:e>
                      <m:sup>
                        <m:r>
                          <a:rPr lang="en-US" altLang="ja-JP"/>
                          <m:t>3</m:t>
                        </m:r>
                      </m:sup>
                    </m:sSup>
                  </m:oMath>
                </a14:m>
                <a:r>
                  <a:rPr lang="ja-JP" altLang="ja-JP" dirty="0"/>
                  <a:t>中过原点的平面。</a:t>
                </a:r>
                <a:endParaRPr lang="en-US" altLang="ja-JP" dirty="0"/>
              </a:p>
              <a:p>
                <a:pPr marL="0" indent="0">
                  <a:buNone/>
                </a:pPr>
                <a:r>
                  <a:rPr lang="ja-JP" altLang="ja-JP" dirty="0"/>
                  <a:t>Hilbert 空间中：</a:t>
                </a:r>
                <a14:m>
                  <m:oMath xmlns:m="http://schemas.openxmlformats.org/officeDocument/2006/math">
                    <m:r>
                      <a:rPr lang="ja-JP" altLang="en-US" i="1">
                        <a:latin typeface="Cambria Math" panose="02040503050406030204" pitchFamily="18" charset="0"/>
                      </a:rPr>
                      <m:t>𝐻</m:t>
                    </m:r>
                    <m:r>
                      <a:rPr lang="en-US" altLang="ja-JP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ja-JP" altLang="en-US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ja-JP">
                            <a:latin typeface="Cambria Math" panose="02040503050406030204" pitchFamily="18" charset="0"/>
                          </a:rPr>
                          <m:t>ker</m:t>
                        </m:r>
                      </m:fName>
                      <m:e>
                        <m:r>
                          <a:rPr lang="ja-JP" altLang="en-US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func>
                    <m:nary>
                      <m:naryPr>
                        <m:chr m:val="⊕"/>
                        <m:subHide m:val="on"/>
                        <m:supHide m:val="on"/>
                        <m:ctrlPr>
                          <a:rPr lang="ja-JP" altLang="en-US" i="1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r>
                          <a:rPr lang="en-US" altLang="ja-JP">
                            <a:latin typeface="Cambria Math" panose="02040503050406030204" pitchFamily="18" charset="0"/>
                          </a:rPr>
                          <m:t>(</m:t>
                        </m:r>
                      </m:e>
                    </m:nary>
                    <m:d>
                      <m:dPr>
                        <m:begChr m:val=""/>
                        <m:endChr m:val=""/>
                        <m:ctrlPr>
                          <a:rPr lang="ja-JP" alt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ja-JP" altLang="en-US" i="1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altLang="ja-JP">
                                <a:latin typeface="Cambria Math" panose="02040503050406030204" pitchFamily="18" charset="0"/>
                              </a:rPr>
                              <m:t>ker</m:t>
                            </m:r>
                          </m:fName>
                          <m:e>
                            <m:r>
                              <a:rPr lang="ja-JP" altLang="en-US" i="1"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</m:func>
                        <m:sSup>
                          <m:sSupPr>
                            <m:ctrlPr>
                              <a:rPr lang="ja-JP" alt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begChr m:val=""/>
                                <m:endChr m:val=""/>
                                <m:ctrlPr>
                                  <a:rPr lang="ja-JP" alt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ja-JP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</m:d>
                          </m:e>
                          <m:sup>
                            <m:r>
                              <a:rPr lang="ja-JP" altLang="en-US">
                                <a:latin typeface="Cambria Math" panose="02040503050406030204" pitchFamily="18" charset="0"/>
                              </a:rPr>
                              <m:t>⊥</m:t>
                            </m:r>
                          </m:sup>
                        </m:sSup>
                        <m:r>
                          <a:rPr lang="en-US" altLang="ja-JP">
                            <a:latin typeface="Cambria Math" panose="02040503050406030204" pitchFamily="18" charset="0"/>
                          </a:rPr>
                          <m:t>.</m:t>
                        </m:r>
                      </m:e>
                    </m:d>
                  </m:oMath>
                </a14:m>
                <a:endParaRPr lang="ja-JP" altLang="en-US" dirty="0"/>
              </a:p>
              <a:p>
                <a:pPr marL="0" indent="0">
                  <a:buNone/>
                </a:pPr>
                <a:r>
                  <a:rPr lang="ja-JP" altLang="ja-JP" dirty="0"/>
                  <a:t>代表元 </a:t>
                </a:r>
                <a14:m>
                  <m:oMath xmlns:m="http://schemas.openxmlformats.org/officeDocument/2006/math">
                    <m:r>
                      <a:rPr lang="ja-JP" altLang="en-US" i="1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ja-JP" altLang="ja-JP" dirty="0"/>
                  <a:t>垂直于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ja-JP" altLang="en-US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ja-JP">
                            <a:latin typeface="Cambria Math" panose="02040503050406030204" pitchFamily="18" charset="0"/>
                          </a:rPr>
                          <m:t>ker</m:t>
                        </m:r>
                      </m:fName>
                      <m:e>
                        <m:r>
                          <a:rPr lang="ja-JP" altLang="en-US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func>
                  </m:oMath>
                </a14:m>
                <a:r>
                  <a:rPr lang="ja-JP" altLang="ja-JP" dirty="0"/>
                  <a:t>。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ja-JP" altLang="en-US" i="1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ja-JP" alt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ja-JP" alt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altLang="ja-JP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⟨"/>
                          <m:endChr m:val="⟩"/>
                          <m:sepChr m:val=","/>
                          <m:ctrlPr>
                            <a:rPr lang="ja-JP" alt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ja-JP" alt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e>
                          <m:r>
                            <a:rPr lang="ja-JP" altLang="en-US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n-US" altLang="ja-JP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en-US" altLang="ja-JP" dirty="0"/>
              </a:p>
              <a:p>
                <a:pPr marL="0" indent="0">
                  <a:buNone/>
                </a:pPr>
                <a:r>
                  <a:rPr lang="ja-JP" altLang="ja-JP" dirty="0"/>
                  <a:t>二维平面中一个线性函数的等值线是一族平行直线，法向量就是代表这个线性泛函的向量。</a:t>
                </a:r>
                <a:endParaRPr lang="en-US" altLang="ja-JP" dirty="0"/>
              </a:p>
              <a:p>
                <a:r>
                  <a:rPr lang="ja-JP" altLang="ja-JP" dirty="0"/>
                  <a:t>Riesz 定理说，Hilbert 空间里这个几何直觉仍成立。存在唯一 </a:t>
                </a:r>
                <a14:m>
                  <m:oMath xmlns:m="http://schemas.openxmlformats.org/officeDocument/2006/math">
                    <m:r>
                      <a:rPr lang="ja-JP" altLang="en-US" i="1"/>
                      <m:t>𝑦</m:t>
                    </m:r>
                    <m:r>
                      <a:rPr lang="ja-JP" altLang="en-US"/>
                      <m:t>∈</m:t>
                    </m:r>
                    <m:r>
                      <a:rPr lang="ja-JP" altLang="en-US" i="1"/>
                      <m:t>𝐻</m:t>
                    </m:r>
                  </m:oMath>
                </a14:m>
                <a:r>
                  <a:rPr lang="ja-JP" altLang="ja-JP" dirty="0"/>
                  <a:t>，使得</a:t>
                </a:r>
                <a14:m>
                  <m:oMath xmlns:m="http://schemas.openxmlformats.org/officeDocument/2006/math">
                    <m:r>
                      <a:rPr lang="ja-JP" altLang="en-US" i="1"/>
                      <m:t>𝑓</m:t>
                    </m:r>
                    <m:d>
                      <m:dPr>
                        <m:ctrlPr>
                          <a:rPr lang="ja-JP" altLang="en-US" i="1"/>
                        </m:ctrlPr>
                      </m:dPr>
                      <m:e>
                        <m:r>
                          <a:rPr lang="ja-JP" altLang="en-US" i="1"/>
                          <m:t>𝑥</m:t>
                        </m:r>
                      </m:e>
                    </m:d>
                    <m:r>
                      <a:rPr lang="en-US" altLang="ja-JP"/>
                      <m:t>=</m:t>
                    </m:r>
                    <m:sSub>
                      <m:sSubPr>
                        <m:ctrlPr>
                          <a:rPr lang="ja-JP" altLang="en-US" i="1"/>
                        </m:ctrlPr>
                      </m:sSubPr>
                      <m:e>
                        <m:d>
                          <m:dPr>
                            <m:begChr m:val="⟨"/>
                            <m:endChr m:val="⟩"/>
                            <m:sepChr m:val=","/>
                            <m:ctrlPr>
                              <a:rPr lang="ja-JP" altLang="en-US" i="1"/>
                            </m:ctrlPr>
                          </m:dPr>
                          <m:e>
                            <m:r>
                              <a:rPr lang="ja-JP" altLang="en-US" i="1"/>
                              <m:t>𝑥</m:t>
                            </m:r>
                          </m:e>
                          <m:e>
                            <m:r>
                              <a:rPr lang="ja-JP" altLang="en-US" i="1"/>
                              <m:t>𝑦</m:t>
                            </m:r>
                          </m:e>
                        </m:d>
                      </m:e>
                      <m:sub>
                        <m:r>
                          <a:rPr lang="ja-JP" altLang="en-US" i="1"/>
                          <m:t>𝐻</m:t>
                        </m:r>
                      </m:sub>
                    </m:sSub>
                    <m:r>
                      <a:rPr lang="en-US" altLang="ja-JP"/>
                      <m:t>.</m:t>
                    </m:r>
                  </m:oMath>
                </a14:m>
                <a:endParaRPr lang="en-US" altLang="ja-JP" dirty="0"/>
              </a:p>
              <a:p>
                <a:pPr marL="0" indent="0">
                  <a:buNone/>
                </a:pPr>
                <a:r>
                  <a:rPr lang="ja-JP" altLang="ja-JP" dirty="0"/>
                  <a:t>如果</a:t>
                </a:r>
                <a14:m>
                  <m:oMath xmlns:m="http://schemas.openxmlformats.org/officeDocument/2006/math">
                    <m:r>
                      <a:rPr lang="ja-JP" altLang="en-US" i="1"/>
                      <m:t>𝑥</m:t>
                    </m:r>
                    <m:r>
                      <a:rPr lang="ja-JP" altLang="en-US"/>
                      <m:t>∈</m:t>
                    </m:r>
                    <m:func>
                      <m:funcPr>
                        <m:ctrlPr>
                          <a:rPr lang="ja-JP" altLang="en-US" i="1"/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ja-JP"/>
                          <m:t>ker</m:t>
                        </m:r>
                      </m:fName>
                      <m:e>
                        <m:r>
                          <a:rPr lang="ja-JP" altLang="en-US" i="1"/>
                          <m:t>𝑓</m:t>
                        </m:r>
                      </m:e>
                    </m:func>
                    <m:r>
                      <a:rPr lang="en-US" altLang="ja-JP"/>
                      <m:t>,</m:t>
                    </m:r>
                  </m:oMath>
                </a14:m>
                <a:r>
                  <a:rPr lang="ja-JP" altLang="ja-JP" dirty="0"/>
                  <a:t>那么</a:t>
                </a:r>
                <a14:m>
                  <m:oMath xmlns:m="http://schemas.openxmlformats.org/officeDocument/2006/math">
                    <m:r>
                      <a:rPr lang="ja-JP" altLang="en-US" i="1"/>
                      <m:t>𝑓</m:t>
                    </m:r>
                    <m:d>
                      <m:dPr>
                        <m:ctrlPr>
                          <a:rPr lang="ja-JP" altLang="en-US" i="1"/>
                        </m:ctrlPr>
                      </m:dPr>
                      <m:e>
                        <m:r>
                          <a:rPr lang="ja-JP" altLang="en-US" i="1"/>
                          <m:t>𝑥</m:t>
                        </m:r>
                      </m:e>
                    </m:d>
                    <m:r>
                      <a:rPr lang="en-US" altLang="ja-JP"/>
                      <m:t>=0.</m:t>
                    </m:r>
                  </m:oMath>
                </a14:m>
                <a:r>
                  <a:rPr lang="en-US" altLang="ja-JP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ja-JP" altLang="en-US"/>
                        </m:ctrlPr>
                      </m:sSubPr>
                      <m:e>
                        <m:d>
                          <m:dPr>
                            <m:begChr m:val="⟨"/>
                            <m:endChr m:val="⟩"/>
                            <m:sepChr m:val=","/>
                            <m:ctrlPr>
                              <a:rPr lang="ja-JP" altLang="en-US"/>
                            </m:ctrlPr>
                          </m:dPr>
                          <m:e>
                            <m:r>
                              <a:rPr lang="ja-JP" altLang="en-US" i="1"/>
                              <m:t>𝑥</m:t>
                            </m:r>
                          </m:e>
                          <m:e>
                            <m:r>
                              <a:rPr lang="ja-JP" altLang="en-US" i="1"/>
                              <m:t>𝑦</m:t>
                            </m:r>
                          </m:e>
                        </m:d>
                      </m:e>
                      <m:sub>
                        <m:r>
                          <a:rPr lang="ja-JP" altLang="en-US" i="1"/>
                          <m:t>𝐻</m:t>
                        </m:r>
                      </m:sub>
                    </m:sSub>
                    <m:r>
                      <a:rPr lang="en-US" altLang="ja-JP"/>
                      <m:t>=0.</m:t>
                    </m:r>
                  </m:oMath>
                </a14:m>
                <a:r>
                  <a:rPr lang="ja-JP" altLang="ja-JP" dirty="0"/>
                  <a:t>对所有</a:t>
                </a:r>
                <a14:m>
                  <m:oMath xmlns:m="http://schemas.openxmlformats.org/officeDocument/2006/math">
                    <m:r>
                      <a:rPr lang="ja-JP" altLang="en-US" i="1"/>
                      <m:t>𝑥</m:t>
                    </m:r>
                    <m:r>
                      <a:rPr lang="ja-JP" altLang="en-US"/>
                      <m:t>∈</m:t>
                    </m:r>
                    <m:func>
                      <m:funcPr>
                        <m:ctrlPr>
                          <a:rPr lang="ja-JP" altLang="en-US" i="1"/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ja-JP"/>
                          <m:t>ker</m:t>
                        </m:r>
                      </m:fName>
                      <m:e>
                        <m:r>
                          <a:rPr lang="ja-JP" altLang="en-US" i="1"/>
                          <m:t>𝑓</m:t>
                        </m:r>
                      </m:e>
                    </m:func>
                  </m:oMath>
                </a14:m>
                <a:r>
                  <a:rPr lang="ja-JP" altLang="en-US" dirty="0"/>
                  <a:t> </a:t>
                </a:r>
                <a:r>
                  <a:rPr lang="ja-JP" altLang="ja-JP" dirty="0"/>
                  <a:t>都成立。所以</a:t>
                </a:r>
                <a14:m>
                  <m:oMath xmlns:m="http://schemas.openxmlformats.org/officeDocument/2006/math">
                    <m:r>
                      <a:rPr lang="ja-JP" altLang="en-US" i="1"/>
                      <m:t>𝑦</m:t>
                    </m:r>
                    <m:r>
                      <a:rPr lang="ja-JP" altLang="en-US"/>
                      <m:t>∈</m:t>
                    </m:r>
                    <m:sSup>
                      <m:sSupPr>
                        <m:ctrlPr>
                          <a:rPr lang="ja-JP" altLang="en-US" i="1"/>
                        </m:ctrlPr>
                      </m:sSupPr>
                      <m:e>
                        <m:d>
                          <m:dPr>
                            <m:ctrlPr>
                              <a:rPr lang="ja-JP" altLang="en-US" i="1"/>
                            </m:ctrlPr>
                          </m:dPr>
                          <m:e>
                            <m:func>
                              <m:funcPr>
                                <m:ctrlPr>
                                  <a:rPr lang="ja-JP" altLang="en-US" i="1"/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en-US" altLang="ja-JP"/>
                                  <m:t>ker</m:t>
                                </m:r>
                              </m:fName>
                              <m:e>
                                <m:r>
                                  <a:rPr lang="ja-JP" altLang="en-US" i="1"/>
                                  <m:t>𝑓</m:t>
                                </m:r>
                              </m:e>
                            </m:func>
                          </m:e>
                        </m:d>
                      </m:e>
                      <m:sup>
                        <m:r>
                          <a:rPr lang="ja-JP" altLang="en-US"/>
                          <m:t>⊥</m:t>
                        </m:r>
                      </m:sup>
                    </m:sSup>
                    <m:r>
                      <a:rPr lang="en-US" altLang="ja-JP"/>
                      <m:t>.</m:t>
                    </m:r>
                  </m:oMath>
                </a14:m>
                <a:r>
                  <a:rPr lang="en-US" altLang="ja-JP" dirty="0"/>
                  <a:t> </a:t>
                </a:r>
                <a:r>
                  <a:rPr lang="ja-JP" altLang="ja-JP" dirty="0"/>
                  <a:t>也就是说，代表 </a:t>
                </a:r>
                <a14:m>
                  <m:oMath xmlns:m="http://schemas.openxmlformats.org/officeDocument/2006/math">
                    <m:r>
                      <a:rPr lang="ja-JP" altLang="en-US" i="1"/>
                      <m:t>𝑓</m:t>
                    </m:r>
                  </m:oMath>
                </a14:m>
                <a:r>
                  <a:rPr lang="ja-JP" altLang="ja-JP" dirty="0"/>
                  <a:t>的向量 </a:t>
                </a:r>
                <a14:m>
                  <m:oMath xmlns:m="http://schemas.openxmlformats.org/officeDocument/2006/math">
                    <m:r>
                      <a:rPr lang="ja-JP" altLang="en-US" i="1"/>
                      <m:t>𝑦</m:t>
                    </m:r>
                  </m:oMath>
                </a14:m>
                <a:r>
                  <a:rPr lang="ja-JP" altLang="ja-JP" dirty="0"/>
                  <a:t>必须垂直于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ja-JP" altLang="en-US"/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ja-JP"/>
                          <m:t>ker</m:t>
                        </m:r>
                      </m:fName>
                      <m:e>
                        <m:r>
                          <a:rPr lang="ja-JP" altLang="en-US" i="1"/>
                          <m:t>𝑓</m:t>
                        </m:r>
                      </m:e>
                    </m:func>
                  </m:oMath>
                </a14:m>
                <a:r>
                  <a:rPr lang="ja-JP" altLang="ja-JP" dirty="0"/>
                  <a:t>。</a:t>
                </a:r>
              </a:p>
              <a:p>
                <a:pPr marL="0" indent="0">
                  <a:buNone/>
                </a:pPr>
                <a:endParaRPr lang="ja-JP" altLang="ja-JP" dirty="0"/>
              </a:p>
            </p:txBody>
          </p:sp>
        </mc:Choice>
        <mc:Fallback>
          <p:sp>
            <p:nvSpPr>
              <p:cNvPr id="12" name="コンテンツ プレースホルダー 2">
                <a:extLst>
                  <a:ext uri="{FF2B5EF4-FFF2-40B4-BE49-F238E27FC236}">
                    <a16:creationId xmlns:a16="http://schemas.microsoft.com/office/drawing/2014/main" id="{C3F40723-6799-3827-C986-846C8FC1F3B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09880" y="1183640"/>
                <a:ext cx="11811000" cy="5440680"/>
              </a:xfrm>
              <a:blipFill>
                <a:blip r:embed="rId3"/>
                <a:stretch>
                  <a:fillRect l="-568" t="-896" r="-310" b="-5263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7786532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D60CC7-05BF-6552-F900-52E5243D45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>
            <a:extLst>
              <a:ext uri="{FF2B5EF4-FFF2-40B4-BE49-F238E27FC236}">
                <a16:creationId xmlns:a16="http://schemas.microsoft.com/office/drawing/2014/main" id="{45565C0C-7C02-6A3A-15E1-4BEDBCC61D7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rPr lang="ja-JP" altLang="ja-JP" b="1" dirty="0"/>
              <a:t> Riesz 的三种读法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コンテンツ プレースホルダー 2">
                <a:extLst>
                  <a:ext uri="{FF2B5EF4-FFF2-40B4-BE49-F238E27FC236}">
                    <a16:creationId xmlns:a16="http://schemas.microsoft.com/office/drawing/2014/main" id="{BF040B9F-5BCC-0A34-FFCF-DBC48E62D59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09880" y="1183640"/>
                <a:ext cx="11811000" cy="5440680"/>
              </a:xfrm>
            </p:spPr>
            <p:txBody>
              <a:bodyPr/>
              <a:lstStyle/>
              <a:p>
                <a:pPr marL="457200" indent="-457200">
                  <a:buFont typeface="+mj-lt"/>
                  <a:buAutoNum type="arabicPeriod"/>
                </a:pPr>
                <a:r>
                  <a:rPr lang="ja-JP" altLang="ja-JP" dirty="0"/>
                  <a:t>优化：</a:t>
                </a:r>
                <a14:m>
                  <m:oMath xmlns:m="http://schemas.openxmlformats.org/officeDocument/2006/math">
                    <m:r>
                      <a:rPr lang="ja-JP" altLang="en-US" i="1">
                        <a:latin typeface="Cambria Math" panose="02040503050406030204" pitchFamily="18" charset="0"/>
                      </a:rPr>
                      <m:t>𝐷𝐽</m:t>
                    </m:r>
                    <m:d>
                      <m:dPr>
                        <m:ctrlPr>
                          <a:rPr lang="ja-JP" alt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ja-JP" altLang="en-US" i="1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d>
                    <m:d>
                      <m:dPr>
                        <m:ctrlPr>
                          <a:rPr lang="ja-JP" alt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ja-JP" altLang="en-US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d>
                  </m:oMath>
                </a14:m>
                <a:r>
                  <a:rPr lang="ja-JP" altLang="en-US" dirty="0"/>
                  <a:t> </a:t>
                </a:r>
                <a:r>
                  <a:rPr lang="ja-JP" altLang="ja-JP" dirty="0"/>
                  <a:t>一阶变分是对方向 </a:t>
                </a:r>
                <a14:m>
                  <m:oMath xmlns:m="http://schemas.openxmlformats.org/officeDocument/2006/math">
                    <m:r>
                      <a:rPr lang="ja-JP" altLang="en-US" i="1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ja-JP" altLang="ja-JP" dirty="0"/>
                  <a:t>的线性函数。</a:t>
                </a:r>
                <a:endParaRPr lang="en-US" altLang="ja-JP" dirty="0"/>
              </a:p>
              <a:p>
                <a:pPr marL="457200" indent="-457200">
                  <a:buFont typeface="+mj-lt"/>
                  <a:buAutoNum type="arabicPeriod"/>
                </a:pPr>
                <a:r>
                  <a:rPr lang="ja-JP" altLang="ja-JP" dirty="0"/>
                  <a:t>PDE 弱解：</a:t>
                </a:r>
                <a14:m>
                  <m:oMath xmlns:m="http://schemas.openxmlformats.org/officeDocument/2006/math">
                    <m:nary>
                      <m:naryPr>
                        <m:grow m:val="on"/>
                        <m:supHide m:val="on"/>
                        <m:ctrlPr>
                          <a:rPr lang="ja-JP" altLang="en-US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sty m:val="p"/>
                          </m:rPr>
                          <a:rPr lang="en-US" altLang="ja-JP">
                            <a:latin typeface="Cambria Math" panose="02040503050406030204" pitchFamily="18" charset="0"/>
                          </a:rPr>
                          <m:t>Ω</m:t>
                        </m:r>
                      </m:sub>
                      <m:sup/>
                      <m:e>
                        <m:r>
                          <m:rPr>
                            <m:sty m:val="p"/>
                          </m:rPr>
                          <a:rPr lang="ja-JP" altLang="en-US">
                            <a:latin typeface="Cambria Math" panose="02040503050406030204" pitchFamily="18" charset="0"/>
                          </a:rPr>
                          <m:t>∇</m:t>
                        </m:r>
                      </m:e>
                    </m:nary>
                    <m:r>
                      <a:rPr lang="ja-JP" altLang="en-US" i="1">
                        <a:latin typeface="Cambria Math" panose="02040503050406030204" pitchFamily="18" charset="0"/>
                      </a:rPr>
                      <m:t>𝑢</m:t>
                    </m:r>
                    <m:r>
                      <a:rPr lang="ja-JP" altLang="en-US">
                        <a:latin typeface="Cambria Math" panose="02040503050406030204" pitchFamily="18" charset="0"/>
                      </a:rPr>
                      <m:t>⋅</m:t>
                    </m:r>
                    <m:r>
                      <m:rPr>
                        <m:sty m:val="p"/>
                      </m:rPr>
                      <a:rPr lang="ja-JP" altLang="en-US">
                        <a:latin typeface="Cambria Math" panose="02040503050406030204" pitchFamily="18" charset="0"/>
                      </a:rPr>
                      <m:t>∇</m:t>
                    </m:r>
                    <m:r>
                      <a:rPr lang="ja-JP" altLang="en-US" i="1">
                        <a:latin typeface="Cambria Math" panose="02040503050406030204" pitchFamily="18" charset="0"/>
                      </a:rPr>
                      <m:t>𝜑</m:t>
                    </m:r>
                    <m:r>
                      <a:rPr lang="en-US" altLang="ja-JP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grow m:val="on"/>
                        <m:supHide m:val="on"/>
                        <m:ctrlPr>
                          <a:rPr lang="ja-JP" altLang="en-US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sty m:val="p"/>
                          </m:rPr>
                          <a:rPr lang="en-US" altLang="ja-JP">
                            <a:latin typeface="Cambria Math" panose="02040503050406030204" pitchFamily="18" charset="0"/>
                          </a:rPr>
                          <m:t>Ω</m:t>
                        </m:r>
                      </m:sub>
                      <m:sup/>
                      <m:e>
                        <m:r>
                          <a:rPr lang="ja-JP" altLang="en-US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nary>
                    <m:r>
                      <a:rPr lang="ja-JP" altLang="en-US" i="1">
                        <a:latin typeface="Cambria Math" panose="02040503050406030204" pitchFamily="18" charset="0"/>
                      </a:rPr>
                      <m:t>𝜑</m:t>
                    </m:r>
                  </m:oMath>
                </a14:m>
                <a:r>
                  <a:rPr lang="en-US" altLang="ja-JP" dirty="0"/>
                  <a:t>   </a:t>
                </a:r>
                <a:r>
                  <a:rPr lang="ja-JP" altLang="ja-JP" dirty="0"/>
                  <a:t>用测试函数 </a:t>
                </a:r>
                <a14:m>
                  <m:oMath xmlns:m="http://schemas.openxmlformats.org/officeDocument/2006/math">
                    <m:r>
                      <a:rPr lang="ja-JP" altLang="en-US" i="1">
                        <a:latin typeface="Cambria Math" panose="02040503050406030204" pitchFamily="18" charset="0"/>
                      </a:rPr>
                      <m:t>𝜑</m:t>
                    </m:r>
                  </m:oMath>
                </a14:m>
                <a:r>
                  <a:rPr lang="ja-JP" altLang="ja-JP" dirty="0"/>
                  <a:t>检验方程。</a:t>
                </a:r>
                <a:endParaRPr lang="en-US" altLang="ja-JP" dirty="0"/>
              </a:p>
              <a:p>
                <a:pPr marL="457200" indent="-457200">
                  <a:buFont typeface="+mj-lt"/>
                  <a:buAutoNum type="arabicPeriod"/>
                </a:pPr>
                <a:r>
                  <a:rPr lang="ja-JP" altLang="ja-JP" dirty="0"/>
                  <a:t>几何：</a:t>
                </a:r>
                <a14:m>
                  <m:oMath xmlns:m="http://schemas.openxmlformats.org/officeDocument/2006/math">
                    <m:r>
                      <a:rPr lang="ja-JP" altLang="en-US" i="1">
                        <a:latin typeface="Cambria Math" panose="02040503050406030204" pitchFamily="18" charset="0"/>
                      </a:rPr>
                      <m:t>𝑑</m:t>
                    </m:r>
                    <m:sSub>
                      <m:sSubPr>
                        <m:ctrlPr>
                          <a:rPr lang="ja-JP" alt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ja-JP" altLang="en-US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ja-JP" altLang="en-US" i="1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  <m:d>
                      <m:dPr>
                        <m:ctrlPr>
                          <a:rPr lang="ja-JP" alt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ja-JP" altLang="en-US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d>
                    <m:r>
                      <a:rPr lang="en-US" altLang="ja-JP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ja-JP" altLang="ja-JP" dirty="0"/>
                  <a:t>微分是作用在切向量上的线性函数。</a:t>
                </a:r>
                <a:endParaRPr lang="en-US" altLang="ja-JP" dirty="0"/>
              </a:p>
              <a:p>
                <a:pPr marL="0" indent="0">
                  <a:buNone/>
                </a:pPr>
                <a:endParaRPr lang="en-US" altLang="ja-JP" dirty="0"/>
              </a:p>
              <a:p>
                <a:pPr marL="0" indent="0">
                  <a:buNone/>
                </a:pPr>
                <a:endParaRPr lang="en-US" altLang="ja-JP" dirty="0"/>
              </a:p>
              <a:p>
                <a:pPr marL="0" indent="0">
                  <a:buNone/>
                </a:pPr>
                <a:r>
                  <a:rPr lang="ja-JP" altLang="ja-JP" dirty="0"/>
                  <a:t>分析读法：每个连续线性泛函都可由内积表示。 </a:t>
                </a:r>
              </a:p>
              <a:p>
                <a:pPr marL="0" indent="0">
                  <a:buNone/>
                </a:pPr>
                <a:r>
                  <a:rPr lang="ja-JP" altLang="ja-JP" dirty="0"/>
                  <a:t>几何读法：内积把向量变成测量方向。 </a:t>
                </a:r>
              </a:p>
              <a:p>
                <a:pPr marL="0" indent="0">
                  <a:buNone/>
                </a:pPr>
                <a:r>
                  <a:rPr lang="ja-JP" altLang="ja-JP" dirty="0"/>
                  <a:t>优化读法：一阶变分 </a:t>
                </a:r>
                <a14:m>
                  <m:oMath xmlns:m="http://schemas.openxmlformats.org/officeDocument/2006/math">
                    <m:r>
                      <a:rPr lang="ja-JP" altLang="en-US" i="1">
                        <a:latin typeface="Cambria Math" panose="02040503050406030204" pitchFamily="18" charset="0"/>
                      </a:rPr>
                      <m:t>𝐷𝐽</m:t>
                    </m:r>
                    <m:d>
                      <m:dPr>
                        <m:ctrlPr>
                          <a:rPr lang="ja-JP" alt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ja-JP" altLang="en-US" i="1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d>
                    <m:r>
                      <a:rPr lang="ja-JP" altLang="en-US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ja-JP" alt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ja-JP" altLang="en-US" i="1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p>
                        <m:r>
                          <a:rPr lang="ja-JP" altLang="en-US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ja-JP" altLang="ja-JP" dirty="0"/>
                  <a:t>可被唯一梯度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ja-JP" altLang="en-US">
                        <a:latin typeface="Cambria Math" panose="02040503050406030204" pitchFamily="18" charset="0"/>
                      </a:rPr>
                      <m:t>∇</m:t>
                    </m:r>
                    <m:r>
                      <a:rPr lang="ja-JP" altLang="en-US" i="1">
                        <a:latin typeface="Cambria Math" panose="02040503050406030204" pitchFamily="18" charset="0"/>
                      </a:rPr>
                      <m:t>𝐽</m:t>
                    </m:r>
                    <m:d>
                      <m:dPr>
                        <m:ctrlPr>
                          <a:rPr lang="ja-JP" alt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ja-JP" altLang="en-US" i="1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d>
                    <m:r>
                      <a:rPr lang="ja-JP" altLang="en-US">
                        <a:latin typeface="Cambria Math" panose="02040503050406030204" pitchFamily="18" charset="0"/>
                      </a:rPr>
                      <m:t>∈</m:t>
                    </m:r>
                    <m:r>
                      <a:rPr lang="ja-JP" altLang="en-US" i="1">
                        <a:latin typeface="Cambria Math" panose="02040503050406030204" pitchFamily="18" charset="0"/>
                      </a:rPr>
                      <m:t>𝐻</m:t>
                    </m:r>
                  </m:oMath>
                </a14:m>
                <a:r>
                  <a:rPr lang="ja-JP" altLang="ja-JP" dirty="0"/>
                  <a:t>表示： </a:t>
                </a:r>
              </a:p>
              <a:p>
                <a:pPr marL="0" indent="0">
                  <a:buNone/>
                </a:pPr>
                <a:endParaRPr lang="en-US" altLang="ja-JP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ja-JP" altLang="en-US" i="1">
                          <a:latin typeface="Cambria Math" panose="02040503050406030204" pitchFamily="18" charset="0"/>
                        </a:rPr>
                        <m:t>𝐷𝐽</m:t>
                      </m:r>
                      <m:d>
                        <m:dPr>
                          <m:ctrlPr>
                            <a:rPr lang="ja-JP" alt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ja-JP" altLang="en-US" i="1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</m:d>
                      <m:d>
                        <m:dPr>
                          <m:ctrlPr>
                            <a:rPr lang="ja-JP" alt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ja-JP" altLang="en-US" i="1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</m:d>
                      <m:r>
                        <a:rPr lang="en-US" altLang="ja-JP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ja-JP" alt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begChr m:val="⟨"/>
                              <m:endChr m:val="⟩"/>
                              <m:sepChr m:val=","/>
                              <m:ctrlPr>
                                <a:rPr lang="ja-JP" alt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ja-JP" altLang="en-US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ja-JP" altLang="en-US">
                                  <a:latin typeface="Cambria Math" panose="02040503050406030204" pitchFamily="18" charset="0"/>
                                </a:rPr>
                                <m:t>∇</m:t>
                              </m:r>
                              <m:r>
                                <a:rPr lang="ja-JP" altLang="en-US" i="1">
                                  <a:latin typeface="Cambria Math" panose="02040503050406030204" pitchFamily="18" charset="0"/>
                                </a:rPr>
                                <m:t>𝐽</m:t>
                              </m:r>
                              <m:d>
                                <m:dPr>
                                  <m:ctrlPr>
                                    <a:rPr lang="ja-JP" alt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ja-JP" altLang="en-US" i="1"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</m:e>
                              </m:d>
                            </m:e>
                          </m:d>
                        </m:e>
                        <m:sub>
                          <m:r>
                            <a:rPr lang="ja-JP" altLang="en-US" i="1">
                              <a:latin typeface="Cambria Math" panose="02040503050406030204" pitchFamily="18" charset="0"/>
                            </a:rPr>
                            <m:t>𝐻</m:t>
                          </m:r>
                        </m:sub>
                      </m:sSub>
                      <m:r>
                        <a:rPr lang="en-US" altLang="ja-JP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en-US" altLang="ja-JP" dirty="0"/>
              </a:p>
              <a:p>
                <a:pPr marL="0" indent="0">
                  <a:buNone/>
                </a:pPr>
                <a:br>
                  <a:rPr lang="ja-JP" altLang="ja-JP" dirty="0"/>
                </a:br>
                <a:r>
                  <a:rPr lang="ja-JP" altLang="ja-JP" dirty="0"/>
                  <a:t>这是连接优化的关键。梯度并不是凭空出现的，梯度是“通过内积把微分这个对偶元素拉回原空间”得到的。</a:t>
                </a:r>
              </a:p>
            </p:txBody>
          </p:sp>
        </mc:Choice>
        <mc:Fallback>
          <p:sp>
            <p:nvSpPr>
              <p:cNvPr id="12" name="コンテンツ プレースホルダー 2">
                <a:extLst>
                  <a:ext uri="{FF2B5EF4-FFF2-40B4-BE49-F238E27FC236}">
                    <a16:creationId xmlns:a16="http://schemas.microsoft.com/office/drawing/2014/main" id="{BF040B9F-5BCC-0A34-FFCF-DBC48E62D59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09880" y="1183640"/>
                <a:ext cx="11811000" cy="5440680"/>
              </a:xfrm>
              <a:blipFill>
                <a:blip r:embed="rId3"/>
                <a:stretch>
                  <a:fillRect l="-774" t="-4591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2842483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7770DD-5F43-F161-B983-360490E959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>
            <a:extLst>
              <a:ext uri="{FF2B5EF4-FFF2-40B4-BE49-F238E27FC236}">
                <a16:creationId xmlns:a16="http://schemas.microsoft.com/office/drawing/2014/main" id="{B700C6A9-05B5-A2CE-609A-C0799DFABCA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rPr lang="ja-JP" altLang="ja-JP" b="1" dirty="0"/>
              <a:t>变分法：一阶变分本质上是对偶元素</a:t>
            </a:r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4B8089A7-94D5-33DD-25FA-AD74BD23CC5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2367"/>
          <a:stretch>
            <a:fillRect/>
          </a:stretch>
        </p:blipFill>
        <p:spPr>
          <a:xfrm>
            <a:off x="274320" y="1078881"/>
            <a:ext cx="11308080" cy="5657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650367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B1E59E-5FE5-A455-45C8-451ADDC720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>
            <a:extLst>
              <a:ext uri="{FF2B5EF4-FFF2-40B4-BE49-F238E27FC236}">
                <a16:creationId xmlns:a16="http://schemas.microsoft.com/office/drawing/2014/main" id="{991667B7-AEE7-2D02-65A3-EC77D650038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rPr lang="ja-JP" altLang="ja-JP" b="1" dirty="0"/>
              <a:t>例子：最小二乘与正规方程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コンテンツ プレースホルダー 2">
                <a:extLst>
                  <a:ext uri="{FF2B5EF4-FFF2-40B4-BE49-F238E27FC236}">
                    <a16:creationId xmlns:a16="http://schemas.microsoft.com/office/drawing/2014/main" id="{5E53E257-A08E-8A8A-D236-20D7E99F268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09880" y="1183640"/>
                <a:ext cx="11811000" cy="5440680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ja-JP" altLang="ja-JP" dirty="0"/>
                  <a:t>令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ja-JP" altLang="en-US" i="1">
                          <a:latin typeface="Cambria Math" panose="02040503050406030204" pitchFamily="18" charset="0"/>
                        </a:rPr>
                        <m:t>𝐽</m:t>
                      </m:r>
                      <m:d>
                        <m:dPr>
                          <m:ctrlPr>
                            <a:rPr lang="ja-JP" alt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ja-JP" alt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altLang="ja-JP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ja-JP" alt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ja-JP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ja-JP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ja-JP" altLang="en-US">
                          <a:latin typeface="Cambria Math" panose="02040503050406030204" pitchFamily="18" charset="0"/>
                        </a:rPr>
                        <m:t>∥</m:t>
                      </m:r>
                      <m:r>
                        <a:rPr lang="ja-JP" altLang="en-US" i="1">
                          <a:latin typeface="Cambria Math" panose="02040503050406030204" pitchFamily="18" charset="0"/>
                        </a:rPr>
                        <m:t>𝐴𝑥</m:t>
                      </m:r>
                      <m:r>
                        <a:rPr lang="ja-JP" altLang="en-US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ja-JP" altLang="en-US" i="1">
                          <a:latin typeface="Cambria Math" panose="02040503050406030204" pitchFamily="18" charset="0"/>
                        </a:rPr>
                        <m:t>𝑏</m:t>
                      </m:r>
                      <m:sSup>
                        <m:sSupPr>
                          <m:ctrlPr>
                            <a:rPr lang="ja-JP" alt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ja-JP" altLang="en-US">
                              <a:latin typeface="Cambria Math" panose="02040503050406030204" pitchFamily="18" charset="0"/>
                            </a:rPr>
                            <m:t>∥</m:t>
                          </m:r>
                        </m:e>
                        <m:sup>
                          <m:r>
                            <a:rPr lang="en-US" altLang="ja-JP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ja-JP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en-US" altLang="ja-JP" dirty="0"/>
              </a:p>
              <a:p>
                <a:pPr marL="0" indent="0">
                  <a:buNone/>
                </a:pPr>
                <a:r>
                  <a:rPr lang="ja-JP" altLang="ja-JP" dirty="0"/>
                  <a:t>则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ja-JP" altLang="en-US" i="1">
                          <a:latin typeface="Cambria Math" panose="02040503050406030204" pitchFamily="18" charset="0"/>
                        </a:rPr>
                        <m:t>𝐷𝐽</m:t>
                      </m:r>
                      <m:d>
                        <m:dPr>
                          <m:ctrlPr>
                            <a:rPr lang="ja-JP" alt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ja-JP" alt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d>
                        <m:dPr>
                          <m:ctrlPr>
                            <a:rPr lang="ja-JP" alt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</m:d>
                      <m:r>
                        <a:rPr lang="en-US" altLang="ja-JP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⟨"/>
                          <m:endChr m:val="⟩"/>
                          <m:sepChr m:val=","/>
                          <m:ctrlPr>
                            <a:rPr lang="ja-JP" alt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ja-JP" altLang="en-US" i="1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ja-JP" alt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ja-JP" altLang="en-US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ja-JP" altLang="en-US" i="1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e>
                          <m:r>
                            <a:rPr lang="ja-JP" altLang="en-US" i="1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</m:d>
                      <m:r>
                        <a:rPr lang="en-US" altLang="ja-JP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en-US" altLang="ja-JP" dirty="0"/>
              </a:p>
              <a:p>
                <a:pPr marL="0" indent="0">
                  <a:buNone/>
                </a:pPr>
                <a:r>
                  <a:rPr lang="ja-JP" altLang="ja-JP" dirty="0"/>
                  <a:t>把 </a:t>
                </a:r>
                <a14:m>
                  <m:oMath xmlns:m="http://schemas.openxmlformats.org/officeDocument/2006/math">
                    <m:r>
                      <a:rPr lang="ja-JP" altLang="en-US" i="1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ja-JP" altLang="ja-JP" dirty="0"/>
                  <a:t>移到另一边：</a:t>
                </a:r>
                <a:endParaRPr lang="en-US" altLang="ja-JP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ja-JP" altLang="en-US" i="1">
                          <a:latin typeface="Cambria Math" panose="02040503050406030204" pitchFamily="18" charset="0"/>
                        </a:rPr>
                        <m:t>𝐷𝐽</m:t>
                      </m:r>
                      <m:d>
                        <m:dPr>
                          <m:ctrlPr>
                            <a:rPr lang="ja-JP" alt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ja-JP" alt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d>
                        <m:dPr>
                          <m:ctrlPr>
                            <a:rPr lang="ja-JP" alt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</m:d>
                      <m:r>
                        <a:rPr lang="en-US" altLang="ja-JP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⟨"/>
                          <m:endChr m:val="⟩"/>
                          <m:sepChr m:val=","/>
                          <m:ctrlPr>
                            <a:rPr lang="ja-JP" alt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ja-JP" alt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ja-JP" altLang="en-US" i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p>
                              <m:r>
                                <a:rPr lang="ja-JP" altLang="en-US"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  <m:d>
                            <m:dPr>
                              <m:ctrlPr>
                                <a:rPr lang="ja-JP" alt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ja-JP" altLang="en-US" i="1">
                                  <a:latin typeface="Cambria Math" panose="02040503050406030204" pitchFamily="18" charset="0"/>
                                </a:rPr>
                                <m:t>𝐴𝑥</m:t>
                              </m:r>
                              <m:r>
                                <a:rPr lang="ja-JP" altLang="en-US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ja-JP" altLang="en-US" i="1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</m:d>
                        </m:e>
                        <m:e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</m:d>
                      <m:r>
                        <a:rPr lang="en-US" altLang="ja-JP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en-US" altLang="ja-JP" dirty="0"/>
              </a:p>
              <a:p>
                <a:pPr marL="0" indent="0">
                  <a:buNone/>
                </a:pPr>
                <a:r>
                  <a:rPr lang="ja-JP" altLang="ja-JP" dirty="0"/>
                  <a:t>所以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ja-JP" altLang="en-US">
                          <a:latin typeface="Cambria Math" panose="02040503050406030204" pitchFamily="18" charset="0"/>
                        </a:rPr>
                        <m:t>∇</m:t>
                      </m:r>
                      <m:r>
                        <a:rPr lang="ja-JP" altLang="en-US" i="1">
                          <a:latin typeface="Cambria Math" panose="02040503050406030204" pitchFamily="18" charset="0"/>
                        </a:rPr>
                        <m:t>𝐽</m:t>
                      </m:r>
                      <m:d>
                        <m:dPr>
                          <m:ctrlPr>
                            <a:rPr lang="ja-JP" alt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ja-JP" alt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altLang="ja-JP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ja-JP" alt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ja-JP" altLang="en-US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p>
                          <m:r>
                            <a:rPr lang="ja-JP" altLang="en-US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d>
                        <m:dPr>
                          <m:ctrlPr>
                            <a:rPr lang="ja-JP" alt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ja-JP" altLang="en-US" i="1">
                              <a:latin typeface="Cambria Math" panose="02040503050406030204" pitchFamily="18" charset="0"/>
                            </a:rPr>
                            <m:t>𝐴𝑥</m:t>
                          </m:r>
                          <m:r>
                            <a:rPr lang="ja-JP" altLang="en-US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ja-JP" altLang="en-US" i="1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</m:d>
                      <m:r>
                        <a:rPr lang="en-US" altLang="ja-JP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en-US" altLang="ja-JP" dirty="0"/>
              </a:p>
              <a:p>
                <a:pPr marL="0" indent="0">
                  <a:buNone/>
                </a:pPr>
                <a:r>
                  <a:rPr lang="ja-JP" altLang="ja-JP" dirty="0"/>
                  <a:t>临界点满足：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ja-JP" alt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ja-JP" altLang="en-US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p>
                          <m:r>
                            <a:rPr lang="ja-JP" altLang="en-US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d>
                        <m:dPr>
                          <m:ctrlPr>
                            <a:rPr lang="ja-JP" alt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ja-JP" altLang="en-US" i="1">
                              <a:latin typeface="Cambria Math" panose="02040503050406030204" pitchFamily="18" charset="0"/>
                            </a:rPr>
                            <m:t>𝐴𝑥</m:t>
                          </m:r>
                          <m:r>
                            <a:rPr lang="ja-JP" altLang="en-US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ja-JP" altLang="en-US" i="1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</m:d>
                      <m:r>
                        <a:rPr lang="en-US" altLang="ja-JP">
                          <a:latin typeface="Cambria Math" panose="02040503050406030204" pitchFamily="18" charset="0"/>
                        </a:rPr>
                        <m:t>=0.</m:t>
                      </m:r>
                    </m:oMath>
                  </m:oMathPara>
                </a14:m>
                <a:endParaRPr lang="en-US" altLang="ja-JP" dirty="0"/>
              </a:p>
              <a:p>
                <a:pPr marL="0" indent="0">
                  <a:buNone/>
                </a:pPr>
                <a:r>
                  <a:rPr lang="ja-JP" altLang="ja-JP" dirty="0"/>
                  <a:t>自然引出伴随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ja-JP" alt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ja-JP" altLang="en-US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ja-JP" altLang="en-US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ja-JP" altLang="ja-JP" dirty="0"/>
                  <a:t>。</a:t>
                </a:r>
                <a:endParaRPr lang="en-US" altLang="ja-JP" dirty="0"/>
              </a:p>
              <a:p>
                <a:pPr marL="0" indent="0">
                  <a:buNone/>
                </a:pPr>
                <a:r>
                  <a:rPr lang="ja-JP" altLang="ja-JP" dirty="0"/>
                  <a:t>伴随不是抽象定义，而是在变分计算中“把扰动 </a:t>
                </a:r>
                <a14:m>
                  <m:oMath xmlns:m="http://schemas.openxmlformats.org/officeDocument/2006/math">
                    <m:r>
                      <a:rPr lang="en-US" altLang="ja-JP" i="1">
                        <a:latin typeface="Cambria Math" panose="02040503050406030204" pitchFamily="18" charset="0"/>
                      </a:rPr>
                      <m:t>h</m:t>
                    </m:r>
                  </m:oMath>
                </a14:m>
                <a:r>
                  <a:rPr lang="ja-JP" altLang="ja-JP" dirty="0"/>
                  <a:t>”从 </a:t>
                </a:r>
                <a14:m>
                  <m:oMath xmlns:m="http://schemas.openxmlformats.org/officeDocument/2006/math">
                    <m:r>
                      <a:rPr lang="ja-JP" altLang="en-US" i="1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altLang="ja-JP" i="1">
                        <a:latin typeface="Cambria Math" panose="02040503050406030204" pitchFamily="18" charset="0"/>
                      </a:rPr>
                      <m:t>h</m:t>
                    </m:r>
                  </m:oMath>
                </a14:m>
                <a:r>
                  <a:rPr lang="ja-JP" altLang="ja-JP" dirty="0"/>
                  <a:t>里移出来的工具。</a:t>
                </a:r>
              </a:p>
            </p:txBody>
          </p:sp>
        </mc:Choice>
        <mc:Fallback>
          <p:sp>
            <p:nvSpPr>
              <p:cNvPr id="12" name="コンテンツ プレースホルダー 2">
                <a:extLst>
                  <a:ext uri="{FF2B5EF4-FFF2-40B4-BE49-F238E27FC236}">
                    <a16:creationId xmlns:a16="http://schemas.microsoft.com/office/drawing/2014/main" id="{5E53E257-A08E-8A8A-D236-20D7E99F268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09880" y="1183640"/>
                <a:ext cx="11811000" cy="5440680"/>
              </a:xfrm>
              <a:blipFill>
                <a:blip r:embed="rId3"/>
                <a:stretch>
                  <a:fillRect l="-568" t="-896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3110294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673AE3-EFD2-C81A-4AAB-C1088C66D1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>
            <a:extLst>
              <a:ext uri="{FF2B5EF4-FFF2-40B4-BE49-F238E27FC236}">
                <a16:creationId xmlns:a16="http://schemas.microsoft.com/office/drawing/2014/main" id="{975DDEB8-A27C-0E93-9D3E-FE79AEA6F97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rPr lang="ja-JP" altLang="ja-JP" b="1" dirty="0"/>
              <a:t>PDE 弱解：从微分方程到泛函方程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コンテンツ プレースホルダー 2">
                <a:extLst>
                  <a:ext uri="{FF2B5EF4-FFF2-40B4-BE49-F238E27FC236}">
                    <a16:creationId xmlns:a16="http://schemas.microsoft.com/office/drawing/2014/main" id="{43120FD1-CD8C-91AB-ABBD-848B872AA75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09880" y="1183640"/>
                <a:ext cx="11811000" cy="5440680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ja-JP" altLang="ja-JP" dirty="0"/>
                  <a:t>考虑一维 Poisson 方程：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ja-JP" altLang="en-US"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ja-JP" alt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ja-JP" altLang="en-US" i="1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p>
                          <m:r>
                            <a:rPr lang="en-US" altLang="ja-JP">
                              <a:latin typeface="Cambria Math" panose="02040503050406030204" pitchFamily="18" charset="0"/>
                            </a:rPr>
                            <m:t>′′</m:t>
                          </m:r>
                        </m:sup>
                      </m:sSup>
                      <m:r>
                        <a:rPr lang="en-US" altLang="ja-JP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ja-JP" altLang="en-US" i="1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altLang="ja-JP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ja-JP" altLang="en-US" i="1">
                          <a:latin typeface="Cambria Math" panose="02040503050406030204" pitchFamily="18" charset="0"/>
                        </a:rPr>
                        <m:t>𝑢</m:t>
                      </m:r>
                      <m:d>
                        <m:dPr>
                          <m:ctrlPr>
                            <a:rPr lang="ja-JP" alt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ja-JP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  <m:r>
                        <a:rPr lang="en-US" altLang="ja-JP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ja-JP" altLang="en-US" i="1">
                          <a:latin typeface="Cambria Math" panose="02040503050406030204" pitchFamily="18" charset="0"/>
                        </a:rPr>
                        <m:t>𝑢</m:t>
                      </m:r>
                      <m:d>
                        <m:dPr>
                          <m:ctrlPr>
                            <a:rPr lang="ja-JP" alt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ja-JP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a:rPr lang="en-US" altLang="ja-JP">
                          <a:latin typeface="Cambria Math" panose="02040503050406030204" pitchFamily="18" charset="0"/>
                        </a:rPr>
                        <m:t>=0.</m:t>
                      </m:r>
                    </m:oMath>
                  </m:oMathPara>
                </a14:m>
                <a:endParaRPr lang="en-US" altLang="ja-JP" dirty="0"/>
              </a:p>
              <a:p>
                <a:pPr marL="0" indent="0">
                  <a:buNone/>
                </a:pPr>
                <a:r>
                  <a:rPr lang="ja-JP" altLang="ja-JP" dirty="0"/>
                  <a:t>乘测试函数 </a:t>
                </a:r>
                <a14:m>
                  <m:oMath xmlns:m="http://schemas.openxmlformats.org/officeDocument/2006/math">
                    <m:r>
                      <a:rPr lang="ja-JP" altLang="en-US" i="1">
                        <a:latin typeface="Cambria Math" panose="02040503050406030204" pitchFamily="18" charset="0"/>
                      </a:rPr>
                      <m:t>𝑣</m:t>
                    </m:r>
                    <m:r>
                      <a:rPr lang="ja-JP" altLang="en-US">
                        <a:latin typeface="Cambria Math" panose="02040503050406030204" pitchFamily="18" charset="0"/>
                      </a:rPr>
                      <m:t>∈</m:t>
                    </m:r>
                    <m:sSubSup>
                      <m:sSubSupPr>
                        <m:ctrlPr>
                          <a:rPr lang="ja-JP" alt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ja-JP" altLang="en-US" i="1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altLang="ja-JP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US" altLang="ja-JP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bSup>
                    <m:d>
                      <m:dPr>
                        <m:sepChr m:val=","/>
                        <m:ctrlPr>
                          <a:rPr lang="ja-JP" alt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>
                            <a:latin typeface="Cambria Math" panose="02040503050406030204" pitchFamily="18" charset="0"/>
                          </a:rPr>
                          <m:t>0</m:t>
                        </m:r>
                      </m:e>
                      <m:e>
                        <m:r>
                          <a:rPr lang="en-US" altLang="ja-JP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r>
                  <a:rPr lang="ja-JP" altLang="ja-JP" dirty="0"/>
                  <a:t>，积分：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grow m:val="on"/>
                          <m:ctrlPr>
                            <a:rPr lang="ja-JP" alt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ja-JP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altLang="ja-JP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  <m:e>
                          <m:r>
                            <a:rPr lang="ja-JP" altLang="en-US">
                              <a:latin typeface="Cambria Math" panose="02040503050406030204" pitchFamily="18" charset="0"/>
                            </a:rPr>
                            <m:t>−</m:t>
                          </m:r>
                        </m:e>
                      </m:nary>
                      <m:sSup>
                        <m:sSupPr>
                          <m:ctrlPr>
                            <a:rPr lang="ja-JP" alt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ja-JP" altLang="en-US" i="1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p>
                          <m:r>
                            <a:rPr lang="en-US" altLang="ja-JP">
                              <a:latin typeface="Cambria Math" panose="02040503050406030204" pitchFamily="18" charset="0"/>
                            </a:rPr>
                            <m:t>′′</m:t>
                          </m:r>
                        </m:sup>
                      </m:sSup>
                      <m:r>
                        <a:rPr lang="ja-JP" altLang="en-US" i="1">
                          <a:latin typeface="Cambria Math" panose="02040503050406030204" pitchFamily="18" charset="0"/>
                        </a:rPr>
                        <m:t>𝑣</m:t>
                      </m:r>
                      <m:r>
                        <m:rPr>
                          <m:nor/>
                        </m:rPr>
                        <a:rPr lang="ja-JP" altLang="en-US" i="1"/>
                        <m:t> </m:t>
                      </m:r>
                      <m:r>
                        <a:rPr lang="ja-JP" altLang="en-US" i="1">
                          <a:latin typeface="Cambria Math" panose="02040503050406030204" pitchFamily="18" charset="0"/>
                        </a:rPr>
                        <m:t>𝑑𝑥</m:t>
                      </m:r>
                      <m:r>
                        <a:rPr lang="en-US" altLang="ja-JP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grow m:val="on"/>
                          <m:ctrlPr>
                            <a:rPr lang="ja-JP" alt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ja-JP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altLang="ja-JP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  <m:e>
                          <m:r>
                            <a:rPr lang="ja-JP" altLang="en-US" i="1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</m:nary>
                      <m:r>
                        <a:rPr lang="ja-JP" altLang="en-US" i="1">
                          <a:latin typeface="Cambria Math" panose="02040503050406030204" pitchFamily="18" charset="0"/>
                        </a:rPr>
                        <m:t>𝑣</m:t>
                      </m:r>
                      <m:r>
                        <m:rPr>
                          <m:nor/>
                        </m:rPr>
                        <a:rPr lang="ja-JP" altLang="en-US" i="1"/>
                        <m:t> </m:t>
                      </m:r>
                      <m:r>
                        <a:rPr lang="ja-JP" altLang="en-US" i="1">
                          <a:latin typeface="Cambria Math" panose="02040503050406030204" pitchFamily="18" charset="0"/>
                        </a:rPr>
                        <m:t>𝑑𝑥</m:t>
                      </m:r>
                      <m:r>
                        <a:rPr lang="en-US" altLang="ja-JP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en-US" altLang="ja-JP" b="0" dirty="0"/>
              </a:p>
              <a:p>
                <a:pPr marL="0" indent="0">
                  <a:buNone/>
                </a:pPr>
                <a:r>
                  <a:rPr lang="ja-JP" altLang="ja-JP" dirty="0"/>
                  <a:t>分部积分</a:t>
                </a:r>
                <a:r>
                  <a:rPr lang="zh-CN" altLang="en-US" dirty="0"/>
                  <a:t>（由于边界条件</a:t>
                </a:r>
                <a:r>
                  <a:rPr lang="en-US" altLang="zh-CN" dirty="0"/>
                  <a:t>=0</a:t>
                </a:r>
                <a:r>
                  <a:rPr lang="zh-CN" altLang="en-US" dirty="0"/>
                  <a:t>）</a:t>
                </a:r>
                <a:r>
                  <a:rPr lang="ja-JP" altLang="ja-JP" dirty="0"/>
                  <a:t>：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grow m:val="on"/>
                          <m:ctrlPr>
                            <a:rPr lang="ja-JP" alt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ja-JP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altLang="ja-JP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  <m:e>
                          <m:sSup>
                            <m:sSupPr>
                              <m:ctrlPr>
                                <a:rPr lang="ja-JP" alt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ja-JP" altLang="en-US" i="1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p>
                              <m:r>
                                <a:rPr lang="en-US" altLang="ja-JP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</m:e>
                      </m:nary>
                      <m:sSup>
                        <m:sSupPr>
                          <m:ctrlPr>
                            <a:rPr lang="ja-JP" alt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ja-JP" altLang="en-US" i="1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p>
                          <m:r>
                            <a:rPr lang="en-US" altLang="ja-JP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m:rPr>
                          <m:nor/>
                        </m:rPr>
                        <a:rPr lang="ja-JP" altLang="en-US" i="1"/>
                        <m:t> </m:t>
                      </m:r>
                      <m:r>
                        <a:rPr lang="ja-JP" altLang="en-US" i="1">
                          <a:latin typeface="Cambria Math" panose="02040503050406030204" pitchFamily="18" charset="0"/>
                        </a:rPr>
                        <m:t>𝑑𝑥</m:t>
                      </m:r>
                      <m:r>
                        <a:rPr lang="en-US" altLang="ja-JP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grow m:val="on"/>
                          <m:ctrlPr>
                            <a:rPr lang="ja-JP" alt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ja-JP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altLang="ja-JP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  <m:e>
                          <m:r>
                            <a:rPr lang="ja-JP" altLang="en-US" i="1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</m:nary>
                      <m:r>
                        <a:rPr lang="ja-JP" altLang="en-US" i="1">
                          <a:latin typeface="Cambria Math" panose="02040503050406030204" pitchFamily="18" charset="0"/>
                        </a:rPr>
                        <m:t>𝑣</m:t>
                      </m:r>
                      <m:r>
                        <m:rPr>
                          <m:nor/>
                        </m:rPr>
                        <a:rPr lang="ja-JP" altLang="en-US" i="1"/>
                        <m:t> </m:t>
                      </m:r>
                      <m:r>
                        <a:rPr lang="ja-JP" altLang="en-US" i="1">
                          <a:latin typeface="Cambria Math" panose="02040503050406030204" pitchFamily="18" charset="0"/>
                        </a:rPr>
                        <m:t>𝑑𝑥</m:t>
                      </m:r>
                      <m:r>
                        <a:rPr lang="en-US" altLang="ja-JP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en-US" altLang="ja-JP" b="0" dirty="0"/>
              </a:p>
              <a:p>
                <a:pPr marL="0" indent="0">
                  <a:buNone/>
                </a:pPr>
                <a:r>
                  <a:rPr lang="ja-JP" altLang="ja-JP" dirty="0"/>
                  <a:t>弱形式：求 </a:t>
                </a:r>
                <a14:m>
                  <m:oMath xmlns:m="http://schemas.openxmlformats.org/officeDocument/2006/math">
                    <m:r>
                      <a:rPr lang="ja-JP" altLang="en-US" i="1">
                        <a:latin typeface="Cambria Math" panose="02040503050406030204" pitchFamily="18" charset="0"/>
                      </a:rPr>
                      <m:t>𝑢</m:t>
                    </m:r>
                    <m:r>
                      <a:rPr lang="ja-JP" altLang="en-US">
                        <a:latin typeface="Cambria Math" panose="02040503050406030204" pitchFamily="18" charset="0"/>
                      </a:rPr>
                      <m:t>∈</m:t>
                    </m:r>
                    <m:sSubSup>
                      <m:sSubSupPr>
                        <m:ctrlPr>
                          <a:rPr lang="ja-JP" alt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ja-JP" altLang="en-US" i="1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altLang="ja-JP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US" altLang="ja-JP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bSup>
                    <m:d>
                      <m:dPr>
                        <m:sepChr m:val=","/>
                        <m:ctrlPr>
                          <a:rPr lang="ja-JP" alt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>
                            <a:latin typeface="Cambria Math" panose="02040503050406030204" pitchFamily="18" charset="0"/>
                          </a:rPr>
                          <m:t>0</m:t>
                        </m:r>
                      </m:e>
                      <m:e>
                        <m:r>
                          <a:rPr lang="en-US" altLang="ja-JP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r>
                  <a:rPr lang="ja-JP" altLang="ja-JP" dirty="0"/>
                  <a:t>，使得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ja-JP" altLang="en-US" i="1">
                          <a:latin typeface="Cambria Math" panose="02040503050406030204" pitchFamily="18" charset="0"/>
                        </a:rPr>
                        <m:t>𝑎</m:t>
                      </m:r>
                      <m:d>
                        <m:dPr>
                          <m:sepChr m:val=","/>
                          <m:ctrlPr>
                            <a:rPr lang="ja-JP" alt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ja-JP" altLang="en-US" i="1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e>
                          <m:r>
                            <a:rPr lang="ja-JP" altLang="en-US" i="1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</m:d>
                      <m:r>
                        <a:rPr lang="en-US" altLang="ja-JP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ja-JP" altLang="en-US" i="1">
                          <a:latin typeface="Cambria Math" panose="02040503050406030204" pitchFamily="18" charset="0"/>
                        </a:rPr>
                        <m:t>𝐹</m:t>
                      </m:r>
                      <m:d>
                        <m:dPr>
                          <m:ctrlPr>
                            <a:rPr lang="ja-JP" alt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ja-JP" altLang="en-US" i="1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</m:d>
                      <m:r>
                        <a:rPr lang="en-US" altLang="ja-JP">
                          <a:latin typeface="Cambria Math" panose="02040503050406030204" pitchFamily="18" charset="0"/>
                        </a:rPr>
                        <m:t>, ∀</m:t>
                      </m:r>
                      <m:r>
                        <a:rPr lang="ja-JP" altLang="en-US" i="1"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ja-JP" altLang="en-US">
                          <a:latin typeface="Cambria Math" panose="02040503050406030204" pitchFamily="18" charset="0"/>
                        </a:rPr>
                        <m:t>∈</m:t>
                      </m:r>
                      <m:sSubSup>
                        <m:sSubSupPr>
                          <m:ctrlPr>
                            <a:rPr lang="ja-JP" altLang="en-US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ja-JP" altLang="en-US" i="1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US" altLang="ja-JP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altLang="ja-JP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bSup>
                      <m:d>
                        <m:dPr>
                          <m:sepChr m:val=","/>
                          <m:ctrlPr>
                            <a:rPr lang="ja-JP" alt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ja-JP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  <m:e>
                          <m:r>
                            <a:rPr lang="en-US" altLang="ja-JP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a:rPr lang="en-US" altLang="ja-JP"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en-US" altLang="ja-JP" dirty="0"/>
              </a:p>
              <a:p>
                <a:pPr marL="0" indent="0">
                  <a:buNone/>
                </a:pPr>
                <a:r>
                  <a:rPr lang="ja-JP" altLang="ja-JP" dirty="0"/>
                  <a:t>其中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ja-JP" altLang="en-US" i="1">
                          <a:latin typeface="Cambria Math" panose="02040503050406030204" pitchFamily="18" charset="0"/>
                        </a:rPr>
                        <m:t>𝑎</m:t>
                      </m:r>
                      <m:d>
                        <m:dPr>
                          <m:sepChr m:val=","/>
                          <m:ctrlPr>
                            <a:rPr lang="ja-JP" alt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ja-JP" altLang="en-US" i="1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e>
                          <m:r>
                            <a:rPr lang="ja-JP" altLang="en-US" i="1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</m:d>
                      <m:r>
                        <a:rPr lang="en-US" altLang="ja-JP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grow m:val="on"/>
                          <m:ctrlPr>
                            <a:rPr lang="ja-JP" alt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ja-JP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altLang="ja-JP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  <m:e>
                          <m:sSup>
                            <m:sSupPr>
                              <m:ctrlPr>
                                <a:rPr lang="ja-JP" alt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ja-JP" altLang="en-US" i="1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p>
                              <m:r>
                                <a:rPr lang="en-US" altLang="ja-JP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</m:e>
                      </m:nary>
                      <m:sSup>
                        <m:sSupPr>
                          <m:ctrlPr>
                            <a:rPr lang="ja-JP" alt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ja-JP" altLang="en-US" i="1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p>
                          <m:r>
                            <a:rPr lang="en-US" altLang="ja-JP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m:rPr>
                          <m:nor/>
                        </m:rPr>
                        <a:rPr lang="ja-JP" altLang="en-US" i="1"/>
                        <m:t> </m:t>
                      </m:r>
                      <m:r>
                        <a:rPr lang="ja-JP" altLang="en-US" i="1">
                          <a:latin typeface="Cambria Math" panose="02040503050406030204" pitchFamily="18" charset="0"/>
                        </a:rPr>
                        <m:t>𝑑𝑥</m:t>
                      </m:r>
                      <m:r>
                        <a:rPr lang="en-US" altLang="ja-JP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ja-JP" altLang="en-US" i="1">
                          <a:latin typeface="Cambria Math" panose="02040503050406030204" pitchFamily="18" charset="0"/>
                        </a:rPr>
                        <m:t>𝐹</m:t>
                      </m:r>
                      <m:d>
                        <m:dPr>
                          <m:ctrlPr>
                            <a:rPr lang="ja-JP" alt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ja-JP" altLang="en-US" i="1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</m:d>
                      <m:r>
                        <a:rPr lang="en-US" altLang="ja-JP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grow m:val="on"/>
                          <m:ctrlPr>
                            <a:rPr lang="ja-JP" alt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ja-JP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altLang="ja-JP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  <m:e>
                          <m:r>
                            <a:rPr lang="ja-JP" altLang="en-US" i="1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</m:nary>
                      <m:r>
                        <a:rPr lang="ja-JP" altLang="en-US" i="1">
                          <a:latin typeface="Cambria Math" panose="02040503050406030204" pitchFamily="18" charset="0"/>
                        </a:rPr>
                        <m:t>𝑣</m:t>
                      </m:r>
                      <m:r>
                        <m:rPr>
                          <m:nor/>
                        </m:rPr>
                        <a:rPr lang="ja-JP" altLang="en-US" i="1"/>
                        <m:t> </m:t>
                      </m:r>
                      <m:r>
                        <a:rPr lang="ja-JP" altLang="en-US" i="1">
                          <a:latin typeface="Cambria Math" panose="02040503050406030204" pitchFamily="18" charset="0"/>
                        </a:rPr>
                        <m:t>𝑑𝑥</m:t>
                      </m:r>
                      <m:r>
                        <a:rPr lang="en-US" altLang="ja-JP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en-US" altLang="ja-JP" b="0" dirty="0"/>
              </a:p>
              <a:p>
                <a:pPr marL="0" indent="0">
                  <a:buNone/>
                </a:pPr>
                <a:r>
                  <a:rPr lang="ja-JP" altLang="ja-JP" dirty="0"/>
                  <a:t>右边 </a:t>
                </a:r>
                <a14:m>
                  <m:oMath xmlns:m="http://schemas.openxmlformats.org/officeDocument/2006/math">
                    <m:r>
                      <a:rPr lang="ja-JP" altLang="en-US" i="1"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lang="ja-JP" altLang="ja-JP" dirty="0"/>
                  <a:t>是一个连续线性泛函，左边对固定 </a:t>
                </a:r>
                <a14:m>
                  <m:oMath xmlns:m="http://schemas.openxmlformats.org/officeDocument/2006/math">
                    <m:r>
                      <a:rPr lang="ja-JP" altLang="en-US" i="1"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lang="ja-JP" altLang="ja-JP" dirty="0"/>
                  <a:t>也是关于 </a:t>
                </a:r>
                <a14:m>
                  <m:oMath xmlns:m="http://schemas.openxmlformats.org/officeDocument/2006/math">
                    <m:r>
                      <a:rPr lang="ja-JP" altLang="en-US" i="1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ja-JP" altLang="ja-JP" dirty="0"/>
                  <a:t>的连续线性泛函。</a:t>
                </a:r>
                <a:endParaRPr lang="en-US" altLang="ja-JP" dirty="0"/>
              </a:p>
              <a:p>
                <a:pPr marL="0" indent="0">
                  <a:buNone/>
                </a:pPr>
                <a:r>
                  <a:rPr lang="ja-JP" altLang="ja-JP" dirty="0"/>
                  <a:t>弱解就是“两个泛函对所有测试函数给出相同值”。</a:t>
                </a:r>
              </a:p>
            </p:txBody>
          </p:sp>
        </mc:Choice>
        <mc:Fallback>
          <p:sp>
            <p:nvSpPr>
              <p:cNvPr id="12" name="コンテンツ プレースホルダー 2">
                <a:extLst>
                  <a:ext uri="{FF2B5EF4-FFF2-40B4-BE49-F238E27FC236}">
                    <a16:creationId xmlns:a16="http://schemas.microsoft.com/office/drawing/2014/main" id="{43120FD1-CD8C-91AB-ABBD-848B872AA75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09880" y="1183640"/>
                <a:ext cx="11811000" cy="5440680"/>
              </a:xfrm>
              <a:blipFill>
                <a:blip r:embed="rId3"/>
                <a:stretch>
                  <a:fillRect l="-568" t="-896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0890237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985D86-DD66-E902-2103-40A1634F18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>
            <a:extLst>
              <a:ext uri="{FF2B5EF4-FFF2-40B4-BE49-F238E27FC236}">
                <a16:creationId xmlns:a16="http://schemas.microsoft.com/office/drawing/2014/main" id="{722829A0-1CA9-828C-00F6-A70BDE78445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ja-JP" b="1" dirty="0"/>
              <a:t>Riesz 与 Lax–Milgram 的影子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コンテンツ プレースホルダー 2">
                <a:extLst>
                  <a:ext uri="{FF2B5EF4-FFF2-40B4-BE49-F238E27FC236}">
                    <a16:creationId xmlns:a16="http://schemas.microsoft.com/office/drawing/2014/main" id="{EBD2A7D7-DBF3-C169-F43F-E5FF4F75B97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09880" y="1183640"/>
                <a:ext cx="11811000" cy="5440680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ja-JP" altLang="ja-JP" dirty="0"/>
                  <a:t>若 </a:t>
                </a:r>
                <a14:m>
                  <m:oMath xmlns:m="http://schemas.openxmlformats.org/officeDocument/2006/math">
                    <m:r>
                      <a:rPr lang="ja-JP" altLang="en-US" i="1">
                        <a:latin typeface="Cambria Math" panose="02040503050406030204" pitchFamily="18" charset="0"/>
                      </a:rPr>
                      <m:t>𝐻</m:t>
                    </m:r>
                    <m:r>
                      <a:rPr lang="en-US" altLang="ja-JP">
                        <a:latin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ja-JP" alt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ja-JP" altLang="en-US" i="1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altLang="ja-JP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US" altLang="ja-JP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bSup>
                    <m:d>
                      <m:dPr>
                        <m:sepChr m:val=","/>
                        <m:ctrlPr>
                          <a:rPr lang="ja-JP" alt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>
                            <a:latin typeface="Cambria Math" panose="02040503050406030204" pitchFamily="18" charset="0"/>
                          </a:rPr>
                          <m:t>0</m:t>
                        </m:r>
                      </m:e>
                      <m:e>
                        <m:r>
                          <a:rPr lang="en-US" altLang="ja-JP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r>
                  <a:rPr lang="ja-JP" altLang="ja-JP" dirty="0"/>
                  <a:t>，取内积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ja-JP" alt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begChr m:val="⟨"/>
                              <m:endChr m:val="⟩"/>
                              <m:sepChr m:val=","/>
                              <m:ctrlPr>
                                <a:rPr lang="ja-JP" alt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ja-JP" altLang="en-US" i="1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e>
                              <m:r>
                                <a:rPr lang="ja-JP" altLang="en-US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</m:d>
                        </m:e>
                        <m:sub>
                          <m:r>
                            <a:rPr lang="ja-JP" altLang="en-US" i="1">
                              <a:latin typeface="Cambria Math" panose="02040503050406030204" pitchFamily="18" charset="0"/>
                            </a:rPr>
                            <m:t>𝐻</m:t>
                          </m:r>
                        </m:sub>
                      </m:sSub>
                      <m:r>
                        <a:rPr lang="en-US" altLang="ja-JP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grow m:val="on"/>
                          <m:ctrlPr>
                            <a:rPr lang="ja-JP" alt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ja-JP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altLang="ja-JP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  <m:e>
                          <m:sSup>
                            <m:sSupPr>
                              <m:ctrlPr>
                                <a:rPr lang="ja-JP" alt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ja-JP" altLang="en-US" i="1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p>
                              <m:r>
                                <a:rPr lang="en-US" altLang="ja-JP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</m:e>
                      </m:nary>
                      <m:sSup>
                        <m:sSupPr>
                          <m:ctrlPr>
                            <a:rPr lang="ja-JP" alt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ja-JP" altLang="en-US" i="1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p>
                          <m:r>
                            <a:rPr lang="en-US" altLang="ja-JP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m:rPr>
                          <m:nor/>
                        </m:rPr>
                        <a:rPr lang="ja-JP" altLang="en-US" i="1"/>
                        <m:t> </m:t>
                      </m:r>
                      <m:r>
                        <a:rPr lang="ja-JP" altLang="en-US" i="1">
                          <a:latin typeface="Cambria Math" panose="02040503050406030204" pitchFamily="18" charset="0"/>
                        </a:rPr>
                        <m:t>𝑑𝑥</m:t>
                      </m:r>
                      <m:r>
                        <a:rPr lang="en-US" altLang="ja-JP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en-US" altLang="ja-JP" b="0" dirty="0"/>
              </a:p>
              <a:p>
                <a:pPr marL="0" indent="0">
                  <a:buNone/>
                </a:pPr>
                <a:r>
                  <a:rPr lang="ja-JP" altLang="ja-JP" dirty="0"/>
                  <a:t>则弱形式变为：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ja-JP" alt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⟨"/>
                            <m:endChr m:val="⟩"/>
                            <m:sepChr m:val=","/>
                            <m:ctrlPr>
                              <a:rPr lang="ja-JP" alt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ja-JP" altLang="en-US" i="1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e>
                            <m:r>
                              <a:rPr lang="ja-JP" altLang="en-US" i="1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</m:d>
                      </m:e>
                      <m:sub>
                        <m:r>
                          <a:rPr lang="ja-JP" altLang="en-US" i="1">
                            <a:latin typeface="Cambria Math" panose="02040503050406030204" pitchFamily="18" charset="0"/>
                          </a:rPr>
                          <m:t>𝐻</m:t>
                        </m:r>
                      </m:sub>
                    </m:sSub>
                    <m:r>
                      <a:rPr lang="en-US" altLang="ja-JP">
                        <a:latin typeface="Cambria Math" panose="02040503050406030204" pitchFamily="18" charset="0"/>
                      </a:rPr>
                      <m:t>=</m:t>
                    </m:r>
                    <m:r>
                      <a:rPr lang="ja-JP" altLang="en-US" i="1">
                        <a:latin typeface="Cambria Math" panose="02040503050406030204" pitchFamily="18" charset="0"/>
                      </a:rPr>
                      <m:t>𝐹</m:t>
                    </m:r>
                    <m:d>
                      <m:dPr>
                        <m:ctrlPr>
                          <a:rPr lang="ja-JP" alt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ja-JP" altLang="en-US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d>
                    <m:r>
                      <a:rPr lang="en-US" altLang="ja-JP">
                        <a:latin typeface="Cambria Math" panose="02040503050406030204" pitchFamily="18" charset="0"/>
                      </a:rPr>
                      <m:t>, ∀</m:t>
                    </m:r>
                    <m:r>
                      <a:rPr lang="ja-JP" altLang="en-US" i="1">
                        <a:latin typeface="Cambria Math" panose="02040503050406030204" pitchFamily="18" charset="0"/>
                      </a:rPr>
                      <m:t>𝑣</m:t>
                    </m:r>
                    <m:r>
                      <a:rPr lang="ja-JP" altLang="en-US">
                        <a:latin typeface="Cambria Math" panose="02040503050406030204" pitchFamily="18" charset="0"/>
                      </a:rPr>
                      <m:t>∈</m:t>
                    </m:r>
                    <m:r>
                      <a:rPr lang="ja-JP" altLang="en-US" i="1">
                        <a:latin typeface="Cambria Math" panose="02040503050406030204" pitchFamily="18" charset="0"/>
                      </a:rPr>
                      <m:t>𝐻</m:t>
                    </m:r>
                    <m:r>
                      <a:rPr lang="en-US" altLang="ja-JP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altLang="ja-JP" dirty="0"/>
              </a:p>
              <a:p>
                <a:pPr marL="0" indent="0">
                  <a:buNone/>
                </a:pPr>
                <a:r>
                  <a:rPr lang="ja-JP" altLang="ja-JP" dirty="0"/>
                  <a:t>由 Riesz 定理，存在唯一 </a:t>
                </a:r>
                <a14:m>
                  <m:oMath xmlns:m="http://schemas.openxmlformats.org/officeDocument/2006/math">
                    <m:r>
                      <a:rPr lang="ja-JP" altLang="en-US" i="1">
                        <a:latin typeface="Cambria Math" panose="02040503050406030204" pitchFamily="18" charset="0"/>
                      </a:rPr>
                      <m:t>𝑢</m:t>
                    </m:r>
                    <m:r>
                      <a:rPr lang="ja-JP" altLang="en-US">
                        <a:latin typeface="Cambria Math" panose="02040503050406030204" pitchFamily="18" charset="0"/>
                      </a:rPr>
                      <m:t>∈</m:t>
                    </m:r>
                    <m:r>
                      <a:rPr lang="ja-JP" altLang="en-US" i="1">
                        <a:latin typeface="Cambria Math" panose="02040503050406030204" pitchFamily="18" charset="0"/>
                      </a:rPr>
                      <m:t>𝐻</m:t>
                    </m:r>
                  </m:oMath>
                </a14:m>
                <a:r>
                  <a:rPr lang="ja-JP" altLang="ja-JP" dirty="0"/>
                  <a:t>，使得</a:t>
                </a:r>
                <a14:m>
                  <m:oMath xmlns:m="http://schemas.openxmlformats.org/officeDocument/2006/math">
                    <m:r>
                      <a:rPr lang="ja-JP" altLang="en-US" i="1">
                        <a:latin typeface="Cambria Math" panose="02040503050406030204" pitchFamily="18" charset="0"/>
                      </a:rPr>
                      <m:t>𝐹</m:t>
                    </m:r>
                    <m:d>
                      <m:dPr>
                        <m:ctrlPr>
                          <a:rPr lang="ja-JP" alt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ja-JP" altLang="en-US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d>
                    <m:r>
                      <a:rPr lang="en-US" altLang="ja-JP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ja-JP" alt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⟨"/>
                            <m:endChr m:val="⟩"/>
                            <m:sepChr m:val=","/>
                            <m:ctrlPr>
                              <a:rPr lang="ja-JP" alt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ja-JP" altLang="en-US" i="1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e>
                            <m:r>
                              <a:rPr lang="ja-JP" altLang="en-US" i="1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</m:d>
                      </m:e>
                      <m:sub>
                        <m:r>
                          <a:rPr lang="ja-JP" altLang="en-US" i="1">
                            <a:latin typeface="Cambria Math" panose="02040503050406030204" pitchFamily="18" charset="0"/>
                          </a:rPr>
                          <m:t>𝐻</m:t>
                        </m:r>
                      </m:sub>
                    </m:sSub>
                    <m:r>
                      <a:rPr lang="en-US" altLang="ja-JP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altLang="ja-JP" dirty="0"/>
              </a:p>
              <a:p>
                <a:pPr marL="0" indent="0">
                  <a:buNone/>
                </a:pPr>
                <a:r>
                  <a:rPr lang="ja-JP" altLang="ja-JP" dirty="0"/>
                  <a:t>更一般地：</a:t>
                </a:r>
                <a14:m>
                  <m:oMath xmlns:m="http://schemas.openxmlformats.org/officeDocument/2006/math">
                    <m:r>
                      <a:rPr lang="ja-JP" altLang="en-US" i="1">
                        <a:latin typeface="Cambria Math" panose="02040503050406030204" pitchFamily="18" charset="0"/>
                      </a:rPr>
                      <m:t>𝑎</m:t>
                    </m:r>
                    <m:d>
                      <m:dPr>
                        <m:sepChr m:val=","/>
                        <m:ctrlPr>
                          <a:rPr lang="ja-JP" alt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ja-JP" altLang="en-US" i="1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e>
                        <m:r>
                          <a:rPr lang="ja-JP" altLang="en-US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d>
                    <m:r>
                      <a:rPr lang="en-US" altLang="ja-JP">
                        <a:latin typeface="Cambria Math" panose="02040503050406030204" pitchFamily="18" charset="0"/>
                      </a:rPr>
                      <m:t>=</m:t>
                    </m:r>
                    <m:r>
                      <a:rPr lang="ja-JP" altLang="en-US" i="1">
                        <a:latin typeface="Cambria Math" panose="02040503050406030204" pitchFamily="18" charset="0"/>
                      </a:rPr>
                      <m:t>𝐹</m:t>
                    </m:r>
                    <m:d>
                      <m:dPr>
                        <m:ctrlPr>
                          <a:rPr lang="ja-JP" alt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ja-JP" altLang="en-US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d>
                  </m:oMath>
                </a14:m>
                <a:r>
                  <a:rPr lang="ja-JP" altLang="en-US" dirty="0"/>
                  <a:t>   </a:t>
                </a:r>
                <a:r>
                  <a:rPr lang="ja-JP" altLang="ja-JP" dirty="0"/>
                  <a:t>由 Lax–Milgram 定理处理。</a:t>
                </a:r>
              </a:p>
              <a:p>
                <a:pPr marL="0" indent="0">
                  <a:buNone/>
                </a:pPr>
                <a:r>
                  <a:rPr lang="ja-JP" altLang="ja-JP" dirty="0"/>
                  <a:t>Lax–Milgr</a:t>
                </a:r>
                <a:r>
                  <a:rPr lang="en-US" altLang="zh-CN" dirty="0"/>
                  <a:t>am</a:t>
                </a:r>
                <a:r>
                  <a:rPr lang="zh-CN" altLang="en-US" dirty="0"/>
                  <a:t>定理</a:t>
                </a:r>
                <a:r>
                  <a:rPr lang="ja-JP" altLang="ja-JP" dirty="0"/>
                  <a:t>是 Riesz 定理在一般双线性形式下的推广。最常见形式如下。</a:t>
                </a:r>
              </a:p>
              <a:p>
                <a:pPr marL="0" indent="0">
                  <a:buNone/>
                </a:pPr>
                <a:r>
                  <a:rPr lang="ja-JP" altLang="ja-JP" dirty="0">
                    <a:solidFill>
                      <a:srgbClr val="C00000"/>
                    </a:solidFill>
                  </a:rPr>
                  <a:t>设 </a:t>
                </a:r>
                <a14:m>
                  <m:oMath xmlns:m="http://schemas.openxmlformats.org/officeDocument/2006/math">
                    <m:r>
                      <a:rPr lang="ja-JP" altLang="en-US" i="1">
                        <a:solidFill>
                          <a:srgbClr val="C00000"/>
                        </a:solidFill>
                      </a:rPr>
                      <m:t>𝐻</m:t>
                    </m:r>
                  </m:oMath>
                </a14:m>
                <a:r>
                  <a:rPr lang="ja-JP" altLang="ja-JP" dirty="0">
                    <a:solidFill>
                      <a:srgbClr val="C00000"/>
                    </a:solidFill>
                  </a:rPr>
                  <a:t>是一个实 Hilbert 空间，</a:t>
                </a:r>
                <a14:m>
                  <m:oMath xmlns:m="http://schemas.openxmlformats.org/officeDocument/2006/math">
                    <m:r>
                      <a:rPr lang="ja-JP" altLang="en-US" i="1">
                        <a:solidFill>
                          <a:srgbClr val="C00000"/>
                        </a:solidFill>
                      </a:rPr>
                      <m:t>𝑎</m:t>
                    </m:r>
                    <m:r>
                      <a:rPr lang="en-US" altLang="ja-JP">
                        <a:solidFill>
                          <a:srgbClr val="C00000"/>
                        </a:solidFill>
                      </a:rPr>
                      <m:t>:</m:t>
                    </m:r>
                    <m:r>
                      <a:rPr lang="ja-JP" altLang="en-US" i="1">
                        <a:solidFill>
                          <a:srgbClr val="C00000"/>
                        </a:solidFill>
                      </a:rPr>
                      <m:t>𝐻</m:t>
                    </m:r>
                    <m:r>
                      <a:rPr lang="en-US" altLang="ja-JP">
                        <a:solidFill>
                          <a:srgbClr val="C00000"/>
                        </a:solidFill>
                      </a:rPr>
                      <m:t>×</m:t>
                    </m:r>
                    <m:r>
                      <a:rPr lang="ja-JP" altLang="en-US" i="1">
                        <a:solidFill>
                          <a:srgbClr val="C00000"/>
                        </a:solidFill>
                      </a:rPr>
                      <m:t>𝐻</m:t>
                    </m:r>
                    <m:r>
                      <a:rPr lang="ja-JP" altLang="en-US">
                        <a:solidFill>
                          <a:srgbClr val="C00000"/>
                        </a:solidFill>
                      </a:rPr>
                      <m:t>→</m:t>
                    </m:r>
                    <m:r>
                      <a:rPr lang="en-US" altLang="ja-JP">
                        <a:solidFill>
                          <a:srgbClr val="C00000"/>
                        </a:solidFill>
                      </a:rPr>
                      <m:t>ℝ</m:t>
                    </m:r>
                  </m:oMath>
                </a14:m>
                <a:r>
                  <a:rPr lang="ja-JP" altLang="ja-JP" dirty="0">
                    <a:solidFill>
                      <a:srgbClr val="C00000"/>
                    </a:solidFill>
                  </a:rPr>
                  <a:t> 是一个双线性形式，</a:t>
                </a:r>
                <a14:m>
                  <m:oMath xmlns:m="http://schemas.openxmlformats.org/officeDocument/2006/math">
                    <m:r>
                      <a:rPr lang="ja-JP" altLang="en-US" i="1">
                        <a:solidFill>
                          <a:srgbClr val="C00000"/>
                        </a:solidFill>
                      </a:rPr>
                      <m:t>𝐹</m:t>
                    </m:r>
                    <m:r>
                      <a:rPr lang="ja-JP" altLang="en-US">
                        <a:solidFill>
                          <a:srgbClr val="C00000"/>
                        </a:solidFill>
                      </a:rPr>
                      <m:t>∈</m:t>
                    </m:r>
                    <m:sSup>
                      <m:sSupPr>
                        <m:ctrlPr>
                          <a:rPr lang="ja-JP" altLang="en-US" i="1">
                            <a:solidFill>
                              <a:srgbClr val="C00000"/>
                            </a:solidFill>
                          </a:rPr>
                        </m:ctrlPr>
                      </m:sSupPr>
                      <m:e>
                        <m:r>
                          <a:rPr lang="ja-JP" altLang="en-US" i="1">
                            <a:solidFill>
                              <a:srgbClr val="C00000"/>
                            </a:solidFill>
                          </a:rPr>
                          <m:t>𝐻</m:t>
                        </m:r>
                      </m:e>
                      <m:sup>
                        <m:r>
                          <a:rPr lang="ja-JP" altLang="en-US">
                            <a:solidFill>
                              <a:srgbClr val="C00000"/>
                            </a:solidFill>
                          </a:rPr>
                          <m:t>∗</m:t>
                        </m:r>
                      </m:sup>
                    </m:sSup>
                  </m:oMath>
                </a14:m>
                <a:r>
                  <a:rPr lang="ja-JP" altLang="ja-JP" dirty="0">
                    <a:solidFill>
                      <a:srgbClr val="C00000"/>
                    </a:solidFill>
                  </a:rPr>
                  <a:t> 是一个连续线性泛函。</a:t>
                </a:r>
                <a:endParaRPr lang="en-US" altLang="ja-JP" dirty="0">
                  <a:solidFill>
                    <a:srgbClr val="C00000"/>
                  </a:solidFill>
                </a:endParaRPr>
              </a:p>
              <a:p>
                <a:pPr marL="0" indent="0">
                  <a:buNone/>
                </a:pPr>
                <a:r>
                  <a:rPr lang="ja-JP" altLang="ja-JP" dirty="0">
                    <a:solidFill>
                      <a:srgbClr val="C00000"/>
                    </a:solidFill>
                  </a:rPr>
                  <a:t>如果 </a:t>
                </a:r>
                <a14:m>
                  <m:oMath xmlns:m="http://schemas.openxmlformats.org/officeDocument/2006/math">
                    <m:r>
                      <a:rPr lang="ja-JP" altLang="en-US" i="1">
                        <a:solidFill>
                          <a:srgbClr val="C00000"/>
                        </a:solidFill>
                      </a:rPr>
                      <m:t>𝑎</m:t>
                    </m:r>
                  </m:oMath>
                </a14:m>
                <a:r>
                  <a:rPr lang="ja-JP" altLang="ja-JP" dirty="0">
                    <a:solidFill>
                      <a:srgbClr val="C00000"/>
                    </a:solidFill>
                  </a:rPr>
                  <a:t>满足：</a:t>
                </a:r>
                <a:endParaRPr lang="en-US" altLang="ja-JP" dirty="0">
                  <a:solidFill>
                    <a:srgbClr val="C00000"/>
                  </a:solidFill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ja-JP" altLang="en-US">
                          <a:solidFill>
                            <a:srgbClr val="C00000"/>
                          </a:solidFill>
                        </a:rPr>
                        <m:t>∣</m:t>
                      </m:r>
                      <m:r>
                        <a:rPr lang="ja-JP" altLang="en-US" i="1">
                          <a:solidFill>
                            <a:srgbClr val="C00000"/>
                          </a:solidFill>
                        </a:rPr>
                        <m:t>𝑎</m:t>
                      </m:r>
                      <m:d>
                        <m:dPr>
                          <m:sepChr m:val=","/>
                          <m:ctrlPr>
                            <a:rPr lang="ja-JP" altLang="en-US" i="1">
                              <a:solidFill>
                                <a:srgbClr val="C00000"/>
                              </a:solidFill>
                            </a:rPr>
                          </m:ctrlPr>
                        </m:dPr>
                        <m:e>
                          <m:r>
                            <a:rPr lang="ja-JP" altLang="en-US" i="1">
                              <a:solidFill>
                                <a:srgbClr val="C00000"/>
                              </a:solidFill>
                            </a:rPr>
                            <m:t>𝑢</m:t>
                          </m:r>
                        </m:e>
                        <m:e>
                          <m:r>
                            <a:rPr lang="ja-JP" altLang="en-US" i="1">
                              <a:solidFill>
                                <a:srgbClr val="C00000"/>
                              </a:solidFill>
                            </a:rPr>
                            <m:t>𝑣</m:t>
                          </m:r>
                        </m:e>
                      </m:d>
                      <m:r>
                        <a:rPr lang="ja-JP" altLang="en-US">
                          <a:solidFill>
                            <a:srgbClr val="C00000"/>
                          </a:solidFill>
                        </a:rPr>
                        <m:t>∣≤</m:t>
                      </m:r>
                      <m:r>
                        <a:rPr lang="ja-JP" altLang="en-US" i="1">
                          <a:solidFill>
                            <a:srgbClr val="C00000"/>
                          </a:solidFill>
                        </a:rPr>
                        <m:t>𝐶</m:t>
                      </m:r>
                      <m:r>
                        <a:rPr lang="ja-JP" altLang="en-US">
                          <a:solidFill>
                            <a:srgbClr val="C00000"/>
                          </a:solidFill>
                        </a:rPr>
                        <m:t>∥</m:t>
                      </m:r>
                      <m:r>
                        <a:rPr lang="ja-JP" altLang="en-US" i="1">
                          <a:solidFill>
                            <a:srgbClr val="C00000"/>
                          </a:solidFill>
                        </a:rPr>
                        <m:t>𝑢</m:t>
                      </m:r>
                      <m:sSub>
                        <m:sSubPr>
                          <m:ctrlPr>
                            <a:rPr lang="ja-JP" altLang="en-US" i="1">
                              <a:solidFill>
                                <a:srgbClr val="C00000"/>
                              </a:solidFill>
                            </a:rPr>
                          </m:ctrlPr>
                        </m:sSubPr>
                        <m:e>
                          <m:r>
                            <a:rPr lang="ja-JP" altLang="en-US">
                              <a:solidFill>
                                <a:srgbClr val="C00000"/>
                              </a:solidFill>
                            </a:rPr>
                            <m:t>∥</m:t>
                          </m:r>
                        </m:e>
                        <m:sub>
                          <m:r>
                            <a:rPr lang="ja-JP" altLang="en-US" i="1">
                              <a:solidFill>
                                <a:srgbClr val="C00000"/>
                              </a:solidFill>
                            </a:rPr>
                            <m:t>𝐻</m:t>
                          </m:r>
                        </m:sub>
                      </m:sSub>
                      <m:r>
                        <a:rPr lang="ja-JP" altLang="en-US">
                          <a:solidFill>
                            <a:srgbClr val="C00000"/>
                          </a:solidFill>
                        </a:rPr>
                        <m:t>∥</m:t>
                      </m:r>
                      <m:r>
                        <a:rPr lang="ja-JP" altLang="en-US" i="1">
                          <a:solidFill>
                            <a:srgbClr val="C00000"/>
                          </a:solidFill>
                        </a:rPr>
                        <m:t>𝑣</m:t>
                      </m:r>
                      <m:sSub>
                        <m:sSubPr>
                          <m:ctrlPr>
                            <a:rPr lang="ja-JP" altLang="en-US" i="1">
                              <a:solidFill>
                                <a:srgbClr val="C00000"/>
                              </a:solidFill>
                            </a:rPr>
                          </m:ctrlPr>
                        </m:sSubPr>
                        <m:e>
                          <m:r>
                            <a:rPr lang="ja-JP" altLang="en-US">
                              <a:solidFill>
                                <a:srgbClr val="C00000"/>
                              </a:solidFill>
                            </a:rPr>
                            <m:t>∥</m:t>
                          </m:r>
                        </m:e>
                        <m:sub>
                          <m:r>
                            <a:rPr lang="ja-JP" altLang="en-US" i="1">
                              <a:solidFill>
                                <a:srgbClr val="C00000"/>
                              </a:solidFill>
                            </a:rPr>
                            <m:t>𝐻</m:t>
                          </m:r>
                        </m:sub>
                      </m:sSub>
                      <m:r>
                        <a:rPr lang="en-US" altLang="ja-JP">
                          <a:solidFill>
                            <a:srgbClr val="C00000"/>
                          </a:solidFill>
                        </a:rPr>
                        <m:t>, ∀</m:t>
                      </m:r>
                      <m:r>
                        <a:rPr lang="ja-JP" altLang="en-US" i="1">
                          <a:solidFill>
                            <a:srgbClr val="C00000"/>
                          </a:solidFill>
                        </a:rPr>
                        <m:t>𝑢</m:t>
                      </m:r>
                      <m:r>
                        <a:rPr lang="en-US" altLang="ja-JP">
                          <a:solidFill>
                            <a:srgbClr val="C00000"/>
                          </a:solidFill>
                        </a:rPr>
                        <m:t>,</m:t>
                      </m:r>
                      <m:r>
                        <a:rPr lang="ja-JP" altLang="en-US" i="1">
                          <a:solidFill>
                            <a:srgbClr val="C00000"/>
                          </a:solidFill>
                        </a:rPr>
                        <m:t>𝑣</m:t>
                      </m:r>
                      <m:r>
                        <a:rPr lang="ja-JP" altLang="en-US">
                          <a:solidFill>
                            <a:srgbClr val="C00000"/>
                          </a:solidFill>
                        </a:rPr>
                        <m:t>∈</m:t>
                      </m:r>
                      <m:r>
                        <a:rPr lang="ja-JP" altLang="en-US" i="1">
                          <a:solidFill>
                            <a:srgbClr val="C00000"/>
                          </a:solidFill>
                        </a:rPr>
                        <m:t>𝐻</m:t>
                      </m:r>
                    </m:oMath>
                  </m:oMathPara>
                </a14:m>
                <a:endParaRPr lang="en-US" altLang="ja-JP" dirty="0">
                  <a:solidFill>
                    <a:srgbClr val="C00000"/>
                  </a:solidFill>
                </a:endParaRPr>
              </a:p>
              <a:p>
                <a:pPr marL="0" indent="0">
                  <a:buNone/>
                </a:pPr>
                <a:r>
                  <a:rPr lang="ja-JP" altLang="ja-JP" dirty="0">
                    <a:solidFill>
                      <a:srgbClr val="C00000"/>
                    </a:solidFill>
                  </a:rPr>
                  <a:t>以及</a:t>
                </a:r>
                <a:endParaRPr lang="en-US" altLang="ja-JP" i="1" dirty="0">
                  <a:solidFill>
                    <a:srgbClr val="C00000"/>
                  </a:solidFill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ja-JP" altLang="en-US" i="1">
                          <a:solidFill>
                            <a:srgbClr val="C00000"/>
                          </a:solidFill>
                        </a:rPr>
                        <m:t>𝑎</m:t>
                      </m:r>
                      <m:d>
                        <m:dPr>
                          <m:sepChr m:val=","/>
                          <m:ctrlPr>
                            <a:rPr lang="ja-JP" altLang="en-US" i="1">
                              <a:solidFill>
                                <a:srgbClr val="C00000"/>
                              </a:solidFill>
                            </a:rPr>
                          </m:ctrlPr>
                        </m:dPr>
                        <m:e>
                          <m:r>
                            <a:rPr lang="ja-JP" altLang="en-US" i="1">
                              <a:solidFill>
                                <a:srgbClr val="C00000"/>
                              </a:solidFill>
                            </a:rPr>
                            <m:t>𝑢</m:t>
                          </m:r>
                        </m:e>
                        <m:e>
                          <m:r>
                            <a:rPr lang="ja-JP" altLang="en-US" i="1">
                              <a:solidFill>
                                <a:srgbClr val="C00000"/>
                              </a:solidFill>
                            </a:rPr>
                            <m:t>𝑢</m:t>
                          </m:r>
                        </m:e>
                      </m:d>
                      <m:r>
                        <a:rPr lang="ja-JP" altLang="en-US">
                          <a:solidFill>
                            <a:srgbClr val="C00000"/>
                          </a:solidFill>
                        </a:rPr>
                        <m:t>≥</m:t>
                      </m:r>
                      <m:r>
                        <a:rPr lang="ja-JP" altLang="en-US" i="1">
                          <a:solidFill>
                            <a:srgbClr val="C00000"/>
                          </a:solidFill>
                        </a:rPr>
                        <m:t>𝛼</m:t>
                      </m:r>
                      <m:r>
                        <a:rPr lang="ja-JP" altLang="en-US">
                          <a:solidFill>
                            <a:srgbClr val="C00000"/>
                          </a:solidFill>
                        </a:rPr>
                        <m:t>∥</m:t>
                      </m:r>
                      <m:r>
                        <a:rPr lang="ja-JP" altLang="en-US" i="1">
                          <a:solidFill>
                            <a:srgbClr val="C00000"/>
                          </a:solidFill>
                        </a:rPr>
                        <m:t>𝑢</m:t>
                      </m:r>
                      <m:sSubSup>
                        <m:sSubSupPr>
                          <m:ctrlPr>
                            <a:rPr lang="ja-JP" altLang="en-US" i="1">
                              <a:solidFill>
                                <a:srgbClr val="C00000"/>
                              </a:solidFill>
                            </a:rPr>
                          </m:ctrlPr>
                        </m:sSubSupPr>
                        <m:e>
                          <m:r>
                            <a:rPr lang="ja-JP" altLang="en-US">
                              <a:solidFill>
                                <a:srgbClr val="C00000"/>
                              </a:solidFill>
                            </a:rPr>
                            <m:t>∥</m:t>
                          </m:r>
                        </m:e>
                        <m:sub>
                          <m:r>
                            <a:rPr lang="ja-JP" altLang="en-US" i="1">
                              <a:solidFill>
                                <a:srgbClr val="C00000"/>
                              </a:solidFill>
                            </a:rPr>
                            <m:t>𝐻</m:t>
                          </m:r>
                        </m:sub>
                        <m:sup>
                          <m:r>
                            <a:rPr lang="en-US" altLang="ja-JP">
                              <a:solidFill>
                                <a:srgbClr val="C00000"/>
                              </a:solidFill>
                            </a:rPr>
                            <m:t>2</m:t>
                          </m:r>
                        </m:sup>
                      </m:sSubSup>
                      <m:r>
                        <a:rPr lang="en-US" altLang="ja-JP">
                          <a:solidFill>
                            <a:srgbClr val="C00000"/>
                          </a:solidFill>
                        </a:rPr>
                        <m:t>, ∀</m:t>
                      </m:r>
                      <m:r>
                        <a:rPr lang="ja-JP" altLang="en-US" i="1">
                          <a:solidFill>
                            <a:srgbClr val="C00000"/>
                          </a:solidFill>
                        </a:rPr>
                        <m:t>𝑢</m:t>
                      </m:r>
                      <m:r>
                        <a:rPr lang="ja-JP" altLang="en-US">
                          <a:solidFill>
                            <a:srgbClr val="C00000"/>
                          </a:solidFill>
                        </a:rPr>
                        <m:t>∈</m:t>
                      </m:r>
                      <m:r>
                        <a:rPr lang="ja-JP" altLang="en-US" i="1">
                          <a:solidFill>
                            <a:srgbClr val="C00000"/>
                          </a:solidFill>
                        </a:rPr>
                        <m:t>𝐻</m:t>
                      </m:r>
                    </m:oMath>
                  </m:oMathPara>
                </a14:m>
                <a:endParaRPr lang="en-US" altLang="ja-JP" dirty="0">
                  <a:solidFill>
                    <a:srgbClr val="C00000"/>
                  </a:solidFill>
                </a:endParaRPr>
              </a:p>
              <a:p>
                <a:pPr marL="0" indent="0">
                  <a:buNone/>
                </a:pPr>
                <a:r>
                  <a:rPr lang="en-US" altLang="ja-JP" dirty="0">
                    <a:solidFill>
                      <a:srgbClr val="C00000"/>
                    </a:solidFill>
                  </a:rPr>
                  <a:t> </a:t>
                </a:r>
                <a:r>
                  <a:rPr lang="ja-JP" altLang="ja-JP" dirty="0">
                    <a:solidFill>
                      <a:srgbClr val="C00000"/>
                    </a:solidFill>
                  </a:rPr>
                  <a:t>其中 </a:t>
                </a:r>
                <a14:m>
                  <m:oMath xmlns:m="http://schemas.openxmlformats.org/officeDocument/2006/math">
                    <m:r>
                      <a:rPr lang="ja-JP" altLang="en-US" i="1">
                        <a:solidFill>
                          <a:srgbClr val="C00000"/>
                        </a:solidFill>
                      </a:rPr>
                      <m:t>𝐶</m:t>
                    </m:r>
                    <m:r>
                      <a:rPr lang="en-US" altLang="ja-JP">
                        <a:solidFill>
                          <a:srgbClr val="C00000"/>
                        </a:solidFill>
                      </a:rPr>
                      <m:t>&gt;0,</m:t>
                    </m:r>
                    <m:r>
                      <a:rPr lang="ja-JP" altLang="en-US" i="1">
                        <a:solidFill>
                          <a:srgbClr val="C00000"/>
                        </a:solidFill>
                      </a:rPr>
                      <m:t>𝛼</m:t>
                    </m:r>
                    <m:r>
                      <a:rPr lang="en-US" altLang="ja-JP">
                        <a:solidFill>
                          <a:srgbClr val="C00000"/>
                        </a:solidFill>
                      </a:rPr>
                      <m:t>&gt;0</m:t>
                    </m:r>
                  </m:oMath>
                </a14:m>
                <a:r>
                  <a:rPr lang="ja-JP" altLang="ja-JP" dirty="0">
                    <a:solidFill>
                      <a:srgbClr val="C00000"/>
                    </a:solidFill>
                  </a:rPr>
                  <a:t>，那么对任意 </a:t>
                </a:r>
                <a14:m>
                  <m:oMath xmlns:m="http://schemas.openxmlformats.org/officeDocument/2006/math">
                    <m:r>
                      <a:rPr lang="ja-JP" altLang="en-US" i="1">
                        <a:solidFill>
                          <a:srgbClr val="C00000"/>
                        </a:solidFill>
                      </a:rPr>
                      <m:t>𝐹</m:t>
                    </m:r>
                    <m:r>
                      <a:rPr lang="ja-JP" altLang="en-US">
                        <a:solidFill>
                          <a:srgbClr val="C00000"/>
                        </a:solidFill>
                      </a:rPr>
                      <m:t>∈</m:t>
                    </m:r>
                    <m:sSup>
                      <m:sSupPr>
                        <m:ctrlPr>
                          <a:rPr lang="ja-JP" altLang="en-US" i="1">
                            <a:solidFill>
                              <a:srgbClr val="C00000"/>
                            </a:solidFill>
                          </a:rPr>
                        </m:ctrlPr>
                      </m:sSupPr>
                      <m:e>
                        <m:r>
                          <a:rPr lang="ja-JP" altLang="en-US" i="1">
                            <a:solidFill>
                              <a:srgbClr val="C00000"/>
                            </a:solidFill>
                          </a:rPr>
                          <m:t>𝐻</m:t>
                        </m:r>
                      </m:e>
                      <m:sup>
                        <m:r>
                          <a:rPr lang="ja-JP" altLang="en-US">
                            <a:solidFill>
                              <a:srgbClr val="C00000"/>
                            </a:solidFill>
                          </a:rPr>
                          <m:t>∗</m:t>
                        </m:r>
                      </m:sup>
                    </m:sSup>
                  </m:oMath>
                </a14:m>
                <a:r>
                  <a:rPr lang="ja-JP" altLang="ja-JP" dirty="0">
                    <a:solidFill>
                      <a:srgbClr val="C00000"/>
                    </a:solidFill>
                  </a:rPr>
                  <a:t>，存在唯一的 </a:t>
                </a:r>
                <a14:m>
                  <m:oMath xmlns:m="http://schemas.openxmlformats.org/officeDocument/2006/math">
                    <m:r>
                      <a:rPr lang="ja-JP" altLang="en-US" i="1">
                        <a:solidFill>
                          <a:srgbClr val="C00000"/>
                        </a:solidFill>
                      </a:rPr>
                      <m:t>𝑢</m:t>
                    </m:r>
                    <m:r>
                      <a:rPr lang="ja-JP" altLang="en-US">
                        <a:solidFill>
                          <a:srgbClr val="C00000"/>
                        </a:solidFill>
                      </a:rPr>
                      <m:t>∈</m:t>
                    </m:r>
                    <m:r>
                      <a:rPr lang="ja-JP" altLang="en-US" i="1">
                        <a:solidFill>
                          <a:srgbClr val="C00000"/>
                        </a:solidFill>
                      </a:rPr>
                      <m:t>𝐻</m:t>
                    </m:r>
                  </m:oMath>
                </a14:m>
                <a:r>
                  <a:rPr lang="ja-JP" altLang="ja-JP" dirty="0">
                    <a:solidFill>
                      <a:srgbClr val="C00000"/>
                    </a:solidFill>
                  </a:rPr>
                  <a:t>，使得</a:t>
                </a:r>
                <a14:m>
                  <m:oMath xmlns:m="http://schemas.openxmlformats.org/officeDocument/2006/math">
                    <m:r>
                      <a:rPr lang="en-US" altLang="ja-JP" b="0" i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ja-JP" altLang="en-US" i="1">
                        <a:solidFill>
                          <a:srgbClr val="C00000"/>
                        </a:solidFill>
                      </a:rPr>
                      <m:t>𝑎</m:t>
                    </m:r>
                    <m:d>
                      <m:dPr>
                        <m:sepChr m:val=","/>
                        <m:ctrlPr>
                          <a:rPr lang="ja-JP" altLang="en-US" i="1">
                            <a:solidFill>
                              <a:srgbClr val="C00000"/>
                            </a:solidFill>
                          </a:rPr>
                        </m:ctrlPr>
                      </m:dPr>
                      <m:e>
                        <m:r>
                          <a:rPr lang="ja-JP" altLang="en-US" i="1">
                            <a:solidFill>
                              <a:srgbClr val="C00000"/>
                            </a:solidFill>
                          </a:rPr>
                          <m:t>𝑢</m:t>
                        </m:r>
                      </m:e>
                      <m:e>
                        <m:r>
                          <a:rPr lang="ja-JP" altLang="en-US" i="1">
                            <a:solidFill>
                              <a:srgbClr val="C00000"/>
                            </a:solidFill>
                          </a:rPr>
                          <m:t>𝑣</m:t>
                        </m:r>
                      </m:e>
                    </m:d>
                    <m:r>
                      <a:rPr lang="en-US" altLang="ja-JP">
                        <a:solidFill>
                          <a:srgbClr val="C00000"/>
                        </a:solidFill>
                      </a:rPr>
                      <m:t>=</m:t>
                    </m:r>
                    <m:r>
                      <a:rPr lang="ja-JP" altLang="en-US" i="1">
                        <a:solidFill>
                          <a:srgbClr val="C00000"/>
                        </a:solidFill>
                      </a:rPr>
                      <m:t>𝐹</m:t>
                    </m:r>
                    <m:d>
                      <m:dPr>
                        <m:ctrlPr>
                          <a:rPr lang="ja-JP" altLang="en-US" i="1">
                            <a:solidFill>
                              <a:srgbClr val="C00000"/>
                            </a:solidFill>
                          </a:rPr>
                        </m:ctrlPr>
                      </m:dPr>
                      <m:e>
                        <m:r>
                          <a:rPr lang="ja-JP" altLang="en-US" i="1">
                            <a:solidFill>
                              <a:srgbClr val="C00000"/>
                            </a:solidFill>
                          </a:rPr>
                          <m:t>𝑣</m:t>
                        </m:r>
                      </m:e>
                    </m:d>
                    <m:r>
                      <a:rPr lang="en-US" altLang="ja-JP">
                        <a:solidFill>
                          <a:srgbClr val="C00000"/>
                        </a:solidFill>
                      </a:rPr>
                      <m:t>, ∀</m:t>
                    </m:r>
                    <m:r>
                      <a:rPr lang="ja-JP" altLang="en-US" i="1">
                        <a:solidFill>
                          <a:srgbClr val="C00000"/>
                        </a:solidFill>
                      </a:rPr>
                      <m:t>𝑣</m:t>
                    </m:r>
                    <m:r>
                      <a:rPr lang="ja-JP" altLang="en-US">
                        <a:solidFill>
                          <a:srgbClr val="C00000"/>
                        </a:solidFill>
                      </a:rPr>
                      <m:t>∈</m:t>
                    </m:r>
                    <m:r>
                      <a:rPr lang="ja-JP" altLang="en-US" i="1">
                        <a:solidFill>
                          <a:srgbClr val="C00000"/>
                        </a:solidFill>
                      </a:rPr>
                      <m:t>𝐻</m:t>
                    </m:r>
                    <m:r>
                      <a:rPr lang="en-US" altLang="ja-JP">
                        <a:solidFill>
                          <a:srgbClr val="C00000"/>
                        </a:solidFill>
                      </a:rPr>
                      <m:t>.</m:t>
                    </m:r>
                  </m:oMath>
                </a14:m>
                <a:endParaRPr lang="en-US" altLang="ja-JP" dirty="0">
                  <a:solidFill>
                    <a:srgbClr val="C00000"/>
                  </a:solidFill>
                </a:endParaRPr>
              </a:p>
              <a:p>
                <a:pPr marL="0" indent="0">
                  <a:buNone/>
                </a:pPr>
                <a:endParaRPr lang="en-US" altLang="ja-JP" dirty="0"/>
              </a:p>
              <a:p>
                <a:pPr marL="0" indent="0">
                  <a:buNone/>
                </a:pPr>
                <a:r>
                  <a:rPr lang="ja-JP" altLang="ja-JP" dirty="0"/>
                  <a:t>PDE 弱解的存在唯一性，背后就是“连续线性泛函可以由空间中的元素代表”。</a:t>
                </a:r>
              </a:p>
            </p:txBody>
          </p:sp>
        </mc:Choice>
        <mc:Fallback>
          <p:sp>
            <p:nvSpPr>
              <p:cNvPr id="12" name="コンテンツ プレースホルダー 2">
                <a:extLst>
                  <a:ext uri="{FF2B5EF4-FFF2-40B4-BE49-F238E27FC236}">
                    <a16:creationId xmlns:a16="http://schemas.microsoft.com/office/drawing/2014/main" id="{EBD2A7D7-DBF3-C169-F43F-E5FF4F75B97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09880" y="1183640"/>
                <a:ext cx="11811000" cy="5440680"/>
              </a:xfrm>
              <a:blipFill>
                <a:blip r:embed="rId3"/>
                <a:stretch>
                  <a:fillRect l="-568" t="-784" b="-672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0812708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458BB5-326E-76E1-9BDC-0A52BFF734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>
            <a:extLst>
              <a:ext uri="{FF2B5EF4-FFF2-40B4-BE49-F238E27FC236}">
                <a16:creationId xmlns:a16="http://schemas.microsoft.com/office/drawing/2014/main" id="{B15917D6-C999-67B7-5C1B-5915FAF37AB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ja-JP" b="1" dirty="0"/>
              <a:t>伴随算子：定义来自“反向拉回观测”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コンテンツ プレースホルダー 2">
                <a:extLst>
                  <a:ext uri="{FF2B5EF4-FFF2-40B4-BE49-F238E27FC236}">
                    <a16:creationId xmlns:a16="http://schemas.microsoft.com/office/drawing/2014/main" id="{ACB49020-F968-34B9-0826-2C0D03BBA01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89560" y="990600"/>
                <a:ext cx="11811000" cy="5440680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ja-JP" altLang="ja-JP" dirty="0"/>
                  <a:t>设</a:t>
                </a:r>
                <a14:m>
                  <m:oMath xmlns:m="http://schemas.openxmlformats.org/officeDocument/2006/math">
                    <m:r>
                      <a:rPr lang="ja-JP" altLang="en-US" i="1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altLang="ja-JP">
                        <a:latin typeface="Cambria Math" panose="02040503050406030204" pitchFamily="18" charset="0"/>
                      </a:rPr>
                      <m:t>:</m:t>
                    </m:r>
                    <m:r>
                      <a:rPr lang="ja-JP" altLang="en-US" i="1">
                        <a:latin typeface="Cambria Math" panose="02040503050406030204" pitchFamily="18" charset="0"/>
                      </a:rPr>
                      <m:t>𝑋</m:t>
                    </m:r>
                    <m:r>
                      <a:rPr lang="ja-JP" altLang="en-US">
                        <a:latin typeface="Cambria Math" panose="02040503050406030204" pitchFamily="18" charset="0"/>
                      </a:rPr>
                      <m:t>→</m:t>
                    </m:r>
                    <m:r>
                      <a:rPr lang="ja-JP" altLang="en-US" i="1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ja-JP" altLang="ja-JP" dirty="0"/>
                  <a:t>是有界线性算子。定义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ja-JP" alt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ja-JP" altLang="en-US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p>
                        <m:r>
                          <a:rPr lang="ja-JP" altLang="en-US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altLang="ja-JP">
                        <a:latin typeface="Cambria Math" panose="02040503050406030204" pitchFamily="18" charset="0"/>
                      </a:rPr>
                      <m:t>:</m:t>
                    </m:r>
                    <m:sSup>
                      <m:sSupPr>
                        <m:ctrlPr>
                          <a:rPr lang="ja-JP" alt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ja-JP" altLang="en-US" i="1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p>
                        <m:r>
                          <a:rPr lang="ja-JP" altLang="en-US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ja-JP" altLang="en-US">
                        <a:latin typeface="Cambria Math" panose="02040503050406030204" pitchFamily="18" charset="0"/>
                      </a:rPr>
                      <m:t>→</m:t>
                    </m:r>
                    <m:sSup>
                      <m:sSupPr>
                        <m:ctrlPr>
                          <a:rPr lang="ja-JP" alt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ja-JP" altLang="en-US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p>
                        <m:r>
                          <a:rPr lang="ja-JP" altLang="en-US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ja-JP" altLang="ja-JP" dirty="0"/>
                  <a:t>为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ja-JP" alt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ja-JP" altLang="en-US" i="1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p>
                          <m:r>
                            <a:rPr lang="ja-JP" altLang="en-US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d>
                        <m:dPr>
                          <m:ctrlPr>
                            <a:rPr lang="ja-JP" alt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ja-JP" altLang="en-US" i="1">
                              <a:latin typeface="Cambria Math" panose="02040503050406030204" pitchFamily="18" charset="0"/>
                            </a:rPr>
                            <m:t>𝜑</m:t>
                          </m:r>
                        </m:e>
                      </m:d>
                      <m:r>
                        <a:rPr lang="en-US" altLang="ja-JP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ja-JP" altLang="en-US" i="1">
                          <a:latin typeface="Cambria Math" panose="02040503050406030204" pitchFamily="18" charset="0"/>
                        </a:rPr>
                        <m:t>𝜑</m:t>
                      </m:r>
                      <m:r>
                        <a:rPr lang="ja-JP" altLang="en-US">
                          <a:latin typeface="Cambria Math" panose="02040503050406030204" pitchFamily="18" charset="0"/>
                        </a:rPr>
                        <m:t>∘</m:t>
                      </m:r>
                      <m:r>
                        <a:rPr lang="ja-JP" altLang="en-US" i="1"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lang="en-US" altLang="ja-JP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en-US" altLang="ja-JP" dirty="0"/>
              </a:p>
              <a:p>
                <a:pPr marL="0" indent="0">
                  <a:buNone/>
                </a:pPr>
                <a:r>
                  <a:rPr lang="ja-JP" altLang="ja-JP" dirty="0"/>
                  <a:t>也就是：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ja-JP" alt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ja-JP" alt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ja-JP" altLang="en-US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p>
                            <m:r>
                              <a:rPr lang="ja-JP" altLang="en-US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  <m:r>
                          <a:rPr lang="ja-JP" altLang="en-US" i="1">
                            <a:latin typeface="Cambria Math" panose="02040503050406030204" pitchFamily="18" charset="0"/>
                          </a:rPr>
                          <m:t>𝜑</m:t>
                        </m:r>
                      </m:e>
                    </m:d>
                    <m:d>
                      <m:dPr>
                        <m:ctrlPr>
                          <a:rPr lang="ja-JP" alt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ja-JP" alt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altLang="ja-JP">
                        <a:latin typeface="Cambria Math" panose="02040503050406030204" pitchFamily="18" charset="0"/>
                      </a:rPr>
                      <m:t>=</m:t>
                    </m:r>
                    <m:r>
                      <a:rPr lang="ja-JP" altLang="en-US" i="1">
                        <a:latin typeface="Cambria Math" panose="02040503050406030204" pitchFamily="18" charset="0"/>
                      </a:rPr>
                      <m:t>𝜑</m:t>
                    </m:r>
                    <m:d>
                      <m:dPr>
                        <m:ctrlPr>
                          <a:rPr lang="ja-JP" alt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ja-JP" altLang="en-US" i="1">
                            <a:latin typeface="Cambria Math" panose="02040503050406030204" pitchFamily="18" charset="0"/>
                          </a:rPr>
                          <m:t>𝑇𝑥</m:t>
                        </m:r>
                      </m:e>
                    </m:d>
                    <m:r>
                      <a:rPr lang="en-US" altLang="ja-JP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altLang="ja-JP" dirty="0"/>
              </a:p>
              <a:p>
                <a:pPr marL="0" indent="0">
                  <a:buNone/>
                </a:pPr>
                <a:r>
                  <a:rPr lang="ja-JP" altLang="ja-JP" dirty="0"/>
                  <a:t>配对恒等式：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⟨"/>
                          <m:endChr m:val="⟩"/>
                          <m:sepChr m:val=","/>
                          <m:ctrlPr>
                            <a:rPr lang="ja-JP" alt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ja-JP" alt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ja-JP" altLang="en-US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p>
                              <m:r>
                                <a:rPr lang="ja-JP" altLang="en-US"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  <m:r>
                            <a:rPr lang="ja-JP" altLang="en-US" i="1">
                              <a:latin typeface="Cambria Math" panose="02040503050406030204" pitchFamily="18" charset="0"/>
                            </a:rPr>
                            <m:t>𝜑</m:t>
                          </m:r>
                        </m:e>
                        <m:e>
                          <m:r>
                            <a:rPr lang="ja-JP" alt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altLang="ja-JP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⟨"/>
                          <m:endChr m:val="⟩"/>
                          <m:sepChr m:val=","/>
                          <m:ctrlPr>
                            <a:rPr lang="ja-JP" alt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ja-JP" altLang="en-US" i="1">
                              <a:latin typeface="Cambria Math" panose="02040503050406030204" pitchFamily="18" charset="0"/>
                            </a:rPr>
                            <m:t>𝜑</m:t>
                          </m:r>
                        </m:e>
                        <m:e>
                          <m:r>
                            <a:rPr lang="ja-JP" altLang="en-US" i="1">
                              <a:latin typeface="Cambria Math" panose="02040503050406030204" pitchFamily="18" charset="0"/>
                            </a:rPr>
                            <m:t>𝑇𝑥</m:t>
                          </m:r>
                        </m:e>
                      </m:d>
                      <m:r>
                        <a:rPr lang="en-US" altLang="ja-JP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en-US" altLang="ja-JP" dirty="0"/>
              </a:p>
              <a:p>
                <a:pPr marL="0" indent="0">
                  <a:buNone/>
                </a:pPr>
                <a:endParaRPr lang="en-US" altLang="ja-JP" dirty="0"/>
              </a:p>
              <a:p>
                <a:r>
                  <a:rPr lang="zh-CN" altLang="en-US" dirty="0"/>
                  <a:t>详细：</a:t>
                </a:r>
                <a:r>
                  <a:rPr lang="ja-JP" altLang="ja-JP" dirty="0"/>
                  <a:t>如果</a:t>
                </a:r>
                <a14:m>
                  <m:oMath xmlns:m="http://schemas.openxmlformats.org/officeDocument/2006/math">
                    <m:r>
                      <a:rPr lang="ja-JP" altLang="en-US" i="1"/>
                      <m:t>𝑔</m:t>
                    </m:r>
                    <m:r>
                      <a:rPr lang="ja-JP" altLang="en-US"/>
                      <m:t>∈</m:t>
                    </m:r>
                    <m:sSup>
                      <m:sSupPr>
                        <m:ctrlPr>
                          <a:rPr lang="ja-JP" altLang="en-US" i="1"/>
                        </m:ctrlPr>
                      </m:sSupPr>
                      <m:e>
                        <m:r>
                          <a:rPr lang="ja-JP" altLang="en-US" i="1"/>
                          <m:t>𝑌</m:t>
                        </m:r>
                      </m:e>
                      <m:sup>
                        <m:r>
                          <a:rPr lang="ja-JP" altLang="en-US"/>
                          <m:t>∗</m:t>
                        </m:r>
                      </m:sup>
                    </m:sSup>
                    <m:r>
                      <a:rPr lang="en-US" altLang="ja-JP"/>
                      <m:t>,</m:t>
                    </m:r>
                  </m:oMath>
                </a14:m>
                <a:r>
                  <a:rPr lang="en-US" altLang="ja-JP" dirty="0"/>
                  <a:t> </a:t>
                </a:r>
                <a:r>
                  <a:rPr lang="ja-JP" altLang="ja-JP" dirty="0"/>
                  <a:t>那么 </a:t>
                </a:r>
                <a14:m>
                  <m:oMath xmlns:m="http://schemas.openxmlformats.org/officeDocument/2006/math">
                    <m:r>
                      <a:rPr lang="ja-JP" altLang="en-US" i="1"/>
                      <m:t>𝑔</m:t>
                    </m:r>
                  </m:oMath>
                </a14:m>
                <a:r>
                  <a:rPr lang="ja-JP" altLang="ja-JP" dirty="0"/>
                  <a:t>是一个从 </a:t>
                </a:r>
                <a14:m>
                  <m:oMath xmlns:m="http://schemas.openxmlformats.org/officeDocument/2006/math">
                    <m:r>
                      <a:rPr lang="ja-JP" altLang="en-US" i="1"/>
                      <m:t>𝑌</m:t>
                    </m:r>
                  </m:oMath>
                </a14:m>
                <a:r>
                  <a:rPr lang="ja-JP" altLang="ja-JP" dirty="0"/>
                  <a:t>到 </a:t>
                </a:r>
                <a14:m>
                  <m:oMath xmlns:m="http://schemas.openxmlformats.org/officeDocument/2006/math">
                    <m:r>
                      <a:rPr lang="en-US" altLang="ja-JP"/>
                      <m:t>ℝ</m:t>
                    </m:r>
                  </m:oMath>
                </a14:m>
                <a:r>
                  <a:rPr lang="ja-JP" altLang="ja-JP" dirty="0"/>
                  <a:t>的连续线性泛函：</a:t>
                </a:r>
                <a14:m>
                  <m:oMath xmlns:m="http://schemas.openxmlformats.org/officeDocument/2006/math">
                    <m:r>
                      <a:rPr lang="ja-JP" altLang="en-US" i="1"/>
                      <m:t>𝑔</m:t>
                    </m:r>
                    <m:r>
                      <a:rPr lang="en-US" altLang="ja-JP"/>
                      <m:t>:</m:t>
                    </m:r>
                    <m:r>
                      <a:rPr lang="ja-JP" altLang="en-US" i="1"/>
                      <m:t>𝑌</m:t>
                    </m:r>
                    <m:r>
                      <a:rPr lang="ja-JP" altLang="en-US"/>
                      <m:t>→</m:t>
                    </m:r>
                    <m:r>
                      <a:rPr lang="en-US" altLang="ja-JP"/>
                      <m:t>ℝ</m:t>
                    </m:r>
                    <m:r>
                      <a:rPr lang="en-US" altLang="ja-JP"/>
                      <m:t>.</m:t>
                    </m:r>
                  </m:oMath>
                </a14:m>
                <a:endParaRPr lang="en-US" altLang="ja-JP" dirty="0"/>
              </a:p>
              <a:p>
                <a:pPr marL="0" indent="0">
                  <a:buNone/>
                </a:pPr>
                <a:r>
                  <a:rPr lang="ja-JP" altLang="ja-JP" dirty="0"/>
                  <a:t>现在因为 </a:t>
                </a:r>
                <a14:m>
                  <m:oMath xmlns:m="http://schemas.openxmlformats.org/officeDocument/2006/math">
                    <m:r>
                      <a:rPr lang="ja-JP" altLang="en-US" i="1"/>
                      <m:t>𝑇</m:t>
                    </m:r>
                    <m:r>
                      <a:rPr lang="en-US" altLang="ja-JP"/>
                      <m:t>:</m:t>
                    </m:r>
                    <m:r>
                      <a:rPr lang="ja-JP" altLang="en-US" i="1"/>
                      <m:t>𝑋</m:t>
                    </m:r>
                    <m:r>
                      <a:rPr lang="ja-JP" altLang="en-US"/>
                      <m:t>→</m:t>
                    </m:r>
                    <m:r>
                      <a:rPr lang="ja-JP" altLang="en-US" i="1"/>
                      <m:t>𝑌</m:t>
                    </m:r>
                  </m:oMath>
                </a14:m>
                <a:r>
                  <a:rPr lang="ja-JP" altLang="ja-JP" dirty="0"/>
                  <a:t>，所以可以复合：</a:t>
                </a:r>
                <a14:m>
                  <m:oMath xmlns:m="http://schemas.openxmlformats.org/officeDocument/2006/math">
                    <m:r>
                      <a:rPr lang="ja-JP" altLang="en-US" i="1"/>
                      <m:t>𝑋</m:t>
                    </m:r>
                    <m:groupChr>
                      <m:groupChrPr>
                        <m:chr m:val="→"/>
                        <m:vertJc m:val="bot"/>
                        <m:ctrlPr>
                          <a:rPr lang="ja-JP" altLang="en-US" i="1"/>
                        </m:ctrlPr>
                      </m:groupChrPr>
                      <m:e>
                        <m:box>
                          <m:boxPr>
                            <m:ctrlPr>
                              <a:rPr lang="ja-JP" altLang="en-US" i="1"/>
                            </m:ctrlPr>
                          </m:boxPr>
                          <m:e>
                            <m:r>
                              <a:rPr lang="ja-JP" altLang="en-US" i="1"/>
                              <m:t>𝑇</m:t>
                            </m:r>
                          </m:e>
                        </m:box>
                      </m:e>
                    </m:groupChr>
                    <m:r>
                      <a:rPr lang="ja-JP" altLang="en-US" i="1"/>
                      <m:t>𝑌</m:t>
                    </m:r>
                    <m:groupChr>
                      <m:groupChrPr>
                        <m:chr m:val="→"/>
                        <m:vertJc m:val="bot"/>
                        <m:ctrlPr>
                          <a:rPr lang="ja-JP" altLang="en-US" i="1"/>
                        </m:ctrlPr>
                      </m:groupChrPr>
                      <m:e>
                        <m:box>
                          <m:boxPr>
                            <m:ctrlPr>
                              <a:rPr lang="ja-JP" altLang="en-US" i="1"/>
                            </m:ctrlPr>
                          </m:boxPr>
                          <m:e>
                            <m:r>
                              <a:rPr lang="ja-JP" altLang="en-US" i="1"/>
                              <m:t>𝑔</m:t>
                            </m:r>
                          </m:e>
                        </m:box>
                      </m:e>
                    </m:groupChr>
                    <m:r>
                      <a:rPr lang="en-US" altLang="ja-JP"/>
                      <m:t>ℝ</m:t>
                    </m:r>
                    <m:r>
                      <a:rPr lang="en-US" altLang="ja-JP"/>
                      <m:t>.</m:t>
                    </m:r>
                  </m:oMath>
                </a14:m>
                <a:r>
                  <a:rPr lang="en-US" altLang="ja-JP" dirty="0"/>
                  <a:t> </a:t>
                </a:r>
                <a:r>
                  <a:rPr lang="ja-JP" altLang="ja-JP" dirty="0"/>
                  <a:t>于是得到一个 </a:t>
                </a:r>
                <a14:m>
                  <m:oMath xmlns:m="http://schemas.openxmlformats.org/officeDocument/2006/math">
                    <m:r>
                      <a:rPr lang="ja-JP" altLang="en-US" i="1"/>
                      <m:t>𝑋</m:t>
                    </m:r>
                  </m:oMath>
                </a14:m>
                <a:r>
                  <a:rPr lang="ja-JP" altLang="ja-JP" dirty="0"/>
                  <a:t>上的连续线性泛函：</a:t>
                </a:r>
                <a14:m>
                  <m:oMath xmlns:m="http://schemas.openxmlformats.org/officeDocument/2006/math">
                    <m:r>
                      <a:rPr lang="ja-JP" altLang="en-US" i="1"/>
                      <m:t>𝑔</m:t>
                    </m:r>
                    <m:r>
                      <a:rPr lang="ja-JP" altLang="en-US"/>
                      <m:t>∘</m:t>
                    </m:r>
                    <m:r>
                      <a:rPr lang="ja-JP" altLang="en-US" i="1"/>
                      <m:t>𝑇</m:t>
                    </m:r>
                    <m:r>
                      <a:rPr lang="en-US" altLang="ja-JP"/>
                      <m:t>:</m:t>
                    </m:r>
                    <m:r>
                      <a:rPr lang="ja-JP" altLang="en-US" i="1"/>
                      <m:t>𝑋</m:t>
                    </m:r>
                    <m:r>
                      <a:rPr lang="ja-JP" altLang="en-US"/>
                      <m:t>→</m:t>
                    </m:r>
                    <m:r>
                      <a:rPr lang="en-US" altLang="ja-JP"/>
                      <m:t>ℝ</m:t>
                    </m:r>
                    <m:r>
                      <a:rPr lang="en-US" altLang="ja-JP"/>
                      <m:t>.</m:t>
                    </m:r>
                  </m:oMath>
                </a14:m>
                <a:endParaRPr lang="en-US" altLang="ja-JP" dirty="0"/>
              </a:p>
              <a:p>
                <a:pPr marL="0" indent="0">
                  <a:buNone/>
                </a:pPr>
                <a:endParaRPr lang="en-US" altLang="ja-JP" dirty="0"/>
              </a:p>
              <a:p>
                <a:pPr marL="0" indent="0">
                  <a:buNone/>
                </a:pPr>
                <a:r>
                  <a:rPr lang="ja-JP" altLang="ja-JP" dirty="0"/>
                  <a:t>箭头反向：</a:t>
                </a:r>
                <a14:m>
                  <m:oMath xmlns:m="http://schemas.openxmlformats.org/officeDocument/2006/math">
                    <m:r>
                      <a:rPr lang="ja-JP" altLang="en-US" i="1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ja-JP" altLang="ja-JP" dirty="0"/>
                  <a:t> 把对象从 </a:t>
                </a:r>
                <a14:m>
                  <m:oMath xmlns:m="http://schemas.openxmlformats.org/officeDocument/2006/math">
                    <m:r>
                      <a:rPr lang="ja-JP" altLang="en-US" i="1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ja-JP" altLang="ja-JP" dirty="0"/>
                  <a:t>推到 </a:t>
                </a:r>
                <a14:m>
                  <m:oMath xmlns:m="http://schemas.openxmlformats.org/officeDocument/2006/math">
                    <m:r>
                      <a:rPr lang="ja-JP" altLang="en-US" i="1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ja-JP" altLang="ja-JP" dirty="0"/>
                  <a:t>，而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ja-JP" alt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ja-JP" altLang="en-US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p>
                        <m:r>
                          <a:rPr lang="ja-JP" altLang="en-US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ja-JP" altLang="ja-JP" dirty="0"/>
                  <a:t>把对 </a:t>
                </a:r>
                <a14:m>
                  <m:oMath xmlns:m="http://schemas.openxmlformats.org/officeDocument/2006/math">
                    <m:r>
                      <a:rPr lang="ja-JP" altLang="en-US" i="1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ja-JP" altLang="ja-JP" dirty="0"/>
                  <a:t>的观测拉回为对 </a:t>
                </a:r>
                <a14:m>
                  <m:oMath xmlns:m="http://schemas.openxmlformats.org/officeDocument/2006/math">
                    <m:r>
                      <a:rPr lang="ja-JP" altLang="en-US" i="1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ja-JP" altLang="ja-JP" dirty="0"/>
                  <a:t>的观测。这就是许多数学中“对偶”的共同结构。</a:t>
                </a:r>
                <a:endParaRPr lang="en-US" altLang="ja-JP" dirty="0"/>
              </a:p>
              <a:p>
                <a:pPr marL="0" indent="0">
                  <a:buNone/>
                </a:pPr>
                <a:r>
                  <a:rPr lang="ja-JP" altLang="ja-JP" dirty="0"/>
                  <a:t>如果有一个 </a:t>
                </a:r>
                <a14:m>
                  <m:oMath xmlns:m="http://schemas.openxmlformats.org/officeDocument/2006/math">
                    <m:r>
                      <a:rPr lang="ja-JP" altLang="en-US" i="1"/>
                      <m:t>𝑌</m:t>
                    </m:r>
                  </m:oMath>
                </a14:m>
                <a:r>
                  <a:rPr lang="ja-JP" altLang="ja-JP" dirty="0"/>
                  <a:t>上的观测器 </a:t>
                </a:r>
                <a14:m>
                  <m:oMath xmlns:m="http://schemas.openxmlformats.org/officeDocument/2006/math">
                    <m:r>
                      <a:rPr lang="ja-JP" altLang="en-US" i="1"/>
                      <m:t>𝑔</m:t>
                    </m:r>
                    <m:r>
                      <a:rPr lang="en-US" altLang="ja-JP"/>
                      <m:t>:</m:t>
                    </m:r>
                    <m:r>
                      <a:rPr lang="ja-JP" altLang="en-US" i="1"/>
                      <m:t>𝑌</m:t>
                    </m:r>
                    <m:r>
                      <a:rPr lang="ja-JP" altLang="en-US"/>
                      <m:t>→</m:t>
                    </m:r>
                    <m:r>
                      <a:rPr lang="en-US" altLang="ja-JP"/>
                      <m:t>ℝ</m:t>
                    </m:r>
                  </m:oMath>
                </a14:m>
                <a:r>
                  <a:rPr lang="ja-JP" altLang="ja-JP" dirty="0"/>
                  <a:t>，那么通过 </a:t>
                </a:r>
                <a14:m>
                  <m:oMath xmlns:m="http://schemas.openxmlformats.org/officeDocument/2006/math">
                    <m:r>
                      <a:rPr lang="ja-JP" altLang="en-US" i="1"/>
                      <m:t>𝑇</m:t>
                    </m:r>
                  </m:oMath>
                </a14:m>
                <a:r>
                  <a:rPr lang="ja-JP" altLang="ja-JP" dirty="0"/>
                  <a:t>可以把它变成一个 </a:t>
                </a:r>
                <a14:m>
                  <m:oMath xmlns:m="http://schemas.openxmlformats.org/officeDocument/2006/math">
                    <m:r>
                      <a:rPr lang="ja-JP" altLang="en-US" i="1"/>
                      <m:t>𝑋</m:t>
                    </m:r>
                  </m:oMath>
                </a14:m>
                <a:r>
                  <a:rPr lang="ja-JP" altLang="ja-JP" dirty="0"/>
                  <a:t>上的观测器：</a:t>
                </a:r>
                <a14:m>
                  <m:oMath xmlns:m="http://schemas.openxmlformats.org/officeDocument/2006/math">
                    <m:r>
                      <a:rPr lang="ja-JP" altLang="en-US" i="1"/>
                      <m:t>𝑥</m:t>
                    </m:r>
                    <m:r>
                      <a:rPr lang="ja-JP" altLang="en-US"/>
                      <m:t>↦</m:t>
                    </m:r>
                    <m:r>
                      <a:rPr lang="ja-JP" altLang="en-US" i="1"/>
                      <m:t>𝑔</m:t>
                    </m:r>
                    <m:d>
                      <m:dPr>
                        <m:ctrlPr>
                          <a:rPr lang="ja-JP" altLang="en-US" i="1"/>
                        </m:ctrlPr>
                      </m:dPr>
                      <m:e>
                        <m:r>
                          <a:rPr lang="ja-JP" altLang="en-US" i="1"/>
                          <m:t>𝑇𝑥</m:t>
                        </m:r>
                      </m:e>
                    </m:d>
                    <m:r>
                      <a:rPr lang="en-US" altLang="ja-JP"/>
                      <m:t>.</m:t>
                    </m:r>
                  </m:oMath>
                </a14:m>
                <a:endParaRPr lang="en-US" altLang="ja-JP" dirty="0"/>
              </a:p>
              <a:p>
                <a:pPr marL="0" indent="0">
                  <a:buNone/>
                </a:pPr>
                <a:r>
                  <a:rPr lang="ja-JP" altLang="ja-JP" dirty="0"/>
                  <a:t>所以：</a:t>
                </a:r>
              </a:p>
              <a:p>
                <a14:m>
                  <m:oMath xmlns:m="http://schemas.openxmlformats.org/officeDocument/2006/math">
                    <m:r>
                      <m:rPr>
                        <m:nor/>
                      </m:rPr>
                      <a:rPr lang="ja-JP" altLang="en-US" b="0"/>
                      <m:t>状态向前：</m:t>
                    </m:r>
                    <m:r>
                      <m:rPr>
                        <m:nor/>
                      </m:rPr>
                      <a:rPr lang="ja-JP" altLang="en-US" b="0" i="1"/>
                      <m:t> </m:t>
                    </m:r>
                    <m:r>
                      <a:rPr lang="ja-JP" altLang="en-US" b="0" i="1"/>
                      <m:t>𝑥</m:t>
                    </m:r>
                    <m:r>
                      <a:rPr lang="ja-JP" altLang="en-US"/>
                      <m:t>↦</m:t>
                    </m:r>
                    <m:r>
                      <a:rPr lang="ja-JP" altLang="en-US" i="1"/>
                      <m:t>𝑇𝑥</m:t>
                    </m:r>
                    <m:r>
                      <a:rPr lang="en-US" altLang="ja-JP"/>
                      <m:t>,</m:t>
                    </m:r>
                  </m:oMath>
                </a14:m>
                <a:endParaRPr lang="en-US" altLang="ja-JP" b="0" dirty="0"/>
              </a:p>
              <a:p>
                <a14:m>
                  <m:oMath xmlns:m="http://schemas.openxmlformats.org/officeDocument/2006/math">
                    <m:r>
                      <m:rPr>
                        <m:nor/>
                      </m:rPr>
                      <a:rPr lang="ja-JP" altLang="en-US" b="0"/>
                      <m:t>观测向后：</m:t>
                    </m:r>
                    <m:r>
                      <m:rPr>
                        <m:nor/>
                      </m:rPr>
                      <a:rPr lang="ja-JP" altLang="en-US" b="0" i="1"/>
                      <m:t> </m:t>
                    </m:r>
                    <m:r>
                      <a:rPr lang="ja-JP" altLang="en-US" b="0" i="1"/>
                      <m:t>𝑔</m:t>
                    </m:r>
                    <m:r>
                      <a:rPr lang="ja-JP" altLang="en-US"/>
                      <m:t>↦</m:t>
                    </m:r>
                    <m:r>
                      <a:rPr lang="ja-JP" altLang="en-US" i="1"/>
                      <m:t>𝑔</m:t>
                    </m:r>
                    <m:r>
                      <a:rPr lang="ja-JP" altLang="en-US"/>
                      <m:t>∘</m:t>
                    </m:r>
                    <m:r>
                      <a:rPr lang="ja-JP" altLang="en-US" i="1"/>
                      <m:t>𝑇</m:t>
                    </m:r>
                    <m:r>
                      <a:rPr lang="en-US" altLang="ja-JP"/>
                      <m:t>.</m:t>
                    </m:r>
                  </m:oMath>
                </a14:m>
                <a:endParaRPr lang="en-US" altLang="ja-JP" b="0" dirty="0"/>
              </a:p>
              <a:p>
                <a:pPr marL="0" indent="0">
                  <a:buNone/>
                </a:pPr>
                <a:r>
                  <a:rPr lang="ja-JP" altLang="ja-JP" dirty="0"/>
                  <a:t>这就是对偶的反变性。</a:t>
                </a:r>
              </a:p>
              <a:p>
                <a:pPr marL="0" indent="0">
                  <a:buNone/>
                </a:pPr>
                <a:endParaRPr lang="ja-JP" altLang="ja-JP" dirty="0"/>
              </a:p>
            </p:txBody>
          </p:sp>
        </mc:Choice>
        <mc:Fallback>
          <p:sp>
            <p:nvSpPr>
              <p:cNvPr id="12" name="コンテンツ プレースホルダー 2">
                <a:extLst>
                  <a:ext uri="{FF2B5EF4-FFF2-40B4-BE49-F238E27FC236}">
                    <a16:creationId xmlns:a16="http://schemas.microsoft.com/office/drawing/2014/main" id="{ACB49020-F968-34B9-0826-2C0D03BBA01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89560" y="990600"/>
                <a:ext cx="11811000" cy="5440680"/>
              </a:xfrm>
              <a:blipFill>
                <a:blip r:embed="rId3"/>
                <a:stretch>
                  <a:fillRect l="-568" t="-1009" b="-8857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1496781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C3CD8D-3AD1-7B99-FF8C-087B3A8E6A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>
            <a:extLst>
              <a:ext uri="{FF2B5EF4-FFF2-40B4-BE49-F238E27FC236}">
                <a16:creationId xmlns:a16="http://schemas.microsoft.com/office/drawing/2014/main" id="{CF52FAD8-2A57-E702-1F83-0B888FC19C2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rPr lang="ja-JP" altLang="ja-JP" b="1" dirty="0"/>
              <a:t>伴随的基本性质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コンテンツ プレースホルダー 2">
                <a:extLst>
                  <a:ext uri="{FF2B5EF4-FFF2-40B4-BE49-F238E27FC236}">
                    <a16:creationId xmlns:a16="http://schemas.microsoft.com/office/drawing/2014/main" id="{24FB2C8A-AFB2-1235-AE7B-4E5972A8DDF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09880" y="1041400"/>
                <a:ext cx="11811000" cy="5440680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ja-JP" altLang="ja-JP" dirty="0"/>
                  <a:t>若 </a:t>
                </a:r>
                <a14:m>
                  <m:oMath xmlns:m="http://schemas.openxmlformats.org/officeDocument/2006/math">
                    <m:r>
                      <a:rPr lang="ja-JP" altLang="en-US" i="1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altLang="ja-JP">
                        <a:latin typeface="Cambria Math" panose="02040503050406030204" pitchFamily="18" charset="0"/>
                      </a:rPr>
                      <m:t>:</m:t>
                    </m:r>
                    <m:r>
                      <a:rPr lang="ja-JP" altLang="en-US" i="1">
                        <a:latin typeface="Cambria Math" panose="02040503050406030204" pitchFamily="18" charset="0"/>
                      </a:rPr>
                      <m:t>𝑋</m:t>
                    </m:r>
                    <m:r>
                      <a:rPr lang="ja-JP" altLang="en-US">
                        <a:latin typeface="Cambria Math" panose="02040503050406030204" pitchFamily="18" charset="0"/>
                      </a:rPr>
                      <m:t>→</m:t>
                    </m:r>
                    <m:r>
                      <a:rPr lang="ja-JP" altLang="en-US" i="1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ja-JP" altLang="ja-JP" dirty="0"/>
                  <a:t>、</a:t>
                </a:r>
                <a14:m>
                  <m:oMath xmlns:m="http://schemas.openxmlformats.org/officeDocument/2006/math">
                    <m:r>
                      <a:rPr lang="ja-JP" altLang="en-US" i="1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altLang="ja-JP">
                        <a:latin typeface="Cambria Math" panose="02040503050406030204" pitchFamily="18" charset="0"/>
                      </a:rPr>
                      <m:t>:</m:t>
                    </m:r>
                    <m:r>
                      <a:rPr lang="ja-JP" altLang="en-US" i="1">
                        <a:latin typeface="Cambria Math" panose="02040503050406030204" pitchFamily="18" charset="0"/>
                      </a:rPr>
                      <m:t>𝑌</m:t>
                    </m:r>
                    <m:r>
                      <a:rPr lang="ja-JP" altLang="en-US">
                        <a:latin typeface="Cambria Math" panose="02040503050406030204" pitchFamily="18" charset="0"/>
                      </a:rPr>
                      <m:t>→</m:t>
                    </m:r>
                    <m:r>
                      <a:rPr lang="ja-JP" altLang="en-US" i="1">
                        <a:latin typeface="Cambria Math" panose="02040503050406030204" pitchFamily="18" charset="0"/>
                      </a:rPr>
                      <m:t>𝑍</m:t>
                    </m:r>
                  </m:oMath>
                </a14:m>
                <a:r>
                  <a:rPr lang="ja-JP" altLang="ja-JP" dirty="0"/>
                  <a:t>，则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ja-JP" alt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ja-JP" alt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ja-JP" altLang="en-US" i="1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  <m:r>
                                <a:rPr lang="ja-JP" altLang="en-US">
                                  <a:latin typeface="Cambria Math" panose="02040503050406030204" pitchFamily="18" charset="0"/>
                                </a:rPr>
                                <m:t>∘</m:t>
                              </m:r>
                              <m:r>
                                <a:rPr lang="ja-JP" altLang="en-US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</m:d>
                        </m:e>
                        <m:sup>
                          <m:r>
                            <a:rPr lang="ja-JP" altLang="en-US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en-US" altLang="ja-JP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ja-JP" alt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ja-JP" altLang="en-US" i="1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p>
                          <m:r>
                            <a:rPr lang="ja-JP" altLang="en-US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ja-JP" altLang="en-US">
                          <a:latin typeface="Cambria Math" panose="02040503050406030204" pitchFamily="18" charset="0"/>
                        </a:rPr>
                        <m:t>∘</m:t>
                      </m:r>
                      <m:sSup>
                        <m:sSupPr>
                          <m:ctrlPr>
                            <a:rPr lang="ja-JP" alt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ja-JP" altLang="en-US" i="1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p>
                          <m:r>
                            <a:rPr lang="ja-JP" altLang="en-US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en-US" altLang="ja-JP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en-US" altLang="ja-JP" dirty="0"/>
              </a:p>
              <a:p>
                <a:pPr marL="0" indent="0">
                  <a:buNone/>
                </a:pPr>
                <a:r>
                  <a:rPr lang="ja-JP" altLang="ja-JP" dirty="0"/>
                  <a:t>恒等映射：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ja-JP" alt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ja-JP" altLang="en-US" i="1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ja-JP" altLang="en-US" i="1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  <m:sup>
                        <m:r>
                          <a:rPr lang="ja-JP" altLang="en-US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bSup>
                    <m:r>
                      <a:rPr lang="en-US" altLang="ja-JP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ja-JP" alt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ja-JP" altLang="en-US" i="1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sSup>
                          <m:sSupPr>
                            <m:ctrlPr>
                              <a:rPr lang="ja-JP" alt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ja-JP" altLang="en-US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p>
                            <m:r>
                              <a:rPr lang="ja-JP" altLang="en-US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</m:sub>
                    </m:sSub>
                    <m:r>
                      <a:rPr lang="en-US" altLang="ja-JP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altLang="ja-JP" dirty="0"/>
              </a:p>
              <a:p>
                <a:pPr marL="0" indent="0">
                  <a:buNone/>
                </a:pPr>
                <a:r>
                  <a:rPr lang="ja-JP" altLang="ja-JP" dirty="0"/>
                  <a:t>范数关系：</a:t>
                </a:r>
                <a14:m>
                  <m:oMath xmlns:m="http://schemas.openxmlformats.org/officeDocument/2006/math">
                    <m:r>
                      <a:rPr lang="ja-JP" altLang="en-US">
                        <a:latin typeface="Cambria Math" panose="02040503050406030204" pitchFamily="18" charset="0"/>
                      </a:rPr>
                      <m:t>∥</m:t>
                    </m:r>
                    <m:sSup>
                      <m:sSupPr>
                        <m:ctrlPr>
                          <a:rPr lang="ja-JP" alt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ja-JP" altLang="en-US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p>
                        <m:r>
                          <a:rPr lang="ja-JP" altLang="en-US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ja-JP" altLang="en-US">
                        <a:latin typeface="Cambria Math" panose="02040503050406030204" pitchFamily="18" charset="0"/>
                      </a:rPr>
                      <m:t>∥</m:t>
                    </m:r>
                    <m:r>
                      <a:rPr lang="en-US" altLang="ja-JP">
                        <a:latin typeface="Cambria Math" panose="02040503050406030204" pitchFamily="18" charset="0"/>
                      </a:rPr>
                      <m:t>=∥</m:t>
                    </m:r>
                    <m:r>
                      <a:rPr lang="ja-JP" altLang="en-US" i="1">
                        <a:latin typeface="Cambria Math" panose="02040503050406030204" pitchFamily="18" charset="0"/>
                      </a:rPr>
                      <m:t>𝑇</m:t>
                    </m:r>
                    <m:r>
                      <a:rPr lang="ja-JP" altLang="en-US">
                        <a:latin typeface="Cambria Math" panose="02040503050406030204" pitchFamily="18" charset="0"/>
                      </a:rPr>
                      <m:t>∥</m:t>
                    </m:r>
                    <m:r>
                      <a:rPr lang="en-US" altLang="ja-JP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altLang="ja-JP" dirty="0"/>
              </a:p>
              <a:p>
                <a:pPr marL="0" indent="0">
                  <a:buNone/>
                </a:pPr>
                <a:r>
                  <a:rPr lang="ja-JP" altLang="ja-JP" dirty="0"/>
                  <a:t>所以对偶是一个反变过程：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ja-JP" altLang="en-US" i="1"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ja-JP" altLang="en-US">
                          <a:latin typeface="Cambria Math" panose="02040503050406030204" pitchFamily="18" charset="0"/>
                        </a:rPr>
                        <m:t>↦</m:t>
                      </m:r>
                      <m:sSup>
                        <m:sSupPr>
                          <m:ctrlPr>
                            <a:rPr lang="ja-JP" alt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ja-JP" altLang="en-US" i="1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p>
                          <m:r>
                            <a:rPr lang="ja-JP" altLang="en-US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en-US" altLang="ja-JP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ja-JP" altLang="en-US" i="1"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lang="ja-JP" altLang="en-US">
                          <a:latin typeface="Cambria Math" panose="02040503050406030204" pitchFamily="18" charset="0"/>
                        </a:rPr>
                        <m:t>↦</m:t>
                      </m:r>
                      <m:sSup>
                        <m:sSupPr>
                          <m:ctrlPr>
                            <a:rPr lang="ja-JP" alt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ja-JP" altLang="en-US" i="1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p>
                          <m:r>
                            <a:rPr lang="ja-JP" altLang="en-US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en-US" altLang="ja-JP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en-US" altLang="ja-JP" dirty="0"/>
              </a:p>
              <a:p>
                <a:pPr marL="0" indent="0">
                  <a:buNone/>
                </a:pPr>
                <a:r>
                  <a:rPr lang="zh-CN" altLang="en-US" dirty="0"/>
                  <a:t>范畴上看：</a:t>
                </a:r>
                <a:endParaRPr lang="en-US" altLang="ja-JP" dirty="0"/>
              </a:p>
              <a:p>
                <a:pPr marL="0" indent="0">
                  <a:buNone/>
                </a:pPr>
                <a:r>
                  <a:rPr lang="ja-JP" altLang="ja-JP" dirty="0"/>
                  <a:t>在 Banach 空间范畴 </a:t>
                </a:r>
                <a14:m>
                  <m:oMath xmlns:m="http://schemas.openxmlformats.org/officeDocument/2006/math">
                    <m:r>
                      <a:rPr lang="ja-JP" altLang="en-US" b="1"/>
                      <m:t>𝐁𝐚𝐧</m:t>
                    </m:r>
                  </m:oMath>
                </a14:m>
                <a:r>
                  <a:rPr lang="ja-JP" altLang="ja-JP" dirty="0"/>
                  <a:t>中：</a:t>
                </a:r>
              </a:p>
              <a:p>
                <a:r>
                  <a:rPr lang="ja-JP" altLang="ja-JP" dirty="0"/>
                  <a:t>对象：Banach 空间； </a:t>
                </a:r>
              </a:p>
              <a:p>
                <a:r>
                  <a:rPr lang="ja-JP" altLang="ja-JP" dirty="0"/>
                  <a:t>态射：连续线性映射。 </a:t>
                </a:r>
              </a:p>
              <a:p>
                <a:pPr marL="0" indent="0">
                  <a:buNone/>
                </a:pPr>
                <a:r>
                  <a:rPr lang="ja-JP" altLang="ja-JP" dirty="0"/>
                  <a:t>对偶化给出：</a:t>
                </a:r>
                <a14:m>
                  <m:oMath xmlns:m="http://schemas.openxmlformats.org/officeDocument/2006/math">
                    <m:r>
                      <a:rPr lang="ja-JP" altLang="en-US" i="1"/>
                      <m:t>𝑋</m:t>
                    </m:r>
                    <m:r>
                      <a:rPr lang="ja-JP" altLang="en-US"/>
                      <m:t>↦</m:t>
                    </m:r>
                    <m:sSup>
                      <m:sSupPr>
                        <m:ctrlPr>
                          <a:rPr lang="ja-JP" altLang="en-US" i="1"/>
                        </m:ctrlPr>
                      </m:sSupPr>
                      <m:e>
                        <m:r>
                          <a:rPr lang="ja-JP" altLang="en-US" i="1"/>
                          <m:t>𝑋</m:t>
                        </m:r>
                      </m:e>
                      <m:sup>
                        <m:r>
                          <a:rPr lang="ja-JP" altLang="en-US"/>
                          <m:t>∗</m:t>
                        </m:r>
                      </m:sup>
                    </m:sSup>
                    <m:r>
                      <a:rPr lang="en-US" altLang="ja-JP"/>
                      <m:t>,</m:t>
                    </m:r>
                  </m:oMath>
                </a14:m>
                <a:r>
                  <a:rPr lang="en-US" altLang="ja-JP" dirty="0"/>
                  <a:t>  </a:t>
                </a:r>
                <a14:m>
                  <m:oMath xmlns:m="http://schemas.openxmlformats.org/officeDocument/2006/math">
                    <m:r>
                      <a:rPr lang="ja-JP" altLang="en-US" i="1" smtClean="0">
                        <a:solidFill>
                          <a:srgbClr val="C00000"/>
                        </a:solidFill>
                      </a:rPr>
                      <m:t>𝑇</m:t>
                    </m:r>
                    <m:r>
                      <a:rPr lang="en-US" altLang="ja-JP">
                        <a:solidFill>
                          <a:srgbClr val="C00000"/>
                        </a:solidFill>
                      </a:rPr>
                      <m:t>:</m:t>
                    </m:r>
                    <m:r>
                      <a:rPr lang="ja-JP" altLang="en-US" i="1">
                        <a:solidFill>
                          <a:srgbClr val="C00000"/>
                        </a:solidFill>
                      </a:rPr>
                      <m:t>𝑋</m:t>
                    </m:r>
                    <m:r>
                      <a:rPr lang="ja-JP" altLang="en-US">
                        <a:solidFill>
                          <a:srgbClr val="C00000"/>
                        </a:solidFill>
                      </a:rPr>
                      <m:t>→</m:t>
                    </m:r>
                    <m:r>
                      <a:rPr lang="ja-JP" altLang="en-US" i="1">
                        <a:solidFill>
                          <a:srgbClr val="C00000"/>
                        </a:solidFill>
                      </a:rPr>
                      <m:t>𝑌</m:t>
                    </m:r>
                    <m:r>
                      <a:rPr lang="ja-JP" altLang="en-US">
                        <a:solidFill>
                          <a:srgbClr val="C00000"/>
                        </a:solidFill>
                      </a:rPr>
                      <m:t> </m:t>
                    </m:r>
                    <m:r>
                      <a:rPr lang="ja-JP" altLang="en-US"/>
                      <m:t>↦ </m:t>
                    </m:r>
                    <m:sSup>
                      <m:sSupPr>
                        <m:ctrlPr>
                          <a:rPr lang="ja-JP" altLang="en-US" i="1" smtClean="0">
                            <a:solidFill>
                              <a:schemeClr val="accent1">
                                <a:lumMod val="50000"/>
                              </a:schemeClr>
                            </a:solidFill>
                          </a:rPr>
                        </m:ctrlPr>
                      </m:sSupPr>
                      <m:e>
                        <m:r>
                          <a:rPr lang="ja-JP" altLang="en-US" i="1">
                            <a:solidFill>
                              <a:schemeClr val="accent1">
                                <a:lumMod val="50000"/>
                              </a:schemeClr>
                            </a:solidFill>
                          </a:rPr>
                          <m:t>𝑇</m:t>
                        </m:r>
                      </m:e>
                      <m:sup>
                        <m:r>
                          <a:rPr lang="ja-JP" altLang="en-US">
                            <a:solidFill>
                              <a:schemeClr val="accent1">
                                <a:lumMod val="50000"/>
                              </a:schemeClr>
                            </a:solidFill>
                          </a:rPr>
                          <m:t>∗</m:t>
                        </m:r>
                      </m:sup>
                    </m:sSup>
                    <m:r>
                      <a:rPr lang="en-US" altLang="ja-JP">
                        <a:solidFill>
                          <a:schemeClr val="accent1">
                            <a:lumMod val="50000"/>
                          </a:schemeClr>
                        </a:solidFill>
                      </a:rPr>
                      <m:t>:</m:t>
                    </m:r>
                    <m:sSup>
                      <m:sSupPr>
                        <m:ctrlPr>
                          <a:rPr lang="ja-JP" altLang="en-US" i="1">
                            <a:solidFill>
                              <a:schemeClr val="accent1">
                                <a:lumMod val="50000"/>
                              </a:schemeClr>
                            </a:solidFill>
                          </a:rPr>
                        </m:ctrlPr>
                      </m:sSupPr>
                      <m:e>
                        <m:r>
                          <a:rPr lang="ja-JP" altLang="en-US" i="1">
                            <a:solidFill>
                              <a:schemeClr val="accent1">
                                <a:lumMod val="50000"/>
                              </a:schemeClr>
                            </a:solidFill>
                          </a:rPr>
                          <m:t>𝑌</m:t>
                        </m:r>
                      </m:e>
                      <m:sup>
                        <m:r>
                          <a:rPr lang="ja-JP" altLang="en-US">
                            <a:solidFill>
                              <a:schemeClr val="accent1">
                                <a:lumMod val="50000"/>
                              </a:schemeClr>
                            </a:solidFill>
                          </a:rPr>
                          <m:t>∗</m:t>
                        </m:r>
                      </m:sup>
                    </m:sSup>
                    <m:r>
                      <a:rPr lang="ja-JP" altLang="en-US">
                        <a:solidFill>
                          <a:schemeClr val="accent1">
                            <a:lumMod val="50000"/>
                          </a:schemeClr>
                        </a:solidFill>
                      </a:rPr>
                      <m:t>→</m:t>
                    </m:r>
                    <m:sSup>
                      <m:sSupPr>
                        <m:ctrlPr>
                          <a:rPr lang="ja-JP" altLang="en-US" i="1">
                            <a:solidFill>
                              <a:schemeClr val="accent1">
                                <a:lumMod val="50000"/>
                              </a:schemeClr>
                            </a:solidFill>
                          </a:rPr>
                        </m:ctrlPr>
                      </m:sSupPr>
                      <m:e>
                        <m:r>
                          <a:rPr lang="ja-JP" altLang="en-US" i="1">
                            <a:solidFill>
                              <a:schemeClr val="accent1">
                                <a:lumMod val="50000"/>
                              </a:schemeClr>
                            </a:solidFill>
                          </a:rPr>
                          <m:t>𝑋</m:t>
                        </m:r>
                      </m:e>
                      <m:sup>
                        <m:r>
                          <a:rPr lang="ja-JP" altLang="en-US">
                            <a:solidFill>
                              <a:schemeClr val="accent1">
                                <a:lumMod val="50000"/>
                              </a:schemeClr>
                            </a:solidFill>
                          </a:rPr>
                          <m:t>∗</m:t>
                        </m:r>
                      </m:sup>
                    </m:sSup>
                    <m:r>
                      <a:rPr lang="en-US" altLang="ja-JP"/>
                      <m:t>.</m:t>
                    </m:r>
                  </m:oMath>
                </a14:m>
                <a:endParaRPr lang="en-US" altLang="ja-JP" dirty="0"/>
              </a:p>
              <a:p>
                <a:pPr marL="0" indent="0">
                  <a:buNone/>
                </a:pPr>
                <a:r>
                  <a:rPr lang="ja-JP" altLang="ja-JP" dirty="0"/>
                  <a:t>是一个反变函子：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ja-JP" altLang="en-US"/>
                          </m:ctrlPr>
                        </m:sSupPr>
                        <m:e>
                          <m:d>
                            <m:dPr>
                              <m:ctrlPr>
                                <a:rPr lang="ja-JP" altLang="en-US"/>
                              </m:ctrlPr>
                            </m:dPr>
                            <m:e>
                              <m:r>
                                <a:rPr lang="ja-JP" altLang="en-US"/>
                                <m:t>−</m:t>
                              </m:r>
                            </m:e>
                          </m:d>
                        </m:e>
                        <m:sup>
                          <m:r>
                            <a:rPr lang="ja-JP" altLang="en-US"/>
                            <m:t>∗</m:t>
                          </m:r>
                        </m:sup>
                      </m:sSup>
                      <m:r>
                        <a:rPr lang="en-US" altLang="ja-JP"/>
                        <m:t>:</m:t>
                      </m:r>
                      <m:sSup>
                        <m:sSupPr>
                          <m:ctrlPr>
                            <a:rPr lang="ja-JP" altLang="en-US" i="1"/>
                          </m:ctrlPr>
                        </m:sSupPr>
                        <m:e>
                          <m:r>
                            <a:rPr lang="ja-JP" altLang="en-US" b="1"/>
                            <m:t>𝐁𝐚𝐧</m:t>
                          </m:r>
                        </m:e>
                        <m:sup>
                          <m:r>
                            <a:rPr lang="ja-JP" altLang="en-US" i="1"/>
                            <m:t>𝑜𝑝</m:t>
                          </m:r>
                        </m:sup>
                      </m:sSup>
                      <m:r>
                        <a:rPr lang="ja-JP" altLang="en-US"/>
                        <m:t>→</m:t>
                      </m:r>
                      <m:r>
                        <a:rPr lang="ja-JP" altLang="en-US" b="1"/>
                        <m:t>𝐁𝐚𝐧</m:t>
                      </m:r>
                      <m:r>
                        <a:rPr lang="en-US" altLang="ja-JP"/>
                        <m:t>.</m:t>
                      </m:r>
                    </m:oMath>
                  </m:oMathPara>
                </a14:m>
                <a:endParaRPr lang="en-US" altLang="ja-JP" b="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ja-JP" altLang="en-US" i="1"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ja-JP" altLang="en-US">
                          <a:latin typeface="Cambria Math" panose="02040503050406030204" pitchFamily="18" charset="0"/>
                        </a:rPr>
                        <m:t>↦</m:t>
                      </m:r>
                      <m:sSup>
                        <m:sSupPr>
                          <m:ctrlPr>
                            <a:rPr lang="ja-JP" alt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ja-JP" altLang="en-US" i="1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p>
                          <m:r>
                            <a:rPr lang="ja-JP" altLang="en-US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</m:oMath>
                  </m:oMathPara>
                </a14:m>
                <a:endParaRPr lang="en-US" altLang="ja-JP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ja-JP" altLang="en-US">
                          <a:latin typeface="Cambria Math" panose="02040503050406030204" pitchFamily="18" charset="0"/>
                        </a:rPr>
                        <m:t>↦</m:t>
                      </m:r>
                      <m:sSup>
                        <m:sSupPr>
                          <m:ctrlPr>
                            <a:rPr lang="ja-JP" alt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p>
                          <m:r>
                            <a:rPr lang="ja-JP" altLang="en-US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</m:oMath>
                  </m:oMathPara>
                </a14:m>
                <a:endParaRPr lang="en-US" altLang="ja-JP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ja-JP" altLang="en-US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lang="en-US" altLang="ja-JP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lang="ja-JP" altLang="en-US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ja-JP" altLang="en-US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ja-JP" altLang="en-US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ja-JP" altLang="en-US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ja-JP" altLang="en-US">
                          <a:latin typeface="Cambria Math" panose="02040503050406030204" pitchFamily="18" charset="0"/>
                        </a:rPr>
                        <m:t>↦ </m:t>
                      </m:r>
                      <m:sSup>
                        <m:sSupPr>
                          <m:ctrlPr>
                            <a:rPr lang="ja-JP" altLang="en-US" i="1">
                              <a:solidFill>
                                <a:schemeClr val="accent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ja-JP" altLang="en-US" i="1">
                              <a:solidFill>
                                <a:schemeClr val="accent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p>
                          <m:r>
                            <a:rPr lang="ja-JP" altLang="en-US">
                              <a:solidFill>
                                <a:schemeClr val="accent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en-US" altLang="ja-JP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:</m:t>
                      </m:r>
                      <m:sSup>
                        <m:sSupPr>
                          <m:ctrlPr>
                            <a:rPr lang="ja-JP" altLang="en-US" i="1">
                              <a:solidFill>
                                <a:schemeClr val="accent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ja-JP" altLang="en-US" i="1">
                              <a:solidFill>
                                <a:schemeClr val="accent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p>
                          <m:r>
                            <a:rPr lang="ja-JP" altLang="en-US">
                              <a:solidFill>
                                <a:schemeClr val="accent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ja-JP" altLang="en-US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→</m:t>
                      </m:r>
                      <m:sSup>
                        <m:sSupPr>
                          <m:ctrlPr>
                            <a:rPr lang="ja-JP" altLang="en-US" i="1">
                              <a:solidFill>
                                <a:schemeClr val="accent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ja-JP" altLang="en-US" i="1">
                              <a:solidFill>
                                <a:schemeClr val="accent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p>
                          <m:r>
                            <a:rPr lang="ja-JP" altLang="en-US">
                              <a:solidFill>
                                <a:schemeClr val="accent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</m:oMath>
                  </m:oMathPara>
                </a14:m>
                <a:endParaRPr lang="en-US" altLang="ja-JP" dirty="0"/>
              </a:p>
              <a:p>
                <a:pPr marL="0" indent="0">
                  <a:buNone/>
                </a:pPr>
                <a:endParaRPr lang="en-US" altLang="ja-JP" b="0" dirty="0"/>
              </a:p>
              <a:p>
                <a:pPr marL="0" indent="0">
                  <a:buNone/>
                </a:pPr>
                <a:br>
                  <a:rPr lang="ja-JP" altLang="ja-JP" dirty="0"/>
                </a:br>
                <a:endParaRPr lang="ja-JP" altLang="ja-JP" dirty="0"/>
              </a:p>
            </p:txBody>
          </p:sp>
        </mc:Choice>
        <mc:Fallback>
          <p:sp>
            <p:nvSpPr>
              <p:cNvPr id="12" name="コンテンツ プレースホルダー 2">
                <a:extLst>
                  <a:ext uri="{FF2B5EF4-FFF2-40B4-BE49-F238E27FC236}">
                    <a16:creationId xmlns:a16="http://schemas.microsoft.com/office/drawing/2014/main" id="{24FB2C8A-AFB2-1235-AE7B-4E5972A8DDF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09880" y="1041400"/>
                <a:ext cx="11811000" cy="5440680"/>
              </a:xfrm>
              <a:blipFill>
                <a:blip r:embed="rId3"/>
                <a:stretch>
                  <a:fillRect l="-568" t="-1009" b="-1121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テキスト ボックス 2">
                <a:extLst>
                  <a:ext uri="{FF2B5EF4-FFF2-40B4-BE49-F238E27FC236}">
                    <a16:creationId xmlns:a16="http://schemas.microsoft.com/office/drawing/2014/main" id="{28FE4605-892B-FAE2-1D3A-A71189141457}"/>
                  </a:ext>
                </a:extLst>
              </p:cNvPr>
              <p:cNvSpPr txBox="1"/>
              <p:nvPr/>
            </p:nvSpPr>
            <p:spPr>
              <a:xfrm>
                <a:off x="7452360" y="2868623"/>
                <a:ext cx="4668520" cy="313932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ja-JP" altLang="ja-JP" sz="1800" dirty="0">
                    <a:solidFill>
                      <a:srgbClr val="7030A0"/>
                    </a:solidFill>
                  </a:rPr>
                  <a:t>只在普通范畴 </a:t>
                </a:r>
                <a14:m>
                  <m:oMath xmlns:m="http://schemas.openxmlformats.org/officeDocument/2006/math">
                    <m:r>
                      <a:rPr lang="ja-JP" altLang="en-US" sz="1800" b="1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𝐁</m:t>
                    </m:r>
                    <m:r>
                      <a:rPr lang="ja-JP" altLang="en-US" sz="1800" b="1" i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𝐚𝐧</m:t>
                    </m:r>
                  </m:oMath>
                </a14:m>
                <a:r>
                  <a:rPr lang="ja-JP" altLang="ja-JP" sz="1800" dirty="0">
                    <a:solidFill>
                      <a:srgbClr val="7030A0"/>
                    </a:solidFill>
                  </a:rPr>
                  <a:t>中看，态射只是连续线性映射，范畴结构本身只要求复合和恒等。</a:t>
                </a:r>
              </a:p>
              <a:p>
                <a:pPr>
                  <a:buNone/>
                </a:pPr>
                <a:r>
                  <a:rPr lang="ja-JP" altLang="ja-JP" sz="1800" dirty="0">
                    <a:solidFill>
                      <a:srgbClr val="7030A0"/>
                    </a:solidFill>
                  </a:rPr>
                  <a:t>但 Banach 空间范畴还有“度量/范数”的增强结构：每个 Hom 集合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ja-JP" sz="180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Hom</m:t>
                      </m:r>
                      <m:r>
                        <a:rPr lang="ja-JP" altLang="en-US" sz="1800" i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⁡</m:t>
                      </m:r>
                      <m:d>
                        <m:dPr>
                          <m:sepChr m:val=","/>
                          <m:ctrlPr>
                            <a:rPr lang="ja-JP" altLang="en-US" sz="18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ja-JP" altLang="en-US" sz="18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e>
                          <m:r>
                            <a:rPr lang="ja-JP" altLang="en-US" sz="18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</m:d>
                    </m:oMath>
                  </m:oMathPara>
                </a14:m>
                <a:endParaRPr lang="ja-JP" altLang="en-US" sz="1800" dirty="0">
                  <a:solidFill>
                    <a:srgbClr val="7030A0"/>
                  </a:solidFill>
                </a:endParaRPr>
              </a:p>
              <a:p>
                <a:pPr>
                  <a:buNone/>
                </a:pPr>
                <a:r>
                  <a:rPr lang="ja-JP" altLang="ja-JP" sz="1800" dirty="0">
                    <a:solidFill>
                      <a:srgbClr val="7030A0"/>
                    </a:solidFill>
                  </a:rPr>
                  <a:t>本身也是赋范空间，范数就是算子范数。</a:t>
                </a:r>
              </a:p>
              <a:p>
                <a:pPr>
                  <a:buNone/>
                </a:pPr>
                <a:r>
                  <a:rPr lang="ja-JP" altLang="ja-JP" sz="1800" dirty="0">
                    <a:solidFill>
                      <a:srgbClr val="7030A0"/>
                    </a:solidFill>
                  </a:rPr>
                  <a:t>因此对偶化不只是反变函子，而且是一个保持算子范数的过程：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ja-JP" altLang="en-US" sz="18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lang="ja-JP" altLang="en-US" sz="1800" i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↦</m:t>
                      </m:r>
                      <m:sSup>
                        <m:sSupPr>
                          <m:ctrlPr>
                            <a:rPr lang="ja-JP" altLang="en-US" sz="18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ja-JP" altLang="en-US" sz="18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p>
                          <m:r>
                            <a:rPr lang="ja-JP" altLang="en-US" sz="1800" i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</m:oMath>
                  </m:oMathPara>
                </a14:m>
                <a:endParaRPr lang="ja-JP" altLang="en-US" sz="1800" dirty="0">
                  <a:solidFill>
                    <a:srgbClr val="7030A0"/>
                  </a:solidFill>
                </a:endParaRPr>
              </a:p>
              <a:p>
                <a:pPr>
                  <a:buNone/>
                </a:pPr>
                <a:r>
                  <a:rPr lang="ja-JP" altLang="ja-JP" sz="1800" dirty="0">
                    <a:solidFill>
                      <a:srgbClr val="7030A0"/>
                    </a:solidFill>
                  </a:rPr>
                  <a:t>满足：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ja-JP" altLang="en-US" sz="180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∥</m:t>
                      </m:r>
                      <m:sSup>
                        <m:sSupPr>
                          <m:ctrlPr>
                            <a:rPr lang="ja-JP" altLang="en-US" sz="18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ja-JP" altLang="en-US" sz="18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p>
                          <m:r>
                            <a:rPr lang="ja-JP" altLang="en-US" sz="1800" i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ja-JP" altLang="en-US" sz="1800" i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∥</m:t>
                      </m:r>
                      <m:r>
                        <a:rPr lang="en-US" altLang="ja-JP" sz="1800" i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=∥</m:t>
                      </m:r>
                      <m:r>
                        <a:rPr lang="ja-JP" altLang="en-US" sz="18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lang="ja-JP" altLang="en-US" sz="1800" i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∥</m:t>
                      </m:r>
                      <m:r>
                        <a:rPr lang="en-US" altLang="ja-JP" sz="1800" i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en-US" altLang="ja-JP" sz="1800" dirty="0">
                  <a:solidFill>
                    <a:srgbClr val="7030A0"/>
                  </a:solidFill>
                </a:endParaRPr>
              </a:p>
            </p:txBody>
          </p:sp>
        </mc:Choice>
        <mc:Fallback>
          <p:sp>
            <p:nvSpPr>
              <p:cNvPr id="3" name="テキスト ボックス 2">
                <a:extLst>
                  <a:ext uri="{FF2B5EF4-FFF2-40B4-BE49-F238E27FC236}">
                    <a16:creationId xmlns:a16="http://schemas.microsoft.com/office/drawing/2014/main" id="{28FE4605-892B-FAE2-1D3A-A711891414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52360" y="2868623"/>
                <a:ext cx="4668520" cy="3139321"/>
              </a:xfrm>
              <a:prstGeom prst="rect">
                <a:avLst/>
              </a:prstGeom>
              <a:blipFill>
                <a:blip r:embed="rId4"/>
                <a:stretch>
                  <a:fillRect l="-1176" t="-1748" r="-392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9417454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1A1A43-CF76-C1B7-CD70-07F4F01CB8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>
            <a:extLst>
              <a:ext uri="{FF2B5EF4-FFF2-40B4-BE49-F238E27FC236}">
                <a16:creationId xmlns:a16="http://schemas.microsoft.com/office/drawing/2014/main" id="{2E1FDF19-C875-AFAB-41BA-9622597B06B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rPr lang="ja-JP" altLang="ja-JP" b="1" dirty="0"/>
              <a:t>矩阵转置与 Hilbert 伴随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コンテンツ プレースホルダー 2">
                <a:extLst>
                  <a:ext uri="{FF2B5EF4-FFF2-40B4-BE49-F238E27FC236}">
                    <a16:creationId xmlns:a16="http://schemas.microsoft.com/office/drawing/2014/main" id="{4076179A-43B8-43AF-D974-BB631C4F2E4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09880" y="1183640"/>
                <a:ext cx="11811000" cy="5440680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ja-JP" altLang="ja-JP" dirty="0"/>
                  <a:t>有限维中：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ja-JP" altLang="en-US" i="1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altLang="ja-JP">
                          <a:latin typeface="Cambria Math" panose="02040503050406030204" pitchFamily="18" charset="0"/>
                        </a:rPr>
                        <m:t>:</m:t>
                      </m:r>
                      <m:sSup>
                        <m:sSupPr>
                          <m:ctrlPr>
                            <a:rPr lang="ja-JP" alt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ja-JP">
                              <a:latin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r>
                            <a:rPr lang="ja-JP" altLang="en-US" i="1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  <m:r>
                        <a:rPr lang="ja-JP" altLang="en-US">
                          <a:latin typeface="Cambria Math" panose="02040503050406030204" pitchFamily="18" charset="0"/>
                        </a:rPr>
                        <m:t>→</m:t>
                      </m:r>
                      <m:sSup>
                        <m:sSupPr>
                          <m:ctrlPr>
                            <a:rPr lang="ja-JP" alt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ja-JP">
                              <a:latin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r>
                            <a:rPr lang="ja-JP" altLang="en-US" i="1">
                              <a:latin typeface="Cambria Math" panose="02040503050406030204" pitchFamily="18" charset="0"/>
                            </a:rPr>
                            <m:t>𝑚</m:t>
                          </m:r>
                        </m:sup>
                      </m:sSup>
                      <m:r>
                        <a:rPr lang="en-US" altLang="ja-JP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en-US" altLang="ja-JP" dirty="0"/>
              </a:p>
              <a:p>
                <a:pPr marL="0" indent="0">
                  <a:buNone/>
                </a:pPr>
                <a:r>
                  <a:rPr lang="ja-JP" altLang="ja-JP" dirty="0"/>
                  <a:t>对偶映射：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ja-JP" alt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ja-JP" altLang="en-US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p>
                          <m:r>
                            <a:rPr lang="ja-JP" altLang="en-US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en-US" altLang="ja-JP">
                          <a:latin typeface="Cambria Math" panose="02040503050406030204" pitchFamily="18" charset="0"/>
                        </a:rPr>
                        <m:t>:</m:t>
                      </m:r>
                      <m:sSup>
                        <m:sSupPr>
                          <m:ctrlPr>
                            <a:rPr lang="ja-JP" alt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ja-JP" alt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ja-JP" alt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ja-JP">
                                      <a:latin typeface="Cambria Math" panose="02040503050406030204" pitchFamily="18" charset="0"/>
                                    </a:rPr>
                                    <m:t>ℝ</m:t>
                                  </m:r>
                                </m:e>
                                <m:sup>
                                  <m:r>
                                    <a:rPr lang="ja-JP" altLang="en-US" i="1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sup>
                              </m:sSup>
                            </m:e>
                          </m:d>
                        </m:e>
                        <m:sup>
                          <m:r>
                            <a:rPr lang="ja-JP" altLang="en-US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ja-JP" altLang="en-US">
                          <a:latin typeface="Cambria Math" panose="02040503050406030204" pitchFamily="18" charset="0"/>
                        </a:rPr>
                        <m:t>→</m:t>
                      </m:r>
                      <m:sSup>
                        <m:sSupPr>
                          <m:ctrlPr>
                            <a:rPr lang="ja-JP" alt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ja-JP" alt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ja-JP" alt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ja-JP">
                                      <a:latin typeface="Cambria Math" panose="02040503050406030204" pitchFamily="18" charset="0"/>
                                    </a:rPr>
                                    <m:t>ℝ</m:t>
                                  </m:r>
                                </m:e>
                                <m:sup>
                                  <m:r>
                                    <a:rPr lang="ja-JP" altLang="en-US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</m:sSup>
                            </m:e>
                          </m:d>
                        </m:e>
                        <m:sup>
                          <m:r>
                            <a:rPr lang="ja-JP" altLang="en-US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</m:oMath>
                  </m:oMathPara>
                </a14:m>
                <a:endParaRPr lang="ja-JP" altLang="en-US" dirty="0"/>
              </a:p>
              <a:p>
                <a:pPr marL="0" indent="0">
                  <a:buNone/>
                </a:pPr>
                <a:r>
                  <a:rPr lang="ja-JP" altLang="ja-JP" dirty="0"/>
                  <a:t>对应矩阵转置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ja-JP" alt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ja-JP" altLang="en-US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ja-JP" altLang="en-US">
                            <a:latin typeface="Cambria Math" panose="02040503050406030204" pitchFamily="18" charset="0"/>
                          </a:rPr>
                          <m:t>⊤</m:t>
                        </m:r>
                      </m:sup>
                    </m:sSup>
                    <m:r>
                      <a:rPr lang="en-US" altLang="ja-JP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altLang="ja-JP" dirty="0"/>
              </a:p>
              <a:p>
                <a:pPr marL="0" indent="0">
                  <a:buNone/>
                </a:pPr>
                <a:endParaRPr lang="en-US" altLang="ja-JP" dirty="0"/>
              </a:p>
              <a:p>
                <a:pPr marL="0" indent="0">
                  <a:buNone/>
                </a:pPr>
                <a:r>
                  <a:rPr lang="ja-JP" altLang="ja-JP" dirty="0"/>
                  <a:t>Hilbert 空间中，借助 Riesz，可定义 Hilbert 伴随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ja-JP" alt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ja-JP" altLang="en-US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p>
                        <m:r>
                          <a:rPr lang="en-US" altLang="ja-JP">
                            <a:latin typeface="Cambria Math" panose="02040503050406030204" pitchFamily="18" charset="0"/>
                          </a:rPr>
                          <m:t>†</m:t>
                        </m:r>
                      </m:sup>
                    </m:sSup>
                    <m:r>
                      <a:rPr lang="en-US" altLang="ja-JP">
                        <a:latin typeface="Cambria Math" panose="02040503050406030204" pitchFamily="18" charset="0"/>
                      </a:rPr>
                      <m:t>:</m:t>
                    </m:r>
                    <m:r>
                      <a:rPr lang="ja-JP" altLang="en-US" i="1">
                        <a:latin typeface="Cambria Math" panose="02040503050406030204" pitchFamily="18" charset="0"/>
                      </a:rPr>
                      <m:t>𝐻</m:t>
                    </m:r>
                    <m:r>
                      <a:rPr lang="ja-JP" altLang="en-US">
                        <a:latin typeface="Cambria Math" panose="02040503050406030204" pitchFamily="18" charset="0"/>
                      </a:rPr>
                      <m:t>→</m:t>
                    </m:r>
                    <m:r>
                      <a:rPr lang="ja-JP" altLang="en-US" i="1">
                        <a:latin typeface="Cambria Math" panose="02040503050406030204" pitchFamily="18" charset="0"/>
                      </a:rPr>
                      <m:t>𝐻</m:t>
                    </m:r>
                  </m:oMath>
                </a14:m>
                <a:r>
                  <a:rPr lang="ja-JP" altLang="ja-JP" dirty="0"/>
                  <a:t>：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ja-JP" alt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begChr m:val="⟨"/>
                              <m:endChr m:val="⟩"/>
                              <m:sepChr m:val=","/>
                              <m:ctrlPr>
                                <a:rPr lang="ja-JP" alt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ja-JP" altLang="en-US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  <m:r>
                                <a:rPr lang="ja-JP" alt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e>
                              <m:r>
                                <a:rPr lang="ja-JP" altLang="en-US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d>
                        </m:e>
                        <m:sub>
                          <m:r>
                            <a:rPr lang="ja-JP" altLang="en-US" i="1">
                              <a:latin typeface="Cambria Math" panose="02040503050406030204" pitchFamily="18" charset="0"/>
                            </a:rPr>
                            <m:t>𝐻</m:t>
                          </m:r>
                        </m:sub>
                      </m:sSub>
                      <m:r>
                        <a:rPr lang="en-US" altLang="ja-JP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ja-JP" alt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begChr m:val="⟨"/>
                              <m:endChr m:val="⟩"/>
                              <m:sepChr m:val=","/>
                              <m:ctrlPr>
                                <a:rPr lang="ja-JP" alt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ja-JP" alt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e>
                              <m:sSup>
                                <m:sSupPr>
                                  <m:ctrlPr>
                                    <a:rPr lang="ja-JP" alt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ja-JP" altLang="en-US" i="1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e>
                                <m:sup>
                                  <m:r>
                                    <a:rPr lang="en-US" altLang="ja-JP">
                                      <a:latin typeface="Cambria Math" panose="02040503050406030204" pitchFamily="18" charset="0"/>
                                    </a:rPr>
                                    <m:t>†</m:t>
                                  </m:r>
                                </m:sup>
                              </m:sSup>
                              <m:r>
                                <a:rPr lang="ja-JP" altLang="en-US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d>
                        </m:e>
                        <m:sub>
                          <m:r>
                            <a:rPr lang="ja-JP" altLang="en-US" i="1">
                              <a:latin typeface="Cambria Math" panose="02040503050406030204" pitchFamily="18" charset="0"/>
                            </a:rPr>
                            <m:t>𝐻</m:t>
                          </m:r>
                        </m:sub>
                      </m:sSub>
                      <m:r>
                        <a:rPr lang="en-US" altLang="ja-JP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en-US" altLang="ja-JP" dirty="0"/>
              </a:p>
              <a:p>
                <a:pPr marL="0" indent="0">
                  <a:buNone/>
                </a:pPr>
                <a:endParaRPr lang="en-US" altLang="ja-JP" dirty="0"/>
              </a:p>
              <a:p>
                <a:pPr marL="0" indent="0">
                  <a:buNone/>
                </a:pPr>
                <a:r>
                  <a:rPr lang="ja-JP" altLang="ja-JP" dirty="0"/>
                  <a:t>复空间中对应共轭转置。</a:t>
                </a:r>
              </a:p>
              <a:p>
                <a:pPr marL="0" indent="0">
                  <a:buNone/>
                </a:pPr>
                <a:br>
                  <a:rPr lang="ja-JP" altLang="ja-JP" dirty="0"/>
                </a:br>
                <a:r>
                  <a:rPr lang="ja-JP" altLang="ja-JP" dirty="0"/>
                  <a:t>区分两个层次：</a:t>
                </a:r>
                <a:endParaRPr lang="en-US" altLang="ja-JP" dirty="0"/>
              </a:p>
              <a:p>
                <a:pPr marL="0" indent="0">
                  <a:buNone/>
                </a:pPr>
                <a:r>
                  <a:rPr lang="ja-JP" altLang="ja-JP" dirty="0"/>
                  <a:t>Banach 空间的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ja-JP" alt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ja-JP" altLang="en-US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p>
                        <m:r>
                          <a:rPr lang="ja-JP" altLang="en-US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altLang="ja-JP">
                        <a:latin typeface="Cambria Math" panose="02040503050406030204" pitchFamily="18" charset="0"/>
                      </a:rPr>
                      <m:t>:</m:t>
                    </m:r>
                    <m:sSup>
                      <m:sSupPr>
                        <m:ctrlPr>
                          <a:rPr lang="ja-JP" alt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ja-JP" altLang="en-US" i="1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p>
                        <m:r>
                          <a:rPr lang="ja-JP" altLang="en-US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ja-JP" altLang="en-US">
                        <a:latin typeface="Cambria Math" panose="02040503050406030204" pitchFamily="18" charset="0"/>
                      </a:rPr>
                      <m:t>→</m:t>
                    </m:r>
                    <m:sSup>
                      <m:sSupPr>
                        <m:ctrlPr>
                          <a:rPr lang="ja-JP" alt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ja-JP" altLang="en-US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p>
                        <m:r>
                          <a:rPr lang="ja-JP" altLang="en-US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ja-JP" altLang="ja-JP" dirty="0"/>
                  <a:t>是真正的对偶算子；</a:t>
                </a:r>
                <a:endParaRPr lang="en-US" altLang="ja-JP" dirty="0"/>
              </a:p>
              <a:p>
                <a:pPr marL="0" indent="0">
                  <a:buNone/>
                </a:pPr>
                <a:r>
                  <a:rPr lang="ja-JP" altLang="ja-JP" dirty="0"/>
                  <a:t>Hilbert 空间中通过 Riesz 把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ja-JP" alt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ja-JP" altLang="en-US" i="1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p>
                        <m:r>
                          <a:rPr lang="ja-JP" altLang="en-US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altLang="ja-JP">
                        <a:latin typeface="Cambria Math" panose="02040503050406030204" pitchFamily="18" charset="0"/>
                      </a:rPr>
                      <m:t>,</m:t>
                    </m:r>
                    <m:sSup>
                      <m:sSupPr>
                        <m:ctrlPr>
                          <a:rPr lang="ja-JP" alt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ja-JP" altLang="en-US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p>
                        <m:r>
                          <a:rPr lang="ja-JP" altLang="en-US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ja-JP" altLang="ja-JP" dirty="0"/>
                  <a:t>识别回 </a:t>
                </a:r>
                <a14:m>
                  <m:oMath xmlns:m="http://schemas.openxmlformats.org/officeDocument/2006/math">
                    <m:r>
                      <a:rPr lang="ja-JP" altLang="en-US" i="1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altLang="ja-JP">
                        <a:latin typeface="Cambria Math" panose="02040503050406030204" pitchFamily="18" charset="0"/>
                      </a:rPr>
                      <m:t>,</m:t>
                    </m:r>
                    <m:r>
                      <a:rPr lang="ja-JP" altLang="en-US" i="1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ja-JP" altLang="ja-JP" dirty="0"/>
                  <a:t>，才得到通常说的 Hilbert 伴随。</a:t>
                </a:r>
              </a:p>
            </p:txBody>
          </p:sp>
        </mc:Choice>
        <mc:Fallback>
          <p:sp>
            <p:nvSpPr>
              <p:cNvPr id="12" name="コンテンツ プレースホルダー 2">
                <a:extLst>
                  <a:ext uri="{FF2B5EF4-FFF2-40B4-BE49-F238E27FC236}">
                    <a16:creationId xmlns:a16="http://schemas.microsoft.com/office/drawing/2014/main" id="{4076179A-43B8-43AF-D974-BB631C4F2E4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09880" y="1183640"/>
                <a:ext cx="11811000" cy="5440680"/>
              </a:xfrm>
              <a:blipFill>
                <a:blip r:embed="rId3"/>
                <a:stretch>
                  <a:fillRect l="-568" t="-896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4621592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EB05F9-3F20-8CE0-3F92-1A973EFC76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>
            <a:extLst>
              <a:ext uri="{FF2B5EF4-FFF2-40B4-BE49-F238E27FC236}">
                <a16:creationId xmlns:a16="http://schemas.microsoft.com/office/drawing/2014/main" id="{E796A303-54F6-6129-525D-5F1A2392FF7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rPr lang="ja-JP" altLang="ja-JP" b="1" dirty="0"/>
              <a:t>微分算子的伴随：分部积分就是伴随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コンテンツ プレースホルダー 2">
                <a:extLst>
                  <a:ext uri="{FF2B5EF4-FFF2-40B4-BE49-F238E27FC236}">
                    <a16:creationId xmlns:a16="http://schemas.microsoft.com/office/drawing/2014/main" id="{9EF5B0CC-F82C-C689-5588-E6A3AD3741F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09880" y="1183640"/>
                <a:ext cx="11811000" cy="5440680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ja-JP" altLang="ja-JP" dirty="0"/>
                  <a:t>令</a:t>
                </a:r>
                <a14:m>
                  <m:oMath xmlns:m="http://schemas.openxmlformats.org/officeDocument/2006/math">
                    <m:r>
                      <a:rPr lang="ja-JP" altLang="en-US" i="1"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altLang="ja-JP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ja-JP" alt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ja-JP" altLang="en-US" i="1"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lang="ja-JP" altLang="en-US" i="1">
                            <a:latin typeface="Cambria Math" panose="02040503050406030204" pitchFamily="18" charset="0"/>
                          </a:rPr>
                          <m:t>𝑑𝑥</m:t>
                        </m:r>
                      </m:den>
                    </m:f>
                    <m:r>
                      <a:rPr lang="en-US" altLang="ja-JP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r>
                  <a:rPr lang="ja-JP" altLang="en-US" dirty="0"/>
                  <a:t>　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ja-JP" altLang="en-US"/>
                        </m:ctrlPr>
                      </m:sSubPr>
                      <m:e>
                        <m:d>
                          <m:dPr>
                            <m:begChr m:val="⟨"/>
                            <m:endChr m:val="⟩"/>
                            <m:sepChr m:val=","/>
                            <m:ctrlPr>
                              <a:rPr lang="ja-JP" altLang="en-US"/>
                            </m:ctrlPr>
                          </m:dPr>
                          <m:e>
                            <m:r>
                              <a:rPr lang="ja-JP" altLang="en-US" i="1"/>
                              <m:t>𝐷</m:t>
                            </m:r>
                            <m:r>
                              <a:rPr lang="ja-JP" altLang="en-US" i="1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e>
                            <m:r>
                              <a:rPr lang="ja-JP" altLang="en-US" i="1"/>
                              <m:t>𝑣</m:t>
                            </m:r>
                          </m:e>
                        </m:d>
                      </m:e>
                      <m:sub>
                        <m:sSup>
                          <m:sSupPr>
                            <m:ctrlPr>
                              <a:rPr lang="ja-JP" altLang="en-US" i="1"/>
                            </m:ctrlPr>
                          </m:sSupPr>
                          <m:e>
                            <m:r>
                              <a:rPr lang="ja-JP" altLang="en-US" i="1"/>
                              <m:t>𝐿</m:t>
                            </m:r>
                          </m:e>
                          <m:sup>
                            <m:r>
                              <a:rPr lang="en-US" altLang="ja-JP"/>
                              <m:t>2</m:t>
                            </m:r>
                          </m:sup>
                        </m:sSup>
                      </m:sub>
                    </m:sSub>
                    <m:r>
                      <a:rPr lang="en-US" altLang="ja-JP"/>
                      <m:t>=</m:t>
                    </m:r>
                    <m:nary>
                      <m:naryPr>
                        <m:grow m:val="on"/>
                        <m:ctrlPr>
                          <a:rPr lang="ja-JP" altLang="en-US" i="1"/>
                        </m:ctrlPr>
                      </m:naryPr>
                      <m:sub>
                        <m:r>
                          <a:rPr lang="en-US" altLang="ja-JP"/>
                          <m:t>0</m:t>
                        </m:r>
                      </m:sub>
                      <m:sup>
                        <m:r>
                          <a:rPr lang="en-US" altLang="ja-JP"/>
                          <m:t>1</m:t>
                        </m:r>
                      </m:sup>
                      <m:e>
                        <m:sSup>
                          <m:sSupPr>
                            <m:ctrlPr>
                              <a:rPr lang="ja-JP" altLang="en-US" i="1"/>
                            </m:ctrlPr>
                          </m:sSupPr>
                          <m:e>
                            <m:r>
                              <a:rPr lang="ja-JP" altLang="en-US" i="1"/>
                              <m:t>𝑢</m:t>
                            </m:r>
                          </m:e>
                          <m:sup>
                            <m:r>
                              <a:rPr lang="en-US" altLang="ja-JP"/>
                              <m:t>′</m:t>
                            </m:r>
                          </m:sup>
                        </m:sSup>
                      </m:e>
                    </m:nary>
                    <m:d>
                      <m:dPr>
                        <m:ctrlPr>
                          <a:rPr lang="ja-JP" altLang="en-US" i="1"/>
                        </m:ctrlPr>
                      </m:dPr>
                      <m:e>
                        <m:r>
                          <a:rPr lang="ja-JP" altLang="en-US" i="1"/>
                          <m:t>𝑥</m:t>
                        </m:r>
                      </m:e>
                    </m:d>
                    <m:r>
                      <a:rPr lang="ja-JP" altLang="en-US" i="1"/>
                      <m:t>𝑣</m:t>
                    </m:r>
                    <m:d>
                      <m:dPr>
                        <m:ctrlPr>
                          <a:rPr lang="ja-JP" altLang="en-US" i="1"/>
                        </m:ctrlPr>
                      </m:dPr>
                      <m:e>
                        <m:r>
                          <a:rPr lang="ja-JP" altLang="en-US" i="1"/>
                          <m:t>𝑥</m:t>
                        </m:r>
                      </m:e>
                    </m:d>
                    <m:r>
                      <m:rPr>
                        <m:nor/>
                      </m:rPr>
                      <a:rPr lang="ja-JP" altLang="en-US" i="1"/>
                      <m:t> </m:t>
                    </m:r>
                    <m:r>
                      <a:rPr lang="ja-JP" altLang="en-US" i="1"/>
                      <m:t>𝑑𝑥</m:t>
                    </m:r>
                    <m:r>
                      <a:rPr lang="en-US" altLang="ja-JP"/>
                      <m:t>.</m:t>
                    </m:r>
                  </m:oMath>
                </a14:m>
                <a:r>
                  <a:rPr lang="ja-JP" altLang="en-US" dirty="0"/>
                  <a:t>　　</a:t>
                </a:r>
                <a:r>
                  <a:rPr lang="ja-JP" altLang="ja-JP" dirty="0"/>
                  <a:t>现在我们想知道：能不能把 </a:t>
                </a:r>
                <a14:m>
                  <m:oMath xmlns:m="http://schemas.openxmlformats.org/officeDocument/2006/math">
                    <m:r>
                      <a:rPr lang="ja-JP" altLang="en-US" i="1"/>
                      <m:t>𝐷</m:t>
                    </m:r>
                  </m:oMath>
                </a14:m>
                <a:r>
                  <a:rPr lang="ja-JP" altLang="ja-JP" dirty="0"/>
                  <a:t>从 </a:t>
                </a:r>
                <a14:m>
                  <m:oMath xmlns:m="http://schemas.openxmlformats.org/officeDocument/2006/math">
                    <m:r>
                      <a:rPr lang="ja-JP" altLang="en-US" i="1"/>
                      <m:t>𝑢</m:t>
                    </m:r>
                  </m:oMath>
                </a14:m>
                <a:r>
                  <a:rPr lang="ja-JP" altLang="ja-JP" dirty="0"/>
                  <a:t>上移到 </a:t>
                </a:r>
                <a14:m>
                  <m:oMath xmlns:m="http://schemas.openxmlformats.org/officeDocument/2006/math">
                    <m:r>
                      <a:rPr lang="ja-JP" altLang="en-US" i="1"/>
                      <m:t>𝑣</m:t>
                    </m:r>
                  </m:oMath>
                </a14:m>
                <a:r>
                  <a:rPr lang="ja-JP" altLang="ja-JP" dirty="0"/>
                  <a:t>上？</a:t>
                </a:r>
              </a:p>
              <a:p>
                <a:pPr marL="0" indent="0">
                  <a:buNone/>
                </a:pPr>
                <a:endParaRPr lang="en-US" altLang="ja-JP" dirty="0"/>
              </a:p>
              <a:p>
                <a:pPr marL="0" indent="0">
                  <a:buNone/>
                </a:pPr>
                <a:r>
                  <a:rPr lang="ja-JP" altLang="ja-JP" dirty="0"/>
                  <a:t>形式上：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grow m:val="on"/>
                          <m:ctrlPr>
                            <a:rPr lang="ja-JP" alt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ja-JP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altLang="ja-JP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  <m:e>
                          <m:sSup>
                            <m:sSupPr>
                              <m:ctrlPr>
                                <a:rPr lang="ja-JP" alt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ja-JP" altLang="en-US" i="1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p>
                              <m:r>
                                <a:rPr lang="en-US" altLang="ja-JP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</m:e>
                      </m:nary>
                      <m:d>
                        <m:dPr>
                          <m:ctrlPr>
                            <a:rPr lang="ja-JP" alt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ja-JP" alt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ja-JP" altLang="en-US" i="1">
                          <a:latin typeface="Cambria Math" panose="02040503050406030204" pitchFamily="18" charset="0"/>
                        </a:rPr>
                        <m:t>𝑣</m:t>
                      </m:r>
                      <m:d>
                        <m:dPr>
                          <m:ctrlPr>
                            <a:rPr lang="ja-JP" alt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ja-JP" alt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m:rPr>
                          <m:nor/>
                        </m:rPr>
                        <a:rPr lang="ja-JP" altLang="en-US" i="1"/>
                        <m:t> </m:t>
                      </m:r>
                      <m:r>
                        <a:rPr lang="ja-JP" altLang="en-US" i="1">
                          <a:latin typeface="Cambria Math" panose="02040503050406030204" pitchFamily="18" charset="0"/>
                        </a:rPr>
                        <m:t>𝑑𝑥</m:t>
                      </m:r>
                      <m:r>
                        <a:rPr lang="en-US" altLang="ja-JP">
                          <a:latin typeface="Cambria Math" panose="02040503050406030204" pitchFamily="18" charset="0"/>
                        </a:rPr>
                        <m:t>=−</m:t>
                      </m:r>
                      <m:nary>
                        <m:naryPr>
                          <m:grow m:val="on"/>
                          <m:ctrlPr>
                            <a:rPr lang="ja-JP" alt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ja-JP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altLang="ja-JP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  <m:e>
                          <m:r>
                            <a:rPr lang="ja-JP" altLang="en-US" i="1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</m:nary>
                      <m:d>
                        <m:dPr>
                          <m:ctrlPr>
                            <a:rPr lang="ja-JP" alt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ja-JP" alt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sSup>
                        <m:sSupPr>
                          <m:ctrlPr>
                            <a:rPr lang="ja-JP" alt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ja-JP" altLang="en-US" i="1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p>
                          <m:r>
                            <a:rPr lang="en-US" altLang="ja-JP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d>
                        <m:dPr>
                          <m:ctrlPr>
                            <a:rPr lang="ja-JP" alt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ja-JP" alt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m:rPr>
                          <m:nor/>
                        </m:rPr>
                        <a:rPr lang="ja-JP" altLang="en-US" i="1"/>
                        <m:t> </m:t>
                      </m:r>
                      <m:r>
                        <a:rPr lang="ja-JP" altLang="en-US" i="1">
                          <a:latin typeface="Cambria Math" panose="02040503050406030204" pitchFamily="18" charset="0"/>
                        </a:rPr>
                        <m:t>𝑑𝑥</m:t>
                      </m:r>
                      <m:r>
                        <a:rPr lang="en-US" altLang="ja-JP"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ja-JP" altLang="en-US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ja-JP" alt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ja-JP" altLang="en-US" i="1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  <m:d>
                                <m:dPr>
                                  <m:ctrlPr>
                                    <a:rPr lang="ja-JP" alt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ja-JP" altLang="en-US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  <m:r>
                                <a:rPr lang="ja-JP" altLang="en-US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  <m:d>
                                <m:dPr>
                                  <m:ctrlPr>
                                    <a:rPr lang="ja-JP" alt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ja-JP" altLang="en-US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</m:e>
                          </m:d>
                        </m:e>
                        <m:sub>
                          <m:r>
                            <a:rPr lang="en-US" altLang="ja-JP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altLang="ja-JP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bSup>
                      <m:r>
                        <a:rPr lang="en-US" altLang="ja-JP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en-US" altLang="ja-JP" b="0" dirty="0"/>
              </a:p>
              <a:p>
                <a:pPr marL="0" indent="0">
                  <a:buNone/>
                </a:pPr>
                <a:r>
                  <a:rPr lang="ja-JP" altLang="ja-JP" dirty="0"/>
                  <a:t>若边界项消失，则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ja-JP" alt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ja-JP" altLang="en-US" i="1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p>
                          <m:r>
                            <a:rPr lang="ja-JP" altLang="en-US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en-US" altLang="ja-JP"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ja-JP" altLang="en-US" i="1">
                          <a:latin typeface="Cambria Math" panose="02040503050406030204" pitchFamily="18" charset="0"/>
                        </a:rPr>
                        <m:t>𝐷</m:t>
                      </m:r>
                      <m:r>
                        <a:rPr lang="en-US" altLang="ja-JP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en-US" altLang="ja-JP" dirty="0"/>
              </a:p>
              <a:p>
                <a:pPr marL="0" indent="0">
                  <a:buNone/>
                </a:pPr>
                <a:r>
                  <a:rPr lang="ja-JP" altLang="ja-JP" dirty="0"/>
                  <a:t>更一般地：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⟨"/>
                          <m:endChr m:val="⟩"/>
                          <m:sepChr m:val=","/>
                          <m:ctrlPr>
                            <a:rPr lang="ja-JP" alt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ja-JP" altLang="en-US" i="1">
                              <a:latin typeface="Cambria Math" panose="02040503050406030204" pitchFamily="18" charset="0"/>
                            </a:rPr>
                            <m:t>𝐿</m:t>
                          </m:r>
                          <m:r>
                            <a:rPr lang="ja-JP" altLang="en-US" i="1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e>
                          <m:r>
                            <a:rPr lang="ja-JP" altLang="en-US" i="1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</m:d>
                      <m:r>
                        <a:rPr lang="en-US" altLang="ja-JP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⟨"/>
                          <m:endChr m:val="⟩"/>
                          <m:sepChr m:val=","/>
                          <m:ctrlPr>
                            <a:rPr lang="ja-JP" alt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ja-JP" altLang="en-US" i="1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e>
                          <m:sSup>
                            <m:sSupPr>
                              <m:ctrlPr>
                                <a:rPr lang="ja-JP" alt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ja-JP" altLang="en-US" i="1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e>
                            <m:sup>
                              <m:r>
                                <a:rPr lang="ja-JP" altLang="en-US"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  <m:r>
                            <a:rPr lang="ja-JP" altLang="en-US" i="1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</m:d>
                      <m:r>
                        <a:rPr lang="en-US" altLang="ja-JP"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nor/>
                        </m:rPr>
                        <a:rPr lang="ja-JP" altLang="en-US"/>
                        <m:t>边界项</m:t>
                      </m:r>
                      <m:r>
                        <a:rPr lang="en-US" altLang="ja-JP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en-US" altLang="ja-JP" b="0" dirty="0"/>
              </a:p>
              <a:p>
                <a:pPr marL="0" indent="0">
                  <a:buNone/>
                </a:pPr>
                <a:endParaRPr lang="en-US" altLang="ja-JP" dirty="0"/>
              </a:p>
              <a:p>
                <a:pPr marL="0" indent="0">
                  <a:buNone/>
                </a:pPr>
                <a:r>
                  <a:rPr lang="ja-JP" altLang="ja-JP" dirty="0"/>
                  <a:t>很多 PDE 理论中的弱形式、Green 公式、边界条件，本质上都是“把算子移到测试函数上”，也就是在使用伴随。</a:t>
                </a:r>
              </a:p>
            </p:txBody>
          </p:sp>
        </mc:Choice>
        <mc:Fallback>
          <p:sp>
            <p:nvSpPr>
              <p:cNvPr id="12" name="コンテンツ プレースホルダー 2">
                <a:extLst>
                  <a:ext uri="{FF2B5EF4-FFF2-40B4-BE49-F238E27FC236}">
                    <a16:creationId xmlns:a16="http://schemas.microsoft.com/office/drawing/2014/main" id="{9EF5B0CC-F82C-C689-5588-E6A3AD3741F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09880" y="1183640"/>
                <a:ext cx="11811000" cy="5440680"/>
              </a:xfrm>
              <a:blipFill>
                <a:blip r:embed="rId3"/>
                <a:stretch>
                  <a:fillRect l="-568" r="-207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2419224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F6BEAA-0B13-8C5B-15D6-91C870DC26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>
            <a:extLst>
              <a:ext uri="{FF2B5EF4-FFF2-40B4-BE49-F238E27FC236}">
                <a16:creationId xmlns:a16="http://schemas.microsoft.com/office/drawing/2014/main" id="{951E11A0-9868-9815-2E5B-A0D1760EE79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06400" y="0"/>
            <a:ext cx="11074400" cy="685800"/>
          </a:xfrm>
        </p:spPr>
        <p:txBody>
          <a:bodyPr/>
          <a:lstStyle/>
          <a:p>
            <a:pPr marL="0" indent="0">
              <a:buNone/>
            </a:pPr>
            <a:r>
              <a:rPr lang="ja-JP" altLang="ja-JP" b="1" dirty="0"/>
              <a:t>优化中的对偶变量：拉格朗日乘子</a:t>
            </a:r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E6563BA8-D929-C37D-B257-071D3C440B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10286" y="532200"/>
            <a:ext cx="8771428" cy="62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395687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9C09D7-6159-FBC1-5483-6570FA5A7B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>
            <a:extLst>
              <a:ext uri="{FF2B5EF4-FFF2-40B4-BE49-F238E27FC236}">
                <a16:creationId xmlns:a16="http://schemas.microsoft.com/office/drawing/2014/main" id="{DE2CAFA8-7AE8-5B2A-57B2-52EEB50AF3C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rPr lang="ja-JP" altLang="ja-JP" b="1" dirty="0"/>
              <a:t>弱收敛：用所有对偶元素测试收敛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コンテンツ プレースホルダー 2">
                <a:extLst>
                  <a:ext uri="{FF2B5EF4-FFF2-40B4-BE49-F238E27FC236}">
                    <a16:creationId xmlns:a16="http://schemas.microsoft.com/office/drawing/2014/main" id="{BDE1DB56-ACFF-F1BC-DB56-96E5B72C916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09880" y="1183640"/>
                <a:ext cx="11811000" cy="5440680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ja-JP" altLang="ja-JP" dirty="0"/>
                  <a:t>强收敛：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ja-JP" alt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ja-JP" alt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ja-JP" altLang="en-US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ja-JP" altLang="en-US"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ja-JP" altLang="en-US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ja-JP" altLang="en-US">
                          <a:latin typeface="Cambria Math" panose="02040503050406030204" pitchFamily="18" charset="0"/>
                        </a:rPr>
                        <m:t> ⟺ ∥</m:t>
                      </m:r>
                      <m:sSub>
                        <m:sSubPr>
                          <m:ctrlPr>
                            <a:rPr lang="ja-JP" alt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ja-JP" alt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ja-JP" altLang="en-US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ja-JP" altLang="en-US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ja-JP" altLang="en-US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ja-JP" altLang="en-US">
                          <a:latin typeface="Cambria Math" panose="02040503050406030204" pitchFamily="18" charset="0"/>
                        </a:rPr>
                        <m:t>∥→</m:t>
                      </m:r>
                      <m:r>
                        <a:rPr lang="en-US" altLang="ja-JP">
                          <a:latin typeface="Cambria Math" panose="02040503050406030204" pitchFamily="18" charset="0"/>
                        </a:rPr>
                        <m:t>0.</m:t>
                      </m:r>
                    </m:oMath>
                  </m:oMathPara>
                </a14:m>
                <a:endParaRPr lang="en-US" altLang="ja-JP" dirty="0"/>
              </a:p>
              <a:p>
                <a:pPr marL="0" indent="0">
                  <a:buNone/>
                </a:pPr>
                <a:r>
                  <a:rPr lang="ja-JP" altLang="ja-JP" dirty="0"/>
                  <a:t>弱收敛：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ja-JP" alt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ja-JP" alt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ja-JP" altLang="en-US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ja-JP" altLang="en-US">
                          <a:latin typeface="Cambria Math" panose="02040503050406030204" pitchFamily="18" charset="0"/>
                        </a:rPr>
                        <m:t>⇀</m:t>
                      </m:r>
                      <m:r>
                        <a:rPr lang="ja-JP" altLang="en-US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ja-JP" altLang="en-US">
                          <a:latin typeface="Cambria Math" panose="02040503050406030204" pitchFamily="18" charset="0"/>
                        </a:rPr>
                        <m:t> ⟺ </m:t>
                      </m:r>
                      <m:r>
                        <a:rPr lang="ja-JP" altLang="en-US" i="1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ja-JP" alt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ja-JP" alt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ja-JP" alt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ja-JP" altLang="en-US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e>
                      </m:d>
                      <m:r>
                        <a:rPr lang="ja-JP" altLang="en-US"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ja-JP" altLang="en-US" i="1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ja-JP" alt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ja-JP" alt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altLang="ja-JP">
                          <a:latin typeface="Cambria Math" panose="02040503050406030204" pitchFamily="18" charset="0"/>
                        </a:rPr>
                        <m:t>, ∀</m:t>
                      </m:r>
                      <m:r>
                        <a:rPr lang="ja-JP" altLang="en-US" i="1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ja-JP" altLang="en-US">
                          <a:latin typeface="Cambria Math" panose="02040503050406030204" pitchFamily="18" charset="0"/>
                        </a:rPr>
                        <m:t>∈</m:t>
                      </m:r>
                      <m:sSup>
                        <m:sSupPr>
                          <m:ctrlPr>
                            <a:rPr lang="ja-JP" alt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ja-JP" altLang="en-US" i="1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p>
                          <m:r>
                            <a:rPr lang="ja-JP" altLang="en-US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en-US" altLang="ja-JP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en-US" altLang="ja-JP" dirty="0"/>
              </a:p>
              <a:p>
                <a:pPr marL="0" indent="0">
                  <a:buNone/>
                </a:pPr>
                <a:r>
                  <a:rPr lang="ja-JP" altLang="ja-JP" dirty="0"/>
                  <a:t>也就是：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⟨"/>
                          <m:endChr m:val="⟩"/>
                          <m:sepChr m:val=","/>
                          <m:ctrlPr>
                            <a:rPr lang="ja-JP" alt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ja-JP" altLang="en-US" i="1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e>
                          <m:sSub>
                            <m:sSubPr>
                              <m:ctrlPr>
                                <a:rPr lang="ja-JP" alt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ja-JP" alt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ja-JP" altLang="en-US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e>
                      </m:d>
                      <m:r>
                        <a:rPr lang="ja-JP" altLang="en-US">
                          <a:latin typeface="Cambria Math" panose="02040503050406030204" pitchFamily="18" charset="0"/>
                        </a:rPr>
                        <m:t>→</m:t>
                      </m:r>
                      <m:d>
                        <m:dPr>
                          <m:begChr m:val="⟨"/>
                          <m:endChr m:val="⟩"/>
                          <m:sepChr m:val=","/>
                          <m:ctrlPr>
                            <a:rPr lang="ja-JP" alt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ja-JP" altLang="en-US" i="1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e>
                          <m:r>
                            <a:rPr lang="ja-JP" alt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altLang="ja-JP">
                          <a:latin typeface="Cambria Math" panose="02040503050406030204" pitchFamily="18" charset="0"/>
                        </a:rPr>
                        <m:t>, ∀</m:t>
                      </m:r>
                      <m:r>
                        <a:rPr lang="ja-JP" altLang="en-US" i="1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ja-JP" altLang="en-US">
                          <a:latin typeface="Cambria Math" panose="02040503050406030204" pitchFamily="18" charset="0"/>
                        </a:rPr>
                        <m:t>∈</m:t>
                      </m:r>
                      <m:sSup>
                        <m:sSupPr>
                          <m:ctrlPr>
                            <a:rPr lang="ja-JP" alt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ja-JP" altLang="en-US" i="1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p>
                          <m:r>
                            <a:rPr lang="ja-JP" altLang="en-US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en-US" altLang="ja-JP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en-US" altLang="ja-JP" dirty="0"/>
              </a:p>
              <a:p>
                <a:pPr marL="0" indent="0">
                  <a:buNone/>
                </a:pPr>
                <a:endParaRPr lang="en-US" altLang="ja-JP" dirty="0"/>
              </a:p>
              <a:p>
                <a:pPr marL="0" indent="0">
                  <a:buNone/>
                </a:pPr>
                <a:r>
                  <a:rPr lang="ja-JP" altLang="ja-JP" dirty="0"/>
                  <a:t>弱收敛是“所有连续线性观测都收敛”。</a:t>
                </a:r>
                <a:endParaRPr lang="en-US" altLang="ja-JP" dirty="0"/>
              </a:p>
              <a:p>
                <a:pPr marL="0" indent="0">
                  <a:buNone/>
                </a:pPr>
                <a:r>
                  <a:rPr lang="ja-JP" altLang="ja-JP" dirty="0"/>
                  <a:t>这和 PDE、变分法关系很深，因为强收敛太难获得，弱收敛更容易通过紧性获得。</a:t>
                </a:r>
              </a:p>
            </p:txBody>
          </p:sp>
        </mc:Choice>
        <mc:Fallback xmlns="">
          <p:sp>
            <p:nvSpPr>
              <p:cNvPr id="12" name="コンテンツ プレースホルダー 2">
                <a:extLst>
                  <a:ext uri="{FF2B5EF4-FFF2-40B4-BE49-F238E27FC236}">
                    <a16:creationId xmlns:a16="http://schemas.microsoft.com/office/drawing/2014/main" id="{BDE1DB56-ACFF-F1BC-DB56-96E5B72C916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09880" y="1183640"/>
                <a:ext cx="11811000" cy="5440680"/>
              </a:xfrm>
              <a:blipFill>
                <a:blip r:embed="rId3"/>
                <a:stretch>
                  <a:fillRect l="-568" t="-896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9612644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E3F341-E63E-EE09-7959-779A7BE776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>
            <a:extLst>
              <a:ext uri="{FF2B5EF4-FFF2-40B4-BE49-F238E27FC236}">
                <a16:creationId xmlns:a16="http://schemas.microsoft.com/office/drawing/2014/main" id="{31D9BD89-B0E1-5B18-4DB4-553BB9C1A26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47040" y="0"/>
            <a:ext cx="11074400" cy="685800"/>
          </a:xfrm>
        </p:spPr>
        <p:txBody>
          <a:bodyPr/>
          <a:lstStyle/>
          <a:p>
            <a:r>
              <a:rPr lang="ja-JP" altLang="ja-JP" b="1" dirty="0"/>
              <a:t>微分流形类比：切空间与余切空间</a:t>
            </a:r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C46F6EBA-29E7-46C7-A93E-8198C4AEE8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7857" y="653244"/>
            <a:ext cx="9016285" cy="62047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544789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46EEA7-1E9F-3461-1D72-54A69E8B9D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>
            <a:extLst>
              <a:ext uri="{FF2B5EF4-FFF2-40B4-BE49-F238E27FC236}">
                <a16:creationId xmlns:a16="http://schemas.microsoft.com/office/drawing/2014/main" id="{FB23AE92-7841-2E27-3C93-C3C16B05BBD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87680" y="0"/>
            <a:ext cx="11074400" cy="685800"/>
          </a:xfrm>
        </p:spPr>
        <p:txBody>
          <a:bodyPr/>
          <a:lstStyle/>
          <a:p>
            <a:r>
              <a:rPr lang="ja-JP" altLang="ja-JP" b="1" dirty="0"/>
              <a:t>度量把切空间和余切空间识别：有限维 Riesz</a:t>
            </a:r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C9AFC45B-596E-6719-B980-367A37C65A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3680" y="685800"/>
            <a:ext cx="11582400" cy="60132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270464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C584DD-1060-9F82-1D89-69D40FD110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>
            <a:extLst>
              <a:ext uri="{FF2B5EF4-FFF2-40B4-BE49-F238E27FC236}">
                <a16:creationId xmlns:a16="http://schemas.microsoft.com/office/drawing/2014/main" id="{EEE517CB-862B-5691-983D-4EC7F571F63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5084" y="37719"/>
            <a:ext cx="11074400" cy="685800"/>
          </a:xfrm>
        </p:spPr>
        <p:txBody>
          <a:bodyPr/>
          <a:lstStyle/>
          <a:p>
            <a:pPr marL="0" indent="0">
              <a:buNone/>
            </a:pPr>
            <a:r>
              <a:rPr lang="ja-JP" altLang="ja-JP" b="1" dirty="0"/>
              <a:t>同调与上同调：边界算子的伴随</a:t>
            </a:r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52E73308-2012-B4EA-5952-D7A57B4133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723519"/>
            <a:ext cx="9330008" cy="61344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303424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714A72-A01A-AD4D-E196-14C8667D0F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>
            <a:extLst>
              <a:ext uri="{FF2B5EF4-FFF2-40B4-BE49-F238E27FC236}">
                <a16:creationId xmlns:a16="http://schemas.microsoft.com/office/drawing/2014/main" id="{C302BFAE-8E7B-FEB5-BDED-AFE1EAFBEA2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rPr lang="ja-JP" altLang="ja-JP" b="1" dirty="0"/>
              <a:t>微分形式、积分与 de Rham 配对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コンテンツ プレースホルダー 2">
                <a:extLst>
                  <a:ext uri="{FF2B5EF4-FFF2-40B4-BE49-F238E27FC236}">
                    <a16:creationId xmlns:a16="http://schemas.microsoft.com/office/drawing/2014/main" id="{D77DFCD9-2872-C953-E362-0B2A34F4F2B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09880" y="1183640"/>
                <a:ext cx="11811000" cy="5440680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ja-JP" altLang="ja-JP" dirty="0"/>
                  <a:t>微分形式可以积分在链上：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⟨"/>
                          <m:endChr m:val="⟩"/>
                          <m:sepChr m:val=","/>
                          <m:ctrlPr>
                            <a:rPr lang="ja-JP" alt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ja-JP" altLang="en-US" i="1"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  <m:e>
                          <m:r>
                            <a:rPr lang="ja-JP" altLang="en-US" i="1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</m:d>
                      <m:r>
                        <a:rPr lang="en-US" altLang="ja-JP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grow m:val="on"/>
                          <m:supHide m:val="on"/>
                          <m:ctrlPr>
                            <a:rPr lang="ja-JP" alt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ja-JP" altLang="en-US" i="1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  <m:sup/>
                        <m:e>
                          <m:r>
                            <a:rPr lang="ja-JP" altLang="en-US" i="1"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</m:nary>
                      <m:r>
                        <a:rPr lang="en-US" altLang="ja-JP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en-US" altLang="ja-JP" dirty="0"/>
              </a:p>
              <a:p>
                <a:pPr marL="0" indent="0">
                  <a:buNone/>
                </a:pPr>
                <a:r>
                  <a:rPr lang="ja-JP" altLang="ja-JP" dirty="0"/>
                  <a:t>Stokes 公式：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grow m:val="on"/>
                          <m:supHide m:val="on"/>
                          <m:ctrlPr>
                            <a:rPr lang="ja-JP" alt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ja-JP" altLang="en-US" i="1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  <m:sup/>
                        <m:e>
                          <m:r>
                            <a:rPr lang="ja-JP" altLang="en-US" i="1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</m:nary>
                      <m:r>
                        <a:rPr lang="ja-JP" altLang="en-US" i="1">
                          <a:latin typeface="Cambria Math" panose="02040503050406030204" pitchFamily="18" charset="0"/>
                        </a:rPr>
                        <m:t>𝜔</m:t>
                      </m:r>
                      <m:r>
                        <a:rPr lang="en-US" altLang="ja-JP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grow m:val="on"/>
                          <m:supHide m:val="on"/>
                          <m:ctrlPr>
                            <a:rPr lang="ja-JP" alt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ja-JP" altLang="en-US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ja-JP" altLang="en-US" i="1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  <m:sup/>
                        <m:e>
                          <m:r>
                            <a:rPr lang="ja-JP" altLang="en-US" i="1"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</m:nary>
                      <m:r>
                        <a:rPr lang="en-US" altLang="ja-JP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en-US" altLang="ja-JP" dirty="0"/>
              </a:p>
              <a:p>
                <a:pPr marL="0" indent="0">
                  <a:buNone/>
                </a:pPr>
                <a:r>
                  <a:rPr lang="ja-JP" altLang="ja-JP" dirty="0"/>
                  <a:t>因此：</a:t>
                </a:r>
                <a14:m>
                  <m:oMath xmlns:m="http://schemas.openxmlformats.org/officeDocument/2006/math">
                    <m:d>
                      <m:dPr>
                        <m:begChr m:val="⟨"/>
                        <m:endChr m:val="⟩"/>
                        <m:sepChr m:val=","/>
                        <m:ctrlPr>
                          <a:rPr lang="ja-JP" alt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ja-JP" altLang="en-US" i="1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e>
                        <m:r>
                          <a:rPr lang="ja-JP" altLang="en-US" i="1">
                            <a:latin typeface="Cambria Math" panose="02040503050406030204" pitchFamily="18" charset="0"/>
                          </a:rPr>
                          <m:t>𝜔</m:t>
                        </m:r>
                        <m:r>
                          <a:rPr lang="ja-JP" altLang="en-US" i="1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d>
                    <m:r>
                      <a:rPr lang="en-US" altLang="ja-JP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⟨"/>
                        <m:endChr m:val="⟩"/>
                        <m:sepChr m:val=","/>
                        <m:ctrlPr>
                          <a:rPr lang="ja-JP" alt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ja-JP" altLang="en-US" i="1">
                            <a:latin typeface="Cambria Math" panose="02040503050406030204" pitchFamily="18" charset="0"/>
                          </a:rPr>
                          <m:t>𝜔</m:t>
                        </m:r>
                      </m:e>
                      <m:e>
                        <m:r>
                          <a:rPr lang="ja-JP" altLang="en-US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ja-JP" altLang="en-US" i="1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d>
                    <m:r>
                      <a:rPr lang="en-US" altLang="ja-JP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altLang="ja-JP" dirty="0"/>
              </a:p>
              <a:p>
                <a:pPr marL="0" indent="0">
                  <a:buNone/>
                </a:pPr>
                <a:r>
                  <a:rPr lang="ja-JP" altLang="ja-JP" dirty="0"/>
                  <a:t>也就是：</a:t>
                </a:r>
                <a14:m>
                  <m:oMath xmlns:m="http://schemas.openxmlformats.org/officeDocument/2006/math">
                    <m:r>
                      <a:rPr lang="ja-JP" altLang="en-US" i="1"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nor/>
                      </m:rPr>
                      <a:rPr lang="ja-JP" altLang="en-US" i="1"/>
                      <m:t> 是 </m:t>
                    </m:r>
                    <m:r>
                      <a:rPr lang="ja-JP" altLang="en-US">
                        <a:latin typeface="Cambria Math" panose="02040503050406030204" pitchFamily="18" charset="0"/>
                      </a:rPr>
                      <m:t>𝜕</m:t>
                    </m:r>
                    <m:r>
                      <m:rPr>
                        <m:nor/>
                      </m:rPr>
                      <a:rPr lang="ja-JP" altLang="en-US" i="1"/>
                      <m:t> 的对偶方向算子</m:t>
                    </m:r>
                    <m:r>
                      <a:rPr lang="en-US" altLang="ja-JP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altLang="ja-JP" b="0" dirty="0"/>
              </a:p>
              <a:p>
                <a:pPr marL="0" indent="0">
                  <a:buNone/>
                </a:pPr>
                <a:r>
                  <a:rPr lang="ja-JP" altLang="ja-JP" dirty="0"/>
                  <a:t>在上同调与同调之间有配对：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ja-JP" altLang="en-US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ja-JP" altLang="en-US" i="1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ja-JP">
                              <a:latin typeface="Cambria Math" panose="02040503050406030204" pitchFamily="18" charset="0"/>
                            </a:rPr>
                            <m:t>dR</m:t>
                          </m:r>
                        </m:sub>
                        <m:sup>
                          <m:r>
                            <a:rPr lang="ja-JP" altLang="en-US" i="1">
                              <a:latin typeface="Cambria Math" panose="02040503050406030204" pitchFamily="18" charset="0"/>
                            </a:rPr>
                            <m:t>𝑘</m:t>
                          </m:r>
                        </m:sup>
                      </m:sSubSup>
                      <m:d>
                        <m:dPr>
                          <m:ctrlPr>
                            <a:rPr lang="ja-JP" alt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ja-JP" altLang="en-US" i="1"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</m:d>
                      <m:r>
                        <a:rPr lang="en-US" altLang="ja-JP">
                          <a:latin typeface="Cambria Math" panose="02040503050406030204" pitchFamily="18" charset="0"/>
                        </a:rPr>
                        <m:t>×</m:t>
                      </m:r>
                      <m:sSub>
                        <m:sSubPr>
                          <m:ctrlPr>
                            <a:rPr lang="ja-JP" alt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ja-JP" altLang="en-US" i="1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ja-JP" altLang="en-US" i="1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d>
                        <m:dPr>
                          <m:ctrlPr>
                            <a:rPr lang="ja-JP" alt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ja-JP" altLang="en-US" i="1"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</m:d>
                      <m:r>
                        <a:rPr lang="ja-JP" altLang="en-US"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en-US" altLang="ja-JP">
                          <a:latin typeface="Cambria Math" panose="02040503050406030204" pitchFamily="18" charset="0"/>
                        </a:rPr>
                        <m:t>ℝ</m:t>
                      </m:r>
                      <m:r>
                        <a:rPr lang="en-US" altLang="ja-JP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en-US" altLang="ja-JP" dirty="0"/>
              </a:p>
              <a:p>
                <a:pPr marL="0" indent="0">
                  <a:buNone/>
                </a:pPr>
                <a:endParaRPr lang="en-US" altLang="ja-JP" dirty="0"/>
              </a:p>
              <a:p>
                <a:pPr marL="0" indent="0">
                  <a:buNone/>
                </a:pPr>
                <a:r>
                  <a:rPr lang="ja-JP" altLang="ja-JP" dirty="0"/>
                  <a:t>PDE 中“测试函数”、几何中“微分形式”、拓扑中“上链”都在扮演对偶对象的角色。</a:t>
                </a:r>
                <a:endParaRPr lang="en-US" altLang="ja-JP" dirty="0"/>
              </a:p>
              <a:p>
                <a:pPr marL="0" indent="0">
                  <a:buNone/>
                </a:pPr>
                <a:r>
                  <a:rPr lang="ja-JP" altLang="ja-JP" dirty="0"/>
                  <a:t>它们都通过积分、作用、配对来探测原对象。</a:t>
                </a:r>
              </a:p>
            </p:txBody>
          </p:sp>
        </mc:Choice>
        <mc:Fallback xmlns="">
          <p:sp>
            <p:nvSpPr>
              <p:cNvPr id="12" name="コンテンツ プレースホルダー 2">
                <a:extLst>
                  <a:ext uri="{FF2B5EF4-FFF2-40B4-BE49-F238E27FC236}">
                    <a16:creationId xmlns:a16="http://schemas.microsoft.com/office/drawing/2014/main" id="{D77DFCD9-2872-C953-E362-0B2A34F4F2B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09880" y="1183640"/>
                <a:ext cx="11811000" cy="5440680"/>
              </a:xfrm>
              <a:blipFill>
                <a:blip r:embed="rId3"/>
                <a:stretch>
                  <a:fillRect l="-568" t="-896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5621666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910A93-AC3D-BA9A-597C-3E03B5DBA0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>
            <a:extLst>
              <a:ext uri="{FF2B5EF4-FFF2-40B4-BE49-F238E27FC236}">
                <a16:creationId xmlns:a16="http://schemas.microsoft.com/office/drawing/2014/main" id="{309DE3B1-8AD1-D3E4-E5B2-8ACA08D53C7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rPr lang="ja-JP" altLang="ja-JP" b="1" dirty="0"/>
              <a:t>范畴论视角：对偶是反变函子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コンテンツ プレースホルダー 2">
                <a:extLst>
                  <a:ext uri="{FF2B5EF4-FFF2-40B4-BE49-F238E27FC236}">
                    <a16:creationId xmlns:a16="http://schemas.microsoft.com/office/drawing/2014/main" id="{2EDF5841-09A0-720F-C3D2-53DFEF4D824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09880" y="1183640"/>
                <a:ext cx="11811000" cy="5440680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ja-JP" altLang="ja-JP" dirty="0"/>
                  <a:t>对象：</a:t>
                </a:r>
                <a14:m>
                  <m:oMath xmlns:m="http://schemas.openxmlformats.org/officeDocument/2006/math">
                    <m:r>
                      <a:rPr lang="ja-JP" altLang="en-US" i="1">
                        <a:latin typeface="Cambria Math" panose="02040503050406030204" pitchFamily="18" charset="0"/>
                      </a:rPr>
                      <m:t>𝑋</m:t>
                    </m:r>
                    <m:r>
                      <a:rPr lang="ja-JP" altLang="en-US">
                        <a:latin typeface="Cambria Math" panose="02040503050406030204" pitchFamily="18" charset="0"/>
                      </a:rPr>
                      <m:t>↦</m:t>
                    </m:r>
                    <m:sSup>
                      <m:sSupPr>
                        <m:ctrlPr>
                          <a:rPr lang="ja-JP" alt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ja-JP" altLang="en-US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p>
                        <m:r>
                          <a:rPr lang="ja-JP" altLang="en-US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altLang="ja-JP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altLang="ja-JP" dirty="0"/>
              </a:p>
              <a:p>
                <a:pPr marL="0" indent="0">
                  <a:buNone/>
                </a:pPr>
                <a:r>
                  <a:rPr lang="ja-JP" altLang="ja-JP" dirty="0"/>
                  <a:t>态射：</a:t>
                </a:r>
                <a14:m>
                  <m:oMath xmlns:m="http://schemas.openxmlformats.org/officeDocument/2006/math">
                    <m:r>
                      <a:rPr lang="ja-JP" altLang="en-US" i="1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altLang="ja-JP">
                        <a:latin typeface="Cambria Math" panose="02040503050406030204" pitchFamily="18" charset="0"/>
                      </a:rPr>
                      <m:t>:</m:t>
                    </m:r>
                    <m:r>
                      <a:rPr lang="ja-JP" altLang="en-US" i="1">
                        <a:latin typeface="Cambria Math" panose="02040503050406030204" pitchFamily="18" charset="0"/>
                      </a:rPr>
                      <m:t>𝑋</m:t>
                    </m:r>
                    <m:r>
                      <a:rPr lang="ja-JP" altLang="en-US">
                        <a:latin typeface="Cambria Math" panose="02040503050406030204" pitchFamily="18" charset="0"/>
                      </a:rPr>
                      <m:t>→</m:t>
                    </m:r>
                    <m:r>
                      <a:rPr lang="ja-JP" altLang="en-US" i="1">
                        <a:latin typeface="Cambria Math" panose="02040503050406030204" pitchFamily="18" charset="0"/>
                      </a:rPr>
                      <m:t>𝑌</m:t>
                    </m:r>
                    <m:r>
                      <a:rPr lang="ja-JP" altLang="en-US">
                        <a:latin typeface="Cambria Math" panose="02040503050406030204" pitchFamily="18" charset="0"/>
                      </a:rPr>
                      <m:t> ↦ </m:t>
                    </m:r>
                    <m:sSup>
                      <m:sSupPr>
                        <m:ctrlPr>
                          <a:rPr lang="ja-JP" alt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ja-JP" altLang="en-US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p>
                        <m:r>
                          <a:rPr lang="ja-JP" altLang="en-US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altLang="ja-JP">
                        <a:latin typeface="Cambria Math" panose="02040503050406030204" pitchFamily="18" charset="0"/>
                      </a:rPr>
                      <m:t>:</m:t>
                    </m:r>
                    <m:sSup>
                      <m:sSupPr>
                        <m:ctrlPr>
                          <a:rPr lang="ja-JP" alt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ja-JP" altLang="en-US" i="1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p>
                        <m:r>
                          <a:rPr lang="ja-JP" altLang="en-US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ja-JP" altLang="en-US">
                        <a:latin typeface="Cambria Math" panose="02040503050406030204" pitchFamily="18" charset="0"/>
                      </a:rPr>
                      <m:t>→</m:t>
                    </m:r>
                    <m:sSup>
                      <m:sSupPr>
                        <m:ctrlPr>
                          <a:rPr lang="ja-JP" alt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ja-JP" altLang="en-US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p>
                        <m:r>
                          <a:rPr lang="ja-JP" altLang="en-US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altLang="ja-JP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altLang="ja-JP" dirty="0"/>
              </a:p>
              <a:p>
                <a:pPr marL="0" indent="0">
                  <a:buNone/>
                </a:pPr>
                <a:r>
                  <a:rPr lang="ja-JP" altLang="ja-JP" dirty="0"/>
                  <a:t>复合顺序反转：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ja-JP" alt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ja-JP" alt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ja-JP" altLang="en-US" i="1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  <m:r>
                                <a:rPr lang="ja-JP" altLang="en-US">
                                  <a:latin typeface="Cambria Math" panose="02040503050406030204" pitchFamily="18" charset="0"/>
                                </a:rPr>
                                <m:t>∘</m:t>
                              </m:r>
                              <m:r>
                                <a:rPr lang="ja-JP" altLang="en-US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</m:d>
                        </m:e>
                        <m:sup>
                          <m:r>
                            <a:rPr lang="ja-JP" altLang="en-US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en-US" altLang="ja-JP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ja-JP" alt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ja-JP" altLang="en-US" i="1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p>
                          <m:r>
                            <a:rPr lang="ja-JP" altLang="en-US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ja-JP" altLang="en-US">
                          <a:latin typeface="Cambria Math" panose="02040503050406030204" pitchFamily="18" charset="0"/>
                        </a:rPr>
                        <m:t>∘</m:t>
                      </m:r>
                      <m:sSup>
                        <m:sSupPr>
                          <m:ctrlPr>
                            <a:rPr lang="ja-JP" alt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ja-JP" altLang="en-US" i="1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p>
                          <m:r>
                            <a:rPr lang="ja-JP" altLang="en-US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en-US" altLang="ja-JP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en-US" altLang="ja-JP" dirty="0"/>
              </a:p>
              <a:p>
                <a:pPr marL="0" indent="0">
                  <a:buNone/>
                </a:pPr>
                <a:r>
                  <a:rPr lang="ja-JP" altLang="ja-JP" dirty="0"/>
                  <a:t>自然配对：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⟨"/>
                          <m:endChr m:val="⟩"/>
                          <m:sepChr m:val=","/>
                          <m:ctrlPr>
                            <a:rPr lang="ja-JP" alt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ja-JP" alt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ja-JP" altLang="en-US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p>
                              <m:r>
                                <a:rPr lang="ja-JP" altLang="en-US"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  <m:sSup>
                            <m:sSupPr>
                              <m:ctrlPr>
                                <a:rPr lang="ja-JP" alt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ja-JP" altLang="en-US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p>
                              <m:r>
                                <a:rPr lang="ja-JP" altLang="en-US"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</m:e>
                        <m:e>
                          <m:r>
                            <a:rPr lang="ja-JP" alt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altLang="ja-JP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⟨"/>
                          <m:endChr m:val="⟩"/>
                          <m:sepChr m:val=","/>
                          <m:ctrlPr>
                            <a:rPr lang="ja-JP" alt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ja-JP" alt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ja-JP" altLang="en-US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p>
                              <m:r>
                                <a:rPr lang="ja-JP" altLang="en-US"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</m:e>
                        <m:e>
                          <m:r>
                            <a:rPr lang="ja-JP" altLang="en-US" i="1">
                              <a:latin typeface="Cambria Math" panose="02040503050406030204" pitchFamily="18" charset="0"/>
                            </a:rPr>
                            <m:t>𝑇𝑥</m:t>
                          </m:r>
                        </m:e>
                      </m:d>
                      <m:r>
                        <a:rPr lang="en-US" altLang="ja-JP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en-US" altLang="ja-JP" dirty="0"/>
              </a:p>
              <a:p>
                <a:pPr marL="0" indent="0">
                  <a:buNone/>
                </a:pPr>
                <a:r>
                  <a:rPr lang="ja-JP" altLang="ja-JP" dirty="0"/>
                  <a:t>双对偶嵌入：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ja-JP" alt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ja-JP" altLang="en-US" i="1"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  <m:sub>
                          <m:r>
                            <a:rPr lang="ja-JP" altLang="en-US" i="1">
                              <a:latin typeface="Cambria Math" panose="02040503050406030204" pitchFamily="18" charset="0"/>
                            </a:rPr>
                            <m:t>𝑋</m:t>
                          </m:r>
                        </m:sub>
                      </m:sSub>
                      <m:r>
                        <a:rPr lang="en-US" altLang="ja-JP"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lang="ja-JP" altLang="en-US" i="1"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ja-JP" altLang="en-US">
                          <a:latin typeface="Cambria Math" panose="02040503050406030204" pitchFamily="18" charset="0"/>
                        </a:rPr>
                        <m:t>→</m:t>
                      </m:r>
                      <m:sSup>
                        <m:sSupPr>
                          <m:ctrlPr>
                            <a:rPr lang="ja-JP" alt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ja-JP" altLang="en-US" i="1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p>
                          <m:r>
                            <a:rPr lang="ja-JP" altLang="en-US">
                              <a:latin typeface="Cambria Math" panose="02040503050406030204" pitchFamily="18" charset="0"/>
                            </a:rPr>
                            <m:t>∗∗</m:t>
                          </m:r>
                        </m:sup>
                      </m:sSup>
                      <m:r>
                        <a:rPr lang="en-US" altLang="ja-JP"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ja-JP" alt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ja-JP" altLang="en-US" i="1"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  <m:sub>
                          <m:r>
                            <a:rPr lang="ja-JP" altLang="en-US" i="1">
                              <a:latin typeface="Cambria Math" panose="02040503050406030204" pitchFamily="18" charset="0"/>
                            </a:rPr>
                            <m:t>𝑋</m:t>
                          </m:r>
                        </m:sub>
                      </m:sSub>
                      <m:d>
                        <m:dPr>
                          <m:ctrlPr>
                            <a:rPr lang="ja-JP" alt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ja-JP" alt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d>
                        <m:dPr>
                          <m:ctrlPr>
                            <a:rPr lang="ja-JP" alt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ja-JP" altLang="en-US" i="1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</m:d>
                      <m:r>
                        <a:rPr lang="en-US" altLang="ja-JP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ja-JP" altLang="en-US" i="1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ja-JP" alt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ja-JP" alt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altLang="ja-JP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en-US" altLang="ja-JP" dirty="0"/>
              </a:p>
              <a:p>
                <a:pPr marL="0" indent="0">
                  <a:buNone/>
                </a:pPr>
                <a:r>
                  <a:rPr lang="ja-JP" altLang="ja-JP" dirty="0"/>
                  <a:t>若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ja-JP" alt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ja-JP" altLang="en-US" i="1">
                            <a:latin typeface="Cambria Math" panose="02040503050406030204" pitchFamily="18" charset="0"/>
                          </a:rPr>
                          <m:t>𝐽</m:t>
                        </m:r>
                      </m:e>
                      <m:sub>
                        <m:r>
                          <a:rPr lang="ja-JP" altLang="en-US" i="1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</m:oMath>
                </a14:m>
                <a:r>
                  <a:rPr lang="ja-JP" altLang="ja-JP" dirty="0"/>
                  <a:t>满射，则 </a:t>
                </a:r>
                <a14:m>
                  <m:oMath xmlns:m="http://schemas.openxmlformats.org/officeDocument/2006/math">
                    <m:r>
                      <a:rPr lang="ja-JP" altLang="en-US" i="1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ja-JP" altLang="ja-JP" dirty="0"/>
                  <a:t>称为自反空间。</a:t>
                </a:r>
              </a:p>
              <a:p>
                <a:pPr marL="0" indent="0">
                  <a:buNone/>
                </a:pPr>
                <a:endParaRPr lang="en-US" altLang="ja-JP" dirty="0"/>
              </a:p>
              <a:p>
                <a:pPr marL="0" indent="0">
                  <a:buNone/>
                </a:pPr>
                <a:r>
                  <a:rPr lang="ja-JP" altLang="ja-JP" dirty="0"/>
                  <a:t>对偶</a:t>
                </a:r>
                <a:r>
                  <a:rPr lang="zh-CN" altLang="en-US" dirty="0"/>
                  <a:t>即</a:t>
                </a:r>
                <a:r>
                  <a:rPr lang="ja-JP" altLang="ja-JP" dirty="0"/>
                  <a:t>箭头反向。</a:t>
                </a:r>
                <a:endParaRPr lang="en-US" altLang="ja-JP" dirty="0"/>
              </a:p>
              <a:p>
                <a:pPr marL="0" indent="0">
                  <a:buNone/>
                </a:pPr>
                <a:r>
                  <a:rPr lang="ja-JP" altLang="ja-JP" dirty="0"/>
                  <a:t>双对偶嵌入</a:t>
                </a:r>
                <a:r>
                  <a:rPr lang="en-US" altLang="ja-JP" dirty="0"/>
                  <a:t> -&gt;</a:t>
                </a:r>
                <a:r>
                  <a:rPr lang="ja-JP" altLang="ja-JP" dirty="0"/>
                  <a:t> Banach 空间中的自反性、弱紧性。</a:t>
                </a:r>
              </a:p>
            </p:txBody>
          </p:sp>
        </mc:Choice>
        <mc:Fallback>
          <p:sp>
            <p:nvSpPr>
              <p:cNvPr id="12" name="コンテンツ プレースホルダー 2">
                <a:extLst>
                  <a:ext uri="{FF2B5EF4-FFF2-40B4-BE49-F238E27FC236}">
                    <a16:creationId xmlns:a16="http://schemas.microsoft.com/office/drawing/2014/main" id="{2EDF5841-09A0-720F-C3D2-53DFEF4D824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09880" y="1183640"/>
                <a:ext cx="11811000" cy="5440680"/>
              </a:xfrm>
              <a:blipFill>
                <a:blip r:embed="rId3"/>
                <a:stretch>
                  <a:fillRect l="-568" t="-896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8894799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42EB86-3726-AFC6-B0EF-D19B1C065E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>
            <a:extLst>
              <a:ext uri="{FF2B5EF4-FFF2-40B4-BE49-F238E27FC236}">
                <a16:creationId xmlns:a16="http://schemas.microsoft.com/office/drawing/2014/main" id="{F025E28E-7754-83EB-C7A3-F0494323729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b="1" dirty="0"/>
              <a:t>对偶结构在不同领域反复出现</a:t>
            </a:r>
            <a:endParaRPr lang="ja-JP" altLang="ja-JP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表 2">
                <a:extLst>
                  <a:ext uri="{FF2B5EF4-FFF2-40B4-BE49-F238E27FC236}">
                    <a16:creationId xmlns:a16="http://schemas.microsoft.com/office/drawing/2014/main" id="{8306112B-C424-676A-4DA3-9470422D1A0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360990406"/>
                  </p:ext>
                </p:extLst>
              </p:nvPr>
            </p:nvGraphicFramePr>
            <p:xfrm>
              <a:off x="1371600" y="1920240"/>
              <a:ext cx="10210800" cy="3256534"/>
            </p:xfrm>
            <a:graphic>
              <a:graphicData uri="http://schemas.openxmlformats.org/drawingml/2006/table">
                <a:tbl>
                  <a:tblPr/>
                  <a:tblGrid>
                    <a:gridCol w="1723658">
                      <a:extLst>
                        <a:ext uri="{9D8B030D-6E8A-4147-A177-3AD203B41FA5}">
                          <a16:colId xmlns:a16="http://schemas.microsoft.com/office/drawing/2014/main" val="2514639221"/>
                        </a:ext>
                      </a:extLst>
                    </a:gridCol>
                    <a:gridCol w="1676819">
                      <a:extLst>
                        <a:ext uri="{9D8B030D-6E8A-4147-A177-3AD203B41FA5}">
                          <a16:colId xmlns:a16="http://schemas.microsoft.com/office/drawing/2014/main" val="2684490592"/>
                        </a:ext>
                      </a:extLst>
                    </a:gridCol>
                    <a:gridCol w="2716635">
                      <a:extLst>
                        <a:ext uri="{9D8B030D-6E8A-4147-A177-3AD203B41FA5}">
                          <a16:colId xmlns:a16="http://schemas.microsoft.com/office/drawing/2014/main" val="2016670711"/>
                        </a:ext>
                      </a:extLst>
                    </a:gridCol>
                    <a:gridCol w="4093688">
                      <a:extLst>
                        <a:ext uri="{9D8B030D-6E8A-4147-A177-3AD203B41FA5}">
                          <a16:colId xmlns:a16="http://schemas.microsoft.com/office/drawing/2014/main" val="1343569749"/>
                        </a:ext>
                      </a:extLst>
                    </a:gridCol>
                  </a:tblGrid>
                  <a:tr h="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ja-JP"/>
                            <a:t>领域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ja-JP"/>
                            <a:t>对象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ja-JP"/>
                            <a:t>对偶对象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ja-JP"/>
                            <a:t>配对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20456266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ja-JP"/>
                            <a:t>线性代数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ja-JP"/>
                            <a:t>向量 (x)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ja-JP"/>
                            <a:t>线性函数 (f)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ja-JP" dirty="0"/>
                            <a:t>f(x)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292542804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ja-JP" dirty="0"/>
                            <a:t>泛函分析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ja-JP"/>
                            <a:t>函数 (u)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ja-JP"/>
                            <a:t>连续线性泛函 (F)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ja-JP" dirty="0"/>
                            <a:t>F(u)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641448829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ja-JP"/>
                            <a:t>Hilbert 空间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ja-JP"/>
                            <a:t>向量 (u)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ja-JP"/>
                            <a:t>向量 (v) 表示的泛函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begChr m:val="⟨"/>
                                    <m:endChr m:val="⟩"/>
                                    <m:ctrlPr>
                                      <a:rPr lang="en-US" altLang="ja-JP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ja-JP" altLang="en-US" i="1" dirty="0">
                                        <a:latin typeface="Cambria Math" panose="02040503050406030204" pitchFamily="18" charset="0"/>
                                      </a:rPr>
                                      <m:t>𝑢</m:t>
                                    </m:r>
                                    <m:r>
                                      <a:rPr lang="ja-JP" i="1" dirty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ja-JP" altLang="en-US" i="1" dirty="0">
                                        <a:latin typeface="Cambria Math" panose="02040503050406030204" pitchFamily="18" charset="0"/>
                                      </a:rPr>
                                      <m:t>𝑣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ja-JP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859073220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ja-JP"/>
                            <a:t>PDE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ja-JP"/>
                            <a:t>解 (u)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ja-JP" dirty="0"/>
                            <a:t>测试函数 (</a:t>
                          </a:r>
                          <a14:m>
                            <m:oMath xmlns:m="http://schemas.openxmlformats.org/officeDocument/2006/math">
                              <m:r>
                                <a:rPr lang="en-US" altLang="ja-JP" i="1" dirty="0" smtClean="0">
                                  <a:latin typeface="Cambria Math" panose="02040503050406030204" pitchFamily="18" charset="0"/>
                                </a:rPr>
                                <m:t>𝜑</m:t>
                              </m:r>
                            </m:oMath>
                          </a14:m>
                          <a:r>
                            <a:rPr lang="ja-JP" dirty="0"/>
                            <a:t>)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 xmlns:m="http://schemas.openxmlformats.org/officeDocument/2006/math">
                              <m:nary>
                                <m:naryPr>
                                  <m:subHide m:val="on"/>
                                  <m:supHide m:val="on"/>
                                  <m:ctrlPr>
                                    <a:rPr lang="ja-JP" altLang="en-US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/>
                                <m:sup/>
                                <m:e>
                                  <m:r>
                                    <a:rPr lang="ja-JP" altLang="en-US" i="1" dirty="0"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  <m:r>
                                    <a:rPr lang="en-US" altLang="ja-JP" i="1" dirty="0">
                                      <a:latin typeface="Cambria Math" panose="02040503050406030204" pitchFamily="18" charset="0"/>
                                    </a:rPr>
                                    <m:t>𝜑</m:t>
                                  </m:r>
                                </m:e>
                              </m:nary>
                            </m:oMath>
                          </a14:m>
                          <a:r>
                            <a:rPr lang="ja-JP" dirty="0"/>
                            <a:t> 或 </a:t>
                          </a:r>
                          <a14:m>
                            <m:oMath xmlns:m="http://schemas.openxmlformats.org/officeDocument/2006/math">
                              <m:nary>
                                <m:naryPr>
                                  <m:subHide m:val="on"/>
                                  <m:supHide m:val="on"/>
                                  <m:ctrlPr>
                                    <a:rPr lang="ja-JP" altLang="en-US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/>
                                <m:sup/>
                                <m:e>
                                  <m:r>
                                    <m:rPr>
                                      <m:sty m:val="p"/>
                                    </m:rPr>
                                    <a:rPr lang="ja-JP" altLang="en-US" i="0" dirty="0">
                                      <a:latin typeface="Cambria Math" panose="02040503050406030204" pitchFamily="18" charset="0"/>
                                    </a:rPr>
                                    <m:t>∇</m:t>
                                  </m:r>
                                  <m:r>
                                    <a:rPr lang="ja-JP" altLang="en-US" i="1" dirty="0"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ja-JP" altLang="en-US" i="0" dirty="0">
                                      <a:latin typeface="Cambria Math" panose="02040503050406030204" pitchFamily="18" charset="0"/>
                                    </a:rPr>
                                    <m:t>∇</m:t>
                                  </m:r>
                                  <m:r>
                                    <a:rPr lang="en-US" altLang="ja-JP" i="1" dirty="0">
                                      <a:latin typeface="Cambria Math" panose="02040503050406030204" pitchFamily="18" charset="0"/>
                                    </a:rPr>
                                    <m:t>𝜑</m:t>
                                  </m:r>
                                </m:e>
                              </m:nary>
                            </m:oMath>
                          </a14:m>
                          <a:endParaRPr lang="ja-JP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484645739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ja-JP"/>
                            <a:t>流形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ja-JP"/>
                            <a:t>切向量 (v)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ja-JP" dirty="0"/>
                            <a:t>余切向量 (</a:t>
                          </a:r>
                          <a14:m>
                            <m:oMath xmlns:m="http://schemas.openxmlformats.org/officeDocument/2006/math">
                              <m:r>
                                <a:rPr lang="en-US" altLang="ja-JP" i="1" dirty="0" smtClean="0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oMath>
                          </a14:m>
                          <a:r>
                            <a:rPr lang="ja-JP" dirty="0"/>
                            <a:t>)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ja-JP" i="1" dirty="0" smtClean="0">
                                    <a:latin typeface="Cambria Math" panose="02040503050406030204" pitchFamily="18" charset="0"/>
                                  </a:rPr>
                                  <m:t>𝛼</m:t>
                                </m:r>
                                <m:d>
                                  <m:dPr>
                                    <m:ctrlPr>
                                      <a:rPr lang="ja-JP" altLang="en-US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ja-JP" altLang="en-US" i="1" dirty="0">
                                        <a:latin typeface="Cambria Math" panose="02040503050406030204" pitchFamily="18" charset="0"/>
                                      </a:rPr>
                                      <m:t>𝑣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ja-JP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72948548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ja-JP"/>
                            <a:t>拓扑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ja-JP"/>
                            <a:t>链 (c)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ja-JP" dirty="0"/>
                            <a:t>上链 (</a:t>
                          </a:r>
                          <a14:m>
                            <m:oMath xmlns:m="http://schemas.openxmlformats.org/officeDocument/2006/math">
                              <m:r>
                                <a:rPr lang="en-US" altLang="ja-JP" i="1" dirty="0" smtClean="0">
                                  <a:latin typeface="Cambria Math" panose="02040503050406030204" pitchFamily="18" charset="0"/>
                                </a:rPr>
                                <m:t>𝜑</m:t>
                              </m:r>
                            </m:oMath>
                          </a14:m>
                          <a:r>
                            <a:rPr lang="ja-JP" dirty="0"/>
                            <a:t>)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ja-JP" i="1" dirty="0" smtClean="0">
                                    <a:latin typeface="Cambria Math" panose="02040503050406030204" pitchFamily="18" charset="0"/>
                                  </a:rPr>
                                  <m:t>𝜑</m:t>
                                </m:r>
                                <m:d>
                                  <m:dPr>
                                    <m:ctrlPr>
                                      <a:rPr lang="ja-JP" altLang="en-US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ja-JP" altLang="en-US" i="1" dirty="0">
                                        <a:latin typeface="Cambria Math" panose="02040503050406030204" pitchFamily="18" charset="0"/>
                                      </a:rPr>
                                      <m:t>𝑐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399603049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ja-JP"/>
                            <a:t>de Rham 理论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ja-JP"/>
                            <a:t>链 (c)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ja-JP" dirty="0"/>
                            <a:t>微分形式 (</a:t>
                          </a:r>
                          <a14:m>
                            <m:oMath xmlns:m="http://schemas.openxmlformats.org/officeDocument/2006/math">
                              <m:r>
                                <a:rPr lang="en-US" altLang="ja-JP" i="1" dirty="0" smtClean="0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</m:oMath>
                          </a14:m>
                          <a:r>
                            <a:rPr lang="ja-JP" dirty="0"/>
                            <a:t>)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nary>
                                  <m:naryPr>
                                    <m:supHide m:val="on"/>
                                    <m:ctrlPr>
                                      <a:rPr lang="ja-JP" altLang="en-US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a:rPr lang="ja-JP" altLang="en-US" i="1" dirty="0">
                                        <a:latin typeface="Cambria Math" panose="02040503050406030204" pitchFamily="18" charset="0"/>
                                      </a:rPr>
                                      <m:t>𝑐</m:t>
                                    </m:r>
                                  </m:sub>
                                  <m:sup/>
                                  <m:e>
                                    <m:r>
                                      <a:rPr lang="en-US" altLang="ja-JP" i="1" dirty="0">
                                        <a:latin typeface="Cambria Math" panose="02040503050406030204" pitchFamily="18" charset="0"/>
                                      </a:rPr>
                                      <m:t>𝜔</m:t>
                                    </m:r>
                                  </m:e>
                                </m:nary>
                              </m:oMath>
                            </m:oMathPara>
                          </a14:m>
                          <a:endParaRPr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17473000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表 2">
                <a:extLst>
                  <a:ext uri="{FF2B5EF4-FFF2-40B4-BE49-F238E27FC236}">
                    <a16:creationId xmlns:a16="http://schemas.microsoft.com/office/drawing/2014/main" id="{8306112B-C424-676A-4DA3-9470422D1A0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360990406"/>
                  </p:ext>
                </p:extLst>
              </p:nvPr>
            </p:nvGraphicFramePr>
            <p:xfrm>
              <a:off x="1371600" y="1920240"/>
              <a:ext cx="10210800" cy="3256534"/>
            </p:xfrm>
            <a:graphic>
              <a:graphicData uri="http://schemas.openxmlformats.org/drawingml/2006/table">
                <a:tbl>
                  <a:tblPr/>
                  <a:tblGrid>
                    <a:gridCol w="1723658">
                      <a:extLst>
                        <a:ext uri="{9D8B030D-6E8A-4147-A177-3AD203B41FA5}">
                          <a16:colId xmlns:a16="http://schemas.microsoft.com/office/drawing/2014/main" val="2514639221"/>
                        </a:ext>
                      </a:extLst>
                    </a:gridCol>
                    <a:gridCol w="1676819">
                      <a:extLst>
                        <a:ext uri="{9D8B030D-6E8A-4147-A177-3AD203B41FA5}">
                          <a16:colId xmlns:a16="http://schemas.microsoft.com/office/drawing/2014/main" val="2684490592"/>
                        </a:ext>
                      </a:extLst>
                    </a:gridCol>
                    <a:gridCol w="2716635">
                      <a:extLst>
                        <a:ext uri="{9D8B030D-6E8A-4147-A177-3AD203B41FA5}">
                          <a16:colId xmlns:a16="http://schemas.microsoft.com/office/drawing/2014/main" val="2016670711"/>
                        </a:ext>
                      </a:extLst>
                    </a:gridCol>
                    <a:gridCol w="4093688">
                      <a:extLst>
                        <a:ext uri="{9D8B030D-6E8A-4147-A177-3AD203B41FA5}">
                          <a16:colId xmlns:a16="http://schemas.microsoft.com/office/drawing/2014/main" val="1343569749"/>
                        </a:ext>
                      </a:extLst>
                    </a:gridCol>
                  </a:tblGrid>
                  <a:tr h="36576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ja-JP"/>
                            <a:t>领域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ja-JP"/>
                            <a:t>对象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ja-JP"/>
                            <a:t>对偶对象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ja-JP"/>
                            <a:t>配对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20456266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ja-JP"/>
                            <a:t>线性代数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ja-JP"/>
                            <a:t>向量 (x)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ja-JP"/>
                            <a:t>线性函数 (f)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ja-JP" dirty="0"/>
                            <a:t>f(x)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292542804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ja-JP" dirty="0"/>
                            <a:t>泛函分析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ja-JP"/>
                            <a:t>函数 (u)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ja-JP"/>
                            <a:t>连续线性泛函 (F)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ja-JP" dirty="0"/>
                            <a:t>F(u)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641448829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ja-JP"/>
                            <a:t>Hilbert 空间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ja-JP"/>
                            <a:t>向量 (u)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ja-JP"/>
                            <a:t>向量 (v) 表示的泛函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49554" t="-313333" r="-446" b="-495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59073220"/>
                      </a:ext>
                    </a:extLst>
                  </a:tr>
                  <a:tr h="408178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ja-JP"/>
                            <a:t>PDE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ja-JP"/>
                            <a:t>解 (u)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25843" t="-370149" r="-151685" b="-34328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49554" t="-370149" r="-446" b="-34328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84645739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ja-JP"/>
                            <a:t>流形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ja-JP"/>
                            <a:t>切向量 (v)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25843" t="-516393" r="-151685" b="-27704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49554" t="-516393" r="-446" b="-27704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72948548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ja-JP"/>
                            <a:t>拓扑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ja-JP"/>
                            <a:t>链 (c)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25843" t="-626667" r="-151685" b="-181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49554" t="-626667" r="-446" b="-1816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99603049"/>
                      </a:ext>
                    </a:extLst>
                  </a:tr>
                  <a:tr h="653796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ja-JP"/>
                            <a:t>de Rham 理论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ja-JP"/>
                            <a:t>链 (c)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25843" t="-407477" r="-151685" b="-186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49554" t="-407477" r="-446" b="-186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74730003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90917268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14862880-0955-872B-6BD2-7E23ACF55E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63084" y="2678906"/>
            <a:ext cx="10363200" cy="1500187"/>
          </a:xfrm>
        </p:spPr>
        <p:txBody>
          <a:bodyPr/>
          <a:lstStyle/>
          <a:p>
            <a:pPr algn="ctr"/>
            <a:r>
              <a:rPr kumimoji="1" lang="en-US" altLang="ja-JP" sz="5000" dirty="0"/>
              <a:t>Thank you for listening!</a:t>
            </a:r>
            <a:endParaRPr kumimoji="1" lang="ja-JP" altLang="en-US" sz="5000" dirty="0"/>
          </a:p>
        </p:txBody>
      </p:sp>
    </p:spTree>
    <p:extLst>
      <p:ext uri="{BB962C8B-B14F-4D97-AF65-F5344CB8AC3E}">
        <p14:creationId xmlns:p14="http://schemas.microsoft.com/office/powerpoint/2010/main" val="3395547263"/>
      </p:ext>
    </p:extLst>
  </p:cSld>
  <p:clrMapOvr>
    <a:masterClrMapping/>
  </p:clrMapOvr>
</p:sld>
</file>

<file path=ppt/theme/theme1.xml><?xml version="1.0" encoding="utf-8"?>
<a:theme xmlns:a="http://schemas.openxmlformats.org/drawingml/2006/main" name="Blank Presentation">
  <a:themeElements>
    <a:clrScheme name="Blank Presentatio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ユーザー定義 1">
      <a:majorFont>
        <a:latin typeface="Arial"/>
        <a:ea typeface="FangSong"/>
        <a:cs typeface=""/>
      </a:majorFont>
      <a:minorFont>
        <a:latin typeface="Comic Sans MS"/>
        <a:ea typeface="FangSong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="" xmlns:a14="http://schemas.microsoft.com/office/drawing/2010/main">
              <a:effectLst>
                <a:outerShdw blurRad="63500" dist="38099" dir="2700000" algn="ctr" rotWithShape="0">
                  <a:schemeClr val="bg2">
                    <a:alpha val="74998"/>
                  </a:schemeClr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Comic Sans MS" charset="0"/>
            <a:ea typeface="ＭＳ Ｐゴシック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="" xmlns:a14="http://schemas.microsoft.com/office/drawing/2010/main">
              <a:effectLst>
                <a:outerShdw blurRad="63500" dist="38099" dir="2700000" algn="ctr" rotWithShape="0">
                  <a:schemeClr val="bg2">
                    <a:alpha val="74998"/>
                  </a:schemeClr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Comic Sans MS" charset="0"/>
            <a:ea typeface="ＭＳ Ｐゴシック" charset="0"/>
          </a:defRPr>
        </a:defPPr>
      </a:lstStyle>
    </a:lnDef>
  </a:objectDefaults>
  <a:extraClrSchemeLst>
    <a:extraClrScheme>
      <a:clrScheme name="Blank Presentatio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C:\Program Files\Microsoft Office\Templates\Blank Presentation.pot</Template>
  <TotalTime>97177</TotalTime>
  <Words>4252</Words>
  <Application>Microsoft Office PowerPoint</Application>
  <PresentationFormat>ワイド画面</PresentationFormat>
  <Paragraphs>433</Paragraphs>
  <Slides>36</Slides>
  <Notes>35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7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36</vt:i4>
      </vt:variant>
    </vt:vector>
  </HeadingPairs>
  <TitlesOfParts>
    <vt:vector size="44" baseType="lpstr">
      <vt:lpstr>FangSong</vt:lpstr>
      <vt:lpstr>ＭＳ ゴシック</vt:lpstr>
      <vt:lpstr>Arial</vt:lpstr>
      <vt:lpstr>Cambria Math</vt:lpstr>
      <vt:lpstr>Comic Sans MS</vt:lpstr>
      <vt:lpstr>Times New Roman</vt:lpstr>
      <vt:lpstr>Wingdings</vt:lpstr>
      <vt:lpstr>Blank Presentation</vt:lpstr>
      <vt:lpstr>PowerPoint プレゼンテーション</vt:lpstr>
      <vt:lpstr>主要思想</vt:lpstr>
      <vt:lpstr>对偶空间与泛函</vt:lpstr>
      <vt:lpstr>优化：DJ(u)(v) 一阶变分是对方向 v的线性函数</vt:lpstr>
      <vt:lpstr>PDE 弱解：∫128_Ω▒∇ u⋅∇φ=∫128_Ω▒f φ   用测试函数 φ检验方程</vt:lpstr>
      <vt:lpstr>几何：df_p (v)  微分是作用在切向量上的线性函数</vt:lpstr>
      <vt:lpstr>pairing</vt:lpstr>
      <vt:lpstr>pairing</vt:lpstr>
      <vt:lpstr>有限维复习：列向量与行向量</vt:lpstr>
      <vt:lpstr>对偶基：坐标就是线性泛函</vt:lpstr>
      <vt:lpstr>无限维中的关键差别：代数对偶太大</vt:lpstr>
      <vt:lpstr>例子：积分泛函</vt:lpstr>
      <vt:lpstr>例子：点值泛函</vt:lpstr>
      <vt:lpstr>例子：点值泛函</vt:lpstr>
      <vt:lpstr>例子：L^p 对偶</vt:lpstr>
      <vt:lpstr>对偶空间依赖于范数</vt:lpstr>
      <vt:lpstr>Riesz 表示定理：Hilbert 空间的核心桥梁</vt:lpstr>
      <vt:lpstr>Riesz 定理的几何图像</vt:lpstr>
      <vt:lpstr> Riesz 的三种读法</vt:lpstr>
      <vt:lpstr>变分法：一阶变分本质上是对偶元素</vt:lpstr>
      <vt:lpstr>例子：最小二乘与正规方程</vt:lpstr>
      <vt:lpstr>PDE 弱解：从微分方程到泛函方程</vt:lpstr>
      <vt:lpstr>Riesz 与 Lax–Milgram 的影子</vt:lpstr>
      <vt:lpstr>伴随算子：定义来自“反向拉回观测”</vt:lpstr>
      <vt:lpstr>伴随的基本性质</vt:lpstr>
      <vt:lpstr>矩阵转置与 Hilbert 伴随</vt:lpstr>
      <vt:lpstr>微分算子的伴随：分部积分就是伴随</vt:lpstr>
      <vt:lpstr>优化中的对偶变量：拉格朗日乘子</vt:lpstr>
      <vt:lpstr>弱收敛：用所有对偶元素测试收敛</vt:lpstr>
      <vt:lpstr>微分流形类比：切空间与余切空间</vt:lpstr>
      <vt:lpstr>度量把切空间和余切空间识别：有限维 Riesz</vt:lpstr>
      <vt:lpstr>同调与上同调：边界算子的伴随</vt:lpstr>
      <vt:lpstr>微分形式、积分与 de Rham 配对</vt:lpstr>
      <vt:lpstr>范畴论视角：对偶是反变函子</vt:lpstr>
      <vt:lpstr>对偶结构在不同领域反复出现</vt:lpstr>
      <vt:lpstr>PowerPoint プレゼンテーション</vt:lpstr>
    </vt:vector>
  </TitlesOfParts>
  <Company>qub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2_csc321</dc:title>
  <dc:creator>sscott</dc:creator>
  <cp:lastModifiedBy>Yiyang Jia</cp:lastModifiedBy>
  <cp:revision>4806</cp:revision>
  <dcterms:created xsi:type="dcterms:W3CDTF">2001-07-30T09:48:22Z</dcterms:created>
  <dcterms:modified xsi:type="dcterms:W3CDTF">2026-06-07T10:03:10Z</dcterms:modified>
</cp:coreProperties>
</file>