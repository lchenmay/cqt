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6"/>
  </p:notesMasterIdLst>
  <p:handoutMasterIdLst>
    <p:handoutMasterId r:id="rId47"/>
  </p:handoutMasterIdLst>
  <p:sldIdLst>
    <p:sldId id="257" r:id="rId2"/>
    <p:sldId id="550" r:id="rId3"/>
    <p:sldId id="512" r:id="rId4"/>
    <p:sldId id="592" r:id="rId5"/>
    <p:sldId id="576" r:id="rId6"/>
    <p:sldId id="577" r:id="rId7"/>
    <p:sldId id="593" r:id="rId8"/>
    <p:sldId id="613" r:id="rId9"/>
    <p:sldId id="594" r:id="rId10"/>
    <p:sldId id="590" r:id="rId11"/>
    <p:sldId id="595" r:id="rId12"/>
    <p:sldId id="591" r:id="rId13"/>
    <p:sldId id="596" r:id="rId14"/>
    <p:sldId id="597" r:id="rId15"/>
    <p:sldId id="614" r:id="rId16"/>
    <p:sldId id="598" r:id="rId17"/>
    <p:sldId id="615" r:id="rId18"/>
    <p:sldId id="599" r:id="rId19"/>
    <p:sldId id="600" r:id="rId20"/>
    <p:sldId id="601" r:id="rId21"/>
    <p:sldId id="578" r:id="rId22"/>
    <p:sldId id="579" r:id="rId23"/>
    <p:sldId id="589" r:id="rId24"/>
    <p:sldId id="602" r:id="rId25"/>
    <p:sldId id="580" r:id="rId26"/>
    <p:sldId id="586" r:id="rId27"/>
    <p:sldId id="603" r:id="rId28"/>
    <p:sldId id="604" r:id="rId29"/>
    <p:sldId id="605" r:id="rId30"/>
    <p:sldId id="606" r:id="rId31"/>
    <p:sldId id="587" r:id="rId32"/>
    <p:sldId id="607" r:id="rId33"/>
    <p:sldId id="608" r:id="rId34"/>
    <p:sldId id="609" r:id="rId35"/>
    <p:sldId id="610" r:id="rId36"/>
    <p:sldId id="611" r:id="rId37"/>
    <p:sldId id="588" r:id="rId38"/>
    <p:sldId id="612" r:id="rId39"/>
    <p:sldId id="581" r:id="rId40"/>
    <p:sldId id="582" r:id="rId41"/>
    <p:sldId id="583" r:id="rId42"/>
    <p:sldId id="584" r:id="rId43"/>
    <p:sldId id="585" r:id="rId44"/>
    <p:sldId id="503" r:id="rId45"/>
  </p:sldIdLst>
  <p:sldSz cx="12192000" cy="6858000"/>
  <p:notesSz cx="6669088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Comic Sans MS" panose="030F0902030302020204" pitchFamily="66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Comic Sans MS" panose="030F0902030302020204" pitchFamily="66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Comic Sans MS" panose="030F0902030302020204" pitchFamily="66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Comic Sans MS" panose="030F0902030302020204" pitchFamily="66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Comic Sans MS" panose="030F0902030302020204" pitchFamily="66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Comic Sans MS" panose="030F0902030302020204" pitchFamily="66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Comic Sans MS" panose="030F0902030302020204" pitchFamily="66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Comic Sans MS" panose="030F0902030302020204" pitchFamily="66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Comic Sans MS" panose="030F0902030302020204" pitchFamily="66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767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  <a:srgbClr val="F9EAEF"/>
    <a:srgbClr val="1E35A8"/>
    <a:srgbClr val="EDFFED"/>
    <a:srgbClr val="FFFDF0"/>
    <a:srgbClr val="F5F2DF"/>
    <a:srgbClr val="F7F7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8D230F3-CF80-4859-8CE7-A43EE81993B5}" styleName="淡色スタイル 1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8799B23B-EC83-4686-B30A-512413B5E67A}" styleName="淡色スタイル 3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660B408-B3CF-4A94-85FC-2B1E0A45F4A2}" styleName="濃色スタイル 2 - アクセント 1/アクセント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D083AE6-46FA-4A59-8FB0-9F97EB10719F}" styleName="淡色スタイル 3 - アクセント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6" autoAdjust="0"/>
    <p:restoredTop sz="93447" autoAdjust="0"/>
  </p:normalViewPr>
  <p:slideViewPr>
    <p:cSldViewPr snapToGrid="0">
      <p:cViewPr>
        <p:scale>
          <a:sx n="61" d="100"/>
          <a:sy n="61" d="100"/>
        </p:scale>
        <p:origin x="880" y="80"/>
      </p:cViewPr>
      <p:guideLst>
        <p:guide orient="horz" pos="2160"/>
        <p:guide pos="767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52C18442-6CBB-9D4C-BAEA-A8F1BBD3577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omic Sans M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653F2BA6-0CAA-5945-ACBD-4F338120D7D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9838" y="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omic Sans M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9396" name="Rectangle 4">
            <a:extLst>
              <a:ext uri="{FF2B5EF4-FFF2-40B4-BE49-F238E27FC236}">
                <a16:creationId xmlns:a16="http://schemas.microsoft.com/office/drawing/2014/main" id="{14557265-7C63-8C48-84E3-2EBF33E87183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omic Sans M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9397" name="Rectangle 5">
            <a:extLst>
              <a:ext uri="{FF2B5EF4-FFF2-40B4-BE49-F238E27FC236}">
                <a16:creationId xmlns:a16="http://schemas.microsoft.com/office/drawing/2014/main" id="{708EC389-215B-BB4B-AF04-0D16A0A5620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9838" y="942975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omic Sans MS" charset="0"/>
                <a:ea typeface="ＭＳ Ｐゴシック" charset="-128"/>
              </a:defRPr>
            </a:lvl1pPr>
          </a:lstStyle>
          <a:p>
            <a:pPr>
              <a:defRPr/>
            </a:pPr>
            <a:fld id="{A331DE67-792D-4F41-8BD2-183E50FC1F7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C921D813-D54F-5A42-8D81-6FD883C1EBA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F2F4F132-3A51-C24F-AD22-A48CD14B1D3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779838" y="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9658DE86-5E13-E64C-84C2-46CB62CE691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6988" y="744538"/>
            <a:ext cx="6615112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C9D372DE-C786-8D4D-9F53-214241F844F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9000" y="4714875"/>
            <a:ext cx="4891088" cy="4467225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6743ADF9-18C0-4240-9800-30D3D32CF58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429AE395-53F8-BF43-BD63-E86F29A94A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9838" y="942975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fld id="{AB31E2A7-604B-AC4A-93FF-7D752141A21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987686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F9D24-F943-8EEE-C053-ED9191981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0B1F744-D542-6AB4-3782-93A5DC805E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D238BD68-45DE-80E2-2F0A-729C91B82E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F6E165B-0A50-3D5C-7287-B82CD006B2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758260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21C9B-0432-97CE-059B-D69DE8ADF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745485E-2F4B-AD40-EFF3-41506C1A8C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587FCA0-8BC9-0E68-396D-ECC59DB7CD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0B0AAC7-F694-1390-5322-7DCD4A3B8E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809044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55475-CF68-B871-D534-83DA003B3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473A770-8607-19B5-75EA-554736BC69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A16DD03-78D3-73A4-45B5-95781EDA5A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1F45B61-5E0C-BAF4-22A8-8085D6A102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42146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61192-941E-0A9B-CC92-F56A0C4EB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3CC66CF-9206-E250-4B15-58BD862748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F2D7405-2120-8630-730F-D53EB95884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7DCA38E-4DC4-11D3-77D8-0BAE42F0AC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701102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A022A-8F0A-10E3-753C-C406628E3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8BB34B4-F97E-A2BB-C44A-9D9D4C1F05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4982ED8-1AD2-7501-7E93-8EB9342B25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866A04B-A015-BDCD-F768-C31876C1BB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618892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D1CFF-B7C4-47E6-F1D5-DC3FCF56C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B23F39B-A943-6938-4844-B37B0E52BF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ECC55FE-D575-27D5-2C26-A6774D1C16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F76CCF5-B197-F4E6-30EA-E153E77D8F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472304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F8DD3-E0B0-3BAA-7BAB-B7182ADAF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6B1B998-4E95-39EA-0F0B-B718750D2B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D2D4F276-55CD-D7A8-3EC9-062777BC47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6CE819D-E205-87DA-AA2B-507EA82005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413585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CB45D-C6A4-9CCF-52A7-434B0DBAB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68D8B96-A71A-5869-B6B6-3198996F43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11EFC28-1D05-8187-6A98-734DFAEA94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228EA2B-36D7-AF69-5DBD-C32EB13BFE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44730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7947D-412E-FC0F-F075-85D598FC3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2D4AC43-485F-BF84-5BE9-A5973DE055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5FFF57A-2627-9301-6206-FB5A95A755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2AB074F-0758-49FE-0EB4-615A282654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94780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194EE-8D19-4D06-92EF-D890CF726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E31A92A-C228-0108-5911-925528CB98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DAC2D38-2B1B-CC5F-B120-9621C8CB94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3F2E81E-C442-2951-5184-C929258038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410429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9B172-9C1C-210B-0F58-7B36D2BC9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520A2AB-188D-FACB-B651-C39346CB83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C4F906E-ADED-03BA-7D07-6CE80B57C9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BB14BCE-8217-892C-6B77-A627521CEE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495555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F5B5D-44C7-1809-593E-FFFEFEAFB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03021F3-70A8-EFB3-CD86-C7752F8E75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42C6D97-FBCF-4330-FD7F-EED692E569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C3B663E-AE15-80B5-DFDF-3D13DF3554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386455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16F6A-E63B-A52F-7078-61C03666C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75F31AF-FD64-0886-E624-A842CF5715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97F27B3-36B1-BC55-4770-77F19D63BD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98A4538-53C5-52B0-075D-900C8EB565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94473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9AEB1-29A9-B084-ED87-7245F3B28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BEC13CD-93AF-05FC-2699-266451AC45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FED7CB6-A8FA-5EB9-F118-85B5D68B3A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8215CB1-ADD6-BA1C-7039-4A830B3EEC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117359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22DAC-850C-D8F9-EAD6-2503DE869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B10A575-4606-F209-E1E2-E73D102334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EAD3362-7E6A-8CA4-0F80-C8FA16B0D3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CA4BCEC-BFC9-E9CE-DBE8-637840F448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087734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EAB8F-066D-318B-03F4-487CB5D02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CDB1235-4E57-FFAB-8E96-B1AA684BD3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EB66FF2-BD92-CB5D-7218-7905E5E8AB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5B7711C-62DE-DD01-638E-E2BE847D21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110739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22BD3-FCCD-9305-E3F4-C7D4AE3A5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3A7C22E-8067-B8ED-8061-830FBF4482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9F27FA5-23F2-B731-4076-91FEA946DC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9856AA0-FCE3-081D-9875-86908183A7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838498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2A4AD-D990-D55C-BF9F-BE3A1C72B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7D1300E-A002-90F6-4BA5-968F5FABB9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5AAA368-D187-2A96-3E82-474F4E8D1D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933F1C7-8620-8E7D-8305-4BB1AC410B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20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655592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7C804-99DD-CC30-9E92-C0BFDA242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ED515E3-F17F-838F-CECC-1787EFC192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2C5928D-DDD0-8082-F1B0-F765787629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6CD7F14-6F49-1B9C-3DBF-808E8E19E5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22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830938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D017E-36D8-D816-D995-08A75CE1D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CA70F82-3B64-181A-0C02-6BD9BD3000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DEFCA420-242F-7074-5946-F1ACE47EB4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A2552CE-387E-9C8F-3F7F-140373744D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23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51369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C68D7-E65A-7CE7-5D97-DC68AAF7C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98D8504-2F51-A62C-BA33-6D36BB9932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A6FEA8C-9074-1ECD-4A96-BA303C01E3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3F31B8C-0EA2-34BF-DC7F-CB35F38F24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24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73952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556E4-AE41-75CB-DBDD-7F95ACC67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CE9AA04-A622-54E0-8201-A2F157100C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D428E36-D69E-3E34-A289-98DEA55695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B9475BD-42BC-D7D3-3EA4-CD271505C0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25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0706248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2D48E-4148-0151-5C14-79BB71C35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FC7C199-EEDD-0E81-2BBA-7DF0EF8EEB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F693DA2-91F9-E377-FB4B-27E2D00785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C811E26-40B8-9BB8-EA58-F365D1EF31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26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394771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3F939-2679-AF76-FDA7-FFFAA19B5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C275E39-F802-CAC5-D192-10E7DEBEDB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ABAFE72-FD3D-0B95-F9E6-E1A727FA20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54BE7CF-32F4-FAAC-6804-6C30DD2640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27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2371279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C9130-3E8E-8727-78AA-0AAD9951C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79A7BE6-A854-A688-E1FB-0FD6315419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5CFE8D8-E1FD-9BCD-4E9A-DC2A39228E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5788586-4006-1171-F7D8-E1EE136BEA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28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4177475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5A75B-888F-1D9F-81AB-35982B6C0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850862A-655F-8E29-FE79-05E5ED47F9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B438685-0A0D-A1AA-D32E-9F0AB266FA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34E1069-C1F0-4C69-3CEC-E7DCC469C8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29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6999597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B58DA-F8F2-F706-6C9C-B0B543803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EE7312E-BF5B-7F6F-3C17-36BE66FF82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17FA2ED-BA9F-673B-5BD2-39B44B4284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D4467D1-8FF9-BE0C-8582-0D03ACEDE9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30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3550123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2C181-CEFB-2350-D844-165F7AD77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0B50D10-8D57-76A0-357E-ED88AF069C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FD15D92-4449-EC78-3525-CCA3049BAE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757D4E6-BF6D-DACB-7ED5-FEDED10A18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31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9785736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762B3-459B-9F7A-FBD1-6503AE40E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FAFAB74-80B6-7E08-B2BD-C5337C501E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1009BF8-2AAD-7F76-33B8-878F514B9F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6BB6DE5-DBF9-6CDB-C5DF-1043E159FB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32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0063569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19588-0F8D-A7FF-1735-526D8BCA6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C0DCA54-F7E9-55E9-9F35-7CE3109BD6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D47DD2E-1EF9-727D-15E6-E8A1106979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DF35151-1821-BDD6-F586-9FB56D2CD9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33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9545771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1A33F-11AD-7D33-C4D4-0DF8BEE10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77FE29C-0FE4-95C1-FE55-75BA7F70CE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7054971-1F3B-6E5F-5261-853426D069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D52D4FF-FF1A-8688-92B6-D85F81348B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34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5084548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3A739-E805-1CD0-A50E-972CEC214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74C3DD8-ACE6-9712-928F-6FA907D4D0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836B35B-B66D-C451-CE51-4480FED742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E5A7900-97D6-F486-15F5-49FA00E62B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35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8721165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D549A-7881-E10F-848B-F1B7A9494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6496D98-367E-46E0-B424-427F72B542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CA85445-7BFE-D7AC-0F18-F50B54A183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DB0F604-751A-3041-E9D5-6A33637E38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36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1536163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B5019-A5C1-8119-C435-9C16EF26B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CA79E57-4F8F-4C18-DA7D-E19AB5C60A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2CD9079-74CD-D150-3164-2553DD4CDE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7187617-2D71-F2D6-AAA2-1932E7C132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37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9408301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6040A-AF15-3187-2139-E955CEF2A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D483800-1799-7708-B14F-9F96D6EB19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68C51A4-E39D-243D-FBCF-A50D43ED69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F7F1075-2C5B-858D-1AA6-030E3A7808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38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2489074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B0CFD-7DF2-3783-0692-4F4A088B2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2BA7B39-2D54-2A13-670B-E391AAEB84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706529C-EA1A-4A36-6505-B88BB85014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6ACC2BF-749C-21E5-F1D7-ED49424C0A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39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4521603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28934-2FB5-38D6-A3BA-FFC1DA8A3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7E084A5-1C1A-8624-C47F-A7D2EA66BA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F48DFAA-FA13-8252-8E92-5AEFEB493B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E612F5A-C1BB-8C15-E64B-181B312631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40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1010173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E119A-113D-9B2A-25F6-E21F746F6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2FE04AE-BC82-BCD2-2549-2FFA1E4711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63DC6E1-D558-5F74-4495-09E665F693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B2A9CCA-16C0-4B6E-85C2-0AC31A61F0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41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2198295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C3C41-7C12-8506-96BD-33F89EA9E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AE9DF2E-282F-44C9-5008-4AFD580E15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56F9D98-8B8B-F27A-F3A2-046E82176A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77E8A15-2899-0ABA-E3C2-6D4E118B7E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42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4685117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6875F-D485-8BF9-C769-6CC369C60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ADFAFA7-7928-BDFD-9596-B6A91FC6D5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72EEDB4-9F5C-DCA1-98DC-FEDD49BAB3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1D8D584-3D0E-7CC2-DDB2-FD9E8B465A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43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990215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4">
            <a:extLst>
              <a:ext uri="{FF2B5EF4-FFF2-40B4-BE49-F238E27FC236}">
                <a16:creationId xmlns:a16="http://schemas.microsoft.com/office/drawing/2014/main" id="{2CCC2082-249C-0241-A66B-561CCF422836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066800"/>
            <a:ext cx="11108267" cy="0"/>
          </a:xfrm>
          <a:prstGeom prst="line">
            <a:avLst/>
          </a:prstGeom>
          <a:noFill/>
          <a:ln w="508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600" y="228600"/>
            <a:ext cx="11176000" cy="838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Section 2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727200" y="1676400"/>
            <a:ext cx="8331200" cy="914400"/>
          </a:xfrm>
        </p:spPr>
        <p:txBody>
          <a:bodyPr/>
          <a:lstStyle>
            <a:lvl1pPr marL="0" indent="0" algn="ctr">
              <a:buFont typeface="Wingdings" charset="0"/>
              <a:buNone/>
              <a:defRPr sz="3200" b="1">
                <a:solidFill>
                  <a:schemeClr val="accent2"/>
                </a:solidFill>
                <a:latin typeface="Arial" charset="0"/>
              </a:defRPr>
            </a:lvl1pPr>
          </a:lstStyle>
          <a:p>
            <a:pPr lvl="0"/>
            <a:r>
              <a:rPr lang="en-US" noProof="0"/>
              <a:t>Concurrent Programming Abstraction &amp; Java Threads</a:t>
            </a:r>
          </a:p>
          <a:p>
            <a:pPr lvl="0"/>
            <a:endParaRPr lang="en-US" noProof="0"/>
          </a:p>
          <a:p>
            <a:pPr lvl="0"/>
            <a:endParaRPr lang="en-US" noProof="0"/>
          </a:p>
        </p:txBody>
      </p:sp>
      <p:sp>
        <p:nvSpPr>
          <p:cNvPr id="9" name="フッター プレースホルダー 1">
            <a:extLst>
              <a:ext uri="{FF2B5EF4-FFF2-40B4-BE49-F238E27FC236}">
                <a16:creationId xmlns:a16="http://schemas.microsoft.com/office/drawing/2014/main" id="{A1380731-16D9-4669-945F-14AC8AF754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8000" y="637063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US" dirty="0" err="1"/>
              <a:t>Yiyang</a:t>
            </a:r>
            <a:r>
              <a:rPr lang="en-US" dirty="0"/>
              <a:t> Jia</a:t>
            </a:r>
          </a:p>
        </p:txBody>
      </p:sp>
      <p:sp>
        <p:nvSpPr>
          <p:cNvPr id="10" name="Text Box 8">
            <a:extLst>
              <a:ext uri="{FF2B5EF4-FFF2-40B4-BE49-F238E27FC236}">
                <a16:creationId xmlns:a16="http://schemas.microsoft.com/office/drawing/2014/main" id="{47A380E1-661C-4C30-8B01-8930768AE33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0769600" y="6553199"/>
            <a:ext cx="1422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>
            <a:spAutoFit/>
          </a:bodyPr>
          <a:lstStyle>
            <a:lvl1pPr defTabSz="762000"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1pPr>
            <a:lvl2pPr marL="742950" indent="-285750" defTabSz="762000"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2pPr>
            <a:lvl3pPr marL="1143000" indent="-228600" defTabSz="762000"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 defTabSz="762000"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4pPr>
            <a:lvl5pPr marL="2057400" indent="-228600" defTabSz="762000"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9pPr>
          </a:lstStyle>
          <a:p>
            <a:pPr algn="r">
              <a:spcBef>
                <a:spcPct val="50000"/>
              </a:spcBef>
              <a:defRPr/>
            </a:pPr>
            <a:fld id="{B30D727B-AF9F-1344-87F2-06A074BC649A}" type="slidenum">
              <a:rPr lang="en-GB" altLang="en-US" sz="1400" smtClean="0">
                <a:solidFill>
                  <a:schemeClr val="accent2"/>
                </a:solidFill>
                <a:latin typeface="Times New Roman" charset="0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GB" altLang="en-US" sz="1400" dirty="0">
              <a:solidFill>
                <a:schemeClr val="accent2"/>
              </a:solidFill>
              <a:latin typeface="Times New Roman" charset="0"/>
            </a:endParaRPr>
          </a:p>
          <a:p>
            <a:pPr algn="r">
              <a:spcBef>
                <a:spcPct val="50000"/>
              </a:spcBef>
              <a:defRPr/>
            </a:pPr>
            <a:endParaRPr lang="en-GB" altLang="en-US" sz="1000" dirty="0">
              <a:solidFill>
                <a:schemeClr val="accent2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0353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ea typeface="FangSong" panose="02010609060101010101" pitchFamily="49" charset="-122"/>
              </a:defRPr>
            </a:lvl1pPr>
            <a:lvl2pPr>
              <a:defRPr baseline="0">
                <a:ea typeface="FangSong" panose="02010609060101010101" pitchFamily="49" charset="-122"/>
              </a:defRPr>
            </a:lvl2pPr>
            <a:lvl3pPr>
              <a:defRPr baseline="0">
                <a:ea typeface="FangSong" panose="02010609060101010101" pitchFamily="49" charset="-122"/>
              </a:defRPr>
            </a:lvl3pPr>
            <a:lvl4pPr>
              <a:defRPr baseline="0">
                <a:ea typeface="FangSong" panose="02010609060101010101" pitchFamily="49" charset="-122"/>
              </a:defRPr>
            </a:lvl4pPr>
            <a:lvl5pPr>
              <a:defRPr baseline="0">
                <a:ea typeface="FangSong" panose="02010609060101010101" pitchFamily="49" charset="-122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フッター プレースホルダー 1">
            <a:extLst>
              <a:ext uri="{FF2B5EF4-FFF2-40B4-BE49-F238E27FC236}">
                <a16:creationId xmlns:a16="http://schemas.microsoft.com/office/drawing/2014/main" id="{656708E0-780A-42EA-AEC7-D80580D6D4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8000" y="637063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US" dirty="0" err="1"/>
              <a:t>Yiyang</a:t>
            </a:r>
            <a:r>
              <a:rPr lang="en-US" dirty="0"/>
              <a:t> Jia</a:t>
            </a:r>
          </a:p>
        </p:txBody>
      </p:sp>
    </p:spTree>
    <p:extLst>
      <p:ext uri="{BB962C8B-B14F-4D97-AF65-F5344CB8AC3E}">
        <p14:creationId xmlns:p14="http://schemas.microsoft.com/office/powerpoint/2010/main" val="502878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フッター プレースホルダー 1">
            <a:extLst>
              <a:ext uri="{FF2B5EF4-FFF2-40B4-BE49-F238E27FC236}">
                <a16:creationId xmlns:a16="http://schemas.microsoft.com/office/drawing/2014/main" id="{B6DEF749-4806-4EB1-9520-49569C4FCA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8000" y="637063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US" dirty="0" err="1"/>
              <a:t>Yiyang</a:t>
            </a:r>
            <a:r>
              <a:rPr lang="en-US" dirty="0"/>
              <a:t> Jia</a:t>
            </a:r>
          </a:p>
        </p:txBody>
      </p:sp>
    </p:spTree>
    <p:extLst>
      <p:ext uri="{BB962C8B-B14F-4D97-AF65-F5344CB8AC3E}">
        <p14:creationId xmlns:p14="http://schemas.microsoft.com/office/powerpoint/2010/main" val="3499002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0" y="1295400"/>
            <a:ext cx="54356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46800" y="1295400"/>
            <a:ext cx="54356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フッター プレースホルダー 1">
            <a:extLst>
              <a:ext uri="{FF2B5EF4-FFF2-40B4-BE49-F238E27FC236}">
                <a16:creationId xmlns:a16="http://schemas.microsoft.com/office/drawing/2014/main" id="{071E30C6-AED6-406C-B2B3-B9C14F1924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8000" y="637063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US" dirty="0" err="1"/>
              <a:t>Yiyang</a:t>
            </a:r>
            <a:r>
              <a:rPr lang="en-US" dirty="0"/>
              <a:t> Jia</a:t>
            </a:r>
          </a:p>
        </p:txBody>
      </p:sp>
    </p:spTree>
    <p:extLst>
      <p:ext uri="{BB962C8B-B14F-4D97-AF65-F5344CB8AC3E}">
        <p14:creationId xmlns:p14="http://schemas.microsoft.com/office/powerpoint/2010/main" val="2388294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フッター プレースホルダー 1">
            <a:extLst>
              <a:ext uri="{FF2B5EF4-FFF2-40B4-BE49-F238E27FC236}">
                <a16:creationId xmlns:a16="http://schemas.microsoft.com/office/drawing/2014/main" id="{D6B50CE3-CD95-4A1F-9A83-500B9C5478C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08000" y="637063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US" dirty="0" err="1"/>
              <a:t>Yiyang</a:t>
            </a:r>
            <a:r>
              <a:rPr lang="en-US" dirty="0"/>
              <a:t> Jia</a:t>
            </a:r>
          </a:p>
        </p:txBody>
      </p:sp>
    </p:spTree>
    <p:extLst>
      <p:ext uri="{BB962C8B-B14F-4D97-AF65-F5344CB8AC3E}">
        <p14:creationId xmlns:p14="http://schemas.microsoft.com/office/powerpoint/2010/main" val="2091609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フッター プレースホルダー 1">
            <a:extLst>
              <a:ext uri="{FF2B5EF4-FFF2-40B4-BE49-F238E27FC236}">
                <a16:creationId xmlns:a16="http://schemas.microsoft.com/office/drawing/2014/main" id="{802880ED-3A6D-4854-B3C1-12A8BF68C9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8000" y="637063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US" dirty="0" err="1"/>
              <a:t>Yiyang</a:t>
            </a:r>
            <a:r>
              <a:rPr lang="en-US" dirty="0"/>
              <a:t> Jia</a:t>
            </a:r>
          </a:p>
        </p:txBody>
      </p:sp>
    </p:spTree>
    <p:extLst>
      <p:ext uri="{BB962C8B-B14F-4D97-AF65-F5344CB8AC3E}">
        <p14:creationId xmlns:p14="http://schemas.microsoft.com/office/powerpoint/2010/main" val="1941040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19B66A68-EB2C-448A-9C31-2285F6D4EF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8000" y="637063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US" dirty="0" err="1"/>
              <a:t>Yiyang</a:t>
            </a:r>
            <a:r>
              <a:rPr lang="en-US" dirty="0"/>
              <a:t> Jia</a:t>
            </a:r>
          </a:p>
        </p:txBody>
      </p:sp>
    </p:spTree>
    <p:extLst>
      <p:ext uri="{BB962C8B-B14F-4D97-AF65-F5344CB8AC3E}">
        <p14:creationId xmlns:p14="http://schemas.microsoft.com/office/powerpoint/2010/main" val="568376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96811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83115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30804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3800" y="304800"/>
            <a:ext cx="276860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0" y="304800"/>
            <a:ext cx="810260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90605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44D7B4F-816E-594A-A348-113D4DEB79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08000" y="304800"/>
            <a:ext cx="11074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altLang="en-US" dirty="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984F332-65D3-8E41-9D42-8A248FC50A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08000" y="1295400"/>
            <a:ext cx="110744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  <a:endParaRPr lang="en-US" altLang="en-US"/>
          </a:p>
        </p:txBody>
      </p:sp>
      <p:sp>
        <p:nvSpPr>
          <p:cNvPr id="1028" name="Line 7">
            <a:extLst>
              <a:ext uri="{FF2B5EF4-FFF2-40B4-BE49-F238E27FC236}">
                <a16:creationId xmlns:a16="http://schemas.microsoft.com/office/drawing/2014/main" id="{00A13E26-8A0C-4A42-ACC2-0EA997F81C7A}"/>
              </a:ext>
            </a:extLst>
          </p:cNvPr>
          <p:cNvSpPr>
            <a:spLocks noChangeShapeType="1"/>
          </p:cNvSpPr>
          <p:nvPr/>
        </p:nvSpPr>
        <p:spPr bwMode="auto">
          <a:xfrm>
            <a:off x="508000" y="990600"/>
            <a:ext cx="11108267" cy="0"/>
          </a:xfrm>
          <a:prstGeom prst="line">
            <a:avLst/>
          </a:prstGeom>
          <a:noFill/>
          <a:ln w="508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1032" name="Text Box 8">
            <a:extLst>
              <a:ext uri="{FF2B5EF4-FFF2-40B4-BE49-F238E27FC236}">
                <a16:creationId xmlns:a16="http://schemas.microsoft.com/office/drawing/2014/main" id="{7F320112-8054-5C45-9ABE-1300A4072A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69600" y="6553199"/>
            <a:ext cx="1422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>
            <a:spAutoFit/>
          </a:bodyPr>
          <a:lstStyle>
            <a:lvl1pPr defTabSz="762000"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1pPr>
            <a:lvl2pPr marL="742950" indent="-285750" defTabSz="762000"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2pPr>
            <a:lvl3pPr marL="1143000" indent="-228600" defTabSz="762000"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 defTabSz="762000"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4pPr>
            <a:lvl5pPr marL="2057400" indent="-228600" defTabSz="762000"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9pPr>
          </a:lstStyle>
          <a:p>
            <a:pPr algn="r">
              <a:spcBef>
                <a:spcPct val="50000"/>
              </a:spcBef>
              <a:defRPr/>
            </a:pPr>
            <a:fld id="{B30D727B-AF9F-1344-87F2-06A074BC649A}" type="slidenum">
              <a:rPr lang="en-GB" altLang="en-US" sz="1400" smtClean="0">
                <a:solidFill>
                  <a:schemeClr val="accent2"/>
                </a:solidFill>
                <a:latin typeface="Times New Roman" charset="0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GB" altLang="en-US" sz="1400" dirty="0">
              <a:solidFill>
                <a:schemeClr val="accent2"/>
              </a:solidFill>
              <a:latin typeface="Times New Roman" charset="0"/>
            </a:endParaRPr>
          </a:p>
          <a:p>
            <a:pPr algn="r">
              <a:spcBef>
                <a:spcPct val="50000"/>
              </a:spcBef>
              <a:defRPr/>
            </a:pPr>
            <a:endParaRPr lang="en-GB" altLang="en-US" sz="1000" dirty="0">
              <a:solidFill>
                <a:schemeClr val="accent2"/>
              </a:solidFill>
              <a:latin typeface="Times New Roman" charset="0"/>
            </a:endParaRPr>
          </a:p>
        </p:txBody>
      </p:sp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699C07AA-4BE4-49A0-B276-13F3D202B7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8000" y="637063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US" dirty="0" err="1"/>
              <a:t>Yiyang</a:t>
            </a:r>
            <a:r>
              <a:rPr lang="en-US" dirty="0"/>
              <a:t> Jia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5" r:id="rId1"/>
    <p:sldLayoutId id="2147483925" r:id="rId2"/>
    <p:sldLayoutId id="2147483926" r:id="rId3"/>
    <p:sldLayoutId id="2147483927" r:id="rId4"/>
    <p:sldLayoutId id="2147483928" r:id="rId5"/>
    <p:sldLayoutId id="2147483929" r:id="rId6"/>
    <p:sldLayoutId id="2147483930" r:id="rId7"/>
    <p:sldLayoutId id="2147483931" r:id="rId8"/>
    <p:sldLayoutId id="2147483932" r:id="rId9"/>
    <p:sldLayoutId id="2147483933" r:id="rId10"/>
    <p:sldLayoutId id="2147483934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+mj-lt"/>
          <a:ea typeface="+mj-ea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Arial" charset="0"/>
          <a:ea typeface="ＭＳ Ｐゴシック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Arial" charset="0"/>
          <a:ea typeface="ＭＳ Ｐゴシック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Arial" charset="0"/>
          <a:ea typeface="ＭＳ Ｐゴシック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Arial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u"/>
        <a:defRPr sz="20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itchFamily="2" charset="2"/>
        <a:buChar char="u"/>
        <a:defRPr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itchFamily="2" charset="2"/>
        <a:buChar char="u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itchFamily="2" charset="2"/>
        <a:buChar char="u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charset="0"/>
        <a:buChar char="u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charset="0"/>
        <a:buChar char="u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charset="0"/>
        <a:buChar char="u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charset="0"/>
        <a:buChar char="u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10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bananaspace.org/wiki/Baire_%E7%BA%B2%E5%AE%9A%E7%90%86" TargetMode="External"/><Relationship Id="rId4" Type="http://schemas.openxmlformats.org/officeDocument/2006/relationships/image" Target="../media/image4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3">
            <a:extLst>
              <a:ext uri="{FF2B5EF4-FFF2-40B4-BE49-F238E27FC236}">
                <a16:creationId xmlns:a16="http://schemas.microsoft.com/office/drawing/2014/main" id="{C9D3ED6E-29C5-344B-AD25-059465987D1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4754" y="2400701"/>
            <a:ext cx="11762071" cy="914400"/>
          </a:xfrm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/>
          <a:lstStyle/>
          <a:p>
            <a:pPr>
              <a:defRPr/>
            </a:pPr>
            <a:r>
              <a:rPr lang="zh-CN" altLang="en-US" sz="4800" dirty="0"/>
              <a:t>第四讲   完备性：极限不能跑掉</a:t>
            </a:r>
          </a:p>
          <a:p>
            <a:pPr>
              <a:defRPr/>
            </a:pPr>
            <a:endParaRPr lang="en-US" altLang="zh-CN" sz="4800" b="0" dirty="0">
              <a:solidFill>
                <a:srgbClr val="00B050"/>
              </a:solidFill>
              <a:latin typeface="ＭＳ ゴシック" panose="020B0609070205080204" pitchFamily="49" charset="-128"/>
              <a:ea typeface="ＭＳ ゴシック" panose="020B0609070205080204" pitchFamily="49" charset="-128"/>
              <a:cs typeface="+mn-cs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4557E3E-7542-E03D-E83D-95659A1FF452}"/>
              </a:ext>
            </a:extLst>
          </p:cNvPr>
          <p:cNvSpPr txBox="1"/>
          <p:nvPr/>
        </p:nvSpPr>
        <p:spPr>
          <a:xfrm>
            <a:off x="2058126" y="3959721"/>
            <a:ext cx="807574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000" dirty="0">
                <a:latin typeface="+mj-ea"/>
                <a:ea typeface="+mj-ea"/>
              </a:rPr>
              <a:t>面向应用的泛函分析：空间、算子与结构</a:t>
            </a:r>
            <a:r>
              <a:rPr lang="en-US" altLang="ja-JP" sz="3000" dirty="0">
                <a:latin typeface="+mj-ea"/>
                <a:ea typeface="+mj-ea"/>
              </a:rPr>
              <a:t>(</a:t>
            </a:r>
            <a:r>
              <a:rPr lang="en-US" altLang="zh-CN" sz="3000" dirty="0">
                <a:latin typeface="+mj-ea"/>
                <a:ea typeface="+mj-ea"/>
              </a:rPr>
              <a:t>4</a:t>
            </a:r>
            <a:r>
              <a:rPr lang="en-US" altLang="ja-JP" sz="3000" dirty="0">
                <a:latin typeface="+mj-ea"/>
                <a:ea typeface="+mj-ea"/>
              </a:rPr>
              <a:t>)</a:t>
            </a:r>
            <a:endParaRPr lang="ja-JP" altLang="en-US" sz="3000" dirty="0">
              <a:latin typeface="+mj-ea"/>
              <a:ea typeface="+mj-ea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9873AE4-8092-C0CF-6CC8-939EF51604B4}"/>
              </a:ext>
            </a:extLst>
          </p:cNvPr>
          <p:cNvSpPr txBox="1"/>
          <p:nvPr/>
        </p:nvSpPr>
        <p:spPr>
          <a:xfrm>
            <a:off x="4439920" y="5158339"/>
            <a:ext cx="331216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000" dirty="0">
                <a:latin typeface="+mj-ea"/>
                <a:ea typeface="+mj-ea"/>
              </a:rPr>
              <a:t>讲师：贾伊阳</a:t>
            </a:r>
            <a:endParaRPr lang="ja-JP" altLang="en-US" sz="30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C18812-E6F5-BD75-9287-DE197EAE0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动机：为什么需要完备性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41376A4-EFA7-7F39-8C97-B1DB3E2F4F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82265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A742A-F3B0-B5FC-F001-90792E353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BEE0C5DE-B7CA-CE05-FCF0-107E1E9E8A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</a:rPr>
              <a:t>为什么很多算法在理论上需要完备性？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023FAC7C-7CD3-DCD3-16E6-99C6C08863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</p:spPr>
            <p:txBody>
              <a:bodyPr/>
              <a:lstStyle/>
              <a:p>
                <a:pPr marL="0" lvl="0" indent="0">
                  <a:lnSpc>
                    <a:spcPct val="110000"/>
                  </a:lnSpc>
                  <a:spcBef>
                    <a:spcPct val="0"/>
                  </a:spcBef>
                  <a:buClrTx/>
                  <a:buNone/>
                </a:pPr>
                <a:r>
                  <a:rPr lang="ja-JP" altLang="ja-JP" dirty="0">
                    <a:latin typeface="Arial" panose="020B0604020202020204" pitchFamily="34" charset="0"/>
                  </a:rPr>
                  <a:t>在很多问题里，我们并不是一步得到答案，而是构造一个序列：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ja-JP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ja-JP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ja-JP" altLang="ja-JP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ja-JP" altLang="ja-JP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ja-JP" altLang="ja-JP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ja-JP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ja-JP" altLang="ja-JP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ja-JP" altLang="ja-JP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ja-JP" altLang="ja-JP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ja-JP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ja-JP" altLang="ja-JP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ja-JP" altLang="ja-JP" i="1" dirty="0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r>
                  <a:rPr lang="ja-JP" altLang="ja-JP" dirty="0">
                    <a:latin typeface="Arial" panose="020B0604020202020204" pitchFamily="34" charset="0"/>
                  </a:rPr>
                  <a:t> </a:t>
                </a:r>
                <a:r>
                  <a:rPr lang="zh-CN" altLang="en-US" dirty="0">
                    <a:latin typeface="Arial" panose="020B0604020202020204" pitchFamily="34" charset="0"/>
                  </a:rPr>
                  <a:t>，</a:t>
                </a:r>
                <a:r>
                  <a:rPr lang="ja-JP" altLang="ja-JP" dirty="0">
                    <a:latin typeface="Arial" panose="020B0604020202020204" pitchFamily="34" charset="0"/>
                  </a:rPr>
                  <a:t>希望它越来越接近某个目标。</a:t>
                </a:r>
              </a:p>
              <a:p>
                <a:pPr marL="0" lvl="0" indent="0">
                  <a:lnSpc>
                    <a:spcPct val="110000"/>
                  </a:lnSpc>
                  <a:spcBef>
                    <a:spcPct val="0"/>
                  </a:spcBef>
                  <a:buClrTx/>
                  <a:buNone/>
                </a:pPr>
                <a:r>
                  <a:rPr lang="ja-JP" altLang="ja-JP" dirty="0">
                    <a:latin typeface="Arial" panose="020B0604020202020204" pitchFamily="34" charset="0"/>
                  </a:rPr>
                  <a:t>但是</a:t>
                </a:r>
                <a:r>
                  <a:rPr lang="ja-JP" altLang="ja-JP" dirty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“项与项之间越来越近”并不自动推出“极限在这个空间里”</a:t>
                </a:r>
                <a:r>
                  <a:rPr lang="ja-JP" altLang="ja-JP" dirty="0">
                    <a:latin typeface="Arial" panose="020B0604020202020204" pitchFamily="34" charset="0"/>
                  </a:rPr>
                  <a:t>。 </a:t>
                </a:r>
              </a:p>
              <a:p>
                <a:pPr marL="0" lvl="0" indent="0">
                  <a:lnSpc>
                    <a:spcPct val="110000"/>
                  </a:lnSpc>
                  <a:spcBef>
                    <a:spcPct val="0"/>
                  </a:spcBef>
                  <a:buClrTx/>
                  <a:buNone/>
                </a:pPr>
                <a:endParaRPr lang="en-US" altLang="ja-JP" dirty="0">
                  <a:latin typeface="Arial" panose="020B0604020202020204" pitchFamily="34" charset="0"/>
                </a:endParaRPr>
              </a:p>
              <a:p>
                <a:pPr marL="0" lvl="0" indent="0">
                  <a:lnSpc>
                    <a:spcPct val="110000"/>
                  </a:lnSpc>
                  <a:spcBef>
                    <a:spcPct val="0"/>
                  </a:spcBef>
                  <a:buClrTx/>
                  <a:buNone/>
                </a:pPr>
                <a:r>
                  <a:rPr lang="ja-JP" altLang="ja-JP" dirty="0">
                    <a:latin typeface="Arial" panose="020B0604020202020204" pitchFamily="34" charset="0"/>
                  </a:rPr>
                  <a:t>需要一个条件来保证：</a:t>
                </a:r>
                <a:r>
                  <a:rPr lang="ja-JP" altLang="ja-JP" b="1" dirty="0">
                    <a:latin typeface="Arial" panose="020B0604020202020204" pitchFamily="34" charset="0"/>
                  </a:rPr>
                  <a:t>只要内部逼近得足够好，就真的能收敛到空间里的某个点。</a:t>
                </a:r>
                <a:r>
                  <a:rPr lang="ja-JP" altLang="ja-JP" dirty="0">
                    <a:latin typeface="Arial" panose="020B0604020202020204" pitchFamily="34" charset="0"/>
                  </a:rPr>
                  <a:t> </a:t>
                </a:r>
                <a:endParaRPr lang="en-US" altLang="ja-JP" dirty="0">
                  <a:latin typeface="Arial" panose="020B0604020202020204" pitchFamily="34" charset="0"/>
                </a:endParaRPr>
              </a:p>
              <a:p>
                <a:pPr marL="0" lvl="0" indent="0">
                  <a:lnSpc>
                    <a:spcPct val="110000"/>
                  </a:lnSpc>
                  <a:spcBef>
                    <a:spcPct val="0"/>
                  </a:spcBef>
                  <a:buClrTx/>
                  <a:buNone/>
                </a:pPr>
                <a:endParaRPr lang="en-US" altLang="ja-JP" dirty="0">
                  <a:latin typeface="Arial" panose="020B0604020202020204" pitchFamily="34" charset="0"/>
                </a:endParaRPr>
              </a:p>
              <a:p>
                <a:pPr marL="0" lvl="0" indent="0">
                  <a:lnSpc>
                    <a:spcPct val="110000"/>
                  </a:lnSpc>
                  <a:spcBef>
                    <a:spcPct val="0"/>
                  </a:spcBef>
                  <a:buClrTx/>
                  <a:buNone/>
                </a:pPr>
                <a:r>
                  <a:rPr lang="zh-CN" altLang="en-US" dirty="0">
                    <a:latin typeface="Arial" panose="020B0604020202020204" pitchFamily="34" charset="0"/>
                  </a:rPr>
                  <a:t>反例：</a:t>
                </a:r>
                <a:r>
                  <a:rPr lang="zh-CN" altLang="en-US" b="1" dirty="0"/>
                  <a:t>在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ℚ</m:t>
                    </m:r>
                  </m:oMath>
                </a14:m>
                <a:r>
                  <a:rPr lang="zh-CN" altLang="en-US" b="1" dirty="0"/>
                  <a:t>中逼近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lang="zh-CN" altLang="en-US" b="1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dirty="0"/>
                  <a:t>设空间是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ℚ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/>
                  <a:t>度量取绝对值距离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=∣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zh-CN" altLang="en-US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dirty="0"/>
                  <a:t>考虑有理数列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41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414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zh-CN" altLang="en-US" i="1"/>
                      <m:t> 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lang="en-US" altLang="zh-CN" b="0" dirty="0"/>
                  <a:t>.,</a:t>
                </a:r>
                <a:r>
                  <a:rPr lang="zh-CN" altLang="en-US" dirty="0"/>
                  <a:t>也就是把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zh-CN" altLang="en-US" dirty="0"/>
                  <a:t>的小数逐位截断得到的一列有理数。可以知道 </a:t>
                </a:r>
                <a:r>
                  <a:rPr lang="zh-CN" altLang="en-US" b="1" dirty="0"/>
                  <a:t>“项与项之间越来越近”：</a:t>
                </a:r>
                <a:r>
                  <a:rPr lang="zh-CN" altLang="en-US" dirty="0"/>
                  <a:t>这列数在实数里收敛到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zh-CN" altLang="en-US" dirty="0"/>
                  <a:t>，所以它必然是 </a:t>
                </a:r>
                <a:r>
                  <a:rPr lang="en-US" altLang="zh-CN" dirty="0"/>
                  <a:t>Cauchy </a:t>
                </a:r>
                <a:r>
                  <a:rPr lang="zh-CN" altLang="en-US" dirty="0"/>
                  <a:t>列。也就是说，对任意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dirty="0"/>
                  <a:t>，当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足够大时，</a:t>
                </a:r>
                <a14:m>
                  <m:oMath xmlns:m="http://schemas.openxmlformats.org/officeDocument/2006/math">
                    <m:r>
                      <a:rPr lang="zh-CN" altLang="en-US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zh-CN" altLang="en-US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zh-CN" altLang="en-US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&lt;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zh-CN" altLang="en-US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b="1" dirty="0"/>
                  <a:t>但极限不在这个空间里：</a:t>
                </a:r>
                <a:r>
                  <a:rPr lang="zh-CN" altLang="en-US" dirty="0"/>
                  <a:t>极限是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US" altLang="zh-CN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dirty="0"/>
                  <a:t> 而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zh-CN" altLang="en-US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ℚ</m:t>
                    </m:r>
                  </m:oMath>
                </a14:m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zh-CN" altLang="en-US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dirty="0"/>
                  <a:t>序列中的每一项都在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ℚ</m:t>
                    </m:r>
                  </m:oMath>
                </a14:m>
                <a:r>
                  <a:rPr lang="zh-CN" altLang="en-US" dirty="0"/>
                  <a:t>； 项与项之间越来越近； 但它</a:t>
                </a:r>
                <a:r>
                  <a:rPr lang="zh-CN" altLang="en-US" b="1" dirty="0"/>
                  <a:t>不收敛于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ℚ</m:t>
                    </m:r>
                  </m:oMath>
                </a14:m>
                <a:r>
                  <a:rPr lang="zh-CN" altLang="en-US" b="1" dirty="0"/>
                  <a:t>中的某个点</a:t>
                </a:r>
                <a:r>
                  <a:rPr lang="zh-CN" altLang="en-US" dirty="0"/>
                  <a:t>。 </a:t>
                </a:r>
              </a:p>
              <a:p>
                <a:pPr>
                  <a:lnSpc>
                    <a:spcPct val="110000"/>
                  </a:lnSpc>
                </a:pPr>
                <a:r>
                  <a:rPr lang="zh-CN" altLang="en-US" dirty="0"/>
                  <a:t>这说明“越来越近（柯西列）”并不推出“极限在原空间里（完备性）”。</a:t>
                </a:r>
              </a:p>
              <a:p>
                <a:pPr marL="0" lvl="0" indent="0">
                  <a:lnSpc>
                    <a:spcPct val="110000"/>
                  </a:lnSpc>
                  <a:spcBef>
                    <a:spcPct val="0"/>
                  </a:spcBef>
                  <a:buClrTx/>
                  <a:buNone/>
                </a:pPr>
                <a:endParaRPr lang="en-US" altLang="ja-JP" dirty="0">
                  <a:latin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023FAC7C-7CD3-DCD3-16E6-99C6C08863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  <a:blipFill>
                <a:blip r:embed="rId3"/>
                <a:stretch>
                  <a:fillRect l="-526" t="-897" r="-316" b="-482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0483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AF0B2-BF01-29BC-7468-B40E51EAC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59D49820-42B0-2622-CD9D-705E847BE3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从“收敛”到“内部可检测逼近”</a:t>
            </a:r>
            <a:endParaRPr lang="ja-JP" altLang="en-US" b="1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EEF8A8F3-4124-A0A9-E024-CCC8A944E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</p:spPr>
            <p:txBody>
              <a:bodyPr/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ja-JP" altLang="en-US" dirty="0"/>
                  <a:t>收敛定义：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→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 ⟺ 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sepChr m:val=","/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→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ja-JP" altLang="en-US" dirty="0"/>
                  <a:t>       收敛定义依赖于“目标点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ja-JP" altLang="en-US" dirty="0"/>
                  <a:t>”已经存在。 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altLang="ja-JP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ja-JP" altLang="en-US" dirty="0"/>
                  <a:t>在很多实际问题里，一开始并不知道极限是</a:t>
                </a:r>
                <a:r>
                  <a:rPr lang="zh-CN" altLang="en-US" dirty="0"/>
                  <a:t>什么</a:t>
                </a:r>
                <a:r>
                  <a:rPr lang="ja-JP" altLang="en-US" dirty="0"/>
                  <a:t>。 →　</a:t>
                </a:r>
                <a:endParaRPr lang="en-US" altLang="ja-JP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altLang="zh-CN" dirty="0"/>
                  <a:t>                                            </a:t>
                </a:r>
                <a:r>
                  <a:rPr lang="zh-CN" altLang="en-US" dirty="0"/>
                  <a:t>利用</a:t>
                </a:r>
                <a:r>
                  <a:rPr lang="en-US" altLang="ja-JP" dirty="0"/>
                  <a:t>Cauchy </a:t>
                </a:r>
                <a:r>
                  <a:rPr lang="ja-JP" altLang="en-US" dirty="0"/>
                  <a:t>列：</a:t>
                </a:r>
                <a14:m>
                  <m:oMath xmlns:m="http://schemas.openxmlformats.org/officeDocument/2006/math">
                    <m:r>
                      <a:rPr lang="ja-JP" altLang="en-US">
                        <a:latin typeface="Cambria Math" panose="02040503050406030204" pitchFamily="18" charset="0"/>
                      </a:rPr>
                      <m:t>∀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ja-JP" altLang="en-US" i="1"/>
                      <m:t> 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∃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ja-JP" altLang="en-US" i="1"/>
                      <m:t> 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∀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,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ja-JP" altLang="en-US" i="1"/>
                      <m:t> 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sepChr m:val=","/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&lt;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endParaRPr lang="en-US" altLang="ja-JP" b="0" dirty="0"/>
              </a:p>
              <a:p>
                <a:pPr marL="0" lvl="0" indent="0">
                  <a:lnSpc>
                    <a:spcPct val="110000"/>
                  </a:lnSpc>
                  <a:spcBef>
                    <a:spcPct val="0"/>
                  </a:spcBef>
                  <a:buClrTx/>
                  <a:buNone/>
                </a:pPr>
                <a:r>
                  <a:rPr lang="zh-CN" altLang="en-US" dirty="0"/>
                  <a:t>                           （</a:t>
                </a:r>
                <a:r>
                  <a:rPr lang="ja-JP" altLang="ja-JP" dirty="0">
                    <a:latin typeface="Arial" panose="020B0604020202020204" pitchFamily="34" charset="0"/>
                  </a:rPr>
                  <a:t>Cauchy 列只看序列内部彼此是否越来越近。 它不需要提前知道极限点。 </a:t>
                </a:r>
                <a:r>
                  <a:rPr lang="zh-CN" altLang="en-US" dirty="0"/>
                  <a:t>）</a:t>
                </a:r>
                <a:endParaRPr lang="en-US" altLang="zh-CN" dirty="0"/>
              </a:p>
              <a:p>
                <a:pPr marL="0" lvl="0" indent="0">
                  <a:lnSpc>
                    <a:spcPct val="110000"/>
                  </a:lnSpc>
                  <a:spcBef>
                    <a:spcPct val="0"/>
                  </a:spcBef>
                  <a:buClrTx/>
                  <a:buNone/>
                </a:pPr>
                <a:endParaRPr lang="ar-AE" altLang="ja-JP" b="0" dirty="0"/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EEF8A8F3-4124-A0A9-E024-CCC8A944E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  <a:blipFill>
                <a:blip r:embed="rId3"/>
                <a:stretch>
                  <a:fillRect l="-526" t="-89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7899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E3581-C4EE-8C38-3554-86ABCD3AF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DD564CBE-304D-448A-E4B5-DE650EC30A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</a:rPr>
              <a:t>为什么很多算法在理论上需要完备性？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584BA0B5-E4B3-FA7C-AA24-24C9D0BDE6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</p:spPr>
            <p:txBody>
              <a:bodyPr/>
              <a:lstStyle/>
              <a:p>
                <a:pPr marL="0" lvl="0" indent="0">
                  <a:lnSpc>
                    <a:spcPct val="110000"/>
                  </a:lnSpc>
                  <a:spcBef>
                    <a:spcPct val="0"/>
                  </a:spcBef>
                  <a:buClrTx/>
                  <a:buNone/>
                </a:pPr>
                <a:r>
                  <a:rPr lang="zh-CN" altLang="en-US" dirty="0">
                    <a:latin typeface="Arial" panose="020B0604020202020204" pitchFamily="34" charset="0"/>
                  </a:rPr>
                  <a:t>反例：</a:t>
                </a:r>
                <a:r>
                  <a:rPr lang="zh-CN" altLang="en-US" dirty="0"/>
                  <a:t>多项式空间在一致范数下不完备</a:t>
                </a:r>
                <a:endParaRPr lang="zh-CN" altLang="en-US" b="1" dirty="0"/>
              </a:p>
              <a:p>
                <a:pPr marL="0" indent="0">
                  <a:buNone/>
                </a:pPr>
                <a:r>
                  <a:rPr lang="ja-JP" altLang="en-US" dirty="0"/>
                  <a:t>取空间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𝒫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ja-JP" dirty="0"/>
                  <a:t>, </a:t>
                </a:r>
                <a:r>
                  <a:rPr lang="ja-JP" altLang="en-US" dirty="0"/>
                  <a:t>即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ja-JP" altLang="en-US" dirty="0"/>
                  <a:t>上所有多项式组成的空间，赋予一致范数</a:t>
                </a:r>
              </a:p>
              <a:p>
                <a:pPr marL="0" indent="0">
                  <a:buNone/>
                </a:pPr>
                <a:r>
                  <a:rPr lang="ja-JP" altLang="en-US" dirty="0"/>
                  <a:t>考虑函数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ar-AE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en-US" dirty="0"/>
                  <a:t>由 </a:t>
                </a:r>
                <a:r>
                  <a:rPr lang="en-US" altLang="ja-JP" dirty="0" err="1"/>
                  <a:t>Weierstrass</a:t>
                </a:r>
                <a:r>
                  <a:rPr lang="en-US" altLang="ja-JP" dirty="0"/>
                  <a:t> </a:t>
                </a:r>
                <a:r>
                  <a:rPr lang="ja-JP" altLang="en-US" dirty="0"/>
                  <a:t>逼近定理，存在多项式列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ja-JP" altLang="en-US" dirty="0"/>
                  <a:t>使得</a:t>
                </a:r>
                <a14:m>
                  <m:oMath xmlns:m="http://schemas.openxmlformats.org/officeDocument/2006/math"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→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dirty="0"/>
                  <a:t>。</a:t>
                </a:r>
                <a:r>
                  <a:rPr lang="ja-JP" altLang="en-US" dirty="0"/>
                  <a:t>于是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ja-JP" altLang="en-US" dirty="0"/>
                  <a:t>在一致范数下是 </a:t>
                </a:r>
                <a:r>
                  <a:rPr lang="en-US" altLang="ja-JP" dirty="0"/>
                  <a:t>Cauchy </a:t>
                </a:r>
                <a:r>
                  <a:rPr lang="ja-JP" altLang="en-US" dirty="0"/>
                  <a:t>列，也就是“项与项之间越来越近”。</a:t>
                </a:r>
                <a:r>
                  <a:rPr lang="ja-JP" altLang="en-US" b="1" dirty="0"/>
                  <a:t>但极限不在原空间里</a:t>
                </a:r>
                <a:r>
                  <a:rPr lang="zh-CN" altLang="en-US" b="1" dirty="0"/>
                  <a:t>。</a:t>
                </a:r>
                <a:r>
                  <a:rPr lang="ja-JP" altLang="en-US" dirty="0"/>
                  <a:t>它的极限函数是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ja-JP" altLang="ar-AE" dirty="0"/>
                  <a:t>，</a:t>
                </a:r>
                <a:r>
                  <a:rPr lang="ja-JP" altLang="en-US" dirty="0"/>
                  <a:t>而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ja-JP" altLang="en-US" dirty="0"/>
                  <a:t>不是多项式，因此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ar-AE" altLang="ja-JP">
                        <a:latin typeface="Cambria Math" panose="02040503050406030204" pitchFamily="18" charset="0"/>
                      </a:rPr>
                      <m:t>∉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𝒫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nor/>
                      </m:rPr>
                      <a:rPr lang="en-US" altLang="ja-JP" dirty="0"/>
                      <m:t>,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en-US" dirty="0">
                    <a:solidFill>
                      <a:srgbClr val="FF0000"/>
                    </a:solidFill>
                  </a:rPr>
                  <a:t>每一项都是多项式； 在一致范数下彼此越来越近； 但极限函数不属于多项式空间。 这说明这个空间不是完备的。</a:t>
                </a:r>
                <a:endParaRPr lang="en-US" altLang="ja-JP" dirty="0">
                  <a:latin typeface="Arial" panose="020B0604020202020204" pitchFamily="34" charset="0"/>
                </a:endParaRPr>
              </a:p>
              <a:p>
                <a:pPr marL="0" lvl="0" indent="0">
                  <a:lnSpc>
                    <a:spcPct val="110000"/>
                  </a:lnSpc>
                  <a:spcBef>
                    <a:spcPct val="0"/>
                  </a:spcBef>
                  <a:buClrTx/>
                  <a:buNone/>
                </a:pPr>
                <a:r>
                  <a:rPr lang="zh-CN" altLang="en-US" dirty="0">
                    <a:latin typeface="Arial" panose="020B0604020202020204" pitchFamily="34" charset="0"/>
                  </a:rPr>
                  <a:t>注：</a:t>
                </a:r>
                <a:r>
                  <a:rPr lang="en-US" altLang="ja-JP" dirty="0"/>
                  <a:t> </a:t>
                </a:r>
                <a:r>
                  <a:rPr lang="en-US" altLang="ja-JP" dirty="0" err="1"/>
                  <a:t>Weierstrass</a:t>
                </a:r>
                <a:r>
                  <a:rPr lang="en-US" altLang="ja-JP" dirty="0"/>
                  <a:t> </a:t>
                </a:r>
                <a:r>
                  <a:rPr lang="ja-JP" altLang="en-US" dirty="0"/>
                  <a:t>逼近定理</a:t>
                </a:r>
                <a:endParaRPr lang="en-US" altLang="ja-JP" dirty="0"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584BA0B5-E4B3-FA7C-AA24-24C9D0BDE6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  <a:blipFill>
                <a:blip r:embed="rId3"/>
                <a:stretch>
                  <a:fillRect l="-526" t="-897" r="-115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図 2">
            <a:extLst>
              <a:ext uri="{FF2B5EF4-FFF2-40B4-BE49-F238E27FC236}">
                <a16:creationId xmlns:a16="http://schemas.microsoft.com/office/drawing/2014/main" id="{AE2335DB-DF59-1A2F-6AA5-67944E9243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2160" y="1456321"/>
            <a:ext cx="2157872" cy="626479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59E6A024-3920-C691-EC9B-06716931AF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2376" y="4252343"/>
            <a:ext cx="9370508" cy="2595497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DFB76D8-6260-094A-8260-6A90DEE5345E}"/>
              </a:ext>
            </a:extLst>
          </p:cNvPr>
          <p:cNvSpPr txBox="1"/>
          <p:nvPr/>
        </p:nvSpPr>
        <p:spPr>
          <a:xfrm>
            <a:off x="6915740" y="5987555"/>
            <a:ext cx="50121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latin typeface="+mj-ea"/>
                <a:ea typeface="+mj-ea"/>
              </a:rPr>
              <a:t>紧空间上，连续函数才一定有界，这个范数</a:t>
            </a:r>
            <a:r>
              <a:rPr lang="en-US" altLang="zh-CN" sz="1400" dirty="0">
                <a:solidFill>
                  <a:srgbClr val="FF0000"/>
                </a:solidFill>
                <a:latin typeface="+mj-ea"/>
                <a:ea typeface="+mj-ea"/>
              </a:rPr>
              <a:t>(</a:t>
            </a:r>
            <a:r>
              <a:rPr lang="ja-JP" altLang="en-US" sz="1400" dirty="0">
                <a:solidFill>
                  <a:srgbClr val="FF0000"/>
                </a:solidFill>
                <a:latin typeface="+mj-ea"/>
                <a:ea typeface="+mj-ea"/>
              </a:rPr>
              <a:t>一致范数</a:t>
            </a:r>
            <a:r>
              <a:rPr lang="en-US" altLang="zh-CN" sz="1400" dirty="0">
                <a:solidFill>
                  <a:srgbClr val="FF0000"/>
                </a:solidFill>
                <a:latin typeface="+mj-ea"/>
                <a:ea typeface="+mj-ea"/>
              </a:rPr>
              <a:t>)</a:t>
            </a:r>
            <a:r>
              <a:rPr lang="zh-CN" altLang="en-US" sz="1400" dirty="0">
                <a:solidFill>
                  <a:srgbClr val="FF0000"/>
                </a:solidFill>
                <a:latin typeface="+mj-ea"/>
                <a:ea typeface="+mj-ea"/>
              </a:rPr>
              <a:t>才自然</a:t>
            </a:r>
            <a:endParaRPr lang="ja-JP" altLang="en-US" sz="14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1A044B6-A090-6411-6CFC-6A4EA7E12C7C}"/>
              </a:ext>
            </a:extLst>
          </p:cNvPr>
          <p:cNvSpPr txBox="1"/>
          <p:nvPr/>
        </p:nvSpPr>
        <p:spPr>
          <a:xfrm>
            <a:off x="3947160" y="4145993"/>
            <a:ext cx="6106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latin typeface="+mj-ea"/>
                <a:ea typeface="+mj-ea"/>
              </a:rPr>
              <a:t>不同点能用不相交开集分开</a:t>
            </a:r>
            <a:endParaRPr lang="ja-JP" altLang="en-US" sz="14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9D147D6-D71F-DA80-F5C4-C19544C28C28}"/>
              </a:ext>
            </a:extLst>
          </p:cNvPr>
          <p:cNvSpPr txBox="1"/>
          <p:nvPr/>
        </p:nvSpPr>
        <p:spPr>
          <a:xfrm>
            <a:off x="7218448" y="4546102"/>
            <a:ext cx="462985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400" dirty="0">
                <a:solidFill>
                  <a:srgbClr val="FF0000"/>
                </a:solidFill>
                <a:latin typeface="+mj-ea"/>
                <a:ea typeface="+mj-ea"/>
              </a:rPr>
              <a:t>A </a:t>
            </a:r>
            <a:r>
              <a:rPr lang="zh-CN" altLang="en-US" sz="1400" dirty="0">
                <a:solidFill>
                  <a:srgbClr val="FF0000"/>
                </a:solidFill>
                <a:latin typeface="+mj-ea"/>
                <a:ea typeface="+mj-ea"/>
              </a:rPr>
              <a:t>至少可以做</a:t>
            </a:r>
            <a:r>
              <a:rPr lang="zh-CN" altLang="en-US" sz="1400" b="1" dirty="0">
                <a:solidFill>
                  <a:srgbClr val="FF0000"/>
                </a:solidFill>
                <a:latin typeface="+mj-ea"/>
                <a:ea typeface="+mj-ea"/>
              </a:rPr>
              <a:t>线性组合</a:t>
            </a:r>
            <a:r>
              <a:rPr lang="zh-CN" altLang="en-US" sz="1400" dirty="0">
                <a:solidFill>
                  <a:srgbClr val="FF0000"/>
                </a:solidFill>
                <a:latin typeface="+mj-ea"/>
                <a:ea typeface="+mj-ea"/>
              </a:rPr>
              <a:t>。不是零散的几个函数，而是一整类可加、可数乘的函数。保证可以：调整函数高度</a:t>
            </a:r>
            <a:r>
              <a:rPr lang="en-US" altLang="zh-CN" sz="1400" dirty="0">
                <a:solidFill>
                  <a:srgbClr val="FF0000"/>
                </a:solidFill>
                <a:latin typeface="+mj-ea"/>
                <a:ea typeface="+mj-ea"/>
              </a:rPr>
              <a:t>;</a:t>
            </a:r>
            <a:r>
              <a:rPr lang="zh-CN" altLang="en-US" sz="1400" dirty="0">
                <a:solidFill>
                  <a:srgbClr val="FF0000"/>
                </a:solidFill>
                <a:latin typeface="+mj-ea"/>
                <a:ea typeface="+mj-ea"/>
              </a:rPr>
              <a:t>把几个局部构造加起来</a:t>
            </a:r>
            <a:r>
              <a:rPr lang="en-US" altLang="zh-CN" sz="1400" dirty="0">
                <a:solidFill>
                  <a:srgbClr val="FF0000"/>
                </a:solidFill>
                <a:latin typeface="+mj-ea"/>
                <a:ea typeface="+mj-ea"/>
              </a:rPr>
              <a:t>;</a:t>
            </a:r>
            <a:r>
              <a:rPr lang="zh-CN" altLang="en-US" sz="1400" dirty="0">
                <a:solidFill>
                  <a:srgbClr val="FF0000"/>
                </a:solidFill>
                <a:latin typeface="+mj-ea"/>
                <a:ea typeface="+mj-ea"/>
              </a:rPr>
              <a:t>做近似时不断修正误差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7E3CC2C3-ED38-637E-7258-CD1CCE1E3285}"/>
                  </a:ext>
                </a:extLst>
              </p:cNvPr>
              <p:cNvSpPr txBox="1"/>
              <p:nvPr/>
            </p:nvSpPr>
            <p:spPr>
              <a:xfrm>
                <a:off x="3052208" y="4834933"/>
                <a:ext cx="610616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1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j-ea"/>
                      </a:rPr>
                      <m:t>𝐴</m:t>
                    </m:r>
                  </m:oMath>
                </a14:m>
                <a:r>
                  <a:rPr lang="zh-CN" altLang="en-US" sz="1400" dirty="0">
                    <a:solidFill>
                      <a:srgbClr val="FF0000"/>
                    </a:solidFill>
                    <a:latin typeface="+mj-ea"/>
                    <a:ea typeface="+mj-ea"/>
                  </a:rPr>
                  <a:t>里的函数有能力“看出”两个不同点的差别。</a:t>
                </a:r>
                <a:endParaRPr lang="en-US" altLang="zh-CN" sz="1400" dirty="0">
                  <a:solidFill>
                    <a:srgbClr val="FF0000"/>
                  </a:solidFill>
                  <a:latin typeface="+mj-ea"/>
                  <a:ea typeface="+mj-ea"/>
                </a:endParaRPr>
              </a:p>
              <a:p>
                <a:r>
                  <a:rPr lang="zh-CN" altLang="en-US" sz="1400" dirty="0">
                    <a:solidFill>
                      <a:srgbClr val="FF0000"/>
                    </a:solidFill>
                    <a:latin typeface="+mj-ea"/>
                    <a:ea typeface="+mj-ea"/>
                  </a:rPr>
                  <a:t>不是一个过于粗糙的函数族</a:t>
                </a:r>
                <a:endParaRPr lang="ja-JP" altLang="en-US" sz="1400" dirty="0">
                  <a:solidFill>
                    <a:srgbClr val="FF0000"/>
                  </a:solidFill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7E3CC2C3-ED38-637E-7258-CD1CCE1E32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2208" y="4834933"/>
                <a:ext cx="6106160" cy="523220"/>
              </a:xfrm>
              <a:prstGeom prst="rect">
                <a:avLst/>
              </a:prstGeom>
              <a:blipFill>
                <a:blip r:embed="rId6"/>
                <a:stretch>
                  <a:fillRect l="-300" t="-3488" b="-1162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86236C4F-7822-30F8-C384-26FBC8CD4C12}"/>
                  </a:ext>
                </a:extLst>
              </p:cNvPr>
              <p:cNvSpPr txBox="1"/>
              <p:nvPr/>
            </p:nvSpPr>
            <p:spPr>
              <a:xfrm>
                <a:off x="193040" y="4527156"/>
                <a:ext cx="351028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ja-JP" altLang="en-US" sz="1400" i="1" smtClean="0">
                        <a:latin typeface="Cambria Math" panose="02040503050406030204" pitchFamily="18" charset="0"/>
                        <a:ea typeface="+mj-ea"/>
                      </a:rPr>
                      <m:t>𝑥</m:t>
                    </m:r>
                    <m:r>
                      <a:rPr lang="ja-JP" altLang="en-US" sz="1400" i="0">
                        <a:latin typeface="Cambria Math" panose="02040503050406030204" pitchFamily="18" charset="0"/>
                        <a:ea typeface="+mj-ea"/>
                      </a:rPr>
                      <m:t>≠</m:t>
                    </m:r>
                    <m:r>
                      <a:rPr lang="ja-JP" altLang="en-US" sz="1400" i="1">
                        <a:latin typeface="Cambria Math" panose="02040503050406030204" pitchFamily="18" charset="0"/>
                        <a:ea typeface="+mj-ea"/>
                      </a:rPr>
                      <m:t>𝑦</m:t>
                    </m:r>
                    <m:r>
                      <a:rPr lang="ja-JP" altLang="en-US" sz="1400" i="0">
                        <a:latin typeface="Cambria Math" panose="02040503050406030204" pitchFamily="18" charset="0"/>
                        <a:ea typeface="+mj-ea"/>
                      </a:rPr>
                      <m:t>∈</m:t>
                    </m:r>
                    <m:r>
                      <a:rPr lang="ja-JP" altLang="en-US" sz="1400" i="1">
                        <a:latin typeface="Cambria Math" panose="02040503050406030204" pitchFamily="18" charset="0"/>
                        <a:ea typeface="+mj-ea"/>
                      </a:rPr>
                      <m:t>𝑋</m:t>
                    </m:r>
                  </m:oMath>
                </a14:m>
                <a:r>
                  <a:rPr lang="ja-JP" altLang="en-US" sz="1400" dirty="0">
                    <a:latin typeface="+mj-ea"/>
                    <a:ea typeface="+mj-ea"/>
                  </a:rPr>
                  <a:t>，存在 </a:t>
                </a:r>
                <a14:m>
                  <m:oMath xmlns:m="http://schemas.openxmlformats.org/officeDocument/2006/math">
                    <m:r>
                      <a:rPr lang="ja-JP" altLang="en-US" sz="1400" i="1">
                        <a:latin typeface="Cambria Math" panose="02040503050406030204" pitchFamily="18" charset="0"/>
                        <a:ea typeface="+mj-ea"/>
                      </a:rPr>
                      <m:t>𝑎</m:t>
                    </m:r>
                    <m:r>
                      <a:rPr lang="ja-JP" altLang="en-US" sz="1400" i="0">
                        <a:latin typeface="Cambria Math" panose="02040503050406030204" pitchFamily="18" charset="0"/>
                        <a:ea typeface="+mj-ea"/>
                      </a:rPr>
                      <m:t>∈</m:t>
                    </m:r>
                    <m:r>
                      <a:rPr lang="ja-JP" altLang="en-US" sz="1400" i="1">
                        <a:latin typeface="Cambria Math" panose="02040503050406030204" pitchFamily="18" charset="0"/>
                        <a:ea typeface="+mj-ea"/>
                      </a:rPr>
                      <m:t>𝐴</m:t>
                    </m:r>
                  </m:oMath>
                </a14:m>
                <a:r>
                  <a:rPr lang="ja-JP" altLang="en-US" sz="1400" dirty="0">
                    <a:latin typeface="+mj-ea"/>
                    <a:ea typeface="+mj-ea"/>
                  </a:rPr>
                  <a:t>，使得</a:t>
                </a:r>
                <a14:m>
                  <m:oMath xmlns:m="http://schemas.openxmlformats.org/officeDocument/2006/math">
                    <m:r>
                      <a:rPr lang="ja-JP" altLang="en-US" sz="1400" i="1">
                        <a:latin typeface="Cambria Math" panose="02040503050406030204" pitchFamily="18" charset="0"/>
                        <a:ea typeface="+mj-ea"/>
                      </a:rPr>
                      <m:t>𝑎</m:t>
                    </m:r>
                    <m:d>
                      <m:dPr>
                        <m:ctrlPr>
                          <a:rPr lang="ar-AE" altLang="ja-JP" sz="1400" i="1">
                            <a:latin typeface="Cambria Math" panose="02040503050406030204" pitchFamily="18" charset="0"/>
                            <a:ea typeface="+mj-ea"/>
                          </a:rPr>
                        </m:ctrlPr>
                      </m:dPr>
                      <m:e>
                        <m:r>
                          <a:rPr lang="ja-JP" altLang="ar-AE" sz="1400" i="1">
                            <a:latin typeface="Cambria Math" panose="02040503050406030204" pitchFamily="18" charset="0"/>
                            <a:ea typeface="+mj-ea"/>
                          </a:rPr>
                          <m:t>𝑥</m:t>
                        </m:r>
                      </m:e>
                    </m:d>
                    <m:r>
                      <a:rPr lang="ar-AE" altLang="ja-JP" sz="1400" i="0">
                        <a:latin typeface="Cambria Math" panose="02040503050406030204" pitchFamily="18" charset="0"/>
                        <a:ea typeface="+mj-ea"/>
                      </a:rPr>
                      <m:t>≠</m:t>
                    </m:r>
                    <m:r>
                      <a:rPr lang="ja-JP" altLang="ar-AE" sz="1400" i="1">
                        <a:latin typeface="Cambria Math" panose="02040503050406030204" pitchFamily="18" charset="0"/>
                        <a:ea typeface="+mj-ea"/>
                      </a:rPr>
                      <m:t>𝑎</m:t>
                    </m:r>
                    <m:d>
                      <m:dPr>
                        <m:ctrlPr>
                          <a:rPr lang="ar-AE" altLang="ja-JP" sz="1400" i="1">
                            <a:latin typeface="Cambria Math" panose="02040503050406030204" pitchFamily="18" charset="0"/>
                            <a:ea typeface="+mj-ea"/>
                          </a:rPr>
                        </m:ctrlPr>
                      </m:dPr>
                      <m:e>
                        <m:r>
                          <a:rPr lang="ja-JP" altLang="ar-AE" sz="1400" i="1">
                            <a:latin typeface="Cambria Math" panose="02040503050406030204" pitchFamily="18" charset="0"/>
                            <a:ea typeface="+mj-ea"/>
                          </a:rPr>
                          <m:t>𝑦</m:t>
                        </m:r>
                      </m:e>
                    </m:d>
                  </m:oMath>
                </a14:m>
                <a:endParaRPr lang="ar-AE" altLang="ja-JP" sz="1400" dirty="0"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86236C4F-7822-30F8-C384-26FBC8CD4C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040" y="4527156"/>
                <a:ext cx="3510280" cy="307777"/>
              </a:xfrm>
              <a:prstGeom prst="rect">
                <a:avLst/>
              </a:prstGeom>
              <a:blipFill>
                <a:blip r:embed="rId7"/>
                <a:stretch>
                  <a:fillRect t="-6000" b="-18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99B50D47-DB1E-A7C3-92C1-D3B3325DC96D}"/>
              </a:ext>
            </a:extLst>
          </p:cNvPr>
          <p:cNvSpPr txBox="1"/>
          <p:nvPr/>
        </p:nvSpPr>
        <p:spPr>
          <a:xfrm>
            <a:off x="101600" y="5278568"/>
            <a:ext cx="6106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latin typeface="+mj-ea"/>
                <a:ea typeface="+mj-ea"/>
              </a:rPr>
              <a:t>有</a:t>
            </a:r>
            <a:r>
              <a:rPr lang="ja-JP" altLang="en-US" sz="1400" dirty="0">
                <a:solidFill>
                  <a:srgbClr val="FF0000"/>
                </a:solidFill>
                <a:latin typeface="+mj-ea"/>
                <a:ea typeface="+mj-ea"/>
              </a:rPr>
              <a:t>基准高度</a:t>
            </a:r>
            <a:r>
              <a:rPr lang="zh-CN" altLang="en-US" sz="1400" dirty="0">
                <a:solidFill>
                  <a:srgbClr val="FF0000"/>
                </a:solidFill>
                <a:latin typeface="+mj-ea"/>
                <a:ea typeface="+mj-ea"/>
              </a:rPr>
              <a:t>，有常函数</a:t>
            </a:r>
            <a:endParaRPr lang="ja-JP" altLang="en-US" sz="14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D9ED4CFA-38A9-47A4-BA56-BCEBE5291907}"/>
                  </a:ext>
                </a:extLst>
              </p:cNvPr>
              <p:cNvSpPr txBox="1"/>
              <p:nvPr/>
            </p:nvSpPr>
            <p:spPr>
              <a:xfrm>
                <a:off x="3052208" y="5364872"/>
                <a:ext cx="581535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zh-CN" altLang="en-US" sz="1400" dirty="0">
                    <a:solidFill>
                      <a:srgbClr val="FF0000"/>
                    </a:solidFill>
                    <a:latin typeface="+mj-ea"/>
                    <a:ea typeface="+mj-ea"/>
                  </a:rPr>
                  <a:t>先做出若干个在某些点附近表现好的函数</a:t>
                </a:r>
                <a:r>
                  <a:rPr lang="en-US" altLang="zh-CN" sz="1400" dirty="0">
                    <a:solidFill>
                      <a:srgbClr val="FF0000"/>
                    </a:solidFill>
                    <a:latin typeface="+mj-ea"/>
                    <a:ea typeface="+mj-ea"/>
                  </a:rPr>
                  <a:t>,</a:t>
                </a:r>
                <a:r>
                  <a:rPr lang="zh-CN" altLang="en-US" sz="1400" dirty="0">
                    <a:solidFill>
                      <a:srgbClr val="FF0000"/>
                    </a:solidFill>
                    <a:latin typeface="+mj-ea"/>
                    <a:ea typeface="+mj-ea"/>
                  </a:rPr>
                  <a:t>用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j-ea"/>
                      </a:rPr>
                      <m:t>max</m:t>
                    </m:r>
                  </m:oMath>
                </a14:m>
                <a:r>
                  <a:rPr lang="zh-CN" altLang="en-US" sz="1400" dirty="0">
                    <a:solidFill>
                      <a:srgbClr val="FF0000"/>
                    </a:solidFill>
                    <a:latin typeface="+mj-ea"/>
                    <a:ea typeface="+mj-ea"/>
                  </a:rPr>
                  <a:t>把它们拼成一个下逼近</a:t>
                </a:r>
                <a:r>
                  <a:rPr lang="en-US" altLang="zh-CN" sz="1400" dirty="0">
                    <a:solidFill>
                      <a:srgbClr val="FF0000"/>
                    </a:solidFill>
                    <a:latin typeface="+mj-ea"/>
                    <a:ea typeface="+mj-ea"/>
                  </a:rPr>
                  <a:t>,</a:t>
                </a:r>
                <a:r>
                  <a:rPr lang="zh-CN" altLang="en-US" sz="1400" dirty="0">
                    <a:solidFill>
                      <a:srgbClr val="FF0000"/>
                    </a:solidFill>
                    <a:latin typeface="+mj-ea"/>
                    <a:ea typeface="+mj-ea"/>
                  </a:rPr>
                  <a:t>用 </a:t>
                </a:r>
                <a:r>
                  <a:rPr lang="en-US" altLang="zh-CN" sz="1400" dirty="0">
                    <a:solidFill>
                      <a:srgbClr val="FF0000"/>
                    </a:solidFill>
                    <a:latin typeface="+mj-ea"/>
                    <a:ea typeface="+mj-ea"/>
                  </a:rPr>
                  <a:t>min</a:t>
                </a:r>
                <a:r>
                  <a:rPr lang="zh-CN" altLang="en-US" sz="1400" dirty="0">
                    <a:solidFill>
                      <a:srgbClr val="FF0000"/>
                    </a:solidFill>
                    <a:latin typeface="+mj-ea"/>
                    <a:ea typeface="+mj-ea"/>
                  </a:rPr>
                  <a:t>拼成一个上逼近</a:t>
                </a:r>
                <a:r>
                  <a:rPr lang="en-US" altLang="zh-CN" sz="1400" dirty="0">
                    <a:solidFill>
                      <a:srgbClr val="FF0000"/>
                    </a:solidFill>
                    <a:latin typeface="+mj-ea"/>
                    <a:ea typeface="+mj-ea"/>
                  </a:rPr>
                  <a:t>,</a:t>
                </a:r>
                <a:r>
                  <a:rPr lang="zh-CN" altLang="en-US" sz="1400" dirty="0">
                    <a:solidFill>
                      <a:srgbClr val="FF0000"/>
                    </a:solidFill>
                    <a:latin typeface="+mj-ea"/>
                    <a:ea typeface="+mj-ea"/>
                  </a:rPr>
                  <a:t>最后把目标函数夹住并逼近。</a:t>
                </a:r>
              </a:p>
            </p:txBody>
          </p:sp>
        </mc:Choice>
        <mc:Fallback xmlns="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D9ED4CFA-38A9-47A4-BA56-BCEBE52919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2208" y="5364872"/>
                <a:ext cx="5815356" cy="523220"/>
              </a:xfrm>
              <a:prstGeom prst="rect">
                <a:avLst/>
              </a:prstGeom>
              <a:blipFill>
                <a:blip r:embed="rId8"/>
                <a:stretch>
                  <a:fillRect l="-314" t="-3488" b="-1162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3631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2B09A-E967-5ADF-1880-75F670677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76F7C861-5E16-1EF1-D192-F9F4D81A6E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</a:rPr>
              <a:t>完备性出现在哪些场景中？ </a:t>
            </a:r>
            <a:r>
              <a:rPr lang="en-US" altLang="zh-CN" b="1" dirty="0">
                <a:latin typeface="+mj-ea"/>
              </a:rPr>
              <a:t>1.</a:t>
            </a:r>
            <a:r>
              <a:rPr lang="ja-JP" altLang="en-US" b="1" dirty="0">
                <a:latin typeface="+mj-ea"/>
              </a:rPr>
              <a:t>数值逼近</a:t>
            </a:r>
            <a:endParaRPr lang="ja-JP" altLang="en-US" dirty="0">
              <a:latin typeface="+mj-ea"/>
            </a:endParaRPr>
          </a:p>
        </p:txBody>
      </p:sp>
      <p:sp>
        <p:nvSpPr>
          <p:cNvPr id="12" name="コンテンツ プレースホルダー 2">
            <a:extLst>
              <a:ext uri="{FF2B5EF4-FFF2-40B4-BE49-F238E27FC236}">
                <a16:creationId xmlns:a16="http://schemas.microsoft.com/office/drawing/2014/main" id="{0FBE885C-05AE-22B8-EB22-72F325F09B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112520"/>
            <a:ext cx="11582400" cy="5440680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在分析、计算数学和泛函分析中，经常面对的对象本身并不容易直接处理：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zh-CN" altLang="en-US" dirty="0"/>
              <a:t>函数可能很复杂；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zh-CN" altLang="en-US" dirty="0"/>
              <a:t>解可能没有显式公式；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zh-CN" altLang="en-US" dirty="0"/>
              <a:t>对象可能生活在无限维空间中；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zh-CN" altLang="en-US" dirty="0"/>
              <a:t>真正的目标往往只能“逼近”，不能“一步写出来”。 </a:t>
            </a:r>
          </a:p>
          <a:p>
            <a:pPr marL="0" indent="0">
              <a:buNone/>
            </a:pPr>
            <a:r>
              <a:rPr lang="zh-CN" altLang="en-US" dirty="0"/>
              <a:t>一个基本思想是：</a:t>
            </a:r>
            <a:r>
              <a:rPr lang="zh-CN" altLang="en-US" b="1" dirty="0"/>
              <a:t>先用比较简单、比较可计算的对象去逼近复杂对象。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“简单对象”通常有两类：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b="1" dirty="0"/>
              <a:t>结构更简单的对象：</a:t>
            </a:r>
            <a:r>
              <a:rPr lang="zh-CN" altLang="en-US" dirty="0"/>
              <a:t>例如多项式、分段线性函数、有限项展开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b="1" dirty="0"/>
              <a:t>维数更低的对象：</a:t>
            </a:r>
            <a:r>
              <a:rPr lang="zh-CN" altLang="en-US" dirty="0"/>
              <a:t>例如把无限维问题截断成有限维问题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30188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10081-9364-AAA0-EC14-C4288413B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5B4A1010-D6F0-0A5A-0747-79E47746AA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</a:rPr>
              <a:t>完备性出现在哪些场景中？ </a:t>
            </a:r>
            <a:r>
              <a:rPr lang="en-US" altLang="zh-CN" b="1" dirty="0">
                <a:latin typeface="+mj-ea"/>
              </a:rPr>
              <a:t>1.</a:t>
            </a:r>
            <a:r>
              <a:rPr lang="ja-JP" altLang="en-US" b="1" dirty="0">
                <a:latin typeface="+mj-ea"/>
              </a:rPr>
              <a:t>数值逼近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553804BF-4C32-B3BA-1010-7B97184269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b="1" dirty="0"/>
                  <a:t>例</a:t>
                </a:r>
                <a:r>
                  <a:rPr lang="en-US" altLang="zh-CN" b="1" dirty="0"/>
                  <a:t>1</a:t>
                </a:r>
                <a:r>
                  <a:rPr lang="zh-CN" altLang="en-US" b="1" dirty="0"/>
                  <a:t>：用多项式逼近函数</a:t>
                </a:r>
              </a:p>
              <a:p>
                <a:pPr marL="0" indent="0">
                  <a:buNone/>
                </a:pPr>
                <a:r>
                  <a:rPr lang="zh-CN" altLang="en-US" dirty="0"/>
                  <a:t>设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dirty="0"/>
                  <a:t>是区间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sepChr m:val=",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zh-CN" altLang="en-US" dirty="0"/>
                  <a:t>上的一个连续函数。例如：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=∣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∣</m:t>
                    </m:r>
                  </m:oMath>
                </a14:m>
                <a:r>
                  <a:rPr lang="zh-CN" altLang="en-US" dirty="0"/>
                  <a:t>，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zh-CN" altLang="en-US" dirty="0"/>
                  <a:t>，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zh-CN" altLang="en-US" dirty="0"/>
              </a:p>
              <a:p>
                <a:pPr marL="0" indent="0">
                  <a:buNone/>
                </a:pPr>
                <a:r>
                  <a:rPr lang="zh-CN" altLang="en-US" dirty="0"/>
                  <a:t>这些函数天然未必是多项式，但由于多项式有很多好处：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形式简单； 易于求值； 易于求导、积分； 在计算中方便操作。 </a:t>
                </a:r>
              </a:p>
              <a:p>
                <a:pPr marL="0" indent="0">
                  <a:buNone/>
                </a:pPr>
                <a:r>
                  <a:rPr lang="zh-CN" altLang="en-US" dirty="0"/>
                  <a:t>于是希望找一列多项式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dirty="0"/>
                  <a:t>，使得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CN" altLang="en-US">
                        <a:latin typeface="Cambria Math" panose="02040503050406030204" pitchFamily="18" charset="0"/>
                      </a:rPr>
                      <m:t>≈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zh-CN" altLang="en-US" dirty="0"/>
              </a:p>
              <a:p>
                <a:pPr marL="0" indent="0">
                  <a:buNone/>
                </a:pPr>
                <a:r>
                  <a:rPr lang="zh-CN" altLang="en-US" dirty="0"/>
                  <a:t>如果逼近越来越好，比如满足</a:t>
                </a:r>
                <a14:m>
                  <m:oMath xmlns:m="http://schemas.openxmlformats.org/officeDocument/2006/math">
                    <m:r>
                      <a:rPr lang="zh-CN" altLang="en-US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zh-CN" alt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zh-CN" alt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dirty="0"/>
                  <a:t> 那么就说明多项式列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/>
                  <a:t>在一致范数意义下逼近了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dirty="0"/>
                  <a:t>。</a:t>
                </a:r>
              </a:p>
              <a:p>
                <a:endParaRPr lang="zh-CN" altLang="en-US" dirty="0"/>
              </a:p>
              <a:p>
                <a:pPr marL="0" indent="0">
                  <a:buNone/>
                </a:pPr>
                <a:r>
                  <a:rPr lang="zh-CN" altLang="en-US" dirty="0"/>
                  <a:t>如果这些近似对象彼此越来越近， 怎么知道它们真的会收敛到某个空间里的对象？ </a:t>
                </a:r>
              </a:p>
              <a:p>
                <a:pPr marL="0" indent="0">
                  <a:buNone/>
                </a:pPr>
                <a:r>
                  <a:rPr lang="zh-CN" altLang="en-US" dirty="0"/>
                  <a:t>如果工作的空间不完备，就可能发生这样的事情：</a:t>
                </a:r>
              </a:p>
              <a:p>
                <a:pPr lvl="1">
                  <a:buFont typeface="Wingdings" panose="05000000000000000000" pitchFamily="2" charset="2"/>
                  <a:buChar char="u"/>
                </a:pPr>
                <a:r>
                  <a:rPr lang="zh-CN" altLang="en-US" dirty="0"/>
                  <a:t>近似序列内部看起来越来越稳定； </a:t>
                </a:r>
              </a:p>
              <a:p>
                <a:pPr lvl="1">
                  <a:buFont typeface="Wingdings" panose="05000000000000000000" pitchFamily="2" charset="2"/>
                  <a:buChar char="u"/>
                </a:pPr>
                <a:r>
                  <a:rPr lang="zh-CN" altLang="en-US" dirty="0"/>
                  <a:t>但它的极限并不属于原来的空间。 </a:t>
                </a:r>
              </a:p>
              <a:p>
                <a:pPr marL="0" indent="0">
                  <a:buNone/>
                </a:pPr>
                <a:r>
                  <a:rPr lang="zh-CN" altLang="en-US" dirty="0"/>
                  <a:t>例如，多项式空间本身在一致范数下就不是完备的。可以有一列多项式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/>
                  <a:t>，它们彼此越来越接近，但它们的极限函数不一定还是多项式。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完备性的作用就是：</a:t>
                </a:r>
                <a:r>
                  <a:rPr lang="zh-CN" altLang="en-US" b="1" dirty="0"/>
                  <a:t>保证逼近过程不会“跑空”，极限对象仍然留在我们讨论的空间里。</a:t>
                </a:r>
                <a:endParaRPr lang="zh-CN" altLang="en-US" dirty="0"/>
              </a:p>
              <a:p>
                <a:pPr marL="0" indent="0">
                  <a:buNone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553804BF-4C32-B3BA-1010-7B97184269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  <a:blipFill>
                <a:blip r:embed="rId3"/>
                <a:stretch>
                  <a:fillRect l="-526" t="-1009" b="-190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図 2">
            <a:extLst>
              <a:ext uri="{FF2B5EF4-FFF2-40B4-BE49-F238E27FC236}">
                <a16:creationId xmlns:a16="http://schemas.microsoft.com/office/drawing/2014/main" id="{1912F57E-5AFF-EC01-33F6-F77A202E54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9840" y="5494982"/>
            <a:ext cx="3806514" cy="7219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3719BEBE-B75A-F37C-8196-2B4A4A32642F}"/>
                  </a:ext>
                </a:extLst>
              </p:cNvPr>
              <p:cNvSpPr txBox="1"/>
              <p:nvPr/>
            </p:nvSpPr>
            <p:spPr>
              <a:xfrm>
                <a:off x="8876354" y="5686666"/>
                <a:ext cx="270604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ja-JP" altLang="en-US" sz="1600" dirty="0">
                    <a:solidFill>
                      <a:srgbClr val="7030A0"/>
                    </a:solidFill>
                    <a:latin typeface="+mj-ea"/>
                    <a:ea typeface="+mj-ea"/>
                  </a:rPr>
                  <a:t>极限函数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pPr>
                      <m:e>
                        <m:r>
                          <a:rPr lang="ja-JP" altLang="ar-AE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𝑒</m:t>
                        </m:r>
                      </m:e>
                      <m:sup>
                        <m:r>
                          <a:rPr lang="ja-JP" altLang="ar-AE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ja-JP" altLang="en-US" sz="1600" dirty="0">
                    <a:solidFill>
                      <a:srgbClr val="7030A0"/>
                    </a:solidFill>
                    <a:latin typeface="+mj-ea"/>
                    <a:ea typeface="+mj-ea"/>
                  </a:rPr>
                  <a:t>不是多项式</a:t>
                </a:r>
              </a:p>
            </p:txBody>
          </p:sp>
        </mc:Choice>
        <mc:Fallback xmlns="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3719BEBE-B75A-F37C-8196-2B4A4A3264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6354" y="5686666"/>
                <a:ext cx="2706046" cy="338554"/>
              </a:xfrm>
              <a:prstGeom prst="rect">
                <a:avLst/>
              </a:prstGeom>
              <a:blipFill>
                <a:blip r:embed="rId5"/>
                <a:stretch>
                  <a:fillRect l="-1126" t="-7273" b="-2181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1872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2CCAF-FDA5-F9FA-A731-7A893580F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A68B345C-5329-EB42-C1AD-5653667469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</a:rPr>
              <a:t>完备性出现在哪些场景中？ </a:t>
            </a:r>
            <a:r>
              <a:rPr lang="en-US" altLang="zh-CN" b="1" dirty="0">
                <a:latin typeface="+mj-ea"/>
              </a:rPr>
              <a:t>1.</a:t>
            </a:r>
            <a:r>
              <a:rPr lang="ja-JP" altLang="en-US" b="1" dirty="0">
                <a:latin typeface="+mj-ea"/>
              </a:rPr>
              <a:t>数值逼近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89D20A50-C424-E0B8-5E46-29E943EE1E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74320" y="1112520"/>
                <a:ext cx="1181608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sz="1800" dirty="0"/>
                  <a:t>很多分析问题本质上是在</a:t>
                </a:r>
                <a:r>
                  <a:rPr lang="zh-CN" altLang="en-US" sz="1800" b="1" dirty="0"/>
                  <a:t>无限维空间</a:t>
                </a:r>
                <a:r>
                  <a:rPr lang="zh-CN" altLang="en-US" sz="1800" dirty="0"/>
                  <a:t>中进行的。真正的问题常常不是有限个数，而是一个整体函数、一个算子、一个序列。例如：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zh-CN" altLang="en-US" sz="1800" dirty="0"/>
                  <a:t>函数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sz="1800" dirty="0"/>
                  <a:t>可以看作函数空间中的一个点； 微分方程的解可能属于某个 </a:t>
                </a:r>
                <a:r>
                  <a:rPr lang="en-US" altLang="zh-CN" sz="1800" dirty="0"/>
                  <a:t>Banach </a:t>
                </a:r>
                <a:r>
                  <a:rPr lang="zh-CN" altLang="en-US" sz="1800" dirty="0"/>
                  <a:t>空间或 </a:t>
                </a:r>
                <a:r>
                  <a:rPr lang="en-US" altLang="zh-CN" sz="1800" dirty="0"/>
                  <a:t>Hilbert </a:t>
                </a:r>
                <a:r>
                  <a:rPr lang="zh-CN" altLang="en-US" sz="1800" dirty="0"/>
                  <a:t>空间</a:t>
                </a:r>
              </a:p>
              <a:p>
                <a:pPr marL="0" indent="0">
                  <a:buNone/>
                </a:pPr>
                <a:r>
                  <a:rPr lang="zh-CN" altLang="en-US" sz="1800" dirty="0"/>
                  <a:t>无限维对象没法直接完整输入到计算机。数值方法常做的事情是：</a:t>
                </a:r>
                <a:r>
                  <a:rPr lang="zh-CN" altLang="en-US" sz="1800" b="1" dirty="0"/>
                  <a:t>把无限维问题投影、截断或离散化成有限维问题</a:t>
                </a:r>
                <a:endParaRPr lang="en-US" altLang="zh-CN" sz="1800" b="1" dirty="0"/>
              </a:p>
              <a:p>
                <a:pPr marL="0" indent="0">
                  <a:buNone/>
                </a:pPr>
                <a:endParaRPr lang="zh-CN" altLang="en-US" sz="500" dirty="0"/>
              </a:p>
              <a:p>
                <a:pPr marL="0" indent="0">
                  <a:buNone/>
                </a:pPr>
                <a:r>
                  <a:rPr lang="zh-CN" altLang="en-US" sz="1800" dirty="0"/>
                  <a:t>例</a:t>
                </a:r>
                <a:r>
                  <a:rPr lang="en-US" altLang="zh-CN" sz="1800" dirty="0"/>
                  <a:t>2</a:t>
                </a:r>
                <a:r>
                  <a:rPr lang="zh-CN" altLang="en-US" sz="1800" dirty="0"/>
                  <a:t>： </a:t>
                </a:r>
                <a:r>
                  <a:rPr lang="zh-CN" altLang="en-US" sz="1800" b="1" dirty="0"/>
                  <a:t>函数的有限项展开：</a:t>
                </a:r>
                <a:r>
                  <a:rPr lang="zh-CN" altLang="en-US" sz="1800" dirty="0"/>
                  <a:t>设一个函数可以写成形式展开</a:t>
                </a:r>
                <a14:m>
                  <m:oMath xmlns:m="http://schemas.openxmlformats.org/officeDocument/2006/math"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180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zh-CN" alt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sz="18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180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sz="1800" dirty="0"/>
                  <a:t>其中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1800" dirty="0"/>
                  <a:t>是某组基函数实际计算中取前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1800" dirty="0"/>
                  <a:t>项：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180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zh-CN" alt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sz="18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18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18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1800" dirty="0"/>
                  <a:t>   原本的无限维对象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sz="1800" dirty="0"/>
                  <a:t>，就被一个只由有限个参数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80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1800" dirty="0"/>
                  <a:t>决定的对象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1800" dirty="0"/>
                  <a:t>近似了。</a:t>
                </a:r>
              </a:p>
              <a:p>
                <a:pPr marL="0" indent="0">
                  <a:buNone/>
                </a:pPr>
                <a:r>
                  <a:rPr lang="zh-CN" altLang="en-US" sz="1800" b="1" dirty="0"/>
                  <a:t>有限维逼近的本质：</a:t>
                </a:r>
                <a:r>
                  <a:rPr lang="zh-CN" altLang="en-US" sz="1800" dirty="0"/>
                  <a:t>先找一个有限维子空间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1800" dirty="0"/>
                  <a:t>； 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1800" dirty="0"/>
                  <a:t>中寻找近似解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1800" dirty="0"/>
                  <a:t>； 让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zh-CN" altLang="en-US" sz="1800">
                        <a:latin typeface="Cambria Math" panose="02040503050406030204" pitchFamily="18" charset="0"/>
                      </a:rPr>
                      <m:t>→</m:t>
                    </m:r>
                    <m:r>
                      <a:rPr lang="zh-CN" altLang="en-US" sz="180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zh-CN" altLang="en-US" sz="1800" dirty="0"/>
                  <a:t>，希望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1800" dirty="0"/>
                  <a:t>逼近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1800" dirty="0"/>
                  <a:t>。 </a:t>
                </a:r>
              </a:p>
              <a:p>
                <a:pPr marL="0" indent="0">
                  <a:buNone/>
                </a:pPr>
                <a:r>
                  <a:rPr lang="zh-CN" altLang="en-US" sz="1800" dirty="0"/>
                  <a:t>用一串有限维问题去逼近一个无限维问题：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sz="1800">
                        <a:latin typeface="Cambria Math" panose="02040503050406030204" pitchFamily="18" charset="0"/>
                      </a:rPr>
                      <m:t>⊂</m:t>
                    </m:r>
                    <m:sSub>
                      <m:sSubPr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sz="1800">
                        <a:latin typeface="Cambria Math" panose="02040503050406030204" pitchFamily="18" charset="0"/>
                      </a:rPr>
                      <m:t>⊂</m:t>
                    </m:r>
                    <m:sSub>
                      <m:sSubPr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zh-CN" altLang="en-US" sz="1800">
                        <a:latin typeface="Cambria Math" panose="02040503050406030204" pitchFamily="18" charset="0"/>
                      </a:rPr>
                      <m:t>⊂⋯</m:t>
                    </m:r>
                  </m:oMath>
                </a14:m>
                <a:r>
                  <a:rPr lang="zh-CN" altLang="en-US" sz="1800" dirty="0"/>
                  <a:t>，</a:t>
                </a:r>
                <a:r>
                  <a:rPr lang="en-US" altLang="zh-CN" sz="1800" dirty="0"/>
                  <a:t>(</a:t>
                </a:r>
                <a:r>
                  <a:rPr lang="zh-CN" altLang="en-US" sz="1800" dirty="0"/>
                  <a:t>核方法中如果训练样本逐渐增加，</a:t>
                </a:r>
                <a:r>
                  <a:rPr lang="en-US" altLang="zh-CN" sz="1800" dirty="0"/>
                  <a:t>span</a:t>
                </a:r>
                <a:r>
                  <a:rPr lang="zh-CN" altLang="en-US" sz="1800" dirty="0"/>
                  <a:t>成的子空间则有这种形式</a:t>
                </a:r>
                <a:r>
                  <a:rPr lang="en-US" altLang="zh-CN" sz="1800" dirty="0"/>
                  <a:t>)</a:t>
                </a:r>
              </a:p>
              <a:p>
                <a:pPr marL="0" indent="0">
                  <a:buNone/>
                </a:pPr>
                <a:r>
                  <a:rPr lang="zh-CN" altLang="en-US" sz="1800" dirty="0"/>
                  <a:t>每一步都比较容易求解，但是不是：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zh-CN" altLang="en-US" sz="1800">
                        <a:latin typeface="Cambria Math" panose="02040503050406030204" pitchFamily="18" charset="0"/>
                      </a:rPr>
                      <m:t>→</m:t>
                    </m:r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18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80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zh-CN" altLang="en-US" sz="1800" dirty="0"/>
              </a:p>
              <a:p>
                <a:r>
                  <a:rPr lang="zh-CN" altLang="en-US" sz="1800" dirty="0"/>
                  <a:t>在实际分析或计算中常常并不知道最终极限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1800" dirty="0"/>
                  <a:t>是谁。往往不能直接证明</a:t>
                </a:r>
                <a14:m>
                  <m:oMath xmlns:m="http://schemas.openxmlformats.org/officeDocument/2006/math">
                    <m:r>
                      <a:rPr lang="en-US" altLang="zh-CN" sz="18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zh-CN" altLang="en-US" sz="1800">
                        <a:latin typeface="Cambria Math" panose="02040503050406030204" pitchFamily="18" charset="0"/>
                      </a:rPr>
                      <m:t>→</m:t>
                    </m:r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80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zh-CN" altLang="en-US" sz="1800" dirty="0"/>
              </a:p>
              <a:p>
                <a:r>
                  <a:rPr lang="zh-CN" altLang="en-US" sz="1800" dirty="0"/>
                  <a:t>但容易检查的是：这些近似解彼此之间越来越接近，即</a:t>
                </a:r>
                <a14:m>
                  <m:oMath xmlns:m="http://schemas.openxmlformats.org/officeDocument/2006/math"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sepChr m:val=","/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zh-CN" alt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zh-CN" altLang="en-US" sz="180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180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180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sepChr m:val=","/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e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  <m:r>
                      <a:rPr lang="en-US" altLang="zh-CN" sz="180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zh-CN" altLang="en-US" sz="1800" dirty="0"/>
              </a:p>
              <a:p>
                <a:pPr marL="0" indent="0">
                  <a:buNone/>
                </a:pPr>
                <a:r>
                  <a:rPr lang="zh-CN" altLang="en-US" sz="1800" dirty="0"/>
                  <a:t>在数值逼近中：先构造一列近似对象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1800" dirty="0"/>
                  <a:t>； 证明随着精度提高，它们彼此越来越接近； 希望推出这列对象收敛到某个真正的对象。              很多对象本来就是通过极限构造出来的。</a:t>
                </a:r>
              </a:p>
              <a:p>
                <a:r>
                  <a:rPr lang="zh-CN" altLang="en-US" sz="1800" dirty="0"/>
                  <a:t>例如：实数可以看作有理数 </a:t>
                </a:r>
                <a:r>
                  <a:rPr lang="en-US" altLang="zh-CN" sz="1800" dirty="0"/>
                  <a:t>Cauchy </a:t>
                </a:r>
                <a:r>
                  <a:rPr lang="zh-CN" altLang="en-US" sz="1800" dirty="0"/>
                  <a:t>列的补全； 连续函数可以由多项式、简单函数等逼近； </a:t>
                </a:r>
                <a:r>
                  <a:rPr lang="en-US" altLang="zh-CN" sz="1800" dirty="0"/>
                  <a:t>Banach </a:t>
                </a:r>
                <a:r>
                  <a:rPr lang="zh-CN" altLang="en-US" sz="1800" dirty="0"/>
                  <a:t>空间中的元素常通过稠密子空间里的简单元素来近似； </a:t>
                </a:r>
                <a:r>
                  <a:rPr lang="en-US" altLang="zh-CN" sz="1800" dirty="0"/>
                  <a:t>PDE </a:t>
                </a:r>
                <a:r>
                  <a:rPr lang="zh-CN" altLang="en-US" sz="1800" dirty="0"/>
                  <a:t>的弱解常由更规则的近似解极限得到。 </a:t>
                </a:r>
              </a:p>
              <a:p>
                <a:r>
                  <a:rPr lang="zh-CN" altLang="en-US" sz="1800" dirty="0"/>
                  <a:t>所以很多时候我们真正掌握的不是“对象本身”，而是“如何用简单对象稳定地逼近它”。</a:t>
                </a:r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89D20A50-C424-E0B8-5E46-29E943EE1E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4320" y="1112520"/>
                <a:ext cx="11816080" cy="5440680"/>
              </a:xfrm>
              <a:blipFill>
                <a:blip r:embed="rId3"/>
                <a:stretch>
                  <a:fillRect l="-413" t="-673" b="-157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5BE1D166-CDFB-08D8-7E03-6F0672A47134}"/>
                  </a:ext>
                </a:extLst>
              </p:cNvPr>
              <p:cNvSpPr txBox="1"/>
              <p:nvPr/>
            </p:nvSpPr>
            <p:spPr>
              <a:xfrm>
                <a:off x="6241002" y="0"/>
                <a:ext cx="5950998" cy="116955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r>
                  <a:rPr lang="zh-CN" altLang="en-US" sz="1400" dirty="0">
                    <a:solidFill>
                      <a:srgbClr val="7030A0"/>
                    </a:solidFill>
                    <a:latin typeface="+mj-ea"/>
                    <a:ea typeface="+mj-ea"/>
                  </a:rPr>
                  <a:t>基函数展开是把函数表示为一组基函数的线性组合。</a:t>
                </a:r>
                <a:br>
                  <a:rPr lang="zh-CN" altLang="en-US" sz="1400" dirty="0">
                    <a:solidFill>
                      <a:srgbClr val="7030A0"/>
                    </a:solidFill>
                    <a:latin typeface="+mj-ea"/>
                    <a:ea typeface="+mj-ea"/>
                  </a:rPr>
                </a:br>
                <a:r>
                  <a:rPr lang="zh-CN" altLang="en-US" sz="1400" dirty="0">
                    <a:solidFill>
                      <a:srgbClr val="7030A0"/>
                    </a:solidFill>
                    <a:latin typeface="+mj-ea"/>
                    <a:ea typeface="+mj-ea"/>
                  </a:rPr>
                  <a:t>核方法也可以看成在某个由核函数决定的函数空间中做线性组合。</a:t>
                </a:r>
                <a:br>
                  <a:rPr lang="zh-CN" altLang="en-US" sz="1400" dirty="0">
                    <a:solidFill>
                      <a:srgbClr val="7030A0"/>
                    </a:solidFill>
                    <a:latin typeface="+mj-ea"/>
                    <a:ea typeface="+mj-ea"/>
                  </a:rPr>
                </a:br>
                <a:r>
                  <a:rPr lang="zh-CN" altLang="en-US" sz="1400" dirty="0">
                    <a:solidFill>
                      <a:srgbClr val="7030A0"/>
                    </a:solidFill>
                    <a:latin typeface="+mj-ea"/>
                    <a:ea typeface="+mj-ea"/>
                  </a:rPr>
                  <a:t>二者的共同点是：都把复杂的非线性函数问题转化为线性结构上的问题。</a:t>
                </a:r>
                <a:br>
                  <a:rPr lang="zh-CN" altLang="en-US" sz="1400" dirty="0">
                    <a:solidFill>
                      <a:srgbClr val="7030A0"/>
                    </a:solidFill>
                    <a:latin typeface="+mj-ea"/>
                    <a:ea typeface="+mj-ea"/>
                  </a:rPr>
                </a:br>
                <a:r>
                  <a:rPr lang="zh-CN" altLang="en-US" sz="1400" dirty="0">
                    <a:solidFill>
                      <a:srgbClr val="7030A0"/>
                    </a:solidFill>
                    <a:latin typeface="+mj-ea"/>
                    <a:ea typeface="+mj-ea"/>
                  </a:rPr>
                  <a:t>区别在于，基函数方法通常显式选择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400" i="1">
                            <a:solidFill>
                              <a:srgbClr val="7030A0"/>
                            </a:solidFill>
                            <a:latin typeface="+mj-ea"/>
                            <a:ea typeface="+mj-ea"/>
                          </a:rPr>
                        </m:ctrlPr>
                      </m:sSubPr>
                      <m:e>
                        <m:r>
                          <a:rPr lang="zh-CN" altLang="en-US" sz="1400" i="1">
                            <a:solidFill>
                              <a:srgbClr val="7030A0"/>
                            </a:solidFill>
                            <a:latin typeface="+mj-ea"/>
                            <a:ea typeface="+mj-ea"/>
                          </a:rPr>
                          <m:t>𝜙</m:t>
                        </m:r>
                      </m:e>
                      <m:sub>
                        <m:r>
                          <a:rPr lang="zh-CN" altLang="en-US" sz="1400" i="1">
                            <a:solidFill>
                              <a:srgbClr val="7030A0"/>
                            </a:solidFill>
                            <a:latin typeface="+mj-ea"/>
                            <a:ea typeface="+mj-ea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1400" dirty="0">
                    <a:solidFill>
                      <a:srgbClr val="7030A0"/>
                    </a:solidFill>
                    <a:latin typeface="+mj-ea"/>
                    <a:ea typeface="+mj-ea"/>
                  </a:rPr>
                  <a:t>，而核方法通常不显式写出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400" i="1">
                            <a:solidFill>
                              <a:srgbClr val="7030A0"/>
                            </a:solidFill>
                            <a:latin typeface="+mj-ea"/>
                            <a:ea typeface="+mj-ea"/>
                          </a:rPr>
                        </m:ctrlPr>
                      </m:sSubPr>
                      <m:e>
                        <m:r>
                          <a:rPr lang="zh-CN" altLang="en-US" sz="1400" i="1">
                            <a:solidFill>
                              <a:srgbClr val="7030A0"/>
                            </a:solidFill>
                            <a:latin typeface="+mj-ea"/>
                            <a:ea typeface="+mj-ea"/>
                          </a:rPr>
                          <m:t>𝜙</m:t>
                        </m:r>
                      </m:e>
                      <m:sub>
                        <m:r>
                          <a:rPr lang="zh-CN" altLang="en-US" sz="1400" i="1">
                            <a:solidFill>
                              <a:srgbClr val="7030A0"/>
                            </a:solidFill>
                            <a:latin typeface="+mj-ea"/>
                            <a:ea typeface="+mj-ea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1400" dirty="0">
                    <a:solidFill>
                      <a:srgbClr val="7030A0"/>
                    </a:solidFill>
                    <a:latin typeface="+mj-ea"/>
                    <a:ea typeface="+mj-ea"/>
                  </a:rPr>
                  <a:t>，而是通过核函数 </a:t>
                </a:r>
                <a14:m>
                  <m:oMath xmlns:m="http://schemas.openxmlformats.org/officeDocument/2006/math">
                    <m:r>
                      <a:rPr lang="zh-CN" altLang="en-US" sz="1400" i="1">
                        <a:solidFill>
                          <a:srgbClr val="7030A0"/>
                        </a:solidFill>
                        <a:latin typeface="+mj-ea"/>
                        <a:ea typeface="+mj-ea"/>
                      </a:rPr>
                      <m:t>𝐾</m:t>
                    </m:r>
                    <m:d>
                      <m:dPr>
                        <m:sepChr m:val=","/>
                        <m:ctrlPr>
                          <a:rPr lang="zh-CN" altLang="en-US" sz="1400" i="1">
                            <a:solidFill>
                              <a:srgbClr val="7030A0"/>
                            </a:solidFill>
                            <a:latin typeface="+mj-ea"/>
                            <a:ea typeface="+mj-ea"/>
                          </a:rPr>
                        </m:ctrlPr>
                      </m:dPr>
                      <m:e>
                        <m:r>
                          <a:rPr lang="zh-CN" altLang="en-US" sz="1400" i="1">
                            <a:solidFill>
                              <a:srgbClr val="7030A0"/>
                            </a:solidFill>
                            <a:latin typeface="+mj-ea"/>
                            <a:ea typeface="+mj-ea"/>
                          </a:rPr>
                          <m:t>𝑥</m:t>
                        </m:r>
                      </m:e>
                      <m:e>
                        <m:r>
                          <a:rPr lang="zh-CN" altLang="en-US" sz="1400" i="1">
                            <a:solidFill>
                              <a:srgbClr val="7030A0"/>
                            </a:solidFill>
                            <a:latin typeface="+mj-ea"/>
                            <a:ea typeface="+mj-ea"/>
                          </a:rPr>
                          <m:t>𝑦</m:t>
                        </m:r>
                      </m:e>
                    </m:d>
                  </m:oMath>
                </a14:m>
                <a:r>
                  <a:rPr lang="zh-CN" altLang="en-US" sz="1400" dirty="0">
                    <a:solidFill>
                      <a:srgbClr val="7030A0"/>
                    </a:solidFill>
                    <a:latin typeface="+mj-ea"/>
                    <a:ea typeface="+mj-ea"/>
                  </a:rPr>
                  <a:t>间接计算特征空间中的内积。</a:t>
                </a:r>
                <a:endParaRPr lang="ja-JP" altLang="en-US" sz="1400" dirty="0">
                  <a:solidFill>
                    <a:srgbClr val="7030A0"/>
                  </a:solidFill>
                  <a:latin typeface="+mj-ea"/>
                  <a:ea typeface="+mj-ea"/>
                </a:endParaRPr>
              </a:p>
            </p:txBody>
          </p:sp>
        </mc:Choice>
        <mc:Fallback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5BE1D166-CDFB-08D8-7E03-6F0672A471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1002" y="0"/>
                <a:ext cx="5950998" cy="1169551"/>
              </a:xfrm>
              <a:prstGeom prst="rect">
                <a:avLst/>
              </a:prstGeom>
              <a:blipFill>
                <a:blip r:embed="rId4"/>
                <a:stretch>
                  <a:fillRect l="-307" t="-1042" r="-205" b="-364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02681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E59A9-8F78-AE69-ED0D-56F7E3EED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C54F7C09-69D0-679B-5BA2-3303A03D58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</a:rPr>
              <a:t>完备性出现在哪些场景中？ </a:t>
            </a:r>
            <a:r>
              <a:rPr lang="en-US" altLang="zh-CN" b="1" dirty="0">
                <a:latin typeface="+mj-ea"/>
              </a:rPr>
              <a:t>1.</a:t>
            </a:r>
            <a:r>
              <a:rPr lang="ja-JP" altLang="en-US" b="1" dirty="0">
                <a:latin typeface="+mj-ea"/>
              </a:rPr>
              <a:t>数值逼近</a:t>
            </a:r>
            <a:endParaRPr lang="ja-JP" altLang="en-US" dirty="0">
              <a:latin typeface="+mj-ea"/>
            </a:endParaRP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D56E59D3-655B-5BCE-6A64-A7D2C3BD77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4954683"/>
              </p:ext>
            </p:extLst>
          </p:nvPr>
        </p:nvGraphicFramePr>
        <p:xfrm>
          <a:off x="6019059" y="0"/>
          <a:ext cx="6108331" cy="1097280"/>
        </p:xfrm>
        <a:graphic>
          <a:graphicData uri="http://schemas.openxmlformats.org/drawingml/2006/table">
            <a:tbl>
              <a:tblPr/>
              <a:tblGrid>
                <a:gridCol w="1482572">
                  <a:extLst>
                    <a:ext uri="{9D8B030D-6E8A-4147-A177-3AD203B41FA5}">
                      <a16:colId xmlns:a16="http://schemas.microsoft.com/office/drawing/2014/main" val="2071620110"/>
                    </a:ext>
                  </a:extLst>
                </a:gridCol>
                <a:gridCol w="4625759">
                  <a:extLst>
                    <a:ext uri="{9D8B030D-6E8A-4147-A177-3AD203B41FA5}">
                      <a16:colId xmlns:a16="http://schemas.microsoft.com/office/drawing/2014/main" val="1135812475"/>
                    </a:ext>
                  </a:extLst>
                </a:gridCol>
              </a:tblGrid>
              <a:tr h="2108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200"/>
                        <a:t>方法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200" dirty="0"/>
                        <a:t>理解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4060352"/>
                  </a:ext>
                </a:extLst>
              </a:tr>
              <a:tr h="2108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/>
                        <a:t>一般有限维逼近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/>
                        <a:t>先人为选一个有限维子空间，再在其中求近似解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861772"/>
                  </a:ext>
                </a:extLst>
              </a:tr>
              <a:tr h="2108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/>
                        <a:t>显式基函数截断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/>
                        <a:t>先选一组基函数，再只保留前 </a:t>
                      </a:r>
                      <a:r>
                        <a:rPr lang="en-US" altLang="zh-CN" sz="1200" dirty="0"/>
                        <a:t>n </a:t>
                      </a:r>
                      <a:r>
                        <a:rPr lang="zh-CN" altLang="en-US" sz="1200" dirty="0"/>
                        <a:t>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282318"/>
                  </a:ext>
                </a:extLst>
              </a:tr>
              <a:tr h="2108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200"/>
                        <a:t>核方法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/>
                        <a:t>先选核函数，再由训练样本自动生成有限维解空间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572048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表 5">
                <a:extLst>
                  <a:ext uri="{FF2B5EF4-FFF2-40B4-BE49-F238E27FC236}">
                    <a16:creationId xmlns:a16="http://schemas.microsoft.com/office/drawing/2014/main" id="{5AE1D722-F01F-2249-4F16-1E08D1AD534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98106673"/>
                  </p:ext>
                </p:extLst>
              </p:nvPr>
            </p:nvGraphicFramePr>
            <p:xfrm>
              <a:off x="508000" y="1530293"/>
              <a:ext cx="10876461" cy="5022907"/>
            </p:xfrm>
            <a:graphic>
              <a:graphicData uri="http://schemas.openxmlformats.org/drawingml/2006/table">
                <a:tbl>
                  <a:tblPr/>
                  <a:tblGrid>
                    <a:gridCol w="1509204">
                      <a:extLst>
                        <a:ext uri="{9D8B030D-6E8A-4147-A177-3AD203B41FA5}">
                          <a16:colId xmlns:a16="http://schemas.microsoft.com/office/drawing/2014/main" val="3113056445"/>
                        </a:ext>
                      </a:extLst>
                    </a:gridCol>
                    <a:gridCol w="2982897">
                      <a:extLst>
                        <a:ext uri="{9D8B030D-6E8A-4147-A177-3AD203B41FA5}">
                          <a16:colId xmlns:a16="http://schemas.microsoft.com/office/drawing/2014/main" val="36397795"/>
                        </a:ext>
                      </a:extLst>
                    </a:gridCol>
                    <a:gridCol w="2974019">
                      <a:extLst>
                        <a:ext uri="{9D8B030D-6E8A-4147-A177-3AD203B41FA5}">
                          <a16:colId xmlns:a16="http://schemas.microsoft.com/office/drawing/2014/main" val="117171711"/>
                        </a:ext>
                      </a:extLst>
                    </a:gridCol>
                    <a:gridCol w="3410341">
                      <a:extLst>
                        <a:ext uri="{9D8B030D-6E8A-4147-A177-3AD203B41FA5}">
                          <a16:colId xmlns:a16="http://schemas.microsoft.com/office/drawing/2014/main" val="765725261"/>
                        </a:ext>
                      </a:extLst>
                    </a:gridCol>
                  </a:tblGrid>
                  <a:tr h="17363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200"/>
                            <a:t>比较项目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200"/>
                            <a:t>一般有限维逼近 </a:t>
                          </a:r>
                          <a:r>
                            <a:rPr lang="en-US" altLang="ja-JP" sz="1200"/>
                            <a:t>/ </a:t>
                          </a:r>
                          <a:r>
                            <a:rPr lang="en-US" sz="1200"/>
                            <a:t>Galerkin </a:t>
                          </a:r>
                          <a:r>
                            <a:rPr lang="ja-JP" altLang="en-US" sz="1200"/>
                            <a:t>型方法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/>
                            <a:t>显式基函数截断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200"/>
                            <a:t>核方法 </a:t>
                          </a:r>
                          <a:r>
                            <a:rPr lang="en-US" altLang="ja-JP" sz="1200"/>
                            <a:t>/ </a:t>
                          </a:r>
                          <a:r>
                            <a:rPr lang="en-US" sz="1200"/>
                            <a:t>RKHS </a:t>
                          </a:r>
                          <a:r>
                            <a:rPr lang="ja-JP" altLang="en-US" sz="1200"/>
                            <a:t>方法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62785338"/>
                      </a:ext>
                    </a:extLst>
                  </a:tr>
                  <a:tr h="24805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200"/>
                            <a:t>基本思想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 dirty="0"/>
                            <a:t>用一列有限维子空间逼近无限维空间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200" dirty="0"/>
                            <a:t>用前 </a:t>
                          </a:r>
                          <a:r>
                            <a:rPr lang="en-US" sz="1200" dirty="0"/>
                            <a:t>n </a:t>
                          </a:r>
                          <a:r>
                            <a:rPr lang="ja-JP" altLang="en-US" sz="1200" dirty="0"/>
                            <a:t>个基函数近似函数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/>
                            <a:t>在核诱导的函数空间中，用样本点生成有限维子空间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1838302"/>
                      </a:ext>
                    </a:extLst>
                  </a:tr>
                  <a:tr h="24805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200"/>
                            <a:t>空间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200" dirty="0"/>
                            <a:t>一般 </a:t>
                          </a:r>
                          <a:r>
                            <a:rPr lang="en-US" sz="1200" dirty="0"/>
                            <a:t>Banach </a:t>
                          </a:r>
                          <a:r>
                            <a:rPr lang="ja-JP" altLang="en-US" sz="1200" dirty="0"/>
                            <a:t>空间或 </a:t>
                          </a:r>
                          <a:r>
                            <a:rPr lang="en-US" sz="1200" dirty="0"/>
                            <a:t>Hilbert </a:t>
                          </a:r>
                          <a:r>
                            <a:rPr lang="ja-JP" altLang="en-US" sz="1200" dirty="0"/>
                            <a:t>空间 </a:t>
                          </a:r>
                          <a:r>
                            <a:rPr lang="en-US" altLang="ja-JP" sz="1200" dirty="0"/>
                            <a:t>(</a:t>
                          </a:r>
                          <a:r>
                            <a:rPr lang="en-US" sz="1200" dirty="0"/>
                            <a:t>X)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 dirty="0"/>
                            <a:t>函数空间，如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1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i="1" dirty="0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p>
                                  <m:r>
                                    <a:rPr lang="en-US" altLang="zh-CN" sz="120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zh-CN" altLang="en-US" sz="1200" dirty="0"/>
                            <a:t>、</a:t>
                          </a:r>
                          <a:r>
                            <a:rPr lang="en-US" altLang="zh-CN" sz="1200" dirty="0"/>
                            <a:t>Sobolev </a:t>
                          </a:r>
                          <a:r>
                            <a:rPr lang="zh-CN" altLang="en-US" sz="1200" dirty="0"/>
                            <a:t>、</a:t>
                          </a:r>
                          <a:r>
                            <a:rPr lang="en-US" altLang="zh-CN" sz="1200" dirty="0"/>
                            <a:t>Hilbert </a:t>
                          </a:r>
                          <a:r>
                            <a:rPr lang="zh-CN" altLang="en-US" sz="1200" dirty="0"/>
                            <a:t>空间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200" dirty="0"/>
                            <a:t>再生核 </a:t>
                          </a:r>
                          <a:r>
                            <a:rPr lang="en-US" sz="1200" dirty="0"/>
                            <a:t>Hilbert </a:t>
                          </a:r>
                          <a:r>
                            <a:rPr lang="ja-JP" altLang="en-US" sz="1200" dirty="0"/>
                            <a:t>空间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 dirty="0">
                                      <a:latin typeface="Cambria Math" panose="02040503050406030204" pitchFamily="18" charset="0"/>
                                    </a:rPr>
                                    <m:t>ℋ</m:t>
                                  </m:r>
                                </m:e>
                                <m:sub>
                                  <m:r>
                                    <a:rPr lang="en-US" sz="1200" i="1" dirty="0">
                                      <a:latin typeface="Cambria Math" panose="02040503050406030204" pitchFamily="18" charset="0"/>
                                    </a:rPr>
                                    <m:t>𝒦</m:t>
                                  </m:r>
                                </m:sub>
                              </m:sSub>
                            </m:oMath>
                          </a14:m>
                          <a:endParaRPr lang="en-US" sz="1200" dirty="0"/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31320789"/>
                      </a:ext>
                    </a:extLst>
                  </a:tr>
                  <a:tr h="24805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/>
                            <a:t>有限维子空间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⊂</m:t>
                                </m:r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span</m:t>
                                </m:r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⁡{</m:t>
                                </m:r>
                                <m:sSub>
                                  <m:sSubPr>
                                    <m:ctrlP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 dirty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en-US" sz="1200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,…,</m:t>
                                </m:r>
                                <m:sSub>
                                  <m:sSubPr>
                                    <m:ctrlP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 dirty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en-US" sz="1200" i="1" dirty="0" err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dirty="0"/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 dirty="0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200" i="1" dirty="0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sz="1200" i="1" dirty="0">
                                  <a:latin typeface="Cambria Math" panose="02040503050406030204" pitchFamily="18" charset="0"/>
                                </a:rPr>
                                <m:t>= </m:t>
                              </m:r>
                              <m:r>
                                <m:rPr>
                                  <m:sty m:val="p"/>
                                </m:rPr>
                                <a:rPr lang="en-US" sz="1200" i="1" dirty="0">
                                  <a:latin typeface="Cambria Math" panose="02040503050406030204" pitchFamily="18" charset="0"/>
                                </a:rPr>
                                <m:t>span</m:t>
                              </m:r>
                              <m:r>
                                <a:rPr lang="en-US" sz="1200" i="1" dirty="0">
                                  <a:latin typeface="Cambria Math" panose="02040503050406030204" pitchFamily="18" charset="0"/>
                                </a:rPr>
                                <m:t>⁡{</m:t>
                              </m:r>
                              <m:r>
                                <a:rPr lang="en-US" sz="1200" i="1" dirty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sz="1200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2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200" i="1" dirty="0">
                                  <a:latin typeface="Cambria Math" panose="02040503050406030204" pitchFamily="18" charset="0"/>
                                </a:rPr>
                                <m:t>,⋅),…</m:t>
                              </m:r>
                              <m:r>
                                <a:rPr lang="en-US" sz="1200" i="1" dirty="0" err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200" i="1" dirty="0" err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sz="1200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 dirty="0" err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200" i="1" dirty="0" err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sz="1200" i="1" dirty="0">
                                  <a:latin typeface="Cambria Math" panose="02040503050406030204" pitchFamily="18" charset="0"/>
                                </a:rPr>
                                <m:t>,⋅)})</m:t>
                              </m:r>
                            </m:oMath>
                          </a14:m>
                          <a:endParaRPr lang="en-US" sz="1200" dirty="0"/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14512698"/>
                      </a:ext>
                    </a:extLst>
                  </a:tr>
                  <a:tr h="17363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200"/>
                            <a:t>子空间来源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/>
                            <a:t>人为构造，通常根据问题结构选择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/>
                            <a:t>由预先选定的基函数决定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 dirty="0"/>
                            <a:t>由核函数 </a:t>
                          </a:r>
                          <a:r>
                            <a:rPr lang="en-US" altLang="zh-CN" sz="1200" dirty="0"/>
                            <a:t>(K) </a:t>
                          </a:r>
                          <a:r>
                            <a:rPr lang="zh-CN" altLang="en-US" sz="1200" dirty="0"/>
                            <a:t>和训练样本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altLang="zh-CN" sz="1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20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i="1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200" i="1" dirty="0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sz="1200" i="1" dirty="0" smtClean="0">
                                      <a:latin typeface="Cambria Math" panose="02040503050406030204" pitchFamily="18" charset="0"/>
                                    </a:rPr>
                                    <m:t>,…</m:t>
                                  </m:r>
                                  <m:r>
                                    <a:rPr lang="en-US" altLang="zh-CN" sz="1200" i="1" dirty="0" err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zh-CN" sz="1200" i="1" dirty="0" err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i="1" dirty="0" err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200" i="1" dirty="0" err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r>
                            <a:rPr lang="zh-CN" altLang="en-US" sz="1200" dirty="0"/>
                            <a:t>决定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4333927"/>
                      </a:ext>
                    </a:extLst>
                  </a:tr>
                  <a:tr h="17363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200"/>
                            <a:t>典型形式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pt-BR" sz="1200" dirty="0"/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t-BR" sz="1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20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120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pt-BR" sz="1200" i="1" dirty="0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pt-BR" sz="1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200" i="1" dirty="0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pt-BR" sz="120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oMath>
                          </a14:m>
                          <a:r>
                            <a:rPr lang="pt-BR" sz="1200" dirty="0"/>
                            <a:t>)，希望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t-BR" sz="1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20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120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pt-BR" sz="1200" i="1" dirty="0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pt-BR" sz="120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pt-BR" sz="1200" dirty="0"/>
                            <a:t>)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200" i="1" dirty="0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pt-BR" sz="1200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pt-B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20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pt-BR" sz="120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pt-B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pt-BR" sz="1200" i="1" dirty="0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pt-BR" sz="1200" i="1" dirty="0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pt-BR" sz="1200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pt-BR" sz="120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200" i="1" dirty="0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pt-BR" sz="1200" i="1" dirty="0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pt-BR" sz="120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200" i="1" dirty="0" smtClean="0">
                                            <a:latin typeface="Cambria Math" panose="02040503050406030204" pitchFamily="18" charset="0"/>
                                          </a:rPr>
                                          <m:t>𝜙</m:t>
                                        </m:r>
                                      </m:e>
                                      <m:sub>
                                        <m:r>
                                          <a:rPr lang="pt-BR" sz="1200" i="1" dirty="0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pt-BR" sz="120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sz="1200" i="1" dirty="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nary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nn-NO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nn-NO" sz="1200" i="1" dirty="0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p>
                                    <m:r>
                                      <a:rPr lang="nn-NO" sz="1200" i="1" dirty="0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nn-NO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nn-NO" sz="120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nn-NO" sz="120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nn-NO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nn-NO" sz="1200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nn-NO" sz="1200" i="1" dirty="0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nn-NO" sz="1200" i="1" dirty="0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nn-NO" sz="120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nn-NO" sz="1200" i="1" dirty="0" smtClean="0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nn-NO" sz="1200" i="1" dirty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nn-NO" sz="1200" i="1" dirty="0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  <m:d>
                                      <m:dPr>
                                        <m:ctrlPr>
                                          <a:rPr lang="nn-NO" sz="120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nn-NO" sz="1200" i="1" dirty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nn-NO" sz="120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nn-NO" sz="120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nn-NO" sz="1200" i="1" dirty="0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nn-NO" sz="1200" i="1" dirty="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nary>
                              </m:oMath>
                            </m:oMathPara>
                          </a14:m>
                          <a:endParaRPr lang="nn-NO" sz="1200" dirty="0"/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40931933"/>
                      </a:ext>
                    </a:extLst>
                  </a:tr>
                  <a:tr h="17363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/>
                            <a:t>是否显式写出基函数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200"/>
                            <a:t>不一定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 dirty="0"/>
                            <a:t>是，显式写出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i="1" dirty="0" smtClean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altLang="zh-CN" sz="1200" i="1" dirty="0" err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oMath>
                          </a14:m>
                          <a:endParaRPr lang="en-US" altLang="zh-CN" sz="1200" dirty="0"/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/>
                            <a:t>通常不显式写出特征映射或基函数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44790808"/>
                      </a:ext>
                    </a:extLst>
                  </a:tr>
                  <a:tr h="17363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/>
                            <a:t>有限维化方式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 dirty="0"/>
                            <a:t>选择有限维子空间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20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sz="1200" i="1" dirty="0" err="1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altLang="zh-CN" sz="1200" i="1" dirty="0" err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oMath>
                          </a14:m>
                          <a:endParaRPr lang="en-US" altLang="zh-CN" sz="1200" dirty="0"/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 dirty="0"/>
                            <a:t>截断无限级数，只保留前 </a:t>
                          </a:r>
                          <a:r>
                            <a:rPr lang="en-US" altLang="zh-CN" sz="1200" dirty="0"/>
                            <a:t>n </a:t>
                          </a:r>
                          <a:r>
                            <a:rPr lang="zh-CN" altLang="en-US" sz="1200" dirty="0"/>
                            <a:t>项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/>
                            <a:t>由表示定理把解限制在样本生成的有限维空间中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64637072"/>
                      </a:ext>
                    </a:extLst>
                  </a:tr>
                  <a:tr h="992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200"/>
                            <a:t>有限维参数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 dirty="0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200" i="1" dirty="0" err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dirty="0"/>
                            <a:t> </a:t>
                          </a:r>
                          <a:r>
                            <a:rPr lang="ja-JP" altLang="en-US" sz="1200" dirty="0"/>
                            <a:t>中的坐标参数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200" i="1" dirty="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pt-BR" sz="1200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pt-BR" sz="1200" i="1" dirty="0">
                                    <a:latin typeface="Cambria Math" panose="02040503050406030204" pitchFamily="18" charset="0"/>
                                  </a:rPr>
                                  <m:t>,…,</m:t>
                                </m:r>
                                <m:sSub>
                                  <m:sSubPr>
                                    <m:ctrlPr>
                                      <a:rPr lang="pt-BR" sz="12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200" i="1" dirty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pt-BR" sz="1200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sv-SE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sz="1200" i="1" dirty="0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sv-SE" sz="1200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sv-SE" sz="1200" i="1" dirty="0">
                                    <a:latin typeface="Cambria Math" panose="02040503050406030204" pitchFamily="18" charset="0"/>
                                  </a:rPr>
                                  <m:t>,…,</m:t>
                                </m:r>
                                <m:sSub>
                                  <m:sSubPr>
                                    <m:ctrlPr>
                                      <a:rPr lang="sv-SE" sz="12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sz="1200" i="1" dirty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sv-SE" sz="1200" i="1" dirty="0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oMath>
                            </m:oMathPara>
                          </a14:m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71163675"/>
                      </a:ext>
                    </a:extLst>
                  </a:tr>
                  <a:tr h="17363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200"/>
                            <a:t>维数含义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/>
                            <a:t>人为设定的近似维数 </a:t>
                          </a:r>
                          <a:r>
                            <a:rPr lang="en-US" altLang="zh-CN" sz="1200"/>
                            <a:t>(n)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200"/>
                            <a:t>保留的基函数个数 </a:t>
                          </a:r>
                          <a:r>
                            <a:rPr lang="en-US" altLang="ja-JP" sz="1200"/>
                            <a:t>(</a:t>
                          </a:r>
                          <a:r>
                            <a:rPr lang="en-US" sz="1200"/>
                            <a:t>n)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 dirty="0"/>
                            <a:t>训练样本数 </a:t>
                          </a:r>
                          <a:r>
                            <a:rPr lang="en-US" altLang="zh-CN" sz="1200" dirty="0"/>
                            <a:t>(m)</a:t>
                          </a:r>
                          <a:r>
                            <a:rPr lang="zh-CN" altLang="en-US" sz="1200" dirty="0"/>
                            <a:t>，或核矩阵大小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200" i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sz="1200" i="1" dirty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altLang="zh-CN" sz="1200" i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oMath>
                          </a14:m>
                          <a:endParaRPr lang="en-US" altLang="zh-CN" sz="1200" dirty="0"/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10171106"/>
                      </a:ext>
                    </a:extLst>
                  </a:tr>
                  <a:tr h="24805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200"/>
                            <a:t>近似对象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/>
                            <a:t>原无限维问题的解 </a:t>
                          </a:r>
                          <a:r>
                            <a:rPr lang="en-US" altLang="zh-CN" sz="1200"/>
                            <a:t>(x)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200"/>
                            <a:t>原函数 </a:t>
                          </a:r>
                          <a:r>
                            <a:rPr lang="en-US" altLang="ja-JP" sz="1200"/>
                            <a:t>(</a:t>
                          </a:r>
                          <a:r>
                            <a:rPr lang="en-US" sz="1200"/>
                            <a:t>f)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/>
                            <a:t>总体学习问题中的目标函数，或无限维 </a:t>
                          </a:r>
                          <a:r>
                            <a:rPr lang="en-US" altLang="zh-CN" sz="1200"/>
                            <a:t>RKHS </a:t>
                          </a:r>
                          <a:r>
                            <a:rPr lang="zh-CN" altLang="en-US" sz="1200"/>
                            <a:t>中的经验风险最优解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16418693"/>
                      </a:ext>
                    </a:extLst>
                  </a:tr>
                  <a:tr h="17363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/>
                            <a:t>对有限训练集的性质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200"/>
                            <a:t>通常是近似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200"/>
                            <a:t>通常是近似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/>
                            <a:t>在很多正则化问题中是精确有限维表示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5810672"/>
                      </a:ext>
                    </a:extLst>
                  </a:tr>
                  <a:tr h="17363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200"/>
                            <a:t>收敛问题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dirty="0" err="1"/>
                            <a:t>研究</a:t>
                          </a:r>
                          <a:r>
                            <a:rPr lang="en-US" sz="1200" dirty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200" i="1" dirty="0" err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1200" i="1" dirty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sz="120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1200" dirty="0"/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dirty="0" err="1"/>
                            <a:t>研究</a:t>
                          </a:r>
                          <a:r>
                            <a:rPr lang="en-US" sz="1200" dirty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 dirty="0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1200" i="1" dirty="0" err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1200" i="1" dirty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sz="1200" i="1" dirty="0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oMath>
                          </a14:m>
                          <a:endParaRPr lang="en-US" sz="1200" dirty="0"/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 dirty="0"/>
                            <a:t>研究样本数 </a:t>
                          </a:r>
                          <a:r>
                            <a:rPr lang="en-US" altLang="zh-CN" sz="1200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200" i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sz="1200" i="1" dirty="0" smtClean="0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oMath>
                          </a14:m>
                          <a:r>
                            <a:rPr lang="en-US" altLang="zh-CN" sz="1200" dirty="0"/>
                            <a:t>) </a:t>
                          </a:r>
                          <a:r>
                            <a:rPr lang="zh-CN" altLang="en-US" sz="1200" dirty="0"/>
                            <a:t>时经验解是否逼近总体解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72530921"/>
                      </a:ext>
                    </a:extLst>
                  </a:tr>
                  <a:tr h="17363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/>
                            <a:t>内积 </a:t>
                          </a:r>
                          <a:r>
                            <a:rPr lang="en-US" altLang="zh-CN" sz="1200"/>
                            <a:t>/ </a:t>
                          </a:r>
                          <a:r>
                            <a:rPr lang="zh-CN" altLang="en-US" sz="1200"/>
                            <a:t>几何结构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/>
                            <a:t>依赖原空间 </a:t>
                          </a:r>
                          <a:r>
                            <a:rPr lang="en-US" altLang="zh-CN" sz="1200"/>
                            <a:t>(X) </a:t>
                          </a:r>
                          <a:r>
                            <a:rPr lang="zh-CN" altLang="en-US" sz="1200"/>
                            <a:t>的结构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/>
                            <a:t>依赖基函数是否正交、完备等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/>
                            <a:t>由核函数 </a:t>
                          </a:r>
                          <a:r>
                            <a:rPr lang="en-US" altLang="zh-CN" sz="1200"/>
                            <a:t>(K) </a:t>
                          </a:r>
                          <a:r>
                            <a:rPr lang="zh-CN" altLang="en-US" sz="1200"/>
                            <a:t>决定 </a:t>
                          </a:r>
                          <a:r>
                            <a:rPr lang="en-US" altLang="zh-CN" sz="1200"/>
                            <a:t>RKHS </a:t>
                          </a:r>
                          <a:r>
                            <a:rPr lang="zh-CN" altLang="en-US" sz="1200"/>
                            <a:t>的内积结构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21712769"/>
                      </a:ext>
                    </a:extLst>
                  </a:tr>
                  <a:tr h="17363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200"/>
                            <a:t>计算形式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/>
                            <a:t>把无限维方程化为有限维方程组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/>
                            <a:t>把函数学习化为有限个系数学习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/>
                            <a:t>把函数学习化为核矩阵上的有限维优化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02599502"/>
                      </a:ext>
                    </a:extLst>
                  </a:tr>
                  <a:tr h="24805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200"/>
                            <a:t>典型应用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/>
                            <a:t>偏微分方程数值解、变分问题、有限元方法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/>
                            <a:t>Fourier </a:t>
                          </a:r>
                          <a:r>
                            <a:rPr lang="ja-JP" altLang="en-US" sz="1200"/>
                            <a:t>展开、多项式逼近、谱方法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/>
                            <a:t>SVM、</a:t>
                          </a:r>
                          <a:r>
                            <a:rPr lang="ja-JP" altLang="en-US" sz="1200"/>
                            <a:t>核岭回归、</a:t>
                          </a:r>
                          <a:r>
                            <a:rPr lang="en-US" sz="1200"/>
                            <a:t>Gaussian process、</a:t>
                          </a:r>
                          <a:r>
                            <a:rPr lang="ja-JP" altLang="en-US" sz="1200"/>
                            <a:t>核 </a:t>
                          </a:r>
                          <a:r>
                            <a:rPr lang="en-US" sz="1200"/>
                            <a:t>PCA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3040870"/>
                      </a:ext>
                    </a:extLst>
                  </a:tr>
                  <a:tr h="17363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200"/>
                            <a:t>优点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/>
                            <a:t>适合处理微分方程和变分问题，理论成熟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/>
                            <a:t>直观、可解释、便于分析频率或尺度结构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/>
                            <a:t>不必显式构造高维特征，能处理非线性问题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57038945"/>
                      </a:ext>
                    </a:extLst>
                  </a:tr>
                  <a:tr h="17363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200"/>
                            <a:t>缺点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/>
                            <a:t>子空间选择会强烈影响效果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/>
                            <a:t>基函数选不好时逼近效果差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/>
                            <a:t>核矩阵计算成本高，样本多时困难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97599589"/>
                      </a:ext>
                    </a:extLst>
                  </a:tr>
                  <a:tr h="24805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 dirty="0"/>
                            <a:t>与无限维的关系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 dirty="0"/>
                            <a:t>用有限维空间逐步逼近无限维空间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 dirty="0"/>
                            <a:t>用有限项逼近无限级数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 dirty="0"/>
                            <a:t>在可能无限维的 </a:t>
                          </a:r>
                          <a:r>
                            <a:rPr lang="en-US" altLang="zh-CN" sz="1200" dirty="0"/>
                            <a:t>RKHS </a:t>
                          </a:r>
                          <a:r>
                            <a:rPr lang="zh-CN" altLang="en-US" sz="1200" dirty="0"/>
                            <a:t>中，通过核技巧进行有限维计算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3642783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表 5">
                <a:extLst>
                  <a:ext uri="{FF2B5EF4-FFF2-40B4-BE49-F238E27FC236}">
                    <a16:creationId xmlns:a16="http://schemas.microsoft.com/office/drawing/2014/main" id="{5AE1D722-F01F-2249-4F16-1E08D1AD534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98106673"/>
                  </p:ext>
                </p:extLst>
              </p:nvPr>
            </p:nvGraphicFramePr>
            <p:xfrm>
              <a:off x="508000" y="1530293"/>
              <a:ext cx="10876461" cy="5022907"/>
            </p:xfrm>
            <a:graphic>
              <a:graphicData uri="http://schemas.openxmlformats.org/drawingml/2006/table">
                <a:tbl>
                  <a:tblPr/>
                  <a:tblGrid>
                    <a:gridCol w="1509204">
                      <a:extLst>
                        <a:ext uri="{9D8B030D-6E8A-4147-A177-3AD203B41FA5}">
                          <a16:colId xmlns:a16="http://schemas.microsoft.com/office/drawing/2014/main" val="3113056445"/>
                        </a:ext>
                      </a:extLst>
                    </a:gridCol>
                    <a:gridCol w="2982897">
                      <a:extLst>
                        <a:ext uri="{9D8B030D-6E8A-4147-A177-3AD203B41FA5}">
                          <a16:colId xmlns:a16="http://schemas.microsoft.com/office/drawing/2014/main" val="36397795"/>
                        </a:ext>
                      </a:extLst>
                    </a:gridCol>
                    <a:gridCol w="2974019">
                      <a:extLst>
                        <a:ext uri="{9D8B030D-6E8A-4147-A177-3AD203B41FA5}">
                          <a16:colId xmlns:a16="http://schemas.microsoft.com/office/drawing/2014/main" val="117171711"/>
                        </a:ext>
                      </a:extLst>
                    </a:gridCol>
                    <a:gridCol w="3410341">
                      <a:extLst>
                        <a:ext uri="{9D8B030D-6E8A-4147-A177-3AD203B41FA5}">
                          <a16:colId xmlns:a16="http://schemas.microsoft.com/office/drawing/2014/main" val="765725261"/>
                        </a:ext>
                      </a:extLst>
                    </a:gridCol>
                  </a:tblGrid>
                  <a:tr h="2133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200"/>
                            <a:t>比较项目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200"/>
                            <a:t>一般有限维逼近 </a:t>
                          </a:r>
                          <a:r>
                            <a:rPr lang="en-US" altLang="ja-JP" sz="1200"/>
                            <a:t>/ </a:t>
                          </a:r>
                          <a:r>
                            <a:rPr lang="en-US" sz="1200"/>
                            <a:t>Galerkin </a:t>
                          </a:r>
                          <a:r>
                            <a:rPr lang="ja-JP" altLang="en-US" sz="1200"/>
                            <a:t>型方法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/>
                            <a:t>显式基函数截断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200"/>
                            <a:t>核方法 </a:t>
                          </a:r>
                          <a:r>
                            <a:rPr lang="en-US" altLang="ja-JP" sz="1200"/>
                            <a:t>/ </a:t>
                          </a:r>
                          <a:r>
                            <a:rPr lang="en-US" sz="1200"/>
                            <a:t>RKHS </a:t>
                          </a:r>
                          <a:r>
                            <a:rPr lang="ja-JP" altLang="en-US" sz="1200"/>
                            <a:t>方法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62785338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200"/>
                            <a:t>基本思想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 dirty="0"/>
                            <a:t>用一列有限维子空间逼近无限维空间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200" dirty="0"/>
                            <a:t>用前 </a:t>
                          </a:r>
                          <a:r>
                            <a:rPr lang="en-US" sz="1200" dirty="0"/>
                            <a:t>n </a:t>
                          </a:r>
                          <a:r>
                            <a:rPr lang="ja-JP" altLang="en-US" sz="1200" dirty="0"/>
                            <a:t>个基函数近似函数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/>
                            <a:t>在核诱导的函数空间中，用样本点生成有限维子空间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1838302"/>
                      </a:ext>
                    </a:extLst>
                  </a:tr>
                  <a:tr h="24805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200"/>
                            <a:t>空间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200" dirty="0"/>
                            <a:t>一般 </a:t>
                          </a:r>
                          <a:r>
                            <a:rPr lang="en-US" sz="1200" dirty="0"/>
                            <a:t>Banach </a:t>
                          </a:r>
                          <a:r>
                            <a:rPr lang="ja-JP" altLang="en-US" sz="1200" dirty="0"/>
                            <a:t>空间或 </a:t>
                          </a:r>
                          <a:r>
                            <a:rPr lang="en-US" sz="1200" dirty="0"/>
                            <a:t>Hilbert </a:t>
                          </a:r>
                          <a:r>
                            <a:rPr lang="ja-JP" altLang="en-US" sz="1200" dirty="0"/>
                            <a:t>空间 </a:t>
                          </a:r>
                          <a:r>
                            <a:rPr lang="en-US" altLang="ja-JP" sz="1200" dirty="0"/>
                            <a:t>(</a:t>
                          </a:r>
                          <a:r>
                            <a:rPr lang="en-US" sz="1200" dirty="0"/>
                            <a:t>X)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51230" t="-258537" r="-115164" b="-16951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18929" t="-258537" r="-357" b="-16951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31320789"/>
                      </a:ext>
                    </a:extLst>
                  </a:tr>
                  <a:tr h="24805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/>
                            <a:t>有限维子空间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920" t="-367500" r="-214724" b="-163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51230" t="-367500" r="-115164" b="-163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18929" t="-367500" r="-357" b="-1637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4512698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200"/>
                            <a:t>子空间来源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/>
                            <a:t>人为构造，通常根据问题结构选择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/>
                            <a:t>由预先选定的基函数决定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18929" t="-534286" r="-357" b="-177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333927"/>
                      </a:ext>
                    </a:extLst>
                  </a:tr>
                  <a:tr h="52971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200"/>
                            <a:t>典型形式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920" t="-255172" r="-214724" b="-6126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51230" t="-255172" r="-115164" b="-6126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18929" t="-255172" r="-357" b="-6126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40931933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/>
                            <a:t>是否显式写出基函数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200"/>
                            <a:t>不一定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51230" t="-882857" r="-115164" b="-142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/>
                            <a:t>通常不显式写出特征映射或基函数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44790808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/>
                            <a:t>有限维化方式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920" t="-982857" r="-214724" b="-132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 dirty="0"/>
                            <a:t>截断无限级数，只保留前 </a:t>
                          </a:r>
                          <a:r>
                            <a:rPr lang="en-US" altLang="zh-CN" sz="1200" dirty="0"/>
                            <a:t>n </a:t>
                          </a:r>
                          <a:r>
                            <a:rPr lang="zh-CN" altLang="en-US" sz="1200" dirty="0"/>
                            <a:t>项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/>
                            <a:t>由表示定理把解限制在样本生成的有限维空间中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64637072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200"/>
                            <a:t>有限维参数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920" t="-1082857" r="-214724" b="-122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51230" t="-1082857" r="-115164" b="-122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18929" t="-1082857" r="-357" b="-1222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71163675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200"/>
                            <a:t>维数含义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/>
                            <a:t>人为设定的近似维数 </a:t>
                          </a:r>
                          <a:r>
                            <a:rPr lang="en-US" altLang="zh-CN" sz="1200"/>
                            <a:t>(n)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200"/>
                            <a:t>保留的基函数个数 </a:t>
                          </a:r>
                          <a:r>
                            <a:rPr lang="en-US" altLang="ja-JP" sz="1200"/>
                            <a:t>(</a:t>
                          </a:r>
                          <a:r>
                            <a:rPr lang="en-US" sz="1200"/>
                            <a:t>n)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18929" t="-1182857" r="-357" b="-1122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017110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200"/>
                            <a:t>近似对象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/>
                            <a:t>原无限维问题的解 </a:t>
                          </a:r>
                          <a:r>
                            <a:rPr lang="en-US" altLang="zh-CN" sz="1200"/>
                            <a:t>(x)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200"/>
                            <a:t>原函数 </a:t>
                          </a:r>
                          <a:r>
                            <a:rPr lang="en-US" altLang="ja-JP" sz="1200"/>
                            <a:t>(</a:t>
                          </a:r>
                          <a:r>
                            <a:rPr lang="en-US" sz="1200"/>
                            <a:t>f)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/>
                            <a:t>总体学习问题中的目标函数，或无限维 </a:t>
                          </a:r>
                          <a:r>
                            <a:rPr lang="en-US" altLang="zh-CN" sz="1200"/>
                            <a:t>RKHS </a:t>
                          </a:r>
                          <a:r>
                            <a:rPr lang="zh-CN" altLang="en-US" sz="1200"/>
                            <a:t>中的经验风险最优解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16418693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/>
                            <a:t>对有限训练集的性质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200"/>
                            <a:t>通常是近似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200"/>
                            <a:t>通常是近似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/>
                            <a:t>在很多正则化问题中是精确有限维表示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5810672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200"/>
                            <a:t>收敛问题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920" t="-1568571" r="-214724" b="-73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51230" t="-1568571" r="-115164" b="-73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18929" t="-1568571" r="-357" b="-73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72530921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/>
                            <a:t>内积 </a:t>
                          </a:r>
                          <a:r>
                            <a:rPr lang="en-US" altLang="zh-CN" sz="1200"/>
                            <a:t>/ </a:t>
                          </a:r>
                          <a:r>
                            <a:rPr lang="zh-CN" altLang="en-US" sz="1200"/>
                            <a:t>几何结构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/>
                            <a:t>依赖原空间 </a:t>
                          </a:r>
                          <a:r>
                            <a:rPr lang="en-US" altLang="zh-CN" sz="1200"/>
                            <a:t>(X) </a:t>
                          </a:r>
                          <a:r>
                            <a:rPr lang="zh-CN" altLang="en-US" sz="1200"/>
                            <a:t>的结构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/>
                            <a:t>依赖基函数是否正交、完备等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/>
                            <a:t>由核函数 </a:t>
                          </a:r>
                          <a:r>
                            <a:rPr lang="en-US" altLang="zh-CN" sz="1200"/>
                            <a:t>(K) </a:t>
                          </a:r>
                          <a:r>
                            <a:rPr lang="zh-CN" altLang="en-US" sz="1200"/>
                            <a:t>决定 </a:t>
                          </a:r>
                          <a:r>
                            <a:rPr lang="en-US" altLang="zh-CN" sz="1200"/>
                            <a:t>RKHS </a:t>
                          </a:r>
                          <a:r>
                            <a:rPr lang="zh-CN" altLang="en-US" sz="1200"/>
                            <a:t>的内积结构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21712769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200"/>
                            <a:t>计算形式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/>
                            <a:t>把无限维方程化为有限维方程组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/>
                            <a:t>把函数学习化为有限个系数学习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/>
                            <a:t>把函数学习化为核矩阵上的有限维优化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02599502"/>
                      </a:ext>
                    </a:extLst>
                  </a:tr>
                  <a:tr h="24805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200"/>
                            <a:t>典型应用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/>
                            <a:t>偏微分方程数值解、变分问题、有限元方法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/>
                            <a:t>Fourier </a:t>
                          </a:r>
                          <a:r>
                            <a:rPr lang="ja-JP" altLang="en-US" sz="1200"/>
                            <a:t>展开、多项式逼近、谱方法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/>
                            <a:t>SVM、</a:t>
                          </a:r>
                          <a:r>
                            <a:rPr lang="ja-JP" altLang="en-US" sz="1200"/>
                            <a:t>核岭回归、</a:t>
                          </a:r>
                          <a:r>
                            <a:rPr lang="en-US" sz="1200"/>
                            <a:t>Gaussian process、</a:t>
                          </a:r>
                          <a:r>
                            <a:rPr lang="ja-JP" altLang="en-US" sz="1200"/>
                            <a:t>核 </a:t>
                          </a:r>
                          <a:r>
                            <a:rPr lang="en-US" sz="1200"/>
                            <a:t>PCA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3040870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200"/>
                            <a:t>优点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/>
                            <a:t>适合处理微分方程和变分问题，理论成熟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/>
                            <a:t>直观、可解释、便于分析频率或尺度结构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/>
                            <a:t>不必显式构造高维特征，能处理非线性问题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57038945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1200"/>
                            <a:t>缺点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/>
                            <a:t>子空间选择会强烈影响效果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/>
                            <a:t>基函数选不好时逼近效果差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/>
                            <a:t>核矩阵计算成本高，样本多时困难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9759958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 dirty="0"/>
                            <a:t>与无限维的关系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 dirty="0"/>
                            <a:t>用有限维空间逐步逼近无限维空间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 dirty="0"/>
                            <a:t>用有限项逼近无限级数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1200" dirty="0"/>
                            <a:t>在可能无限维的 </a:t>
                          </a:r>
                          <a:r>
                            <a:rPr lang="en-US" altLang="zh-CN" sz="1200" dirty="0"/>
                            <a:t>RKHS </a:t>
                          </a:r>
                          <a:r>
                            <a:rPr lang="zh-CN" altLang="en-US" sz="1200" dirty="0"/>
                            <a:t>中，通过核技巧进行有限维计算</a:t>
                          </a:r>
                        </a:p>
                      </a:txBody>
                      <a:tcPr marL="30480" marR="30480" marT="15240" marB="152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3642783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75962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89619-DD5D-CDFB-88A8-23558C109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F9C9FA7B-DB88-5E25-C1E7-F6567CA43F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</a:rPr>
              <a:t>完备性出现在哪些场景中？ </a:t>
            </a:r>
            <a:r>
              <a:rPr lang="en-US" altLang="zh-CN" b="1" dirty="0">
                <a:latin typeface="+mj-ea"/>
              </a:rPr>
              <a:t>2.</a:t>
            </a:r>
            <a:r>
              <a:rPr lang="zh-CN" altLang="en-US" b="1" dirty="0">
                <a:latin typeface="+mj-ea"/>
              </a:rPr>
              <a:t>迭代算法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9C6356B3-E150-AB46-2DAD-DC42AFDC971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</p:spPr>
            <p:txBody>
              <a:bodyPr/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b="1" dirty="0"/>
                  <a:t>迭代算法</a:t>
                </a:r>
                <a:r>
                  <a:rPr lang="zh-CN" altLang="en-US" dirty="0"/>
                  <a:t>：不断更新近似解。</a:t>
                </a:r>
                <a:br>
                  <a:rPr lang="zh-CN" altLang="en-US" dirty="0"/>
                </a:br>
                <a:endParaRPr lang="en-US" altLang="zh-CN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ja-JP" altLang="en-US" dirty="0"/>
                  <a:t>迭代算法，就是从一个初始点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ja-JP" altLang="en-US" dirty="0"/>
                  <a:t>出发，通过某种更新规则不断产生新点：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ja-JP" altLang="en-US" dirty="0"/>
              </a:p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ja-JP" altLang="en-US" dirty="0"/>
                  <a:t>是第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ja-JP" altLang="en-US" dirty="0"/>
                  <a:t>步的近似解；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ja-JP" altLang="en-US" dirty="0"/>
                  <a:t>是更新规则； 希望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ja-JP" altLang="en-US" dirty="0"/>
                  <a:t>最终趋于某个解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ja-JP" altLang="ar-AE" dirty="0"/>
                  <a:t>。</a:t>
                </a:r>
              </a:p>
              <a:p>
                <a:pPr marL="0" lvl="0" indent="0">
                  <a:lnSpc>
                    <a:spcPct val="110000"/>
                  </a:lnSpc>
                  <a:spcBef>
                    <a:spcPct val="0"/>
                  </a:spcBef>
                  <a:buClrTx/>
                  <a:buNone/>
                </a:pPr>
                <a:endParaRPr lang="en-US" altLang="ja-JP" sz="400" dirty="0">
                  <a:latin typeface="Arial" panose="020B0604020202020204" pitchFamily="34" charset="0"/>
                </a:endParaRPr>
              </a:p>
              <a:p>
                <a:pPr marL="0" lvl="0" indent="0">
                  <a:lnSpc>
                    <a:spcPct val="110000"/>
                  </a:lnSpc>
                  <a:spcBef>
                    <a:spcPct val="0"/>
                  </a:spcBef>
                  <a:buClrTx/>
                  <a:buNone/>
                </a:pPr>
                <a:r>
                  <a:rPr lang="zh-CN" altLang="en-US" b="1" dirty="0"/>
                  <a:t>很多算法不是一步得到答案，而是不断更新，产生一个序列。</a:t>
                </a:r>
                <a:br>
                  <a:rPr lang="zh-CN" altLang="en-US" dirty="0"/>
                </a:br>
                <a:r>
                  <a:rPr lang="zh-CN" altLang="en-US" dirty="0"/>
                  <a:t>如果这个序列越来越稳定，我们就希望它收敛到某个真正的解。</a:t>
                </a:r>
                <a:br>
                  <a:rPr lang="zh-CN" altLang="en-US" dirty="0"/>
                </a:br>
                <a:r>
                  <a:rPr lang="zh-CN" altLang="en-US" dirty="0"/>
                  <a:t>而“越来越稳定”通常先表现为：后面的项彼此越来越近。</a:t>
                </a:r>
                <a:br>
                  <a:rPr lang="zh-CN" altLang="en-US" dirty="0"/>
                </a:br>
                <a:r>
                  <a:rPr lang="zh-CN" altLang="en-US" dirty="0"/>
                  <a:t>这时要从“彼此越来越近”推出“确实收敛到空间中的某个点”，就需要完备性。</a:t>
                </a:r>
                <a:endParaRPr lang="en-US" altLang="zh-CN" dirty="0"/>
              </a:p>
              <a:p>
                <a:pPr marL="0" lvl="0" indent="0">
                  <a:lnSpc>
                    <a:spcPct val="110000"/>
                  </a:lnSpc>
                  <a:spcBef>
                    <a:spcPct val="0"/>
                  </a:spcBef>
                  <a:buClrTx/>
                  <a:buNone/>
                </a:pPr>
                <a:endParaRPr lang="en-US" altLang="ja-JP" dirty="0">
                  <a:latin typeface="Arial" panose="020B0604020202020204" pitchFamily="34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ja-JP" altLang="en-US" dirty="0"/>
                  <a:t>设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: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en-US" dirty="0"/>
                  <a:t>是一个映射，希望找到不动点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ja-JP" altLang="ar-AE" dirty="0"/>
                  <a:t>：</a:t>
                </a:r>
                <a14:m>
                  <m:oMath xmlns:m="http://schemas.openxmlformats.org/officeDocument/2006/math">
                    <m:r>
                      <a:rPr lang="ja-JP" altLang="ar-AE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ar-AE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ja-JP" altLang="en-US" dirty="0"/>
                  <a:t>从任意初值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ja-JP" altLang="en-US" dirty="0"/>
                  <a:t>出发，定义迭代：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altLang="ja-JP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ja-JP" altLang="en-US" dirty="0"/>
                  <a:t>如果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ja-JP" altLang="en-US" dirty="0"/>
                  <a:t>是压缩映射，即存在 </a:t>
                </a:r>
                <a14:m>
                  <m:oMath xmlns:m="http://schemas.openxmlformats.org/officeDocument/2006/math">
                    <m:r>
                      <a:rPr lang="en-US" altLang="ja-JP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&lt;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ja-JP" altLang="en-US" dirty="0"/>
                  <a:t>使得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sepChr m:val=","/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𝑇𝑦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≤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nor/>
                      </m:rPr>
                      <a:rPr lang="ar-AE" altLang="ja-JP" i="1"/>
                      <m:t> 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sepChr m:val=","/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∀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,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∈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ar-AE" altLang="ja-JP" b="0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ja-JP" altLang="en-US" dirty="0"/>
                  <a:t>那么可以证明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sepChr m:val=","/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ja-JP" altLang="ar-AE" i="1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sepChr m:val=","/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ja-JP" altLang="en-US" dirty="0"/>
                  <a:t>进一步得到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ja-JP" altLang="en-US" dirty="0"/>
                  <a:t>是 </a:t>
                </a:r>
                <a:r>
                  <a:rPr lang="en-US" altLang="ja-JP" dirty="0"/>
                  <a:t>Cauchy </a:t>
                </a:r>
                <a:r>
                  <a:rPr lang="ja-JP" altLang="en-US" dirty="0"/>
                  <a:t>列。</a:t>
                </a:r>
                <a:r>
                  <a:rPr lang="zh-CN" altLang="en-US" dirty="0"/>
                  <a:t>但只能说明：这列近似值彼此越来越近。而</a:t>
                </a:r>
                <a:r>
                  <a:rPr lang="ja-JP" altLang="en-US" dirty="0"/>
                  <a:t>要真正得到“存在某个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ar-AE" altLang="ja-JP">
                        <a:latin typeface="Cambria Math" panose="02040503050406030204" pitchFamily="18" charset="0"/>
                      </a:rPr>
                      <m:t>∈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ar-AE" altLang="ja-JP" dirty="0"/>
                  <a:t>”</a:t>
                </a:r>
                <a:r>
                  <a:rPr lang="ja-JP" altLang="en-US" dirty="0"/>
                  <a:t>使得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ja-JP" altLang="ar-AE" dirty="0"/>
                  <a:t>，</a:t>
                </a:r>
                <a:r>
                  <a:rPr lang="ja-JP" altLang="en-US" dirty="0"/>
                  <a:t>就必须要求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en-US" dirty="0"/>
                  <a:t>完备。这就是 </a:t>
                </a:r>
                <a:r>
                  <a:rPr lang="en-US" altLang="ja-JP" b="1" dirty="0"/>
                  <a:t>Banach </a:t>
                </a:r>
                <a:r>
                  <a:rPr lang="ja-JP" altLang="en-US" b="1" dirty="0"/>
                  <a:t>不动点定理</a:t>
                </a:r>
                <a:r>
                  <a:rPr lang="ja-JP" altLang="en-US" dirty="0"/>
                  <a:t> 中“完备性”不可缺少的原因。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zh-CN" altLang="en-US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ar-AE" altLang="ja-JP" dirty="0"/>
              </a:p>
              <a:p>
                <a:pPr marL="0" lvl="0" indent="0">
                  <a:lnSpc>
                    <a:spcPct val="110000"/>
                  </a:lnSpc>
                  <a:spcBef>
                    <a:spcPct val="0"/>
                  </a:spcBef>
                  <a:buClrTx/>
                  <a:buNone/>
                </a:pPr>
                <a:endParaRPr lang="en-US" altLang="ja-JP" dirty="0">
                  <a:latin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9C6356B3-E150-AB46-2DAD-DC42AFDC97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  <a:blipFill>
                <a:blip r:embed="rId3"/>
                <a:stretch>
                  <a:fillRect l="-526" t="-897" b="-1782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80237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177FD-3866-9520-FAC8-F7DE841E0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CB2D5EC2-E066-FBB5-55C0-DD27E6F540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j-ea"/>
              </a:rPr>
              <a:t>Banach </a:t>
            </a:r>
            <a:r>
              <a:rPr lang="zh-CN" altLang="en-US" b="1" dirty="0">
                <a:latin typeface="+mj-ea"/>
              </a:rPr>
              <a:t>不动点定理（压缩映射定理）</a:t>
            </a:r>
          </a:p>
        </p:txBody>
      </p:sp>
      <p:pic>
        <p:nvPicPr>
          <p:cNvPr id="3" name="コンテンツ プレースホルダー 2">
            <a:extLst>
              <a:ext uri="{FF2B5EF4-FFF2-40B4-BE49-F238E27FC236}">
                <a16:creationId xmlns:a16="http://schemas.microsoft.com/office/drawing/2014/main" id="{66832161-5EC7-4D63-AA4D-726DC7A3D2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711200" y="1073912"/>
            <a:ext cx="9855200" cy="1576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4BDC8C6-861C-4E09-80CF-8B08B6C80A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2650744"/>
            <a:ext cx="7809831" cy="2246376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F915A3DA-CB4C-ADE3-A954-4E302637BC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280" y="5050180"/>
            <a:ext cx="10078720" cy="1738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5767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C340A-2661-C537-E89C-383398FEE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9B2A353C-B57A-8DDB-769B-D483FDD430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</a:rPr>
              <a:t>牛顿法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FBF50CCA-508B-63D9-5713-4D61332D61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541528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ja-JP" altLang="en-US" dirty="0"/>
                  <a:t>牛顿法表面上是在解方程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ja-JP" altLang="ar-AE" dirty="0"/>
                  <a:t>，</a:t>
                </a:r>
                <a:r>
                  <a:rPr lang="ja-JP" altLang="en-US" dirty="0"/>
                  <a:t>但本质上仍是迭代映射。</a:t>
                </a:r>
              </a:p>
              <a:p>
                <a:endParaRPr lang="en-US" altLang="ja-JP" b="1" dirty="0"/>
              </a:p>
              <a:p>
                <a:pPr marL="0" indent="0">
                  <a:buNone/>
                </a:pPr>
                <a:r>
                  <a:rPr lang="ja-JP" altLang="en-US" b="1" dirty="0"/>
                  <a:t>一维形式</a:t>
                </a:r>
                <a:r>
                  <a:rPr lang="zh-CN" altLang="en-US" b="1" dirty="0"/>
                  <a:t>：</a:t>
                </a:r>
                <a:r>
                  <a:rPr lang="ja-JP" altLang="en-US" dirty="0"/>
                  <a:t>给定函数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ja-JP" altLang="en-US" dirty="0"/>
                  <a:t>，想求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altLang="ja-JP" dirty="0"/>
              </a:p>
              <a:p>
                <a:pPr marL="0" indent="0">
                  <a:buNone/>
                </a:pPr>
                <a:r>
                  <a:rPr lang="ja-JP" altLang="en-US" dirty="0"/>
                  <a:t>牛顿法定义：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ja-JP" alt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ja-JP" altLang="ar-AE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num>
                      <m:den>
                        <m:sSup>
                          <m:sSup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ja-JP" alt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ja-JP" altLang="ar-AE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den>
                    </m:f>
                    <m:r>
                      <a:rPr lang="ar-AE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ja-JP" dirty="0"/>
                  <a:t>    </a:t>
                </a:r>
                <a:r>
                  <a:rPr lang="ja-JP" altLang="en-US" dirty="0"/>
                  <a:t>可以看成</a:t>
                </a:r>
                <a14:m>
                  <m:oMath xmlns:m="http://schemas.openxmlformats.org/officeDocument/2006/math"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sSup>
                          <m:sSup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den>
                    </m:f>
                    <m:r>
                      <a:rPr lang="ar-AE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altLang="ja-JP" dirty="0"/>
              </a:p>
              <a:p>
                <a:pPr marL="0" indent="0">
                  <a:buNone/>
                </a:pPr>
                <a:r>
                  <a:rPr lang="ja-JP" altLang="en-US" dirty="0"/>
                  <a:t>是“当前值经过某个变换得到下一步”。</a:t>
                </a:r>
                <a:endParaRPr lang="en-US" altLang="ja-JP" dirty="0"/>
              </a:p>
              <a:p>
                <a:pPr marL="0" indent="0">
                  <a:buNone/>
                </a:pPr>
                <a:endParaRPr lang="en-US" altLang="zh-CN" b="1" dirty="0"/>
              </a:p>
              <a:p>
                <a:pPr marL="0" indent="0">
                  <a:buNone/>
                </a:pPr>
                <a:r>
                  <a:rPr lang="zh-CN" altLang="en-US" b="1" dirty="0"/>
                  <a:t>几何直观</a:t>
                </a:r>
              </a:p>
              <a:p>
                <a:pPr marL="0" indent="0">
                  <a:buNone/>
                </a:pPr>
                <a:r>
                  <a:rPr lang="zh-CN" altLang="en-US" dirty="0"/>
                  <a:t>在点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/>
                  <a:t>处用切线近似函数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dirty="0"/>
                  <a:t>，再用这条切线与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dirty="0"/>
                  <a:t>-</a:t>
                </a:r>
                <a:r>
                  <a:rPr lang="zh-CN" altLang="en-US" dirty="0"/>
                  <a:t>轴的交点作为下一步近似。</a:t>
                </a:r>
              </a:p>
              <a:p>
                <a:pPr marL="0" indent="0">
                  <a:buNone/>
                </a:pPr>
                <a:r>
                  <a:rPr lang="zh-CN" altLang="en-US" dirty="0"/>
                  <a:t>简单理解：当前点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/>
                  <a:t>，线性化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dirty="0"/>
                  <a:t>，解线性近似问题 ，得到新点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zh-CN" altLang="en-US" dirty="0"/>
              </a:p>
              <a:p>
                <a:pPr marL="0" indent="0">
                  <a:buNone/>
                </a:pPr>
                <a:endParaRPr lang="ja-JP" altLang="en-US" dirty="0"/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FBF50CCA-508B-63D9-5713-4D61332D61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5415280" cy="5440680"/>
              </a:xfrm>
              <a:blipFill>
                <a:blip r:embed="rId3"/>
                <a:stretch>
                  <a:fillRect l="-1125" t="-100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Newton法（牛顿法Newton Method） - neu博- 博客园">
            <a:extLst>
              <a:ext uri="{FF2B5EF4-FFF2-40B4-BE49-F238E27FC236}">
                <a16:creationId xmlns:a16="http://schemas.microsoft.com/office/drawing/2014/main" id="{07B022C1-8ECA-9B7D-D7FD-883EB19749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4400" y="2127885"/>
            <a:ext cx="6096000" cy="3409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762EDC08-8AA0-9E46-F90E-8414D62D6C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2160" y="1"/>
            <a:ext cx="3559474" cy="946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470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CB14B-9BF7-D28F-2642-D5B7A104E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0AB2F551-0355-5790-546D-D1299FECB0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</a:rPr>
              <a:t>梯度下降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C776E61E-3781-C3DA-ADEE-BE5BDCDC98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ja-JP" altLang="en-US" dirty="0"/>
                  <a:t>设想最小化函数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ja-JP" altLang="en-US" dirty="0"/>
                  <a:t> 要找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func>
                          <m:func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ja-JP">
                                <a:latin typeface="Cambria Math" panose="02040503050406030204" pitchFamily="18" charset="0"/>
                              </a:rPr>
                              <m:t>arg</m:t>
                            </m:r>
                          </m:fName>
                          <m:e>
                            <m:r>
                              <m:rPr>
                                <m:sty m:val="p"/>
                              </m:rPr>
                              <a:rPr lang="en-US" altLang="ja-JP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</m:func>
                      </m:fName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func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altLang="ja-JP" dirty="0"/>
              </a:p>
              <a:p>
                <a:pPr marL="0" indent="0">
                  <a:buNone/>
                </a:pPr>
                <a:r>
                  <a:rPr lang="ja-JP" altLang="en-US" dirty="0"/>
                  <a:t>梯度下降定义为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−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𝜂</m:t>
                    </m:r>
                    <m:r>
                      <m:rPr>
                        <m:sty m:val="p"/>
                      </m:rPr>
                      <a:rPr lang="ar-AE" altLang="ja-JP">
                        <a:latin typeface="Cambria Math" panose="02040503050406030204" pitchFamily="18" charset="0"/>
                      </a:rPr>
                      <m:t>∇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ja-JP" altLang="en-US" dirty="0"/>
                  <a:t> 其中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ja-JP" altLang="en-US" dirty="0"/>
                  <a:t>是步长。</a:t>
                </a:r>
              </a:p>
              <a:p>
                <a:pPr marL="0" indent="0">
                  <a:buNone/>
                </a:pPr>
                <a:r>
                  <a:rPr lang="ja-JP" altLang="en-US" dirty="0"/>
                  <a:t>也可以写成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, 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−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𝜂</m:t>
                    </m:r>
                    <m:r>
                      <m:rPr>
                        <m:sty m:val="p"/>
                      </m:rPr>
                      <a:rPr lang="ar-AE" altLang="ja-JP">
                        <a:latin typeface="Cambria Math" panose="02040503050406030204" pitchFamily="18" charset="0"/>
                      </a:rPr>
                      <m:t>∇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altLang="ja-JP" dirty="0"/>
              </a:p>
              <a:p>
                <a:pPr marL="0" indent="0">
                  <a:buNone/>
                </a:pPr>
                <a:endParaRPr lang="en-US" altLang="ja-JP" b="1" dirty="0"/>
              </a:p>
              <a:p>
                <a:pPr marL="0" indent="0">
                  <a:buNone/>
                </a:pPr>
                <a:r>
                  <a:rPr lang="ja-JP" altLang="en-US" b="1" dirty="0"/>
                  <a:t>直观含义</a:t>
                </a:r>
                <a:r>
                  <a:rPr lang="zh-CN" altLang="en-US" b="1" dirty="0"/>
                  <a:t>：</a:t>
                </a:r>
                <a:endParaRPr lang="ja-JP" altLang="en-US" b="1" dirty="0"/>
              </a:p>
              <a:p>
                <a:pPr marL="0" indent="0">
                  <a:buNone/>
                </a:pPr>
                <a:r>
                  <a:rPr lang="ja-JP" altLang="en-US" dirty="0"/>
                  <a:t>梯度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ja-JP" altLang="en-US">
                        <a:latin typeface="Cambria Math" panose="02040503050406030204" pitchFamily="18" charset="0"/>
                      </a:rPr>
                      <m:t>∇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ja-JP" altLang="en-US" dirty="0"/>
                  <a:t>指向函数增长最快的方向，所以负梯度方</a:t>
                </a:r>
                <a:r>
                  <a:rPr lang="zh-CN" altLang="en-US" dirty="0"/>
                  <a:t>向是下降方向。</a:t>
                </a:r>
                <a:br>
                  <a:rPr lang="zh-CN" altLang="en-US" dirty="0"/>
                </a:br>
                <a:r>
                  <a:rPr lang="zh-CN" altLang="en-US" dirty="0"/>
                  <a:t>因此每一步都沿着“局部最陡下降方向”走一点。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lang="zh-CN" altLang="en-US" dirty="0"/>
                  <a:t>算法形式仍然是：输入当前参数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/>
                  <a:t>；用某个规则更新 ；得到新参数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/>
                  <a:t>；是一个迭代过程。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在泛函分析或 </a:t>
                </a:r>
                <a:r>
                  <a:rPr lang="en-US" altLang="zh-CN" dirty="0"/>
                  <a:t>PDE </a:t>
                </a:r>
                <a:r>
                  <a:rPr lang="zh-CN" altLang="en-US" dirty="0"/>
                  <a:t>优化中，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/>
                  <a:t> 可以是一个函数。这时梯度下降就在函数空间里进行，更需要关心：</a:t>
                </a:r>
              </a:p>
              <a:p>
                <a:r>
                  <a:rPr lang="zh-CN" altLang="en-US" dirty="0"/>
                  <a:t>空间是什么； </a:t>
                </a:r>
              </a:p>
              <a:p>
                <a:r>
                  <a:rPr lang="zh-CN" altLang="en-US" dirty="0"/>
                  <a:t>范数是什么； </a:t>
                </a:r>
              </a:p>
              <a:p>
                <a:r>
                  <a:rPr lang="zh-CN" altLang="en-US" dirty="0"/>
                  <a:t>完备性是否成立。</a:t>
                </a:r>
              </a:p>
              <a:p>
                <a:pPr marL="0" indent="0">
                  <a:buNone/>
                </a:pPr>
                <a:endParaRPr lang="zh-CN" altLang="en-US" dirty="0"/>
              </a:p>
              <a:p>
                <a:pPr marL="0" indent="0">
                  <a:buNone/>
                </a:pPr>
                <a:endParaRPr lang="ja-JP" altLang="en-US" dirty="0"/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C776E61E-3781-C3DA-ADEE-BE5BDCDC98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  <a:blipFill>
                <a:blip r:embed="rId3"/>
                <a:stretch>
                  <a:fillRect l="-526" t="-100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3489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94C5E-A7A8-E135-5D25-5D42B0345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D2A0B348-E353-33DD-7E8D-3B881001AB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j-ea"/>
              </a:rPr>
              <a:t>Jacobi / Gauss-Seidel </a:t>
            </a:r>
            <a:r>
              <a:rPr lang="zh-CN" altLang="en-US" b="1" dirty="0">
                <a:latin typeface="+mj-ea"/>
              </a:rPr>
              <a:t>迭代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48B84057-E401-0CC0-3A9F-EB265556C5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b="1" dirty="0">
                    <a:latin typeface="+mj-ea"/>
                  </a:rPr>
                  <a:t>Jacobi / Gauss-Seidel </a:t>
                </a:r>
                <a:r>
                  <a:rPr lang="zh-CN" altLang="en-US" b="1" dirty="0">
                    <a:latin typeface="+mj-ea"/>
                  </a:rPr>
                  <a:t>迭代</a:t>
                </a:r>
                <a:r>
                  <a:rPr lang="zh-CN" altLang="en-US" dirty="0"/>
                  <a:t>是线性方程组迭代求解的经典方法。</a:t>
                </a:r>
                <a:endParaRPr lang="zh-CN" altLang="en-US" b="1" dirty="0"/>
              </a:p>
              <a:p>
                <a:pPr marL="0" indent="0">
                  <a:buNone/>
                </a:pPr>
                <a:r>
                  <a:rPr lang="zh-CN" altLang="en-US" dirty="0"/>
                  <a:t>解线性系统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𝐴𝑥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zh-CN" altLang="en-US" dirty="0"/>
                  <a:t>   若直接求逆代价高，或想用迭代法，就把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dirty="0"/>
                  <a:t>分解并得到更新公式。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ja-JP" b="1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ja-JP" b="1" dirty="0"/>
                  <a:t>Jacobi </a:t>
                </a:r>
                <a:r>
                  <a:rPr lang="ja-JP" altLang="en-US" b="1" dirty="0"/>
                  <a:t>迭代</a:t>
                </a:r>
              </a:p>
              <a:p>
                <a:pPr marL="0" indent="0">
                  <a:buNone/>
                </a:pPr>
                <a:r>
                  <a:rPr lang="ja-JP" altLang="en-US" dirty="0"/>
                  <a:t>设</a:t>
                </a:r>
                <a14:m>
                  <m:oMath xmlns:m="http://schemas.openxmlformats.org/officeDocument/2006/math"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+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+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ja-JP" altLang="en-US" dirty="0"/>
                  <a:t>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ja-JP" altLang="en-US" dirty="0"/>
                  <a:t>是对角部分，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,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ja-JP" altLang="en-US" dirty="0"/>
                  <a:t> 是下三角、上三角部分</a:t>
                </a:r>
                <a:br>
                  <a:rPr lang="ja-JP" altLang="en-US" dirty="0"/>
                </a:br>
                <a:r>
                  <a:rPr lang="en-US" altLang="ja-JP" dirty="0"/>
                  <a:t>Jacobi </a:t>
                </a:r>
                <a:r>
                  <a:rPr lang="ja-JP" altLang="en-US" dirty="0"/>
                  <a:t>迭代写成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</m:d>
                        <m:sSup>
                          <m:sSup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d>
                              <m:dPr>
                                <m:ctrlPr>
                                  <a:rPr lang="ar-AE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ja-JP" alt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    </m:t>
                    </m:r>
                  </m:oMath>
                </a14:m>
                <a:endParaRPr lang="en-US" altLang="ja-JP" b="0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dirty="0"/>
                  <a:t>即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d>
                              <m:dPr>
                                <m:ctrlPr>
                                  <a:rPr lang="ar-AE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ja-JP" alt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altLang="ja-JP" dirty="0"/>
              </a:p>
              <a:p>
                <a:endParaRPr lang="en-US" altLang="ja-JP" dirty="0"/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altLang="ja-JP" b="1" dirty="0"/>
                  <a:t>Gauss-Seidel </a:t>
                </a:r>
                <a:r>
                  <a:rPr lang="ja-JP" altLang="en-US" b="1" dirty="0"/>
                  <a:t>迭代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</m:d>
                      </m:e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𝑈</m:t>
                        </m:r>
                        <m:sSup>
                          <m:sSup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d>
                              <m:dPr>
                                <m:ctrlPr>
                                  <a:rPr lang="ar-AE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ja-JP" alt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ja-JP" altLang="en-US" dirty="0"/>
                  <a:t> 也是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d>
                              <m:dPr>
                                <m:ctrlPr>
                                  <a:rPr lang="ar-AE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ja-JP" alt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altLang="ja-JP" dirty="0"/>
              </a:p>
              <a:p>
                <a:pPr marL="0" indent="0">
                  <a:buNone/>
                </a:pPr>
                <a:endParaRPr lang="en-US" altLang="ja-JP" b="1" dirty="0"/>
              </a:p>
              <a:p>
                <a:pPr marL="0" indent="0">
                  <a:buNone/>
                </a:pPr>
                <a:r>
                  <a:rPr lang="ja-JP" altLang="en-US" b="1" dirty="0"/>
                  <a:t>直观含义</a:t>
                </a:r>
              </a:p>
              <a:p>
                <a:r>
                  <a:rPr lang="en-US" altLang="ja-JP" dirty="0"/>
                  <a:t>Jacobi</a:t>
                </a:r>
                <a:r>
                  <a:rPr lang="ja-JP" altLang="en-US" dirty="0"/>
                  <a:t>：每一轮用上一轮的全部旧值更新； </a:t>
                </a:r>
              </a:p>
              <a:p>
                <a:r>
                  <a:rPr lang="en-US" altLang="ja-JP" dirty="0"/>
                  <a:t>Gauss-Seidel</a:t>
                </a:r>
                <a:r>
                  <a:rPr lang="ja-JP" altLang="en-US" dirty="0"/>
                  <a:t>：更新某个分量时，尽量立刻使用本轮已更新的新值。 </a:t>
                </a:r>
                <a:endParaRPr lang="ar-AE" altLang="ja-JP" dirty="0"/>
              </a:p>
              <a:p>
                <a:pPr marL="0" indent="0">
                  <a:buNone/>
                </a:pPr>
                <a:r>
                  <a:rPr lang="ja-JP" altLang="en-US" dirty="0"/>
                  <a:t>分析收敛时也会研究：迭代矩阵的谱半径； 是否压缩； 序列是否趋于真实解。 </a:t>
                </a:r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48B84057-E401-0CC0-3A9F-EB265556C5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  <a:blipFill>
                <a:blip r:embed="rId3"/>
                <a:stretch>
                  <a:fillRect l="-737" t="-1009" b="-470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図 2">
            <a:extLst>
              <a:ext uri="{FF2B5EF4-FFF2-40B4-BE49-F238E27FC236}">
                <a16:creationId xmlns:a16="http://schemas.microsoft.com/office/drawing/2014/main" id="{A65715CE-214E-F6E9-4496-AC8D16F879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863" y="2057400"/>
            <a:ext cx="4762137" cy="392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6156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F25E4-96D7-B1C6-0704-C5D644A32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5EF22317-1927-DED5-3130-5722A6E4D4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j-ea"/>
              </a:rPr>
              <a:t>Jacobi / Gauss-Seidel </a:t>
            </a:r>
            <a:r>
              <a:rPr lang="zh-CN" altLang="en-US" b="1" dirty="0">
                <a:latin typeface="+mj-ea"/>
              </a:rPr>
              <a:t>迭代</a:t>
            </a:r>
            <a:endParaRPr lang="ja-JP" altLang="en-US" dirty="0">
              <a:latin typeface="+mj-ea"/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116DF9A5-CD13-3F51-3253-88FDEA480E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4811" y="1081216"/>
            <a:ext cx="7702378" cy="5776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8221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42F82-F71A-34FB-F763-6BD2DF0E0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63BEDF22-C676-10A4-D0A4-B34FE092BF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j-ea"/>
              </a:rPr>
              <a:t>PDE </a:t>
            </a:r>
            <a:r>
              <a:rPr lang="zh-CN" altLang="en-US" b="1" dirty="0">
                <a:latin typeface="+mj-ea"/>
              </a:rPr>
              <a:t>的迭代求解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4E23532E-3F48-E0C1-3137-D3C6F60BD3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4800" y="1112520"/>
                <a:ext cx="1178560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PDE </a:t>
                </a:r>
                <a:r>
                  <a:rPr lang="zh-CN" altLang="en-US" dirty="0"/>
                  <a:t>的解通常很难一步写出，所以常构造近似解列：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r>
                  <a:rPr lang="zh-CN" altLang="en-US" dirty="0"/>
                  <a:t>，每一步都通过某个规则从旧函数得到新函数。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ja-JP" altLang="en-US" b="1" dirty="0"/>
                  <a:t>例</a:t>
                </a:r>
                <a:r>
                  <a:rPr lang="en-US" altLang="ja-JP" b="1" dirty="0"/>
                  <a:t>1</a:t>
                </a:r>
                <a:r>
                  <a:rPr lang="ja-JP" altLang="en-US" b="1" dirty="0"/>
                  <a:t>：</a:t>
                </a:r>
                <a:r>
                  <a:rPr lang="en-US" altLang="ja-JP" b="1" dirty="0"/>
                  <a:t>Picard </a:t>
                </a:r>
                <a:r>
                  <a:rPr lang="ja-JP" altLang="en-US" b="1" dirty="0"/>
                  <a:t>迭代</a:t>
                </a:r>
              </a:p>
              <a:p>
                <a:pPr marL="0" indent="0">
                  <a:buNone/>
                </a:pPr>
                <a:r>
                  <a:rPr lang="ja-JP" altLang="en-US" dirty="0"/>
                  <a:t>非线性方程可以写成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ja-JP" altLang="en-US" dirty="0"/>
                  <a:t> 于是做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ja-JP" altLang="en-US" dirty="0"/>
                  <a:t> 这里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ja-JP" altLang="en-US" dirty="0"/>
                  <a:t>不是数，而是函数。</a:t>
                </a:r>
              </a:p>
              <a:p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en-US" b="1" dirty="0"/>
                  <a:t>例</a:t>
                </a:r>
                <a:r>
                  <a:rPr lang="en-US" altLang="ja-JP" b="1" dirty="0"/>
                  <a:t>2</a:t>
                </a:r>
                <a:r>
                  <a:rPr lang="ja-JP" altLang="en-US" b="1" dirty="0"/>
                  <a:t>：线性化迭代</a:t>
                </a:r>
              </a:p>
              <a:p>
                <a:pPr marL="0" indent="0">
                  <a:buNone/>
                </a:pPr>
                <a:r>
                  <a:rPr lang="ja-JP" altLang="en-US" dirty="0"/>
                  <a:t>对于非线性 </a:t>
                </a:r>
                <a:r>
                  <a:rPr lang="en-US" altLang="ja-JP" dirty="0"/>
                  <a:t>PDE</a:t>
                </a:r>
                <a:r>
                  <a:rPr lang="ja-JP" altLang="en-US" dirty="0"/>
                  <a:t>，常把上一轮的解带入非线性项，把问题线性化后求下一轮。</a:t>
                </a:r>
                <a14:m>
                  <m:oMath xmlns:m="http://schemas.openxmlformats.org/officeDocument/2006/math">
                    <m:r>
                      <a:rPr lang="en-US" altLang="ja-JP"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ja-JP" altLang="en-US" dirty="0"/>
              </a:p>
              <a:p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en-US" b="1" dirty="0"/>
                  <a:t>例</a:t>
                </a:r>
                <a:r>
                  <a:rPr lang="en-US" altLang="ja-JP" b="1" dirty="0"/>
                  <a:t>3</a:t>
                </a:r>
                <a:r>
                  <a:rPr lang="ja-JP" altLang="en-US" b="1" dirty="0"/>
                  <a:t>：</a:t>
                </a:r>
                <a:r>
                  <a:rPr lang="en-US" altLang="ja-JP" b="1" dirty="0" err="1"/>
                  <a:t>Galerkin</a:t>
                </a:r>
                <a:r>
                  <a:rPr lang="en-US" altLang="ja-JP" b="1" dirty="0"/>
                  <a:t> </a:t>
                </a:r>
                <a:r>
                  <a:rPr lang="ja-JP" altLang="en-US" b="1" dirty="0"/>
                  <a:t>近似列</a:t>
                </a:r>
              </a:p>
              <a:p>
                <a:pPr marL="0" indent="0">
                  <a:buNone/>
                </a:pPr>
                <a:r>
                  <a:rPr lang="ja-JP" altLang="en-US" dirty="0"/>
                  <a:t>不总是写成单步映射形式，但思想仍相同：先在有限维空间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ja-JP" altLang="en-US" dirty="0"/>
                  <a:t>中求近似解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ja-JP" altLang="ar-AE" dirty="0"/>
                  <a:t>； </a:t>
                </a:r>
                <a:r>
                  <a:rPr lang="ja-JP" altLang="en-US" dirty="0"/>
                  <a:t>让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ja-JP" altLang="en-US" dirty="0"/>
                  <a:t>； 研究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ja-JP" altLang="en-US" dirty="0"/>
                  <a:t>的极限。 </a:t>
                </a:r>
              </a:p>
              <a:p>
                <a:endParaRPr lang="en-US" altLang="ja-JP" b="1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ja-JP" altLang="en-US" dirty="0"/>
                  <a:t>生活在函数空间中。往往先能证明：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ja-JP" altLang="en-US" dirty="0"/>
                  <a:t>有界； 或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ja-JP" altLang="en-US" dirty="0"/>
                  <a:t>是 </a:t>
                </a:r>
                <a:r>
                  <a:rPr lang="en-US" altLang="ja-JP" dirty="0"/>
                  <a:t>Cauchy</a:t>
                </a:r>
                <a:r>
                  <a:rPr lang="ja-JP" altLang="en-US" dirty="0"/>
                  <a:t>； 或存在收敛子列。 </a:t>
                </a:r>
              </a:p>
              <a:p>
                <a:r>
                  <a:rPr lang="ja-JP" altLang="en-US" dirty="0"/>
                  <a:t>这时就要靠 </a:t>
                </a:r>
                <a:r>
                  <a:rPr lang="en-US" altLang="ja-JP" dirty="0"/>
                  <a:t>Banach/Hilbert </a:t>
                </a:r>
                <a:r>
                  <a:rPr lang="ja-JP" altLang="en-US" dirty="0"/>
                  <a:t>空间的完备性，保证极限函数还在空间里。</a:t>
                </a:r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4E23532E-3F48-E0C1-3137-D3C6F60BD3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112520"/>
                <a:ext cx="11785600" cy="5440680"/>
              </a:xfrm>
              <a:blipFill>
                <a:blip r:embed="rId3"/>
                <a:stretch>
                  <a:fillRect l="-517" t="-1009" b="-112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6509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3D798-F7DD-C873-E3A2-FBBC61709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B965E45A-021F-EF8C-637E-ADD74F2176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j-ea"/>
              </a:rPr>
              <a:t>PDE </a:t>
            </a:r>
            <a:r>
              <a:rPr lang="zh-CN" altLang="en-US" b="1" dirty="0">
                <a:latin typeface="+mj-ea"/>
              </a:rPr>
              <a:t>的迭代求解</a:t>
            </a:r>
            <a:endParaRPr lang="ja-JP" altLang="en-US" dirty="0">
              <a:latin typeface="+mj-ea"/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78441345-5AF4-363B-DED0-DDAD0D5724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055" y="990600"/>
            <a:ext cx="8727209" cy="5818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1725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66272-E856-18BF-75A1-D10F64AAD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BD49F61C-7523-435D-805B-C6E9038F5D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</a:rPr>
              <a:t>完备性出现在哪些场景中？ </a:t>
            </a:r>
            <a:r>
              <a:rPr lang="en-US" altLang="zh-CN" b="1" dirty="0">
                <a:latin typeface="+mj-ea"/>
              </a:rPr>
              <a:t>3.</a:t>
            </a:r>
            <a:r>
              <a:rPr lang="zh-CN" altLang="en-US" b="1" dirty="0">
                <a:latin typeface="+mj-ea"/>
              </a:rPr>
              <a:t>最优化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6B806977-71DC-ED9B-EF36-CAAB9F2011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</p:spPr>
            <p:txBody>
              <a:bodyPr/>
              <a:lstStyle/>
              <a:p>
                <a:pPr marL="0" lvl="0" indent="0">
                  <a:lnSpc>
                    <a:spcPct val="110000"/>
                  </a:lnSpc>
                  <a:spcBef>
                    <a:spcPct val="0"/>
                  </a:spcBef>
                  <a:buClrTx/>
                  <a:buNone/>
                </a:pPr>
                <a:r>
                  <a:rPr lang="zh-CN" altLang="en-US" b="1" dirty="0"/>
                  <a:t>最优化</a:t>
                </a:r>
                <a:r>
                  <a:rPr lang="zh-CN" altLang="en-US" dirty="0"/>
                  <a:t>：取极小值、找最优解。</a:t>
                </a:r>
                <a:br>
                  <a:rPr lang="zh-CN" altLang="en-US" dirty="0"/>
                </a:br>
                <a:r>
                  <a:rPr lang="zh-CN" altLang="en-US" dirty="0"/>
                  <a:t>极小化序列可能越来越好，但如果空间不完备，极限可能不存在于空间内。</a:t>
                </a:r>
                <a:endParaRPr lang="en-US" altLang="zh-CN" dirty="0"/>
              </a:p>
              <a:p>
                <a:pPr marL="0" lvl="0" indent="0">
                  <a:lnSpc>
                    <a:spcPct val="110000"/>
                  </a:lnSpc>
                  <a:spcBef>
                    <a:spcPct val="0"/>
                  </a:spcBef>
                  <a:buClrTx/>
                  <a:buNone/>
                </a:pPr>
                <a:endParaRPr lang="en-US" altLang="ja-JP" dirty="0">
                  <a:latin typeface="Arial" panose="020B0604020202020204" pitchFamily="34" charset="0"/>
                </a:endParaRPr>
              </a:p>
              <a:p>
                <a:pPr marL="0" lvl="0" indent="0">
                  <a:lnSpc>
                    <a:spcPct val="110000"/>
                  </a:lnSpc>
                  <a:spcBef>
                    <a:spcPct val="0"/>
                  </a:spcBef>
                  <a:buClrTx/>
                  <a:buNone/>
                </a:pPr>
                <a:r>
                  <a:rPr lang="zh-CN" altLang="en-US" dirty="0">
                    <a:latin typeface="Arial" panose="020B0604020202020204" pitchFamily="34" charset="0"/>
                  </a:rPr>
                  <a:t>例如：</a:t>
                </a:r>
                <a:endParaRPr lang="en-US" altLang="zh-CN" dirty="0">
                  <a:latin typeface="Arial" panose="020B0604020202020204" pitchFamily="34" charset="0"/>
                </a:endParaRPr>
              </a:p>
              <a:p>
                <a:pPr marL="457200" lvl="0" indent="-457200">
                  <a:lnSpc>
                    <a:spcPct val="110000"/>
                  </a:lnSpc>
                  <a:spcBef>
                    <a:spcPct val="0"/>
                  </a:spcBef>
                  <a:buClr>
                    <a:srgbClr val="C00000"/>
                  </a:buClr>
                  <a:buFont typeface="+mj-lt"/>
                  <a:buAutoNum type="arabicPeriod"/>
                </a:pPr>
                <a:r>
                  <a:rPr lang="ja-JP" altLang="en-US" b="1" dirty="0">
                    <a:latin typeface="+mj-ea"/>
                  </a:rPr>
                  <a:t>概率与统计中的 </a:t>
                </a:r>
                <a:r>
                  <a:rPr lang="en-US" altLang="zh-CN" b="1" dirty="0">
                    <a:latin typeface="+mj-ea"/>
                  </a:rPr>
                  <a:t>EM </a:t>
                </a:r>
                <a:r>
                  <a:rPr lang="ja-JP" altLang="en-US" b="1" dirty="0">
                    <a:latin typeface="+mj-ea"/>
                  </a:rPr>
                  <a:t>类方法</a:t>
                </a:r>
                <a:endParaRPr lang="en-US" altLang="zh-CN" dirty="0">
                  <a:latin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zh-CN" altLang="en-US" dirty="0"/>
                  <a:t>想最大化某个含隐变量的似然函数，但直接优化太难。</a:t>
                </a:r>
              </a:p>
              <a:p>
                <a:pPr marL="0" indent="0">
                  <a:buNone/>
                </a:pPr>
                <a:r>
                  <a:rPr lang="zh-CN" altLang="en-US" dirty="0"/>
                  <a:t>于是把问题拆成两步反复做：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altLang="zh-CN" dirty="0"/>
                  <a:t>E-step</a:t>
                </a:r>
                <a:r>
                  <a:rPr lang="zh-CN" altLang="en-US" dirty="0"/>
                  <a:t>：计算关于隐变量的条件期望； </a:t>
                </a:r>
                <a:r>
                  <a:rPr lang="en-US" altLang="zh-CN" dirty="0"/>
                  <a:t>M-step</a:t>
                </a:r>
                <a:r>
                  <a:rPr lang="zh-CN" altLang="en-US" dirty="0"/>
                  <a:t>：在这个期望基础上更新参数。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设参数为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/>
                  <a:t>。</a:t>
                </a:r>
                <a:r>
                  <a:rPr lang="en-US" altLang="zh-CN" dirty="0"/>
                  <a:t>EM </a:t>
                </a:r>
                <a:r>
                  <a:rPr lang="zh-CN" altLang="en-US" dirty="0"/>
                  <a:t>每一步产生新参数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zh-CN" altLang="en-US" dirty="0"/>
                  <a:t>  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虽然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zh-CN" altLang="en-US" dirty="0"/>
                  <a:t>的内部定义比较复杂，但对外仍是“旧参数 </a:t>
                </a:r>
                <a14:m>
                  <m:oMath xmlns:m="http://schemas.openxmlformats.org/officeDocument/2006/math">
                    <m:r>
                      <a:rPr lang="zh-CN" altLang="en-US">
                        <a:latin typeface="Cambria Math" panose="02040503050406030204" pitchFamily="18" charset="0"/>
                      </a:rPr>
                      <m:t>↦</m:t>
                    </m:r>
                  </m:oMath>
                </a14:m>
                <a:r>
                  <a:rPr lang="zh-CN" altLang="en-US" dirty="0"/>
                  <a:t>新参数”。</a:t>
                </a:r>
                <a:endParaRPr lang="en-US" altLang="zh-CN" dirty="0"/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zh-CN" altLang="en-US" b="1" dirty="0">
                    <a:latin typeface="+mj-ea"/>
                  </a:rPr>
                  <a:t>机器学习中的反复参数更新</a:t>
                </a:r>
                <a:endParaRPr lang="en-US" altLang="zh-CN" b="1" dirty="0">
                  <a:latin typeface="+mj-ea"/>
                </a:endParaRPr>
              </a:p>
              <a:p>
                <a:pPr marL="0" indent="0">
                  <a:buNone/>
                </a:pPr>
                <a:r>
                  <a:rPr lang="ja-JP" altLang="en-US" dirty="0"/>
                  <a:t>设模型参数为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ja-JP" altLang="en-US" dirty="0"/>
                  <a:t>，损失函数为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ja-JP" altLang="ar-AE" dirty="0"/>
                  <a:t>。</a:t>
                </a:r>
                <a:r>
                  <a:rPr lang="ja-JP" altLang="en-US" dirty="0"/>
                  <a:t>训练的过程就是不断更新参数：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ar-AE" altLang="ja-JP" dirty="0"/>
              </a:p>
              <a:p>
                <a:pPr marL="0" indent="0">
                  <a:buNone/>
                </a:pPr>
                <a:r>
                  <a:rPr lang="ja-JP" altLang="en-US" dirty="0"/>
                  <a:t>其中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ja-JP" altLang="en-US" dirty="0"/>
                  <a:t>可能是：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ja-JP" altLang="en-US" dirty="0"/>
                  <a:t>精确梯度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ja-JP" altLang="en-US">
                        <a:latin typeface="Cambria Math" panose="02040503050406030204" pitchFamily="18" charset="0"/>
                      </a:rPr>
                      <m:t>∇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/>
                  <a:t>；</a:t>
                </a:r>
                <a:r>
                  <a:rPr lang="ja-JP" altLang="en-US" dirty="0"/>
                  <a:t>小批量随机梯度 </a:t>
                </a:r>
                <a:r>
                  <a:rPr lang="zh-CN" altLang="en-US" dirty="0"/>
                  <a:t>；</a:t>
                </a:r>
                <a:endParaRPr lang="ja-JP" altLang="en-US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ja-JP" altLang="en-US" dirty="0"/>
                  <a:t>动量项修正后的方向</a:t>
                </a:r>
                <a:r>
                  <a:rPr lang="en-US" altLang="ja-JP" dirty="0"/>
                  <a:t>(</a:t>
                </a:r>
                <a:r>
                  <a:rPr lang="zh-CN" altLang="en-US" dirty="0"/>
                  <a:t>不要只看当前梯度，而是把过去几步的梯度也累积起来</a:t>
                </a:r>
                <a:r>
                  <a:rPr lang="en-US" altLang="ja-JP" dirty="0"/>
                  <a:t>)</a:t>
                </a:r>
                <a:r>
                  <a:rPr lang="ja-JP" altLang="en-US" dirty="0"/>
                  <a:t> </a:t>
                </a:r>
                <a:r>
                  <a:rPr lang="zh-CN" altLang="en-US" dirty="0"/>
                  <a:t>；</a:t>
                </a:r>
                <a:r>
                  <a:rPr lang="en-US" altLang="ja-JP" dirty="0"/>
                  <a:t>Adam / </a:t>
                </a:r>
                <a:r>
                  <a:rPr lang="en-US" altLang="ja-JP" dirty="0" err="1"/>
                  <a:t>RMSProp</a:t>
                </a:r>
                <a:r>
                  <a:rPr lang="en-US" altLang="ja-JP" dirty="0"/>
                  <a:t> </a:t>
                </a:r>
                <a:r>
                  <a:rPr lang="ja-JP" altLang="en-US" dirty="0"/>
                  <a:t>等自适应更新方向</a:t>
                </a:r>
                <a:endParaRPr lang="en-US" altLang="ja-JP" dirty="0"/>
              </a:p>
              <a:p>
                <a:pPr marL="57150" indent="0">
                  <a:buNone/>
                </a:pPr>
                <a:endParaRPr lang="ja-JP" altLang="en-US" dirty="0"/>
              </a:p>
              <a:p>
                <a:pPr marL="457200" indent="-457200">
                  <a:buFont typeface="+mj-lt"/>
                  <a:buAutoNum type="arabicPeriod" startAt="2"/>
                </a:pPr>
                <a:endParaRPr lang="en-US" altLang="zh-CN" dirty="0"/>
              </a:p>
              <a:p>
                <a:pPr marL="457200" indent="-457200">
                  <a:buFont typeface="+mj-lt"/>
                  <a:buAutoNum type="arabicPeriod" startAt="2"/>
                </a:pPr>
                <a:endParaRPr lang="zh-CN" altLang="en-US" dirty="0"/>
              </a:p>
              <a:p>
                <a:pPr marL="0" lvl="0" indent="0">
                  <a:lnSpc>
                    <a:spcPct val="110000"/>
                  </a:lnSpc>
                  <a:spcBef>
                    <a:spcPct val="0"/>
                  </a:spcBef>
                  <a:buClrTx/>
                  <a:buNone/>
                </a:pPr>
                <a:endParaRPr lang="en-US" altLang="ja-JP" dirty="0">
                  <a:latin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6B806977-71DC-ED9B-EF36-CAAB9F2011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  <a:blipFill>
                <a:blip r:embed="rId3"/>
                <a:stretch>
                  <a:fillRect l="-526" t="-897" b="-728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04240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3ED22-396B-8F72-C5E2-A0F2BFFA1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D40B5C4C-B9F3-6E11-8FEA-91236BBE2B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b="1" dirty="0">
                <a:latin typeface="+mj-ea"/>
              </a:rPr>
              <a:t>概率与统计中的 </a:t>
            </a:r>
            <a:r>
              <a:rPr lang="en-US" altLang="zh-CN" b="1" dirty="0">
                <a:latin typeface="+mj-ea"/>
              </a:rPr>
              <a:t>EM </a:t>
            </a:r>
            <a:r>
              <a:rPr lang="ja-JP" altLang="en-US" b="1" dirty="0">
                <a:latin typeface="+mj-ea"/>
              </a:rPr>
              <a:t>类方法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59BFFB5E-6BF0-BE86-CD53-34DC09B79C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4800" y="1112520"/>
                <a:ext cx="1178560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dirty="0"/>
                  <a:t>想最大化某个含隐变量的似然函数，但直接优化太难。</a:t>
                </a:r>
              </a:p>
              <a:p>
                <a:pPr marL="0" indent="0">
                  <a:buNone/>
                </a:pPr>
                <a:r>
                  <a:rPr lang="zh-CN" altLang="en-US" dirty="0"/>
                  <a:t>于是把问题拆成两步反复做：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altLang="zh-CN" dirty="0"/>
                  <a:t>E-step</a:t>
                </a:r>
                <a:r>
                  <a:rPr lang="zh-CN" altLang="en-US" dirty="0"/>
                  <a:t>：计算关于隐变量的条件期望； 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altLang="zh-CN" dirty="0"/>
                  <a:t>M-step</a:t>
                </a:r>
                <a:r>
                  <a:rPr lang="zh-CN" altLang="en-US" dirty="0"/>
                  <a:t>：在这个期望基础上更新参数。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设参数为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EM </a:t>
                </a:r>
                <a:r>
                  <a:rPr lang="zh-CN" altLang="en-US" dirty="0"/>
                  <a:t>每一步产生新参数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zh-CN" altLang="en-US" dirty="0"/>
                  <a:t>  虽然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zh-CN" altLang="en-US" dirty="0"/>
                  <a:t>的内部定义比较复杂，但对外仍是“旧参数 </a:t>
                </a:r>
                <a14:m>
                  <m:oMath xmlns:m="http://schemas.openxmlformats.org/officeDocument/2006/math">
                    <m:r>
                      <a:rPr lang="zh-CN" altLang="en-US">
                        <a:latin typeface="Cambria Math" panose="02040503050406030204" pitchFamily="18" charset="0"/>
                      </a:rPr>
                      <m:t>↦</m:t>
                    </m:r>
                  </m:oMath>
                </a14:m>
                <a:r>
                  <a:rPr lang="zh-CN" altLang="en-US" dirty="0"/>
                  <a:t>新参数”。</a:t>
                </a:r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59BFFB5E-6BF0-BE86-CD53-34DC09B79C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112520"/>
                <a:ext cx="11785600" cy="5440680"/>
              </a:xfrm>
              <a:blipFill>
                <a:blip r:embed="rId3"/>
                <a:stretch>
                  <a:fillRect l="-517" t="-100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43705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D8A39-DE88-FE12-15A8-C4F2FBA7D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C964CAFB-FD68-BAFD-6F4C-1F8EE09A15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</a:rPr>
              <a:t>机器学习中的反复参数更新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5770EEA7-9A50-C186-30FF-F67A259EDF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4800" y="1112520"/>
                <a:ext cx="11785600" cy="5440680"/>
              </a:xfrm>
            </p:spPr>
            <p:txBody>
              <a:bodyPr/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ja-JP" altLang="en-US" dirty="0"/>
                  <a:t>设模型参数为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ja-JP" altLang="en-US" dirty="0"/>
                  <a:t>，损失函数为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ja-JP" altLang="ar-AE" dirty="0"/>
                  <a:t>。</a:t>
                </a:r>
                <a:r>
                  <a:rPr lang="ja-JP" altLang="en-US" dirty="0"/>
                  <a:t>训练的过程就是不断更新参数：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ar-AE" altLang="ja-JP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ja-JP" altLang="en-US" dirty="0"/>
                  <a:t>其中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ja-JP" altLang="en-US" dirty="0"/>
                  <a:t>可能是：</a:t>
                </a:r>
              </a:p>
              <a:p>
                <a:pPr lvl="1"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r>
                  <a:rPr lang="ja-JP" altLang="en-US" dirty="0"/>
                  <a:t>精确梯度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ja-JP" altLang="en-US">
                        <a:latin typeface="Cambria Math" panose="02040503050406030204" pitchFamily="18" charset="0"/>
                      </a:rPr>
                      <m:t>∇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ar-AE" altLang="ja-JP" dirty="0"/>
              </a:p>
              <a:p>
                <a:pPr lvl="1"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r>
                  <a:rPr lang="ja-JP" altLang="en-US" dirty="0"/>
                  <a:t>小批量随机梯度 </a:t>
                </a:r>
              </a:p>
              <a:p>
                <a:pPr lvl="1"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r>
                  <a:rPr lang="ja-JP" altLang="en-US" dirty="0"/>
                  <a:t>动量项修正后的方向 </a:t>
                </a:r>
                <a:r>
                  <a:rPr lang="zh-CN" altLang="en-US" dirty="0"/>
                  <a:t>（不只看当前梯度，而是把过去几步的梯度也累积起来）</a:t>
                </a:r>
                <a:endParaRPr lang="en-US" altLang="ja-JP" dirty="0"/>
              </a:p>
              <a:p>
                <a:pPr marL="457200" lvl="1" indent="0">
                  <a:lnSpc>
                    <a:spcPct val="110000"/>
                  </a:lnSpc>
                  <a:buNone/>
                </a:pPr>
                <a:r>
                  <a:rPr lang="en-US" altLang="zh-CN" dirty="0" err="1"/>
                  <a:t>v</a:t>
                </a:r>
                <a:r>
                  <a:rPr lang="en-US" altLang="zh-CN" baseline="-25000" dirty="0" err="1"/>
                  <a:t>n</a:t>
                </a:r>
                <a:r>
                  <a:rPr lang="en-US" altLang="zh-CN" dirty="0"/>
                  <a:t> :</a:t>
                </a:r>
                <a:r>
                  <a:rPr lang="zh-CN" altLang="en-US" dirty="0"/>
                  <a:t>“带惯性的下降方向”。如果连续几步梯度方向相似，动量会让更新变快；如果某些方向来回震荡，正负梯度会互相抵消，从而减弱震荡。</a:t>
                </a:r>
                <a:endParaRPr lang="ja-JP" altLang="en-US" dirty="0"/>
              </a:p>
              <a:p>
                <a:pPr lvl="1"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ja-JP" dirty="0"/>
                  <a:t>Adam / </a:t>
                </a:r>
                <a:r>
                  <a:rPr lang="en-US" altLang="ja-JP" dirty="0" err="1"/>
                  <a:t>RMSProp</a:t>
                </a:r>
                <a:r>
                  <a:rPr lang="en-US" altLang="ja-JP" dirty="0"/>
                  <a:t> </a:t>
                </a:r>
                <a:r>
                  <a:rPr lang="ja-JP" altLang="en-US" dirty="0"/>
                  <a:t>等自适应更新方向</a:t>
                </a:r>
                <a:r>
                  <a:rPr lang="zh-CN" altLang="en-US" dirty="0"/>
                  <a:t>（不仅考虑梯度，还根据参数的梯度大小自动调整学习率）</a:t>
                </a:r>
                <a:endParaRPr lang="en-US" altLang="zh-CN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altLang="ja-JP" dirty="0" err="1"/>
                  <a:t>MSProp</a:t>
                </a:r>
                <a:r>
                  <a:rPr lang="en-US" altLang="ja-JP" dirty="0"/>
                  <a:t> </a:t>
                </a:r>
                <a:r>
                  <a:rPr lang="ja-JP" altLang="en-US" dirty="0"/>
                  <a:t>的基本思想是记录梯度平方的移动平均：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/>
                        </m:ctrlPr>
                      </m:sSubPr>
                      <m:e>
                        <m:r>
                          <a:rPr lang="ja-JP" altLang="ar-AE" i="1"/>
                          <m:t>𝑠</m:t>
                        </m:r>
                      </m:e>
                      <m:sub>
                        <m:r>
                          <a:rPr lang="ja-JP" altLang="ar-AE" i="1"/>
                          <m:t>𝑛</m:t>
                        </m:r>
                      </m:sub>
                    </m:sSub>
                    <m:r>
                      <a:rPr lang="ar-AE" altLang="ja-JP"/>
                      <m:t>=</m:t>
                    </m:r>
                    <m:r>
                      <a:rPr lang="ja-JP" altLang="ar-AE" i="1"/>
                      <m:t>𝜌</m:t>
                    </m:r>
                    <m:sSub>
                      <m:sSubPr>
                        <m:ctrlPr>
                          <a:rPr lang="ar-AE" altLang="ja-JP" i="1"/>
                        </m:ctrlPr>
                      </m:sSubPr>
                      <m:e>
                        <m:r>
                          <a:rPr lang="ja-JP" altLang="ar-AE" i="1"/>
                          <m:t>𝑠</m:t>
                        </m:r>
                      </m:e>
                      <m:sub>
                        <m:r>
                          <a:rPr lang="ja-JP" altLang="ar-AE" i="1"/>
                          <m:t>𝑛</m:t>
                        </m:r>
                        <m:r>
                          <a:rPr lang="ar-AE" altLang="ja-JP"/>
                          <m:t>−</m:t>
                        </m:r>
                        <m:r>
                          <a:rPr lang="ar-AE" altLang="ja-JP"/>
                          <m:t>1</m:t>
                        </m:r>
                      </m:sub>
                    </m:sSub>
                    <m:r>
                      <a:rPr lang="ar-AE" altLang="ja-JP"/>
                      <m:t>+</m:t>
                    </m:r>
                    <m:d>
                      <m:dPr>
                        <m:ctrlPr>
                          <a:rPr lang="ar-AE" altLang="ja-JP" i="1"/>
                        </m:ctrlPr>
                      </m:dPr>
                      <m:e>
                        <m:r>
                          <a:rPr lang="ar-AE" altLang="ja-JP"/>
                          <m:t>1</m:t>
                        </m:r>
                        <m:r>
                          <a:rPr lang="ar-AE" altLang="ja-JP"/>
                          <m:t>−</m:t>
                        </m:r>
                        <m:r>
                          <a:rPr lang="ja-JP" altLang="ar-AE" i="1"/>
                          <m:t>𝜌</m:t>
                        </m:r>
                      </m:e>
                    </m:d>
                    <m:sSubSup>
                      <m:sSubSupPr>
                        <m:ctrlPr>
                          <a:rPr lang="ar-AE" altLang="ja-JP" i="1"/>
                        </m:ctrlPr>
                      </m:sSubSupPr>
                      <m:e>
                        <m:r>
                          <a:rPr lang="ja-JP" altLang="ar-AE" i="1"/>
                          <m:t>𝑔</m:t>
                        </m:r>
                      </m:e>
                      <m:sub>
                        <m:r>
                          <a:rPr lang="ja-JP" altLang="ar-AE" i="1"/>
                          <m:t>𝑛</m:t>
                        </m:r>
                      </m:sub>
                      <m:sup>
                        <m:r>
                          <a:rPr lang="ar-AE" altLang="ja-JP"/>
                          <m:t>2</m:t>
                        </m:r>
                      </m:sup>
                    </m:sSubSup>
                    <m:r>
                      <a:rPr lang="ar-AE" altLang="ja-JP"/>
                      <m:t>,</m:t>
                    </m:r>
                  </m:oMath>
                </a14:m>
                <a:r>
                  <a:rPr lang="ja-JP" altLang="en-US" dirty="0"/>
                  <a:t> 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/>
                        </m:ctrlPr>
                      </m:sSubPr>
                      <m:e>
                        <m:r>
                          <a:rPr lang="ja-JP" altLang="ar-AE" i="1"/>
                          <m:t>𝑔</m:t>
                        </m:r>
                      </m:e>
                      <m:sub>
                        <m:r>
                          <a:rPr lang="ja-JP" altLang="ar-AE" i="1"/>
                          <m:t>𝑛</m:t>
                        </m:r>
                      </m:sub>
                    </m:sSub>
                    <m:r>
                      <a:rPr lang="ar-AE" altLang="ja-JP"/>
                      <m:t>=</m:t>
                    </m:r>
                    <m:r>
                      <m:rPr>
                        <m:sty m:val="p"/>
                      </m:rPr>
                      <a:rPr lang="ar-AE" altLang="ja-JP"/>
                      <m:t>∇</m:t>
                    </m:r>
                    <m:r>
                      <a:rPr lang="ja-JP" altLang="ar-AE" i="1"/>
                      <m:t>𝐿</m:t>
                    </m:r>
                    <m:d>
                      <m:dPr>
                        <m:ctrlPr>
                          <a:rPr lang="ar-AE" altLang="ja-JP" i="1"/>
                        </m:ctrlPr>
                      </m:dPr>
                      <m:e>
                        <m:sSub>
                          <m:sSubPr>
                            <m:ctrlPr>
                              <a:rPr lang="ar-AE" altLang="ja-JP" i="1"/>
                            </m:ctrlPr>
                          </m:sSubPr>
                          <m:e>
                            <m:r>
                              <a:rPr lang="ja-JP" altLang="ar-AE" i="1"/>
                              <m:t>𝜃</m:t>
                            </m:r>
                          </m:e>
                          <m:sub>
                            <m:r>
                              <a:rPr lang="ja-JP" altLang="ar-AE" i="1"/>
                              <m:t>𝑛</m:t>
                            </m:r>
                          </m:sub>
                        </m:sSub>
                      </m:e>
                    </m:d>
                    <m:r>
                      <a:rPr lang="ar-AE" altLang="ja-JP"/>
                      <m:t>.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更新为：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/>
                        </m:ctrlPr>
                      </m:sSubPr>
                      <m:e>
                        <m:r>
                          <a:rPr lang="ja-JP" altLang="ar-AE" i="1"/>
                          <m:t>𝜃</m:t>
                        </m:r>
                      </m:e>
                      <m:sub>
                        <m:r>
                          <a:rPr lang="ja-JP" altLang="ar-AE" i="1"/>
                          <m:t>𝑛</m:t>
                        </m:r>
                        <m:r>
                          <a:rPr lang="ar-AE" altLang="ja-JP"/>
                          <m:t>+</m:t>
                        </m:r>
                        <m:r>
                          <a:rPr lang="ar-AE" altLang="ja-JP"/>
                          <m:t>1</m:t>
                        </m:r>
                      </m:sub>
                    </m:sSub>
                    <m:r>
                      <a:rPr lang="ar-AE" altLang="ja-JP"/>
                      <m:t>=</m:t>
                    </m:r>
                    <m:sSub>
                      <m:sSubPr>
                        <m:ctrlPr>
                          <a:rPr lang="ar-AE" altLang="ja-JP" i="1"/>
                        </m:ctrlPr>
                      </m:sSubPr>
                      <m:e>
                        <m:r>
                          <a:rPr lang="ja-JP" altLang="ar-AE" i="1"/>
                          <m:t>𝜃</m:t>
                        </m:r>
                      </m:e>
                      <m:sub>
                        <m:r>
                          <a:rPr lang="ja-JP" altLang="ar-AE" i="1"/>
                          <m:t>𝑛</m:t>
                        </m:r>
                      </m:sub>
                    </m:sSub>
                    <m:r>
                      <a:rPr lang="ar-AE" altLang="ja-JP"/>
                      <m:t>−</m:t>
                    </m:r>
                    <m:r>
                      <a:rPr lang="ja-JP" altLang="ar-AE" i="1"/>
                      <m:t>𝜂</m:t>
                    </m:r>
                    <m:f>
                      <m:fPr>
                        <m:ctrlPr>
                          <a:rPr lang="ar-AE" altLang="ja-JP" i="1"/>
                        </m:ctrlPr>
                      </m:fPr>
                      <m:num>
                        <m:sSub>
                          <m:sSubPr>
                            <m:ctrlPr>
                              <a:rPr lang="ar-AE" altLang="ja-JP" i="1"/>
                            </m:ctrlPr>
                          </m:sSubPr>
                          <m:e>
                            <m:r>
                              <a:rPr lang="ja-JP" altLang="ar-AE" i="1"/>
                              <m:t>𝑔</m:t>
                            </m:r>
                          </m:e>
                          <m:sub>
                            <m:r>
                              <a:rPr lang="ja-JP" altLang="ar-AE" i="1"/>
                              <m:t>𝑛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ar-AE" altLang="ja-JP" i="1"/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ar-AE" altLang="ja-JP" i="1"/>
                                </m:ctrlPr>
                              </m:sSubPr>
                              <m:e>
                                <m:r>
                                  <a:rPr lang="ja-JP" altLang="ar-AE" i="1"/>
                                  <m:t>𝑠</m:t>
                                </m:r>
                              </m:e>
                              <m:sub>
                                <m:r>
                                  <a:rPr lang="ja-JP" altLang="ar-AE" i="1"/>
                                  <m:t>𝑛</m:t>
                                </m:r>
                              </m:sub>
                            </m:sSub>
                          </m:e>
                        </m:rad>
                        <m:r>
                          <a:rPr lang="ar-AE" altLang="ja-JP"/>
                          <m:t>+</m:t>
                        </m:r>
                        <m:r>
                          <a:rPr lang="ja-JP" altLang="ar-AE" i="1"/>
                          <m:t>𝜀</m:t>
                        </m:r>
                      </m:den>
                    </m:f>
                    <m:r>
                      <a:rPr lang="ar-AE" altLang="ja-JP"/>
                      <m:t>.</m:t>
                    </m:r>
                  </m:oMath>
                </a14:m>
                <a:r>
                  <a:rPr lang="ja-JP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/>
                        </m:ctrlPr>
                      </m:sSubPr>
                      <m:e>
                        <m:r>
                          <a:rPr lang="ja-JP" altLang="ar-AE" i="1"/>
                          <m:t>𝐺</m:t>
                        </m:r>
                      </m:e>
                      <m:sub>
                        <m:r>
                          <a:rPr lang="ja-JP" altLang="ar-AE" i="1"/>
                          <m:t>𝑛</m:t>
                        </m:r>
                      </m:sub>
                    </m:sSub>
                    <m:r>
                      <a:rPr lang="ar-AE" altLang="ja-JP"/>
                      <m:t>=</m:t>
                    </m:r>
                    <m:f>
                      <m:fPr>
                        <m:ctrlPr>
                          <a:rPr lang="ar-AE" altLang="ja-JP" i="1"/>
                        </m:ctrlPr>
                      </m:fPr>
                      <m:num>
                        <m:sSub>
                          <m:sSubPr>
                            <m:ctrlPr>
                              <a:rPr lang="ar-AE" altLang="ja-JP" i="1"/>
                            </m:ctrlPr>
                          </m:sSubPr>
                          <m:e>
                            <m:r>
                              <a:rPr lang="ja-JP" altLang="ar-AE" i="1"/>
                              <m:t>𝑔</m:t>
                            </m:r>
                          </m:e>
                          <m:sub>
                            <m:r>
                              <a:rPr lang="ja-JP" altLang="ar-AE" i="1"/>
                              <m:t>𝑛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ar-AE" altLang="ja-JP" i="1"/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ar-AE" altLang="ja-JP" i="1"/>
                                </m:ctrlPr>
                              </m:sSubPr>
                              <m:e>
                                <m:r>
                                  <a:rPr lang="ja-JP" altLang="ar-AE" i="1"/>
                                  <m:t>𝑠</m:t>
                                </m:r>
                              </m:e>
                              <m:sub>
                                <m:r>
                                  <a:rPr lang="ja-JP" altLang="ar-AE" i="1"/>
                                  <m:t>𝑛</m:t>
                                </m:r>
                              </m:sub>
                            </m:sSub>
                          </m:e>
                        </m:rad>
                        <m:r>
                          <a:rPr lang="ar-AE" altLang="ja-JP"/>
                          <m:t>+</m:t>
                        </m:r>
                        <m:r>
                          <a:rPr lang="ja-JP" altLang="ar-AE" i="1"/>
                          <m:t>𝜀</m:t>
                        </m:r>
                      </m:den>
                    </m:f>
                    <m:r>
                      <a:rPr lang="ar-AE" altLang="ja-JP"/>
                      <m:t>.</m:t>
                    </m:r>
                  </m:oMath>
                </a14:m>
                <a:r>
                  <a:rPr lang="en-US" altLang="ja-JP" dirty="0"/>
                  <a:t>      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altLang="ja-JP" dirty="0"/>
                  <a:t>Adam </a:t>
                </a:r>
                <a:r>
                  <a:rPr lang="zh-CN" altLang="en-US" dirty="0"/>
                  <a:t>结合两种思想，</a:t>
                </a:r>
                <a:r>
                  <a:rPr lang="ja-JP" altLang="en-US" dirty="0"/>
                  <a:t>像动量法一样，记录梯度的一阶移动平均：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/>
                        </m:ctrlPr>
                      </m:sSubPr>
                      <m:e>
                        <m:r>
                          <a:rPr lang="ja-JP" altLang="ar-AE" i="1"/>
                          <m:t>𝑚</m:t>
                        </m:r>
                      </m:e>
                      <m:sub>
                        <m:r>
                          <a:rPr lang="ja-JP" altLang="ar-AE" i="1"/>
                          <m:t>𝑛</m:t>
                        </m:r>
                      </m:sub>
                    </m:sSub>
                    <m:r>
                      <a:rPr lang="ar-AE" altLang="ja-JP"/>
                      <m:t>=</m:t>
                    </m:r>
                    <m:sSub>
                      <m:sSubPr>
                        <m:ctrlPr>
                          <a:rPr lang="ar-AE" altLang="ja-JP" i="1"/>
                        </m:ctrlPr>
                      </m:sSubPr>
                      <m:e>
                        <m:r>
                          <a:rPr lang="ja-JP" altLang="ar-AE" i="1"/>
                          <m:t>𝛽</m:t>
                        </m:r>
                      </m:e>
                      <m:sub>
                        <m:r>
                          <a:rPr lang="ar-AE" altLang="ja-JP"/>
                          <m:t>1</m:t>
                        </m:r>
                      </m:sub>
                    </m:sSub>
                    <m:sSub>
                      <m:sSubPr>
                        <m:ctrlPr>
                          <a:rPr lang="ar-AE" altLang="ja-JP" i="1"/>
                        </m:ctrlPr>
                      </m:sSubPr>
                      <m:e>
                        <m:r>
                          <a:rPr lang="ja-JP" altLang="ar-AE" i="1"/>
                          <m:t>𝑚</m:t>
                        </m:r>
                      </m:e>
                      <m:sub>
                        <m:r>
                          <a:rPr lang="ja-JP" altLang="ar-AE" i="1"/>
                          <m:t>𝑛</m:t>
                        </m:r>
                        <m:r>
                          <a:rPr lang="ar-AE" altLang="ja-JP"/>
                          <m:t>−</m:t>
                        </m:r>
                        <m:r>
                          <a:rPr lang="ar-AE" altLang="ja-JP"/>
                          <m:t>1</m:t>
                        </m:r>
                      </m:sub>
                    </m:sSub>
                    <m:r>
                      <a:rPr lang="ar-AE" altLang="ja-JP"/>
                      <m:t>+</m:t>
                    </m:r>
                    <m:d>
                      <m:dPr>
                        <m:ctrlPr>
                          <a:rPr lang="ar-AE" altLang="ja-JP" i="1"/>
                        </m:ctrlPr>
                      </m:dPr>
                      <m:e>
                        <m:r>
                          <a:rPr lang="ar-AE" altLang="ja-JP"/>
                          <m:t>1</m:t>
                        </m:r>
                        <m:r>
                          <a:rPr lang="ar-AE" altLang="ja-JP"/>
                          <m:t>−</m:t>
                        </m:r>
                        <m:sSub>
                          <m:sSubPr>
                            <m:ctrlPr>
                              <a:rPr lang="ar-AE" altLang="ja-JP" i="1"/>
                            </m:ctrlPr>
                          </m:sSubPr>
                          <m:e>
                            <m:r>
                              <a:rPr lang="ja-JP" altLang="ar-AE" i="1"/>
                              <m:t>𝛽</m:t>
                            </m:r>
                          </m:e>
                          <m:sub>
                            <m:r>
                              <a:rPr lang="ar-AE" altLang="ja-JP"/>
                              <m:t>1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ar-AE" altLang="ja-JP" i="1"/>
                        </m:ctrlPr>
                      </m:sSubPr>
                      <m:e>
                        <m:r>
                          <a:rPr lang="ja-JP" altLang="ar-AE" i="1"/>
                          <m:t>𝑔</m:t>
                        </m:r>
                      </m:e>
                      <m:sub>
                        <m:r>
                          <a:rPr lang="ja-JP" altLang="ar-AE" i="1"/>
                          <m:t>𝑛</m:t>
                        </m:r>
                      </m:sub>
                    </m:sSub>
                    <m:r>
                      <a:rPr lang="ar-AE" altLang="ja-JP"/>
                      <m:t>.</m:t>
                    </m:r>
                  </m:oMath>
                </a14:m>
                <a:r>
                  <a:rPr lang="ja-JP" altLang="en-US" dirty="0"/>
                  <a:t>  </a:t>
                </a:r>
                <a:endParaRPr lang="en-US" altLang="ja-JP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ja-JP" altLang="en-US" dirty="0"/>
                  <a:t>像 </a:t>
                </a:r>
                <a:r>
                  <a:rPr lang="en-US" altLang="ja-JP" dirty="0" err="1"/>
                  <a:t>RMSProp</a:t>
                </a:r>
                <a:r>
                  <a:rPr lang="en-US" altLang="ja-JP" dirty="0"/>
                  <a:t> </a:t>
                </a:r>
                <a:r>
                  <a:rPr lang="ja-JP" altLang="en-US" dirty="0"/>
                  <a:t>一样，记录梯度平方的二阶移动平均：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/>
                        </m:ctrlPr>
                      </m:sSubPr>
                      <m:e>
                        <m:r>
                          <a:rPr lang="ja-JP" altLang="ar-AE" i="1"/>
                          <m:t>𝑠</m:t>
                        </m:r>
                      </m:e>
                      <m:sub>
                        <m:r>
                          <a:rPr lang="ja-JP" altLang="ar-AE" i="1"/>
                          <m:t>𝑛</m:t>
                        </m:r>
                      </m:sub>
                    </m:sSub>
                    <m:r>
                      <a:rPr lang="ar-AE" altLang="ja-JP"/>
                      <m:t>=</m:t>
                    </m:r>
                    <m:sSub>
                      <m:sSubPr>
                        <m:ctrlPr>
                          <a:rPr lang="ar-AE" altLang="ja-JP" i="1"/>
                        </m:ctrlPr>
                      </m:sSubPr>
                      <m:e>
                        <m:r>
                          <a:rPr lang="ja-JP" altLang="ar-AE" i="1"/>
                          <m:t>𝛽</m:t>
                        </m:r>
                      </m:e>
                      <m:sub>
                        <m:r>
                          <a:rPr lang="ar-AE" altLang="ja-JP"/>
                          <m:t>2</m:t>
                        </m:r>
                      </m:sub>
                    </m:sSub>
                    <m:sSub>
                      <m:sSubPr>
                        <m:ctrlPr>
                          <a:rPr lang="ar-AE" altLang="ja-JP" i="1"/>
                        </m:ctrlPr>
                      </m:sSubPr>
                      <m:e>
                        <m:r>
                          <a:rPr lang="ja-JP" altLang="ar-AE" i="1"/>
                          <m:t>𝑠</m:t>
                        </m:r>
                      </m:e>
                      <m:sub>
                        <m:r>
                          <a:rPr lang="ja-JP" altLang="ar-AE" i="1"/>
                          <m:t>𝑛</m:t>
                        </m:r>
                        <m:r>
                          <a:rPr lang="ar-AE" altLang="ja-JP"/>
                          <m:t>−</m:t>
                        </m:r>
                        <m:r>
                          <a:rPr lang="ar-AE" altLang="ja-JP"/>
                          <m:t>1</m:t>
                        </m:r>
                      </m:sub>
                    </m:sSub>
                    <m:r>
                      <a:rPr lang="ar-AE" altLang="ja-JP"/>
                      <m:t>+</m:t>
                    </m:r>
                    <m:d>
                      <m:dPr>
                        <m:ctrlPr>
                          <a:rPr lang="ar-AE" altLang="ja-JP" i="1"/>
                        </m:ctrlPr>
                      </m:dPr>
                      <m:e>
                        <m:r>
                          <a:rPr lang="ar-AE" altLang="ja-JP"/>
                          <m:t>1</m:t>
                        </m:r>
                        <m:r>
                          <a:rPr lang="ar-AE" altLang="ja-JP"/>
                          <m:t>−</m:t>
                        </m:r>
                        <m:sSub>
                          <m:sSubPr>
                            <m:ctrlPr>
                              <a:rPr lang="ar-AE" altLang="ja-JP" i="1"/>
                            </m:ctrlPr>
                          </m:sSubPr>
                          <m:e>
                            <m:r>
                              <a:rPr lang="ja-JP" altLang="ar-AE" i="1"/>
                              <m:t>𝛽</m:t>
                            </m:r>
                          </m:e>
                          <m:sub>
                            <m:r>
                              <a:rPr lang="ar-AE" altLang="ja-JP"/>
                              <m:t>2</m:t>
                            </m:r>
                          </m:sub>
                        </m:sSub>
                      </m:e>
                    </m:d>
                    <m:sSubSup>
                      <m:sSubSupPr>
                        <m:ctrlPr>
                          <a:rPr lang="ar-AE" altLang="ja-JP" i="1"/>
                        </m:ctrlPr>
                      </m:sSubSupPr>
                      <m:e>
                        <m:r>
                          <a:rPr lang="ja-JP" altLang="ar-AE" i="1"/>
                          <m:t>𝑔</m:t>
                        </m:r>
                      </m:e>
                      <m:sub>
                        <m:r>
                          <a:rPr lang="ja-JP" altLang="ar-AE" i="1"/>
                          <m:t>𝑛</m:t>
                        </m:r>
                      </m:sub>
                      <m:sup>
                        <m:r>
                          <a:rPr lang="ar-AE" altLang="ja-JP"/>
                          <m:t>2</m:t>
                        </m:r>
                      </m:sup>
                    </m:sSubSup>
                    <m:r>
                      <a:rPr lang="ar-AE" altLang="ja-JP"/>
                      <m:t>.</m:t>
                    </m:r>
                  </m:oMath>
                </a14:m>
                <a:r>
                  <a:rPr lang="ja-JP" altLang="en-US" dirty="0"/>
                  <a:t>  </a:t>
                </a:r>
                <a:endParaRPr lang="en-US" altLang="ja-JP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ja-JP" altLang="en-US" dirty="0"/>
                  <a:t>然后用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/>
                        </m:ctrlPr>
                      </m:sSubPr>
                      <m:e>
                        <m:r>
                          <a:rPr lang="ja-JP" altLang="ar-AE" i="1"/>
                          <m:t>𝐺</m:t>
                        </m:r>
                      </m:e>
                      <m:sub>
                        <m:r>
                          <a:rPr lang="ja-JP" altLang="ar-AE" i="1"/>
                          <m:t>𝑛</m:t>
                        </m:r>
                      </m:sub>
                    </m:sSub>
                    <m:r>
                      <a:rPr lang="ar-AE" altLang="ja-JP"/>
                      <m:t>=</m:t>
                    </m:r>
                    <m:f>
                      <m:fPr>
                        <m:ctrlPr>
                          <a:rPr lang="ar-AE" altLang="ja-JP" i="1"/>
                        </m:ctrlPr>
                      </m:fPr>
                      <m:num>
                        <m:sSub>
                          <m:sSubPr>
                            <m:ctrlPr>
                              <a:rPr lang="ar-AE" altLang="ja-JP" i="1"/>
                            </m:ctrlPr>
                          </m:sSubPr>
                          <m:e>
                            <m:r>
                              <a:rPr lang="ja-JP" altLang="ar-AE" i="1"/>
                              <m:t>𝑚</m:t>
                            </m:r>
                          </m:e>
                          <m:sub>
                            <m:r>
                              <a:rPr lang="ja-JP" altLang="ar-AE" i="1"/>
                              <m:t>𝑛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ar-AE" altLang="ja-JP" i="1"/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ar-AE" altLang="ja-JP" i="1"/>
                                </m:ctrlPr>
                              </m:sSubPr>
                              <m:e>
                                <m:r>
                                  <a:rPr lang="ja-JP" altLang="ar-AE" i="1"/>
                                  <m:t>𝑠</m:t>
                                </m:r>
                              </m:e>
                              <m:sub>
                                <m:r>
                                  <a:rPr lang="ja-JP" altLang="ar-AE" i="1"/>
                                  <m:t>𝑛</m:t>
                                </m:r>
                              </m:sub>
                            </m:sSub>
                          </m:e>
                        </m:rad>
                        <m:r>
                          <a:rPr lang="ar-AE" altLang="ja-JP"/>
                          <m:t>+</m:t>
                        </m:r>
                        <m:r>
                          <a:rPr lang="ja-JP" altLang="ar-AE" i="1"/>
                          <m:t>𝜀</m:t>
                        </m:r>
                      </m:den>
                    </m:f>
                  </m:oMath>
                </a14:m>
                <a:r>
                  <a:rPr lang="ja-JP" altLang="en-US" dirty="0"/>
                  <a:t> 作为更新方向。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ar-AE" altLang="ja-JP" dirty="0"/>
              </a:p>
              <a:p>
                <a:pPr marL="457200" lvl="1" indent="0">
                  <a:lnSpc>
                    <a:spcPct val="110000"/>
                  </a:lnSpc>
                  <a:buNone/>
                </a:pPr>
                <a:endParaRPr lang="ar-AE" altLang="ja-JP" dirty="0"/>
              </a:p>
              <a:p>
                <a:pPr marL="457200" lvl="1" indent="0">
                  <a:lnSpc>
                    <a:spcPct val="110000"/>
                  </a:lnSpc>
                  <a:buNone/>
                </a:pPr>
                <a:endParaRPr lang="en-US" altLang="ja-JP" dirty="0"/>
              </a:p>
              <a:p>
                <a:pPr marL="57150" indent="0">
                  <a:lnSpc>
                    <a:spcPct val="110000"/>
                  </a:lnSpc>
                  <a:buNone/>
                </a:pPr>
                <a:endParaRPr lang="ja-JP" altLang="en-US" dirty="0"/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5770EEA7-9A50-C186-30FF-F67A259EDF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112520"/>
                <a:ext cx="11785600" cy="5440680"/>
              </a:xfrm>
              <a:blipFill>
                <a:blip r:embed="rId3"/>
                <a:stretch>
                  <a:fillRect l="-517" t="-897" b="-852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図 2">
            <a:extLst>
              <a:ext uri="{FF2B5EF4-FFF2-40B4-BE49-F238E27FC236}">
                <a16:creationId xmlns:a16="http://schemas.microsoft.com/office/drawing/2014/main" id="{AF2AA841-32BD-53C8-9EFA-4F3DB4CD23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416" y="2337790"/>
            <a:ext cx="2566654" cy="370190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A20B245B-09F5-53B8-A18F-CA07E818AC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8441" y="2337790"/>
            <a:ext cx="948612" cy="370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529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C5459-97FF-5CC3-8209-E00D82C99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AC094B-DC86-8133-172D-F8D27C6DF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在完备性的背景下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8A5F890-4C5F-3AC7-3895-7847A45062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360665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89C23-74C4-5E31-2EF0-193FD245D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6ECB88DB-4A2B-B71A-71F5-9FB86135A2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</a:rPr>
              <a:t>有完备性的空间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C9E0D824-7FE0-96B6-62B7-7299550BAE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1. Banach </a:t>
                </a:r>
                <a:r>
                  <a:rPr lang="zh-CN" altLang="en-US" dirty="0"/>
                  <a:t>空间</a:t>
                </a:r>
              </a:p>
              <a:p>
                <a:r>
                  <a:rPr lang="zh-CN" altLang="en-US" dirty="0"/>
                  <a:t>完备赋范空间。也就是说，</a:t>
                </a:r>
                <a:r>
                  <a:rPr lang="en-US" altLang="zh-CN" dirty="0"/>
                  <a:t>Banach </a:t>
                </a:r>
                <a:r>
                  <a:rPr lang="zh-CN" altLang="en-US" dirty="0"/>
                  <a:t>空间本身就是“赋范空间 </a:t>
                </a:r>
                <a:r>
                  <a:rPr lang="en-US" altLang="zh-CN" dirty="0"/>
                  <a:t>+ </a:t>
                </a:r>
                <a:r>
                  <a:rPr lang="zh-CN" altLang="en-US" dirty="0"/>
                  <a:t>完备”。</a:t>
                </a:r>
              </a:p>
              <a:p>
                <a:pPr marL="0" indent="0">
                  <a:buNone/>
                </a:pPr>
                <a:endParaRPr lang="en-US" altLang="zh-CN" sz="1000" dirty="0"/>
              </a:p>
              <a:p>
                <a:pPr marL="0" indent="0">
                  <a:buNone/>
                </a:pPr>
                <a:r>
                  <a:rPr lang="en-US" altLang="zh-CN" dirty="0"/>
                  <a:t>2. Hilbert </a:t>
                </a:r>
                <a:r>
                  <a:rPr lang="zh-CN" altLang="en-US" dirty="0"/>
                  <a:t>空间</a:t>
                </a:r>
              </a:p>
              <a:p>
                <a:r>
                  <a:rPr lang="zh-CN" altLang="en-US" dirty="0"/>
                  <a:t>内积诱导范数下完备的内积空间。</a:t>
                </a:r>
                <a:endParaRPr lang="en-US" altLang="zh-CN" dirty="0"/>
              </a:p>
              <a:p>
                <a:endParaRPr lang="en-US" altLang="zh-CN" sz="1000" dirty="0"/>
              </a:p>
              <a:p>
                <a:pPr marL="0" indent="0">
                  <a:buNone/>
                </a:pPr>
                <a:r>
                  <a:rPr lang="en-US" altLang="zh-CN" dirty="0"/>
                  <a:t>3. Fréchet </a:t>
                </a:r>
                <a:r>
                  <a:rPr lang="zh-CN" altLang="en-US" dirty="0"/>
                  <a:t>空间</a:t>
                </a:r>
              </a:p>
              <a:p>
                <a:r>
                  <a:rPr lang="zh-CN" altLang="en-US" dirty="0"/>
                  <a:t>可度量、局部凸、完备的拓扑向量空间。</a:t>
                </a:r>
              </a:p>
              <a:p>
                <a:pPr marL="0" indent="0">
                  <a:buNone/>
                </a:pPr>
                <a:endParaRPr lang="en-US" altLang="zh-CN" sz="1000" dirty="0"/>
              </a:p>
              <a:p>
                <a:pPr marL="0" indent="0">
                  <a:buNone/>
                </a:pPr>
                <a:r>
                  <a:rPr lang="en-US" altLang="zh-CN" dirty="0"/>
                  <a:t>4. </a:t>
                </a:r>
                <a:r>
                  <a:rPr lang="zh-CN" altLang="en-US" dirty="0">
                    <a:solidFill>
                      <a:srgbClr val="7030A0"/>
                    </a:solidFill>
                  </a:rPr>
                  <a:t>自反 </a:t>
                </a:r>
                <a:r>
                  <a:rPr lang="en-US" altLang="zh-CN" dirty="0">
                    <a:solidFill>
                      <a:srgbClr val="7030A0"/>
                    </a:solidFill>
                  </a:rPr>
                  <a:t>Banach </a:t>
                </a:r>
                <a:r>
                  <a:rPr lang="zh-CN" altLang="en-US" dirty="0">
                    <a:solidFill>
                      <a:srgbClr val="7030A0"/>
                    </a:solidFill>
                  </a:rPr>
                  <a:t>空间</a:t>
                </a:r>
              </a:p>
              <a:p>
                <a:pPr marL="0" indent="0">
                  <a:buNone/>
                </a:pPr>
                <a:r>
                  <a:rPr lang="zh-CN" altLang="en-US" dirty="0">
                    <a:solidFill>
                      <a:srgbClr val="7030A0"/>
                    </a:solidFill>
                  </a:rPr>
                  <a:t>首先必须是 </a:t>
                </a:r>
                <a:r>
                  <a:rPr lang="en-US" altLang="zh-CN" dirty="0">
                    <a:solidFill>
                      <a:srgbClr val="7030A0"/>
                    </a:solidFill>
                  </a:rPr>
                  <a:t>Banach </a:t>
                </a:r>
                <a:r>
                  <a:rPr lang="zh-CN" altLang="en-US" dirty="0">
                    <a:solidFill>
                      <a:srgbClr val="7030A0"/>
                    </a:solidFill>
                  </a:rPr>
                  <a:t>空间，所以已经带有完备性。</a:t>
                </a:r>
                <a:endParaRPr lang="en-US" altLang="zh-CN" dirty="0">
                  <a:solidFill>
                    <a:srgbClr val="7030A0"/>
                  </a:solidFill>
                </a:endParaRPr>
              </a:p>
              <a:p>
                <a:endParaRPr lang="en-US" altLang="zh-CN" sz="1000" dirty="0"/>
              </a:p>
              <a:p>
                <a:pPr marL="0" indent="0">
                  <a:buNone/>
                </a:pPr>
                <a:r>
                  <a:rPr lang="en-US" altLang="zh-CN" dirty="0"/>
                  <a:t>5.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zh-CN" altLang="en-US" b="1" dirty="0"/>
                  <a:t>空间</a:t>
                </a:r>
              </a:p>
              <a:p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1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≤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≤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zh-CN" altLang="en-US" dirty="0"/>
                  <a:t>时，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zh-CN" altLang="en-US" dirty="0"/>
                  <a:t> 是 </a:t>
                </a:r>
                <a:r>
                  <a:rPr lang="en-US" altLang="zh-CN" b="1" dirty="0"/>
                  <a:t>Banach </a:t>
                </a:r>
                <a:r>
                  <a:rPr lang="zh-CN" altLang="en-US" b="1" dirty="0"/>
                  <a:t>空间</a:t>
                </a:r>
                <a:r>
                  <a:rPr lang="zh-CN" altLang="en-US" dirty="0"/>
                  <a:t>；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/>
                  <a:t> 还是 </a:t>
                </a:r>
                <a:r>
                  <a:rPr lang="en-US" altLang="zh-CN" b="1" dirty="0"/>
                  <a:t>Hilbert </a:t>
                </a:r>
                <a:r>
                  <a:rPr lang="zh-CN" altLang="en-US" b="1" dirty="0"/>
                  <a:t>空间</a:t>
                </a:r>
                <a:endParaRPr lang="zh-CN" altLang="en-US" dirty="0"/>
              </a:p>
              <a:p>
                <a:pPr marL="0" indent="0">
                  <a:buNone/>
                </a:pPr>
                <a:endParaRPr lang="en-US" altLang="zh-CN" sz="1000" dirty="0"/>
              </a:p>
              <a:p>
                <a:pPr marL="0" indent="0">
                  <a:buNone/>
                </a:pPr>
                <a:r>
                  <a:rPr lang="en-US" altLang="zh-CN" dirty="0"/>
                  <a:t>6. </a:t>
                </a:r>
                <a:r>
                  <a:rPr lang="en-US" altLang="ja-JP" b="1" dirty="0"/>
                  <a:t>Sobolev </a:t>
                </a:r>
                <a:r>
                  <a:rPr lang="ja-JP" altLang="en-US" b="1" dirty="0"/>
                  <a:t>空间</a:t>
                </a:r>
              </a:p>
              <a:p>
                <a:r>
                  <a:rPr lang="ja-JP" altLang="en-US" dirty="0"/>
                  <a:t>标准 </a:t>
                </a:r>
                <a:r>
                  <a:rPr lang="en-US" altLang="ja-JP" dirty="0"/>
                  <a:t>Sobolev </a:t>
                </a:r>
                <a:r>
                  <a:rPr lang="ja-JP" altLang="en-US" dirty="0"/>
                  <a:t>空间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ja-JP" altLang="en-US" dirty="0"/>
                  <a:t>一般是 </a:t>
                </a:r>
                <a:r>
                  <a:rPr lang="en-US" altLang="ja-JP" b="1" dirty="0"/>
                  <a:t>Banach </a:t>
                </a:r>
                <a:r>
                  <a:rPr lang="ja-JP" altLang="en-US" b="1" dirty="0"/>
                  <a:t>空间</a:t>
                </a:r>
                <a:r>
                  <a:rPr lang="ja-JP" altLang="en-US" dirty="0"/>
                  <a:t>；当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ja-JP" altLang="en-US" dirty="0"/>
                  <a:t>时，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ar-AE" altLang="ja-JP" dirty="0"/>
                  <a:t> </a:t>
                </a:r>
                <a:r>
                  <a:rPr lang="ja-JP" altLang="en-US" dirty="0"/>
                  <a:t>还是 </a:t>
                </a:r>
                <a:r>
                  <a:rPr lang="en-US" altLang="ja-JP" b="1" dirty="0"/>
                  <a:t>Hilbert </a:t>
                </a:r>
                <a:r>
                  <a:rPr lang="ja-JP" altLang="en-US" b="1" dirty="0"/>
                  <a:t>空间</a:t>
                </a:r>
                <a:r>
                  <a:rPr lang="ja-JP" altLang="en-US" dirty="0"/>
                  <a:t>。</a:t>
                </a:r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C9E0D824-7FE0-96B6-62B7-7299550BAE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  <a:blipFill>
                <a:blip r:embed="rId3"/>
                <a:stretch>
                  <a:fillRect l="-526" t="-1009" b="-11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図 2">
            <a:extLst>
              <a:ext uri="{FF2B5EF4-FFF2-40B4-BE49-F238E27FC236}">
                <a16:creationId xmlns:a16="http://schemas.microsoft.com/office/drawing/2014/main" id="{D4301465-FF34-3EC0-0ADD-B24C72F019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8409" y="4418373"/>
            <a:ext cx="4659286" cy="1001529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88E7FC1-5DA4-52AC-ABBE-DE789A047DDD}"/>
              </a:ext>
            </a:extLst>
          </p:cNvPr>
          <p:cNvSpPr txBox="1"/>
          <p:nvPr/>
        </p:nvSpPr>
        <p:spPr>
          <a:xfrm>
            <a:off x="6199502" y="3033378"/>
            <a:ext cx="610651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 err="1"/>
              <a:t>Combettes</a:t>
            </a:r>
            <a:r>
              <a:rPr lang="en-US" altLang="ja-JP" sz="1400" dirty="0"/>
              <a:t>, “Regularized Learning Schemes in Feature Banach Spaces”, </a:t>
            </a:r>
          </a:p>
          <a:p>
            <a:r>
              <a:rPr lang="en-US" altLang="ja-JP" sz="1400" dirty="0"/>
              <a:t>Wang &amp; Xu, “Representer Theorems in Banach Spaces: Minimum Norm Interpolation, Regularized Learning and Semi-discrete Inverse Problems”</a:t>
            </a:r>
          </a:p>
          <a:p>
            <a:r>
              <a:rPr lang="en-US" altLang="ja-JP" sz="1400" dirty="0"/>
              <a:t>Balandat et al., “Minimizing Regret on Reflexive Banach Spaces and Nash Equilibria in Continuous Zero-Sum Games”</a:t>
            </a:r>
            <a:endParaRPr lang="ja-JP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9009949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A9267-4335-10AA-215D-5B4839F24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428BB58E-E5A6-F9F4-E70F-F1F6B5BF18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</a:rPr>
              <a:t>自反 </a:t>
            </a:r>
            <a:r>
              <a:rPr lang="en-US" altLang="zh-CN" b="1" dirty="0">
                <a:latin typeface="+mj-ea"/>
              </a:rPr>
              <a:t>Banach </a:t>
            </a:r>
            <a:r>
              <a:rPr lang="zh-CN" altLang="en-US" b="1" dirty="0">
                <a:latin typeface="+mj-ea"/>
              </a:rPr>
              <a:t>空间（</a:t>
            </a:r>
            <a:r>
              <a:rPr lang="en-US" altLang="zh-CN" b="1" dirty="0">
                <a:latin typeface="+mj-ea"/>
              </a:rPr>
              <a:t>1</a:t>
            </a:r>
            <a:r>
              <a:rPr lang="zh-CN" altLang="en-US" b="1" dirty="0">
                <a:latin typeface="+mj-ea"/>
              </a:rPr>
              <a:t>）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4DDD44BF-794A-C189-85E0-3FD8D7E009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dirty="0"/>
                  <a:t>重点思想：这个空间里的有界序列，是否能通过“对偶测试”被很好地控制；</a:t>
                </a:r>
                <a:br>
                  <a:rPr lang="zh-CN" altLang="en-US" dirty="0"/>
                </a:br>
                <a:r>
                  <a:rPr lang="zh-CN" altLang="en-US" dirty="0"/>
                  <a:t>这个空间是否足够“完整而不过大”，使得弱收敛理论表现良好。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设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是一个 </a:t>
                </a:r>
                <a:r>
                  <a:rPr lang="en-US" altLang="zh-CN" dirty="0"/>
                  <a:t>Banach </a:t>
                </a:r>
                <a:r>
                  <a:rPr lang="zh-CN" altLang="en-US" dirty="0"/>
                  <a:t>空间。它的</a:t>
                </a:r>
                <a:r>
                  <a:rPr lang="zh-CN" altLang="en-US" b="1" dirty="0"/>
                  <a:t>对偶空间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dirty="0"/>
                  <a:t>定义为：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𝕂</m:t>
                        </m:r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nor/>
                          </m:rPr>
                          <a:rPr lang="zh-CN" altLang="en-US" i="1"/>
                          <m:t> </m:t>
                        </m:r>
                        <m:r>
                          <m:rPr>
                            <m:nor/>
                          </m:rPr>
                          <a:rPr lang="zh-CN" altLang="en-US"/>
                          <m:t>是连续线性泛函</m:t>
                        </m:r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dirty="0"/>
                  <a:t>  </a:t>
                </a:r>
                <a14:m>
                  <m:oMath xmlns:m="http://schemas.openxmlformats.org/officeDocument/2006/math">
                    <m:r>
                      <a:rPr lang="zh-CN" altLang="en-US">
                        <a:latin typeface="Cambria Math" panose="02040503050406030204" pitchFamily="18" charset="0"/>
                      </a:rPr>
                      <m:t>𝕂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zh-CN" altLang="en-US" dirty="0"/>
                  <a:t>或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ℂ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即，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dirty="0"/>
                  <a:t> 的元素不是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里的点，而是“测量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中元素的连续线性函数”。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ja-JP" b="1" dirty="0"/>
              </a:p>
              <a:p>
                <a:pPr marL="0" indent="0">
                  <a:buNone/>
                </a:pPr>
                <a:r>
                  <a:rPr lang="ja-JP" altLang="en-US" b="1" dirty="0"/>
                  <a:t>双对偶空间</a:t>
                </a:r>
                <a:r>
                  <a:rPr lang="zh-CN" altLang="en-US" b="1" dirty="0"/>
                  <a:t>：</a:t>
                </a:r>
                <a:r>
                  <a:rPr lang="ja-JP" altLang="en-US" dirty="0"/>
                  <a:t>再对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ja-JP" altLang="en-US" dirty="0"/>
                  <a:t>取对偶，得到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∗∗</m:t>
                        </m:r>
                      </m:sup>
                    </m:sSup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ar-AE" altLang="ja-JP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ja-JP" altLang="ar-AE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ar-AE" altLang="ja-JP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ar-AE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ja-JP" altLang="en-US" dirty="0"/>
                  <a:t>  它叫做 </a:t>
                </a:r>
                <a:r>
                  <a:rPr lang="ja-JP" altLang="en-US" b="1" dirty="0"/>
                  <a:t>双对偶空间</a:t>
                </a:r>
                <a:r>
                  <a:rPr lang="ja-JP" altLang="en-US" dirty="0"/>
                  <a:t>。</a:t>
                </a:r>
              </a:p>
              <a:p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en-US" dirty="0"/>
                  <a:t>的元素是“原始向量”；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ja-JP" altLang="en-US" dirty="0"/>
                  <a:t>的元素是“测量这些向量的线性泛函”；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∗∗</m:t>
                        </m:r>
                      </m:sup>
                    </m:sSup>
                  </m:oMath>
                </a14:m>
                <a:r>
                  <a:rPr lang="ja-JP" altLang="en-US" dirty="0"/>
                  <a:t>的元素则是“作用在这些泛函上的连续线性泛函”</a:t>
                </a:r>
                <a:endParaRPr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en-US" dirty="0"/>
                  <a:t>对每个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∈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en-US" dirty="0"/>
                  <a:t>，可以定义一个作用在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ja-JP" altLang="en-US" dirty="0"/>
                  <a:t>上的映射：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ar-AE" altLang="ja-JP">
                        <a:latin typeface="Cambria Math" panose="02040503050406030204" pitchFamily="18" charset="0"/>
                      </a:rPr>
                      <m:t>→</m:t>
                    </m:r>
                    <m:r>
                      <a:rPr lang="ja-JP" altLang="ar-AE">
                        <a:latin typeface="Cambria Math" panose="02040503050406030204" pitchFamily="18" charset="0"/>
                      </a:rPr>
                      <m:t>𝕂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zh-CN" altLang="en-US" dirty="0"/>
                  <a:t> 即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ar-AE" altLang="ja-JP" dirty="0"/>
                  <a:t> </a:t>
                </a:r>
                <a:r>
                  <a:rPr lang="ja-JP" altLang="en-US" dirty="0"/>
                  <a:t>把每个泛函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ja-JP" altLang="en-US" dirty="0"/>
                  <a:t>送到它在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ja-JP" altLang="en-US" dirty="0"/>
                  <a:t>处的值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ja-JP" altLang="ar-AE" dirty="0"/>
                  <a:t>。</a:t>
                </a:r>
                <a:r>
                  <a:rPr lang="ja-JP" altLang="en-US" dirty="0"/>
                  <a:t>这显然是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ja-JP" altLang="en-US" dirty="0"/>
                  <a:t>上的线性泛函，所以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∗∗</m:t>
                        </m:r>
                      </m:sup>
                    </m:sSup>
                    <m:r>
                      <a:rPr lang="ar-AE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altLang="ja-JP" dirty="0"/>
              </a:p>
              <a:p>
                <a:pPr marL="0" indent="0">
                  <a:buNone/>
                </a:pPr>
                <a:r>
                  <a:rPr lang="ja-JP" altLang="en-US" dirty="0"/>
                  <a:t>于是得到一个映射</a:t>
                </a:r>
                <a14:m>
                  <m:oMath xmlns:m="http://schemas.openxmlformats.org/officeDocument/2006/math"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: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∗∗</m:t>
                        </m:r>
                      </m:sup>
                    </m:sSup>
                    <m:r>
                      <a:rPr lang="ar-AE" altLang="ja-JP">
                        <a:latin typeface="Cambria Math" panose="02040503050406030204" pitchFamily="18" charset="0"/>
                      </a:rPr>
                      <m:t>, 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↦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</a:rPr>
                      <m:t>。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称为</m:t>
                    </m:r>
                  </m:oMath>
                </a14:m>
                <a:r>
                  <a:rPr lang="ja-JP" altLang="en-US" dirty="0"/>
                  <a:t> </a:t>
                </a:r>
                <a:r>
                  <a:rPr lang="ja-JP" altLang="en-US" b="1" dirty="0"/>
                  <a:t>自然嵌入（</a:t>
                </a:r>
                <a:r>
                  <a:rPr lang="en-US" altLang="ja-JP" b="1" dirty="0"/>
                  <a:t>canonical embedding</a:t>
                </a:r>
                <a:r>
                  <a:rPr lang="ja-JP" altLang="en-US" b="1" dirty="0"/>
                  <a:t>）</a:t>
                </a:r>
                <a:r>
                  <a:rPr lang="ja-JP" altLang="en-US" dirty="0"/>
                  <a:t>。</a:t>
                </a:r>
                <a:endParaRPr lang="en-US" altLang="ja-JP" dirty="0"/>
              </a:p>
              <a:p>
                <a:pPr marL="0" indent="0">
                  <a:buNone/>
                </a:pPr>
                <a:endParaRPr lang="ja-JP" altLang="en-US" dirty="0"/>
              </a:p>
              <a:p>
                <a:pPr marL="0" indent="0">
                  <a:buNone/>
                </a:pPr>
                <a:endParaRPr lang="zh-CN" altLang="en-US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4DDD44BF-794A-C189-85E0-3FD8D7E009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  <a:blipFill>
                <a:blip r:embed="rId3"/>
                <a:stretch>
                  <a:fillRect l="-526" t="-100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74297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3E78B-1E48-7D30-E0CD-45B106935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D3B217CB-9CEA-C8E9-F04B-5953368CE7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</a:rPr>
              <a:t>自反 </a:t>
            </a:r>
            <a:r>
              <a:rPr lang="en-US" altLang="zh-CN" b="1" dirty="0">
                <a:latin typeface="+mj-ea"/>
              </a:rPr>
              <a:t>Banach </a:t>
            </a:r>
            <a:r>
              <a:rPr lang="zh-CN" altLang="en-US" b="1" dirty="0">
                <a:latin typeface="+mj-ea"/>
              </a:rPr>
              <a:t>空间（</a:t>
            </a:r>
            <a:r>
              <a:rPr lang="en-US" altLang="zh-CN" b="1" dirty="0">
                <a:latin typeface="+mj-ea"/>
              </a:rPr>
              <a:t>2</a:t>
            </a:r>
            <a:r>
              <a:rPr lang="zh-CN" altLang="en-US" b="1" dirty="0">
                <a:latin typeface="+mj-ea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2E17EE68-270E-0727-7AA0-9B517BA640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" y="1112520"/>
                <a:ext cx="1209040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ja-JP" altLang="en-US" dirty="0"/>
                  <a:t>对每个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∈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en-US" dirty="0"/>
                  <a:t>，可以定义一个作用在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ja-JP" altLang="en-US" dirty="0"/>
                  <a:t>上的映射：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ar-AE" altLang="ja-JP">
                        <a:latin typeface="Cambria Math" panose="02040503050406030204" pitchFamily="18" charset="0"/>
                      </a:rPr>
                      <m:t>→</m:t>
                    </m:r>
                    <m:r>
                      <a:rPr lang="ja-JP" altLang="ar-AE">
                        <a:latin typeface="Cambria Math" panose="02040503050406030204" pitchFamily="18" charset="0"/>
                      </a:rPr>
                      <m:t>𝕂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zh-CN" altLang="en-US" dirty="0"/>
                  <a:t> 即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ar-AE" altLang="ja-JP" dirty="0"/>
                  <a:t> </a:t>
                </a:r>
                <a:r>
                  <a:rPr lang="ja-JP" altLang="en-US" dirty="0"/>
                  <a:t>把每个泛函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ja-JP" altLang="en-US" dirty="0"/>
                  <a:t>送到它在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ja-JP" altLang="en-US" dirty="0"/>
                  <a:t>处的值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ja-JP" altLang="ar-AE" dirty="0"/>
                  <a:t>。</a:t>
                </a:r>
                <a:r>
                  <a:rPr lang="ja-JP" altLang="en-US" dirty="0"/>
                  <a:t>这显然是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ja-JP" altLang="en-US" dirty="0"/>
                  <a:t>上的线性泛函，所以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∗∗</m:t>
                        </m:r>
                      </m:sup>
                    </m:sSup>
                    <m:r>
                      <a:rPr lang="ar-AE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altLang="ja-JP" dirty="0"/>
              </a:p>
              <a:p>
                <a:pPr marL="0" indent="0">
                  <a:buNone/>
                </a:pPr>
                <a:r>
                  <a:rPr lang="ja-JP" altLang="en-US" dirty="0"/>
                  <a:t>于是得到一个映射</a:t>
                </a:r>
                <a14:m>
                  <m:oMath xmlns:m="http://schemas.openxmlformats.org/officeDocument/2006/math"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: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∗∗</m:t>
                        </m:r>
                      </m:sup>
                    </m:sSup>
                    <m:r>
                      <a:rPr lang="ar-AE" altLang="ja-JP">
                        <a:latin typeface="Cambria Math" panose="02040503050406030204" pitchFamily="18" charset="0"/>
                      </a:rPr>
                      <m:t>, 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↦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</a:rPr>
                      <m:t>。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称为</m:t>
                    </m:r>
                  </m:oMath>
                </a14:m>
                <a:r>
                  <a:rPr lang="ja-JP" altLang="en-US" dirty="0"/>
                  <a:t> </a:t>
                </a:r>
                <a:r>
                  <a:rPr lang="ja-JP" altLang="en-US" b="1" dirty="0"/>
                  <a:t>自然嵌入（</a:t>
                </a:r>
                <a:r>
                  <a:rPr lang="en-US" altLang="ja-JP" b="1" dirty="0"/>
                  <a:t>canonical embedding</a:t>
                </a:r>
                <a:r>
                  <a:rPr lang="ja-JP" altLang="en-US" b="1" dirty="0"/>
                  <a:t>）</a:t>
                </a:r>
                <a:r>
                  <a:rPr lang="ja-JP" altLang="en-US" dirty="0"/>
                  <a:t>。</a:t>
                </a:r>
                <a:endParaRPr lang="en-US" altLang="ja-JP" dirty="0"/>
              </a:p>
              <a:p>
                <a:pPr marL="0" indent="0">
                  <a:buNone/>
                </a:pPr>
                <a:r>
                  <a:rPr lang="zh-CN" altLang="en-US" dirty="0"/>
                  <a:t>根据</a:t>
                </a:r>
                <a:r>
                  <a:rPr lang="en-US" altLang="ja-JP" dirty="0"/>
                  <a:t>Hahn–Banach </a:t>
                </a:r>
                <a:r>
                  <a:rPr lang="ja-JP" altLang="en-US" dirty="0"/>
                  <a:t>定理，这个映射是等距的：</a:t>
                </a:r>
                <a14:m>
                  <m:oMath xmlns:m="http://schemas.openxmlformats.org/officeDocument/2006/math"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sSup>
                          <m:sSup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∗∗</m:t>
                            </m:r>
                          </m:sup>
                        </m:sSup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=∥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𝑥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ja-JP" dirty="0"/>
                  <a:t>  </a:t>
                </a:r>
                <a:r>
                  <a:rPr lang="ja-JP" altLang="en-US" dirty="0"/>
                  <a:t>所以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en-US" dirty="0"/>
                  <a:t>总可以看成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∗∗</m:t>
                        </m:r>
                      </m:sup>
                    </m:sSup>
                  </m:oMath>
                </a14:m>
                <a:r>
                  <a:rPr lang="ja-JP" altLang="en-US" dirty="0"/>
                  <a:t>的一个等距子空间</a:t>
                </a:r>
                <a:endParaRPr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lang="en-US" altLang="zh-CN" dirty="0"/>
                  <a:t>Banach </a:t>
                </a:r>
                <a:r>
                  <a:rPr lang="zh-CN" altLang="en-US" dirty="0"/>
                  <a:t>空间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称为</a:t>
                </a:r>
                <a:r>
                  <a:rPr lang="zh-CN" altLang="en-US" b="1" dirty="0"/>
                  <a:t>自反的</a:t>
                </a:r>
                <a:r>
                  <a:rPr lang="zh-CN" altLang="en-US" dirty="0"/>
                  <a:t>，如果自然嵌入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: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∗∗</m:t>
                        </m:r>
                      </m:sup>
                    </m:sSup>
                  </m:oMath>
                </a14:m>
                <a:r>
                  <a:rPr lang="zh-CN" altLang="en-US" dirty="0"/>
                  <a:t>是满射。</a:t>
                </a:r>
              </a:p>
              <a:p>
                <a:pPr marL="0" indent="0">
                  <a:buNone/>
                </a:pPr>
                <a:r>
                  <a:rPr lang="zh-CN" altLang="en-US" dirty="0"/>
                  <a:t>即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∗∗</m:t>
                        </m:r>
                      </m:sup>
                    </m:sSup>
                    <m:r>
                      <a:rPr lang="en-US" altLang="zh-CN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zh-CN" altLang="en-US" dirty="0"/>
                  <a:t>    由于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zh-CN" altLang="en-US" dirty="0"/>
                  <a:t>本来就是等距线性的，所以这里的意思就是：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≅</m:t>
                    </m:r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∗∗</m:t>
                        </m:r>
                      </m:sup>
                    </m:sSup>
                  </m:oMath>
                </a14:m>
                <a:r>
                  <a:rPr lang="zh-CN" altLang="en-US" dirty="0"/>
                  <a:t> 作为 </a:t>
                </a:r>
                <a:r>
                  <a:rPr lang="en-US" altLang="zh-CN" dirty="0"/>
                  <a:t>Banach </a:t>
                </a:r>
                <a:r>
                  <a:rPr lang="zh-CN" altLang="en-US" dirty="0"/>
                  <a:t>空间同构（等距同构）。</a:t>
                </a:r>
              </a:p>
              <a:p>
                <a:pPr marL="0" indent="0">
                  <a:buNone/>
                </a:pPr>
                <a:endParaRPr lang="en-US" altLang="zh-CN" b="1" dirty="0"/>
              </a:p>
              <a:p>
                <a:pPr marL="0" indent="0">
                  <a:buNone/>
                </a:pPr>
                <a:r>
                  <a:rPr lang="zh-CN" altLang="en-US" b="1" dirty="0"/>
                  <a:t>直观理解</a:t>
                </a:r>
              </a:p>
              <a:p>
                <a:r>
                  <a:rPr lang="zh-CN" altLang="en-US" dirty="0"/>
                  <a:t>自反性就是在说：双对偶里没有出现“新的本质元素”；所有作用在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dirty="0"/>
                  <a:t>上的连续线性泛函，其实都已经来自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中某个点。</a:t>
                </a:r>
              </a:p>
              <a:p>
                <a:pPr marL="0" indent="0">
                  <a:buNone/>
                </a:pPr>
                <a:endParaRPr lang="ja-JP" altLang="en-US" dirty="0"/>
              </a:p>
              <a:p>
                <a:pPr marL="0" indent="0">
                  <a:buNone/>
                </a:pPr>
                <a:endParaRPr lang="ja-JP" altLang="en-US" dirty="0"/>
              </a:p>
              <a:p>
                <a:pPr marL="0" indent="0">
                  <a:buNone/>
                </a:pPr>
                <a:endParaRPr lang="ja-JP" altLang="en-US" dirty="0"/>
              </a:p>
              <a:p>
                <a:pPr marL="0" indent="0">
                  <a:buNone/>
                </a:pPr>
                <a:endParaRPr lang="zh-CN" altLang="en-US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2E17EE68-270E-0727-7AA0-9B517BA640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" y="1112520"/>
                <a:ext cx="12090400" cy="5440680"/>
              </a:xfrm>
              <a:blipFill>
                <a:blip r:embed="rId3"/>
                <a:stretch>
                  <a:fillRect l="-504" t="-1009" r="-353" b="-639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図 4">
            <a:extLst>
              <a:ext uri="{FF2B5EF4-FFF2-40B4-BE49-F238E27FC236}">
                <a16:creationId xmlns:a16="http://schemas.microsoft.com/office/drawing/2014/main" id="{5B8F2FF5-DEC0-70AA-B714-3188768068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8560" y="2567180"/>
            <a:ext cx="9834880" cy="1723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2677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F1D26-9186-E7BC-00F9-2E1A0C188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45B5F7CE-13B2-6BAF-02A3-F106505695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和完备性密切相关的“流形</a:t>
            </a:r>
            <a:r>
              <a:rPr lang="en-US" altLang="zh-CN" b="1" dirty="0"/>
              <a:t>/</a:t>
            </a:r>
            <a:r>
              <a:rPr lang="zh-CN" altLang="en-US" b="1" dirty="0"/>
              <a:t>对象”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894A3B82-08E3-746E-99CE-B199D04E87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dirty="0"/>
                  <a:t>有限维流形的思想是：一个空间整体上可能很弯曲，但在每个局部都像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dirty="0"/>
                  <a:t>。</a:t>
                </a:r>
              </a:p>
              <a:p>
                <a:pPr marL="0" indent="0">
                  <a:buNone/>
                </a:pPr>
                <a:r>
                  <a:rPr lang="zh-CN" altLang="en-US" dirty="0"/>
                  <a:t>无穷维流形：把局部模型空间从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dirty="0"/>
                  <a:t>换成某种无穷维线性空间，比如：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altLang="zh-CN" dirty="0"/>
                  <a:t>Banach </a:t>
                </a:r>
                <a:r>
                  <a:rPr lang="zh-CN" altLang="en-US" dirty="0"/>
                  <a:t>空间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altLang="zh-CN" dirty="0"/>
                  <a:t>Hilbert </a:t>
                </a:r>
                <a:r>
                  <a:rPr lang="zh-CN" altLang="en-US" dirty="0"/>
                  <a:t>空间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altLang="zh-CN" dirty="0"/>
                  <a:t>Fréchet </a:t>
                </a:r>
                <a:r>
                  <a:rPr lang="zh-CN" altLang="en-US" dirty="0"/>
                  <a:t>空间 </a:t>
                </a:r>
              </a:p>
              <a:p>
                <a:pPr marL="0" indent="0">
                  <a:buNone/>
                </a:pPr>
                <a:r>
                  <a:rPr lang="zh-CN" altLang="en-US" dirty="0"/>
                  <a:t>于是得到：</a:t>
                </a:r>
                <a:r>
                  <a:rPr lang="en-US" altLang="zh-CN" dirty="0"/>
                  <a:t>Banach </a:t>
                </a:r>
                <a:r>
                  <a:rPr lang="zh-CN" altLang="en-US" dirty="0"/>
                  <a:t>流形；</a:t>
                </a:r>
                <a:r>
                  <a:rPr lang="en-US" altLang="zh-CN" dirty="0"/>
                  <a:t>Hilbert </a:t>
                </a:r>
                <a:r>
                  <a:rPr lang="zh-CN" altLang="en-US" dirty="0"/>
                  <a:t>流形；</a:t>
                </a:r>
                <a:r>
                  <a:rPr lang="en-US" altLang="zh-CN" dirty="0"/>
                  <a:t>Fréchet </a:t>
                </a:r>
                <a:r>
                  <a:rPr lang="zh-CN" altLang="en-US" dirty="0"/>
                  <a:t>流形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这类对象在 </a:t>
                </a:r>
                <a:r>
                  <a:rPr lang="en-US" altLang="zh-CN" dirty="0"/>
                  <a:t>PDE</a:t>
                </a:r>
                <a:r>
                  <a:rPr lang="zh-CN" altLang="en-US" dirty="0"/>
                  <a:t>、几何分析、变分法、形状分析、最优控制、函数空间上的学习问题里都很自然，因为“点”本身常常就是一个函数、一个曲线、一个曲面、一个微分同胚、一个算子。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Banach </a:t>
                </a:r>
                <a:r>
                  <a:rPr lang="zh-CN" altLang="en-US" dirty="0"/>
                  <a:t>流形</a:t>
                </a:r>
              </a:p>
              <a:p>
                <a:r>
                  <a:rPr lang="zh-CN" altLang="en-US" dirty="0"/>
                  <a:t>局部模型空间是 </a:t>
                </a:r>
                <a:r>
                  <a:rPr lang="en-US" altLang="zh-CN" dirty="0"/>
                  <a:t>Banach </a:t>
                </a:r>
                <a:r>
                  <a:rPr lang="zh-CN" altLang="en-US" dirty="0"/>
                  <a:t>空间，所以局部坐标空间完备。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Hilbert </a:t>
                </a:r>
                <a:r>
                  <a:rPr lang="zh-CN" altLang="en-US" dirty="0"/>
                  <a:t>流形</a:t>
                </a:r>
              </a:p>
              <a:p>
                <a:r>
                  <a:rPr lang="zh-CN" altLang="en-US" dirty="0"/>
                  <a:t>局部模型空间是 </a:t>
                </a:r>
                <a:r>
                  <a:rPr lang="en-US" altLang="zh-CN" dirty="0"/>
                  <a:t>Hilbert </a:t>
                </a:r>
                <a:r>
                  <a:rPr lang="zh-CN" altLang="en-US" dirty="0"/>
                  <a:t>空间，所以也建立在完备空间上。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Fréchet </a:t>
                </a:r>
                <a:r>
                  <a:rPr lang="zh-CN" altLang="en-US" dirty="0"/>
                  <a:t>流形</a:t>
                </a:r>
              </a:p>
              <a:p>
                <a:r>
                  <a:rPr lang="zh-CN" altLang="en-US" dirty="0"/>
                  <a:t>局部模型空间是 </a:t>
                </a:r>
                <a:r>
                  <a:rPr lang="en-US" altLang="zh-CN" dirty="0"/>
                  <a:t>Fréchet </a:t>
                </a:r>
                <a:r>
                  <a:rPr lang="zh-CN" altLang="en-US" dirty="0"/>
                  <a:t>空间，因此也依赖完备性。</a:t>
                </a: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894A3B82-08E3-746E-99CE-B199D04E87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  <a:blipFill>
                <a:blip r:embed="rId3"/>
                <a:stretch>
                  <a:fillRect l="-526" t="-1009" b="-224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59657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A6133-C339-88CE-2534-4D5121E9F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433A4EB2-CC51-A62E-F7DD-51584D9531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1" dirty="0"/>
              <a:t>Banach </a:t>
            </a:r>
            <a:r>
              <a:rPr lang="zh-CN" altLang="en-US" b="1" dirty="0"/>
              <a:t>流形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DADB6707-2C00-DB44-2E55-A0558DB18E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dirty="0"/>
                  <a:t>一个 </a:t>
                </a:r>
                <a:r>
                  <a:rPr lang="en-US" altLang="zh-CN" b="1" dirty="0"/>
                  <a:t>Banach </a:t>
                </a:r>
                <a:r>
                  <a:rPr lang="zh-CN" altLang="en-US" b="1" dirty="0"/>
                  <a:t>流形</a:t>
                </a:r>
                <a:r>
                  <a:rPr lang="zh-CN" altLang="en-US" dirty="0"/>
                  <a:t> 是一个拓扑空间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zh-CN" altLang="en-US" dirty="0"/>
                  <a:t>，满足：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每个点附近都有一个坐标图 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坐标图把局部邻域同胚到某个 </a:t>
                </a:r>
                <a:r>
                  <a:rPr lang="en-US" altLang="zh-CN" dirty="0"/>
                  <a:t>Banach </a:t>
                </a:r>
                <a:r>
                  <a:rPr lang="zh-CN" altLang="en-US" dirty="0"/>
                  <a:t>空间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的开集 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不同坐标图之间的过渡映射是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zh-CN" altLang="en-US" dirty="0"/>
                  <a:t>的（通常至少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zh-CN" altLang="en-US" dirty="0"/>
                  <a:t>）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: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⊂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d>
                    <m:r>
                      <a:rPr lang="zh-CN" altLang="en-US">
                        <a:latin typeface="Cambria Math" panose="02040503050406030204" pitchFamily="18" charset="0"/>
                      </a:rPr>
                      <m:t>⊂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是 </a:t>
                </a:r>
                <a:r>
                  <a:rPr lang="en-US" altLang="zh-CN" dirty="0"/>
                  <a:t>Banach </a:t>
                </a:r>
                <a:r>
                  <a:rPr lang="zh-CN" altLang="en-US" dirty="0"/>
                  <a:t>空间。</a:t>
                </a:r>
              </a:p>
              <a:p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Banach </a:t>
                </a:r>
                <a:r>
                  <a:rPr lang="zh-CN" altLang="en-US" dirty="0"/>
                  <a:t>流形是无穷维微分几何中最容易的一类，</a:t>
                </a:r>
                <a:r>
                  <a:rPr lang="en-US" altLang="zh-CN" dirty="0"/>
                  <a:t>Banach </a:t>
                </a:r>
                <a:r>
                  <a:rPr lang="zh-CN" altLang="en-US" dirty="0"/>
                  <a:t>空间里很多有限维分析工具仍然成立，例如</a:t>
                </a:r>
              </a:p>
              <a:p>
                <a:r>
                  <a:rPr lang="zh-CN" altLang="en-US" dirty="0"/>
                  <a:t>逆函数定理 </a:t>
                </a:r>
              </a:p>
              <a:p>
                <a:r>
                  <a:rPr lang="zh-CN" altLang="en-US" dirty="0"/>
                  <a:t>隐函数定理 </a:t>
                </a:r>
              </a:p>
              <a:p>
                <a:r>
                  <a:rPr lang="zh-CN" altLang="en-US" dirty="0"/>
                  <a:t>常微分方程局部解理论 </a:t>
                </a:r>
              </a:p>
              <a:p>
                <a:r>
                  <a:rPr lang="zh-CN" altLang="en-US" dirty="0"/>
                  <a:t>微分同胚群局部分析中的很多基本工具 </a:t>
                </a:r>
                <a:endParaRPr lang="en-US" altLang="zh-CN" dirty="0"/>
              </a:p>
              <a:p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（在机器学习里，真正“显式以 </a:t>
                </a:r>
                <a:r>
                  <a:rPr lang="en-US" altLang="zh-CN" dirty="0"/>
                  <a:t>Banach </a:t>
                </a:r>
                <a:r>
                  <a:rPr lang="zh-CN" altLang="en-US" dirty="0"/>
                  <a:t>流形为基础语言”来写的工作，不如 </a:t>
                </a:r>
                <a:r>
                  <a:rPr lang="en-US" altLang="zh-CN" dirty="0"/>
                  <a:t>Hilbert </a:t>
                </a:r>
                <a:r>
                  <a:rPr lang="zh-CN" altLang="en-US" dirty="0"/>
                  <a:t>流形、有限维流形、黎曼流形那样常见；但如果从“参数空间</a:t>
                </a:r>
                <a:r>
                  <a:rPr lang="en-US" altLang="zh-CN" dirty="0"/>
                  <a:t>/</a:t>
                </a:r>
                <a:r>
                  <a:rPr lang="zh-CN" altLang="en-US" dirty="0"/>
                  <a:t>函数空间</a:t>
                </a:r>
                <a:r>
                  <a:rPr lang="en-US" altLang="zh-CN" dirty="0"/>
                  <a:t>/</a:t>
                </a:r>
                <a:r>
                  <a:rPr lang="zh-CN" altLang="en-US" dirty="0"/>
                  <a:t>约束空间本身的几何结构”来看，很多常见对象都可以自然看成 </a:t>
                </a:r>
                <a:r>
                  <a:rPr lang="en-US" altLang="zh-CN" dirty="0"/>
                  <a:t>Banach </a:t>
                </a:r>
                <a:r>
                  <a:rPr lang="zh-CN" altLang="en-US" dirty="0"/>
                  <a:t>流形 或 </a:t>
                </a:r>
                <a:r>
                  <a:rPr lang="en-US" altLang="zh-CN" dirty="0"/>
                  <a:t>Banach </a:t>
                </a:r>
                <a:r>
                  <a:rPr lang="zh-CN" altLang="en-US" dirty="0"/>
                  <a:t>流形上的开子流形 </a:t>
                </a:r>
                <a:r>
                  <a:rPr lang="en-US" altLang="zh-CN" dirty="0"/>
                  <a:t>/ </a:t>
                </a:r>
                <a:r>
                  <a:rPr lang="zh-CN" altLang="en-US" dirty="0"/>
                  <a:t>子流形。）</a:t>
                </a: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DADB6707-2C00-DB44-2E55-A0558DB18E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  <a:blipFill>
                <a:blip r:embed="rId3"/>
                <a:stretch>
                  <a:fillRect l="-526" t="-1009" r="-52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45921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B96AC-5E1A-516E-FA27-D7B222CA1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8D266ECF-B8AF-43FC-6E90-CB83D995B5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b="1" dirty="0"/>
              <a:t>机器学习中的 </a:t>
            </a:r>
            <a:r>
              <a:rPr lang="en-US" altLang="zh-CN" b="1" dirty="0"/>
              <a:t>Banach </a:t>
            </a:r>
            <a:r>
              <a:rPr lang="zh-CN" altLang="en-US" b="1" dirty="0"/>
              <a:t>流形（</a:t>
            </a:r>
            <a:r>
              <a:rPr lang="en-US" altLang="zh-CN" b="1" dirty="0"/>
              <a:t>1</a:t>
            </a:r>
            <a:r>
              <a:rPr lang="zh-CN" altLang="en-US" b="1" dirty="0"/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6AC8B10A-61A3-A8F0-A368-89EEE984F4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4800" y="1112520"/>
                <a:ext cx="1158240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ja-JP" altLang="en-US" b="1" dirty="0"/>
                  <a:t>可逆神经网络 </a:t>
                </a:r>
                <a:r>
                  <a:rPr lang="en-US" altLang="ja-JP" b="1" dirty="0"/>
                  <a:t>/ </a:t>
                </a:r>
                <a:r>
                  <a:rPr lang="ja-JP" altLang="en-US" b="1" dirty="0"/>
                  <a:t>连续归一化流里：微分同胚群附近的 </a:t>
                </a:r>
                <a:r>
                  <a:rPr lang="en-US" altLang="ja-JP" b="1" dirty="0"/>
                  <a:t>Banach </a:t>
                </a:r>
                <a:r>
                  <a:rPr lang="ja-JP" altLang="en-US" b="1" dirty="0"/>
                  <a:t>流形</a:t>
                </a:r>
              </a:p>
              <a:p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ja-JP">
                        <a:latin typeface="Cambria Math" panose="02040503050406030204" pitchFamily="18" charset="0"/>
                      </a:rPr>
                      <m:t>Ω</m:t>
                    </m:r>
                    <m:r>
                      <a:rPr lang="el-GR" altLang="ja-JP">
                        <a:latin typeface="Cambria Math" panose="02040503050406030204" pitchFamily="18" charset="0"/>
                      </a:rPr>
                      <m:t>⊂</m:t>
                    </m:r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ja-JP" altLang="en-US" dirty="0"/>
                  <a:t>是一个有界区域。考虑足够光滑的映射空间，例如</a:t>
                </a:r>
                <a14:m>
                  <m:oMath xmlns:m="http://schemas.openxmlformats.org/officeDocument/2006/math"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d>
                      <m:dPr>
                        <m:sepChr m:val=","/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altLang="ja-JP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e>
                        <m:sSup>
                          <m:sSup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dirty="0"/>
                  <a:t>，</a:t>
                </a:r>
                <a:r>
                  <a:rPr lang="ja-JP" altLang="en-US" dirty="0"/>
                  <a:t>它本身是一个 </a:t>
                </a:r>
                <a:r>
                  <a:rPr lang="en-US" altLang="ja-JP" dirty="0"/>
                  <a:t>Banach </a:t>
                </a:r>
                <a:r>
                  <a:rPr lang="ja-JP" altLang="en-US" dirty="0"/>
                  <a:t>空间（用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ja-JP" altLang="en-US" dirty="0"/>
                  <a:t>范数）。在这里面，可逆且逆也足够光滑的映射组成的集合，例如</a:t>
                </a:r>
                <a14:m>
                  <m:oMath xmlns:m="http://schemas.openxmlformats.org/officeDocument/2006/math"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Diff</m:t>
                        </m:r>
                      </m:e>
                      <m:sup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altLang="ja-JP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d>
                  </m:oMath>
                </a14:m>
                <a:r>
                  <a:rPr lang="ja-JP" altLang="en-US" dirty="0"/>
                  <a:t> 在合适条件下可看成 </a:t>
                </a:r>
                <a:r>
                  <a:rPr lang="en-US" altLang="ja-JP" dirty="0"/>
                  <a:t>Banach </a:t>
                </a:r>
                <a:r>
                  <a:rPr lang="ja-JP" altLang="en-US" dirty="0"/>
                  <a:t>流形，甚至常常是 </a:t>
                </a:r>
                <a:r>
                  <a:rPr lang="en-US" altLang="ja-JP" dirty="0"/>
                  <a:t>Banach–Lie </a:t>
                </a:r>
                <a:r>
                  <a:rPr lang="ja-JP" altLang="en-US" dirty="0"/>
                  <a:t>群。</a:t>
                </a:r>
              </a:p>
              <a:p>
                <a:pPr marL="0" indent="0">
                  <a:buNone/>
                </a:pPr>
                <a:endParaRPr lang="en-US" altLang="ja-JP" b="1" dirty="0"/>
              </a:p>
              <a:p>
                <a:pPr marL="0" indent="0">
                  <a:buNone/>
                </a:pPr>
                <a:r>
                  <a:rPr lang="ja-JP" altLang="en-US" b="1" dirty="0"/>
                  <a:t>机器学习里的对应</a:t>
                </a:r>
                <a:r>
                  <a:rPr lang="zh-CN" altLang="en-US" b="1" dirty="0"/>
                  <a:t>：</a:t>
                </a:r>
                <a:r>
                  <a:rPr lang="ja-JP" altLang="en-US" dirty="0"/>
                  <a:t>和下面几类模型直接有关</a:t>
                </a:r>
                <a:r>
                  <a:rPr lang="zh-CN" altLang="en-US" dirty="0"/>
                  <a:t>。</a:t>
                </a:r>
                <a:endParaRPr lang="ja-JP" altLang="en-US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altLang="ja-JP" dirty="0"/>
                  <a:t>normalizing flows 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altLang="ja-JP" dirty="0"/>
                  <a:t>invertible neural networks 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altLang="ja-JP" dirty="0"/>
                  <a:t>continuous flows / neural ODE flows 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altLang="ja-JP" dirty="0"/>
                  <a:t>image registration / diffeomorphic matching </a:t>
                </a:r>
              </a:p>
              <a:p>
                <a:endParaRPr lang="en-US" altLang="ja-JP" b="1" dirty="0"/>
              </a:p>
              <a:p>
                <a:pPr marL="0" indent="0">
                  <a:buNone/>
                </a:pPr>
                <a:r>
                  <a:rPr lang="ja-JP" altLang="en-US" dirty="0"/>
                  <a:t>这些模型本质上在学习一个可逆变换</a:t>
                </a:r>
                <a14:m>
                  <m:oMath xmlns:m="http://schemas.openxmlformats.org/officeDocument/2006/math"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l-GR" altLang="ja-JP">
                        <a:latin typeface="Cambria Math" panose="02040503050406030204" pitchFamily="18" charset="0"/>
                      </a:rPr>
                      <m:t>Ω</m:t>
                    </m:r>
                    <m:r>
                      <a:rPr lang="el-GR" altLang="ja-JP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l-GR" altLang="ja-JP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ja-JP" altLang="en-US" dirty="0"/>
                  <a:t>把简单分布推到复杂分布，或者把一个图像</a:t>
                </a:r>
                <a:r>
                  <a:rPr lang="en-US" altLang="ja-JP" dirty="0"/>
                  <a:t>/</a:t>
                </a:r>
                <a:r>
                  <a:rPr lang="ja-JP" altLang="en-US" dirty="0"/>
                  <a:t>形状变成另一个。如果把“所有允许的可逆变换”看成参数空间，它天然不是线性空间，但可以视作 </a:t>
                </a:r>
                <a:r>
                  <a:rPr lang="en-US" altLang="ja-JP" dirty="0"/>
                  <a:t>Banach </a:t>
                </a:r>
                <a:r>
                  <a:rPr lang="ja-JP" altLang="en-US" dirty="0"/>
                  <a:t>流形。</a:t>
                </a: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6AC8B10A-61A3-A8F0-A368-89EEE984F4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112520"/>
                <a:ext cx="11582400" cy="5440680"/>
              </a:xfrm>
              <a:blipFill>
                <a:blip r:embed="rId3"/>
                <a:stretch>
                  <a:fillRect l="-526" t="-1009" r="-526" b="-201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85556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E8CCB-063D-F458-5B2E-EB1BDB1CA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109B3EEB-1026-2F82-62BF-877600B2FF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b="1" dirty="0"/>
              <a:t>机器学习中的 </a:t>
            </a:r>
            <a:r>
              <a:rPr lang="en-US" altLang="zh-CN" b="1" dirty="0"/>
              <a:t>Banach </a:t>
            </a:r>
            <a:r>
              <a:rPr lang="zh-CN" altLang="en-US" b="1" dirty="0"/>
              <a:t>流形（</a:t>
            </a:r>
            <a:r>
              <a:rPr lang="en-US" altLang="zh-CN" b="1" dirty="0"/>
              <a:t>2</a:t>
            </a:r>
            <a:r>
              <a:rPr lang="zh-CN" altLang="en-US" b="1" dirty="0"/>
              <a:t>）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84DA53F3-AC53-5B22-D101-C4E66FB4C1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4800" y="1112520"/>
                <a:ext cx="11582400" cy="5440680"/>
              </a:xfrm>
            </p:spPr>
            <p:txBody>
              <a:bodyPr/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b="1" dirty="0"/>
                  <a:t>概率密度函数空间：正函数集合是 </a:t>
                </a:r>
                <a:r>
                  <a:rPr lang="en-US" altLang="zh-CN" b="1" dirty="0"/>
                  <a:t>Banach </a:t>
                </a:r>
                <a:r>
                  <a:rPr lang="zh-CN" altLang="en-US" b="1" dirty="0"/>
                  <a:t>空间中的开子流形</a:t>
                </a:r>
                <a:endParaRPr lang="en-US" altLang="ja-JP" b="1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ja-JP" altLang="en-US" dirty="0"/>
                  <a:t>考虑连续函数空间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altLang="ja-JP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d>
                  </m:oMath>
                </a14:m>
                <a:r>
                  <a:rPr lang="ja-JP" altLang="en-US" dirty="0"/>
                  <a:t>或更光滑的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altLang="ja-JP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d>
                  </m:oMath>
                </a14:m>
                <a:r>
                  <a:rPr lang="ja-JP" altLang="ar-AE" dirty="0"/>
                  <a:t>。</a:t>
                </a:r>
                <a:r>
                  <a:rPr lang="ja-JP" altLang="en-US" dirty="0"/>
                  <a:t>它们是 </a:t>
                </a:r>
                <a:r>
                  <a:rPr lang="en-US" altLang="ja-JP" dirty="0"/>
                  <a:t>Banach </a:t>
                </a:r>
                <a:r>
                  <a:rPr lang="ja-JP" altLang="en-US" dirty="0"/>
                  <a:t>空间。其中“严格正的函数”集合</a:t>
                </a:r>
                <a:endParaRPr lang="en-US" altLang="ja-JP" i="1" dirty="0"/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𝐶</m:t>
                      </m:r>
                      <m:sSub>
                        <m:sSubPr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ar-AE" altLang="ja-JP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l-GR" altLang="ja-JP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</m:d>
                        </m:e>
                        <m:sub>
                          <m:r>
                            <a:rPr lang="ar-AE" altLang="ja-JP"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ar-AE" altLang="ja-JP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 altLang="ja-JP" i="1" smtClean="0">
                          <a:latin typeface="Cambria Math" panose="02040503050406030204" pitchFamily="18" charset="0"/>
                        </a:rPr>
                        <m:t>≔{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ar-AE" altLang="ja-JP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ja-JP" altLang="ar-AE" i="1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altLang="ja-JP"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</m:d>
                      <m:r>
                        <a:rPr lang="ar-AE" altLang="ja-JP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ja-JP" altLang="ar-AE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 altLang="ja-JP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ar-AE" altLang="ja-JP">
                          <a:latin typeface="Cambria Math" panose="020405030504060302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en-US" altLang="ja-JP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ar-AE" altLang="ja-JP" i="1"/>
                        <m:t> </m:t>
                      </m:r>
                      <m:r>
                        <a:rPr lang="ar-AE" altLang="ja-JP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ja-JP" altLang="ar-AE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 altLang="ja-JP"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l-GR" altLang="ja-JP"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ar-AE" altLang="ja-JP" b="0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ja-JP" altLang="en-US" dirty="0"/>
                  <a:t>是一个开集，因此本身就是一个 </a:t>
                </a:r>
                <a:r>
                  <a:rPr lang="en-US" altLang="ja-JP" dirty="0"/>
                  <a:t>Banach </a:t>
                </a:r>
                <a:r>
                  <a:rPr lang="ja-JP" altLang="en-US" dirty="0"/>
                  <a:t>流形（其实就是 </a:t>
                </a:r>
                <a:r>
                  <a:rPr lang="en-US" altLang="ja-JP" dirty="0"/>
                  <a:t>Banach </a:t>
                </a:r>
                <a:r>
                  <a:rPr lang="ja-JP" altLang="en-US" dirty="0"/>
                  <a:t>空间中的开子集）。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ja-JP" altLang="en-US" dirty="0"/>
                  <a:t>再加上归一化条件</a:t>
                </a:r>
                <a14:m>
                  <m:oMath xmlns:m="http://schemas.openxmlformats.org/officeDocument/2006/math">
                    <m:nary>
                      <m:naryPr>
                        <m:grow m:val="on"/>
                        <m:supHide m:val="on"/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l-GR" altLang="ja-JP">
                            <a:latin typeface="Cambria Math" panose="02040503050406030204" pitchFamily="18" charset="0"/>
                          </a:rPr>
                          <m:t>Ω</m:t>
                        </m:r>
                      </m:sub>
                      <m:sup/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nor/>
                      </m:rPr>
                      <a:rPr lang="ar-AE" altLang="ja-JP" i="1"/>
                      <m:t> 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ja-JP" altLang="en-US" dirty="0"/>
                  <a:t> 那么得到概率密度集合</a:t>
                </a:r>
                <a14:m>
                  <m:oMath xmlns:m="http://schemas.openxmlformats.org/officeDocument/2006/math"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𝒫</m:t>
                    </m:r>
                    <m:r>
                      <a:rPr lang="en-US" altLang="ja-JP" i="1" smtClean="0">
                        <a:latin typeface="Cambria Math" panose="02040503050406030204" pitchFamily="18" charset="0"/>
                      </a:rPr>
                      <m:t>≔{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∈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altLang="ja-JP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: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&gt;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nor/>
                      </m:rPr>
                      <a:rPr lang="en-US" altLang="ja-JP" b="0" i="1" smtClean="0"/>
                      <m:t>,</m:t>
                    </m:r>
                    <m:nary>
                      <m:naryPr>
                        <m:grow m:val="on"/>
                        <m:supHide m:val="on"/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l-GR" altLang="ja-JP">
                            <a:latin typeface="Cambria Math" panose="02040503050406030204" pitchFamily="18" charset="0"/>
                          </a:rPr>
                          <m:t>Ω</m:t>
                        </m:r>
                      </m:sub>
                      <m:sup/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}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altLang="ja-JP" b="0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ja-JP" altLang="en-US" dirty="0"/>
                  <a:t>可以看成一个 </a:t>
                </a:r>
                <a:r>
                  <a:rPr lang="en-US" altLang="ja-JP" b="1" dirty="0"/>
                  <a:t>Banach </a:t>
                </a:r>
                <a:r>
                  <a:rPr lang="ja-JP" altLang="en-US" b="1" dirty="0"/>
                  <a:t>流形中的余维 </a:t>
                </a:r>
                <a:r>
                  <a:rPr lang="en-US" altLang="ja-JP" b="1" dirty="0"/>
                  <a:t>1 </a:t>
                </a:r>
                <a:r>
                  <a:rPr lang="ja-JP" altLang="en-US" b="1" dirty="0"/>
                  <a:t>子流形</a:t>
                </a:r>
                <a:r>
                  <a:rPr lang="zh-CN" altLang="en-US" dirty="0"/>
                  <a:t>（一个标量约束）</a:t>
                </a:r>
                <a:r>
                  <a:rPr lang="ja-JP" altLang="en-US" dirty="0"/>
                  <a:t>。</a:t>
                </a:r>
              </a:p>
              <a:p>
                <a:pPr>
                  <a:lnSpc>
                    <a:spcPct val="110000"/>
                  </a:lnSpc>
                </a:pPr>
                <a:endParaRPr lang="en-US" altLang="ja-JP" sz="500" b="1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ja-JP" altLang="en-US" b="1" dirty="0"/>
                  <a:t>机器学习里的对应</a:t>
                </a:r>
                <a:r>
                  <a:rPr lang="ja-JP" altLang="en-US" dirty="0"/>
                  <a:t>：</a:t>
                </a:r>
              </a:p>
              <a:p>
                <a:pPr lvl="1"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ja-JP" dirty="0"/>
                  <a:t>density estimation </a:t>
                </a:r>
              </a:p>
              <a:p>
                <a:pPr lvl="1"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ja-JP" dirty="0"/>
                  <a:t>score-based modeling </a:t>
                </a:r>
              </a:p>
              <a:p>
                <a:pPr lvl="1"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ja-JP" dirty="0"/>
                  <a:t>variational inference </a:t>
                </a:r>
              </a:p>
              <a:p>
                <a:pPr lvl="1"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ja-JP" dirty="0"/>
                  <a:t>generative modeling </a:t>
                </a:r>
              </a:p>
              <a:p>
                <a:pPr lvl="1"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ja-JP" dirty="0"/>
                  <a:t>information geometry </a:t>
                </a:r>
                <a:r>
                  <a:rPr lang="ja-JP" altLang="en-US" dirty="0"/>
                  <a:t>的无限维版本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dirty="0"/>
                  <a:t>“正性”是开条件，“积分等于 </a:t>
                </a:r>
                <a:r>
                  <a:rPr lang="en-US" altLang="zh-CN" dirty="0"/>
                  <a:t>1”</a:t>
                </a:r>
                <a:r>
                  <a:rPr lang="zh-CN" altLang="en-US" dirty="0"/>
                  <a:t>是一个光滑约束，所以这个集合不是线性空间，但局部上像某个 </a:t>
                </a:r>
                <a:r>
                  <a:rPr lang="en-US" altLang="zh-CN" dirty="0"/>
                  <a:t>Banach </a:t>
                </a:r>
                <a:r>
                  <a:rPr lang="zh-CN" altLang="en-US" dirty="0"/>
                  <a:t>空间的闭超平面。</a:t>
                </a:r>
                <a:endParaRPr lang="en-US" altLang="zh-CN" dirty="0"/>
              </a:p>
              <a:p>
                <a:pPr>
                  <a:lnSpc>
                    <a:spcPct val="110000"/>
                  </a:lnSpc>
                </a:pPr>
                <a:endParaRPr lang="ja-JP" altLang="en-US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ja-JP" altLang="en-US" dirty="0"/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84DA53F3-AC53-5B22-D101-C4E66FB4C1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112520"/>
                <a:ext cx="11582400" cy="5440680"/>
              </a:xfrm>
              <a:blipFill>
                <a:blip r:embed="rId3"/>
                <a:stretch>
                  <a:fillRect l="-526" t="-897" b="-49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563D90D5-B1AD-C1A9-CAD7-0983C2387A92}"/>
                  </a:ext>
                </a:extLst>
              </p:cNvPr>
              <p:cNvSpPr txBox="1"/>
              <p:nvPr/>
            </p:nvSpPr>
            <p:spPr>
              <a:xfrm>
                <a:off x="5400040" y="3908862"/>
                <a:ext cx="6106160" cy="17021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ja-JP" altLang="en-US" b="1" dirty="0"/>
                  <a:t>可用切空间表达</a:t>
                </a:r>
              </a:p>
              <a:p>
                <a:r>
                  <a:rPr lang="ja-JP" altLang="en-US" dirty="0"/>
                  <a:t>在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∈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𝒫</m:t>
                    </m:r>
                  </m:oMath>
                </a14:m>
                <a:r>
                  <a:rPr lang="ja-JP" altLang="en-US" dirty="0"/>
                  <a:t>处，切空间常写成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ja-JP" altLang="ar-AE">
                          <a:latin typeface="Cambria Math" panose="02040503050406030204" pitchFamily="18" charset="0"/>
                        </a:rPr>
                        <m:t>𝒫</m:t>
                      </m:r>
                      <m:r>
                        <a:rPr lang="ja-JP" altLang="ar-AE">
                          <a:latin typeface="Cambria Math" panose="02040503050406030204" pitchFamily="18" charset="0"/>
                        </a:rPr>
                        <m:t>≅</m:t>
                      </m:r>
                      <m:d>
                        <m:dPr>
                          <m:begChr m:val="{"/>
                          <m:endChr m:val="}"/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altLang="ja-JP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ar-AE" altLang="ja-JP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ar-AE" altLang="ja-JP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l-GR" altLang="ja-JP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</m:d>
                          <m:r>
                            <a:rPr lang="ar-AE" altLang="ja-JP">
                              <a:latin typeface="Cambria Math" panose="02040503050406030204" pitchFamily="18" charset="0"/>
                            </a:rPr>
                            <m:t>:</m:t>
                          </m:r>
                          <m:nary>
                            <m:naryPr>
                              <m:grow m:val="on"/>
                              <m:supHide m:val="on"/>
                              <m:ctrlPr>
                                <a:rPr lang="ar-AE" altLang="ja-JP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</m:rPr>
                                <a:rPr lang="el-GR" altLang="ja-JP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sub>
                            <m:sup/>
                            <m:e>
                              <m:r>
                                <a:rPr lang="ar-AE" altLang="ja-JP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nary>
                          <m:d>
                            <m:dPr>
                              <m:ctrlPr>
                                <a:rPr lang="ar-AE" altLang="ja-JP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ja-JP" alt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ar-AE" altLang="ja-JP" i="1"/>
                            <m:t> </m:t>
                          </m:r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ar-AE" altLang="ja-JP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altLang="ja-JP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ar-AE" altLang="ja-JP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ar-AE" altLang="ja-JP" b="0" dirty="0"/>
              </a:p>
              <a:p>
                <a:r>
                  <a:rPr lang="ja-JP" altLang="en-US" dirty="0"/>
                  <a:t>切向量就是“总质量守恒的一阶扰动”。</a:t>
                </a:r>
              </a:p>
            </p:txBody>
          </p:sp>
        </mc:Choice>
        <mc:Fallback xmlns="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563D90D5-B1AD-C1A9-CAD7-0983C2387A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0040" y="3908862"/>
                <a:ext cx="6106160" cy="1702197"/>
              </a:xfrm>
              <a:prstGeom prst="rect">
                <a:avLst/>
              </a:prstGeom>
              <a:blipFill>
                <a:blip r:embed="rId4"/>
                <a:stretch>
                  <a:fillRect l="-1098" t="-2867" b="-573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20883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24557-CEB0-A471-D8AA-7B19C0944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90E046D1-8CD5-451D-306F-AED0E923F2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b="1" dirty="0"/>
              <a:t>机器学习中的 </a:t>
            </a:r>
            <a:r>
              <a:rPr lang="en-US" altLang="zh-CN" b="1" dirty="0"/>
              <a:t>Banach </a:t>
            </a:r>
            <a:r>
              <a:rPr lang="zh-CN" altLang="en-US" b="1" dirty="0"/>
              <a:t>流形（</a:t>
            </a:r>
            <a:r>
              <a:rPr lang="en-US" altLang="zh-CN" b="1" dirty="0"/>
              <a:t>3</a:t>
            </a:r>
            <a:r>
              <a:rPr lang="zh-CN" altLang="en-US" b="1" dirty="0"/>
              <a:t>）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C544AC5E-FE09-74F2-9DDB-783957BC95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4800" y="1112520"/>
                <a:ext cx="11755120" cy="5440680"/>
              </a:xfrm>
            </p:spPr>
            <p:txBody>
              <a:bodyPr/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b="1" dirty="0"/>
                  <a:t>低秩矩阵 </a:t>
                </a:r>
                <a:r>
                  <a:rPr lang="en-US" altLang="zh-CN" b="1" dirty="0"/>
                  <a:t>/ </a:t>
                </a:r>
                <a:r>
                  <a:rPr lang="zh-CN" altLang="en-US" b="1" dirty="0"/>
                  <a:t>低秩算子集合：有限维时是流形，算子版常是 </a:t>
                </a:r>
                <a:r>
                  <a:rPr lang="en-US" altLang="zh-CN" b="1" dirty="0"/>
                  <a:t>Banach </a:t>
                </a:r>
                <a:r>
                  <a:rPr lang="zh-CN" altLang="en-US" b="1" dirty="0"/>
                  <a:t>流形</a:t>
                </a:r>
                <a:endParaRPr lang="en-US" altLang="ja-JP" b="1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ja-JP" altLang="en-US" dirty="0"/>
                  <a:t>有限维里，固定秩矩阵集合是经典光滑流形。无限维时，考虑两个 </a:t>
                </a:r>
                <a:r>
                  <a:rPr lang="en-US" altLang="ja-JP" dirty="0"/>
                  <a:t>Banach </a:t>
                </a:r>
                <a:r>
                  <a:rPr lang="ja-JP" altLang="en-US" dirty="0"/>
                  <a:t>空间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,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ja-JP" altLang="en-US" dirty="0"/>
                  <a:t>之间的有界线性算子空间</a:t>
                </a:r>
                <a14:m>
                  <m:oMath xmlns:m="http://schemas.openxmlformats.org/officeDocument/2006/math">
                    <m:r>
                      <a:rPr lang="en-US" altLang="ja-JP"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sepChr m:val=","/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zh-CN" altLang="en-US" dirty="0"/>
                  <a:t>，</a:t>
                </a:r>
                <a:r>
                  <a:rPr lang="ja-JP" altLang="en-US" dirty="0"/>
                  <a:t>这是 </a:t>
                </a:r>
                <a:r>
                  <a:rPr lang="en-US" altLang="ja-JP" dirty="0"/>
                  <a:t>Banach </a:t>
                </a:r>
                <a:r>
                  <a:rPr lang="ja-JP" altLang="en-US" dirty="0"/>
                  <a:t>空间。其中某些“固定有限秩”的算子集合、或某些 </a:t>
                </a:r>
                <a:r>
                  <a:rPr lang="en-US" altLang="ja-JP" dirty="0"/>
                  <a:t>Fredholm </a:t>
                </a:r>
                <a:r>
                  <a:rPr lang="ja-JP" altLang="en-US" dirty="0"/>
                  <a:t>算子类</a:t>
                </a:r>
                <a:r>
                  <a:rPr lang="zh-CN" altLang="en-US" dirty="0"/>
                  <a:t>（一类在无限维空间中“接近有限维可逆”的线性算子，允许算子不是完全可逆，但失败只发生在有限维方向上）</a:t>
                </a:r>
                <a:r>
                  <a:rPr lang="ja-JP" altLang="en-US" dirty="0"/>
                  <a:t>，在合适条件下可形成 </a:t>
                </a:r>
                <a:r>
                  <a:rPr lang="en-US" altLang="ja-JP" dirty="0"/>
                  <a:t>Banach </a:t>
                </a:r>
                <a:r>
                  <a:rPr lang="ja-JP" altLang="en-US" dirty="0"/>
                  <a:t>流形或其开子集。</a:t>
                </a:r>
                <a:endParaRPr lang="en-US" altLang="ja-JP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ja-JP" altLang="en-US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ja-JP" altLang="en-US" b="1" dirty="0"/>
                  <a:t>机器学习里的对应</a:t>
                </a:r>
              </a:p>
              <a:p>
                <a:pPr lvl="1"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ja-JP" dirty="0"/>
                  <a:t>low-rank learning </a:t>
                </a:r>
              </a:p>
              <a:p>
                <a:pPr lvl="1"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ja-JP" dirty="0"/>
                  <a:t>matrix/tensor factorization </a:t>
                </a:r>
                <a:r>
                  <a:rPr lang="ja-JP" altLang="en-US" dirty="0"/>
                  <a:t>的无限维推广 </a:t>
                </a:r>
              </a:p>
              <a:p>
                <a:pPr lvl="1"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ja-JP" dirty="0"/>
                  <a:t>operator learning </a:t>
                </a:r>
              </a:p>
              <a:p>
                <a:pPr lvl="1"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ja-JP" dirty="0"/>
                  <a:t>kernel integral operators </a:t>
                </a:r>
              </a:p>
              <a:p>
                <a:pPr lvl="1"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ja-JP" dirty="0"/>
                  <a:t>reduced-order models 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altLang="ja-JP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ja-JP" altLang="en-US" dirty="0"/>
                  <a:t>如果把“模型”看成算子而不是有限向量，那么某些结构约束类不再是线性子空间，但可以有流形结构</a:t>
                </a:r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C544AC5E-FE09-74F2-9DDB-783957BC95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112520"/>
                <a:ext cx="11755120" cy="5440680"/>
              </a:xfrm>
              <a:blipFill>
                <a:blip r:embed="rId3"/>
                <a:stretch>
                  <a:fillRect l="-519" t="-897" b="-33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16952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E41B3-127A-9630-72E0-411469021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E32505FB-D296-C942-C753-767FE918A2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b="1" dirty="0"/>
              <a:t>机器学习中的 </a:t>
            </a:r>
            <a:r>
              <a:rPr lang="en-US" altLang="zh-CN" b="1" dirty="0"/>
              <a:t>Banach </a:t>
            </a:r>
            <a:r>
              <a:rPr lang="zh-CN" altLang="en-US" b="1" dirty="0"/>
              <a:t>流形（</a:t>
            </a:r>
            <a:r>
              <a:rPr lang="en-US" altLang="zh-CN" b="1" dirty="0"/>
              <a:t>4</a:t>
            </a:r>
            <a:r>
              <a:rPr lang="zh-CN" altLang="en-US" b="1" dirty="0"/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6DA38BFC-B73F-3F85-39E3-4E7A0FDE45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4800" y="1112520"/>
                <a:ext cx="11755120" cy="5440680"/>
              </a:xfrm>
            </p:spPr>
            <p:txBody>
              <a:bodyPr/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b="1" dirty="0"/>
                  <a:t>核方法与算子学习中：可逆</a:t>
                </a:r>
                <a:r>
                  <a:rPr lang="en-US" altLang="zh-CN" b="1" dirty="0"/>
                  <a:t>/</a:t>
                </a:r>
                <a:r>
                  <a:rPr lang="zh-CN" altLang="en-US" b="1" dirty="0"/>
                  <a:t>正定算子集合的 </a:t>
                </a:r>
                <a:r>
                  <a:rPr lang="en-US" altLang="zh-CN" b="1" dirty="0"/>
                  <a:t>Banach </a:t>
                </a:r>
                <a:r>
                  <a:rPr lang="zh-CN" altLang="en-US" b="1" dirty="0"/>
                  <a:t>流形结构</a:t>
                </a:r>
                <a:endParaRPr lang="en-US" altLang="ja-JP" b="1" dirty="0"/>
              </a:p>
              <a:p>
                <a:pPr marL="0" indent="0">
                  <a:buNone/>
                </a:pPr>
                <a:r>
                  <a:rPr lang="ja-JP" altLang="en-US" dirty="0"/>
                  <a:t>考虑一个 </a:t>
                </a:r>
                <a:r>
                  <a:rPr lang="en-US" altLang="ja-JP" dirty="0"/>
                  <a:t>Banach </a:t>
                </a:r>
                <a:r>
                  <a:rPr lang="ja-JP" altLang="en-US" dirty="0"/>
                  <a:t>空间上的有界算子代数 </a:t>
                </a:r>
                <a14:m>
                  <m:oMath xmlns:m="http://schemas.openxmlformats.org/officeDocument/2006/math">
                    <m:r>
                      <a:rPr lang="en-US" altLang="ja-JP"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ja-JP" altLang="ar-AE" dirty="0"/>
                  <a:t>。</a:t>
                </a:r>
                <a:r>
                  <a:rPr lang="ja-JP" altLang="en-US" dirty="0"/>
                  <a:t>它本身是 </a:t>
                </a:r>
                <a:r>
                  <a:rPr lang="en-US" altLang="ja-JP" dirty="0"/>
                  <a:t>Banach </a:t>
                </a:r>
                <a:r>
                  <a:rPr lang="ja-JP" altLang="en-US" dirty="0"/>
                  <a:t>空间。可逆算子集合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𝐺𝐿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ℒ</m:t>
                        </m:r>
                        <m:d>
                          <m:d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nor/>
                          </m:rPr>
                          <a:rPr lang="ar-AE" altLang="ja-JP" i="1"/>
                          <m:t> </m:t>
                        </m:r>
                        <m:r>
                          <m:rPr>
                            <m:nor/>
                          </m:rPr>
                          <a:rPr lang="ja-JP" altLang="en-US" i="1"/>
                          <m:t>可逆</m:t>
                        </m:r>
                      </m:e>
                    </m:d>
                  </m:oMath>
                </a14:m>
                <a:r>
                  <a:rPr lang="ja-JP" altLang="en-US" dirty="0"/>
                  <a:t>是开集，因此是 </a:t>
                </a:r>
                <a:r>
                  <a:rPr lang="en-US" altLang="ja-JP" dirty="0"/>
                  <a:t>Banach </a:t>
                </a:r>
                <a:r>
                  <a:rPr lang="ja-JP" altLang="en-US" dirty="0"/>
                  <a:t>流形，还是 </a:t>
                </a:r>
                <a:r>
                  <a:rPr lang="en-US" altLang="ja-JP" dirty="0"/>
                  <a:t>Banach–Lie </a:t>
                </a:r>
                <a:r>
                  <a:rPr lang="ja-JP" altLang="en-US" dirty="0"/>
                  <a:t>群。</a:t>
                </a:r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en-US" dirty="0"/>
                  <a:t>类似地，在 </a:t>
                </a:r>
                <a:r>
                  <a:rPr lang="en-US" altLang="ja-JP" dirty="0"/>
                  <a:t>Hilbert </a:t>
                </a:r>
                <a:r>
                  <a:rPr lang="ja-JP" altLang="en-US" dirty="0"/>
                  <a:t>情况下，正定可逆算子、协方差算子等也有很好的流形结构。</a:t>
                </a:r>
                <a:endParaRPr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en-US" b="1" dirty="0"/>
                  <a:t>机器学习里的对应</a:t>
                </a:r>
                <a:r>
                  <a:rPr lang="zh-CN" altLang="en-US" b="1" dirty="0"/>
                  <a:t>：</a:t>
                </a:r>
                <a:endParaRPr lang="ja-JP" altLang="en-US" b="1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altLang="ja-JP" dirty="0"/>
                  <a:t>covariance operator learning 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altLang="ja-JP" dirty="0"/>
                  <a:t>kernel alignment / metric learning 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altLang="ja-JP" dirty="0"/>
                  <a:t>preconditioning 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altLang="ja-JP" dirty="0"/>
                  <a:t>second-order optimization 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altLang="ja-JP" dirty="0"/>
                  <a:t>neural tangent / feature covariance operators </a:t>
                </a:r>
                <a:r>
                  <a:rPr lang="ja-JP" altLang="en-US" dirty="0"/>
                  <a:t>的无限维分析</a:t>
                </a:r>
              </a:p>
              <a:p>
                <a:pPr marL="0" indent="0">
                  <a:buNone/>
                </a:pPr>
                <a:endParaRPr lang="ja-JP" altLang="en-US" dirty="0"/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6DA38BFC-B73F-3F85-39E3-4E7A0FDE45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112520"/>
                <a:ext cx="11755120" cy="5440680"/>
              </a:xfrm>
              <a:blipFill>
                <a:blip r:embed="rId3"/>
                <a:stretch>
                  <a:fillRect l="-519" t="-89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2568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34E01-D136-4BBC-E122-DADF64D06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FE59CC9F-26C7-A921-2C42-8F978C446F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1" dirty="0"/>
              <a:t>Hilbert </a:t>
            </a:r>
            <a:r>
              <a:rPr lang="zh-CN" altLang="en-US" b="1" dirty="0"/>
              <a:t>流形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CB3EB4FA-0688-0A4D-80CF-AF22621145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b="1" dirty="0"/>
                  <a:t>有限维流形局部上像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b="1" dirty="0"/>
                  <a:t>，而 </a:t>
                </a:r>
                <a:r>
                  <a:rPr lang="en-US" altLang="zh-CN" b="1" dirty="0"/>
                  <a:t>Hilbert </a:t>
                </a:r>
                <a:r>
                  <a:rPr lang="zh-CN" altLang="en-US" b="1" dirty="0"/>
                  <a:t>流形局部上像某个 </a:t>
                </a:r>
                <a:r>
                  <a:rPr lang="en-US" altLang="zh-CN" b="1" dirty="0"/>
                  <a:t>Hilbert </a:t>
                </a:r>
                <a:r>
                  <a:rPr lang="zh-CN" altLang="en-US" b="1" dirty="0"/>
                  <a:t>空间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zh-CN" altLang="en-US" b="1" dirty="0"/>
                  <a:t>（</a:t>
                </a:r>
                <a:r>
                  <a:rPr lang="ja-JP" altLang="en-US" dirty="0"/>
                  <a:t>局部像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ar-AE" dirty="0"/>
                  <a:t>、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ar-AE" altLang="ja-JP" dirty="0"/>
                  <a:t> </a:t>
                </a:r>
                <a:r>
                  <a:rPr lang="ja-JP" altLang="en-US" dirty="0"/>
                  <a:t>这类 </a:t>
                </a:r>
                <a:r>
                  <a:rPr lang="en-US" altLang="ja-JP" dirty="0"/>
                  <a:t>Hilbert </a:t>
                </a:r>
                <a:r>
                  <a:rPr lang="ja-JP" altLang="en-US" dirty="0"/>
                  <a:t>空间</a:t>
                </a:r>
                <a:r>
                  <a:rPr lang="zh-CN" altLang="en-US" b="1" dirty="0"/>
                  <a:t>）。</a:t>
                </a:r>
                <a:endParaRPr lang="zh-CN" altLang="en-US" dirty="0"/>
              </a:p>
              <a:p>
                <a:pPr marL="0" indent="0">
                  <a:buNone/>
                </a:pPr>
                <a:r>
                  <a:rPr lang="zh-CN" altLang="en-US" dirty="0"/>
                  <a:t>它是无限维微分几何、变分法、</a:t>
                </a:r>
                <a:r>
                  <a:rPr lang="en-US" altLang="zh-CN" dirty="0"/>
                  <a:t>PDE</a:t>
                </a:r>
                <a:r>
                  <a:rPr lang="zh-CN" altLang="en-US" dirty="0"/>
                  <a:t>、优化、控制、几何分析中非常自然的一类空间。</a:t>
                </a:r>
                <a:endParaRPr lang="en-US" altLang="zh-CN" dirty="0"/>
              </a:p>
              <a:p>
                <a:r>
                  <a:rPr lang="zh-CN" altLang="en-US" dirty="0"/>
                  <a:t>可以谈正交、投影； </a:t>
                </a:r>
              </a:p>
              <a:p>
                <a:r>
                  <a:rPr lang="zh-CN" altLang="en-US" dirty="0"/>
                  <a:t>可以用 </a:t>
                </a:r>
                <a:r>
                  <a:rPr lang="en-US" altLang="zh-CN" dirty="0"/>
                  <a:t>Riesz </a:t>
                </a:r>
                <a:r>
                  <a:rPr lang="zh-CN" altLang="en-US" dirty="0"/>
                  <a:t>表示定理识别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≅</m:t>
                    </m:r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dirty="0"/>
                  <a:t>； </a:t>
                </a:r>
              </a:p>
              <a:p>
                <a:r>
                  <a:rPr lang="zh-CN" altLang="en-US" dirty="0"/>
                  <a:t>弱收敛理论比较好； </a:t>
                </a:r>
              </a:p>
              <a:p>
                <a:r>
                  <a:rPr lang="zh-CN" altLang="en-US" dirty="0"/>
                  <a:t>变分法和梯度流更自然； </a:t>
                </a:r>
              </a:p>
              <a:p>
                <a:r>
                  <a:rPr lang="zh-CN" altLang="en-US" dirty="0"/>
                  <a:t>很多有限维黎曼几何方法可较顺利推广。 </a:t>
                </a:r>
              </a:p>
              <a:p>
                <a:pPr marL="0" indent="0">
                  <a:buNone/>
                </a:pPr>
                <a:r>
                  <a:rPr lang="zh-CN" altLang="en-US" dirty="0"/>
                  <a:t>所以在无限维流形里，</a:t>
                </a:r>
                <a:r>
                  <a:rPr lang="en-US" altLang="zh-CN" dirty="0"/>
                  <a:t>Hilbert </a:t>
                </a:r>
                <a:r>
                  <a:rPr lang="zh-CN" altLang="en-US" dirty="0"/>
                  <a:t>流形通常比一般 </a:t>
                </a:r>
                <a:r>
                  <a:rPr lang="en-US" altLang="zh-CN" dirty="0"/>
                  <a:t>Banach </a:t>
                </a:r>
                <a:r>
                  <a:rPr lang="zh-CN" altLang="en-US" dirty="0"/>
                  <a:t>流形更“顺手”。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b="1" dirty="0"/>
                  <a:t>例：路径空间</a:t>
                </a:r>
              </a:p>
              <a:p>
                <a:pPr marL="0" indent="0">
                  <a:buNone/>
                </a:pPr>
                <a:r>
                  <a:rPr lang="zh-CN" altLang="en-US" dirty="0"/>
                  <a:t>设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dirty="0"/>
                  <a:t>是一个有限维流形。考虑从区间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sepChr m:val=",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zh-CN" altLang="en-US" dirty="0"/>
                  <a:t>到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dirty="0"/>
                  <a:t>的 </a:t>
                </a:r>
                <a:r>
                  <a:rPr lang="en-US" altLang="zh-CN" dirty="0"/>
                  <a:t>Sobolev </a:t>
                </a:r>
                <a:r>
                  <a:rPr lang="zh-CN" altLang="en-US" dirty="0"/>
                  <a:t>路径空间，例如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sepChr m:val=",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sepChr m:val=","/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zh-CN" altLang="en-US" dirty="0"/>
                  <a:t>  这是几何分析和变分法中非常常见的对象。它常可赋予 </a:t>
                </a:r>
                <a:r>
                  <a:rPr lang="en-US" altLang="zh-CN" dirty="0"/>
                  <a:t>Hilbert </a:t>
                </a:r>
                <a:r>
                  <a:rPr lang="zh-CN" altLang="en-US" dirty="0"/>
                  <a:t>流形结构。</a:t>
                </a:r>
              </a:p>
              <a:p>
                <a:pPr marL="0" indent="0">
                  <a:buNone/>
                </a:pPr>
                <a:r>
                  <a:rPr lang="zh-CN" altLang="en-US" dirty="0"/>
                  <a:t>一个路径不是有限个坐标，而是一个函数，所以这是无限维对象。但若用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zh-CN" altLang="en-US" dirty="0"/>
                  <a:t>正则性来建模，局部上可用某个 </a:t>
                </a:r>
                <a:r>
                  <a:rPr lang="en-US" altLang="zh-CN" dirty="0"/>
                  <a:t>Hilbert </a:t>
                </a:r>
                <a:r>
                  <a:rPr lang="zh-CN" altLang="en-US" dirty="0"/>
                  <a:t>空间来刻画。 这是研究测地线、能量泛函、闭曲线、谐映射时的标准空间。</a:t>
                </a:r>
              </a:p>
              <a:p>
                <a:pPr marL="0" indent="0">
                  <a:buNone/>
                </a:pPr>
                <a:endParaRPr lang="zh-CN" altLang="en-US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CB3EB4FA-0688-0A4D-80CF-AF22621145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  <a:blipFill>
                <a:blip r:embed="rId3"/>
                <a:stretch>
                  <a:fillRect l="-526" t="-897" b="-11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15762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A0B94-0370-12D8-0B13-51ECD6D30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6BF1B606-4E88-B9E2-5D29-F43703DB7F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b="1" dirty="0"/>
              <a:t>机器学习中的</a:t>
            </a:r>
            <a:r>
              <a:rPr lang="en-US" altLang="zh-CN" b="1" dirty="0"/>
              <a:t>Hilbert </a:t>
            </a:r>
            <a:r>
              <a:rPr lang="zh-CN" altLang="en-US" b="1" dirty="0"/>
              <a:t>流形 （</a:t>
            </a:r>
            <a:r>
              <a:rPr lang="en-US" altLang="zh-CN" b="1" dirty="0"/>
              <a:t>1</a:t>
            </a:r>
            <a:r>
              <a:rPr lang="zh-CN" altLang="en-US" b="1" dirty="0"/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D56F07F7-F28C-637D-07D5-4832D6E9D4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b="1" dirty="0"/>
                  <a:t>最基本的情形：</a:t>
                </a:r>
                <a:r>
                  <a:rPr lang="en-US" altLang="ja-JP" dirty="0"/>
                  <a:t>Hilbert </a:t>
                </a:r>
                <a:r>
                  <a:rPr lang="ja-JP" altLang="en-US" dirty="0"/>
                  <a:t>流形 </a:t>
                </a:r>
                <a:r>
                  <a:rPr lang="en-US" altLang="ja-JP" dirty="0"/>
                  <a:t>= Hilbert </a:t>
                </a:r>
                <a:r>
                  <a:rPr lang="ja-JP" altLang="en-US" dirty="0"/>
                  <a:t>空间中的“弯曲约束空间”</a:t>
                </a:r>
                <a:endParaRPr lang="en-US" altLang="ja-JP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例如在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/>
                  <a:t>或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zh-CN" altLang="en-US" dirty="0"/>
                  <a:t>中，若考虑：</a:t>
                </a:r>
              </a:p>
              <a:p>
                <a:r>
                  <a:rPr lang="zh-CN" altLang="en-US" dirty="0"/>
                  <a:t>单位范数约束； </a:t>
                </a:r>
              </a:p>
              <a:p>
                <a:r>
                  <a:rPr lang="zh-CN" altLang="en-US" dirty="0"/>
                  <a:t>积分等于 </a:t>
                </a:r>
                <a:r>
                  <a:rPr lang="en-US" altLang="zh-CN" dirty="0"/>
                  <a:t>1 </a:t>
                </a:r>
                <a:r>
                  <a:rPr lang="zh-CN" altLang="en-US" dirty="0"/>
                  <a:t>的约束； </a:t>
                </a:r>
              </a:p>
              <a:p>
                <a:r>
                  <a:rPr lang="zh-CN" altLang="en-US" dirty="0"/>
                  <a:t>两端点固定的路径； </a:t>
                </a:r>
              </a:p>
              <a:p>
                <a:r>
                  <a:rPr lang="zh-CN" altLang="en-US" dirty="0"/>
                  <a:t>映射必须落在某个流形上； </a:t>
                </a:r>
              </a:p>
              <a:p>
                <a:pPr marL="0" indent="0">
                  <a:buNone/>
                </a:pPr>
                <a:r>
                  <a:rPr lang="zh-CN" altLang="en-US" dirty="0"/>
                  <a:t>那么可行集合通常已经不是线性空间了。但它仍可能局部上像某个 </a:t>
                </a:r>
                <a:r>
                  <a:rPr lang="en-US" altLang="zh-CN" dirty="0"/>
                  <a:t>Hilbert </a:t>
                </a:r>
                <a:r>
                  <a:rPr lang="zh-CN" altLang="en-US" dirty="0"/>
                  <a:t>空间，于是就是 </a:t>
                </a:r>
                <a:r>
                  <a:rPr lang="en-US" altLang="zh-CN" dirty="0"/>
                  <a:t>Hilbert </a:t>
                </a:r>
                <a:r>
                  <a:rPr lang="zh-CN" altLang="en-US" dirty="0"/>
                  <a:t>流形。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b="1" dirty="0"/>
                  <a:t>场景 </a:t>
                </a:r>
                <a:r>
                  <a:rPr lang="en-US" altLang="zh-CN" b="1" dirty="0"/>
                  <a:t>A</a:t>
                </a:r>
                <a:r>
                  <a:rPr lang="zh-CN" altLang="en-US" b="1" dirty="0"/>
                  <a:t>：路径空间与连续时间模型</a:t>
                </a:r>
              </a:p>
              <a:p>
                <a:pPr marL="0" indent="0">
                  <a:buNone/>
                </a:pPr>
                <a:r>
                  <a:rPr lang="zh-CN" altLang="en-US" dirty="0"/>
                  <a:t>在连续时间模型里，未知对象可能是一条路径、一个时间信号、一个控制函数，比如：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zh-CN" altLang="en-US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en-US" altLang="zh-CN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zh-CN" altLang="en-US" dirty="0"/>
              </a:p>
              <a:p>
                <a:pPr marL="0" indent="0">
                  <a:buNone/>
                </a:pPr>
                <a:r>
                  <a:rPr lang="zh-CN" altLang="en-US" dirty="0"/>
                  <a:t>如果要求它属于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sepChr m:val=",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sepChr m:val=","/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</m:e>
                      <m:e>
                        <m:sSup>
                          <m:sSup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dirty="0"/>
                  <a:t>，那它所在的是一个 </a:t>
                </a:r>
                <a:r>
                  <a:rPr lang="en-US" altLang="zh-CN" dirty="0"/>
                  <a:t>Hilbert </a:t>
                </a:r>
                <a:r>
                  <a:rPr lang="zh-CN" altLang="en-US" dirty="0"/>
                  <a:t>空间。再加上端点约束，例如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, 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dirty="0"/>
                  <a:t> 那么这类函数集合可看成 </a:t>
                </a:r>
                <a:r>
                  <a:rPr lang="en-US" altLang="zh-CN" dirty="0"/>
                  <a:t>Hilbert </a:t>
                </a:r>
                <a:r>
                  <a:rPr lang="zh-CN" altLang="en-US" dirty="0"/>
                  <a:t>空间中的仿射子空间；若再加更复杂的非线性约束，就会形成 </a:t>
                </a:r>
                <a:r>
                  <a:rPr lang="en-US" altLang="zh-CN" dirty="0"/>
                  <a:t>Hilbert </a:t>
                </a:r>
                <a:r>
                  <a:rPr lang="zh-CN" altLang="en-US" dirty="0"/>
                  <a:t>流形。</a:t>
                </a:r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D56F07F7-F28C-637D-07D5-4832D6E9D4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  <a:blipFill>
                <a:blip r:embed="rId3"/>
                <a:stretch>
                  <a:fillRect l="-526" t="-1009" b="-100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81592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8824F-02E2-8082-AABC-EDA4169B6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F55A3904-427E-F049-B81A-7758A2188A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b="1" dirty="0"/>
              <a:t>机器学习中的</a:t>
            </a:r>
            <a:r>
              <a:rPr lang="en-US" altLang="zh-CN" b="1" dirty="0"/>
              <a:t>Hilbert </a:t>
            </a:r>
            <a:r>
              <a:rPr lang="zh-CN" altLang="en-US" b="1" dirty="0"/>
              <a:t>流形 （</a:t>
            </a:r>
            <a:r>
              <a:rPr lang="en-US" altLang="zh-CN" b="1" dirty="0"/>
              <a:t>2</a:t>
            </a:r>
            <a:r>
              <a:rPr lang="zh-CN" altLang="en-US" b="1" dirty="0"/>
              <a:t>）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CBA8BE9C-43EA-1F55-C45F-9412F7CAC8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b="1" dirty="0"/>
                  <a:t>场景 </a:t>
                </a:r>
                <a:r>
                  <a:rPr lang="en-US" altLang="zh-CN" b="1" dirty="0"/>
                  <a:t>A</a:t>
                </a:r>
                <a:r>
                  <a:rPr lang="zh-CN" altLang="en-US" b="1" dirty="0"/>
                  <a:t>：路径空间与连续时间模型</a:t>
                </a:r>
              </a:p>
              <a:p>
                <a:pPr marL="0" indent="0">
                  <a:buNone/>
                </a:pPr>
                <a:r>
                  <a:rPr lang="zh-CN" altLang="en-US" dirty="0"/>
                  <a:t>在连续时间模型里，未知对象可能是一条路径、一个时间信号、一个控制函数，比如：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zh-CN" altLang="en-US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en-US" altLang="zh-CN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zh-CN" altLang="en-US" dirty="0"/>
              </a:p>
              <a:p>
                <a:pPr marL="0" indent="0">
                  <a:buNone/>
                </a:pPr>
                <a:r>
                  <a:rPr lang="zh-CN" altLang="en-US" dirty="0"/>
                  <a:t>如果要求它属于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sepChr m:val=",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sepChr m:val=","/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</m:e>
                      <m:e>
                        <m:sSup>
                          <m:sSup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dirty="0"/>
                  <a:t>，那它所在的是一个 </a:t>
                </a:r>
                <a:r>
                  <a:rPr lang="en-US" altLang="zh-CN" dirty="0"/>
                  <a:t>Hilbert </a:t>
                </a:r>
                <a:r>
                  <a:rPr lang="zh-CN" altLang="en-US" dirty="0"/>
                  <a:t>空间。再加上端点约束，例如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, 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dirty="0"/>
                  <a:t> 那么这类函数集合可看成 </a:t>
                </a:r>
                <a:r>
                  <a:rPr lang="en-US" altLang="zh-CN" dirty="0"/>
                  <a:t>Hilbert </a:t>
                </a:r>
                <a:r>
                  <a:rPr lang="zh-CN" altLang="en-US" dirty="0"/>
                  <a:t>空间中的仿射子空间；若再加更复杂的非线性约束，就会形成 </a:t>
                </a:r>
                <a:r>
                  <a:rPr lang="en-US" altLang="zh-CN" dirty="0"/>
                  <a:t>Hilbert </a:t>
                </a:r>
                <a:r>
                  <a:rPr lang="zh-CN" altLang="en-US" dirty="0"/>
                  <a:t>流形。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ja-JP" altLang="en-US" b="1" dirty="0"/>
                  <a:t>在机器学习中的对应</a:t>
                </a:r>
              </a:p>
              <a:p>
                <a:r>
                  <a:rPr lang="en-US" altLang="ja-JP" dirty="0"/>
                  <a:t>neural ODE </a:t>
                </a:r>
              </a:p>
              <a:p>
                <a:r>
                  <a:rPr lang="en-US" altLang="ja-JP" dirty="0"/>
                  <a:t>continuous normalizing flows (</a:t>
                </a:r>
                <a:r>
                  <a:rPr lang="zh-CN" altLang="en-US" dirty="0"/>
                  <a:t>把离散的多层可逆变换改成连续时间流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简单分布 </a:t>
                </a:r>
                <a:r>
                  <a:rPr lang="en-US" altLang="zh-CN" dirty="0"/>
                  <a:t>-&gt; </a:t>
                </a:r>
                <a:r>
                  <a:rPr lang="zh-CN" altLang="en-US" dirty="0"/>
                  <a:t>复杂分布</a:t>
                </a:r>
                <a:r>
                  <a:rPr lang="en-US" altLang="ja-JP" dirty="0"/>
                  <a:t>)</a:t>
                </a:r>
              </a:p>
              <a:p>
                <a:r>
                  <a:rPr lang="ja-JP" altLang="en-US" dirty="0"/>
                  <a:t>最优控制视角下的训练 </a:t>
                </a:r>
              </a:p>
              <a:p>
                <a:r>
                  <a:rPr lang="ja-JP" altLang="en-US" dirty="0"/>
                  <a:t>连续时间表示学习 </a:t>
                </a:r>
              </a:p>
              <a:p>
                <a:r>
                  <a:rPr lang="en-US" altLang="ja-JP" dirty="0"/>
                  <a:t>trajectory optimization / imitation learning</a:t>
                </a:r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lang="zh-CN" altLang="en-US" dirty="0"/>
                  <a:t>这些模型不是只更新一个有限维向量，而是在某种“轨迹空间”里优化整条路径或控制过程。</a:t>
                </a:r>
                <a:endParaRPr lang="en-US" altLang="ja-JP" dirty="0"/>
              </a:p>
              <a:p>
                <a:pPr marL="0" indent="0">
                  <a:buNone/>
                </a:pPr>
                <a:endParaRPr lang="zh-CN" altLang="en-US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CBA8BE9C-43EA-1F55-C45F-9412F7CAC8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  <a:blipFill>
                <a:blip r:embed="rId3"/>
                <a:stretch>
                  <a:fillRect l="-526" t="-100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62522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C84C2-7783-EF7A-0121-5D0FC99C1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33638A16-E309-F0B4-69FF-094CEC535C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b="1" dirty="0"/>
              <a:t>机器学习中的</a:t>
            </a:r>
            <a:r>
              <a:rPr lang="en-US" altLang="zh-CN" b="1" dirty="0"/>
              <a:t>Hilbert </a:t>
            </a:r>
            <a:r>
              <a:rPr lang="zh-CN" altLang="en-US" b="1" dirty="0"/>
              <a:t>流形 （</a:t>
            </a:r>
            <a:r>
              <a:rPr lang="en-US" altLang="zh-CN" b="1" dirty="0"/>
              <a:t>3</a:t>
            </a:r>
            <a:r>
              <a:rPr lang="zh-CN" altLang="en-US" b="1" dirty="0"/>
              <a:t>）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077FBBA6-C395-33ED-AEE7-615743CBA0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b="1" dirty="0"/>
                  <a:t>场景 </a:t>
                </a:r>
                <a:r>
                  <a:rPr lang="en-US" altLang="zh-CN" b="1" dirty="0"/>
                  <a:t>B</a:t>
                </a:r>
                <a:r>
                  <a:rPr lang="zh-CN" altLang="en-US" b="1" dirty="0"/>
                  <a:t>：概率密度空间的正则化版本</a:t>
                </a:r>
              </a:p>
              <a:p>
                <a:pPr marL="0" indent="0">
                  <a:buNone/>
                </a:pPr>
                <a:r>
                  <a:rPr lang="zh-CN" altLang="en-US" dirty="0"/>
                  <a:t>在生成建模、变分推断、分布学习中，常把目标看成概率密度函数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dirty="0"/>
                  <a:t>。如果工作在一个 </a:t>
                </a:r>
                <a:r>
                  <a:rPr lang="en-US" altLang="zh-CN" dirty="0"/>
                  <a:t>Hilbert </a:t>
                </a:r>
                <a:r>
                  <a:rPr lang="zh-CN" altLang="en-US" dirty="0"/>
                  <a:t>空间，比如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d>
                  </m:oMath>
                </a14:m>
                <a:r>
                  <a:rPr lang="zh-CN" altLang="en-US" dirty="0"/>
                  <a:t>或某个 </a:t>
                </a:r>
                <a:r>
                  <a:rPr lang="en-US" altLang="zh-CN" dirty="0"/>
                  <a:t>Sobolev </a:t>
                </a:r>
                <a:r>
                  <a:rPr lang="zh-CN" altLang="en-US" dirty="0"/>
                  <a:t>空间里，那么可考虑约束集合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>
                          <a:latin typeface="Cambria Math" panose="02040503050406030204" pitchFamily="18" charset="0"/>
                        </a:rPr>
                        <m:t>𝒫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zh-CN" altLang="en-US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</m:d>
                      <m:r>
                        <a:rPr lang="en-US" altLang="zh-CN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zh-CN" altLang="en-US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zh-CN" altLang="en-US" i="1"/>
                        <m:t> </m:t>
                      </m:r>
                      <m:nary>
                        <m:naryPr>
                          <m:grow m:val="on"/>
                          <m:supHide m:val="on"/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Ω</m:t>
                          </m:r>
                        </m:sub>
                        <m:sup/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nary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m:rPr>
                          <m:nor/>
                        </m:rPr>
                        <a:rPr lang="zh-CN" altLang="en-US" i="1"/>
                        <m:t> 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b="0" dirty="0"/>
              </a:p>
              <a:p>
                <a:pPr marL="0" indent="0">
                  <a:buNone/>
                </a:pPr>
                <a:r>
                  <a:rPr lang="zh-CN" altLang="en-US" dirty="0"/>
                  <a:t>“非负”本身会带来边界和角点问题，不总是一个光滑流形；但如果进一步限制为</a:t>
                </a:r>
                <a:r>
                  <a:rPr lang="zh-CN" altLang="en-US" b="1" dirty="0"/>
                  <a:t>严格正</a:t>
                </a:r>
                <a:r>
                  <a:rPr lang="zh-CN" altLang="en-US" dirty="0"/>
                  <a:t>且足够正则的密度类，那么在局部上可以更接近 </a:t>
                </a:r>
                <a:r>
                  <a:rPr lang="en-US" altLang="zh-CN" dirty="0"/>
                  <a:t>Hilbert </a:t>
                </a:r>
                <a:r>
                  <a:rPr lang="zh-CN" altLang="en-US" dirty="0"/>
                  <a:t>流形结构。</a:t>
                </a:r>
              </a:p>
              <a:p>
                <a:pPr marL="0" indent="0">
                  <a:buNone/>
                </a:pPr>
                <a:endParaRPr lang="en-US" altLang="zh-CN" b="1" dirty="0"/>
              </a:p>
              <a:p>
                <a:pPr marL="0" indent="0">
                  <a:buNone/>
                </a:pPr>
                <a:r>
                  <a:rPr lang="zh-CN" altLang="en-US" b="1" dirty="0"/>
                  <a:t>机器学习对应</a:t>
                </a:r>
              </a:p>
              <a:p>
                <a:r>
                  <a:rPr lang="en-US" altLang="zh-CN" dirty="0"/>
                  <a:t>density estimation </a:t>
                </a:r>
              </a:p>
              <a:p>
                <a:r>
                  <a:rPr lang="en-US" altLang="zh-CN" dirty="0"/>
                  <a:t>variational inference </a:t>
                </a:r>
              </a:p>
              <a:p>
                <a:r>
                  <a:rPr lang="en-US" altLang="zh-CN" dirty="0"/>
                  <a:t>distribution learning </a:t>
                </a:r>
              </a:p>
              <a:p>
                <a:r>
                  <a:rPr lang="en-US" altLang="zh-CN" dirty="0"/>
                  <a:t>mean-field learning </a:t>
                </a:r>
              </a:p>
              <a:p>
                <a:r>
                  <a:rPr lang="zh-CN" altLang="en-US" dirty="0"/>
                  <a:t>某些最优传输正则化模型 </a:t>
                </a:r>
                <a:endParaRPr lang="en-US" altLang="zh-CN" b="1" dirty="0"/>
              </a:p>
              <a:p>
                <a:pPr marL="0" indent="0">
                  <a:buNone/>
                </a:pPr>
                <a:r>
                  <a:rPr lang="zh-CN" altLang="en-US" dirty="0"/>
                  <a:t>这里的“点”不是一个有限维参数，而是一整个概率密度函数。这些密度函数组成的可行域不是线性的，但局部上像一个 </a:t>
                </a:r>
                <a:r>
                  <a:rPr lang="en-US" altLang="zh-CN" dirty="0"/>
                  <a:t>Hilbert </a:t>
                </a:r>
                <a:r>
                  <a:rPr lang="zh-CN" altLang="en-US" dirty="0"/>
                  <a:t>空间中的“质量守恒扰动空间”。</a:t>
                </a:r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077FBBA6-C395-33ED-AEE7-615743CBA0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  <a:blipFill>
                <a:blip r:embed="rId3"/>
                <a:stretch>
                  <a:fillRect l="-526" t="-1009" b="-470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37935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5DBB2-B4A0-CF9C-93E2-7702395E6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2AE1C945-41A8-A919-A212-7F61277263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b="1" dirty="0"/>
              <a:t>机器学习中的</a:t>
            </a:r>
            <a:r>
              <a:rPr lang="en-US" altLang="zh-CN" b="1" dirty="0"/>
              <a:t>Hilbert </a:t>
            </a:r>
            <a:r>
              <a:rPr lang="zh-CN" altLang="en-US" b="1" dirty="0"/>
              <a:t>流形 （</a:t>
            </a:r>
            <a:r>
              <a:rPr lang="en-US" altLang="zh-CN" b="1" dirty="0"/>
              <a:t>4</a:t>
            </a:r>
            <a:r>
              <a:rPr lang="zh-CN" altLang="en-US" b="1" dirty="0"/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E7DCA5EB-06E9-02E2-FCA1-35471A2E54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b="1" dirty="0"/>
                  <a:t>场景 </a:t>
                </a:r>
                <a:r>
                  <a:rPr lang="en-US" altLang="zh-CN" b="1" dirty="0"/>
                  <a:t>C</a:t>
                </a:r>
                <a:r>
                  <a:rPr lang="zh-CN" altLang="en-US" b="1" dirty="0"/>
                  <a:t>：映射空间与几何深度学习</a:t>
                </a:r>
                <a:endParaRPr lang="en-US" altLang="zh-CN" b="1" dirty="0"/>
              </a:p>
              <a:p>
                <a:pPr marL="0" indent="0">
                  <a:buNone/>
                </a:pPr>
                <a:r>
                  <a:rPr lang="ja-JP" altLang="en-US" dirty="0"/>
                  <a:t>设输入域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ja-JP" altLang="en-US" dirty="0"/>
                  <a:t>、输出流形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ja-JP" altLang="en-US" dirty="0"/>
                  <a:t>。考虑映射空间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d>
                      <m:dPr>
                        <m:sepChr m:val=","/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ja-JP" altLang="en-US" dirty="0"/>
                  <a:t>  即从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ja-JP" altLang="en-US" dirty="0"/>
                  <a:t>到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ja-JP" altLang="en-US" dirty="0"/>
                  <a:t>的 </a:t>
                </a:r>
                <a:r>
                  <a:rPr lang="en-US" altLang="ja-JP" dirty="0"/>
                  <a:t>Sobolev </a:t>
                </a:r>
                <a:r>
                  <a:rPr lang="ja-JP" altLang="en-US" dirty="0"/>
                  <a:t>映射。在合适条件下，这类空间可以赋予 </a:t>
                </a:r>
                <a:r>
                  <a:rPr lang="en-US" altLang="ja-JP" dirty="0"/>
                  <a:t>Hilbert </a:t>
                </a:r>
                <a:r>
                  <a:rPr lang="ja-JP" altLang="en-US" dirty="0"/>
                  <a:t>流形结构。</a:t>
                </a:r>
                <a:endParaRPr lang="en-US" altLang="ja-JP" dirty="0"/>
              </a:p>
              <a:p>
                <a:pPr marL="0" indent="0">
                  <a:buNone/>
                </a:pPr>
                <a:endParaRPr lang="ja-JP" altLang="en-US" dirty="0"/>
              </a:p>
              <a:p>
                <a:pPr marL="0" indent="0">
                  <a:buNone/>
                </a:pPr>
                <a:r>
                  <a:rPr lang="ja-JP" altLang="en-US" b="1" dirty="0"/>
                  <a:t>机器学习对应</a:t>
                </a:r>
              </a:p>
              <a:p>
                <a:r>
                  <a:rPr lang="en-US" altLang="ja-JP" dirty="0"/>
                  <a:t>manifold-valued learning </a:t>
                </a:r>
              </a:p>
              <a:p>
                <a:r>
                  <a:rPr lang="en-US" altLang="ja-JP" dirty="0"/>
                  <a:t>shape analysis </a:t>
                </a:r>
              </a:p>
              <a:p>
                <a:r>
                  <a:rPr lang="en-US" altLang="ja-JP" dirty="0"/>
                  <a:t>geometric registration </a:t>
                </a:r>
              </a:p>
              <a:p>
                <a:r>
                  <a:rPr lang="en-US" altLang="ja-JP" dirty="0"/>
                  <a:t>pose / shape deformation </a:t>
                </a:r>
              </a:p>
              <a:p>
                <a:r>
                  <a:rPr lang="en-US" altLang="ja-JP" dirty="0"/>
                  <a:t>graph / mesh </a:t>
                </a:r>
                <a:r>
                  <a:rPr lang="ja-JP" altLang="en-US" dirty="0"/>
                  <a:t>上的连续场学习 </a:t>
                </a:r>
              </a:p>
              <a:p>
                <a:pPr marL="0" indent="0">
                  <a:buNone/>
                </a:pPr>
                <a:endParaRPr lang="en-US" altLang="ja-JP" b="1" dirty="0"/>
              </a:p>
              <a:p>
                <a:pPr marL="0" indent="0">
                  <a:buNone/>
                </a:pPr>
                <a:r>
                  <a:rPr lang="ja-JP" altLang="en-US" b="1" dirty="0"/>
                  <a:t>例</a:t>
                </a:r>
                <a:r>
                  <a:rPr lang="zh-CN" altLang="en-US" b="1" dirty="0"/>
                  <a:t>：</a:t>
                </a:r>
                <a:r>
                  <a:rPr lang="ja-JP" altLang="en-US" dirty="0"/>
                  <a:t>如果输出必须始终落在单位球面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ja-JP" altLang="en-US" dirty="0"/>
                  <a:t>上，那么学习的就不是一般函数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: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ar-AE" altLang="ja-JP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ja-JP" altLang="en-US" dirty="0"/>
                  <a:t> 而是满足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ja-JP" altLang="en-US" dirty="0"/>
                  <a:t>的函数。这种约束把一个大的 </a:t>
                </a:r>
                <a:r>
                  <a:rPr lang="en-US" altLang="ja-JP" dirty="0"/>
                  <a:t>Hilbert </a:t>
                </a:r>
                <a:r>
                  <a:rPr lang="ja-JP" altLang="en-US" dirty="0"/>
                  <a:t>空间切成了一个非线性空间，这个空间常可看成 </a:t>
                </a:r>
                <a:r>
                  <a:rPr lang="en-US" altLang="ja-JP" dirty="0"/>
                  <a:t>Hilbert </a:t>
                </a:r>
                <a:r>
                  <a:rPr lang="ja-JP" altLang="en-US" dirty="0"/>
                  <a:t>流形。这在方向场、姿态估计、法向量场、球面嵌入表示中很自然。</a:t>
                </a: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E7DCA5EB-06E9-02E2-FCA1-35471A2E54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  <a:blipFill>
                <a:blip r:embed="rId3"/>
                <a:stretch>
                  <a:fillRect l="-526" t="-100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93679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BE1B2-8CE0-60A4-AAB1-142646C7A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29CD6323-D00A-63C8-D87C-7ED3FC34E8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b="1" dirty="0"/>
              <a:t>机器学习中的</a:t>
            </a:r>
            <a:r>
              <a:rPr lang="en-US" altLang="zh-CN" b="1" dirty="0"/>
              <a:t>Hilbert </a:t>
            </a:r>
            <a:r>
              <a:rPr lang="zh-CN" altLang="en-US" b="1" dirty="0"/>
              <a:t>流形 （</a:t>
            </a:r>
            <a:r>
              <a:rPr lang="en-US" altLang="zh-CN" b="1" dirty="0"/>
              <a:t>5</a:t>
            </a:r>
            <a:r>
              <a:rPr lang="zh-CN" altLang="en-US" b="1" dirty="0"/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0178D7E6-BC04-06FE-08A6-3FB82BA771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b="1" dirty="0"/>
                  <a:t>场景 </a:t>
                </a:r>
                <a:r>
                  <a:rPr lang="en-US" altLang="zh-CN" b="1" dirty="0"/>
                  <a:t>D</a:t>
                </a:r>
                <a:r>
                  <a:rPr lang="zh-CN" altLang="en-US" b="1" dirty="0"/>
                  <a:t>：</a:t>
                </a:r>
                <a:r>
                  <a:rPr lang="en-US" altLang="zh-CN" b="1" dirty="0"/>
                  <a:t>PDE </a:t>
                </a:r>
                <a:r>
                  <a:rPr lang="zh-CN" altLang="en-US" b="1" dirty="0"/>
                  <a:t>约束机器学习</a:t>
                </a:r>
                <a:endParaRPr lang="en-US" altLang="zh-CN" b="1" dirty="0"/>
              </a:p>
              <a:p>
                <a:pPr marL="0" indent="0">
                  <a:buNone/>
                </a:pPr>
                <a:r>
                  <a:rPr lang="ja-JP" altLang="en-US" dirty="0"/>
                  <a:t>在 </a:t>
                </a:r>
                <a:r>
                  <a:rPr lang="en-US" altLang="ja-JP" dirty="0"/>
                  <a:t>PDE </a:t>
                </a:r>
                <a:r>
                  <a:rPr lang="ja-JP" altLang="en-US" dirty="0"/>
                  <a:t>学习或 </a:t>
                </a:r>
                <a:r>
                  <a:rPr lang="en-US" altLang="ja-JP" dirty="0"/>
                  <a:t>PDE </a:t>
                </a:r>
                <a:r>
                  <a:rPr lang="ja-JP" altLang="en-US" dirty="0"/>
                  <a:t>约束优化中，参数或状态常常是函数：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altLang="ja-JP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, 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∈</m:t>
                    </m:r>
                    <m:sSubSup>
                      <m:sSub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altLang="ja-JP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ja-JP" altLang="en-US" dirty="0"/>
                  <a:t> 训练过程可能包括：</a:t>
                </a:r>
              </a:p>
              <a:p>
                <a:r>
                  <a:rPr lang="ja-JP" altLang="en-US" dirty="0"/>
                  <a:t>学一个控制函数； </a:t>
                </a:r>
              </a:p>
              <a:p>
                <a:r>
                  <a:rPr lang="ja-JP" altLang="en-US" dirty="0"/>
                  <a:t>学一个系数场； </a:t>
                </a:r>
              </a:p>
              <a:p>
                <a:r>
                  <a:rPr lang="ja-JP" altLang="en-US" dirty="0"/>
                  <a:t>学一个状态函数； </a:t>
                </a:r>
              </a:p>
              <a:p>
                <a:r>
                  <a:rPr lang="ja-JP" altLang="en-US" dirty="0"/>
                  <a:t>在满足 </a:t>
                </a:r>
                <a:r>
                  <a:rPr lang="en-US" altLang="ja-JP" dirty="0"/>
                  <a:t>PDE </a:t>
                </a:r>
                <a:r>
                  <a:rPr lang="ja-JP" altLang="en-US" dirty="0"/>
                  <a:t>约束下最小化损失。 </a:t>
                </a:r>
              </a:p>
              <a:p>
                <a:pPr marL="0" indent="0">
                  <a:buNone/>
                </a:pPr>
                <a:r>
                  <a:rPr lang="ja-JP" altLang="en-US" dirty="0"/>
                  <a:t>若把“满足某个约束的函数集”看成可行域，那么这往往是一个 </a:t>
                </a:r>
                <a:r>
                  <a:rPr lang="en-US" altLang="ja-JP" dirty="0"/>
                  <a:t>Hilbert </a:t>
                </a:r>
                <a:r>
                  <a:rPr lang="ja-JP" altLang="en-US" dirty="0"/>
                  <a:t>空间中的非线性子集；在合适正则条件下，它常可被视为 </a:t>
                </a:r>
                <a:r>
                  <a:rPr lang="en-US" altLang="ja-JP" dirty="0"/>
                  <a:t>Hilbert </a:t>
                </a:r>
                <a:r>
                  <a:rPr lang="ja-JP" altLang="en-US" dirty="0"/>
                  <a:t>流形或至少局部上近似于 </a:t>
                </a:r>
                <a:r>
                  <a:rPr lang="en-US" altLang="ja-JP" dirty="0"/>
                  <a:t>Hilbert </a:t>
                </a:r>
                <a:r>
                  <a:rPr lang="ja-JP" altLang="en-US" dirty="0"/>
                  <a:t>流形。</a:t>
                </a:r>
              </a:p>
              <a:p>
                <a:pPr marL="0" indent="0">
                  <a:buNone/>
                </a:pPr>
                <a:endParaRPr lang="en-US" altLang="ja-JP" b="1" dirty="0"/>
              </a:p>
              <a:p>
                <a:pPr marL="0" indent="0">
                  <a:buNone/>
                </a:pPr>
                <a:r>
                  <a:rPr lang="ja-JP" altLang="en-US" b="1" dirty="0"/>
                  <a:t>机器学习对应</a:t>
                </a:r>
              </a:p>
              <a:p>
                <a:r>
                  <a:rPr lang="en-US" altLang="ja-JP" dirty="0"/>
                  <a:t>PINNs </a:t>
                </a:r>
                <a:r>
                  <a:rPr lang="ja-JP" altLang="en-US" dirty="0"/>
                  <a:t>的函数空间版本 </a:t>
                </a:r>
              </a:p>
              <a:p>
                <a:r>
                  <a:rPr lang="en-US" altLang="ja-JP" dirty="0"/>
                  <a:t>optimal control + learning </a:t>
                </a:r>
              </a:p>
              <a:p>
                <a:r>
                  <a:rPr lang="en-US" altLang="ja-JP" dirty="0"/>
                  <a:t>inverse problems </a:t>
                </a:r>
              </a:p>
              <a:p>
                <a:r>
                  <a:rPr lang="en-US" altLang="ja-JP" dirty="0"/>
                  <a:t>operator learning with constraints </a:t>
                </a:r>
              </a:p>
              <a:p>
                <a:r>
                  <a:rPr lang="en-US" altLang="ja-JP" dirty="0"/>
                  <a:t>data assimilation </a:t>
                </a: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0178D7E6-BC04-06FE-08A6-3FB82BA771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  <a:blipFill>
                <a:blip r:embed="rId3"/>
                <a:stretch>
                  <a:fillRect l="-526" t="-1009" r="-526" b="-269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46492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492F5-7051-7196-BA15-1873F2BF4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A4A477EF-F013-1A76-9B28-04DC45A5EB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1" dirty="0"/>
              <a:t>Fréchet </a:t>
            </a:r>
            <a:r>
              <a:rPr lang="zh-CN" altLang="en-US" b="1" dirty="0"/>
              <a:t>流形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ED9E17E3-BB4D-F57F-6FCA-84F3E15899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Fréchet </a:t>
                </a:r>
                <a:r>
                  <a:rPr lang="zh-CN" altLang="en-US" dirty="0"/>
                  <a:t>流形是以 </a:t>
                </a:r>
                <a:r>
                  <a:rPr lang="en-US" altLang="zh-CN" dirty="0"/>
                  <a:t>Fréchet </a:t>
                </a:r>
                <a:r>
                  <a:rPr lang="zh-CN" altLang="en-US" dirty="0"/>
                  <a:t>空间为局部模型的无限维光滑流形，特别适合描述无穷光滑函数、映射、向量场和微分同胚群等对象。</a:t>
                </a:r>
                <a:r>
                  <a:rPr lang="ja-JP" altLang="en-US" dirty="0"/>
                  <a:t>它比 </a:t>
                </a:r>
                <a:r>
                  <a:rPr lang="en-US" altLang="ja-JP" dirty="0"/>
                  <a:t>Banach/Hilbert </a:t>
                </a:r>
                <a:r>
                  <a:rPr lang="ja-JP" altLang="en-US" dirty="0"/>
                  <a:t>流形更一般、更几何自然，但分析工具也更弱，因此常需 </a:t>
                </a:r>
                <a:r>
                  <a:rPr lang="en-US" altLang="ja-JP" dirty="0"/>
                  <a:t>Nash–Moser </a:t>
                </a:r>
                <a:r>
                  <a:rPr lang="ja-JP" altLang="en-US" dirty="0"/>
                  <a:t>理论等额外技术。</a:t>
                </a:r>
                <a:endParaRPr lang="en-US" altLang="zh-CN" dirty="0"/>
              </a:p>
              <a:p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Fréchet </a:t>
                </a:r>
                <a:r>
                  <a:rPr lang="zh-CN" altLang="en-US" dirty="0"/>
                  <a:t>空间可以理解为：</a:t>
                </a:r>
                <a:r>
                  <a:rPr lang="zh-CN" altLang="en-US" b="1" dirty="0"/>
                  <a:t>一种比 </a:t>
                </a:r>
                <a:r>
                  <a:rPr lang="en-US" altLang="zh-CN" b="1" dirty="0"/>
                  <a:t>Banach </a:t>
                </a:r>
                <a:r>
                  <a:rPr lang="zh-CN" altLang="en-US" b="1" dirty="0"/>
                  <a:t>空间更一般的、仍然有良好拓扑线性结构的空间。</a:t>
                </a:r>
                <a:endParaRPr lang="zh-CN" altLang="en-US" dirty="0"/>
              </a:p>
              <a:p>
                <a:pPr marL="0" indent="0">
                  <a:buNone/>
                </a:pPr>
                <a:r>
                  <a:rPr lang="en-US" altLang="zh-CN" dirty="0"/>
                  <a:t>Fréchet </a:t>
                </a:r>
                <a:r>
                  <a:rPr lang="zh-CN" altLang="en-US" dirty="0"/>
                  <a:t>空间是：局部凸拓扑向量空间； </a:t>
                </a:r>
                <a:r>
                  <a:rPr lang="en-US" altLang="zh-CN" dirty="0" err="1"/>
                  <a:t>Hausdorff</a:t>
                </a:r>
                <a:r>
                  <a:rPr lang="zh-CN" altLang="en-US" dirty="0"/>
                  <a:t>； 完备； 可度量化。 </a:t>
                </a:r>
              </a:p>
              <a:p>
                <a:pPr marL="0" indent="0">
                  <a:buNone/>
                </a:pPr>
                <a:r>
                  <a:rPr lang="zh-CN" altLang="en-US" dirty="0"/>
                  <a:t>通常它的拓扑不是由一个范数给出，而是由</a:t>
                </a:r>
                <a:r>
                  <a:rPr lang="zh-CN" altLang="en-US" b="1" dirty="0"/>
                  <a:t>一列半范数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r>
                  <a:rPr lang="zh-CN" altLang="en-US" dirty="0"/>
                  <a:t>共同决定。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ja-JP" altLang="en-US" b="1" dirty="0"/>
                  <a:t>例：</a:t>
                </a:r>
                <a:r>
                  <a:rPr lang="ja-JP" altLang="en-US" dirty="0"/>
                  <a:t>区域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ja-JP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ja-JP" altLang="en-US" dirty="0"/>
                  <a:t>上的无穷光滑函数空间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altLang="ja-JP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d>
                  </m:oMath>
                </a14:m>
                <a:r>
                  <a:rPr lang="ja-JP" altLang="en-US" dirty="0"/>
                  <a:t>通常不是 </a:t>
                </a:r>
                <a:r>
                  <a:rPr lang="en-US" altLang="ja-JP" dirty="0"/>
                  <a:t>Banach </a:t>
                </a:r>
                <a:r>
                  <a:rPr lang="ja-JP" altLang="en-US" dirty="0"/>
                  <a:t>空间，但它是 </a:t>
                </a:r>
                <a:r>
                  <a:rPr lang="en-US" altLang="ja-JP" dirty="0"/>
                  <a:t>Fréchet </a:t>
                </a:r>
                <a:r>
                  <a:rPr lang="ja-JP" altLang="en-US" dirty="0"/>
                  <a:t>空间。</a:t>
                </a:r>
              </a:p>
              <a:p>
                <a:pPr marL="0" indent="0">
                  <a:buNone/>
                </a:pPr>
                <a:r>
                  <a:rPr lang="ja-JP" altLang="en-US" dirty="0"/>
                  <a:t>它的拓扑常由一列半范数给出，例如在紧集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⊂</m:t>
                    </m:r>
                    <m:r>
                      <m:rPr>
                        <m:sty m:val="p"/>
                      </m:rPr>
                      <a:rPr lang="el-GR" altLang="ja-JP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ja-JP" altLang="en-US" dirty="0"/>
                  <a:t>上：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func>
                          <m:func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ja-JP">
                                <a:latin typeface="Cambria Math" panose="02040503050406030204" pitchFamily="18" charset="0"/>
                              </a:rPr>
                              <m:t>sup</m:t>
                            </m:r>
                          </m:fName>
                          <m:e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∣</m:t>
                            </m:r>
                            <m:sSup>
                              <m:sSupPr>
                                <m:ctrlPr>
                                  <a:rPr lang="ar-AE" altLang="ja-JP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ja-JP" altLang="ar-AE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p>
                                <m:r>
                                  <a:rPr lang="ja-JP" altLang="ar-AE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sup>
                            </m:sSup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ar-AE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ja-JP" alt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</m:func>
                      </m:e>
                      <m:lim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ar-AE" altLang="ja-JP" i="1"/>
                          <m:t> 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∣≤</m:t>
                        </m:r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𝑚</m:t>
                        </m:r>
                      </m:lim>
                    </m:limLow>
                    <m:r>
                      <a:rPr lang="ar-AE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altLang="ja-JP" b="0" dirty="0"/>
              </a:p>
              <a:p>
                <a:pPr marL="0" indent="0">
                  <a:buNone/>
                </a:pPr>
                <a:r>
                  <a:rPr lang="ja-JP" altLang="en-US" dirty="0"/>
                  <a:t>表示：不仅函数值要接近； 各阶导数也都要在每个紧集上一致接近。</a:t>
                </a:r>
                <a:endParaRPr lang="en-US" altLang="ja-JP" dirty="0"/>
              </a:p>
              <a:p>
                <a:pPr marL="0" indent="0">
                  <a:buNone/>
                </a:pPr>
                <a:r>
                  <a:rPr lang="en-US" altLang="ja-JP" dirty="0"/>
                  <a:t>   </a:t>
                </a:r>
              </a:p>
              <a:p>
                <a:pPr marL="0" indent="0">
                  <a:buNone/>
                </a:pPr>
                <a:r>
                  <a:rPr lang="en-US" altLang="ja-JP" dirty="0"/>
                  <a:t>Hilbert </a:t>
                </a:r>
                <a:r>
                  <a:rPr lang="ja-JP" altLang="en-US" dirty="0"/>
                  <a:t>流形 ⊂ </a:t>
                </a:r>
                <a:r>
                  <a:rPr lang="en-US" altLang="ja-JP" dirty="0"/>
                  <a:t>Banach </a:t>
                </a:r>
                <a:r>
                  <a:rPr lang="ja-JP" altLang="en-US" dirty="0"/>
                  <a:t>流形 ⊂ </a:t>
                </a:r>
                <a:r>
                  <a:rPr lang="en-US" altLang="zh-CN" dirty="0"/>
                  <a:t>Fréchet </a:t>
                </a:r>
                <a:r>
                  <a:rPr lang="ja-JP" altLang="en-US" dirty="0"/>
                  <a:t>流形</a:t>
                </a:r>
                <a:r>
                  <a:rPr lang="en-US" altLang="ja-JP" dirty="0"/>
                  <a:t>.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需要</a:t>
                </a:r>
                <a:r>
                  <a:rPr lang="en-US" altLang="ja-JP" dirty="0"/>
                  <a:t>Nash–Moser </a:t>
                </a:r>
                <a:r>
                  <a:rPr lang="ja-JP" altLang="en-US" dirty="0"/>
                  <a:t>逆函数定理</a:t>
                </a:r>
                <a:r>
                  <a:rPr lang="zh-CN" altLang="en-US" dirty="0"/>
                  <a:t>：</a:t>
                </a:r>
                <a:r>
                  <a:rPr lang="ja-JP" altLang="en-US" dirty="0"/>
                  <a:t>在普通 </a:t>
                </a:r>
                <a:r>
                  <a:rPr lang="en-US" altLang="ja-JP" dirty="0"/>
                  <a:t>Banach </a:t>
                </a:r>
                <a:r>
                  <a:rPr lang="ja-JP" altLang="en-US" dirty="0"/>
                  <a:t>逆函数定理失效时，引入 </a:t>
                </a:r>
                <a:r>
                  <a:rPr lang="en-US" altLang="ja-JP" dirty="0"/>
                  <a:t>tameness / smoothing </a:t>
                </a:r>
                <a:r>
                  <a:rPr lang="ja-JP" altLang="en-US" dirty="0"/>
                  <a:t>等结构来恢复某种可逆性理论。</a:t>
                </a:r>
                <a:endParaRPr lang="zh-CN" altLang="en-US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ED9E17E3-BB4D-F57F-6FCA-84F3E15899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  <a:blipFill>
                <a:blip r:embed="rId3"/>
                <a:stretch>
                  <a:fillRect l="-526" t="-1009" r="-579" b="-37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57444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02040-3183-B8A1-8FB3-E5558E5F7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4C4275B7-22F5-675D-7B2C-F7F5EAF986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b="1" dirty="0"/>
              <a:t>机器学习中的</a:t>
            </a:r>
            <a:r>
              <a:rPr lang="en-US" altLang="zh-CN" b="1" dirty="0"/>
              <a:t>Fréchet </a:t>
            </a:r>
            <a:r>
              <a:rPr lang="zh-CN" altLang="en-US" b="1" dirty="0"/>
              <a:t>流形</a:t>
            </a:r>
          </a:p>
        </p:txBody>
      </p:sp>
      <p:sp>
        <p:nvSpPr>
          <p:cNvPr id="12" name="コンテンツ プレースホルダー 2">
            <a:extLst>
              <a:ext uri="{FF2B5EF4-FFF2-40B4-BE49-F238E27FC236}">
                <a16:creationId xmlns:a16="http://schemas.microsoft.com/office/drawing/2014/main" id="{DBA61F33-4262-A6EC-998F-43CAB3BF9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112520"/>
            <a:ext cx="11582400" cy="5440680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机器学习论文很少直接说“在一个 </a:t>
            </a:r>
            <a:r>
              <a:rPr lang="en-US" altLang="zh-CN" dirty="0"/>
              <a:t>Fréchet </a:t>
            </a:r>
            <a:r>
              <a:rPr lang="zh-CN" altLang="en-US" dirty="0"/>
              <a:t>流形上训练”； 但一旦讨论的是 </a:t>
            </a:r>
            <a:r>
              <a:rPr lang="zh-CN" altLang="en-US" b="1" dirty="0"/>
              <a:t>无穷光滑映射、微分同胚群、嵌入空间、平滑形状空间</a:t>
            </a:r>
            <a:r>
              <a:rPr lang="zh-CN" altLang="en-US" dirty="0"/>
              <a:t>，数学背景往往天然是 </a:t>
            </a:r>
            <a:r>
              <a:rPr lang="en-US" altLang="zh-CN" dirty="0"/>
              <a:t>Fréchet </a:t>
            </a:r>
            <a:r>
              <a:rPr lang="zh-CN" altLang="en-US" dirty="0"/>
              <a:t>流形。 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例如：</a:t>
            </a:r>
          </a:p>
          <a:p>
            <a:r>
              <a:rPr lang="en-US" altLang="zh-CN" dirty="0"/>
              <a:t>diffeomorphic registration </a:t>
            </a:r>
            <a:r>
              <a:rPr lang="zh-CN" altLang="en-US" dirty="0"/>
              <a:t>的 </a:t>
            </a:r>
            <a:r>
              <a:rPr lang="en-US" altLang="zh-CN" dirty="0"/>
              <a:t>smooth </a:t>
            </a:r>
            <a:r>
              <a:rPr lang="zh-CN" altLang="en-US" dirty="0"/>
              <a:t>版本； </a:t>
            </a:r>
          </a:p>
          <a:p>
            <a:r>
              <a:rPr lang="zh-CN" altLang="en-US" dirty="0"/>
              <a:t>连续 </a:t>
            </a:r>
            <a:r>
              <a:rPr lang="en-US" altLang="zh-CN" dirty="0"/>
              <a:t>shape spaces</a:t>
            </a:r>
            <a:r>
              <a:rPr lang="zh-CN" altLang="en-US" dirty="0"/>
              <a:t>； </a:t>
            </a:r>
          </a:p>
          <a:p>
            <a:r>
              <a:rPr lang="zh-CN" altLang="en-US" dirty="0"/>
              <a:t>某些几何生成模型； </a:t>
            </a:r>
          </a:p>
          <a:p>
            <a:r>
              <a:rPr lang="zh-CN" altLang="en-US" dirty="0"/>
              <a:t>光滑变形群上的学习； </a:t>
            </a:r>
          </a:p>
          <a:p>
            <a:r>
              <a:rPr lang="zh-CN" altLang="en-US" dirty="0"/>
              <a:t>作用在 </a:t>
            </a:r>
            <a:r>
              <a:rPr lang="en-US" altLang="zh-CN" dirty="0"/>
              <a:t>smooth maps </a:t>
            </a:r>
            <a:r>
              <a:rPr lang="zh-CN" altLang="en-US" dirty="0"/>
              <a:t>上的优化。 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但实际做数值分析时，通常又会退回 </a:t>
            </a:r>
            <a:r>
              <a:rPr lang="en-US" altLang="zh-CN" dirty="0"/>
              <a:t>Sobolev </a:t>
            </a:r>
            <a:r>
              <a:rPr lang="zh-CN" altLang="en-US" dirty="0"/>
              <a:t>完备，使问题落在 </a:t>
            </a:r>
            <a:r>
              <a:rPr lang="en-US" altLang="zh-CN" dirty="0"/>
              <a:t>Hilbert/Banach </a:t>
            </a:r>
            <a:r>
              <a:rPr lang="zh-CN" altLang="en-US" dirty="0"/>
              <a:t>流形里，因为那样更便于估计和收敛分析。</a:t>
            </a:r>
          </a:p>
        </p:txBody>
      </p:sp>
    </p:spTree>
    <p:extLst>
      <p:ext uri="{BB962C8B-B14F-4D97-AF65-F5344CB8AC3E}">
        <p14:creationId xmlns:p14="http://schemas.microsoft.com/office/powerpoint/2010/main" val="22255626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64B65-13C2-9AB3-B0E6-8C55BB445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ECBCD521-6B04-6D4C-5358-937E3B12C6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很多重要定理必须在完备背景下成立</a:t>
            </a:r>
          </a:p>
        </p:txBody>
      </p:sp>
      <p:sp>
        <p:nvSpPr>
          <p:cNvPr id="12" name="コンテンツ プレースホルダー 2">
            <a:extLst>
              <a:ext uri="{FF2B5EF4-FFF2-40B4-BE49-F238E27FC236}">
                <a16:creationId xmlns:a16="http://schemas.microsoft.com/office/drawing/2014/main" id="{656F87CD-AA1D-C4C6-7CB5-DACE0B77F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112520"/>
            <a:ext cx="11582400" cy="5440680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1" dirty="0"/>
              <a:t>Baire </a:t>
            </a:r>
            <a:r>
              <a:rPr lang="zh-CN" altLang="en-US" b="1" dirty="0"/>
              <a:t>纲定理</a:t>
            </a:r>
            <a:endParaRPr lang="en-US" altLang="zh-CN" dirty="0"/>
          </a:p>
          <a:p>
            <a:endParaRPr lang="en-US" altLang="zh-CN" b="1" dirty="0"/>
          </a:p>
          <a:p>
            <a:pPr marL="0" indent="0">
              <a:buNone/>
            </a:pPr>
            <a:r>
              <a:rPr lang="zh-CN" altLang="en-US" b="1" dirty="0"/>
              <a:t>开映射定理： </a:t>
            </a:r>
            <a:r>
              <a:rPr lang="zh-CN" altLang="en-US" dirty="0"/>
              <a:t>通常要求空间是 </a:t>
            </a:r>
            <a:r>
              <a:rPr lang="en-US" altLang="zh-CN" b="1" dirty="0"/>
              <a:t>Banach </a:t>
            </a:r>
            <a:r>
              <a:rPr lang="zh-CN" altLang="en-US" b="1" dirty="0"/>
              <a:t>空间</a:t>
            </a:r>
            <a:r>
              <a:rPr lang="zh-CN" altLang="en-US" dirty="0"/>
              <a:t>。依赖完备性。</a:t>
            </a:r>
          </a:p>
          <a:p>
            <a:pPr marL="0" indent="0">
              <a:buNone/>
            </a:pPr>
            <a:endParaRPr lang="en-US" altLang="zh-CN" b="1" dirty="0"/>
          </a:p>
          <a:p>
            <a:pPr marL="0" indent="0">
              <a:buNone/>
            </a:pPr>
            <a:r>
              <a:rPr lang="zh-CN" altLang="en-US" b="1" dirty="0"/>
              <a:t>闭图像定理：</a:t>
            </a:r>
            <a:r>
              <a:rPr lang="zh-CN" altLang="en-US" dirty="0"/>
              <a:t>经典形式也要求 </a:t>
            </a:r>
            <a:r>
              <a:rPr lang="en-US" altLang="zh-CN" b="1" dirty="0"/>
              <a:t>Banach </a:t>
            </a:r>
            <a:r>
              <a:rPr lang="zh-CN" altLang="en-US" b="1" dirty="0"/>
              <a:t>空间</a:t>
            </a:r>
            <a:r>
              <a:rPr lang="zh-CN" altLang="en-US" dirty="0"/>
              <a:t>。本质上依赖完备性。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b="1" dirty="0"/>
              <a:t>共鸣定理（一致有界原理）：</a:t>
            </a:r>
            <a:r>
              <a:rPr lang="zh-CN" altLang="en-US" dirty="0"/>
              <a:t>建立在 </a:t>
            </a:r>
            <a:r>
              <a:rPr lang="en-US" altLang="zh-CN" b="1" dirty="0"/>
              <a:t>Banach </a:t>
            </a:r>
            <a:r>
              <a:rPr lang="zh-CN" altLang="en-US" b="1" dirty="0"/>
              <a:t>空间 </a:t>
            </a:r>
            <a:r>
              <a:rPr lang="en-US" altLang="zh-CN" b="1" dirty="0"/>
              <a:t>/ Baire </a:t>
            </a:r>
            <a:r>
              <a:rPr lang="zh-CN" altLang="en-US" b="1" dirty="0"/>
              <a:t>纲定理</a:t>
            </a:r>
            <a:r>
              <a:rPr lang="zh-CN" altLang="en-US" dirty="0"/>
              <a:t> 的基础上。与完备性密切相关。</a:t>
            </a:r>
          </a:p>
        </p:txBody>
      </p:sp>
    </p:spTree>
    <p:extLst>
      <p:ext uri="{BB962C8B-B14F-4D97-AF65-F5344CB8AC3E}">
        <p14:creationId xmlns:p14="http://schemas.microsoft.com/office/powerpoint/2010/main" val="30976434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8F03B-E288-0802-ADF7-0667757C6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2A31C02A-0AAC-7557-CAFB-424A6A1069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1" dirty="0"/>
              <a:t>Baire </a:t>
            </a:r>
            <a:r>
              <a:rPr lang="zh-CN" altLang="en-US" b="1" dirty="0"/>
              <a:t>纲定理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7E687B86-FE8E-2860-6FEE-B45F20AE51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2560" y="1112520"/>
                <a:ext cx="11927840" cy="5440680"/>
              </a:xfrm>
            </p:spPr>
            <p:txBody>
              <a:bodyPr/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dirty="0"/>
                  <a:t>简单理解：完备度量空间不可能写成可数个稀疏部分的并。</a:t>
                </a:r>
                <a:endParaRPr lang="en-US" altLang="zh-CN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altLang="zh-CN" sz="1000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ja-JP" altLang="en-US" dirty="0"/>
                  <a:t>设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en-US" dirty="0"/>
                  <a:t>是一个</a:t>
                </a:r>
                <a:r>
                  <a:rPr lang="ja-JP" altLang="en-US" b="1" dirty="0"/>
                  <a:t>完备度量空间</a:t>
                </a:r>
                <a:r>
                  <a:rPr lang="ja-JP" altLang="en-US" dirty="0"/>
                  <a:t>。如果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r>
                  <a:rPr lang="ja-JP" altLang="en-US" dirty="0"/>
                  <a:t>都是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en-US" dirty="0"/>
                  <a:t>中的闭集，并且每个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ja-JP" altLang="en-US" dirty="0"/>
                  <a:t>都</a:t>
                </a:r>
                <a:r>
                  <a:rPr lang="ja-JP" altLang="en-US" b="1" dirty="0"/>
                  <a:t>内部为空</a:t>
                </a:r>
                <a:r>
                  <a:rPr lang="ja-JP" altLang="en-US" dirty="0"/>
                  <a:t>，那么</a:t>
                </a:r>
                <a:endParaRPr lang="en-US" altLang="ja-JP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altLang="zh-CN" sz="1000" dirty="0"/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b="1" dirty="0"/>
                  <a:t>完备度量空间</a:t>
                </a:r>
                <a:r>
                  <a:rPr lang="en-US" altLang="zh-CN" b="1" dirty="0"/>
                  <a:t>: </a:t>
                </a:r>
                <a:r>
                  <a:rPr lang="zh-CN" altLang="en-US" dirty="0"/>
                  <a:t>空间里任意 </a:t>
                </a:r>
                <a:r>
                  <a:rPr lang="en-US" altLang="zh-CN" dirty="0"/>
                  <a:t>Cauchy </a:t>
                </a:r>
                <a:r>
                  <a:rPr lang="zh-CN" altLang="en-US" dirty="0"/>
                  <a:t>列都真的收敛到这个空间中的点。</a:t>
                </a:r>
                <a:endParaRPr lang="en-US" altLang="zh-CN" dirty="0"/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b="1" dirty="0"/>
                  <a:t>内部为空：</a:t>
                </a:r>
                <a:r>
                  <a:rPr lang="zh-CN" altLang="en-US" dirty="0"/>
                  <a:t>一个集合“内部为空”意思是它里面不包含任何一个非空开集。即这个集合在空间里“没有一块真正厚实的区域”。</a:t>
                </a:r>
                <a:endParaRPr lang="en-US" altLang="zh-CN" dirty="0"/>
              </a:p>
              <a:p>
                <a:pPr marL="457200" lvl="1" indent="0">
                  <a:lnSpc>
                    <a:spcPct val="110000"/>
                  </a:lnSpc>
                  <a:buNone/>
                </a:pPr>
                <a:r>
                  <a:rPr lang="zh-CN" altLang="en-US" dirty="0"/>
                  <a:t>例如在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zh-CN" altLang="en-US" dirty="0"/>
                  <a:t>里：单个点集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dirty="0"/>
                  <a:t>的内部为空；有限集、可数集的内部通常都为空；一条线段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sepChr m:val=",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zh-CN" altLang="en-US" dirty="0"/>
                  <a:t>在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zh-CN" altLang="en-US" dirty="0"/>
                  <a:t>中内部就不空（若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&lt;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dirty="0"/>
                  <a:t>）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Baire </a:t>
                </a:r>
                <a:r>
                  <a:rPr lang="zh-CN" altLang="en-US" dirty="0"/>
                  <a:t>纲定理在直觉上是在说：在完备空间里，不能把整个空间拆成“可数多个到处都很薄的闭集合”。或者说：一个完备空间整体上是“很大”的，不能由可数多个“没有内部的闭集”拼满。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ja-JP" altLang="en-US" b="1" dirty="0">
                    <a:solidFill>
                      <a:srgbClr val="7030A0"/>
                    </a:solidFill>
                  </a:rPr>
                  <a:t>等价形式</a:t>
                </a:r>
                <a:r>
                  <a:rPr lang="zh-CN" altLang="en-US" b="1" dirty="0"/>
                  <a:t>：</a:t>
                </a:r>
                <a:r>
                  <a:rPr lang="ja-JP" altLang="en-US" dirty="0"/>
                  <a:t>若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en-US" dirty="0"/>
                  <a:t>是完备度量空间，而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r>
                  <a:rPr lang="ja-JP" altLang="en-US" dirty="0"/>
                  <a:t>是一列</a:t>
                </a:r>
                <a:r>
                  <a:rPr lang="ja-JP" altLang="en-US" b="1" dirty="0"/>
                  <a:t>稠密开集</a:t>
                </a:r>
                <a:r>
                  <a:rPr lang="ja-JP" altLang="en-US" dirty="0"/>
                  <a:t>，那么</a:t>
                </a:r>
                <a14:m>
                  <m:oMath xmlns:m="http://schemas.openxmlformats.org/officeDocument/2006/math">
                    <m:nary>
                      <m:naryPr>
                        <m:chr m:val="⋂"/>
                        <m:grow m:val="on"/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仍然是稠密的，特别地它非空。</a:t>
                </a:r>
                <a:endParaRPr lang="zh-CN" altLang="en-US" dirty="0"/>
              </a:p>
              <a:p>
                <a:pPr marL="0" indent="0">
                  <a:buNone/>
                </a:pPr>
                <a:r>
                  <a:rPr lang="ja-JP" altLang="en-US" dirty="0"/>
                  <a:t>⇒　</a:t>
                </a:r>
                <a:r>
                  <a:rPr lang="zh-CN" altLang="en-US" dirty="0"/>
                  <a:t>“闭且内部为空”和“补集是稠密开集”正好对应：若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/>
                  <a:t>是闭集且内部为空， 那么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∖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/>
                  <a:t>是开集，而且还是稠密的。</a:t>
                </a:r>
              </a:p>
              <a:p>
                <a:pPr marL="57150" indent="0">
                  <a:lnSpc>
                    <a:spcPct val="110000"/>
                  </a:lnSpc>
                  <a:buNone/>
                </a:pPr>
                <a:endParaRPr lang="zh-CN" altLang="en-US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zh-CN" altLang="en-US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7E687B86-FE8E-2860-6FEE-B45F20AE51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2560" y="1112520"/>
                <a:ext cx="11927840" cy="5440680"/>
              </a:xfrm>
              <a:blipFill>
                <a:blip r:embed="rId3"/>
                <a:stretch>
                  <a:fillRect l="-562" t="-897" r="-1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図 2">
            <a:extLst>
              <a:ext uri="{FF2B5EF4-FFF2-40B4-BE49-F238E27FC236}">
                <a16:creationId xmlns:a16="http://schemas.microsoft.com/office/drawing/2014/main" id="{8167301D-CE89-E77B-9467-5716500548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6240" y="1573998"/>
            <a:ext cx="1210525" cy="70083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4EF2872-84BD-8860-5DCC-02EA155AC5B8}"/>
              </a:ext>
            </a:extLst>
          </p:cNvPr>
          <p:cNvSpPr txBox="1"/>
          <p:nvPr/>
        </p:nvSpPr>
        <p:spPr>
          <a:xfrm>
            <a:off x="4973320" y="182880"/>
            <a:ext cx="71678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https://www.bananaspace.org/wiki/Baire_%E7%BA%B2%E5%AE%9A%E7%90%86</a:t>
            </a:r>
            <a:endParaRPr lang="en-US" altLang="ja-JP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1400" dirty="0">
                <a:latin typeface="+mj-ea"/>
                <a:ea typeface="+mj-ea"/>
                <a:cs typeface="Times New Roman" panose="02020603050405020304" pitchFamily="18" charset="0"/>
              </a:rPr>
              <a:t>证明中用到完备性来构造</a:t>
            </a:r>
            <a:r>
              <a:rPr lang="ja-JP" altLang="en-US" sz="1400" dirty="0">
                <a:latin typeface="+mj-ea"/>
                <a:ea typeface="+mj-ea"/>
              </a:rPr>
              <a:t>球 </a:t>
            </a:r>
            <a:r>
              <a:rPr lang="en-US" altLang="ja-JP" sz="1400" i="1" dirty="0">
                <a:latin typeface="+mj-ea"/>
                <a:ea typeface="+mj-ea"/>
              </a:rPr>
              <a:t>B</a:t>
            </a:r>
            <a:r>
              <a:rPr lang="en-US" altLang="ja-JP" sz="1400" dirty="0">
                <a:latin typeface="+mj-ea"/>
                <a:ea typeface="+mj-ea"/>
              </a:rPr>
              <a:t>(</a:t>
            </a:r>
            <a:r>
              <a:rPr lang="en-US" altLang="ja-JP" sz="1400" i="1" dirty="0">
                <a:latin typeface="+mj-ea"/>
                <a:ea typeface="+mj-ea"/>
              </a:rPr>
              <a:t>x</a:t>
            </a:r>
            <a:r>
              <a:rPr lang="en-US" altLang="ja-JP" sz="1400" dirty="0">
                <a:latin typeface="+mj-ea"/>
                <a:ea typeface="+mj-ea"/>
              </a:rPr>
              <a:t>0​,</a:t>
            </a:r>
            <a:r>
              <a:rPr lang="en-US" altLang="ja-JP" sz="1400" i="1" dirty="0">
                <a:latin typeface="+mj-ea"/>
                <a:ea typeface="+mj-ea"/>
              </a:rPr>
              <a:t>r</a:t>
            </a:r>
            <a:r>
              <a:rPr lang="en-US" altLang="ja-JP" sz="1400" dirty="0">
                <a:latin typeface="+mj-ea"/>
                <a:ea typeface="+mj-ea"/>
              </a:rPr>
              <a:t>0​)</a:t>
            </a:r>
            <a:endParaRPr lang="ja-JP" altLang="en-US" sz="1400" dirty="0">
              <a:latin typeface="+mj-ea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59680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B2923-8118-D321-0FBD-4954C420A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46E99F62-88EF-AB92-3CED-0793343A4C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b="1" dirty="0"/>
              <a:t>开映射定理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AFFAFCAB-F530-38A9-0E5C-F62A8B1948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4000" y="1112520"/>
                <a:ext cx="1183640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dirty="0"/>
                  <a:t>设 </a:t>
                </a:r>
                <a14:m>
                  <m:oMath xmlns:m="http://schemas.openxmlformats.org/officeDocument/2006/math">
                    <m:r>
                      <a:rPr lang="zh-CN" altLang="en-US" b="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b="0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en-US" dirty="0"/>
                  <a:t>是 </a:t>
                </a:r>
                <a:r>
                  <a:rPr lang="en-US" altLang="zh-CN" dirty="0"/>
                  <a:t>Banach </a:t>
                </a:r>
                <a:r>
                  <a:rPr lang="zh-CN" altLang="en-US" dirty="0"/>
                  <a:t>空间，</a:t>
                </a:r>
                <a14:m>
                  <m:oMath xmlns:m="http://schemas.openxmlformats.org/officeDocument/2006/math">
                    <m:r>
                      <a:rPr lang="zh-CN" altLang="en-US" b="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b="0">
                        <a:latin typeface="Cambria Math" panose="02040503050406030204" pitchFamily="18" charset="0"/>
                      </a:rPr>
                      <m:t>:</m:t>
                    </m:r>
                    <m:r>
                      <a:rPr lang="zh-CN" altLang="en-US" b="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zh-CN" altLang="en-US" b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zh-CN" altLang="en-US" b="0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en-US" dirty="0"/>
                  <a:t>是 连续线性算子。如果 </a:t>
                </a:r>
                <a14:m>
                  <m:oMath xmlns:m="http://schemas.openxmlformats.org/officeDocument/2006/math">
                    <m:r>
                      <a:rPr lang="zh-CN" altLang="en-US" b="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zh-CN" altLang="en-US" dirty="0"/>
                  <a:t>是满射，那么 </a:t>
                </a:r>
                <a14:m>
                  <m:oMath xmlns:m="http://schemas.openxmlformats.org/officeDocument/2006/math">
                    <m:r>
                      <a:rPr lang="zh-CN" altLang="en-US" b="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zh-CN" altLang="en-US" dirty="0"/>
                  <a:t>是开映射。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sz="1000" dirty="0"/>
              </a:p>
              <a:p>
                <a:pPr marL="0" indent="0">
                  <a:buNone/>
                </a:pPr>
                <a:r>
                  <a:rPr lang="zh-CN" altLang="en-US" dirty="0"/>
                  <a:t>“开映射”：任意开集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⊂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，它的像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d>
                    <m:r>
                      <a:rPr lang="zh-CN" altLang="en-US">
                        <a:latin typeface="Cambria Math" panose="02040503050406030204" pitchFamily="18" charset="0"/>
                      </a:rPr>
                      <m:t>⊂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en-US" dirty="0"/>
                  <a:t>也是开集。也就是说，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zh-CN" altLang="en-US" dirty="0"/>
                  <a:t> 不会把一个“有厚度的开集”压扁成一个没有内部的集合。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sz="1000" dirty="0"/>
              </a:p>
              <a:p>
                <a:pPr marL="0" indent="0">
                  <a:buNone/>
                </a:pPr>
                <a:r>
                  <a:rPr lang="zh-CN" altLang="en-US" dirty="0"/>
                  <a:t>常用等价说法：</a:t>
                </a:r>
                <a:endParaRPr lang="en-US" altLang="zh-CN" dirty="0"/>
              </a:p>
              <a:p>
                <a:pPr marL="400050" lvl="1" indent="0">
                  <a:buNone/>
                </a:pPr>
                <a:r>
                  <a:rPr lang="zh-CN" altLang="en-US" dirty="0"/>
                  <a:t>在线性空间里，最常用的是单位开球：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:∥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∥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altLang="zh-CN" dirty="0"/>
              </a:p>
              <a:p>
                <a:pPr marL="400050" lvl="1" indent="0">
                  <a:buNone/>
                </a:pPr>
                <a:r>
                  <a:rPr lang="zh-CN" altLang="en-US" dirty="0"/>
                  <a:t>如果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: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en-US" dirty="0"/>
                  <a:t>是 </a:t>
                </a:r>
                <a:r>
                  <a:rPr lang="en-US" altLang="zh-CN" dirty="0"/>
                  <a:t>Banach </a:t>
                </a:r>
                <a:r>
                  <a:rPr lang="zh-CN" altLang="en-US" dirty="0"/>
                  <a:t>空间之间的连续线性满射，那么存在常数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dirty="0"/>
                  <a:t>，使得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zh-CN" altLang="en-US">
                        <a:latin typeface="Cambria Math" panose="02040503050406030204" pitchFamily="18" charset="0"/>
                      </a:rPr>
                      <m:t>⊂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d>
                  </m:oMath>
                </a14:m>
                <a:endParaRPr lang="en-US" altLang="zh-CN" dirty="0"/>
              </a:p>
              <a:p>
                <a:pPr marL="400050" lvl="1" indent="0">
                  <a:buNone/>
                </a:pPr>
                <a:r>
                  <a:rPr lang="zh-CN" altLang="en-US" dirty="0"/>
                  <a:t>意思是：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里单位球经过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zh-CN" altLang="en-US" dirty="0"/>
                  <a:t>以后，至少会在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en-US" dirty="0"/>
                  <a:t>里覆盖一个小球，不会只变成一个很瘦的集合。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ja-JP" b="1" dirty="0"/>
                  <a:t>T </a:t>
                </a:r>
                <a:r>
                  <a:rPr lang="ja-JP" altLang="en-US" b="1" dirty="0"/>
                  <a:t>是连续线性算子</a:t>
                </a:r>
                <a:r>
                  <a:rPr lang="en-US" altLang="ja-JP" b="1" dirty="0"/>
                  <a:t>:</a:t>
                </a:r>
                <a14:m>
                  <m:oMath xmlns:m="http://schemas.openxmlformats.org/officeDocument/2006/math">
                    <m:r>
                      <a:rPr lang="en-US" altLang="ja-JP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+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, 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</a:rPr>
                      <m:t>；</m:t>
                    </m:r>
                  </m:oMath>
                </a14:m>
                <a:r>
                  <a:rPr lang="ja-JP" altLang="en-US" dirty="0"/>
                  <a:t>连续表示它不会把很小的变化放大到失控在线性赋范空间里，“连续线性”也等价于“有界线性”。</a:t>
                </a:r>
                <a:endParaRPr lang="en-US" altLang="ja-JP" dirty="0"/>
              </a:p>
              <a:p>
                <a:pPr marL="0" indent="0">
                  <a:buNone/>
                </a:pPr>
                <a:r>
                  <a:rPr lang="en-US" altLang="zh-CN" b="1" dirty="0"/>
                  <a:t>T </a:t>
                </a:r>
                <a:r>
                  <a:rPr lang="zh-CN" altLang="en-US" b="1" dirty="0"/>
                  <a:t>是满射：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en-US" dirty="0"/>
                  <a:t>里的每个点都能写成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dirty="0"/>
                  <a:t>的形式。如果不是满射，那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d>
                  </m:oMath>
                </a14:m>
                <a:r>
                  <a:rPr lang="zh-CN" altLang="en-US" dirty="0"/>
                  <a:t>连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en-US" dirty="0"/>
                  <a:t>都铺不满，一般不可能对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en-US" dirty="0"/>
                  <a:t>中的开集结构有好的覆盖性质。</a:t>
                </a:r>
                <a:endParaRPr lang="en-US" altLang="zh-CN" dirty="0"/>
              </a:p>
              <a:p>
                <a:r>
                  <a:rPr lang="zh-CN" altLang="en-US" dirty="0"/>
                  <a:t>推论：如果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: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en-US" dirty="0"/>
                  <a:t>是连续线性双射，且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en-US" dirty="0"/>
                  <a:t>都是 </a:t>
                </a:r>
                <a:r>
                  <a:rPr lang="en-US" altLang="zh-CN" dirty="0"/>
                  <a:t>Banach </a:t>
                </a:r>
                <a:r>
                  <a:rPr lang="zh-CN" altLang="en-US" dirty="0"/>
                  <a:t>空间，那么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zh-CN">
                        <a:latin typeface="Cambria Math" panose="02040503050406030204" pitchFamily="18" charset="0"/>
                      </a:rPr>
                      <m:t>: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也是连续的。</a:t>
                </a:r>
              </a:p>
              <a:p>
                <a:pPr marL="0" indent="0">
                  <a:buNone/>
                </a:pPr>
                <a:r>
                  <a:rPr lang="en-US" altLang="zh-CN" b="1" dirty="0"/>
                  <a:t>          </a:t>
                </a:r>
                <a:r>
                  <a:rPr lang="en-US" altLang="zh-CN" b="1" dirty="0">
                    <a:solidFill>
                      <a:srgbClr val="7030A0"/>
                    </a:solidFill>
                  </a:rPr>
                  <a:t>Banach </a:t>
                </a:r>
                <a:r>
                  <a:rPr lang="zh-CN" altLang="en-US" b="1" dirty="0">
                    <a:solidFill>
                      <a:srgbClr val="7030A0"/>
                    </a:solidFill>
                  </a:rPr>
                  <a:t>空间之间的连续线性双射自动是同构</a:t>
                </a:r>
                <a:endParaRPr lang="zh-CN" altLang="en-US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zh-CN" altLang="en-US" dirty="0"/>
              </a:p>
              <a:p>
                <a:pPr marL="0" indent="0">
                  <a:buNone/>
                </a:pPr>
                <a:endParaRPr lang="ja-JP" altLang="en-US" dirty="0"/>
              </a:p>
              <a:p>
                <a:pPr marL="0" indent="0">
                  <a:buNone/>
                </a:pPr>
                <a:endParaRPr lang="zh-CN" altLang="en-US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zh-CN" altLang="en-US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AFFAFCAB-F530-38A9-0E5C-F62A8B1948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4000" y="1112520"/>
                <a:ext cx="11836400" cy="5440680"/>
              </a:xfrm>
              <a:blipFill>
                <a:blip r:embed="rId3"/>
                <a:stretch>
                  <a:fillRect l="-567" t="-1009" b="-179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69E38D2-E6DA-C093-8FD1-DF83E5A7EF6E}"/>
              </a:ext>
            </a:extLst>
          </p:cNvPr>
          <p:cNvSpPr txBox="1"/>
          <p:nvPr/>
        </p:nvSpPr>
        <p:spPr>
          <a:xfrm>
            <a:off x="5328920" y="589895"/>
            <a:ext cx="6106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+mj-ea"/>
                <a:ea typeface="+mj-ea"/>
              </a:rPr>
              <a:t>开映射定理的证明依赖 </a:t>
            </a:r>
            <a:r>
              <a:rPr lang="en-US" altLang="zh-CN" sz="1400" dirty="0">
                <a:latin typeface="+mj-ea"/>
                <a:ea typeface="+mj-ea"/>
              </a:rPr>
              <a:t>Baire </a:t>
            </a:r>
            <a:r>
              <a:rPr lang="zh-CN" altLang="en-US" sz="1400" dirty="0">
                <a:latin typeface="+mj-ea"/>
                <a:ea typeface="+mj-ea"/>
              </a:rPr>
              <a:t>纲定理，而 </a:t>
            </a:r>
            <a:r>
              <a:rPr lang="en-US" altLang="zh-CN" sz="1400" dirty="0">
                <a:latin typeface="+mj-ea"/>
                <a:ea typeface="+mj-ea"/>
              </a:rPr>
              <a:t>Baire </a:t>
            </a:r>
            <a:r>
              <a:rPr lang="zh-CN" altLang="en-US" sz="1400" dirty="0">
                <a:latin typeface="+mj-ea"/>
                <a:ea typeface="+mj-ea"/>
              </a:rPr>
              <a:t>纲定理需要完备性</a:t>
            </a:r>
            <a:endParaRPr lang="ja-JP" altLang="en-US" sz="1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29382116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8335D-6FCF-2A85-968C-8ECF143D4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3772C373-3652-1024-1576-DC6FDFFE9A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b="1" dirty="0"/>
              <a:t>闭图像定理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1B61FE54-66C2-6CBF-A064-93D6D14FD9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</p:spPr>
            <p:txBody>
              <a:bodyPr/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dirty="0"/>
                  <a:t>设 </a:t>
                </a:r>
                <a14:m>
                  <m:oMath xmlns:m="http://schemas.openxmlformats.org/officeDocument/2006/math">
                    <m:r>
                      <a:rPr lang="zh-CN" altLang="en-US" b="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b="0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en-US" dirty="0"/>
                  <a:t>是 </a:t>
                </a:r>
                <a:r>
                  <a:rPr lang="en-US" altLang="zh-CN" dirty="0"/>
                  <a:t>Banach </a:t>
                </a:r>
                <a:r>
                  <a:rPr lang="zh-CN" altLang="en-US" dirty="0"/>
                  <a:t>空间，</a:t>
                </a:r>
                <a14:m>
                  <m:oMath xmlns:m="http://schemas.openxmlformats.org/officeDocument/2006/math">
                    <m:r>
                      <a:rPr lang="zh-CN" altLang="en-US" b="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b="0">
                        <a:latin typeface="Cambria Math" panose="02040503050406030204" pitchFamily="18" charset="0"/>
                      </a:rPr>
                      <m:t>:</m:t>
                    </m:r>
                    <m:r>
                      <a:rPr lang="zh-CN" altLang="en-US" b="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zh-CN" altLang="en-US" b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zh-CN" altLang="en-US" b="0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en-US" dirty="0"/>
                  <a:t>是一个线性算子。如果 </a:t>
                </a:r>
                <a14:m>
                  <m:oMath xmlns:m="http://schemas.openxmlformats.org/officeDocument/2006/math">
                    <m:r>
                      <a:rPr lang="zh-CN" altLang="en-US" b="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zh-CN" altLang="en-US" dirty="0"/>
                  <a:t>的图像</a:t>
                </a:r>
                <a14:m>
                  <m:oMath xmlns:m="http://schemas.openxmlformats.org/officeDocument/2006/math">
                    <m:r>
                      <a:rPr lang="zh-CN" altLang="en-US" b="0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altLang="zh-CN" b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CN" b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b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zh-CN" altLang="en-US" b="0">
                        <a:latin typeface="Cambria Math" panose="02040503050406030204" pitchFamily="18" charset="0"/>
                      </a:rPr>
                      <m:t>⊂</m:t>
                    </m:r>
                    <m:r>
                      <a:rPr lang="zh-CN" altLang="en-US" b="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>
                        <a:latin typeface="Cambria Math" panose="02040503050406030204" pitchFamily="18" charset="0"/>
                      </a:rPr>
                      <m:t>×</m:t>
                    </m:r>
                    <m:r>
                      <a:rPr lang="zh-CN" altLang="en-US" b="0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en-US" dirty="0"/>
                  <a:t> 是闭集，那么 </a:t>
                </a:r>
                <a14:m>
                  <m:oMath xmlns:m="http://schemas.openxmlformats.org/officeDocument/2006/math">
                    <m:r>
                      <a:rPr lang="zh-CN" altLang="en-US" b="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zh-CN" altLang="en-US" dirty="0"/>
                  <a:t>是连续的。</a:t>
                </a:r>
                <a:endParaRPr lang="en-US" altLang="zh-CN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altLang="zh-CN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dirty="0"/>
                  <a:t>图像：把每个输入和输出配成一对，放到乘积空间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×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en-US" dirty="0"/>
                  <a:t>里</a:t>
                </a:r>
                <a:endParaRPr lang="en-US" altLang="zh-CN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ja-JP" altLang="en-US" dirty="0"/>
                  <a:t>闭图像</a:t>
                </a:r>
                <a:r>
                  <a:rPr lang="zh-CN" altLang="en-US" dirty="0"/>
                  <a:t>：</a:t>
                </a:r>
                <a:r>
                  <a:rPr lang="ja-JP" altLang="en-US" dirty="0"/>
                  <a:t>如果有一列点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𝑇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ar-AE" altLang="ja-JP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∈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ja-JP" altLang="en-US" dirty="0"/>
                  <a:t> 满足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→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, 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𝑇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→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ja-JP" altLang="en-US" dirty="0"/>
                  <a:t> 那么一定有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𝑇𝑥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ja-JP" altLang="en-US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ja-JP" altLang="en-US" dirty="0"/>
                  <a:t> ⇒　只要输入收敛、对应输出也收敛，那么极限点仍然落在图像里。</a:t>
                </a:r>
                <a:endParaRPr lang="en-US" altLang="ja-JP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altLang="ja-JP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dirty="0"/>
                  <a:t>意思：对 </a:t>
                </a:r>
                <a:r>
                  <a:rPr lang="en-US" altLang="zh-CN" dirty="0"/>
                  <a:t>Banach </a:t>
                </a:r>
                <a:r>
                  <a:rPr lang="zh-CN" altLang="en-US" dirty="0"/>
                  <a:t>空间之间的线性算子，</a:t>
                </a:r>
                <a:r>
                  <a:rPr lang="zh-CN" altLang="en-US" dirty="0">
                    <a:solidFill>
                      <a:srgbClr val="C00000"/>
                    </a:solidFill>
                  </a:rPr>
                  <a:t>只要“图像在乘积空间里是闭的”，就能推出它自动连续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dirty="0"/>
                  <a:t>连续性的弱化版本：</a:t>
                </a:r>
              </a:p>
              <a:p>
                <a:pPr>
                  <a:lnSpc>
                    <a:spcPct val="110000"/>
                  </a:lnSpc>
                </a:pPr>
                <a:r>
                  <a:rPr lang="zh-CN" altLang="en-US" dirty="0"/>
                  <a:t>连续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：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zh-CN" alt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 ⟹ 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𝑇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zh-CN" alt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𝑇𝑥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zh-CN" altLang="en-US" dirty="0"/>
              </a:p>
              <a:p>
                <a:pPr>
                  <a:lnSpc>
                    <a:spcPct val="110000"/>
                  </a:lnSpc>
                </a:pPr>
                <a:r>
                  <a:rPr lang="zh-CN" altLang="en-US" dirty="0"/>
                  <a:t>闭图像：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zh-CN" alt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zh-CN" altLang="en-US" i="1"/>
                      <m:t>  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𝑇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zh-CN" alt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 ⟹ 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𝑇𝑥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zh-CN" altLang="en-US" dirty="0"/>
                  <a:t>   输出极限不能乱跑，必须和输入极限匹配。（</a:t>
                </a:r>
                <a:r>
                  <a:rPr lang="ja-JP" altLang="en-US" dirty="0"/>
                  <a:t>线性 </a:t>
                </a:r>
                <a:r>
                  <a:rPr lang="en-US" altLang="ja-JP" dirty="0"/>
                  <a:t>+ Banach </a:t>
                </a:r>
                <a:r>
                  <a:rPr lang="ja-JP" altLang="en-US" dirty="0"/>
                  <a:t>的背景</a:t>
                </a:r>
                <a:r>
                  <a:rPr lang="zh-CN" altLang="en-US" dirty="0"/>
                  <a:t>下，这种弱条件能说明连续）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ja-JP" altLang="en-US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1B61FE54-66C2-6CBF-A064-93D6D14FD9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  <a:blipFill>
                <a:blip r:embed="rId3"/>
                <a:stretch>
                  <a:fillRect l="-526" t="-89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D081AF6C-8AF3-80E7-2A60-90AB52F8C1D4}"/>
                  </a:ext>
                </a:extLst>
              </p:cNvPr>
              <p:cNvSpPr txBox="1"/>
              <p:nvPr/>
            </p:nvSpPr>
            <p:spPr>
              <a:xfrm>
                <a:off x="3738880" y="182880"/>
                <a:ext cx="6106160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zh-CN" altLang="en-US" sz="1400" dirty="0">
                    <a:latin typeface="+mj-ea"/>
                    <a:ea typeface="+mj-ea"/>
                  </a:rPr>
                  <a:t>闭图像定理的证明本质上依赖：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zh-CN" altLang="en-US" sz="1400" dirty="0">
                    <a:latin typeface="+mj-ea"/>
                    <a:ea typeface="+mj-ea"/>
                  </a:rPr>
                  <a:t>图像 </a:t>
                </a:r>
                <a14:m>
                  <m:oMath xmlns:m="http://schemas.openxmlformats.org/officeDocument/2006/math">
                    <m:r>
                      <a:rPr lang="zh-CN" altLang="en-US" sz="1400" i="1">
                        <a:latin typeface="Cambria Math" panose="02040503050406030204" pitchFamily="18" charset="0"/>
                        <a:ea typeface="+mj-ea"/>
                      </a:rPr>
                      <m:t>𝐺</m:t>
                    </m:r>
                    <m:d>
                      <m:dPr>
                        <m:ctrlPr>
                          <a:rPr lang="zh-CN" altLang="en-US" sz="1400" i="1">
                            <a:latin typeface="Cambria Math" panose="02040503050406030204" pitchFamily="18" charset="0"/>
                            <a:ea typeface="+mj-ea"/>
                          </a:rPr>
                        </m:ctrlPr>
                      </m:dPr>
                      <m:e>
                        <m:r>
                          <a:rPr lang="zh-CN" altLang="en-US" sz="1400" i="1">
                            <a:latin typeface="Cambria Math" panose="02040503050406030204" pitchFamily="18" charset="0"/>
                            <a:ea typeface="+mj-ea"/>
                          </a:rPr>
                          <m:t>𝑇</m:t>
                        </m:r>
                      </m:e>
                    </m:d>
                  </m:oMath>
                </a14:m>
                <a:r>
                  <a:rPr lang="zh-CN" altLang="en-US" sz="1400" dirty="0">
                    <a:latin typeface="+mj-ea"/>
                    <a:ea typeface="+mj-ea"/>
                  </a:rPr>
                  <a:t>本身是 </a:t>
                </a:r>
                <a:r>
                  <a:rPr lang="en-US" altLang="zh-CN" sz="1400" dirty="0">
                    <a:solidFill>
                      <a:srgbClr val="C00000"/>
                    </a:solidFill>
                    <a:latin typeface="+mj-ea"/>
                    <a:ea typeface="+mj-ea"/>
                  </a:rPr>
                  <a:t>Banach </a:t>
                </a:r>
                <a:r>
                  <a:rPr lang="zh-CN" altLang="en-US" sz="1400" dirty="0">
                    <a:solidFill>
                      <a:srgbClr val="C00000"/>
                    </a:solidFill>
                    <a:latin typeface="+mj-ea"/>
                    <a:ea typeface="+mj-ea"/>
                  </a:rPr>
                  <a:t>空间</a:t>
                </a:r>
                <a:r>
                  <a:rPr lang="zh-CN" altLang="en-US" sz="1400" dirty="0">
                    <a:latin typeface="+mj-ea"/>
                    <a:ea typeface="+mj-ea"/>
                  </a:rPr>
                  <a:t>（作为闭子空间） 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zh-CN" altLang="en-US" sz="1400" dirty="0">
                    <a:latin typeface="+mj-ea"/>
                    <a:ea typeface="+mj-ea"/>
                  </a:rPr>
                  <a:t>然后利用开映射定理或逆映射定理</a:t>
                </a:r>
              </a:p>
            </p:txBody>
          </p:sp>
        </mc:Choice>
        <mc:Fallback xmlns="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D081AF6C-8AF3-80E7-2A60-90AB52F8C1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8880" y="182880"/>
                <a:ext cx="6106160" cy="738664"/>
              </a:xfrm>
              <a:prstGeom prst="rect">
                <a:avLst/>
              </a:prstGeom>
              <a:blipFill>
                <a:blip r:embed="rId4"/>
                <a:stretch>
                  <a:fillRect l="-299" t="-1653" b="-743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2DBB6A6-4EF8-D402-AD6D-6F65D3C2BBC0}"/>
              </a:ext>
            </a:extLst>
          </p:cNvPr>
          <p:cNvSpPr txBox="1"/>
          <p:nvPr/>
        </p:nvSpPr>
        <p:spPr>
          <a:xfrm>
            <a:off x="8239760" y="182880"/>
            <a:ext cx="37084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1400" dirty="0">
                <a:latin typeface="+mj-ea"/>
                <a:ea typeface="+mj-ea"/>
              </a:rPr>
              <a:t>开映射定理：连续线性满射 ⇒</a:t>
            </a:r>
            <a:r>
              <a:rPr lang="en-US" altLang="zh-CN" sz="1400" dirty="0">
                <a:latin typeface="+mj-ea"/>
                <a:ea typeface="+mj-ea"/>
              </a:rPr>
              <a:t> </a:t>
            </a:r>
            <a:r>
              <a:rPr lang="zh-CN" altLang="en-US" sz="1400" dirty="0">
                <a:latin typeface="+mj-ea"/>
                <a:ea typeface="+mj-ea"/>
              </a:rPr>
              <a:t>开映射 </a:t>
            </a:r>
          </a:p>
          <a:p>
            <a:pPr>
              <a:buNone/>
            </a:pPr>
            <a:r>
              <a:rPr lang="zh-CN" altLang="en-US" sz="1400" dirty="0">
                <a:latin typeface="+mj-ea"/>
                <a:ea typeface="+mj-ea"/>
              </a:rPr>
              <a:t>逆映射定理：连续线性双射 ⇒ 逆连续 </a:t>
            </a:r>
          </a:p>
          <a:p>
            <a:pPr>
              <a:buNone/>
            </a:pPr>
            <a:r>
              <a:rPr lang="zh-CN" altLang="en-US" sz="1400" dirty="0">
                <a:latin typeface="+mj-ea"/>
                <a:ea typeface="+mj-ea"/>
              </a:rPr>
              <a:t>闭图像定理：闭图像线性算子 ⇒ 连续 </a:t>
            </a:r>
          </a:p>
        </p:txBody>
      </p:sp>
    </p:spTree>
    <p:extLst>
      <p:ext uri="{BB962C8B-B14F-4D97-AF65-F5344CB8AC3E}">
        <p14:creationId xmlns:p14="http://schemas.microsoft.com/office/powerpoint/2010/main" val="27562478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25B35-88B3-B677-9705-30B1F4E50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769C32FF-35D0-DA1A-3791-04C15219B7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b="1" dirty="0"/>
              <a:t>共鸣定理（一致有界原理）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C6866178-5293-FDAC-F11E-AE5D43ABF5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94640" y="1112520"/>
                <a:ext cx="11795760" cy="5440680"/>
              </a:xfrm>
            </p:spPr>
            <p:txBody>
              <a:bodyPr/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ja-JP" altLang="en-US" dirty="0"/>
                  <a:t>设 </a:t>
                </a:r>
                <a14:m>
                  <m:oMath xmlns:m="http://schemas.openxmlformats.org/officeDocument/2006/math">
                    <m:r>
                      <a:rPr lang="ja-JP" altLang="en-US" b="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en-US" dirty="0"/>
                  <a:t>是 </a:t>
                </a:r>
                <a:r>
                  <a:rPr lang="en-US" altLang="ja-JP" dirty="0"/>
                  <a:t>Banach </a:t>
                </a:r>
                <a:r>
                  <a:rPr lang="ja-JP" altLang="en-US" dirty="0"/>
                  <a:t>空间，</a:t>
                </a:r>
                <a14:m>
                  <m:oMath xmlns:m="http://schemas.openxmlformats.org/officeDocument/2006/math">
                    <m:r>
                      <a:rPr lang="ja-JP" altLang="en-US" b="0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ja-JP" altLang="en-US" dirty="0"/>
                  <a:t> 是赋范线性空间。设 </a:t>
                </a:r>
                <a14:m>
                  <m:oMath xmlns:m="http://schemas.openxmlformats.org/officeDocument/2006/math">
                    <m:r>
                      <a:rPr lang="en-US" altLang="ja-JP" b="0" i="1">
                        <a:latin typeface="Cambria Math" panose="02040503050406030204" pitchFamily="18" charset="0"/>
                      </a:rPr>
                      <m:t>ℱ</m:t>
                    </m:r>
                    <m:r>
                      <a:rPr lang="ja-JP" altLang="en-US" b="0">
                        <a:latin typeface="Cambria Math" panose="02040503050406030204" pitchFamily="18" charset="0"/>
                      </a:rPr>
                      <m:t>⊂</m:t>
                    </m:r>
                    <m:r>
                      <a:rPr lang="en-US" altLang="ja-JP" b="0" i="1">
                        <a:latin typeface="Cambria Math" panose="02040503050406030204" pitchFamily="18" charset="0"/>
                      </a:rPr>
                      <m:t>ℒ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ja-JP" altLang="en-US" dirty="0"/>
                  <a:t>是一族连续线性算子。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ja-JP" altLang="en-US" dirty="0"/>
                  <a:t>如果对每个固定的 </a:t>
                </a:r>
                <a14:m>
                  <m:oMath xmlns:m="http://schemas.openxmlformats.org/officeDocument/2006/math">
                    <m:r>
                      <a:rPr lang="ja-JP" altLang="en-US" b="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ja-JP" altLang="en-US" b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ja-JP" altLang="en-US" b="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en-US" dirty="0"/>
                  <a:t>，都有                      </a:t>
                </a:r>
                <a:r>
                  <a:rPr lang="zh-CN" altLang="en-US" dirty="0"/>
                  <a:t>，</a:t>
                </a:r>
                <a:r>
                  <a:rPr lang="ja-JP" altLang="en-US" dirty="0"/>
                  <a:t>那么</a:t>
                </a:r>
                <a:endParaRPr lang="en-US" altLang="ja-JP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altLang="ja-JP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altLang="ja-JP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dirty="0"/>
                  <a:t>如果这一族算子对</a:t>
                </a:r>
                <a:r>
                  <a:rPr lang="zh-CN" altLang="en-US" b="1" dirty="0"/>
                  <a:t>每一个单独的向量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dirty="0"/>
                  <a:t>来看，都不会把它送到“无限大”去（把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dirty="0"/>
                  <a:t>固定住以后，虽然不同的算子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zh-CN" altLang="en-US" dirty="0"/>
                  <a:t>会把它送到不同的地方，但这些像的长度不会无穷大：</a:t>
                </a:r>
                <a:r>
                  <a:rPr lang="ja-JP" altLang="en-US" dirty="0"/>
                  <a:t>对不同的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ja-JP" altLang="en-US" dirty="0"/>
                  <a:t>，允许有不同的常数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zh-CN" altLang="en-US" dirty="0"/>
                  <a:t>）</a:t>
                </a:r>
                <a:endParaRPr lang="en-US" altLang="zh-CN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dirty="0"/>
                  <a:t>那么这族算子整体上有一个统一的算子范数上界（存在同一个常数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zh-CN" altLang="en-US" dirty="0"/>
                  <a:t>，对所有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zh-CN" altLang="en-US" dirty="0"/>
                  <a:t>都有</a:t>
                </a:r>
                <a14:m>
                  <m:oMath xmlns:m="http://schemas.openxmlformats.org/officeDocument/2006/math">
                    <m:r>
                      <a:rPr lang="zh-CN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∥≤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zh-CN" altLang="en-US" dirty="0"/>
                  <a:t>）。 </a:t>
                </a:r>
              </a:p>
              <a:p>
                <a:pPr>
                  <a:lnSpc>
                    <a:spcPct val="110000"/>
                  </a:lnSpc>
                </a:pPr>
                <a:r>
                  <a:rPr lang="zh-CN" altLang="en-US" b="1" dirty="0"/>
                  <a:t> 逐点有界 </a:t>
                </a:r>
                <a14:m>
                  <m:oMath xmlns:m="http://schemas.openxmlformats.org/officeDocument/2006/math">
                    <m:r>
                      <a:rPr lang="zh-CN" altLang="en-US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b="1" dirty="0"/>
                  <a:t>一致有界</a:t>
                </a:r>
                <a:endParaRPr lang="en-US" altLang="zh-CN" b="1" dirty="0"/>
              </a:p>
              <a:p>
                <a:pPr>
                  <a:lnSpc>
                    <a:spcPct val="110000"/>
                  </a:lnSpc>
                </a:pPr>
                <a:endParaRPr lang="en-US" altLang="zh-CN" b="1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dirty="0"/>
                  <a:t>一族连续线性算子如果在每个点上都“不爆炸”，那么它们不可能在空间的别处偷偷变得无限大；</a:t>
                </a:r>
                <a:br>
                  <a:rPr lang="zh-CN" altLang="en-US" dirty="0"/>
                </a:br>
                <a:r>
                  <a:rPr lang="zh-CN" altLang="en-US" dirty="0"/>
                  <a:t>完备性会逼迫这种局部逐点控制提升为整体统一控制。</a:t>
                </a:r>
                <a:endParaRPr lang="en-US" altLang="zh-CN" b="1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altLang="zh-CN" b="1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zh-CN" altLang="en-US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ar-AE" altLang="ja-JP" dirty="0"/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C6866178-5293-FDAC-F11E-AE5D43ABF5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4640" y="1112520"/>
                <a:ext cx="11795760" cy="5440680"/>
              </a:xfrm>
              <a:blipFill>
                <a:blip r:embed="rId3"/>
                <a:stretch>
                  <a:fillRect l="-517" t="-897" b="-145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図 2">
            <a:extLst>
              <a:ext uri="{FF2B5EF4-FFF2-40B4-BE49-F238E27FC236}">
                <a16:creationId xmlns:a16="http://schemas.microsoft.com/office/drawing/2014/main" id="{AF64B565-E405-B268-D9EF-FCDF9E176F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1279" y="1508410"/>
            <a:ext cx="1530537" cy="419326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A35F00C5-1A80-162D-B9DC-50648FB846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7315" y="1510360"/>
            <a:ext cx="1323326" cy="427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28455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4862880-0955-872B-6BD2-7E23ACF55E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3084" y="2678906"/>
            <a:ext cx="10363200" cy="1500187"/>
          </a:xfrm>
        </p:spPr>
        <p:txBody>
          <a:bodyPr/>
          <a:lstStyle/>
          <a:p>
            <a:pPr algn="ctr"/>
            <a:r>
              <a:rPr kumimoji="1" lang="en-US" altLang="ja-JP" sz="5000" dirty="0"/>
              <a:t>Thank you for listening!</a:t>
            </a:r>
            <a:endParaRPr kumimoji="1" lang="ja-JP" altLang="en-US" sz="5000" dirty="0"/>
          </a:p>
        </p:txBody>
      </p:sp>
    </p:spTree>
    <p:extLst>
      <p:ext uri="{BB962C8B-B14F-4D97-AF65-F5344CB8AC3E}">
        <p14:creationId xmlns:p14="http://schemas.microsoft.com/office/powerpoint/2010/main" val="3395547263"/>
      </p:ext>
    </p:extLst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ユーザー定義 1">
      <a:majorFont>
        <a:latin typeface="Arial"/>
        <a:ea typeface="FangSong"/>
        <a:cs typeface=""/>
      </a:majorFont>
      <a:minorFont>
        <a:latin typeface="Comic Sans MS"/>
        <a:ea typeface="FangSong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Comic Sans MS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Comic Sans MS" charset="0"/>
            <a:ea typeface="ＭＳ Ｐゴシック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Office\Templates\Blank Presentation.pot</Template>
  <TotalTime>86249</TotalTime>
  <Words>5517</Words>
  <Application>Microsoft Office PowerPoint</Application>
  <PresentationFormat>ワイド画面</PresentationFormat>
  <Paragraphs>622</Paragraphs>
  <Slides>44</Slides>
  <Notes>41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44</vt:i4>
      </vt:variant>
    </vt:vector>
  </HeadingPairs>
  <TitlesOfParts>
    <vt:vector size="52" baseType="lpstr">
      <vt:lpstr>FangSong</vt:lpstr>
      <vt:lpstr>ＭＳ ゴシック</vt:lpstr>
      <vt:lpstr>Arial</vt:lpstr>
      <vt:lpstr>Cambria Math</vt:lpstr>
      <vt:lpstr>Comic Sans MS</vt:lpstr>
      <vt:lpstr>Times New Roman</vt:lpstr>
      <vt:lpstr>Wingdings</vt:lpstr>
      <vt:lpstr>Blank Presentation</vt:lpstr>
      <vt:lpstr>PowerPoint プレゼンテーション</vt:lpstr>
      <vt:lpstr>动机：为什么需要完备性</vt:lpstr>
      <vt:lpstr>为什么很多算法在理论上需要完备性？</vt:lpstr>
      <vt:lpstr>从“收敛”到“内部可检测逼近”</vt:lpstr>
      <vt:lpstr>为什么很多算法在理论上需要完备性？</vt:lpstr>
      <vt:lpstr>完备性出现在哪些场景中？ 1.数值逼近</vt:lpstr>
      <vt:lpstr>完备性出现在哪些场景中？ 1.数值逼近</vt:lpstr>
      <vt:lpstr>完备性出现在哪些场景中？ 1.数值逼近</vt:lpstr>
      <vt:lpstr>完备性出现在哪些场景中？ 1.数值逼近</vt:lpstr>
      <vt:lpstr>完备性出现在哪些场景中？ 2.迭代算法</vt:lpstr>
      <vt:lpstr>Banach 不动点定理（压缩映射定理）</vt:lpstr>
      <vt:lpstr>牛顿法</vt:lpstr>
      <vt:lpstr>梯度下降</vt:lpstr>
      <vt:lpstr>Jacobi / Gauss-Seidel 迭代</vt:lpstr>
      <vt:lpstr>Jacobi / Gauss-Seidel 迭代</vt:lpstr>
      <vt:lpstr>PDE 的迭代求解</vt:lpstr>
      <vt:lpstr>PDE 的迭代求解</vt:lpstr>
      <vt:lpstr>完备性出现在哪些场景中？ 3.最优化</vt:lpstr>
      <vt:lpstr>概率与统计中的 EM 类方法</vt:lpstr>
      <vt:lpstr>机器学习中的反复参数更新</vt:lpstr>
      <vt:lpstr>在完备性的背景下</vt:lpstr>
      <vt:lpstr>有完备性的空间</vt:lpstr>
      <vt:lpstr>自反 Banach 空间（1）</vt:lpstr>
      <vt:lpstr>自反 Banach 空间（2）</vt:lpstr>
      <vt:lpstr>和完备性密切相关的“流形/对象”</vt:lpstr>
      <vt:lpstr>Banach 流形</vt:lpstr>
      <vt:lpstr>机器学习中的 Banach 流形（1）</vt:lpstr>
      <vt:lpstr>机器学习中的 Banach 流形（2）</vt:lpstr>
      <vt:lpstr>机器学习中的 Banach 流形（3）</vt:lpstr>
      <vt:lpstr>机器学习中的 Banach 流形（4）</vt:lpstr>
      <vt:lpstr>Hilbert 流形</vt:lpstr>
      <vt:lpstr>机器学习中的Hilbert 流形 （1）</vt:lpstr>
      <vt:lpstr>机器学习中的Hilbert 流形 （2）</vt:lpstr>
      <vt:lpstr>机器学习中的Hilbert 流形 （3）</vt:lpstr>
      <vt:lpstr>机器学习中的Hilbert 流形 （4）</vt:lpstr>
      <vt:lpstr>机器学习中的Hilbert 流形 （5）</vt:lpstr>
      <vt:lpstr>Fréchet 流形</vt:lpstr>
      <vt:lpstr>机器学习中的Fréchet 流形</vt:lpstr>
      <vt:lpstr>很多重要定理必须在完备背景下成立</vt:lpstr>
      <vt:lpstr>Baire 纲定理</vt:lpstr>
      <vt:lpstr>开映射定理</vt:lpstr>
      <vt:lpstr>闭图像定理</vt:lpstr>
      <vt:lpstr>共鸣定理（一致有界原理）</vt:lpstr>
      <vt:lpstr>PowerPoint プレゼンテーション</vt:lpstr>
    </vt:vector>
  </TitlesOfParts>
  <Company>qub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2_csc321</dc:title>
  <dc:creator>sscott</dc:creator>
  <cp:lastModifiedBy>Yiyang Jia</cp:lastModifiedBy>
  <cp:revision>4528</cp:revision>
  <dcterms:created xsi:type="dcterms:W3CDTF">2001-07-30T09:48:22Z</dcterms:created>
  <dcterms:modified xsi:type="dcterms:W3CDTF">2026-04-26T10:49:44Z</dcterms:modified>
</cp:coreProperties>
</file>