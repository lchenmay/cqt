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handoutMasterIdLst>
    <p:handoutMasterId r:id="rId49"/>
  </p:handoutMasterIdLst>
  <p:sldIdLst>
    <p:sldId id="257" r:id="rId2"/>
    <p:sldId id="512" r:id="rId3"/>
    <p:sldId id="550" r:id="rId4"/>
    <p:sldId id="551" r:id="rId5"/>
    <p:sldId id="552" r:id="rId6"/>
    <p:sldId id="554" r:id="rId7"/>
    <p:sldId id="588" r:id="rId8"/>
    <p:sldId id="555" r:id="rId9"/>
    <p:sldId id="556" r:id="rId10"/>
    <p:sldId id="557" r:id="rId11"/>
    <p:sldId id="564" r:id="rId12"/>
    <p:sldId id="587" r:id="rId13"/>
    <p:sldId id="558" r:id="rId14"/>
    <p:sldId id="566" r:id="rId15"/>
    <p:sldId id="567" r:id="rId16"/>
    <p:sldId id="563" r:id="rId17"/>
    <p:sldId id="589" r:id="rId18"/>
    <p:sldId id="590" r:id="rId19"/>
    <p:sldId id="559" r:id="rId20"/>
    <p:sldId id="568" r:id="rId21"/>
    <p:sldId id="569" r:id="rId22"/>
    <p:sldId id="591" r:id="rId23"/>
    <p:sldId id="570" r:id="rId24"/>
    <p:sldId id="560" r:id="rId25"/>
    <p:sldId id="571" r:id="rId26"/>
    <p:sldId id="592" r:id="rId27"/>
    <p:sldId id="593" r:id="rId28"/>
    <p:sldId id="594" r:id="rId29"/>
    <p:sldId id="595" r:id="rId30"/>
    <p:sldId id="561" r:id="rId31"/>
    <p:sldId id="573" r:id="rId32"/>
    <p:sldId id="574" r:id="rId33"/>
    <p:sldId id="575" r:id="rId34"/>
    <p:sldId id="576" r:id="rId35"/>
    <p:sldId id="577" r:id="rId36"/>
    <p:sldId id="562" r:id="rId37"/>
    <p:sldId id="578" r:id="rId38"/>
    <p:sldId id="579" r:id="rId39"/>
    <p:sldId id="580" r:id="rId40"/>
    <p:sldId id="581" r:id="rId41"/>
    <p:sldId id="582" r:id="rId42"/>
    <p:sldId id="583" r:id="rId43"/>
    <p:sldId id="584" r:id="rId44"/>
    <p:sldId id="585" r:id="rId45"/>
    <p:sldId id="586" r:id="rId46"/>
    <p:sldId id="503" r:id="rId47"/>
  </p:sldIdLst>
  <p:sldSz cx="12192000" cy="6858000"/>
  <p:notesSz cx="6669088" cy="9926638"/>
  <p:defaultTextStyle>
    <a:defPPr>
      <a:defRPr lang="en-US"/>
    </a:defPPr>
    <a:lvl1pPr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1pPr>
    <a:lvl2pPr marL="4572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2pPr>
    <a:lvl3pPr marL="9144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3pPr>
    <a:lvl4pPr marL="13716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4pPr>
    <a:lvl5pPr marL="18288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5pPr>
    <a:lvl6pPr marL="22860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6pPr>
    <a:lvl7pPr marL="27432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7pPr>
    <a:lvl8pPr marL="32004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8pPr>
    <a:lvl9pPr marL="36576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76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F9EAEF"/>
    <a:srgbClr val="1E35A8"/>
    <a:srgbClr val="EDFFED"/>
    <a:srgbClr val="FFFDF0"/>
    <a:srgbClr val="F5F2DF"/>
    <a:srgbClr val="F7F7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3447" autoAdjust="0"/>
  </p:normalViewPr>
  <p:slideViewPr>
    <p:cSldViewPr snapToGrid="0">
      <p:cViewPr varScale="1">
        <p:scale>
          <a:sx n="63" d="100"/>
          <a:sy n="63" d="100"/>
        </p:scale>
        <p:origin x="800" y="32"/>
      </p:cViewPr>
      <p:guideLst>
        <p:guide orient="horz" pos="2160"/>
        <p:guide pos="767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C18442-6CBB-9D4C-BAEA-A8F1BBD35774}"/>
              </a:ext>
            </a:extLst>
          </p:cNvPr>
          <p:cNvSpPr>
            <a:spLocks noGrp="1" noChangeArrowheads="1"/>
          </p:cNvSpPr>
          <p:nvPr>
            <p:ph type="hdr" sz="quarter"/>
          </p:nvPr>
        </p:nvSpPr>
        <p:spPr bwMode="auto">
          <a:xfrm>
            <a:off x="0"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200">
                <a:latin typeface="Comic Sans MS" charset="0"/>
                <a:ea typeface="ＭＳ Ｐゴシック" charset="0"/>
                <a:cs typeface="+mn-cs"/>
              </a:defRPr>
            </a:lvl1pPr>
          </a:lstStyle>
          <a:p>
            <a:pPr>
              <a:defRPr/>
            </a:pPr>
            <a:endParaRPr lang="en-US"/>
          </a:p>
        </p:txBody>
      </p:sp>
      <p:sp>
        <p:nvSpPr>
          <p:cNvPr id="59395" name="Rectangle 3">
            <a:extLst>
              <a:ext uri="{FF2B5EF4-FFF2-40B4-BE49-F238E27FC236}">
                <a16:creationId xmlns:a16="http://schemas.microsoft.com/office/drawing/2014/main" id="{653F2BA6-0CAA-5945-ACBD-4F338120D7D6}"/>
              </a:ext>
            </a:extLst>
          </p:cNvPr>
          <p:cNvSpPr>
            <a:spLocks noGrp="1" noChangeArrowheads="1"/>
          </p:cNvSpPr>
          <p:nvPr>
            <p:ph type="dt" sz="quarter" idx="1"/>
          </p:nvPr>
        </p:nvSpPr>
        <p:spPr bwMode="auto">
          <a:xfrm>
            <a:off x="3779838"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200">
                <a:latin typeface="Comic Sans MS" charset="0"/>
                <a:ea typeface="ＭＳ Ｐゴシック" charset="0"/>
                <a:cs typeface="+mn-cs"/>
              </a:defRPr>
            </a:lvl1pPr>
          </a:lstStyle>
          <a:p>
            <a:pPr>
              <a:defRPr/>
            </a:pPr>
            <a:endParaRPr lang="en-US"/>
          </a:p>
        </p:txBody>
      </p:sp>
      <p:sp>
        <p:nvSpPr>
          <p:cNvPr id="59396" name="Rectangle 4">
            <a:extLst>
              <a:ext uri="{FF2B5EF4-FFF2-40B4-BE49-F238E27FC236}">
                <a16:creationId xmlns:a16="http://schemas.microsoft.com/office/drawing/2014/main" id="{14557265-7C63-8C48-84E3-2EBF33E87183}"/>
              </a:ext>
            </a:extLst>
          </p:cNvPr>
          <p:cNvSpPr>
            <a:spLocks noGrp="1" noChangeArrowheads="1"/>
          </p:cNvSpPr>
          <p:nvPr>
            <p:ph type="ftr" sz="quarter" idx="2"/>
          </p:nvPr>
        </p:nvSpPr>
        <p:spPr bwMode="auto">
          <a:xfrm>
            <a:off x="0"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defRPr sz="1200">
                <a:latin typeface="Comic Sans MS" charset="0"/>
                <a:ea typeface="ＭＳ Ｐゴシック" charset="0"/>
                <a:cs typeface="+mn-cs"/>
              </a:defRPr>
            </a:lvl1pPr>
          </a:lstStyle>
          <a:p>
            <a:pPr>
              <a:defRPr/>
            </a:pPr>
            <a:endParaRPr lang="en-US"/>
          </a:p>
        </p:txBody>
      </p:sp>
      <p:sp>
        <p:nvSpPr>
          <p:cNvPr id="59397" name="Rectangle 5">
            <a:extLst>
              <a:ext uri="{FF2B5EF4-FFF2-40B4-BE49-F238E27FC236}">
                <a16:creationId xmlns:a16="http://schemas.microsoft.com/office/drawing/2014/main" id="{708EC389-215B-BB4B-AF04-0D16A0A56207}"/>
              </a:ext>
            </a:extLst>
          </p:cNvPr>
          <p:cNvSpPr>
            <a:spLocks noGrp="1" noChangeArrowheads="1"/>
          </p:cNvSpPr>
          <p:nvPr>
            <p:ph type="sldNum" sz="quarter" idx="3"/>
          </p:nvPr>
        </p:nvSpPr>
        <p:spPr bwMode="auto">
          <a:xfrm>
            <a:off x="3779838"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lgn="r">
              <a:defRPr sz="1200">
                <a:latin typeface="Comic Sans MS" charset="0"/>
                <a:ea typeface="ＭＳ Ｐゴシック" charset="-128"/>
              </a:defRPr>
            </a:lvl1pPr>
          </a:lstStyle>
          <a:p>
            <a:pPr>
              <a:defRPr/>
            </a:pPr>
            <a:fld id="{A331DE67-792D-4F41-8BD2-183E50FC1F7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921D813-D54F-5A42-8D81-6FD883C1EBA8}"/>
              </a:ext>
            </a:extLst>
          </p:cNvPr>
          <p:cNvSpPr>
            <a:spLocks noGrp="1" noChangeArrowheads="1"/>
          </p:cNvSpPr>
          <p:nvPr>
            <p:ph type="hdr" sz="quarter"/>
          </p:nvPr>
        </p:nvSpPr>
        <p:spPr bwMode="auto">
          <a:xfrm>
            <a:off x="0"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4099" name="Rectangle 3">
            <a:extLst>
              <a:ext uri="{FF2B5EF4-FFF2-40B4-BE49-F238E27FC236}">
                <a16:creationId xmlns:a16="http://schemas.microsoft.com/office/drawing/2014/main" id="{F2F4F132-3A51-C24F-AD22-A48CD14B1D3E}"/>
              </a:ext>
            </a:extLst>
          </p:cNvPr>
          <p:cNvSpPr>
            <a:spLocks noGrp="1" noChangeArrowheads="1"/>
          </p:cNvSpPr>
          <p:nvPr>
            <p:ph type="dt" idx="1"/>
          </p:nvPr>
        </p:nvSpPr>
        <p:spPr bwMode="auto">
          <a:xfrm>
            <a:off x="3779838"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200">
                <a:latin typeface="Times New Roman" charset="0"/>
                <a:ea typeface="ＭＳ Ｐゴシック" charset="0"/>
                <a:cs typeface="+mn-cs"/>
              </a:defRPr>
            </a:lvl1pPr>
          </a:lstStyle>
          <a:p>
            <a:pPr>
              <a:defRPr/>
            </a:pPr>
            <a:endParaRPr lang="en-US"/>
          </a:p>
        </p:txBody>
      </p:sp>
      <p:sp>
        <p:nvSpPr>
          <p:cNvPr id="3076" name="Rectangle 4">
            <a:extLst>
              <a:ext uri="{FF2B5EF4-FFF2-40B4-BE49-F238E27FC236}">
                <a16:creationId xmlns:a16="http://schemas.microsoft.com/office/drawing/2014/main" id="{9658DE86-5E13-E64C-84C2-46CB62CE691B}"/>
              </a:ext>
            </a:extLst>
          </p:cNvPr>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ja-JP" altLang="en-US"/>
          </a:p>
        </p:txBody>
      </p:sp>
      <p:sp>
        <p:nvSpPr>
          <p:cNvPr id="4101" name="Rectangle 5">
            <a:extLst>
              <a:ext uri="{FF2B5EF4-FFF2-40B4-BE49-F238E27FC236}">
                <a16:creationId xmlns:a16="http://schemas.microsoft.com/office/drawing/2014/main" id="{C9D372DE-C786-8D4D-9F53-214241F844F8}"/>
              </a:ext>
            </a:extLst>
          </p:cNvPr>
          <p:cNvSpPr>
            <a:spLocks noGrp="1" noChangeArrowheads="1"/>
          </p:cNvSpPr>
          <p:nvPr>
            <p:ph type="body" sz="quarter" idx="3"/>
          </p:nvPr>
        </p:nvSpPr>
        <p:spPr bwMode="auto">
          <a:xfrm>
            <a:off x="889000" y="4714875"/>
            <a:ext cx="4891088" cy="4467225"/>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6743ADF9-18C0-4240-9800-30D3D32CF585}"/>
              </a:ext>
            </a:extLst>
          </p:cNvPr>
          <p:cNvSpPr>
            <a:spLocks noGrp="1" noChangeArrowheads="1"/>
          </p:cNvSpPr>
          <p:nvPr>
            <p:ph type="ftr" sz="quarter" idx="4"/>
          </p:nvPr>
        </p:nvSpPr>
        <p:spPr bwMode="auto">
          <a:xfrm>
            <a:off x="0"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4103" name="Rectangle 7">
            <a:extLst>
              <a:ext uri="{FF2B5EF4-FFF2-40B4-BE49-F238E27FC236}">
                <a16:creationId xmlns:a16="http://schemas.microsoft.com/office/drawing/2014/main" id="{429AE395-53F8-BF43-BD63-E86F29A94A26}"/>
              </a:ext>
            </a:extLst>
          </p:cNvPr>
          <p:cNvSpPr>
            <a:spLocks noGrp="1" noChangeArrowheads="1"/>
          </p:cNvSpPr>
          <p:nvPr>
            <p:ph type="sldNum" sz="quarter" idx="5"/>
          </p:nvPr>
        </p:nvSpPr>
        <p:spPr bwMode="auto">
          <a:xfrm>
            <a:off x="3779838"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lgn="r">
              <a:defRPr sz="1200">
                <a:latin typeface="Times New Roman" charset="0"/>
                <a:ea typeface="ＭＳ Ｐゴシック" charset="-128"/>
              </a:defRPr>
            </a:lvl1pPr>
          </a:lstStyle>
          <a:p>
            <a:pPr>
              <a:defRPr/>
            </a:pPr>
            <a:fld id="{AB31E2A7-604B-AC4A-93FF-7D752141A21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p:cNvSpPr>
            <a:spLocks noGrp="1"/>
          </p:cNvSpPr>
          <p:nvPr>
            <p:ph type="sldNum" sz="quarter" idx="5"/>
          </p:nvPr>
        </p:nvSpPr>
        <p:spPr/>
        <p:txBody>
          <a:bodyPr/>
          <a:lstStyle/>
          <a:p>
            <a:pPr>
              <a:defRPr/>
            </a:pPr>
            <a:fld id="{AB31E2A7-604B-AC4A-93FF-7D752141A213}" type="slidenum">
              <a:rPr lang="en-US" altLang="en-US" smtClean="0"/>
              <a:pPr>
                <a:defRPr/>
              </a:pPr>
              <a:t>1</a:t>
            </a:fld>
            <a:endParaRPr lang="en-US" altLang="en-US" dirty="0"/>
          </a:p>
        </p:txBody>
      </p:sp>
    </p:spTree>
    <p:extLst>
      <p:ext uri="{BB962C8B-B14F-4D97-AF65-F5344CB8AC3E}">
        <p14:creationId xmlns:p14="http://schemas.microsoft.com/office/powerpoint/2010/main" val="2398768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9D24-F943-8EEE-C053-ED91919819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B1F744-D542-6AB4-3782-93A5DC805ED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238BD68-45DE-80E2-2F0A-729C91B82EB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F6E165B-0A50-3D5C-7287-B82CD006B20C}"/>
              </a:ext>
            </a:extLst>
          </p:cNvPr>
          <p:cNvSpPr>
            <a:spLocks noGrp="1"/>
          </p:cNvSpPr>
          <p:nvPr>
            <p:ph type="sldNum" sz="quarter" idx="5"/>
          </p:nvPr>
        </p:nvSpPr>
        <p:spPr/>
        <p:txBody>
          <a:bodyPr/>
          <a:lstStyle/>
          <a:p>
            <a:pPr>
              <a:defRPr/>
            </a:pPr>
            <a:fld id="{AB31E2A7-604B-AC4A-93FF-7D752141A213}" type="slidenum">
              <a:rPr lang="en-US" altLang="en-US" smtClean="0"/>
              <a:pPr>
                <a:defRPr/>
              </a:pPr>
              <a:t>2</a:t>
            </a:fld>
            <a:endParaRPr lang="en-US" altLang="en-US" dirty="0"/>
          </a:p>
        </p:txBody>
      </p:sp>
    </p:spTree>
    <p:extLst>
      <p:ext uri="{BB962C8B-B14F-4D97-AF65-F5344CB8AC3E}">
        <p14:creationId xmlns:p14="http://schemas.microsoft.com/office/powerpoint/2010/main" val="2175826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18108-4DB9-E7DE-46DE-671A9D9E68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0C9104-7B5B-CD87-BDAF-660EB2627AD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F14BFEB-949C-3170-BA60-B721CD880A5D}"/>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3DB3136-F669-50FC-F1A6-EE17E2CF8416}"/>
              </a:ext>
            </a:extLst>
          </p:cNvPr>
          <p:cNvSpPr>
            <a:spLocks noGrp="1"/>
          </p:cNvSpPr>
          <p:nvPr>
            <p:ph type="sldNum" sz="quarter" idx="5"/>
          </p:nvPr>
        </p:nvSpPr>
        <p:spPr/>
        <p:txBody>
          <a:bodyPr/>
          <a:lstStyle/>
          <a:p>
            <a:pPr>
              <a:defRPr/>
            </a:pPr>
            <a:fld id="{AB31E2A7-604B-AC4A-93FF-7D752141A213}" type="slidenum">
              <a:rPr lang="en-US" altLang="en-US" smtClean="0"/>
              <a:pPr>
                <a:defRPr/>
              </a:pPr>
              <a:t>4</a:t>
            </a:fld>
            <a:endParaRPr lang="en-US" altLang="en-US" dirty="0"/>
          </a:p>
        </p:txBody>
      </p:sp>
    </p:spTree>
    <p:extLst>
      <p:ext uri="{BB962C8B-B14F-4D97-AF65-F5344CB8AC3E}">
        <p14:creationId xmlns:p14="http://schemas.microsoft.com/office/powerpoint/2010/main" val="322999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96787-BCDB-91CB-0F4A-523EADA351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3E7D23-D240-E302-5874-69AC31750CD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EC575C2-5B83-83AB-4FEC-8BC0DE9A2BD1}"/>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09D579F-C813-35E6-06FE-D1442CDC002A}"/>
              </a:ext>
            </a:extLst>
          </p:cNvPr>
          <p:cNvSpPr>
            <a:spLocks noGrp="1"/>
          </p:cNvSpPr>
          <p:nvPr>
            <p:ph type="sldNum" sz="quarter" idx="5"/>
          </p:nvPr>
        </p:nvSpPr>
        <p:spPr/>
        <p:txBody>
          <a:bodyPr/>
          <a:lstStyle/>
          <a:p>
            <a:pPr>
              <a:defRPr/>
            </a:pPr>
            <a:fld id="{AB31E2A7-604B-AC4A-93FF-7D752141A213}" type="slidenum">
              <a:rPr lang="en-US" altLang="en-US" smtClean="0"/>
              <a:pPr>
                <a:defRPr/>
              </a:pPr>
              <a:t>5</a:t>
            </a:fld>
            <a:endParaRPr lang="en-US" altLang="en-US" dirty="0"/>
          </a:p>
        </p:txBody>
      </p:sp>
    </p:spTree>
    <p:extLst>
      <p:ext uri="{BB962C8B-B14F-4D97-AF65-F5344CB8AC3E}">
        <p14:creationId xmlns:p14="http://schemas.microsoft.com/office/powerpoint/2010/main" val="2266340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0E0D1-BB5A-1722-D1A7-769E08EC533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A00257-0D84-3769-A9D3-6C7EB5C944F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6AA92BC7-F954-C71A-32D3-32628F1A22C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522B11D-BE3B-F5F0-7125-2E7AF0672E7C}"/>
              </a:ext>
            </a:extLst>
          </p:cNvPr>
          <p:cNvSpPr>
            <a:spLocks noGrp="1"/>
          </p:cNvSpPr>
          <p:nvPr>
            <p:ph type="sldNum" sz="quarter" idx="5"/>
          </p:nvPr>
        </p:nvSpPr>
        <p:spPr/>
        <p:txBody>
          <a:bodyPr/>
          <a:lstStyle/>
          <a:p>
            <a:pPr>
              <a:defRPr/>
            </a:pPr>
            <a:fld id="{AB31E2A7-604B-AC4A-93FF-7D752141A213}" type="slidenum">
              <a:rPr lang="en-US" altLang="en-US" smtClean="0"/>
              <a:pPr>
                <a:defRPr/>
              </a:pPr>
              <a:t>6</a:t>
            </a:fld>
            <a:endParaRPr lang="en-US" altLang="en-US" dirty="0"/>
          </a:p>
        </p:txBody>
      </p:sp>
    </p:spTree>
    <p:extLst>
      <p:ext uri="{BB962C8B-B14F-4D97-AF65-F5344CB8AC3E}">
        <p14:creationId xmlns:p14="http://schemas.microsoft.com/office/powerpoint/2010/main" val="3741506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BEB18-E13C-4C8C-718B-A9860F8DC9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77D17B1-EEA1-841E-6955-07F840D73C1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7ED28AA-B7B0-B5FF-3E20-567A22F3F68B}"/>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C136537-C0F3-82D2-C599-7D7BC3C733AA}"/>
              </a:ext>
            </a:extLst>
          </p:cNvPr>
          <p:cNvSpPr>
            <a:spLocks noGrp="1"/>
          </p:cNvSpPr>
          <p:nvPr>
            <p:ph type="sldNum" sz="quarter" idx="5"/>
          </p:nvPr>
        </p:nvSpPr>
        <p:spPr/>
        <p:txBody>
          <a:bodyPr/>
          <a:lstStyle/>
          <a:p>
            <a:pPr>
              <a:defRPr/>
            </a:pPr>
            <a:fld id="{AB31E2A7-604B-AC4A-93FF-7D752141A213}" type="slidenum">
              <a:rPr lang="en-US" altLang="en-US" smtClean="0"/>
              <a:pPr>
                <a:defRPr/>
              </a:pPr>
              <a:t>7</a:t>
            </a:fld>
            <a:endParaRPr lang="en-US" altLang="en-US" dirty="0"/>
          </a:p>
        </p:txBody>
      </p:sp>
    </p:spTree>
    <p:extLst>
      <p:ext uri="{BB962C8B-B14F-4D97-AF65-F5344CB8AC3E}">
        <p14:creationId xmlns:p14="http://schemas.microsoft.com/office/powerpoint/2010/main" val="37438424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71CFF-B7AF-7268-43EF-BFFEBE1355B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BE4F68A-9453-94A3-852A-3983E8D5B805}"/>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B49C40C3-3395-17DF-8114-B8FB64F6CCCD}"/>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4A2F0F7F-EAA1-C2AB-D5F9-5906181E351F}"/>
              </a:ext>
            </a:extLst>
          </p:cNvPr>
          <p:cNvSpPr>
            <a:spLocks noGrp="1"/>
          </p:cNvSpPr>
          <p:nvPr>
            <p:ph type="sldNum" sz="quarter" idx="5"/>
          </p:nvPr>
        </p:nvSpPr>
        <p:spPr/>
        <p:txBody>
          <a:bodyPr/>
          <a:lstStyle/>
          <a:p>
            <a:pPr>
              <a:defRPr/>
            </a:pPr>
            <a:fld id="{AB31E2A7-604B-AC4A-93FF-7D752141A213}" type="slidenum">
              <a:rPr lang="en-US" altLang="en-US" smtClean="0"/>
              <a:pPr>
                <a:defRPr/>
              </a:pPr>
              <a:t>8</a:t>
            </a:fld>
            <a:endParaRPr lang="en-US" altLang="en-US" dirty="0"/>
          </a:p>
        </p:txBody>
      </p:sp>
    </p:spTree>
    <p:extLst>
      <p:ext uri="{BB962C8B-B14F-4D97-AF65-F5344CB8AC3E}">
        <p14:creationId xmlns:p14="http://schemas.microsoft.com/office/powerpoint/2010/main" val="191691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652F9-1DF9-6AA8-96D1-E23FC99FB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1967DF-4B8D-6AA4-4347-ACDBACFC89F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40ADFFF2-F8A4-EE00-7E1D-4D4DE077D46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09595AA0-6D7A-B748-FA1F-44251B1D0E91}"/>
              </a:ext>
            </a:extLst>
          </p:cNvPr>
          <p:cNvSpPr>
            <a:spLocks noGrp="1"/>
          </p:cNvSpPr>
          <p:nvPr>
            <p:ph type="sldNum" sz="quarter" idx="5"/>
          </p:nvPr>
        </p:nvSpPr>
        <p:spPr/>
        <p:txBody>
          <a:bodyPr/>
          <a:lstStyle/>
          <a:p>
            <a:pPr>
              <a:defRPr/>
            </a:pPr>
            <a:fld id="{AB31E2A7-604B-AC4A-93FF-7D752141A213}" type="slidenum">
              <a:rPr lang="en-US" altLang="en-US" smtClean="0"/>
              <a:pPr>
                <a:defRPr/>
              </a:pPr>
              <a:t>9</a:t>
            </a:fld>
            <a:endParaRPr lang="en-US" altLang="en-US" dirty="0"/>
          </a:p>
        </p:txBody>
      </p:sp>
    </p:spTree>
    <p:extLst>
      <p:ext uri="{BB962C8B-B14F-4D97-AF65-F5344CB8AC3E}">
        <p14:creationId xmlns:p14="http://schemas.microsoft.com/office/powerpoint/2010/main" val="35264998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CB434-708F-F95C-B915-CB0679461F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2ABE5C6-1599-DDC9-1944-0FD8687B59FA}"/>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00D7ECD6-BA1D-D552-9194-79BAD2AE3928}"/>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9C8F3330-59DB-C808-F0A9-CBEB7F37E2FA}"/>
              </a:ext>
            </a:extLst>
          </p:cNvPr>
          <p:cNvSpPr>
            <a:spLocks noGrp="1"/>
          </p:cNvSpPr>
          <p:nvPr>
            <p:ph type="sldNum" sz="quarter" idx="5"/>
          </p:nvPr>
        </p:nvSpPr>
        <p:spPr/>
        <p:txBody>
          <a:bodyPr/>
          <a:lstStyle/>
          <a:p>
            <a:pPr>
              <a:defRPr/>
            </a:pPr>
            <a:fld id="{AB31E2A7-604B-AC4A-93FF-7D752141A213}" type="slidenum">
              <a:rPr lang="en-US" altLang="en-US" smtClean="0"/>
              <a:pPr>
                <a:defRPr/>
              </a:pPr>
              <a:t>10</a:t>
            </a:fld>
            <a:endParaRPr lang="en-US" altLang="en-US" dirty="0"/>
          </a:p>
        </p:txBody>
      </p:sp>
    </p:spTree>
    <p:extLst>
      <p:ext uri="{BB962C8B-B14F-4D97-AF65-F5344CB8AC3E}">
        <p14:creationId xmlns:p14="http://schemas.microsoft.com/office/powerpoint/2010/main" val="3250298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3AA05-DFCE-81D9-8C4B-384047E12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9662ED-58BA-6CC3-1DF1-FBB51E667D3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C4EAE8B0-6E17-2417-4B47-C08D37B7AACA}"/>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12FA71AA-BD44-DA57-8E97-1BFBEE6E0073}"/>
              </a:ext>
            </a:extLst>
          </p:cNvPr>
          <p:cNvSpPr>
            <a:spLocks noGrp="1"/>
          </p:cNvSpPr>
          <p:nvPr>
            <p:ph type="sldNum" sz="quarter" idx="5"/>
          </p:nvPr>
        </p:nvSpPr>
        <p:spPr/>
        <p:txBody>
          <a:bodyPr/>
          <a:lstStyle/>
          <a:p>
            <a:pPr>
              <a:defRPr/>
            </a:pPr>
            <a:fld id="{AB31E2A7-604B-AC4A-93FF-7D752141A213}" type="slidenum">
              <a:rPr lang="en-US" altLang="en-US" smtClean="0"/>
              <a:pPr>
                <a:defRPr/>
              </a:pPr>
              <a:t>11</a:t>
            </a:fld>
            <a:endParaRPr lang="en-US" altLang="en-US" dirty="0"/>
          </a:p>
        </p:txBody>
      </p:sp>
    </p:spTree>
    <p:extLst>
      <p:ext uri="{BB962C8B-B14F-4D97-AF65-F5344CB8AC3E}">
        <p14:creationId xmlns:p14="http://schemas.microsoft.com/office/powerpoint/2010/main" val="1009503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D157E-D035-B37E-F3A2-4A71C678DB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1E05EF1-12A7-38E6-9DB9-432F09D9633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876DDB5B-D642-2AD6-D439-D3CE60CA992F}"/>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BE5A3AA1-5AE4-D77D-F760-625409153485}"/>
              </a:ext>
            </a:extLst>
          </p:cNvPr>
          <p:cNvSpPr>
            <a:spLocks noGrp="1"/>
          </p:cNvSpPr>
          <p:nvPr>
            <p:ph type="sldNum" sz="quarter" idx="5"/>
          </p:nvPr>
        </p:nvSpPr>
        <p:spPr/>
        <p:txBody>
          <a:bodyPr/>
          <a:lstStyle/>
          <a:p>
            <a:pPr>
              <a:defRPr/>
            </a:pPr>
            <a:fld id="{AB31E2A7-604B-AC4A-93FF-7D752141A213}" type="slidenum">
              <a:rPr lang="en-US" altLang="en-US" smtClean="0"/>
              <a:pPr>
                <a:defRPr/>
              </a:pPr>
              <a:t>13</a:t>
            </a:fld>
            <a:endParaRPr lang="en-US" altLang="en-US" dirty="0"/>
          </a:p>
        </p:txBody>
      </p:sp>
    </p:spTree>
    <p:extLst>
      <p:ext uri="{BB962C8B-B14F-4D97-AF65-F5344CB8AC3E}">
        <p14:creationId xmlns:p14="http://schemas.microsoft.com/office/powerpoint/2010/main" val="3467339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2717F-5864-C580-A2B8-9B20965ECBD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D7A6D06-1015-E5BC-9734-17BA9E41939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A5154734-1750-DC76-15E4-3DB6A9434873}"/>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B0958AFA-3979-C900-12A9-944802A06DBB}"/>
              </a:ext>
            </a:extLst>
          </p:cNvPr>
          <p:cNvSpPr>
            <a:spLocks noGrp="1"/>
          </p:cNvSpPr>
          <p:nvPr>
            <p:ph type="sldNum" sz="quarter" idx="5"/>
          </p:nvPr>
        </p:nvSpPr>
        <p:spPr/>
        <p:txBody>
          <a:bodyPr/>
          <a:lstStyle/>
          <a:p>
            <a:pPr>
              <a:defRPr/>
            </a:pPr>
            <a:fld id="{AB31E2A7-604B-AC4A-93FF-7D752141A213}" type="slidenum">
              <a:rPr lang="en-US" altLang="en-US" smtClean="0"/>
              <a:pPr>
                <a:defRPr/>
              </a:pPr>
              <a:t>14</a:t>
            </a:fld>
            <a:endParaRPr lang="en-US" altLang="en-US" dirty="0"/>
          </a:p>
        </p:txBody>
      </p:sp>
    </p:spTree>
    <p:extLst>
      <p:ext uri="{BB962C8B-B14F-4D97-AF65-F5344CB8AC3E}">
        <p14:creationId xmlns:p14="http://schemas.microsoft.com/office/powerpoint/2010/main" val="2578894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8E2A-BDDC-4F4C-0836-B31F131989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59D138-9A95-D32B-B274-AF0CA2233D50}"/>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B2CCBCF-BF41-70A2-5364-8BEA6078F94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081FD203-3975-386C-DBB4-8E5E46D4CBC8}"/>
              </a:ext>
            </a:extLst>
          </p:cNvPr>
          <p:cNvSpPr>
            <a:spLocks noGrp="1"/>
          </p:cNvSpPr>
          <p:nvPr>
            <p:ph type="sldNum" sz="quarter" idx="5"/>
          </p:nvPr>
        </p:nvSpPr>
        <p:spPr/>
        <p:txBody>
          <a:bodyPr/>
          <a:lstStyle/>
          <a:p>
            <a:pPr>
              <a:defRPr/>
            </a:pPr>
            <a:fld id="{AB31E2A7-604B-AC4A-93FF-7D752141A213}" type="slidenum">
              <a:rPr lang="en-US" altLang="en-US" smtClean="0"/>
              <a:pPr>
                <a:defRPr/>
              </a:pPr>
              <a:t>15</a:t>
            </a:fld>
            <a:endParaRPr lang="en-US" altLang="en-US" dirty="0"/>
          </a:p>
        </p:txBody>
      </p:sp>
    </p:spTree>
    <p:extLst>
      <p:ext uri="{BB962C8B-B14F-4D97-AF65-F5344CB8AC3E}">
        <p14:creationId xmlns:p14="http://schemas.microsoft.com/office/powerpoint/2010/main" val="35346645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C9A95-ECB2-6117-DEFC-E08CDD5D77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2847D0-F372-D70F-9CCE-03572CE00683}"/>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B95642CA-F737-C71C-F47D-B4CC75559F8E}"/>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6EF9AEC-D77B-592E-4EA5-6CA024C8101E}"/>
              </a:ext>
            </a:extLst>
          </p:cNvPr>
          <p:cNvSpPr>
            <a:spLocks noGrp="1"/>
          </p:cNvSpPr>
          <p:nvPr>
            <p:ph type="sldNum" sz="quarter" idx="5"/>
          </p:nvPr>
        </p:nvSpPr>
        <p:spPr/>
        <p:txBody>
          <a:bodyPr/>
          <a:lstStyle/>
          <a:p>
            <a:pPr>
              <a:defRPr/>
            </a:pPr>
            <a:fld id="{AB31E2A7-604B-AC4A-93FF-7D752141A213}" type="slidenum">
              <a:rPr lang="en-US" altLang="en-US" smtClean="0"/>
              <a:pPr>
                <a:defRPr/>
              </a:pPr>
              <a:t>16</a:t>
            </a:fld>
            <a:endParaRPr lang="en-US" altLang="en-US" dirty="0"/>
          </a:p>
        </p:txBody>
      </p:sp>
    </p:spTree>
    <p:extLst>
      <p:ext uri="{BB962C8B-B14F-4D97-AF65-F5344CB8AC3E}">
        <p14:creationId xmlns:p14="http://schemas.microsoft.com/office/powerpoint/2010/main" val="5514317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1C0DE-844B-EB46-342F-B05399DFC97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DA9966-AA7C-B505-8239-FA939F6F7D25}"/>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C9D3EC8D-F360-94AB-B002-D82919E7FC5F}"/>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9A0A16DB-1945-C1D1-F5D2-57DF9E151D21}"/>
              </a:ext>
            </a:extLst>
          </p:cNvPr>
          <p:cNvSpPr>
            <a:spLocks noGrp="1"/>
          </p:cNvSpPr>
          <p:nvPr>
            <p:ph type="sldNum" sz="quarter" idx="5"/>
          </p:nvPr>
        </p:nvSpPr>
        <p:spPr/>
        <p:txBody>
          <a:bodyPr/>
          <a:lstStyle/>
          <a:p>
            <a:pPr>
              <a:defRPr/>
            </a:pPr>
            <a:fld id="{AB31E2A7-604B-AC4A-93FF-7D752141A213}" type="slidenum">
              <a:rPr lang="en-US" altLang="en-US" smtClean="0"/>
              <a:pPr>
                <a:defRPr/>
              </a:pPr>
              <a:t>17</a:t>
            </a:fld>
            <a:endParaRPr lang="en-US" altLang="en-US" dirty="0"/>
          </a:p>
        </p:txBody>
      </p:sp>
    </p:spTree>
    <p:extLst>
      <p:ext uri="{BB962C8B-B14F-4D97-AF65-F5344CB8AC3E}">
        <p14:creationId xmlns:p14="http://schemas.microsoft.com/office/powerpoint/2010/main" val="590152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30089-D99E-A169-DEBE-7BEBF6A149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0DF00EA-1DBB-98E7-0AF2-48C8AB9320D7}"/>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89E4ACB-1D3F-6DFF-54E8-5C69CB55844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CC15EA4-05D2-D6D4-B181-7720EC872BD8}"/>
              </a:ext>
            </a:extLst>
          </p:cNvPr>
          <p:cNvSpPr>
            <a:spLocks noGrp="1"/>
          </p:cNvSpPr>
          <p:nvPr>
            <p:ph type="sldNum" sz="quarter" idx="5"/>
          </p:nvPr>
        </p:nvSpPr>
        <p:spPr/>
        <p:txBody>
          <a:bodyPr/>
          <a:lstStyle/>
          <a:p>
            <a:pPr>
              <a:defRPr/>
            </a:pPr>
            <a:fld id="{AB31E2A7-604B-AC4A-93FF-7D752141A213}" type="slidenum">
              <a:rPr lang="en-US" altLang="en-US" smtClean="0"/>
              <a:pPr>
                <a:defRPr/>
              </a:pPr>
              <a:t>18</a:t>
            </a:fld>
            <a:endParaRPr lang="en-US" altLang="en-US" dirty="0"/>
          </a:p>
        </p:txBody>
      </p:sp>
    </p:spTree>
    <p:extLst>
      <p:ext uri="{BB962C8B-B14F-4D97-AF65-F5344CB8AC3E}">
        <p14:creationId xmlns:p14="http://schemas.microsoft.com/office/powerpoint/2010/main" val="4044440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C2D2A-CCAA-7ACA-1FF7-1E6B68B830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1547DD-E09E-15D9-F348-BCA74CC907BA}"/>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4B97D2FD-BDAF-1003-625C-4AE9C7A9811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8579162B-ED99-8AD6-638E-69BEEE2B9F3D}"/>
              </a:ext>
            </a:extLst>
          </p:cNvPr>
          <p:cNvSpPr>
            <a:spLocks noGrp="1"/>
          </p:cNvSpPr>
          <p:nvPr>
            <p:ph type="sldNum" sz="quarter" idx="5"/>
          </p:nvPr>
        </p:nvSpPr>
        <p:spPr/>
        <p:txBody>
          <a:bodyPr/>
          <a:lstStyle/>
          <a:p>
            <a:pPr>
              <a:defRPr/>
            </a:pPr>
            <a:fld id="{AB31E2A7-604B-AC4A-93FF-7D752141A213}" type="slidenum">
              <a:rPr lang="en-US" altLang="en-US" smtClean="0"/>
              <a:pPr>
                <a:defRPr/>
              </a:pPr>
              <a:t>19</a:t>
            </a:fld>
            <a:endParaRPr lang="en-US" altLang="en-US" dirty="0"/>
          </a:p>
        </p:txBody>
      </p:sp>
    </p:spTree>
    <p:extLst>
      <p:ext uri="{BB962C8B-B14F-4D97-AF65-F5344CB8AC3E}">
        <p14:creationId xmlns:p14="http://schemas.microsoft.com/office/powerpoint/2010/main" val="3964239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62486-0441-7D4C-258C-16B2C1C3E4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5492DD-04B2-826B-5944-04DDD84EAF54}"/>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B3B660AD-C922-0E4F-6D10-D4EE6FC3077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FFEF3AA6-59E1-1687-5D57-2F5BD2AB854C}"/>
              </a:ext>
            </a:extLst>
          </p:cNvPr>
          <p:cNvSpPr>
            <a:spLocks noGrp="1"/>
          </p:cNvSpPr>
          <p:nvPr>
            <p:ph type="sldNum" sz="quarter" idx="5"/>
          </p:nvPr>
        </p:nvSpPr>
        <p:spPr/>
        <p:txBody>
          <a:bodyPr/>
          <a:lstStyle/>
          <a:p>
            <a:pPr>
              <a:defRPr/>
            </a:pPr>
            <a:fld id="{AB31E2A7-604B-AC4A-93FF-7D752141A213}" type="slidenum">
              <a:rPr lang="en-US" altLang="en-US" smtClean="0"/>
              <a:pPr>
                <a:defRPr/>
              </a:pPr>
              <a:t>20</a:t>
            </a:fld>
            <a:endParaRPr lang="en-US" altLang="en-US" dirty="0"/>
          </a:p>
        </p:txBody>
      </p:sp>
    </p:spTree>
    <p:extLst>
      <p:ext uri="{BB962C8B-B14F-4D97-AF65-F5344CB8AC3E}">
        <p14:creationId xmlns:p14="http://schemas.microsoft.com/office/powerpoint/2010/main" val="273094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03F6C-91E2-49BE-64DE-DAFF004873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58CEDCA-7E50-EAE5-2086-DA3DC57B943A}"/>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6F997C84-0F21-9D25-DC1B-09A48F62BA8A}"/>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E806418-2761-DE16-B9F4-2184B6C72708}"/>
              </a:ext>
            </a:extLst>
          </p:cNvPr>
          <p:cNvSpPr>
            <a:spLocks noGrp="1"/>
          </p:cNvSpPr>
          <p:nvPr>
            <p:ph type="sldNum" sz="quarter" idx="5"/>
          </p:nvPr>
        </p:nvSpPr>
        <p:spPr/>
        <p:txBody>
          <a:bodyPr/>
          <a:lstStyle/>
          <a:p>
            <a:pPr>
              <a:defRPr/>
            </a:pPr>
            <a:fld id="{AB31E2A7-604B-AC4A-93FF-7D752141A213}" type="slidenum">
              <a:rPr lang="en-US" altLang="en-US" smtClean="0"/>
              <a:pPr>
                <a:defRPr/>
              </a:pPr>
              <a:t>21</a:t>
            </a:fld>
            <a:endParaRPr lang="en-US" altLang="en-US" dirty="0"/>
          </a:p>
        </p:txBody>
      </p:sp>
    </p:spTree>
    <p:extLst>
      <p:ext uri="{BB962C8B-B14F-4D97-AF65-F5344CB8AC3E}">
        <p14:creationId xmlns:p14="http://schemas.microsoft.com/office/powerpoint/2010/main" val="39574862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5AA30-5E33-A3DD-D310-C164DE5E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B419ADB-6357-D565-A1FE-A7E311391BBA}"/>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0DF4DF45-B1A9-2C64-5FA0-1A5DD69D213F}"/>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B9E751E-2807-F236-9E3C-2613942AA611}"/>
              </a:ext>
            </a:extLst>
          </p:cNvPr>
          <p:cNvSpPr>
            <a:spLocks noGrp="1"/>
          </p:cNvSpPr>
          <p:nvPr>
            <p:ph type="sldNum" sz="quarter" idx="5"/>
          </p:nvPr>
        </p:nvSpPr>
        <p:spPr/>
        <p:txBody>
          <a:bodyPr/>
          <a:lstStyle/>
          <a:p>
            <a:pPr>
              <a:defRPr/>
            </a:pPr>
            <a:fld id="{AB31E2A7-604B-AC4A-93FF-7D752141A213}" type="slidenum">
              <a:rPr lang="en-US" altLang="en-US" smtClean="0"/>
              <a:pPr>
                <a:defRPr/>
              </a:pPr>
              <a:t>22</a:t>
            </a:fld>
            <a:endParaRPr lang="en-US" altLang="en-US" dirty="0"/>
          </a:p>
        </p:txBody>
      </p:sp>
    </p:spTree>
    <p:extLst>
      <p:ext uri="{BB962C8B-B14F-4D97-AF65-F5344CB8AC3E}">
        <p14:creationId xmlns:p14="http://schemas.microsoft.com/office/powerpoint/2010/main" val="607368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E4D6C-9089-B5A7-47F2-7E307FEC18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BF80F0-D209-03D5-2390-F8D56AE0A14C}"/>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57923FC0-B7F1-4046-ADB4-3D812C2538DF}"/>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3F58CBC-36E2-7730-AF5F-101A93390CAD}"/>
              </a:ext>
            </a:extLst>
          </p:cNvPr>
          <p:cNvSpPr>
            <a:spLocks noGrp="1"/>
          </p:cNvSpPr>
          <p:nvPr>
            <p:ph type="sldNum" sz="quarter" idx="5"/>
          </p:nvPr>
        </p:nvSpPr>
        <p:spPr/>
        <p:txBody>
          <a:bodyPr/>
          <a:lstStyle/>
          <a:p>
            <a:pPr>
              <a:defRPr/>
            </a:pPr>
            <a:fld id="{AB31E2A7-604B-AC4A-93FF-7D752141A213}" type="slidenum">
              <a:rPr lang="en-US" altLang="en-US" smtClean="0"/>
              <a:pPr>
                <a:defRPr/>
              </a:pPr>
              <a:t>23</a:t>
            </a:fld>
            <a:endParaRPr lang="en-US" altLang="en-US" dirty="0"/>
          </a:p>
        </p:txBody>
      </p:sp>
    </p:spTree>
    <p:extLst>
      <p:ext uri="{BB962C8B-B14F-4D97-AF65-F5344CB8AC3E}">
        <p14:creationId xmlns:p14="http://schemas.microsoft.com/office/powerpoint/2010/main" val="4099602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47AE2-0B09-C451-A994-4B90203139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3450E7-AF6A-2E76-C8C8-C74210929BAE}"/>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FF320613-7592-8645-9FF8-3106CFBE383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8DBA8EDD-A083-044D-46D5-DE88A6CD5B88}"/>
              </a:ext>
            </a:extLst>
          </p:cNvPr>
          <p:cNvSpPr>
            <a:spLocks noGrp="1"/>
          </p:cNvSpPr>
          <p:nvPr>
            <p:ph type="sldNum" sz="quarter" idx="5"/>
          </p:nvPr>
        </p:nvSpPr>
        <p:spPr/>
        <p:txBody>
          <a:bodyPr/>
          <a:lstStyle/>
          <a:p>
            <a:pPr>
              <a:defRPr/>
            </a:pPr>
            <a:fld id="{AB31E2A7-604B-AC4A-93FF-7D752141A213}" type="slidenum">
              <a:rPr lang="en-US" altLang="en-US" smtClean="0"/>
              <a:pPr>
                <a:defRPr/>
              </a:pPr>
              <a:t>24</a:t>
            </a:fld>
            <a:endParaRPr lang="en-US" altLang="en-US" dirty="0"/>
          </a:p>
        </p:txBody>
      </p:sp>
    </p:spTree>
    <p:extLst>
      <p:ext uri="{BB962C8B-B14F-4D97-AF65-F5344CB8AC3E}">
        <p14:creationId xmlns:p14="http://schemas.microsoft.com/office/powerpoint/2010/main" val="36952710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C1BF6-5E4C-94BB-8D4D-27B7863B63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EE9FEFB-092B-E11E-0CEC-6950518A559E}"/>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E726E882-328A-3315-4FE2-00F49AD8A79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BAAECD5A-6DE9-5F3C-0EF4-586DAD265923}"/>
              </a:ext>
            </a:extLst>
          </p:cNvPr>
          <p:cNvSpPr>
            <a:spLocks noGrp="1"/>
          </p:cNvSpPr>
          <p:nvPr>
            <p:ph type="sldNum" sz="quarter" idx="5"/>
          </p:nvPr>
        </p:nvSpPr>
        <p:spPr/>
        <p:txBody>
          <a:bodyPr/>
          <a:lstStyle/>
          <a:p>
            <a:pPr>
              <a:defRPr/>
            </a:pPr>
            <a:fld id="{AB31E2A7-604B-AC4A-93FF-7D752141A213}" type="slidenum">
              <a:rPr lang="en-US" altLang="en-US" smtClean="0"/>
              <a:pPr>
                <a:defRPr/>
              </a:pPr>
              <a:t>25</a:t>
            </a:fld>
            <a:endParaRPr lang="en-US" altLang="en-US" dirty="0"/>
          </a:p>
        </p:txBody>
      </p:sp>
    </p:spTree>
    <p:extLst>
      <p:ext uri="{BB962C8B-B14F-4D97-AF65-F5344CB8AC3E}">
        <p14:creationId xmlns:p14="http://schemas.microsoft.com/office/powerpoint/2010/main" val="4160789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9FDF8-E3C1-E143-6700-153672787A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2D9F52-9129-A934-6C7C-61B6594691D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1B311C3C-4780-91B7-449D-7068CFC2AD13}"/>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A207289-B2B7-5A5B-118E-8A1B5592149F}"/>
              </a:ext>
            </a:extLst>
          </p:cNvPr>
          <p:cNvSpPr>
            <a:spLocks noGrp="1"/>
          </p:cNvSpPr>
          <p:nvPr>
            <p:ph type="sldNum" sz="quarter" idx="5"/>
          </p:nvPr>
        </p:nvSpPr>
        <p:spPr/>
        <p:txBody>
          <a:bodyPr/>
          <a:lstStyle/>
          <a:p>
            <a:pPr>
              <a:defRPr/>
            </a:pPr>
            <a:fld id="{AB31E2A7-604B-AC4A-93FF-7D752141A213}" type="slidenum">
              <a:rPr lang="en-US" altLang="en-US" smtClean="0"/>
              <a:pPr>
                <a:defRPr/>
              </a:pPr>
              <a:t>26</a:t>
            </a:fld>
            <a:endParaRPr lang="en-US" altLang="en-US" dirty="0"/>
          </a:p>
        </p:txBody>
      </p:sp>
    </p:spTree>
    <p:extLst>
      <p:ext uri="{BB962C8B-B14F-4D97-AF65-F5344CB8AC3E}">
        <p14:creationId xmlns:p14="http://schemas.microsoft.com/office/powerpoint/2010/main" val="41576463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368AB-303E-AE3F-7813-45972DCE0E5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2D01C00-77F2-E97F-C7D8-618B90F57FDA}"/>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192079D-A307-ED9D-C5B1-11305EA095A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A8F4A95-844B-ED96-5DAD-C2E18A2F3BFE}"/>
              </a:ext>
            </a:extLst>
          </p:cNvPr>
          <p:cNvSpPr>
            <a:spLocks noGrp="1"/>
          </p:cNvSpPr>
          <p:nvPr>
            <p:ph type="sldNum" sz="quarter" idx="5"/>
          </p:nvPr>
        </p:nvSpPr>
        <p:spPr/>
        <p:txBody>
          <a:bodyPr/>
          <a:lstStyle/>
          <a:p>
            <a:pPr>
              <a:defRPr/>
            </a:pPr>
            <a:fld id="{AB31E2A7-604B-AC4A-93FF-7D752141A213}" type="slidenum">
              <a:rPr lang="en-US" altLang="en-US" smtClean="0"/>
              <a:pPr>
                <a:defRPr/>
              </a:pPr>
              <a:t>27</a:t>
            </a:fld>
            <a:endParaRPr lang="en-US" altLang="en-US" dirty="0"/>
          </a:p>
        </p:txBody>
      </p:sp>
    </p:spTree>
    <p:extLst>
      <p:ext uri="{BB962C8B-B14F-4D97-AF65-F5344CB8AC3E}">
        <p14:creationId xmlns:p14="http://schemas.microsoft.com/office/powerpoint/2010/main" val="1117703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22CDC-AE7B-F750-F159-4AEBD75D4A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8135F9-E16C-BFAB-B559-B4FC13341DA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0EFA2558-E453-9887-84DC-A6B23947FC8D}"/>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3AE997D3-8D4F-F722-82AE-D1D10DD9BFBD}"/>
              </a:ext>
            </a:extLst>
          </p:cNvPr>
          <p:cNvSpPr>
            <a:spLocks noGrp="1"/>
          </p:cNvSpPr>
          <p:nvPr>
            <p:ph type="sldNum" sz="quarter" idx="5"/>
          </p:nvPr>
        </p:nvSpPr>
        <p:spPr/>
        <p:txBody>
          <a:bodyPr/>
          <a:lstStyle/>
          <a:p>
            <a:pPr>
              <a:defRPr/>
            </a:pPr>
            <a:fld id="{AB31E2A7-604B-AC4A-93FF-7D752141A213}" type="slidenum">
              <a:rPr lang="en-US" altLang="en-US" smtClean="0"/>
              <a:pPr>
                <a:defRPr/>
              </a:pPr>
              <a:t>28</a:t>
            </a:fld>
            <a:endParaRPr lang="en-US" altLang="en-US" dirty="0"/>
          </a:p>
        </p:txBody>
      </p:sp>
    </p:spTree>
    <p:extLst>
      <p:ext uri="{BB962C8B-B14F-4D97-AF65-F5344CB8AC3E}">
        <p14:creationId xmlns:p14="http://schemas.microsoft.com/office/powerpoint/2010/main" val="40899105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4018C-86CC-3FBF-4D00-598E456EA6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711DF8-BD7F-A2B0-126B-2BC6BEA0E62B}"/>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9C6D9A57-6C5A-BC10-B89B-A527DEE666C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6E054483-6483-2EDD-E767-76162A9649CF}"/>
              </a:ext>
            </a:extLst>
          </p:cNvPr>
          <p:cNvSpPr>
            <a:spLocks noGrp="1"/>
          </p:cNvSpPr>
          <p:nvPr>
            <p:ph type="sldNum" sz="quarter" idx="5"/>
          </p:nvPr>
        </p:nvSpPr>
        <p:spPr/>
        <p:txBody>
          <a:bodyPr/>
          <a:lstStyle/>
          <a:p>
            <a:pPr>
              <a:defRPr/>
            </a:pPr>
            <a:fld id="{AB31E2A7-604B-AC4A-93FF-7D752141A213}" type="slidenum">
              <a:rPr lang="en-US" altLang="en-US" smtClean="0"/>
              <a:pPr>
                <a:defRPr/>
              </a:pPr>
              <a:t>29</a:t>
            </a:fld>
            <a:endParaRPr lang="en-US" altLang="en-US" dirty="0"/>
          </a:p>
        </p:txBody>
      </p:sp>
    </p:spTree>
    <p:extLst>
      <p:ext uri="{BB962C8B-B14F-4D97-AF65-F5344CB8AC3E}">
        <p14:creationId xmlns:p14="http://schemas.microsoft.com/office/powerpoint/2010/main" val="16760104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23055-CA57-5958-19A5-91D727CDB5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BFACB8-710B-52A4-F137-B0DB4817253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5E02EDE6-AB7A-202E-062E-4955F256D7BD}"/>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5E4E888-388C-2912-D6E4-2F425FB4E4F0}"/>
              </a:ext>
            </a:extLst>
          </p:cNvPr>
          <p:cNvSpPr>
            <a:spLocks noGrp="1"/>
          </p:cNvSpPr>
          <p:nvPr>
            <p:ph type="sldNum" sz="quarter" idx="5"/>
          </p:nvPr>
        </p:nvSpPr>
        <p:spPr/>
        <p:txBody>
          <a:bodyPr/>
          <a:lstStyle/>
          <a:p>
            <a:pPr>
              <a:defRPr/>
            </a:pPr>
            <a:fld id="{AB31E2A7-604B-AC4A-93FF-7D752141A213}" type="slidenum">
              <a:rPr lang="en-US" altLang="en-US" smtClean="0"/>
              <a:pPr>
                <a:defRPr/>
              </a:pPr>
              <a:t>30</a:t>
            </a:fld>
            <a:endParaRPr lang="en-US" altLang="en-US" dirty="0"/>
          </a:p>
        </p:txBody>
      </p:sp>
    </p:spTree>
    <p:extLst>
      <p:ext uri="{BB962C8B-B14F-4D97-AF65-F5344CB8AC3E}">
        <p14:creationId xmlns:p14="http://schemas.microsoft.com/office/powerpoint/2010/main" val="5124857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DC38A-F64D-C7EA-A6D2-D175BCCC9B8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869C9EB-C617-A423-14F8-B5D60866BF45}"/>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AA65CA3A-73CB-1C76-2C78-91462E80DD2A}"/>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8F3B55E4-39DF-9A99-7F60-5F78DF184C56}"/>
              </a:ext>
            </a:extLst>
          </p:cNvPr>
          <p:cNvSpPr>
            <a:spLocks noGrp="1"/>
          </p:cNvSpPr>
          <p:nvPr>
            <p:ph type="sldNum" sz="quarter" idx="5"/>
          </p:nvPr>
        </p:nvSpPr>
        <p:spPr/>
        <p:txBody>
          <a:bodyPr/>
          <a:lstStyle/>
          <a:p>
            <a:pPr>
              <a:defRPr/>
            </a:pPr>
            <a:fld id="{AB31E2A7-604B-AC4A-93FF-7D752141A213}" type="slidenum">
              <a:rPr lang="en-US" altLang="en-US" smtClean="0"/>
              <a:pPr>
                <a:defRPr/>
              </a:pPr>
              <a:t>31</a:t>
            </a:fld>
            <a:endParaRPr lang="en-US" altLang="en-US" dirty="0"/>
          </a:p>
        </p:txBody>
      </p:sp>
    </p:spTree>
    <p:extLst>
      <p:ext uri="{BB962C8B-B14F-4D97-AF65-F5344CB8AC3E}">
        <p14:creationId xmlns:p14="http://schemas.microsoft.com/office/powerpoint/2010/main" val="17486419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E53F7-300D-DE6E-74B3-AAB6C2EEF72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882431-9AA0-962F-1C6C-D358611DCDCF}"/>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B91C9F7D-BB54-8401-5E8B-240CAF30F0CE}"/>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DD799CC1-E5A0-AA7D-4055-3A434DD931F5}"/>
              </a:ext>
            </a:extLst>
          </p:cNvPr>
          <p:cNvSpPr>
            <a:spLocks noGrp="1"/>
          </p:cNvSpPr>
          <p:nvPr>
            <p:ph type="sldNum" sz="quarter" idx="5"/>
          </p:nvPr>
        </p:nvSpPr>
        <p:spPr/>
        <p:txBody>
          <a:bodyPr/>
          <a:lstStyle/>
          <a:p>
            <a:pPr>
              <a:defRPr/>
            </a:pPr>
            <a:fld id="{AB31E2A7-604B-AC4A-93FF-7D752141A213}" type="slidenum">
              <a:rPr lang="en-US" altLang="en-US" smtClean="0"/>
              <a:pPr>
                <a:defRPr/>
              </a:pPr>
              <a:t>32</a:t>
            </a:fld>
            <a:endParaRPr lang="en-US" altLang="en-US" dirty="0"/>
          </a:p>
        </p:txBody>
      </p:sp>
    </p:spTree>
    <p:extLst>
      <p:ext uri="{BB962C8B-B14F-4D97-AF65-F5344CB8AC3E}">
        <p14:creationId xmlns:p14="http://schemas.microsoft.com/office/powerpoint/2010/main" val="27362347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4EFCF-F105-4CF0-39EC-0DA6781A493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F9450B-E28B-5E8B-6BF1-F328D783F36D}"/>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EEA69301-3CC6-51DB-B4D3-C6405402116D}"/>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6C5FFE1-1095-872D-818E-C88B673A9CB7}"/>
              </a:ext>
            </a:extLst>
          </p:cNvPr>
          <p:cNvSpPr>
            <a:spLocks noGrp="1"/>
          </p:cNvSpPr>
          <p:nvPr>
            <p:ph type="sldNum" sz="quarter" idx="5"/>
          </p:nvPr>
        </p:nvSpPr>
        <p:spPr/>
        <p:txBody>
          <a:bodyPr/>
          <a:lstStyle/>
          <a:p>
            <a:pPr>
              <a:defRPr/>
            </a:pPr>
            <a:fld id="{AB31E2A7-604B-AC4A-93FF-7D752141A213}" type="slidenum">
              <a:rPr lang="en-US" altLang="en-US" smtClean="0"/>
              <a:pPr>
                <a:defRPr/>
              </a:pPr>
              <a:t>33</a:t>
            </a:fld>
            <a:endParaRPr lang="en-US" altLang="en-US" dirty="0"/>
          </a:p>
        </p:txBody>
      </p:sp>
    </p:spTree>
    <p:extLst>
      <p:ext uri="{BB962C8B-B14F-4D97-AF65-F5344CB8AC3E}">
        <p14:creationId xmlns:p14="http://schemas.microsoft.com/office/powerpoint/2010/main" val="27985933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6DEA3-ABB0-3CCA-F31C-175F125602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4797FF-6CCB-1460-1578-5AB26A7B2703}"/>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E9845AF9-4C15-EFE9-76AC-BDEB3CEDCD9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B14E71F4-F0F0-B5CC-F228-F05883E7B417}"/>
              </a:ext>
            </a:extLst>
          </p:cNvPr>
          <p:cNvSpPr>
            <a:spLocks noGrp="1"/>
          </p:cNvSpPr>
          <p:nvPr>
            <p:ph type="sldNum" sz="quarter" idx="5"/>
          </p:nvPr>
        </p:nvSpPr>
        <p:spPr/>
        <p:txBody>
          <a:bodyPr/>
          <a:lstStyle/>
          <a:p>
            <a:pPr>
              <a:defRPr/>
            </a:pPr>
            <a:fld id="{AB31E2A7-604B-AC4A-93FF-7D752141A213}" type="slidenum">
              <a:rPr lang="en-US" altLang="en-US" smtClean="0"/>
              <a:pPr>
                <a:defRPr/>
              </a:pPr>
              <a:t>34</a:t>
            </a:fld>
            <a:endParaRPr lang="en-US" altLang="en-US" dirty="0"/>
          </a:p>
        </p:txBody>
      </p:sp>
    </p:spTree>
    <p:extLst>
      <p:ext uri="{BB962C8B-B14F-4D97-AF65-F5344CB8AC3E}">
        <p14:creationId xmlns:p14="http://schemas.microsoft.com/office/powerpoint/2010/main" val="30888569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7E75B-5962-1F10-6BA1-B504468931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CE32809-A99C-DE89-C522-C6237E00194C}"/>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F1B6B48E-77E5-614D-1050-826357F33BD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71AF784-933F-0038-5287-7E9FEC6E00DE}"/>
              </a:ext>
            </a:extLst>
          </p:cNvPr>
          <p:cNvSpPr>
            <a:spLocks noGrp="1"/>
          </p:cNvSpPr>
          <p:nvPr>
            <p:ph type="sldNum" sz="quarter" idx="5"/>
          </p:nvPr>
        </p:nvSpPr>
        <p:spPr/>
        <p:txBody>
          <a:bodyPr/>
          <a:lstStyle/>
          <a:p>
            <a:pPr>
              <a:defRPr/>
            </a:pPr>
            <a:fld id="{AB31E2A7-604B-AC4A-93FF-7D752141A213}" type="slidenum">
              <a:rPr lang="en-US" altLang="en-US" smtClean="0"/>
              <a:pPr>
                <a:defRPr/>
              </a:pPr>
              <a:t>35</a:t>
            </a:fld>
            <a:endParaRPr lang="en-US" altLang="en-US" dirty="0"/>
          </a:p>
        </p:txBody>
      </p:sp>
    </p:spTree>
    <p:extLst>
      <p:ext uri="{BB962C8B-B14F-4D97-AF65-F5344CB8AC3E}">
        <p14:creationId xmlns:p14="http://schemas.microsoft.com/office/powerpoint/2010/main" val="4249887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D5C84-777E-E843-F73D-022C4DAF0C2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E01ABE-A510-22DF-CE99-6617F51505A5}"/>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7D6AEE23-7ECB-8C1E-FC36-77B0065E8D5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EE41118A-6A7A-EA83-7DEC-B0A3A9487D85}"/>
              </a:ext>
            </a:extLst>
          </p:cNvPr>
          <p:cNvSpPr>
            <a:spLocks noGrp="1"/>
          </p:cNvSpPr>
          <p:nvPr>
            <p:ph type="sldNum" sz="quarter" idx="5"/>
          </p:nvPr>
        </p:nvSpPr>
        <p:spPr/>
        <p:txBody>
          <a:bodyPr/>
          <a:lstStyle/>
          <a:p>
            <a:pPr>
              <a:defRPr/>
            </a:pPr>
            <a:fld id="{AB31E2A7-604B-AC4A-93FF-7D752141A213}" type="slidenum">
              <a:rPr lang="en-US" altLang="en-US" smtClean="0"/>
              <a:pPr>
                <a:defRPr/>
              </a:pPr>
              <a:t>36</a:t>
            </a:fld>
            <a:endParaRPr lang="en-US" altLang="en-US" dirty="0"/>
          </a:p>
        </p:txBody>
      </p:sp>
    </p:spTree>
    <p:extLst>
      <p:ext uri="{BB962C8B-B14F-4D97-AF65-F5344CB8AC3E}">
        <p14:creationId xmlns:p14="http://schemas.microsoft.com/office/powerpoint/2010/main" val="807148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CF029-E67C-5422-98AC-F4867327DE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96D2B99-BEA5-598E-3CEB-F0370D491BB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1125B707-F3F4-EC40-D2F8-B28B8648D40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1390A8A0-AE93-DF33-37E3-396925026725}"/>
              </a:ext>
            </a:extLst>
          </p:cNvPr>
          <p:cNvSpPr>
            <a:spLocks noGrp="1"/>
          </p:cNvSpPr>
          <p:nvPr>
            <p:ph type="sldNum" sz="quarter" idx="5"/>
          </p:nvPr>
        </p:nvSpPr>
        <p:spPr/>
        <p:txBody>
          <a:bodyPr/>
          <a:lstStyle/>
          <a:p>
            <a:pPr>
              <a:defRPr/>
            </a:pPr>
            <a:fld id="{AB31E2A7-604B-AC4A-93FF-7D752141A213}" type="slidenum">
              <a:rPr lang="en-US" altLang="en-US" smtClean="0"/>
              <a:pPr>
                <a:defRPr/>
              </a:pPr>
              <a:t>37</a:t>
            </a:fld>
            <a:endParaRPr lang="en-US" altLang="en-US" dirty="0"/>
          </a:p>
        </p:txBody>
      </p:sp>
    </p:spTree>
    <p:extLst>
      <p:ext uri="{BB962C8B-B14F-4D97-AF65-F5344CB8AC3E}">
        <p14:creationId xmlns:p14="http://schemas.microsoft.com/office/powerpoint/2010/main" val="29976437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B1329-FC92-F49A-E723-AF4F6B93B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4EB156D-EF22-6928-55DC-0D3EFE8129D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16990FEC-83AA-713C-CD04-6CD3E74E2F43}"/>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2E29D99-6921-CBAA-C407-C50005C81205}"/>
              </a:ext>
            </a:extLst>
          </p:cNvPr>
          <p:cNvSpPr>
            <a:spLocks noGrp="1"/>
          </p:cNvSpPr>
          <p:nvPr>
            <p:ph type="sldNum" sz="quarter" idx="5"/>
          </p:nvPr>
        </p:nvSpPr>
        <p:spPr/>
        <p:txBody>
          <a:bodyPr/>
          <a:lstStyle/>
          <a:p>
            <a:pPr>
              <a:defRPr/>
            </a:pPr>
            <a:fld id="{AB31E2A7-604B-AC4A-93FF-7D752141A213}" type="slidenum">
              <a:rPr lang="en-US" altLang="en-US" smtClean="0"/>
              <a:pPr>
                <a:defRPr/>
              </a:pPr>
              <a:t>38</a:t>
            </a:fld>
            <a:endParaRPr lang="en-US" altLang="en-US" dirty="0"/>
          </a:p>
        </p:txBody>
      </p:sp>
    </p:spTree>
    <p:extLst>
      <p:ext uri="{BB962C8B-B14F-4D97-AF65-F5344CB8AC3E}">
        <p14:creationId xmlns:p14="http://schemas.microsoft.com/office/powerpoint/2010/main" val="26530649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B033F-517C-432A-98FD-819B945F83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0D2565-DD53-7221-B8AF-691D7466AB27}"/>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008D52DE-6CB4-5B12-FA1E-010F5073471E}"/>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005D5EDC-CBF1-396C-D9F8-EFDA0757036C}"/>
              </a:ext>
            </a:extLst>
          </p:cNvPr>
          <p:cNvSpPr>
            <a:spLocks noGrp="1"/>
          </p:cNvSpPr>
          <p:nvPr>
            <p:ph type="sldNum" sz="quarter" idx="5"/>
          </p:nvPr>
        </p:nvSpPr>
        <p:spPr/>
        <p:txBody>
          <a:bodyPr/>
          <a:lstStyle/>
          <a:p>
            <a:pPr>
              <a:defRPr/>
            </a:pPr>
            <a:fld id="{AB31E2A7-604B-AC4A-93FF-7D752141A213}" type="slidenum">
              <a:rPr lang="en-US" altLang="en-US" smtClean="0"/>
              <a:pPr>
                <a:defRPr/>
              </a:pPr>
              <a:t>39</a:t>
            </a:fld>
            <a:endParaRPr lang="en-US" altLang="en-US" dirty="0"/>
          </a:p>
        </p:txBody>
      </p:sp>
    </p:spTree>
    <p:extLst>
      <p:ext uri="{BB962C8B-B14F-4D97-AF65-F5344CB8AC3E}">
        <p14:creationId xmlns:p14="http://schemas.microsoft.com/office/powerpoint/2010/main" val="18564003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E4C09-38EC-E11B-10AA-A841CAC0D2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7DE736B-5039-B5EF-F66E-7AB617F1D01D}"/>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C6A10076-76CD-85F9-4433-4F185814D54B}"/>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E11049D-31FB-F2DB-C6A4-B6342E993BE6}"/>
              </a:ext>
            </a:extLst>
          </p:cNvPr>
          <p:cNvSpPr>
            <a:spLocks noGrp="1"/>
          </p:cNvSpPr>
          <p:nvPr>
            <p:ph type="sldNum" sz="quarter" idx="5"/>
          </p:nvPr>
        </p:nvSpPr>
        <p:spPr/>
        <p:txBody>
          <a:bodyPr/>
          <a:lstStyle/>
          <a:p>
            <a:pPr>
              <a:defRPr/>
            </a:pPr>
            <a:fld id="{AB31E2A7-604B-AC4A-93FF-7D752141A213}" type="slidenum">
              <a:rPr lang="en-US" altLang="en-US" smtClean="0"/>
              <a:pPr>
                <a:defRPr/>
              </a:pPr>
              <a:t>40</a:t>
            </a:fld>
            <a:endParaRPr lang="en-US" altLang="en-US" dirty="0"/>
          </a:p>
        </p:txBody>
      </p:sp>
    </p:spTree>
    <p:extLst>
      <p:ext uri="{BB962C8B-B14F-4D97-AF65-F5344CB8AC3E}">
        <p14:creationId xmlns:p14="http://schemas.microsoft.com/office/powerpoint/2010/main" val="12206003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95AAA-10A7-F96F-1C2E-BAD2B82A39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24C2A74-72E1-307E-E81B-2DDEEB4B7AF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4743D0D-E253-2B02-0E7D-B94B21BEB431}"/>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DDD18654-A48D-8190-96E3-0E0FABA38177}"/>
              </a:ext>
            </a:extLst>
          </p:cNvPr>
          <p:cNvSpPr>
            <a:spLocks noGrp="1"/>
          </p:cNvSpPr>
          <p:nvPr>
            <p:ph type="sldNum" sz="quarter" idx="5"/>
          </p:nvPr>
        </p:nvSpPr>
        <p:spPr/>
        <p:txBody>
          <a:bodyPr/>
          <a:lstStyle/>
          <a:p>
            <a:pPr>
              <a:defRPr/>
            </a:pPr>
            <a:fld id="{AB31E2A7-604B-AC4A-93FF-7D752141A213}" type="slidenum">
              <a:rPr lang="en-US" altLang="en-US" smtClean="0"/>
              <a:pPr>
                <a:defRPr/>
              </a:pPr>
              <a:t>41</a:t>
            </a:fld>
            <a:endParaRPr lang="en-US" altLang="en-US" dirty="0"/>
          </a:p>
        </p:txBody>
      </p:sp>
    </p:spTree>
    <p:extLst>
      <p:ext uri="{BB962C8B-B14F-4D97-AF65-F5344CB8AC3E}">
        <p14:creationId xmlns:p14="http://schemas.microsoft.com/office/powerpoint/2010/main" val="1129326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E13A6-7B12-A5F2-788B-2BDC0988171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9FE606-18E9-6D62-5BBA-6E0317D3B26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9FAE4D03-E5D6-5A6B-6FD1-4D4A24ED9EA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33B225B-0D9C-134A-9511-57695181858A}"/>
              </a:ext>
            </a:extLst>
          </p:cNvPr>
          <p:cNvSpPr>
            <a:spLocks noGrp="1"/>
          </p:cNvSpPr>
          <p:nvPr>
            <p:ph type="sldNum" sz="quarter" idx="5"/>
          </p:nvPr>
        </p:nvSpPr>
        <p:spPr/>
        <p:txBody>
          <a:bodyPr/>
          <a:lstStyle/>
          <a:p>
            <a:pPr>
              <a:defRPr/>
            </a:pPr>
            <a:fld id="{AB31E2A7-604B-AC4A-93FF-7D752141A213}" type="slidenum">
              <a:rPr lang="en-US" altLang="en-US" smtClean="0"/>
              <a:pPr>
                <a:defRPr/>
              </a:pPr>
              <a:t>42</a:t>
            </a:fld>
            <a:endParaRPr lang="en-US" altLang="en-US" dirty="0"/>
          </a:p>
        </p:txBody>
      </p:sp>
    </p:spTree>
    <p:extLst>
      <p:ext uri="{BB962C8B-B14F-4D97-AF65-F5344CB8AC3E}">
        <p14:creationId xmlns:p14="http://schemas.microsoft.com/office/powerpoint/2010/main" val="41920318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BB51F-1752-3B30-70A5-7F3111BA1F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049546-F6C5-9C58-29CD-82158076D78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2EAD0AC3-C338-2E5D-02CF-7AF2FCC1380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F67E186A-D8BC-9086-D6DC-475FF7F8BE80}"/>
              </a:ext>
            </a:extLst>
          </p:cNvPr>
          <p:cNvSpPr>
            <a:spLocks noGrp="1"/>
          </p:cNvSpPr>
          <p:nvPr>
            <p:ph type="sldNum" sz="quarter" idx="5"/>
          </p:nvPr>
        </p:nvSpPr>
        <p:spPr/>
        <p:txBody>
          <a:bodyPr/>
          <a:lstStyle/>
          <a:p>
            <a:pPr>
              <a:defRPr/>
            </a:pPr>
            <a:fld id="{AB31E2A7-604B-AC4A-93FF-7D752141A213}" type="slidenum">
              <a:rPr lang="en-US" altLang="en-US" smtClean="0"/>
              <a:pPr>
                <a:defRPr/>
              </a:pPr>
              <a:t>43</a:t>
            </a:fld>
            <a:endParaRPr lang="en-US" altLang="en-US" dirty="0"/>
          </a:p>
        </p:txBody>
      </p:sp>
    </p:spTree>
    <p:extLst>
      <p:ext uri="{BB962C8B-B14F-4D97-AF65-F5344CB8AC3E}">
        <p14:creationId xmlns:p14="http://schemas.microsoft.com/office/powerpoint/2010/main" val="23336869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6E3FD-F6F9-4423-D714-78BB2295F3B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1E2D94-B0A2-1FE7-8848-82909396DFC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02C3B967-4427-F155-0476-DB7ACA112641}"/>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5708745-FC71-96E3-C4F5-6951406F6AFA}"/>
              </a:ext>
            </a:extLst>
          </p:cNvPr>
          <p:cNvSpPr>
            <a:spLocks noGrp="1"/>
          </p:cNvSpPr>
          <p:nvPr>
            <p:ph type="sldNum" sz="quarter" idx="5"/>
          </p:nvPr>
        </p:nvSpPr>
        <p:spPr/>
        <p:txBody>
          <a:bodyPr/>
          <a:lstStyle/>
          <a:p>
            <a:pPr>
              <a:defRPr/>
            </a:pPr>
            <a:fld id="{AB31E2A7-604B-AC4A-93FF-7D752141A213}" type="slidenum">
              <a:rPr lang="en-US" altLang="en-US" smtClean="0"/>
              <a:pPr>
                <a:defRPr/>
              </a:pPr>
              <a:t>44</a:t>
            </a:fld>
            <a:endParaRPr lang="en-US" altLang="en-US" dirty="0"/>
          </a:p>
        </p:txBody>
      </p:sp>
    </p:spTree>
    <p:extLst>
      <p:ext uri="{BB962C8B-B14F-4D97-AF65-F5344CB8AC3E}">
        <p14:creationId xmlns:p14="http://schemas.microsoft.com/office/powerpoint/2010/main" val="26382015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05B8C-2760-E731-FB4D-B9E7551B6B6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85A6D8A-2BE4-6C72-596D-5E37B2F5D52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406CEE40-7DA4-1E0D-7B67-1EEA457222F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6641C8F2-E256-8FAE-B70B-141C28958328}"/>
              </a:ext>
            </a:extLst>
          </p:cNvPr>
          <p:cNvSpPr>
            <a:spLocks noGrp="1"/>
          </p:cNvSpPr>
          <p:nvPr>
            <p:ph type="sldNum" sz="quarter" idx="5"/>
          </p:nvPr>
        </p:nvSpPr>
        <p:spPr/>
        <p:txBody>
          <a:bodyPr/>
          <a:lstStyle/>
          <a:p>
            <a:pPr>
              <a:defRPr/>
            </a:pPr>
            <a:fld id="{AB31E2A7-604B-AC4A-93FF-7D752141A213}" type="slidenum">
              <a:rPr lang="en-US" altLang="en-US" smtClean="0"/>
              <a:pPr>
                <a:defRPr/>
              </a:pPr>
              <a:t>45</a:t>
            </a:fld>
            <a:endParaRPr lang="en-US" altLang="en-US" dirty="0"/>
          </a:p>
        </p:txBody>
      </p:sp>
    </p:spTree>
    <p:extLst>
      <p:ext uri="{BB962C8B-B14F-4D97-AF65-F5344CB8AC3E}">
        <p14:creationId xmlns:p14="http://schemas.microsoft.com/office/powerpoint/2010/main" val="3955332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
            <a:extLst>
              <a:ext uri="{FF2B5EF4-FFF2-40B4-BE49-F238E27FC236}">
                <a16:creationId xmlns:a16="http://schemas.microsoft.com/office/drawing/2014/main" id="{2CCC2082-249C-0241-A66B-561CCF422836}"/>
              </a:ext>
            </a:extLst>
          </p:cNvPr>
          <p:cNvSpPr>
            <a:spLocks noChangeShapeType="1"/>
          </p:cNvSpPr>
          <p:nvPr/>
        </p:nvSpPr>
        <p:spPr bwMode="auto">
          <a:xfrm>
            <a:off x="609600" y="1066800"/>
            <a:ext cx="11108267" cy="0"/>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14338" name="Rectangle 2"/>
          <p:cNvSpPr>
            <a:spLocks noGrp="1" noChangeArrowheads="1"/>
          </p:cNvSpPr>
          <p:nvPr>
            <p:ph type="ctrTitle"/>
          </p:nvPr>
        </p:nvSpPr>
        <p:spPr>
          <a:xfrm>
            <a:off x="609600" y="228600"/>
            <a:ext cx="11176000" cy="838200"/>
          </a:xfrm>
        </p:spPr>
        <p:txBody>
          <a:bodyPr/>
          <a:lstStyle>
            <a:lvl1pPr>
              <a:defRPr/>
            </a:lvl1pPr>
          </a:lstStyle>
          <a:p>
            <a:pPr lvl="0"/>
            <a:r>
              <a:rPr lang="en-US" noProof="0"/>
              <a:t>Section 2</a:t>
            </a:r>
          </a:p>
        </p:txBody>
      </p:sp>
      <p:sp>
        <p:nvSpPr>
          <p:cNvPr id="14339" name="Rectangle 3"/>
          <p:cNvSpPr>
            <a:spLocks noGrp="1" noChangeArrowheads="1"/>
          </p:cNvSpPr>
          <p:nvPr>
            <p:ph type="subTitle" idx="1"/>
          </p:nvPr>
        </p:nvSpPr>
        <p:spPr>
          <a:xfrm>
            <a:off x="1727200" y="1676400"/>
            <a:ext cx="8331200" cy="914400"/>
          </a:xfrm>
        </p:spPr>
        <p:txBody>
          <a:bodyPr/>
          <a:lstStyle>
            <a:lvl1pPr marL="0" indent="0" algn="ctr">
              <a:buFont typeface="Wingdings" charset="0"/>
              <a:buNone/>
              <a:defRPr sz="3200" b="1">
                <a:solidFill>
                  <a:schemeClr val="accent2"/>
                </a:solidFill>
                <a:latin typeface="Arial" charset="0"/>
              </a:defRPr>
            </a:lvl1pPr>
          </a:lstStyle>
          <a:p>
            <a:pPr lvl="0"/>
            <a:r>
              <a:rPr lang="en-US" noProof="0"/>
              <a:t>Concurrent Programming Abstraction &amp; Java Threads</a:t>
            </a:r>
          </a:p>
          <a:p>
            <a:pPr lvl="0"/>
            <a:endParaRPr lang="en-US" noProof="0"/>
          </a:p>
          <a:p>
            <a:pPr lvl="0"/>
            <a:endParaRPr lang="en-US" noProof="0"/>
          </a:p>
        </p:txBody>
      </p:sp>
      <p:sp>
        <p:nvSpPr>
          <p:cNvPr id="9" name="フッター プレースホルダー 1">
            <a:extLst>
              <a:ext uri="{FF2B5EF4-FFF2-40B4-BE49-F238E27FC236}">
                <a16:creationId xmlns:a16="http://schemas.microsoft.com/office/drawing/2014/main" id="{A1380731-16D9-4669-945F-14AC8AF75439}"/>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
        <p:nvSpPr>
          <p:cNvPr id="10" name="Text Box 8">
            <a:extLst>
              <a:ext uri="{FF2B5EF4-FFF2-40B4-BE49-F238E27FC236}">
                <a16:creationId xmlns:a16="http://schemas.microsoft.com/office/drawing/2014/main" id="{47A380E1-661C-4C30-8B01-8930768AE336}"/>
              </a:ext>
            </a:extLst>
          </p:cNvPr>
          <p:cNvSpPr txBox="1">
            <a:spLocks noChangeArrowheads="1"/>
          </p:cNvSpPr>
          <p:nvPr userDrawn="1"/>
        </p:nvSpPr>
        <p:spPr bwMode="auto">
          <a:xfrm>
            <a:off x="10769600" y="6553199"/>
            <a:ext cx="1422400" cy="533400"/>
          </a:xfrm>
          <a:prstGeom prst="rect">
            <a:avLst/>
          </a:prstGeom>
          <a:noFill/>
          <a:ln>
            <a:noFill/>
          </a:ln>
          <a:effectLst/>
          <a:extLst>
            <a:ext uri="{909E8E84-426E-40dd-AFC4-6F175D3DCCD1}"/>
            <a:ext uri="{91240B29-F687-4f45-9708-019B960494DF}"/>
            <a:ext uri="{AF507438-7753-43e0-B8FC-AC1667EBCBE1}"/>
          </a:extLst>
        </p:spPr>
        <p:txBody>
          <a:bodyPr>
            <a:spAutoFit/>
          </a:bodyPr>
          <a:lstStyle>
            <a:lvl1pPr defTabSz="762000">
              <a:defRPr sz="2000">
                <a:solidFill>
                  <a:schemeClr val="tx1"/>
                </a:solidFill>
                <a:latin typeface="Comic Sans MS" charset="0"/>
                <a:ea typeface="ＭＳ Ｐゴシック" charset="-128"/>
              </a:defRPr>
            </a:lvl1pPr>
            <a:lvl2pPr marL="742950" indent="-285750" defTabSz="762000">
              <a:defRPr sz="2000">
                <a:solidFill>
                  <a:schemeClr val="tx1"/>
                </a:solidFill>
                <a:latin typeface="Comic Sans MS" charset="0"/>
                <a:ea typeface="ＭＳ Ｐゴシック" charset="-128"/>
              </a:defRPr>
            </a:lvl2pPr>
            <a:lvl3pPr marL="1143000" indent="-228600" defTabSz="762000">
              <a:defRPr sz="2000">
                <a:solidFill>
                  <a:schemeClr val="tx1"/>
                </a:solidFill>
                <a:latin typeface="Comic Sans MS" charset="0"/>
                <a:ea typeface="ＭＳ Ｐゴシック" charset="-128"/>
              </a:defRPr>
            </a:lvl3pPr>
            <a:lvl4pPr marL="1600200" indent="-228600" defTabSz="762000">
              <a:defRPr sz="2000">
                <a:solidFill>
                  <a:schemeClr val="tx1"/>
                </a:solidFill>
                <a:latin typeface="Comic Sans MS" charset="0"/>
                <a:ea typeface="ＭＳ Ｐゴシック" charset="-128"/>
              </a:defRPr>
            </a:lvl4pPr>
            <a:lvl5pPr marL="2057400" indent="-228600" defTabSz="762000">
              <a:defRPr sz="2000">
                <a:solidFill>
                  <a:schemeClr val="tx1"/>
                </a:solidFill>
                <a:latin typeface="Comic Sans MS" charset="0"/>
                <a:ea typeface="ＭＳ Ｐゴシック" charset="-128"/>
              </a:defRPr>
            </a:lvl5pPr>
            <a:lvl6pPr marL="2514600" indent="-228600" defTabSz="762000" eaLnBrk="0" fontAlgn="base" hangingPunct="0">
              <a:spcBef>
                <a:spcPct val="0"/>
              </a:spcBef>
              <a:spcAft>
                <a:spcPct val="0"/>
              </a:spcAft>
              <a:defRPr sz="2000">
                <a:solidFill>
                  <a:schemeClr val="tx1"/>
                </a:solidFill>
                <a:latin typeface="Comic Sans MS" charset="0"/>
                <a:ea typeface="ＭＳ Ｐゴシック" charset="-128"/>
              </a:defRPr>
            </a:lvl6pPr>
            <a:lvl7pPr marL="2971800" indent="-228600" defTabSz="762000" eaLnBrk="0" fontAlgn="base" hangingPunct="0">
              <a:spcBef>
                <a:spcPct val="0"/>
              </a:spcBef>
              <a:spcAft>
                <a:spcPct val="0"/>
              </a:spcAft>
              <a:defRPr sz="2000">
                <a:solidFill>
                  <a:schemeClr val="tx1"/>
                </a:solidFill>
                <a:latin typeface="Comic Sans MS" charset="0"/>
                <a:ea typeface="ＭＳ Ｐゴシック" charset="-128"/>
              </a:defRPr>
            </a:lvl7pPr>
            <a:lvl8pPr marL="3429000" indent="-228600" defTabSz="762000" eaLnBrk="0" fontAlgn="base" hangingPunct="0">
              <a:spcBef>
                <a:spcPct val="0"/>
              </a:spcBef>
              <a:spcAft>
                <a:spcPct val="0"/>
              </a:spcAft>
              <a:defRPr sz="2000">
                <a:solidFill>
                  <a:schemeClr val="tx1"/>
                </a:solidFill>
                <a:latin typeface="Comic Sans MS" charset="0"/>
                <a:ea typeface="ＭＳ Ｐゴシック" charset="-128"/>
              </a:defRPr>
            </a:lvl8pPr>
            <a:lvl9pPr marL="3886200" indent="-228600" defTabSz="762000" eaLnBrk="0" fontAlgn="base" hangingPunct="0">
              <a:spcBef>
                <a:spcPct val="0"/>
              </a:spcBef>
              <a:spcAft>
                <a:spcPct val="0"/>
              </a:spcAft>
              <a:defRPr sz="2000">
                <a:solidFill>
                  <a:schemeClr val="tx1"/>
                </a:solidFill>
                <a:latin typeface="Comic Sans MS" charset="0"/>
                <a:ea typeface="ＭＳ Ｐゴシック" charset="-128"/>
              </a:defRPr>
            </a:lvl9pPr>
          </a:lstStyle>
          <a:p>
            <a:pPr algn="r">
              <a:spcBef>
                <a:spcPct val="50000"/>
              </a:spcBef>
              <a:defRPr/>
            </a:pPr>
            <a:fld id="{B30D727B-AF9F-1344-87F2-06A074BC649A}" type="slidenum">
              <a:rPr lang="en-GB" altLang="en-US" sz="1400" smtClean="0">
                <a:solidFill>
                  <a:schemeClr val="accent2"/>
                </a:solidFill>
                <a:latin typeface="Times New Roman" charset="0"/>
              </a:rPr>
              <a:pPr algn="r">
                <a:spcBef>
                  <a:spcPct val="50000"/>
                </a:spcBef>
                <a:defRPr/>
              </a:pPr>
              <a:t>‹#›</a:t>
            </a:fld>
            <a:endParaRPr lang="en-GB" altLang="en-US" sz="1400" dirty="0">
              <a:solidFill>
                <a:schemeClr val="accent2"/>
              </a:solidFill>
              <a:latin typeface="Times New Roman" charset="0"/>
            </a:endParaRPr>
          </a:p>
          <a:p>
            <a:pPr algn="r">
              <a:spcBef>
                <a:spcPct val="50000"/>
              </a:spcBef>
              <a:defRPr/>
            </a:pPr>
            <a:endParaRPr lang="en-GB" altLang="en-US" sz="1000" dirty="0">
              <a:solidFill>
                <a:schemeClr val="accent2"/>
              </a:solidFill>
              <a:latin typeface="Times New Roman" charset="0"/>
            </a:endParaRPr>
          </a:p>
        </p:txBody>
      </p:sp>
    </p:spTree>
    <p:extLst>
      <p:ext uri="{BB962C8B-B14F-4D97-AF65-F5344CB8AC3E}">
        <p14:creationId xmlns:p14="http://schemas.microsoft.com/office/powerpoint/2010/main" val="3270353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baseline="0">
                <a:ea typeface="FangSong" panose="02010609060101010101" pitchFamily="49" charset="-122"/>
              </a:defRPr>
            </a:lvl1pPr>
            <a:lvl2pPr>
              <a:defRPr baseline="0">
                <a:ea typeface="FangSong" panose="02010609060101010101" pitchFamily="49" charset="-122"/>
              </a:defRPr>
            </a:lvl2pPr>
            <a:lvl3pPr>
              <a:defRPr baseline="0">
                <a:ea typeface="FangSong" panose="02010609060101010101" pitchFamily="49" charset="-122"/>
              </a:defRPr>
            </a:lvl3pPr>
            <a:lvl4pPr>
              <a:defRPr baseline="0">
                <a:ea typeface="FangSong" panose="02010609060101010101" pitchFamily="49" charset="-122"/>
              </a:defRPr>
            </a:lvl4pPr>
            <a:lvl5pPr>
              <a:defRPr baseline="0">
                <a:ea typeface="FangSong" panose="02010609060101010101" pitchFamily="49"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フッター プレースホルダー 1">
            <a:extLst>
              <a:ext uri="{FF2B5EF4-FFF2-40B4-BE49-F238E27FC236}">
                <a16:creationId xmlns:a16="http://schemas.microsoft.com/office/drawing/2014/main" id="{656708E0-780A-42EA-AEC7-D80580D6D4C5}"/>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502878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フッター プレースホルダー 1">
            <a:extLst>
              <a:ext uri="{FF2B5EF4-FFF2-40B4-BE49-F238E27FC236}">
                <a16:creationId xmlns:a16="http://schemas.microsoft.com/office/drawing/2014/main" id="{B6DEF749-4806-4EB1-9520-49569C4FCA8E}"/>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3499002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295400"/>
            <a:ext cx="5435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295400"/>
            <a:ext cx="5435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フッター プレースホルダー 1">
            <a:extLst>
              <a:ext uri="{FF2B5EF4-FFF2-40B4-BE49-F238E27FC236}">
                <a16:creationId xmlns:a16="http://schemas.microsoft.com/office/drawing/2014/main" id="{071E30C6-AED6-406C-B2B3-B9C14F1924BB}"/>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2388294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フッター プレースホルダー 1">
            <a:extLst>
              <a:ext uri="{FF2B5EF4-FFF2-40B4-BE49-F238E27FC236}">
                <a16:creationId xmlns:a16="http://schemas.microsoft.com/office/drawing/2014/main" id="{D6B50CE3-CD95-4A1F-9A83-500B9C5478C5}"/>
              </a:ext>
            </a:extLst>
          </p:cNvPr>
          <p:cNvSpPr>
            <a:spLocks noGrp="1"/>
          </p:cNvSpPr>
          <p:nvPr>
            <p:ph type="ftr" sz="quarter" idx="10"/>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2091609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フッター プレースホルダー 1">
            <a:extLst>
              <a:ext uri="{FF2B5EF4-FFF2-40B4-BE49-F238E27FC236}">
                <a16:creationId xmlns:a16="http://schemas.microsoft.com/office/drawing/2014/main" id="{802880ED-3A6D-4854-B3C1-12A8BF68C9F5}"/>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1941040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9B66A68-EB2C-448A-9C31-2285F6D4EF50}"/>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56837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9681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8311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0804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0" y="304800"/>
            <a:ext cx="27686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0" y="304800"/>
            <a:ext cx="81026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0605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44D7B4F-816E-594A-A348-113D4DEB7990}"/>
              </a:ext>
            </a:extLst>
          </p:cNvPr>
          <p:cNvSpPr>
            <a:spLocks noGrp="1" noChangeArrowheads="1"/>
          </p:cNvSpPr>
          <p:nvPr>
            <p:ph type="title"/>
          </p:nvPr>
        </p:nvSpPr>
        <p:spPr bwMode="auto">
          <a:xfrm>
            <a:off x="508000" y="304800"/>
            <a:ext cx="11074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en-US" altLang="en-US" dirty="0"/>
          </a:p>
        </p:txBody>
      </p:sp>
      <p:sp>
        <p:nvSpPr>
          <p:cNvPr id="1027" name="Rectangle 3">
            <a:extLst>
              <a:ext uri="{FF2B5EF4-FFF2-40B4-BE49-F238E27FC236}">
                <a16:creationId xmlns:a16="http://schemas.microsoft.com/office/drawing/2014/main" id="{5984F332-65D3-8E41-9D42-8A248FC50ADD}"/>
              </a:ext>
            </a:extLst>
          </p:cNvPr>
          <p:cNvSpPr>
            <a:spLocks noGrp="1" noChangeArrowheads="1"/>
          </p:cNvSpPr>
          <p:nvPr>
            <p:ph type="body" idx="1"/>
          </p:nvPr>
        </p:nvSpPr>
        <p:spPr bwMode="auto">
          <a:xfrm>
            <a:off x="508000" y="1295400"/>
            <a:ext cx="11074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1028" name="Line 7">
            <a:extLst>
              <a:ext uri="{FF2B5EF4-FFF2-40B4-BE49-F238E27FC236}">
                <a16:creationId xmlns:a16="http://schemas.microsoft.com/office/drawing/2014/main" id="{00A13E26-8A0C-4A42-ACC2-0EA997F81C7A}"/>
              </a:ext>
            </a:extLst>
          </p:cNvPr>
          <p:cNvSpPr>
            <a:spLocks noChangeShapeType="1"/>
          </p:cNvSpPr>
          <p:nvPr/>
        </p:nvSpPr>
        <p:spPr bwMode="auto">
          <a:xfrm>
            <a:off x="508000" y="990600"/>
            <a:ext cx="11108267" cy="0"/>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1032" name="Text Box 8">
            <a:extLst>
              <a:ext uri="{FF2B5EF4-FFF2-40B4-BE49-F238E27FC236}">
                <a16:creationId xmlns:a16="http://schemas.microsoft.com/office/drawing/2014/main" id="{7F320112-8054-5C45-9ABE-1300A4072AAD}"/>
              </a:ext>
            </a:extLst>
          </p:cNvPr>
          <p:cNvSpPr txBox="1">
            <a:spLocks noChangeArrowheads="1"/>
          </p:cNvSpPr>
          <p:nvPr/>
        </p:nvSpPr>
        <p:spPr bwMode="auto">
          <a:xfrm>
            <a:off x="10769600" y="6553199"/>
            <a:ext cx="1422400" cy="533400"/>
          </a:xfrm>
          <a:prstGeom prst="rect">
            <a:avLst/>
          </a:prstGeom>
          <a:noFill/>
          <a:ln>
            <a:noFill/>
          </a:ln>
          <a:effectLst/>
          <a:extLst>
            <a:ext uri="{909E8E84-426E-40dd-AFC4-6F175D3DCCD1}"/>
            <a:ext uri="{91240B29-F687-4f45-9708-019B960494DF}"/>
            <a:ext uri="{AF507438-7753-43e0-B8FC-AC1667EBCBE1}"/>
          </a:extLst>
        </p:spPr>
        <p:txBody>
          <a:bodyPr>
            <a:spAutoFit/>
          </a:bodyPr>
          <a:lstStyle>
            <a:lvl1pPr defTabSz="762000">
              <a:defRPr sz="2000">
                <a:solidFill>
                  <a:schemeClr val="tx1"/>
                </a:solidFill>
                <a:latin typeface="Comic Sans MS" charset="0"/>
                <a:ea typeface="ＭＳ Ｐゴシック" charset="-128"/>
              </a:defRPr>
            </a:lvl1pPr>
            <a:lvl2pPr marL="742950" indent="-285750" defTabSz="762000">
              <a:defRPr sz="2000">
                <a:solidFill>
                  <a:schemeClr val="tx1"/>
                </a:solidFill>
                <a:latin typeface="Comic Sans MS" charset="0"/>
                <a:ea typeface="ＭＳ Ｐゴシック" charset="-128"/>
              </a:defRPr>
            </a:lvl2pPr>
            <a:lvl3pPr marL="1143000" indent="-228600" defTabSz="762000">
              <a:defRPr sz="2000">
                <a:solidFill>
                  <a:schemeClr val="tx1"/>
                </a:solidFill>
                <a:latin typeface="Comic Sans MS" charset="0"/>
                <a:ea typeface="ＭＳ Ｐゴシック" charset="-128"/>
              </a:defRPr>
            </a:lvl3pPr>
            <a:lvl4pPr marL="1600200" indent="-228600" defTabSz="762000">
              <a:defRPr sz="2000">
                <a:solidFill>
                  <a:schemeClr val="tx1"/>
                </a:solidFill>
                <a:latin typeface="Comic Sans MS" charset="0"/>
                <a:ea typeface="ＭＳ Ｐゴシック" charset="-128"/>
              </a:defRPr>
            </a:lvl4pPr>
            <a:lvl5pPr marL="2057400" indent="-228600" defTabSz="762000">
              <a:defRPr sz="2000">
                <a:solidFill>
                  <a:schemeClr val="tx1"/>
                </a:solidFill>
                <a:latin typeface="Comic Sans MS" charset="0"/>
                <a:ea typeface="ＭＳ Ｐゴシック" charset="-128"/>
              </a:defRPr>
            </a:lvl5pPr>
            <a:lvl6pPr marL="2514600" indent="-228600" defTabSz="762000" eaLnBrk="0" fontAlgn="base" hangingPunct="0">
              <a:spcBef>
                <a:spcPct val="0"/>
              </a:spcBef>
              <a:spcAft>
                <a:spcPct val="0"/>
              </a:spcAft>
              <a:defRPr sz="2000">
                <a:solidFill>
                  <a:schemeClr val="tx1"/>
                </a:solidFill>
                <a:latin typeface="Comic Sans MS" charset="0"/>
                <a:ea typeface="ＭＳ Ｐゴシック" charset="-128"/>
              </a:defRPr>
            </a:lvl6pPr>
            <a:lvl7pPr marL="2971800" indent="-228600" defTabSz="762000" eaLnBrk="0" fontAlgn="base" hangingPunct="0">
              <a:spcBef>
                <a:spcPct val="0"/>
              </a:spcBef>
              <a:spcAft>
                <a:spcPct val="0"/>
              </a:spcAft>
              <a:defRPr sz="2000">
                <a:solidFill>
                  <a:schemeClr val="tx1"/>
                </a:solidFill>
                <a:latin typeface="Comic Sans MS" charset="0"/>
                <a:ea typeface="ＭＳ Ｐゴシック" charset="-128"/>
              </a:defRPr>
            </a:lvl7pPr>
            <a:lvl8pPr marL="3429000" indent="-228600" defTabSz="762000" eaLnBrk="0" fontAlgn="base" hangingPunct="0">
              <a:spcBef>
                <a:spcPct val="0"/>
              </a:spcBef>
              <a:spcAft>
                <a:spcPct val="0"/>
              </a:spcAft>
              <a:defRPr sz="2000">
                <a:solidFill>
                  <a:schemeClr val="tx1"/>
                </a:solidFill>
                <a:latin typeface="Comic Sans MS" charset="0"/>
                <a:ea typeface="ＭＳ Ｐゴシック" charset="-128"/>
              </a:defRPr>
            </a:lvl8pPr>
            <a:lvl9pPr marL="3886200" indent="-228600" defTabSz="762000" eaLnBrk="0" fontAlgn="base" hangingPunct="0">
              <a:spcBef>
                <a:spcPct val="0"/>
              </a:spcBef>
              <a:spcAft>
                <a:spcPct val="0"/>
              </a:spcAft>
              <a:defRPr sz="2000">
                <a:solidFill>
                  <a:schemeClr val="tx1"/>
                </a:solidFill>
                <a:latin typeface="Comic Sans MS" charset="0"/>
                <a:ea typeface="ＭＳ Ｐゴシック" charset="-128"/>
              </a:defRPr>
            </a:lvl9pPr>
          </a:lstStyle>
          <a:p>
            <a:pPr algn="r">
              <a:spcBef>
                <a:spcPct val="50000"/>
              </a:spcBef>
              <a:defRPr/>
            </a:pPr>
            <a:fld id="{B30D727B-AF9F-1344-87F2-06A074BC649A}" type="slidenum">
              <a:rPr lang="en-GB" altLang="en-US" sz="1400" smtClean="0">
                <a:solidFill>
                  <a:schemeClr val="accent2"/>
                </a:solidFill>
                <a:latin typeface="Times New Roman" charset="0"/>
              </a:rPr>
              <a:pPr algn="r">
                <a:spcBef>
                  <a:spcPct val="50000"/>
                </a:spcBef>
                <a:defRPr/>
              </a:pPr>
              <a:t>‹#›</a:t>
            </a:fld>
            <a:endParaRPr lang="en-GB" altLang="en-US" sz="1400" dirty="0">
              <a:solidFill>
                <a:schemeClr val="accent2"/>
              </a:solidFill>
              <a:latin typeface="Times New Roman" charset="0"/>
            </a:endParaRPr>
          </a:p>
          <a:p>
            <a:pPr algn="r">
              <a:spcBef>
                <a:spcPct val="50000"/>
              </a:spcBef>
              <a:defRPr/>
            </a:pPr>
            <a:endParaRPr lang="en-GB" altLang="en-US" sz="1000" dirty="0">
              <a:solidFill>
                <a:schemeClr val="accent2"/>
              </a:solidFill>
              <a:latin typeface="Times New Roman" charset="0"/>
            </a:endParaRPr>
          </a:p>
        </p:txBody>
      </p:sp>
      <p:sp>
        <p:nvSpPr>
          <p:cNvPr id="2" name="フッター プレースホルダー 1">
            <a:extLst>
              <a:ext uri="{FF2B5EF4-FFF2-40B4-BE49-F238E27FC236}">
                <a16:creationId xmlns:a16="http://schemas.microsoft.com/office/drawing/2014/main" id="{699C07AA-4BE4-49A0-B276-13F3D202B7BE}"/>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cSld>
  <p:clrMap bg1="lt1" tx1="dk1" bg2="lt2" tx2="dk2" accent1="accent1" accent2="accent2" accent3="accent3" accent4="accent4" accent5="accent5" accent6="accent6" hlink="hlink" folHlink="folHlink"/>
  <p:sldLayoutIdLst>
    <p:sldLayoutId id="2147483935"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l" rtl="0" eaLnBrk="0" fontAlgn="base" hangingPunct="0">
        <a:spcBef>
          <a:spcPct val="0"/>
        </a:spcBef>
        <a:spcAft>
          <a:spcPct val="0"/>
        </a:spcAft>
        <a:defRPr sz="2400">
          <a:solidFill>
            <a:schemeClr val="accent2"/>
          </a:solidFill>
          <a:latin typeface="+mj-lt"/>
          <a:ea typeface="+mj-ea"/>
          <a:cs typeface="ＭＳ Ｐゴシック" charset="0"/>
        </a:defRPr>
      </a:lvl1pPr>
      <a:lvl2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2pPr>
      <a:lvl3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3pPr>
      <a:lvl4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4pPr>
      <a:lvl5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5pPr>
      <a:lvl6pPr marL="457200" algn="l" rtl="0" eaLnBrk="0" fontAlgn="base" hangingPunct="0">
        <a:spcBef>
          <a:spcPct val="0"/>
        </a:spcBef>
        <a:spcAft>
          <a:spcPct val="0"/>
        </a:spcAft>
        <a:defRPr sz="2400">
          <a:solidFill>
            <a:schemeClr val="accent2"/>
          </a:solidFill>
          <a:latin typeface="Arial" charset="0"/>
          <a:ea typeface="ＭＳ Ｐゴシック" charset="0"/>
        </a:defRPr>
      </a:lvl6pPr>
      <a:lvl7pPr marL="914400" algn="l" rtl="0" eaLnBrk="0" fontAlgn="base" hangingPunct="0">
        <a:spcBef>
          <a:spcPct val="0"/>
        </a:spcBef>
        <a:spcAft>
          <a:spcPct val="0"/>
        </a:spcAft>
        <a:defRPr sz="2400">
          <a:solidFill>
            <a:schemeClr val="accent2"/>
          </a:solidFill>
          <a:latin typeface="Arial" charset="0"/>
          <a:ea typeface="ＭＳ Ｐゴシック" charset="0"/>
        </a:defRPr>
      </a:lvl7pPr>
      <a:lvl8pPr marL="1371600" algn="l" rtl="0" eaLnBrk="0" fontAlgn="base" hangingPunct="0">
        <a:spcBef>
          <a:spcPct val="0"/>
        </a:spcBef>
        <a:spcAft>
          <a:spcPct val="0"/>
        </a:spcAft>
        <a:defRPr sz="2400">
          <a:solidFill>
            <a:schemeClr val="accent2"/>
          </a:solidFill>
          <a:latin typeface="Arial" charset="0"/>
          <a:ea typeface="ＭＳ Ｐゴシック" charset="0"/>
        </a:defRPr>
      </a:lvl8pPr>
      <a:lvl9pPr marL="1828800" algn="l" rtl="0" eaLnBrk="0" fontAlgn="base" hangingPunct="0">
        <a:spcBef>
          <a:spcPct val="0"/>
        </a:spcBef>
        <a:spcAft>
          <a:spcPct val="0"/>
        </a:spcAft>
        <a:defRPr sz="2400">
          <a:solidFill>
            <a:schemeClr val="accent2"/>
          </a:solidFill>
          <a:latin typeface="Arial" charset="0"/>
          <a:ea typeface="ＭＳ Ｐゴシック" charset="0"/>
        </a:defRPr>
      </a:lvl9pPr>
    </p:titleStyle>
    <p:bodyStyle>
      <a:lvl1pPr marL="342900" indent="-342900" algn="l" rtl="0" eaLnBrk="0" fontAlgn="base" hangingPunct="0">
        <a:spcBef>
          <a:spcPct val="20000"/>
        </a:spcBef>
        <a:spcAft>
          <a:spcPct val="0"/>
        </a:spcAft>
        <a:buClr>
          <a:srgbClr val="CC0000"/>
        </a:buClr>
        <a:buFont typeface="Wingdings" pitchFamily="2" charset="2"/>
        <a:buChar char="u"/>
        <a:defRPr sz="20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lr>
          <a:schemeClr val="accent2"/>
        </a:buClr>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rgbClr val="FF3300"/>
        </a:buClr>
        <a:buFont typeface="Wingdings" pitchFamily="2" charset="2"/>
        <a:buChar char="u"/>
        <a:defRPr>
          <a:solidFill>
            <a:schemeClr val="tx1"/>
          </a:solidFill>
          <a:latin typeface="+mn-lt"/>
          <a:ea typeface="+mn-ea"/>
        </a:defRPr>
      </a:lvl3pPr>
      <a:lvl4pPr marL="1600200" indent="-228600" algn="l" rtl="0" eaLnBrk="0" fontAlgn="base" hangingPunct="0">
        <a:spcBef>
          <a:spcPct val="20000"/>
        </a:spcBef>
        <a:spcAft>
          <a:spcPct val="0"/>
        </a:spcAft>
        <a:buClr>
          <a:srgbClr val="FF3300"/>
        </a:buClr>
        <a:buFont typeface="Wingdings" pitchFamily="2" charset="2"/>
        <a:buChar char="u"/>
        <a:defRPr>
          <a:solidFill>
            <a:schemeClr val="tx1"/>
          </a:solidFill>
          <a:latin typeface="+mn-lt"/>
          <a:ea typeface="+mn-ea"/>
        </a:defRPr>
      </a:lvl4pPr>
      <a:lvl5pPr marL="2057400" indent="-228600" algn="l" rtl="0" eaLnBrk="0" fontAlgn="base" hangingPunct="0">
        <a:spcBef>
          <a:spcPct val="20000"/>
        </a:spcBef>
        <a:spcAft>
          <a:spcPct val="0"/>
        </a:spcAft>
        <a:buClr>
          <a:srgbClr val="FF3300"/>
        </a:buClr>
        <a:buFont typeface="Wingdings" pitchFamily="2" charset="2"/>
        <a:buChar char="u"/>
        <a:defRPr>
          <a:solidFill>
            <a:schemeClr val="tx1"/>
          </a:solidFill>
          <a:latin typeface="+mn-lt"/>
          <a:ea typeface="+mn-ea"/>
        </a:defRPr>
      </a:lvl5pPr>
      <a:lvl6pPr marL="25146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6pPr>
      <a:lvl7pPr marL="29718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7pPr>
      <a:lvl8pPr marL="34290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8pPr>
      <a:lvl9pPr marL="38862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arxiv.org/abs/1806.07366" TargetMode="External"/><Relationship Id="rId7" Type="http://schemas.openxmlformats.org/officeDocument/2006/relationships/hyperlink" Target="https://arxiv.org/abs/2006.08591"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epubs.siam.org/doi/10.1137/20M1358517" TargetMode="External"/><Relationship Id="rId5" Type="http://schemas.openxmlformats.org/officeDocument/2006/relationships/hyperlink" Target="https://proceedings.neurips.cc/paper/2019/hash/01386bd6d8e091c2ab4c7c7de644d37b-Abstract.html" TargetMode="External"/><Relationship Id="rId4" Type="http://schemas.openxmlformats.org/officeDocument/2006/relationships/hyperlink" Target="https://arxiv.org/abs/2005.08926"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C9D3ED6E-29C5-344B-AD25-059465987D18}"/>
              </a:ext>
            </a:extLst>
          </p:cNvPr>
          <p:cNvSpPr>
            <a:spLocks noGrp="1" noChangeArrowheads="1"/>
          </p:cNvSpPr>
          <p:nvPr>
            <p:ph type="subTitle" idx="1"/>
          </p:nvPr>
        </p:nvSpPr>
        <p:spPr>
          <a:xfrm>
            <a:off x="134754" y="2400701"/>
            <a:ext cx="11762071" cy="914400"/>
          </a:xfrm>
          <a:extLst>
            <a:ext uri="{909E8E84-426E-40dd-AFC4-6F175D3DCCD1}"/>
            <a:ext uri="{91240B29-F687-4f45-9708-019B960494DF}"/>
            <a:ext uri="{AF507438-7753-43e0-B8FC-AC1667EBCBE1}"/>
          </a:extLst>
        </p:spPr>
        <p:txBody>
          <a:bodyPr/>
          <a:lstStyle/>
          <a:p>
            <a:pPr>
              <a:defRPr/>
            </a:pPr>
            <a:r>
              <a:rPr lang="zh-CN" altLang="en-US" sz="4800" dirty="0"/>
              <a:t>第六讲  </a:t>
            </a:r>
            <a:r>
              <a:rPr lang="en-US" altLang="zh-CN" sz="4800" dirty="0"/>
              <a:t>Banach </a:t>
            </a:r>
            <a:r>
              <a:rPr lang="zh-CN" altLang="en-US" sz="4800" dirty="0"/>
              <a:t>不动点定理</a:t>
            </a:r>
          </a:p>
          <a:p>
            <a:pPr>
              <a:defRPr/>
            </a:pPr>
            <a:endParaRPr lang="en-US" altLang="zh-CN" sz="4800" b="0" dirty="0">
              <a:solidFill>
                <a:srgbClr val="00B050"/>
              </a:solidFill>
              <a:latin typeface="ＭＳ ゴシック" panose="020B0609070205080204" pitchFamily="49" charset="-128"/>
              <a:ea typeface="ＭＳ ゴシック" panose="020B0609070205080204" pitchFamily="49" charset="-128"/>
              <a:cs typeface="+mn-cs"/>
            </a:endParaRPr>
          </a:p>
        </p:txBody>
      </p:sp>
      <p:sp>
        <p:nvSpPr>
          <p:cNvPr id="3" name="テキスト ボックス 2">
            <a:extLst>
              <a:ext uri="{FF2B5EF4-FFF2-40B4-BE49-F238E27FC236}">
                <a16:creationId xmlns:a16="http://schemas.microsoft.com/office/drawing/2014/main" id="{04557E3E-7542-E03D-E83D-95659A1FF452}"/>
              </a:ext>
            </a:extLst>
          </p:cNvPr>
          <p:cNvSpPr txBox="1"/>
          <p:nvPr/>
        </p:nvSpPr>
        <p:spPr>
          <a:xfrm>
            <a:off x="2058126" y="3959721"/>
            <a:ext cx="8075748" cy="553998"/>
          </a:xfrm>
          <a:prstGeom prst="rect">
            <a:avLst/>
          </a:prstGeom>
          <a:noFill/>
        </p:spPr>
        <p:txBody>
          <a:bodyPr wrap="square">
            <a:spAutoFit/>
          </a:bodyPr>
          <a:lstStyle/>
          <a:p>
            <a:r>
              <a:rPr lang="zh-CN" altLang="en-US" sz="3000" dirty="0">
                <a:latin typeface="+mj-ea"/>
                <a:ea typeface="+mj-ea"/>
              </a:rPr>
              <a:t>面向应用的泛函分析：空间、算子与结构</a:t>
            </a:r>
            <a:r>
              <a:rPr lang="en-US" altLang="ja-JP" sz="3000" dirty="0">
                <a:latin typeface="+mj-ea"/>
                <a:ea typeface="+mj-ea"/>
              </a:rPr>
              <a:t>(</a:t>
            </a:r>
            <a:r>
              <a:rPr lang="en-US" altLang="zh-CN" sz="3000" dirty="0">
                <a:latin typeface="+mj-ea"/>
                <a:ea typeface="+mj-ea"/>
              </a:rPr>
              <a:t>6</a:t>
            </a:r>
            <a:r>
              <a:rPr lang="en-US" altLang="ja-JP" sz="3000" dirty="0">
                <a:latin typeface="+mj-ea"/>
                <a:ea typeface="+mj-ea"/>
              </a:rPr>
              <a:t>)</a:t>
            </a:r>
            <a:endParaRPr lang="ja-JP" altLang="en-US" sz="3000" dirty="0">
              <a:latin typeface="+mj-ea"/>
              <a:ea typeface="+mj-ea"/>
            </a:endParaRPr>
          </a:p>
        </p:txBody>
      </p:sp>
      <p:sp>
        <p:nvSpPr>
          <p:cNvPr id="2" name="テキスト ボックス 1">
            <a:extLst>
              <a:ext uri="{FF2B5EF4-FFF2-40B4-BE49-F238E27FC236}">
                <a16:creationId xmlns:a16="http://schemas.microsoft.com/office/drawing/2014/main" id="{D9873AE4-8092-C0CF-6CC8-939EF51604B4}"/>
              </a:ext>
            </a:extLst>
          </p:cNvPr>
          <p:cNvSpPr txBox="1"/>
          <p:nvPr/>
        </p:nvSpPr>
        <p:spPr>
          <a:xfrm>
            <a:off x="4439920" y="5158339"/>
            <a:ext cx="3312160" cy="553998"/>
          </a:xfrm>
          <a:prstGeom prst="rect">
            <a:avLst/>
          </a:prstGeom>
          <a:noFill/>
        </p:spPr>
        <p:txBody>
          <a:bodyPr wrap="square">
            <a:spAutoFit/>
          </a:bodyPr>
          <a:lstStyle/>
          <a:p>
            <a:r>
              <a:rPr lang="zh-CN" altLang="en-US" sz="3000" dirty="0">
                <a:latin typeface="+mj-ea"/>
                <a:ea typeface="+mj-ea"/>
              </a:rPr>
              <a:t>讲师：贾伊阳</a:t>
            </a:r>
            <a:endParaRPr lang="ja-JP" altLang="en-US" sz="3000" dirty="0">
              <a:latin typeface="+mj-ea"/>
              <a:ea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A742A-F3B0-B5FC-F001-90792E353899}"/>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BEE0C5DE-B7CA-CE05-FCF0-107E1E9E8AD6}"/>
              </a:ext>
            </a:extLst>
          </p:cNvPr>
          <p:cNvSpPr>
            <a:spLocks noGrp="1" noChangeArrowheads="1"/>
          </p:cNvSpPr>
          <p:nvPr>
            <p:ph type="title"/>
          </p:nvPr>
        </p:nvSpPr>
        <p:spPr/>
        <p:txBody>
          <a:bodyPr/>
          <a:lstStyle/>
          <a:p>
            <a:r>
              <a:rPr lang="en-US" altLang="zh-CN" b="1" dirty="0">
                <a:latin typeface="+mj-ea"/>
              </a:rPr>
              <a:t>Banach</a:t>
            </a:r>
            <a:r>
              <a:rPr lang="zh-CN" altLang="en-US" b="1" dirty="0">
                <a:latin typeface="+mj-ea"/>
              </a:rPr>
              <a:t>不动点定理</a:t>
            </a:r>
            <a:endParaRPr lang="ja-JP" altLang="en-US"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023FAC7C-7CD3-DCD3-16E6-99C6C08863E1}"/>
                  </a:ext>
                </a:extLst>
              </p:cNvPr>
              <p:cNvSpPr>
                <a:spLocks noGrp="1"/>
              </p:cNvSpPr>
              <p:nvPr>
                <p:ph idx="1"/>
              </p:nvPr>
            </p:nvSpPr>
            <p:spPr>
              <a:xfrm>
                <a:off x="148856" y="1112520"/>
                <a:ext cx="11941544" cy="5440680"/>
              </a:xfrm>
            </p:spPr>
            <p:txBody>
              <a:bodyPr/>
              <a:lstStyle/>
              <a:p>
                <a:pPr marL="0" indent="0">
                  <a:buNone/>
                </a:pPr>
                <a:r>
                  <a:rPr lang="zh-CN" altLang="en-US" dirty="0"/>
                  <a:t>设 </a:t>
                </a:r>
                <a14:m>
                  <m:oMath xmlns:m="http://schemas.openxmlformats.org/officeDocument/2006/math">
                    <m:d>
                      <m:dPr>
                        <m:sepChr m:val=","/>
                        <m:ctrlPr>
                          <a:rPr lang="zh-CN" altLang="en-US"/>
                        </m:ctrlPr>
                      </m:dPr>
                      <m:e>
                        <m:r>
                          <a:rPr lang="zh-CN" altLang="en-US" i="1"/>
                          <m:t>𝑋</m:t>
                        </m:r>
                      </m:e>
                      <m:e>
                        <m:r>
                          <a:rPr lang="zh-CN" altLang="en-US" i="1"/>
                          <m:t>𝑑</m:t>
                        </m:r>
                      </m:e>
                    </m:d>
                  </m:oMath>
                </a14:m>
                <a:r>
                  <a:rPr lang="zh-CN" altLang="en-US" dirty="0"/>
                  <a:t>是一个</a:t>
                </a:r>
                <a:r>
                  <a:rPr lang="zh-CN" altLang="en-US" b="1" dirty="0"/>
                  <a:t>完备度量空间</a:t>
                </a:r>
                <a:r>
                  <a:rPr lang="zh-CN" altLang="en-US" dirty="0"/>
                  <a:t>，也就是说，</a:t>
                </a:r>
                <a14:m>
                  <m:oMath xmlns:m="http://schemas.openxmlformats.org/officeDocument/2006/math">
                    <m:r>
                      <a:rPr lang="zh-CN" altLang="en-US" i="1"/>
                      <m:t>𝑋</m:t>
                    </m:r>
                  </m:oMath>
                </a14:m>
                <a:r>
                  <a:rPr lang="zh-CN" altLang="en-US" dirty="0"/>
                  <a:t> 中每一个 </a:t>
                </a:r>
                <a:r>
                  <a:rPr lang="en-US" altLang="zh-CN" dirty="0"/>
                  <a:t>Cauchy </a:t>
                </a:r>
                <a:r>
                  <a:rPr lang="zh-CN" altLang="en-US" dirty="0"/>
                  <a:t>列都收敛到 </a:t>
                </a:r>
                <a14:m>
                  <m:oMath xmlns:m="http://schemas.openxmlformats.org/officeDocument/2006/math">
                    <m:r>
                      <a:rPr lang="zh-CN" altLang="en-US" i="1"/>
                      <m:t>𝑋</m:t>
                    </m:r>
                  </m:oMath>
                </a14:m>
                <a:r>
                  <a:rPr lang="zh-CN" altLang="en-US" dirty="0"/>
                  <a:t>中的某个点。</a:t>
                </a:r>
              </a:p>
              <a:p>
                <a:pPr marL="0" indent="0">
                  <a:buNone/>
                </a:pPr>
                <a:r>
                  <a:rPr lang="zh-CN" altLang="en-US" dirty="0"/>
                  <a:t>设映射</a:t>
                </a:r>
                <a14:m>
                  <m:oMath xmlns:m="http://schemas.openxmlformats.org/officeDocument/2006/math">
                    <m:r>
                      <a:rPr lang="zh-CN" altLang="en-US" i="1"/>
                      <m:t>𝑇</m:t>
                    </m:r>
                    <m:r>
                      <a:rPr lang="en-US" altLang="zh-CN"/>
                      <m:t>:</m:t>
                    </m:r>
                    <m:r>
                      <a:rPr lang="zh-CN" altLang="en-US" i="1"/>
                      <m:t>𝑋</m:t>
                    </m:r>
                    <m:r>
                      <a:rPr lang="zh-CN" altLang="en-US"/>
                      <m:t>→</m:t>
                    </m:r>
                    <m:r>
                      <a:rPr lang="zh-CN" altLang="en-US" i="1"/>
                      <m:t>𝑋</m:t>
                    </m:r>
                  </m:oMath>
                </a14:m>
                <a:r>
                  <a:rPr lang="zh-CN" altLang="en-US" dirty="0"/>
                  <a:t>。如果满足存在常数 </a:t>
                </a:r>
                <a14:m>
                  <m:oMath xmlns:m="http://schemas.openxmlformats.org/officeDocument/2006/math">
                    <m:r>
                      <a:rPr lang="zh-CN" altLang="en-US" i="1"/>
                      <m:t>𝑞</m:t>
                    </m:r>
                    <m:r>
                      <a:rPr lang="zh-CN" altLang="en-US"/>
                      <m:t>∈</m:t>
                    </m:r>
                    <m:d>
                      <m:dPr>
                        <m:begChr m:val="["/>
                        <m:sepChr m:val=","/>
                        <m:ctrlPr>
                          <a:rPr lang="zh-CN" altLang="en-US" i="1"/>
                        </m:ctrlPr>
                      </m:dPr>
                      <m:e>
                        <m:r>
                          <a:rPr lang="en-US" altLang="zh-CN"/>
                          <m:t>0</m:t>
                        </m:r>
                      </m:e>
                      <m:e>
                        <m:r>
                          <a:rPr lang="en-US" altLang="zh-CN"/>
                          <m:t>1</m:t>
                        </m:r>
                      </m:e>
                    </m:d>
                  </m:oMath>
                </a14:m>
                <a:r>
                  <a:rPr lang="zh-CN" altLang="en-US" dirty="0"/>
                  <a:t>，使得对任意 </a:t>
                </a:r>
                <a14:m>
                  <m:oMath xmlns:m="http://schemas.openxmlformats.org/officeDocument/2006/math">
                    <m:r>
                      <a:rPr lang="zh-CN" altLang="en-US" i="1"/>
                      <m:t>𝑥</m:t>
                    </m:r>
                    <m:r>
                      <a:rPr lang="en-US" altLang="zh-CN"/>
                      <m:t>,</m:t>
                    </m:r>
                    <m:r>
                      <a:rPr lang="zh-CN" altLang="en-US" i="1"/>
                      <m:t>𝑦</m:t>
                    </m:r>
                    <m:r>
                      <a:rPr lang="zh-CN" altLang="en-US"/>
                      <m:t>∈</m:t>
                    </m:r>
                    <m:r>
                      <a:rPr lang="zh-CN" altLang="en-US" i="1"/>
                      <m:t>𝑋</m:t>
                    </m:r>
                  </m:oMath>
                </a14:m>
                <a:r>
                  <a:rPr lang="zh-CN" altLang="en-US" dirty="0"/>
                  <a:t>，都有</a:t>
                </a:r>
                <a:endParaRPr lang="en-US" altLang="zh-CN" dirty="0"/>
              </a:p>
              <a:p>
                <a:pPr marL="0" indent="0">
                  <a:buNone/>
                </a:pPr>
                <a:endParaRPr lang="zh-CN" altLang="en-US" dirty="0"/>
              </a:p>
              <a:p>
                <a:pPr marL="0" indent="0">
                  <a:buNone/>
                </a:pPr>
                <a14:m>
                  <m:oMathPara xmlns:m="http://schemas.openxmlformats.org/officeDocument/2006/math">
                    <m:oMathParaPr>
                      <m:jc m:val="centerGroup"/>
                    </m:oMathParaPr>
                    <m:oMath xmlns:m="http://schemas.openxmlformats.org/officeDocument/2006/math">
                      <m:r>
                        <a:rPr lang="zh-CN" altLang="en-US" i="1"/>
                        <m:t>𝑑</m:t>
                      </m:r>
                      <m:d>
                        <m:dPr>
                          <m:sepChr m:val=","/>
                          <m:ctrlPr>
                            <a:rPr lang="zh-CN" altLang="en-US" i="1"/>
                          </m:ctrlPr>
                        </m:dPr>
                        <m:e>
                          <m:r>
                            <a:rPr lang="zh-CN" altLang="en-US" i="1"/>
                            <m:t>𝑇</m:t>
                          </m:r>
                          <m:r>
                            <a:rPr lang="zh-CN" altLang="en-US" i="1">
                              <a:latin typeface="Cambria Math" panose="02040503050406030204" pitchFamily="18" charset="0"/>
                            </a:rPr>
                            <m:t>𝑥</m:t>
                          </m:r>
                        </m:e>
                        <m:e>
                          <m:r>
                            <a:rPr lang="zh-CN" altLang="en-US" i="1"/>
                            <m:t>𝑇𝑦</m:t>
                          </m:r>
                        </m:e>
                      </m:d>
                      <m:r>
                        <a:rPr lang="zh-CN" altLang="en-US"/>
                        <m:t>≤</m:t>
                      </m:r>
                      <m:r>
                        <a:rPr lang="zh-CN" altLang="en-US" i="1"/>
                        <m:t>𝑞</m:t>
                      </m:r>
                      <m:r>
                        <m:rPr>
                          <m:nor/>
                        </m:rPr>
                        <a:rPr lang="zh-CN" altLang="en-US" i="1"/>
                        <m:t> </m:t>
                      </m:r>
                      <m:r>
                        <a:rPr lang="zh-CN" altLang="en-US" i="1"/>
                        <m:t>𝑑</m:t>
                      </m:r>
                      <m:d>
                        <m:dPr>
                          <m:sepChr m:val=","/>
                          <m:ctrlPr>
                            <a:rPr lang="zh-CN" altLang="en-US" i="1"/>
                          </m:ctrlPr>
                        </m:dPr>
                        <m:e>
                          <m:r>
                            <a:rPr lang="zh-CN" altLang="en-US" i="1"/>
                            <m:t>𝑥</m:t>
                          </m:r>
                        </m:e>
                        <m:e>
                          <m:r>
                            <a:rPr lang="zh-CN" altLang="en-US" i="1"/>
                            <m:t>𝑦</m:t>
                          </m:r>
                        </m:e>
                      </m:d>
                      <m:r>
                        <a:rPr lang="en-US" altLang="zh-CN"/>
                        <m:t>.</m:t>
                      </m:r>
                    </m:oMath>
                  </m:oMathPara>
                </a14:m>
                <a:endParaRPr lang="zh-CN" altLang="en-US" b="0" dirty="0"/>
              </a:p>
              <a:p>
                <a:pPr marL="0" indent="0">
                  <a:buNone/>
                </a:pPr>
                <a:r>
                  <a:rPr lang="zh-CN" altLang="en-US" dirty="0"/>
                  <a:t>则称 </a:t>
                </a:r>
                <a14:m>
                  <m:oMath xmlns:m="http://schemas.openxmlformats.org/officeDocument/2006/math">
                    <m:r>
                      <a:rPr lang="zh-CN" altLang="en-US" i="1"/>
                      <m:t>𝑇</m:t>
                    </m:r>
                  </m:oMath>
                </a14:m>
                <a:r>
                  <a:rPr lang="zh-CN" altLang="en-US" dirty="0"/>
                  <a:t>是一个</a:t>
                </a:r>
                <a:r>
                  <a:rPr lang="zh-CN" altLang="en-US" b="1" dirty="0">
                    <a:solidFill>
                      <a:srgbClr val="C00000"/>
                    </a:solidFill>
                  </a:rPr>
                  <a:t>压缩映射</a:t>
                </a:r>
                <a:r>
                  <a:rPr lang="zh-CN" altLang="en-US" dirty="0"/>
                  <a:t>，也叫</a:t>
                </a:r>
                <a:r>
                  <a:rPr lang="zh-CN" altLang="en-US" b="1" dirty="0"/>
                  <a:t>收缩映射</a:t>
                </a:r>
                <a:r>
                  <a:rPr lang="zh-CN" altLang="en-US" dirty="0"/>
                  <a:t>。</a:t>
                </a:r>
                <a:endParaRPr lang="en-US" altLang="zh-CN" dirty="0"/>
              </a:p>
              <a:p>
                <a:pPr marL="0" indent="0">
                  <a:buNone/>
                </a:pPr>
                <a:endParaRPr lang="en-US" altLang="zh-CN" dirty="0"/>
              </a:p>
              <a:p>
                <a:pPr marL="0" indent="0">
                  <a:buNone/>
                </a:pPr>
                <a:r>
                  <a:rPr lang="en-US" altLang="ja-JP" b="1" dirty="0"/>
                  <a:t>Banach </a:t>
                </a:r>
                <a:r>
                  <a:rPr lang="ja-JP" altLang="en-US" b="1" dirty="0"/>
                  <a:t>不动点定理</a:t>
                </a:r>
                <a:endParaRPr lang="en-US" altLang="ja-JP" b="1" dirty="0"/>
              </a:p>
              <a:p>
                <a:pPr marL="0" indent="0">
                  <a:buNone/>
                </a:pPr>
                <a:endParaRPr lang="ja-JP" altLang="en-US" b="1" dirty="0"/>
              </a:p>
              <a:p>
                <a:pPr marL="0" indent="0">
                  <a:lnSpc>
                    <a:spcPct val="110000"/>
                  </a:lnSpc>
                  <a:buNone/>
                </a:pPr>
                <a:r>
                  <a:rPr lang="ja-JP" altLang="en-US" dirty="0"/>
                  <a:t>若 </a:t>
                </a:r>
                <a14:m>
                  <m:oMath xmlns:m="http://schemas.openxmlformats.org/officeDocument/2006/math">
                    <m:d>
                      <m:dPr>
                        <m:sepChr m:val=","/>
                        <m:ctrlPr>
                          <a:rPr lang="ar-AE" altLang="ja-JP"/>
                        </m:ctrlPr>
                      </m:dPr>
                      <m:e>
                        <m:r>
                          <a:rPr lang="ja-JP" altLang="ar-AE" i="1"/>
                          <m:t>𝑋</m:t>
                        </m:r>
                      </m:e>
                      <m:e>
                        <m:r>
                          <a:rPr lang="ja-JP" altLang="ar-AE" i="1"/>
                          <m:t>𝑑</m:t>
                        </m:r>
                      </m:e>
                    </m:d>
                  </m:oMath>
                </a14:m>
                <a:r>
                  <a:rPr lang="ja-JP" altLang="en-US" dirty="0"/>
                  <a:t>是完备度量空间，且 </a:t>
                </a:r>
                <a14:m>
                  <m:oMath xmlns:m="http://schemas.openxmlformats.org/officeDocument/2006/math">
                    <m:r>
                      <a:rPr lang="ja-JP" altLang="en-US" i="1"/>
                      <m:t>𝑇</m:t>
                    </m:r>
                    <m:r>
                      <a:rPr lang="en-US" altLang="ja-JP"/>
                      <m:t>:</m:t>
                    </m:r>
                    <m:r>
                      <a:rPr lang="ja-JP" altLang="en-US" i="1"/>
                      <m:t>𝑋</m:t>
                    </m:r>
                    <m:r>
                      <a:rPr lang="ja-JP" altLang="en-US"/>
                      <m:t>→</m:t>
                    </m:r>
                    <m:r>
                      <a:rPr lang="ja-JP" altLang="en-US" i="1"/>
                      <m:t>𝑋</m:t>
                    </m:r>
                  </m:oMath>
                </a14:m>
                <a:r>
                  <a:rPr lang="ja-JP" altLang="en-US" dirty="0"/>
                  <a:t>是压缩映射，则：</a:t>
                </a:r>
              </a:p>
              <a:p>
                <a:pPr>
                  <a:lnSpc>
                    <a:spcPct val="110000"/>
                  </a:lnSpc>
                </a:pPr>
                <a14:m>
                  <m:oMath xmlns:m="http://schemas.openxmlformats.org/officeDocument/2006/math">
                    <m:r>
                      <a:rPr lang="ja-JP" altLang="en-US" i="1"/>
                      <m:t>𝑇</m:t>
                    </m:r>
                  </m:oMath>
                </a14:m>
                <a:r>
                  <a:rPr lang="ja-JP" altLang="en-US" dirty="0"/>
                  <a:t>存在唯一的不动点 </a:t>
                </a:r>
                <a14:m>
                  <m:oMath xmlns:m="http://schemas.openxmlformats.org/officeDocument/2006/math">
                    <m:sSup>
                      <m:sSupPr>
                        <m:ctrlPr>
                          <a:rPr lang="ar-AE" altLang="ja-JP"/>
                        </m:ctrlPr>
                      </m:sSupPr>
                      <m:e>
                        <m:r>
                          <a:rPr lang="ja-JP" altLang="ar-AE" i="1"/>
                          <m:t>𝑥</m:t>
                        </m:r>
                      </m:e>
                      <m:sup>
                        <m:r>
                          <a:rPr lang="ar-AE" altLang="ja-JP"/>
                          <m:t>∗</m:t>
                        </m:r>
                      </m:sup>
                    </m:sSup>
                    <m:r>
                      <a:rPr lang="ar-AE" altLang="ja-JP"/>
                      <m:t>∈</m:t>
                    </m:r>
                    <m:r>
                      <a:rPr lang="ja-JP" altLang="ar-AE" i="1"/>
                      <m:t>𝑋</m:t>
                    </m:r>
                  </m:oMath>
                </a14:m>
                <a:r>
                  <a:rPr lang="ja-JP" altLang="ar-AE" dirty="0"/>
                  <a:t>，</a:t>
                </a:r>
                <a:r>
                  <a:rPr lang="ja-JP" altLang="en-US" dirty="0"/>
                  <a:t>即 </a:t>
                </a:r>
                <a14:m>
                  <m:oMath xmlns:m="http://schemas.openxmlformats.org/officeDocument/2006/math">
                    <m:r>
                      <a:rPr lang="ja-JP" altLang="en-US" i="1"/>
                      <m:t>𝑇</m:t>
                    </m:r>
                    <m:d>
                      <m:dPr>
                        <m:ctrlPr>
                          <a:rPr lang="ar-AE" altLang="ja-JP" i="1"/>
                        </m:ctrlPr>
                      </m:dPr>
                      <m:e>
                        <m:sSup>
                          <m:sSupPr>
                            <m:ctrlPr>
                              <a:rPr lang="ar-AE" altLang="ja-JP" i="1"/>
                            </m:ctrlPr>
                          </m:sSupPr>
                          <m:e>
                            <m:r>
                              <a:rPr lang="ja-JP" altLang="ar-AE" i="1"/>
                              <m:t>𝑥</m:t>
                            </m:r>
                          </m:e>
                          <m:sup>
                            <m:r>
                              <a:rPr lang="ar-AE" altLang="ja-JP"/>
                              <m:t>∗</m:t>
                            </m:r>
                          </m:sup>
                        </m:sSup>
                      </m:e>
                    </m:d>
                    <m:r>
                      <a:rPr lang="ar-AE" altLang="ja-JP"/>
                      <m:t>=</m:t>
                    </m:r>
                    <m:sSup>
                      <m:sSupPr>
                        <m:ctrlPr>
                          <a:rPr lang="ar-AE" altLang="ja-JP" i="1"/>
                        </m:ctrlPr>
                      </m:sSupPr>
                      <m:e>
                        <m:r>
                          <a:rPr lang="ja-JP" altLang="ar-AE" i="1"/>
                          <m:t>𝑥</m:t>
                        </m:r>
                      </m:e>
                      <m:sup>
                        <m:r>
                          <a:rPr lang="ar-AE" altLang="ja-JP"/>
                          <m:t>∗</m:t>
                        </m:r>
                      </m:sup>
                    </m:sSup>
                    <m:r>
                      <a:rPr lang="ar-AE" altLang="ja-JP"/>
                      <m:t>.</m:t>
                    </m:r>
                  </m:oMath>
                </a14:m>
                <a:endParaRPr lang="ar-AE" altLang="ja-JP" dirty="0"/>
              </a:p>
              <a:p>
                <a:pPr>
                  <a:lnSpc>
                    <a:spcPct val="110000"/>
                  </a:lnSpc>
                </a:pPr>
                <a:r>
                  <a:rPr lang="ja-JP" altLang="en-US" dirty="0"/>
                  <a:t>对任意初始点 </a:t>
                </a:r>
                <a14:m>
                  <m:oMath xmlns:m="http://schemas.openxmlformats.org/officeDocument/2006/math">
                    <m:sSub>
                      <m:sSubPr>
                        <m:ctrlPr>
                          <a:rPr lang="ar-AE" altLang="ja-JP"/>
                        </m:ctrlPr>
                      </m:sSubPr>
                      <m:e>
                        <m:r>
                          <a:rPr lang="ja-JP" altLang="ar-AE" i="1"/>
                          <m:t>𝑥</m:t>
                        </m:r>
                      </m:e>
                      <m:sub>
                        <m:r>
                          <a:rPr lang="ar-AE" altLang="ja-JP"/>
                          <m:t>0</m:t>
                        </m:r>
                      </m:sub>
                    </m:sSub>
                    <m:r>
                      <a:rPr lang="ar-AE" altLang="ja-JP"/>
                      <m:t>∈</m:t>
                    </m:r>
                    <m:r>
                      <a:rPr lang="ja-JP" altLang="ar-AE" i="1"/>
                      <m:t>𝑋</m:t>
                    </m:r>
                  </m:oMath>
                </a14:m>
                <a:r>
                  <a:rPr lang="ja-JP" altLang="ar-AE" dirty="0"/>
                  <a:t>，</a:t>
                </a:r>
                <a:r>
                  <a:rPr lang="ja-JP" altLang="en-US" dirty="0"/>
                  <a:t>定义迭代序列 </a:t>
                </a:r>
                <a14:m>
                  <m:oMath xmlns:m="http://schemas.openxmlformats.org/officeDocument/2006/math">
                    <m:sSub>
                      <m:sSubPr>
                        <m:ctrlPr>
                          <a:rPr lang="ar-AE" altLang="ja-JP"/>
                        </m:ctrlPr>
                      </m:sSubPr>
                      <m:e>
                        <m:r>
                          <a:rPr lang="ja-JP" altLang="ar-AE" i="1"/>
                          <m:t>𝑥</m:t>
                        </m:r>
                      </m:e>
                      <m:sub>
                        <m:r>
                          <a:rPr lang="ja-JP" altLang="ar-AE" i="1"/>
                          <m:t>𝑛</m:t>
                        </m:r>
                        <m:r>
                          <a:rPr lang="ar-AE" altLang="ja-JP"/>
                          <m:t>+</m:t>
                        </m:r>
                        <m:r>
                          <a:rPr lang="ar-AE" altLang="ja-JP"/>
                          <m:t>1</m:t>
                        </m:r>
                      </m:sub>
                    </m:sSub>
                    <m:r>
                      <a:rPr lang="ar-AE" altLang="ja-JP"/>
                      <m:t>=</m:t>
                    </m:r>
                    <m:r>
                      <a:rPr lang="ja-JP" altLang="ar-AE" i="1"/>
                      <m:t>𝑇</m:t>
                    </m:r>
                    <m:d>
                      <m:dPr>
                        <m:ctrlPr>
                          <a:rPr lang="ar-AE" altLang="ja-JP" i="1"/>
                        </m:ctrlPr>
                      </m:dPr>
                      <m:e>
                        <m:sSub>
                          <m:sSubPr>
                            <m:ctrlPr>
                              <a:rPr lang="ar-AE" altLang="ja-JP" i="1"/>
                            </m:ctrlPr>
                          </m:sSubPr>
                          <m:e>
                            <m:r>
                              <a:rPr lang="ja-JP" altLang="ar-AE" i="1"/>
                              <m:t>𝑥</m:t>
                            </m:r>
                          </m:e>
                          <m:sub>
                            <m:r>
                              <a:rPr lang="ja-JP" altLang="ar-AE" i="1"/>
                              <m:t>𝑛</m:t>
                            </m:r>
                          </m:sub>
                        </m:sSub>
                      </m:e>
                    </m:d>
                    <m:r>
                      <a:rPr lang="ar-AE" altLang="ja-JP"/>
                      <m:t>, </m:t>
                    </m:r>
                    <m:r>
                      <a:rPr lang="en-US" altLang="ja-JP" b="0" i="0" smtClean="0">
                        <a:latin typeface="Cambria Math" panose="02040503050406030204" pitchFamily="18" charset="0"/>
                      </a:rPr>
                      <m:t> </m:t>
                    </m:r>
                    <m:r>
                      <a:rPr lang="ja-JP" altLang="ar-AE" i="1"/>
                      <m:t>𝑛</m:t>
                    </m:r>
                    <m:r>
                      <a:rPr lang="ar-AE" altLang="ja-JP"/>
                      <m:t>=</m:t>
                    </m:r>
                    <m:r>
                      <a:rPr lang="ar-AE" altLang="ja-JP"/>
                      <m:t>0</m:t>
                    </m:r>
                    <m:r>
                      <a:rPr lang="ar-AE" altLang="ja-JP"/>
                      <m:t>,</m:t>
                    </m:r>
                    <m:r>
                      <a:rPr lang="ar-AE" altLang="ja-JP"/>
                      <m:t>1</m:t>
                    </m:r>
                    <m:r>
                      <a:rPr lang="ar-AE" altLang="ja-JP"/>
                      <m:t>,</m:t>
                    </m:r>
                    <m:r>
                      <a:rPr lang="ar-AE" altLang="ja-JP"/>
                      <m:t>2</m:t>
                    </m:r>
                    <m:r>
                      <a:rPr lang="ar-AE" altLang="ja-JP"/>
                      <m:t>,…</m:t>
                    </m:r>
                  </m:oMath>
                </a14:m>
                <a:r>
                  <a:rPr lang="zh-CN" altLang="en-US" dirty="0"/>
                  <a:t>，</a:t>
                </a:r>
                <a:endParaRPr lang="en-US" altLang="zh-CN" dirty="0"/>
              </a:p>
              <a:p>
                <a:pPr marL="400050" lvl="1" indent="0">
                  <a:lnSpc>
                    <a:spcPct val="110000"/>
                  </a:lnSpc>
                  <a:buNone/>
                </a:pPr>
                <a:r>
                  <a:rPr lang="ja-JP" altLang="en-US" dirty="0"/>
                  <a:t>则序列 </a:t>
                </a:r>
                <a14:m>
                  <m:oMath xmlns:m="http://schemas.openxmlformats.org/officeDocument/2006/math">
                    <m:d>
                      <m:dPr>
                        <m:begChr m:val="{"/>
                        <m:endChr m:val="}"/>
                        <m:ctrlPr>
                          <a:rPr lang="ar-AE" altLang="ja-JP"/>
                        </m:ctrlPr>
                      </m:dPr>
                      <m:e>
                        <m:sSub>
                          <m:sSubPr>
                            <m:ctrlPr>
                              <a:rPr lang="ar-AE" altLang="ja-JP" i="1"/>
                            </m:ctrlPr>
                          </m:sSubPr>
                          <m:e>
                            <m:r>
                              <a:rPr lang="ja-JP" altLang="ar-AE" i="1"/>
                              <m:t>𝑥</m:t>
                            </m:r>
                          </m:e>
                          <m:sub>
                            <m:r>
                              <a:rPr lang="ja-JP" altLang="ar-AE" i="1"/>
                              <m:t>𝑛</m:t>
                            </m:r>
                          </m:sub>
                        </m:sSub>
                      </m:e>
                    </m:d>
                  </m:oMath>
                </a14:m>
                <a:r>
                  <a:rPr lang="ja-JP" altLang="en-US" dirty="0"/>
                  <a:t>收敛到唯一不动点 </a:t>
                </a:r>
                <a14:m>
                  <m:oMath xmlns:m="http://schemas.openxmlformats.org/officeDocument/2006/math">
                    <m:sSup>
                      <m:sSupPr>
                        <m:ctrlPr>
                          <a:rPr lang="ar-AE" altLang="ja-JP"/>
                        </m:ctrlPr>
                      </m:sSupPr>
                      <m:e>
                        <m:r>
                          <a:rPr lang="ja-JP" altLang="ar-AE" i="1"/>
                          <m:t>𝑥</m:t>
                        </m:r>
                      </m:e>
                      <m:sup>
                        <m:r>
                          <a:rPr lang="ar-AE" altLang="ja-JP"/>
                          <m:t>∗</m:t>
                        </m:r>
                      </m:sup>
                    </m:sSup>
                  </m:oMath>
                </a14:m>
                <a:r>
                  <a:rPr lang="ja-JP" altLang="ar-AE" dirty="0"/>
                  <a:t>，</a:t>
                </a:r>
                <a:r>
                  <a:rPr lang="ja-JP" altLang="en-US" dirty="0"/>
                  <a:t>即 </a:t>
                </a:r>
                <a14:m>
                  <m:oMath xmlns:m="http://schemas.openxmlformats.org/officeDocument/2006/math">
                    <m:func>
                      <m:funcPr>
                        <m:ctrlPr>
                          <a:rPr lang="en-US" altLang="ja-JP" i="1" smtClean="0">
                            <a:latin typeface="Cambria Math" panose="02040503050406030204" pitchFamily="18" charset="0"/>
                          </a:rPr>
                        </m:ctrlPr>
                      </m:funcPr>
                      <m:fName>
                        <m:limLow>
                          <m:limLowPr>
                            <m:ctrlPr>
                              <a:rPr lang="en-US" altLang="ja-JP" i="1" smtClean="0">
                                <a:latin typeface="Cambria Math" panose="02040503050406030204" pitchFamily="18" charset="0"/>
                              </a:rPr>
                            </m:ctrlPr>
                          </m:limLowPr>
                          <m:e>
                            <m:r>
                              <m:rPr>
                                <m:sty m:val="p"/>
                              </m:rPr>
                              <a:rPr lang="en-US" altLang="ja-JP" i="0" smtClean="0">
                                <a:latin typeface="Cambria Math" panose="02040503050406030204" pitchFamily="18" charset="0"/>
                              </a:rPr>
                              <m:t>lim</m:t>
                            </m:r>
                          </m:e>
                          <m:lim>
                            <m:r>
                              <a:rPr lang="en-US" altLang="ja-JP" b="0" i="1" smtClean="0">
                                <a:latin typeface="Cambria Math" panose="02040503050406030204" pitchFamily="18" charset="0"/>
                              </a:rPr>
                              <m:t>𝑛</m:t>
                            </m:r>
                            <m:r>
                              <a:rPr lang="ja-JP" altLang="en-US" i="1">
                                <a:latin typeface="Cambria Math" panose="02040503050406030204" pitchFamily="18" charset="0"/>
                              </a:rPr>
                              <m:t>→</m:t>
                            </m:r>
                            <m:r>
                              <a:rPr lang="zh-CN" altLang="en-US" i="1" smtClean="0">
                                <a:latin typeface="Cambria Math" panose="02040503050406030204" pitchFamily="18" charset="0"/>
                              </a:rPr>
                              <m:t>∞</m:t>
                            </m:r>
                          </m:lim>
                        </m:limLow>
                      </m:fName>
                      <m:e>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𝑛</m:t>
                            </m:r>
                          </m:sub>
                        </m:sSub>
                      </m:e>
                    </m:func>
                    <m:r>
                      <a:rPr lang="ar-AE" altLang="ja-JP"/>
                      <m:t>=</m:t>
                    </m:r>
                    <m:sSup>
                      <m:sSupPr>
                        <m:ctrlPr>
                          <a:rPr lang="ar-AE" altLang="ja-JP" i="1"/>
                        </m:ctrlPr>
                      </m:sSupPr>
                      <m:e>
                        <m:r>
                          <a:rPr lang="ja-JP" altLang="ar-AE" i="1"/>
                          <m:t>𝑥</m:t>
                        </m:r>
                      </m:e>
                      <m:sup>
                        <m:r>
                          <a:rPr lang="ar-AE" altLang="ja-JP"/>
                          <m:t>∗</m:t>
                        </m:r>
                      </m:sup>
                    </m:sSup>
                    <m:r>
                      <a:rPr lang="ar-AE" altLang="ja-JP"/>
                      <m:t>.</m:t>
                    </m:r>
                  </m:oMath>
                </a14:m>
                <a:endParaRPr lang="en-US" altLang="ja-JP" dirty="0"/>
              </a:p>
              <a:p>
                <a:pPr marL="0" indent="0">
                  <a:buNone/>
                </a:pPr>
                <a:endParaRPr lang="en-US" altLang="ja-JP" dirty="0"/>
              </a:p>
              <a:p>
                <a:pPr marL="0" indent="0">
                  <a:buNone/>
                </a:pPr>
                <a:r>
                  <a:rPr lang="zh-CN" altLang="en-US" dirty="0"/>
                  <a:t>概括：</a:t>
                </a:r>
                <a:r>
                  <a:rPr lang="zh-CN" altLang="en-US" dirty="0">
                    <a:solidFill>
                      <a:srgbClr val="C00000"/>
                    </a:solidFill>
                  </a:rPr>
                  <a:t>在完备度量空间中，压缩映射一定存在唯一不动点</a:t>
                </a:r>
                <a:r>
                  <a:rPr lang="zh-CN" altLang="en-US" dirty="0"/>
                  <a:t>，并且反复迭代该映射一定收敛到这个不动点。</a:t>
                </a:r>
                <a:endParaRPr lang="ar-AE" altLang="ja-JP" dirty="0"/>
              </a:p>
              <a:p>
                <a:pPr marL="0" indent="0">
                  <a:buNone/>
                </a:pPr>
                <a:endParaRPr lang="zh-CN" altLang="en-US" dirty="0"/>
              </a:p>
            </p:txBody>
          </p:sp>
        </mc:Choice>
        <mc:Fallback>
          <p:sp>
            <p:nvSpPr>
              <p:cNvPr id="12" name="コンテンツ プレースホルダー 2">
                <a:extLst>
                  <a:ext uri="{FF2B5EF4-FFF2-40B4-BE49-F238E27FC236}">
                    <a16:creationId xmlns:a16="http://schemas.microsoft.com/office/drawing/2014/main" id="{023FAC7C-7CD3-DCD3-16E6-99C6C08863E1}"/>
                  </a:ext>
                </a:extLst>
              </p:cNvPr>
              <p:cNvSpPr>
                <a:spLocks noGrp="1" noRot="1" noChangeAspect="1" noMove="1" noResize="1" noEditPoints="1" noAdjustHandles="1" noChangeArrowheads="1" noChangeShapeType="1" noTextEdit="1"/>
              </p:cNvSpPr>
              <p:nvPr>
                <p:ph idx="1"/>
              </p:nvPr>
            </p:nvSpPr>
            <p:spPr>
              <a:xfrm>
                <a:off x="148856" y="1112520"/>
                <a:ext cx="11941544" cy="5440680"/>
              </a:xfrm>
              <a:blipFill>
                <a:blip r:embed="rId3"/>
                <a:stretch>
                  <a:fillRect l="-510" t="-1009" r="-61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20483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C18812-E6F5-BD75-9287-DE197EAE0FA9}"/>
              </a:ext>
            </a:extLst>
          </p:cNvPr>
          <p:cNvSpPr>
            <a:spLocks noGrp="1"/>
          </p:cNvSpPr>
          <p:nvPr>
            <p:ph type="title"/>
          </p:nvPr>
        </p:nvSpPr>
        <p:spPr/>
        <p:txBody>
          <a:bodyPr/>
          <a:lstStyle/>
          <a:p>
            <a:r>
              <a:rPr lang="zh-CN" altLang="en-US" dirty="0"/>
              <a:t>场景驱动：常微分方程存在唯一性</a:t>
            </a:r>
            <a:endParaRPr kumimoji="1" lang="ja-JP" altLang="en-US" dirty="0"/>
          </a:p>
        </p:txBody>
      </p:sp>
      <p:sp>
        <p:nvSpPr>
          <p:cNvPr id="3" name="テキスト プレースホルダー 2">
            <a:extLst>
              <a:ext uri="{FF2B5EF4-FFF2-40B4-BE49-F238E27FC236}">
                <a16:creationId xmlns:a16="http://schemas.microsoft.com/office/drawing/2014/main" id="{841376A4-EFA7-7F39-8C97-B1DB3E2F4F75}"/>
              </a:ext>
            </a:extLst>
          </p:cNvPr>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282265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BEC7-C057-4FCD-2BDB-5E49B608AE1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6F0042A-0740-B8C1-A3C2-9C243A3998B5}"/>
              </a:ext>
            </a:extLst>
          </p:cNvPr>
          <p:cNvSpPr>
            <a:spLocks noGrp="1" noChangeArrowheads="1"/>
          </p:cNvSpPr>
          <p:nvPr>
            <p:ph type="title"/>
          </p:nvPr>
        </p:nvSpPr>
        <p:spPr/>
        <p:txBody>
          <a:bodyPr/>
          <a:lstStyle/>
          <a:p>
            <a:r>
              <a:rPr lang="zh-CN" altLang="en-US" b="1" dirty="0"/>
              <a:t>为什么要讨论“存在唯一性”</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FA19CA84-9AF3-E459-51ED-9079DACD91A8}"/>
                  </a:ext>
                </a:extLst>
              </p:cNvPr>
              <p:cNvSpPr>
                <a:spLocks noGrp="1"/>
              </p:cNvSpPr>
              <p:nvPr>
                <p:ph idx="1"/>
              </p:nvPr>
            </p:nvSpPr>
            <p:spPr>
              <a:xfrm>
                <a:off x="508000" y="1112520"/>
                <a:ext cx="11582400" cy="5440680"/>
              </a:xfrm>
            </p:spPr>
            <p:txBody>
              <a:bodyPr/>
              <a:lstStyle/>
              <a:p>
                <a:pPr marL="0" indent="0">
                  <a:lnSpc>
                    <a:spcPct val="120000"/>
                  </a:lnSpc>
                  <a:buNone/>
                </a:pPr>
                <a:r>
                  <a:rPr lang="zh-CN" altLang="en-US" dirty="0"/>
                  <a:t>例：假设我们想预测一个</a:t>
                </a:r>
                <a:r>
                  <a:rPr lang="zh-CN" altLang="en-US" dirty="0">
                    <a:solidFill>
                      <a:srgbClr val="C00000"/>
                    </a:solidFill>
                  </a:rPr>
                  <a:t>系统随时间变化的状态</a:t>
                </a:r>
                <a:r>
                  <a:rPr lang="zh-CN" altLang="en-US" dirty="0"/>
                  <a:t>，比如温度、人口、疾病传播、机器人位置、传感器信号。系统当前状态是 </a:t>
                </a:r>
                <a14:m>
                  <m:oMath xmlns:m="http://schemas.openxmlformats.org/officeDocument/2006/math">
                    <m:r>
                      <a:rPr lang="zh-CN" altLang="en-US" i="1"/>
                      <m:t>𝑥</m:t>
                    </m:r>
                    <m:d>
                      <m:dPr>
                        <m:ctrlPr>
                          <a:rPr lang="zh-CN" altLang="en-US" i="1"/>
                        </m:ctrlPr>
                      </m:dPr>
                      <m:e>
                        <m:r>
                          <a:rPr lang="zh-CN" altLang="en-US" i="1"/>
                          <m:t>𝑡</m:t>
                        </m:r>
                      </m:e>
                    </m:d>
                  </m:oMath>
                </a14:m>
                <a:r>
                  <a:rPr lang="zh-CN" altLang="en-US" dirty="0"/>
                  <a:t>，变化规律由一个函数 </a:t>
                </a:r>
                <a14:m>
                  <m:oMath xmlns:m="http://schemas.openxmlformats.org/officeDocument/2006/math">
                    <m:r>
                      <a:rPr lang="zh-CN" altLang="en-US" i="1"/>
                      <m:t>𝑓</m:t>
                    </m:r>
                  </m:oMath>
                </a14:m>
                <a:r>
                  <a:rPr lang="zh-CN" altLang="en-US" dirty="0"/>
                  <a:t>给出：</a:t>
                </a:r>
              </a:p>
              <a:p>
                <a:pPr marL="0" indent="0">
                  <a:lnSpc>
                    <a:spcPct val="120000"/>
                  </a:lnSpc>
                  <a:buNone/>
                </a:pPr>
                <a14:m>
                  <m:oMathPara xmlns:m="http://schemas.openxmlformats.org/officeDocument/2006/math">
                    <m:oMathParaPr>
                      <m:jc m:val="centerGroup"/>
                    </m:oMathParaPr>
                    <m:oMath xmlns:m="http://schemas.openxmlformats.org/officeDocument/2006/math">
                      <m:f>
                        <m:fPr>
                          <m:ctrlPr>
                            <a:rPr lang="zh-CN" altLang="en-US"/>
                          </m:ctrlPr>
                        </m:fPr>
                        <m:num>
                          <m:r>
                            <a:rPr lang="zh-CN" altLang="en-US" i="1"/>
                            <m:t>𝑑𝑥</m:t>
                          </m:r>
                          <m:d>
                            <m:dPr>
                              <m:ctrlPr>
                                <a:rPr lang="zh-CN" altLang="en-US" i="1"/>
                              </m:ctrlPr>
                            </m:dPr>
                            <m:e>
                              <m:r>
                                <a:rPr lang="zh-CN" altLang="en-US" i="1"/>
                                <m:t>𝑡</m:t>
                              </m:r>
                            </m:e>
                          </m:d>
                        </m:num>
                        <m:den>
                          <m:r>
                            <a:rPr lang="zh-CN" altLang="en-US" i="1"/>
                            <m:t>𝑑𝑡</m:t>
                          </m:r>
                        </m:den>
                      </m:f>
                      <m:r>
                        <a:rPr lang="en-US" altLang="zh-CN"/>
                        <m:t>=</m:t>
                      </m:r>
                      <m:r>
                        <a:rPr lang="zh-CN" altLang="en-US" i="1"/>
                        <m:t>𝑓</m:t>
                      </m:r>
                      <m:d>
                        <m:dPr>
                          <m:sepChr m:val=","/>
                          <m:ctrlPr>
                            <a:rPr lang="zh-CN" altLang="en-US" i="1"/>
                          </m:ctrlPr>
                        </m:dPr>
                        <m:e>
                          <m:r>
                            <a:rPr lang="zh-CN" altLang="en-US" i="1"/>
                            <m:t>𝑡</m:t>
                          </m:r>
                        </m:e>
                        <m:e>
                          <m:r>
                            <a:rPr lang="zh-CN" altLang="en-US" i="1"/>
                            <m:t>𝑥</m:t>
                          </m:r>
                          <m:d>
                            <m:dPr>
                              <m:ctrlPr>
                                <a:rPr lang="zh-CN" altLang="en-US" i="1"/>
                              </m:ctrlPr>
                            </m:dPr>
                            <m:e>
                              <m:r>
                                <a:rPr lang="zh-CN" altLang="en-US" i="1"/>
                                <m:t>𝑡</m:t>
                              </m:r>
                            </m:e>
                          </m:d>
                        </m:e>
                      </m:d>
                      <m:r>
                        <a:rPr lang="en-US" altLang="zh-CN"/>
                        <m:t>, </m:t>
                      </m:r>
                      <m:r>
                        <a:rPr lang="en-US" altLang="zh-CN" b="0" i="1" smtClean="0">
                          <a:latin typeface="Cambria Math" panose="02040503050406030204" pitchFamily="18" charset="0"/>
                        </a:rPr>
                        <m:t>  </m:t>
                      </m:r>
                      <m:r>
                        <a:rPr lang="zh-CN" altLang="en-US" i="1"/>
                        <m:t>𝑥</m:t>
                      </m:r>
                      <m:d>
                        <m:dPr>
                          <m:ctrlPr>
                            <a:rPr lang="zh-CN" altLang="en-US" i="1"/>
                          </m:ctrlPr>
                        </m:dPr>
                        <m:e>
                          <m:sSub>
                            <m:sSubPr>
                              <m:ctrlPr>
                                <a:rPr lang="zh-CN" altLang="en-US" i="1"/>
                              </m:ctrlPr>
                            </m:sSubPr>
                            <m:e>
                              <m:r>
                                <a:rPr lang="zh-CN" altLang="en-US" i="1"/>
                                <m:t>𝑡</m:t>
                              </m:r>
                            </m:e>
                            <m:sub>
                              <m:r>
                                <a:rPr lang="en-US" altLang="zh-CN"/>
                                <m:t>0</m:t>
                              </m:r>
                            </m:sub>
                          </m:sSub>
                        </m:e>
                      </m:d>
                      <m:r>
                        <a:rPr lang="en-US" altLang="zh-CN"/>
                        <m:t>=</m:t>
                      </m:r>
                      <m:sSub>
                        <m:sSubPr>
                          <m:ctrlPr>
                            <a:rPr lang="zh-CN" altLang="en-US" i="1"/>
                          </m:ctrlPr>
                        </m:sSubPr>
                        <m:e>
                          <m:r>
                            <a:rPr lang="zh-CN" altLang="en-US" i="1"/>
                            <m:t>𝑥</m:t>
                          </m:r>
                        </m:e>
                        <m:sub>
                          <m:r>
                            <a:rPr lang="en-US" altLang="zh-CN"/>
                            <m:t>0</m:t>
                          </m:r>
                        </m:sub>
                      </m:sSub>
                      <m:r>
                        <a:rPr lang="en-US" altLang="zh-CN"/>
                        <m:t>.</m:t>
                      </m:r>
                    </m:oMath>
                  </m:oMathPara>
                </a14:m>
                <a:endParaRPr lang="zh-CN" altLang="en-US" dirty="0"/>
              </a:p>
              <a:p>
                <a:pPr marL="0" indent="0">
                  <a:lnSpc>
                    <a:spcPct val="120000"/>
                  </a:lnSpc>
                  <a:buNone/>
                </a:pPr>
                <a:r>
                  <a:rPr lang="zh-CN" altLang="en-US" dirty="0"/>
                  <a:t>这里有两个最基本的问题：</a:t>
                </a:r>
              </a:p>
              <a:p>
                <a:pPr marL="457200" indent="-457200">
                  <a:lnSpc>
                    <a:spcPct val="120000"/>
                  </a:lnSpc>
                  <a:buFont typeface="+mj-lt"/>
                  <a:buAutoNum type="arabicPeriod"/>
                </a:pPr>
                <a:r>
                  <a:rPr lang="zh-CN" altLang="en-US" b="1" dirty="0"/>
                  <a:t>存在性</a:t>
                </a:r>
                <a:r>
                  <a:rPr lang="zh-CN" altLang="en-US" dirty="0"/>
                  <a:t>：给定初始状态 </a:t>
                </a:r>
                <a14:m>
                  <m:oMath xmlns:m="http://schemas.openxmlformats.org/officeDocument/2006/math">
                    <m:sSub>
                      <m:sSubPr>
                        <m:ctrlPr>
                          <a:rPr lang="zh-CN" altLang="en-US"/>
                        </m:ctrlPr>
                      </m:sSubPr>
                      <m:e>
                        <m:r>
                          <a:rPr lang="zh-CN" altLang="en-US" i="1"/>
                          <m:t>𝑥</m:t>
                        </m:r>
                      </m:e>
                      <m:sub>
                        <m:r>
                          <a:rPr lang="en-US" altLang="zh-CN"/>
                          <m:t>0</m:t>
                        </m:r>
                      </m:sub>
                    </m:sSub>
                  </m:oMath>
                </a14:m>
                <a:r>
                  <a:rPr lang="zh-CN" altLang="en-US" dirty="0"/>
                  <a:t>，真的有一条轨迹 </a:t>
                </a:r>
                <a14:m>
                  <m:oMath xmlns:m="http://schemas.openxmlformats.org/officeDocument/2006/math">
                    <m:r>
                      <a:rPr lang="zh-CN" altLang="en-US" i="1"/>
                      <m:t>𝑥</m:t>
                    </m:r>
                    <m:d>
                      <m:dPr>
                        <m:ctrlPr>
                          <a:rPr lang="zh-CN" altLang="en-US" i="1"/>
                        </m:ctrlPr>
                      </m:dPr>
                      <m:e>
                        <m:r>
                          <a:rPr lang="zh-CN" altLang="en-US" i="1"/>
                          <m:t>𝑡</m:t>
                        </m:r>
                      </m:e>
                    </m:d>
                  </m:oMath>
                </a14:m>
                <a:r>
                  <a:rPr lang="zh-CN" altLang="en-US" dirty="0"/>
                  <a:t>满足这个方程吗？</a:t>
                </a:r>
              </a:p>
              <a:p>
                <a:pPr marL="457200" indent="-457200">
                  <a:lnSpc>
                    <a:spcPct val="120000"/>
                  </a:lnSpc>
                  <a:buFont typeface="+mj-lt"/>
                  <a:buAutoNum type="arabicPeriod"/>
                </a:pPr>
                <a:r>
                  <a:rPr lang="zh-CN" altLang="en-US" b="1" dirty="0"/>
                  <a:t>唯一性</a:t>
                </a:r>
                <a:r>
                  <a:rPr lang="zh-CN" altLang="en-US" dirty="0"/>
                  <a:t>：如果有解，那么这条轨迹是不是唯一的？也就是说，同一个初始条件会不会产生多条不同的未来？</a:t>
                </a:r>
              </a:p>
              <a:p>
                <a:pPr marL="0" indent="0">
                  <a:lnSpc>
                    <a:spcPct val="120000"/>
                  </a:lnSpc>
                  <a:buNone/>
                </a:pPr>
                <a:endParaRPr lang="en-US" altLang="zh-CN" dirty="0"/>
              </a:p>
              <a:p>
                <a:pPr marL="0" indent="0">
                  <a:lnSpc>
                    <a:spcPct val="120000"/>
                  </a:lnSpc>
                  <a:buNone/>
                </a:pPr>
                <a:r>
                  <a:rPr lang="zh-CN" altLang="en-US" dirty="0"/>
                  <a:t>这两个问题在数学上是常微分方程的基本问题，在机器学习中则对应一个更实际的问题：</a:t>
                </a:r>
              </a:p>
              <a:p>
                <a:pPr>
                  <a:lnSpc>
                    <a:spcPct val="120000"/>
                  </a:lnSpc>
                  <a:buFont typeface="Wingdings" panose="05000000000000000000" pitchFamily="2" charset="2"/>
                  <a:buChar char="Ø"/>
                </a:pPr>
                <a:r>
                  <a:rPr lang="zh-CN" altLang="en-US" dirty="0"/>
                  <a:t>如果一个模型把系统动力学学习为 </a:t>
                </a:r>
                <a14:m>
                  <m:oMath xmlns:m="http://schemas.openxmlformats.org/officeDocument/2006/math">
                    <m:sSub>
                      <m:sSubPr>
                        <m:ctrlPr>
                          <a:rPr lang="zh-CN" altLang="en-US"/>
                        </m:ctrlPr>
                      </m:sSubPr>
                      <m:e>
                        <m:r>
                          <a:rPr lang="zh-CN" altLang="en-US" i="1"/>
                          <m:t>𝑓</m:t>
                        </m:r>
                      </m:e>
                      <m:sub>
                        <m:r>
                          <a:rPr lang="zh-CN" altLang="en-US" i="1"/>
                          <m:t>𝜃</m:t>
                        </m:r>
                      </m:sub>
                    </m:sSub>
                    <m:d>
                      <m:dPr>
                        <m:sepChr m:val=","/>
                        <m:ctrlPr>
                          <a:rPr lang="zh-CN" altLang="en-US" i="1"/>
                        </m:ctrlPr>
                      </m:dPr>
                      <m:e>
                        <m:r>
                          <a:rPr lang="zh-CN" altLang="en-US" i="1"/>
                          <m:t>𝑡</m:t>
                        </m:r>
                      </m:e>
                      <m:e>
                        <m:r>
                          <a:rPr lang="zh-CN" altLang="en-US" i="1"/>
                          <m:t>𝑥</m:t>
                        </m:r>
                      </m:e>
                    </m:d>
                  </m:oMath>
                </a14:m>
                <a:r>
                  <a:rPr lang="zh-CN" altLang="en-US" dirty="0"/>
                  <a:t>，那么这个模型是否真的定义了一个</a:t>
                </a:r>
                <a:r>
                  <a:rPr lang="zh-CN" altLang="en-US" dirty="0">
                    <a:solidFill>
                      <a:srgbClr val="C00000"/>
                    </a:solidFill>
                  </a:rPr>
                  <a:t>稳定</a:t>
                </a:r>
                <a:r>
                  <a:rPr lang="zh-CN" altLang="en-US" dirty="0"/>
                  <a:t>、</a:t>
                </a:r>
                <a:r>
                  <a:rPr lang="zh-CN" altLang="en-US" dirty="0">
                    <a:solidFill>
                      <a:srgbClr val="C00000"/>
                    </a:solidFill>
                  </a:rPr>
                  <a:t>明确</a:t>
                </a:r>
                <a:r>
                  <a:rPr lang="zh-CN" altLang="en-US" dirty="0"/>
                  <a:t>、</a:t>
                </a:r>
                <a:r>
                  <a:rPr lang="zh-CN" altLang="en-US" dirty="0">
                    <a:solidFill>
                      <a:srgbClr val="C00000"/>
                    </a:solidFill>
                  </a:rPr>
                  <a:t>可计算</a:t>
                </a:r>
                <a:r>
                  <a:rPr lang="zh-CN" altLang="en-US" dirty="0"/>
                  <a:t>的预测过程？</a:t>
                </a:r>
              </a:p>
              <a:p>
                <a:pPr marL="0" indent="0">
                  <a:lnSpc>
                    <a:spcPct val="120000"/>
                  </a:lnSpc>
                  <a:buNone/>
                </a:pPr>
                <a:r>
                  <a:rPr lang="zh-CN" altLang="en-US" dirty="0"/>
                  <a:t>这正是 </a:t>
                </a:r>
                <a:r>
                  <a:rPr lang="en-US" altLang="zh-CN" dirty="0"/>
                  <a:t>Neural ODE </a:t>
                </a:r>
                <a:r>
                  <a:rPr lang="zh-CN" altLang="en-US" dirty="0"/>
                  <a:t>这类模型背后的数学问题。</a:t>
                </a:r>
                <a:r>
                  <a:rPr lang="en-US" altLang="zh-CN" dirty="0"/>
                  <a:t>Neural ODE </a:t>
                </a:r>
                <a:r>
                  <a:rPr lang="zh-CN" altLang="en-US" dirty="0"/>
                  <a:t>将隐藏状态的导数参数化为神经网络，并通过 </a:t>
                </a:r>
                <a:r>
                  <a:rPr lang="en-US" altLang="zh-CN" dirty="0"/>
                  <a:t>ODE solver </a:t>
                </a:r>
                <a:r>
                  <a:rPr lang="zh-CN" altLang="en-US" dirty="0"/>
                  <a:t>计算输出，因此模型是否良定义，本质上依赖于相应微分方程是否有合适的解。</a:t>
                </a:r>
              </a:p>
            </p:txBody>
          </p:sp>
        </mc:Choice>
        <mc:Fallback>
          <p:sp>
            <p:nvSpPr>
              <p:cNvPr id="12" name="コンテンツ プレースホルダー 2">
                <a:extLst>
                  <a:ext uri="{FF2B5EF4-FFF2-40B4-BE49-F238E27FC236}">
                    <a16:creationId xmlns:a16="http://schemas.microsoft.com/office/drawing/2014/main" id="{FA19CA84-9AF3-E459-51ED-9079DACD91A8}"/>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737" t="-448" r="-474" b="-459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74390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C7B2-3033-720E-A93A-E726ED5B1F6D}"/>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DC38F30D-5DFD-D741-046C-D2DB69F43153}"/>
              </a:ext>
            </a:extLst>
          </p:cNvPr>
          <p:cNvSpPr>
            <a:spLocks noGrp="1" noChangeArrowheads="1"/>
          </p:cNvSpPr>
          <p:nvPr>
            <p:ph type="title"/>
          </p:nvPr>
        </p:nvSpPr>
        <p:spPr/>
        <p:txBody>
          <a:bodyPr/>
          <a:lstStyle/>
          <a:p>
            <a:r>
              <a:rPr lang="zh-CN" altLang="en-US" b="1" dirty="0"/>
              <a:t>从 </a:t>
            </a:r>
            <a:r>
              <a:rPr lang="en-US" altLang="zh-CN" b="1" dirty="0"/>
              <a:t>ODE </a:t>
            </a:r>
            <a:r>
              <a:rPr lang="zh-CN" altLang="en-US" b="1" dirty="0"/>
              <a:t>到积分方程：不动点自然出现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160D3EC4-0565-BCE1-C0FD-CEF79AE620EC}"/>
                  </a:ext>
                </a:extLst>
              </p:cNvPr>
              <p:cNvSpPr>
                <a:spLocks noGrp="1"/>
              </p:cNvSpPr>
              <p:nvPr>
                <p:ph idx="1"/>
              </p:nvPr>
            </p:nvSpPr>
            <p:spPr>
              <a:xfrm>
                <a:off x="213360" y="1112520"/>
                <a:ext cx="11877040" cy="5440680"/>
              </a:xfrm>
            </p:spPr>
            <p:txBody>
              <a:bodyPr/>
              <a:lstStyle/>
              <a:p>
                <a:pPr marL="0" indent="0">
                  <a:lnSpc>
                    <a:spcPct val="110000"/>
                  </a:lnSpc>
                  <a:buNone/>
                </a:pPr>
                <a:r>
                  <a:rPr lang="ja-JP" altLang="en-US" dirty="0"/>
                  <a:t>从初值问题开始：</a:t>
                </a:r>
                <a14:m>
                  <m:oMath xmlns:m="http://schemas.openxmlformats.org/officeDocument/2006/math">
                    <m:sSup>
                      <m:sSupPr>
                        <m:ctrlPr>
                          <a:rPr lang="ar-AE" altLang="ja-JP"/>
                        </m:ctrlPr>
                      </m:sSupPr>
                      <m:e>
                        <m:r>
                          <a:rPr lang="ja-JP" altLang="ar-AE" i="1"/>
                          <m:t>𝑥</m:t>
                        </m:r>
                      </m:e>
                      <m:sup>
                        <m:r>
                          <a:rPr lang="ar-AE" altLang="ja-JP"/>
                          <m:t>′</m:t>
                        </m:r>
                      </m:sup>
                    </m:sSup>
                    <m:d>
                      <m:dPr>
                        <m:ctrlPr>
                          <a:rPr lang="ar-AE" altLang="ja-JP" i="1"/>
                        </m:ctrlPr>
                      </m:dPr>
                      <m:e>
                        <m:r>
                          <a:rPr lang="ja-JP" altLang="ar-AE" i="1"/>
                          <m:t>𝑡</m:t>
                        </m:r>
                      </m:e>
                    </m:d>
                    <m:r>
                      <a:rPr lang="ar-AE" altLang="ja-JP"/>
                      <m:t>=</m:t>
                    </m:r>
                    <m:r>
                      <a:rPr lang="ja-JP" altLang="ar-AE" i="1"/>
                      <m:t>𝑓</m:t>
                    </m:r>
                    <m:d>
                      <m:dPr>
                        <m:sepChr m:val=","/>
                        <m:ctrlPr>
                          <a:rPr lang="ar-AE" altLang="ja-JP" i="1"/>
                        </m:ctrlPr>
                      </m:dPr>
                      <m:e>
                        <m:r>
                          <a:rPr lang="ja-JP" altLang="ar-AE" i="1"/>
                          <m:t>𝑡</m:t>
                        </m:r>
                      </m:e>
                      <m:e>
                        <m:r>
                          <a:rPr lang="ja-JP" altLang="ar-AE" i="1"/>
                          <m:t>𝑥</m:t>
                        </m:r>
                        <m:d>
                          <m:dPr>
                            <m:ctrlPr>
                              <a:rPr lang="ar-AE" altLang="ja-JP" i="1"/>
                            </m:ctrlPr>
                          </m:dPr>
                          <m:e>
                            <m:r>
                              <a:rPr lang="ja-JP" altLang="ar-AE" i="1"/>
                              <m:t>𝑡</m:t>
                            </m:r>
                          </m:e>
                        </m:d>
                      </m:e>
                    </m:d>
                    <m:r>
                      <a:rPr lang="ar-AE" altLang="ja-JP"/>
                      <m:t>, </m:t>
                    </m:r>
                    <m:r>
                      <a:rPr lang="en-US" altLang="ja-JP" b="0" i="1" smtClean="0">
                        <a:latin typeface="Cambria Math" panose="02040503050406030204" pitchFamily="18" charset="0"/>
                      </a:rPr>
                      <m:t>  </m:t>
                    </m:r>
                    <m:r>
                      <a:rPr lang="ja-JP" altLang="ar-AE" i="1"/>
                      <m:t>𝑥</m:t>
                    </m:r>
                    <m:d>
                      <m:dPr>
                        <m:ctrlPr>
                          <a:rPr lang="ar-AE" altLang="ja-JP" i="1"/>
                        </m:ctrlPr>
                      </m:dPr>
                      <m:e>
                        <m:sSub>
                          <m:sSubPr>
                            <m:ctrlPr>
                              <a:rPr lang="ar-AE" altLang="ja-JP" i="1"/>
                            </m:ctrlPr>
                          </m:sSubPr>
                          <m:e>
                            <m:r>
                              <a:rPr lang="ja-JP" altLang="ar-AE" i="1"/>
                              <m:t>𝑡</m:t>
                            </m:r>
                          </m:e>
                          <m:sub>
                            <m:r>
                              <a:rPr lang="ar-AE" altLang="ja-JP"/>
                              <m:t>0</m:t>
                            </m:r>
                          </m:sub>
                        </m:sSub>
                      </m:e>
                    </m:d>
                    <m:r>
                      <a:rPr lang="ar-AE" altLang="ja-JP"/>
                      <m:t>=</m:t>
                    </m:r>
                    <m:sSub>
                      <m:sSubPr>
                        <m:ctrlPr>
                          <a:rPr lang="ar-AE" altLang="ja-JP" i="1"/>
                        </m:ctrlPr>
                      </m:sSubPr>
                      <m:e>
                        <m:r>
                          <a:rPr lang="ja-JP" altLang="ar-AE" i="1"/>
                          <m:t>𝑥</m:t>
                        </m:r>
                      </m:e>
                      <m:sub>
                        <m:r>
                          <a:rPr lang="ar-AE" altLang="ja-JP"/>
                          <m:t>0</m:t>
                        </m:r>
                      </m:sub>
                    </m:sSub>
                    <m:r>
                      <a:rPr lang="ar-AE" altLang="ja-JP"/>
                      <m:t>.</m:t>
                    </m:r>
                  </m:oMath>
                </a14:m>
                <a:endParaRPr lang="ar-AE" altLang="ja-JP" dirty="0"/>
              </a:p>
              <a:p>
                <a:pPr marL="0" indent="0">
                  <a:lnSpc>
                    <a:spcPct val="110000"/>
                  </a:lnSpc>
                  <a:buNone/>
                </a:pPr>
                <a:r>
                  <a:rPr lang="ja-JP" altLang="en-US" dirty="0"/>
                  <a:t>如果 </a:t>
                </a:r>
                <a14:m>
                  <m:oMath xmlns:m="http://schemas.openxmlformats.org/officeDocument/2006/math">
                    <m:r>
                      <a:rPr lang="ja-JP" altLang="en-US" i="1"/>
                      <m:t>𝑥</m:t>
                    </m:r>
                    <m:d>
                      <m:dPr>
                        <m:ctrlPr>
                          <a:rPr lang="ar-AE" altLang="ja-JP" i="1"/>
                        </m:ctrlPr>
                      </m:dPr>
                      <m:e>
                        <m:r>
                          <a:rPr lang="ja-JP" altLang="ar-AE" i="1"/>
                          <m:t>𝑡</m:t>
                        </m:r>
                      </m:e>
                    </m:d>
                  </m:oMath>
                </a14:m>
                <a:r>
                  <a:rPr lang="ja-JP" altLang="en-US" dirty="0"/>
                  <a:t>是解，那么对两边从 </a:t>
                </a:r>
                <a14:m>
                  <m:oMath xmlns:m="http://schemas.openxmlformats.org/officeDocument/2006/math">
                    <m:sSub>
                      <m:sSubPr>
                        <m:ctrlPr>
                          <a:rPr lang="ar-AE" altLang="ja-JP"/>
                        </m:ctrlPr>
                      </m:sSubPr>
                      <m:e>
                        <m:r>
                          <a:rPr lang="ja-JP" altLang="ar-AE" i="1"/>
                          <m:t>𝑡</m:t>
                        </m:r>
                      </m:e>
                      <m:sub>
                        <m:r>
                          <a:rPr lang="ar-AE" altLang="ja-JP"/>
                          <m:t>0</m:t>
                        </m:r>
                      </m:sub>
                    </m:sSub>
                  </m:oMath>
                </a14:m>
                <a:r>
                  <a:rPr lang="ja-JP" altLang="en-US" dirty="0"/>
                  <a:t>到 </a:t>
                </a:r>
                <a14:m>
                  <m:oMath xmlns:m="http://schemas.openxmlformats.org/officeDocument/2006/math">
                    <m:r>
                      <a:rPr lang="ja-JP" altLang="en-US" i="1"/>
                      <m:t>𝑡</m:t>
                    </m:r>
                  </m:oMath>
                </a14:m>
                <a:r>
                  <a:rPr lang="ja-JP" altLang="en-US" dirty="0"/>
                  <a:t>积分：</a:t>
                </a:r>
                <a14:m>
                  <m:oMath xmlns:m="http://schemas.openxmlformats.org/officeDocument/2006/math">
                    <m:r>
                      <a:rPr lang="ja-JP" altLang="en-US" i="1"/>
                      <m:t>𝑥</m:t>
                    </m:r>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r>
                          <a:rPr lang="ja-JP" altLang="ar-AE" i="1"/>
                          <m:t>𝑓</m:t>
                        </m:r>
                      </m:e>
                    </m:nary>
                    <m:d>
                      <m:dPr>
                        <m:sepChr m:val=","/>
                        <m:ctrlPr>
                          <a:rPr lang="ar-AE" altLang="ja-JP" i="1"/>
                        </m:ctrlPr>
                      </m:dPr>
                      <m:e>
                        <m:r>
                          <a:rPr lang="ja-JP" altLang="ar-AE" i="1"/>
                          <m:t>𝑠</m:t>
                        </m:r>
                      </m:e>
                      <m:e>
                        <m:r>
                          <a:rPr lang="ja-JP" altLang="ar-AE" i="1"/>
                          <m:t>𝑥</m:t>
                        </m:r>
                        <m:d>
                          <m:dPr>
                            <m:ctrlPr>
                              <a:rPr lang="ar-AE" altLang="ja-JP" i="1"/>
                            </m:ctrlPr>
                          </m:dPr>
                          <m:e>
                            <m:r>
                              <a:rPr lang="ja-JP" altLang="ar-AE" i="1"/>
                              <m:t>𝑠</m:t>
                            </m:r>
                          </m:e>
                        </m:d>
                      </m:e>
                    </m:d>
                    <m:r>
                      <m:rPr>
                        <m:nor/>
                      </m:rPr>
                      <a:rPr lang="ar-AE" altLang="ja-JP" i="1"/>
                      <m:t> </m:t>
                    </m:r>
                    <m:r>
                      <a:rPr lang="ja-JP" altLang="ar-AE" i="1"/>
                      <m:t>𝑑𝑠</m:t>
                    </m:r>
                    <m:r>
                      <a:rPr lang="ar-AE" altLang="ja-JP"/>
                      <m:t>.</m:t>
                    </m:r>
                  </m:oMath>
                </a14:m>
                <a:endParaRPr lang="ar-AE" altLang="ja-JP" b="0" dirty="0"/>
              </a:p>
              <a:p>
                <a:pPr marL="0" indent="0">
                  <a:lnSpc>
                    <a:spcPct val="110000"/>
                  </a:lnSpc>
                  <a:buNone/>
                </a:pPr>
                <a:r>
                  <a:rPr lang="ja-JP" altLang="en-US" dirty="0"/>
                  <a:t>所以</a:t>
                </a:r>
                <a14:m>
                  <m:oMath xmlns:m="http://schemas.openxmlformats.org/officeDocument/2006/math">
                    <m:r>
                      <a:rPr lang="ja-JP" altLang="en-US" i="1"/>
                      <m:t>𝑥</m:t>
                    </m:r>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r>
                          <a:rPr lang="ja-JP" altLang="ar-AE" i="1"/>
                          <m:t>𝑓</m:t>
                        </m:r>
                      </m:e>
                    </m:nary>
                    <m:d>
                      <m:dPr>
                        <m:sepChr m:val=","/>
                        <m:ctrlPr>
                          <a:rPr lang="ar-AE" altLang="ja-JP" i="1"/>
                        </m:ctrlPr>
                      </m:dPr>
                      <m:e>
                        <m:r>
                          <a:rPr lang="ja-JP" altLang="ar-AE" i="1"/>
                          <m:t>𝑠</m:t>
                        </m:r>
                      </m:e>
                      <m:e>
                        <m:r>
                          <a:rPr lang="ja-JP" altLang="ar-AE" i="1"/>
                          <m:t>𝑥</m:t>
                        </m:r>
                        <m:d>
                          <m:dPr>
                            <m:ctrlPr>
                              <a:rPr lang="ar-AE" altLang="ja-JP" i="1"/>
                            </m:ctrlPr>
                          </m:dPr>
                          <m:e>
                            <m:r>
                              <a:rPr lang="ja-JP" altLang="ar-AE" i="1"/>
                              <m:t>𝑠</m:t>
                            </m:r>
                          </m:e>
                        </m:d>
                      </m:e>
                    </m:d>
                    <m:r>
                      <m:rPr>
                        <m:nor/>
                      </m:rPr>
                      <a:rPr lang="ar-AE" altLang="ja-JP" i="1"/>
                      <m:t> </m:t>
                    </m:r>
                    <m:r>
                      <a:rPr lang="ja-JP" altLang="ar-AE" i="1"/>
                      <m:t>𝑑𝑠</m:t>
                    </m:r>
                    <m:r>
                      <a:rPr lang="ar-AE" altLang="ja-JP"/>
                      <m:t>.</m:t>
                    </m:r>
                    <m:r>
                      <a:rPr lang="en-US" altLang="ja-JP" b="0" i="0" smtClean="0">
                        <a:latin typeface="Cambria Math" panose="02040503050406030204" pitchFamily="18" charset="0"/>
                      </a:rPr>
                      <m:t>   </m:t>
                    </m:r>
                  </m:oMath>
                </a14:m>
                <a:r>
                  <a:rPr lang="ja-JP" altLang="en-US" dirty="0"/>
                  <a:t>这一步</a:t>
                </a:r>
                <a:r>
                  <a:rPr lang="ja-JP" altLang="en-US" b="1" dirty="0">
                    <a:solidFill>
                      <a:srgbClr val="7030A0"/>
                    </a:solidFill>
                  </a:rPr>
                  <a:t>把“求导方程”变成了“积分方程”</a:t>
                </a:r>
                <a:r>
                  <a:rPr lang="ja-JP" altLang="en-US" dirty="0"/>
                  <a:t>。</a:t>
                </a:r>
              </a:p>
              <a:p>
                <a:pPr marL="0" indent="0">
                  <a:lnSpc>
                    <a:spcPct val="110000"/>
                  </a:lnSpc>
                  <a:buNone/>
                </a:pPr>
                <a:r>
                  <a:rPr lang="ja-JP" altLang="en-US" dirty="0"/>
                  <a:t>接下来定义一个算子 </a:t>
                </a:r>
                <a14:m>
                  <m:oMath xmlns:m="http://schemas.openxmlformats.org/officeDocument/2006/math">
                    <m:r>
                      <a:rPr lang="ja-JP" altLang="en-US"/>
                      <m:t>𝒯</m:t>
                    </m:r>
                    <m:r>
                      <a:rPr lang="zh-CN" altLang="en-US" i="1">
                        <a:latin typeface="Cambria Math" panose="02040503050406030204" pitchFamily="18" charset="0"/>
                      </a:rPr>
                      <m:t>（</m:t>
                    </m:r>
                  </m:oMath>
                </a14:m>
                <a:r>
                  <a:rPr lang="en-US" altLang="zh-CN" dirty="0"/>
                  <a:t>ODE</a:t>
                </a:r>
                <a:r>
                  <a:rPr lang="zh-CN" altLang="en-US" dirty="0"/>
                  <a:t>规则）</a:t>
                </a:r>
                <a:r>
                  <a:rPr lang="ja-JP" altLang="en-US" dirty="0"/>
                  <a:t>。它的输入不是一个数，而是一整条候选曲线 </a:t>
                </a:r>
                <a14:m>
                  <m:oMath xmlns:m="http://schemas.openxmlformats.org/officeDocument/2006/math">
                    <m:r>
                      <a:rPr lang="ja-JP" altLang="en-US" i="1"/>
                      <m:t>𝜑</m:t>
                    </m:r>
                    <m:d>
                      <m:dPr>
                        <m:ctrlPr>
                          <a:rPr lang="ar-AE" altLang="ja-JP" i="1"/>
                        </m:ctrlPr>
                      </m:dPr>
                      <m:e>
                        <m:r>
                          <a:rPr lang="ja-JP" altLang="ar-AE" i="1"/>
                          <m:t>𝑡</m:t>
                        </m:r>
                      </m:e>
                    </m:d>
                  </m:oMath>
                </a14:m>
                <a:r>
                  <a:rPr lang="ja-JP" altLang="ar-AE" dirty="0"/>
                  <a:t>：</a:t>
                </a:r>
              </a:p>
              <a:p>
                <a:pPr marL="0" indent="0">
                  <a:lnSpc>
                    <a:spcPct val="110000"/>
                  </a:lnSpc>
                  <a:buNone/>
                </a:pPr>
                <a14:m>
                  <m:oMathPara xmlns:m="http://schemas.openxmlformats.org/officeDocument/2006/math">
                    <m:oMathParaPr>
                      <m:jc m:val="centerGroup"/>
                    </m:oMathParaPr>
                    <m:oMath xmlns:m="http://schemas.openxmlformats.org/officeDocument/2006/math">
                      <m:d>
                        <m:dPr>
                          <m:ctrlPr>
                            <a:rPr lang="ar-AE" altLang="ja-JP"/>
                          </m:ctrlPr>
                        </m:dPr>
                        <m:e>
                          <m:r>
                            <a:rPr lang="ja-JP" altLang="ar-AE"/>
                            <m:t>𝒯</m:t>
                          </m:r>
                          <m:r>
                            <a:rPr lang="ja-JP" altLang="ar-AE" i="1"/>
                            <m:t>𝜑</m:t>
                          </m:r>
                        </m:e>
                      </m:d>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r>
                            <a:rPr lang="ja-JP" altLang="ar-AE" i="1"/>
                            <m:t>𝑓</m:t>
                          </m:r>
                        </m:e>
                      </m:nary>
                      <m:d>
                        <m:dPr>
                          <m:sepChr m:val=","/>
                          <m:ctrlPr>
                            <a:rPr lang="ar-AE" altLang="ja-JP" i="1"/>
                          </m:ctrlPr>
                        </m:dPr>
                        <m:e>
                          <m:r>
                            <a:rPr lang="ja-JP" altLang="ar-AE" i="1"/>
                            <m:t>𝑠</m:t>
                          </m:r>
                        </m:e>
                        <m:e>
                          <m:r>
                            <a:rPr lang="ja-JP" altLang="ar-AE" i="1"/>
                            <m:t>𝜑</m:t>
                          </m:r>
                          <m:d>
                            <m:dPr>
                              <m:ctrlPr>
                                <a:rPr lang="ar-AE" altLang="ja-JP" i="1"/>
                              </m:ctrlPr>
                            </m:dPr>
                            <m:e>
                              <m:r>
                                <a:rPr lang="ja-JP" altLang="ar-AE" i="1"/>
                                <m:t>𝑠</m:t>
                              </m:r>
                            </m:e>
                          </m:d>
                        </m:e>
                      </m:d>
                      <m:r>
                        <m:rPr>
                          <m:nor/>
                        </m:rPr>
                        <a:rPr lang="ar-AE" altLang="ja-JP" i="1"/>
                        <m:t> </m:t>
                      </m:r>
                      <m:r>
                        <a:rPr lang="ja-JP" altLang="ar-AE" i="1"/>
                        <m:t>𝑑𝑠</m:t>
                      </m:r>
                      <m:r>
                        <a:rPr lang="ar-AE" altLang="ja-JP"/>
                        <m:t>.</m:t>
                      </m:r>
                    </m:oMath>
                  </m:oMathPara>
                </a14:m>
                <a:endParaRPr lang="ar-AE" altLang="ja-JP" b="0" dirty="0"/>
              </a:p>
              <a:p>
                <a:pPr marL="0" indent="0">
                  <a:lnSpc>
                    <a:spcPct val="110000"/>
                  </a:lnSpc>
                  <a:buNone/>
                </a:pPr>
                <a14:m>
                  <m:oMath xmlns:m="http://schemas.openxmlformats.org/officeDocument/2006/math">
                    <m:r>
                      <a:rPr lang="ja-JP" altLang="en-US"/>
                      <m:t>𝒯</m:t>
                    </m:r>
                  </m:oMath>
                </a14:m>
                <a:r>
                  <a:rPr lang="ja-JP" altLang="en-US" dirty="0"/>
                  <a:t> 的作用是：给一条猜测的轨迹 </a:t>
                </a:r>
                <a14:m>
                  <m:oMath xmlns:m="http://schemas.openxmlformats.org/officeDocument/2006/math">
                    <m:r>
                      <a:rPr lang="ja-JP" altLang="en-US" i="1"/>
                      <m:t>𝜑</m:t>
                    </m:r>
                    <m:d>
                      <m:dPr>
                        <m:ctrlPr>
                          <a:rPr lang="ar-AE" altLang="ja-JP" i="1"/>
                        </m:ctrlPr>
                      </m:dPr>
                      <m:e>
                        <m:r>
                          <a:rPr lang="ja-JP" altLang="ar-AE" i="1"/>
                          <m:t>𝑡</m:t>
                        </m:r>
                      </m:e>
                    </m:d>
                  </m:oMath>
                </a14:m>
                <a:r>
                  <a:rPr lang="ja-JP" altLang="ar-AE" dirty="0"/>
                  <a:t>，</a:t>
                </a:r>
                <a:r>
                  <a:rPr lang="ja-JP" altLang="en-US" dirty="0"/>
                  <a:t>根据这条轨迹上的速度场 </a:t>
                </a:r>
                <a14:m>
                  <m:oMath xmlns:m="http://schemas.openxmlformats.org/officeDocument/2006/math">
                    <m:r>
                      <a:rPr lang="ja-JP" altLang="en-US" i="1"/>
                      <m:t>𝑓</m:t>
                    </m:r>
                    <m:d>
                      <m:dPr>
                        <m:sepChr m:val=","/>
                        <m:ctrlPr>
                          <a:rPr lang="ar-AE" altLang="ja-JP" i="1"/>
                        </m:ctrlPr>
                      </m:dPr>
                      <m:e>
                        <m:r>
                          <a:rPr lang="ja-JP" altLang="ar-AE" i="1"/>
                          <m:t>𝑠</m:t>
                        </m:r>
                      </m:e>
                      <m:e>
                        <m:r>
                          <a:rPr lang="ja-JP" altLang="ar-AE" i="1"/>
                          <m:t>𝜑</m:t>
                        </m:r>
                        <m:d>
                          <m:dPr>
                            <m:ctrlPr>
                              <a:rPr lang="ar-AE" altLang="ja-JP" i="1"/>
                            </m:ctrlPr>
                          </m:dPr>
                          <m:e>
                            <m:r>
                              <a:rPr lang="ja-JP" altLang="ar-AE" i="1"/>
                              <m:t>𝑠</m:t>
                            </m:r>
                          </m:e>
                        </m:d>
                      </m:e>
                    </m:d>
                  </m:oMath>
                </a14:m>
                <a:r>
                  <a:rPr lang="ja-JP" altLang="ar-AE" dirty="0"/>
                  <a:t>，</a:t>
                </a:r>
                <a:r>
                  <a:rPr lang="ja-JP" altLang="en-US" dirty="0"/>
                  <a:t>重新积分出一条新的轨迹。</a:t>
                </a:r>
              </a:p>
              <a:p>
                <a:pPr>
                  <a:lnSpc>
                    <a:spcPct val="110000"/>
                  </a:lnSpc>
                </a:pPr>
                <a:r>
                  <a:rPr lang="ja-JP" altLang="en-US" dirty="0"/>
                  <a:t>如果某条曲线 </a:t>
                </a:r>
                <a14:m>
                  <m:oMath xmlns:m="http://schemas.openxmlformats.org/officeDocument/2006/math">
                    <m:r>
                      <a:rPr lang="ja-JP" altLang="en-US" i="1"/>
                      <m:t>𝑥</m:t>
                    </m:r>
                    <m:d>
                      <m:dPr>
                        <m:ctrlPr>
                          <a:rPr lang="ar-AE" altLang="ja-JP" i="1"/>
                        </m:ctrlPr>
                      </m:dPr>
                      <m:e>
                        <m:r>
                          <a:rPr lang="ja-JP" altLang="ar-AE" i="1"/>
                          <m:t>𝑡</m:t>
                        </m:r>
                      </m:e>
                    </m:d>
                  </m:oMath>
                </a14:m>
                <a:r>
                  <a:rPr lang="ja-JP" altLang="en-US" dirty="0"/>
                  <a:t>满足</a:t>
                </a:r>
                <a14:m>
                  <m:oMath xmlns:m="http://schemas.openxmlformats.org/officeDocument/2006/math">
                    <m:r>
                      <a:rPr lang="ja-JP" altLang="en-US"/>
                      <m:t>𝒯</m:t>
                    </m:r>
                    <m:r>
                      <a:rPr lang="ja-JP" altLang="en-US" i="1"/>
                      <m:t>𝑥</m:t>
                    </m:r>
                    <m:r>
                      <a:rPr lang="en-US" altLang="ja-JP"/>
                      <m:t>=</m:t>
                    </m:r>
                    <m:r>
                      <a:rPr lang="ja-JP" altLang="en-US" i="1"/>
                      <m:t>𝑥</m:t>
                    </m:r>
                    <m:r>
                      <a:rPr lang="en-US" altLang="ja-JP"/>
                      <m:t>,</m:t>
                    </m:r>
                  </m:oMath>
                </a14:m>
                <a:r>
                  <a:rPr lang="ja-JP" altLang="en-US" dirty="0"/>
                  <a:t> 那么它经过这个“积分更新规则”之后没有改变。也就是说，</a:t>
                </a:r>
                <a14:m>
                  <m:oMath xmlns:m="http://schemas.openxmlformats.org/officeDocument/2006/math">
                    <m:r>
                      <a:rPr lang="ja-JP" altLang="en-US" i="1"/>
                      <m:t>𝑥</m:t>
                    </m:r>
                  </m:oMath>
                </a14:m>
                <a:r>
                  <a:rPr lang="ja-JP" altLang="en-US" dirty="0"/>
                  <a:t> 是 </a:t>
                </a:r>
                <a14:m>
                  <m:oMath xmlns:m="http://schemas.openxmlformats.org/officeDocument/2006/math">
                    <m:r>
                      <a:rPr lang="ja-JP" altLang="en-US"/>
                      <m:t>𝒯</m:t>
                    </m:r>
                  </m:oMath>
                </a14:m>
                <a:r>
                  <a:rPr lang="ja-JP" altLang="en-US" dirty="0"/>
                  <a:t>的不动点。</a:t>
                </a:r>
              </a:p>
              <a:p>
                <a:pPr marL="0" indent="0">
                  <a:lnSpc>
                    <a:spcPct val="110000"/>
                  </a:lnSpc>
                  <a:buNone/>
                </a:pPr>
                <a:endParaRPr lang="en-US" altLang="ja-JP" dirty="0"/>
              </a:p>
              <a:p>
                <a:pPr marL="0" indent="0">
                  <a:lnSpc>
                    <a:spcPct val="110000"/>
                  </a:lnSpc>
                  <a:buNone/>
                </a:pPr>
                <a:r>
                  <a:rPr lang="en-US" altLang="ja-JP" dirty="0"/>
                  <a:t>ODE </a:t>
                </a:r>
                <a:r>
                  <a:rPr lang="ja-JP" altLang="en-US" dirty="0"/>
                  <a:t>的解可以解释为：</a:t>
                </a:r>
                <a:r>
                  <a:rPr lang="en-US" altLang="ja-JP" dirty="0"/>
                  <a:t>ODE </a:t>
                </a:r>
                <a:r>
                  <a:rPr lang="ja-JP" altLang="en-US" dirty="0"/>
                  <a:t>的解，就是积分算子 </a:t>
                </a:r>
                <a14:m>
                  <m:oMath xmlns:m="http://schemas.openxmlformats.org/officeDocument/2006/math">
                    <m:r>
                      <a:rPr lang="ja-JP" altLang="en-US"/>
                      <m:t>𝒯</m:t>
                    </m:r>
                  </m:oMath>
                </a14:m>
                <a:r>
                  <a:rPr lang="ja-JP" altLang="en-US" dirty="0"/>
                  <a:t>的不动点。</a:t>
                </a:r>
              </a:p>
              <a:p>
                <a:pPr>
                  <a:lnSpc>
                    <a:spcPct val="110000"/>
                  </a:lnSpc>
                </a:pPr>
                <a:r>
                  <a:rPr lang="ja-JP" altLang="en-US" dirty="0"/>
                  <a:t>这就是引入不动点的自然动机。</a:t>
                </a:r>
                <a:r>
                  <a:rPr lang="en-US" altLang="ja-JP" dirty="0"/>
                  <a:t>Picard–Lindelöf </a:t>
                </a:r>
                <a:r>
                  <a:rPr lang="ja-JP" altLang="en-US" dirty="0"/>
                  <a:t>定理的标准证明正是把 </a:t>
                </a:r>
                <a:r>
                  <a:rPr lang="en-US" altLang="ja-JP" dirty="0"/>
                  <a:t>ODE </a:t>
                </a:r>
                <a:r>
                  <a:rPr lang="ja-JP" altLang="en-US" dirty="0"/>
                  <a:t>转化为积分算子的不动点问题，再用 </a:t>
                </a:r>
                <a:r>
                  <a:rPr lang="en-US" altLang="ja-JP" dirty="0"/>
                  <a:t>Banach </a:t>
                </a:r>
                <a:r>
                  <a:rPr lang="ja-JP" altLang="en-US" dirty="0"/>
                  <a:t>不动点定理证明存在唯一性。</a:t>
                </a:r>
              </a:p>
            </p:txBody>
          </p:sp>
        </mc:Choice>
        <mc:Fallback>
          <p:sp>
            <p:nvSpPr>
              <p:cNvPr id="12" name="コンテンツ プレースホルダー 2">
                <a:extLst>
                  <a:ext uri="{FF2B5EF4-FFF2-40B4-BE49-F238E27FC236}">
                    <a16:creationId xmlns:a16="http://schemas.microsoft.com/office/drawing/2014/main" id="{160D3EC4-0565-BCE1-C0FD-CEF79AE620EC}"/>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1682" r="-257" b="-1570"/>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5993B557-0AEE-7A93-8E49-B09342C832BB}"/>
              </a:ext>
            </a:extLst>
          </p:cNvPr>
          <p:cNvPicPr>
            <a:picLocks noChangeAspect="1"/>
          </p:cNvPicPr>
          <p:nvPr/>
        </p:nvPicPr>
        <p:blipFill>
          <a:blip r:embed="rId4"/>
          <a:stretch>
            <a:fillRect/>
          </a:stretch>
        </p:blipFill>
        <p:spPr>
          <a:xfrm>
            <a:off x="754912" y="3231234"/>
            <a:ext cx="2317944" cy="567660"/>
          </a:xfrm>
          <a:prstGeom prst="rect">
            <a:avLst/>
          </a:prstGeom>
        </p:spPr>
      </p:pic>
    </p:spTree>
    <p:extLst>
      <p:ext uri="{BB962C8B-B14F-4D97-AF65-F5344CB8AC3E}">
        <p14:creationId xmlns:p14="http://schemas.microsoft.com/office/powerpoint/2010/main" val="655658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ECA51-A2E9-23E0-104D-9F1AD9F1B963}"/>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B7C61E00-13D1-0008-EE7B-A43091D0EBA0}"/>
              </a:ext>
            </a:extLst>
          </p:cNvPr>
          <p:cNvSpPr>
            <a:spLocks noGrp="1" noChangeArrowheads="1"/>
          </p:cNvSpPr>
          <p:nvPr>
            <p:ph type="title"/>
          </p:nvPr>
        </p:nvSpPr>
        <p:spPr/>
        <p:txBody>
          <a:bodyPr/>
          <a:lstStyle/>
          <a:p>
            <a:pPr marL="0" indent="0">
              <a:lnSpc>
                <a:spcPct val="120000"/>
              </a:lnSpc>
              <a:buNone/>
            </a:pPr>
            <a:r>
              <a:rPr lang="en-US" altLang="ja-JP" b="1" dirty="0"/>
              <a:t>Picard–Lindelöf </a:t>
            </a:r>
            <a:r>
              <a:rPr lang="ja-JP" altLang="en-US" b="1" dirty="0"/>
              <a:t>定理</a:t>
            </a:r>
            <a:endParaRPr lang="en-US" altLang="ja-JP"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7FFABA9B-D131-094C-40A6-7085D50B32E2}"/>
                  </a:ext>
                </a:extLst>
              </p:cNvPr>
              <p:cNvSpPr>
                <a:spLocks noGrp="1"/>
              </p:cNvSpPr>
              <p:nvPr>
                <p:ph idx="1"/>
              </p:nvPr>
            </p:nvSpPr>
            <p:spPr>
              <a:xfrm>
                <a:off x="508000" y="1112520"/>
                <a:ext cx="11379200" cy="5440680"/>
              </a:xfrm>
            </p:spPr>
            <p:txBody>
              <a:bodyPr/>
              <a:lstStyle/>
              <a:p>
                <a:pPr>
                  <a:lnSpc>
                    <a:spcPct val="120000"/>
                  </a:lnSpc>
                </a:pPr>
                <a:r>
                  <a:rPr lang="ja-JP" altLang="en-US" dirty="0"/>
                  <a:t>设 </a:t>
                </a:r>
                <a14:m>
                  <m:oMath xmlns:m="http://schemas.openxmlformats.org/officeDocument/2006/math">
                    <m:r>
                      <a:rPr lang="ja-JP" altLang="en-US" i="1"/>
                      <m:t>𝑓</m:t>
                    </m:r>
                    <m:d>
                      <m:dPr>
                        <m:sepChr m:val=","/>
                        <m:ctrlPr>
                          <a:rPr lang="ar-AE" altLang="ja-JP" i="1"/>
                        </m:ctrlPr>
                      </m:dPr>
                      <m:e>
                        <m:r>
                          <a:rPr lang="ja-JP" altLang="ar-AE" i="1"/>
                          <m:t>𝑡</m:t>
                        </m:r>
                      </m:e>
                      <m:e>
                        <m:r>
                          <a:rPr lang="ja-JP" altLang="ar-AE" i="1"/>
                          <m:t>𝑥</m:t>
                        </m:r>
                      </m:e>
                    </m:d>
                  </m:oMath>
                </a14:m>
                <a:r>
                  <a:rPr lang="ja-JP" altLang="en-US" dirty="0"/>
                  <a:t>在矩形区域</a:t>
                </a:r>
                <a14:m>
                  <m:oMath xmlns:m="http://schemas.openxmlformats.org/officeDocument/2006/math">
                    <m:r>
                      <a:rPr lang="ja-JP" altLang="en-US" i="1"/>
                      <m:t>𝑅</m:t>
                    </m:r>
                    <m:r>
                      <a:rPr lang="en-US" altLang="ja-JP"/>
                      <m:t>=</m:t>
                    </m:r>
                    <m:r>
                      <a:rPr lang="ar-AE" altLang="ja-JP" i="1" smtClean="0"/>
                      <m:t> </m:t>
                    </m:r>
                    <m:r>
                      <a:rPr lang="en-US" altLang="ja-JP" b="0" i="1" smtClean="0">
                        <a:latin typeface="Cambria Math" panose="02040503050406030204" pitchFamily="18" charset="0"/>
                      </a:rPr>
                      <m:t>{</m:t>
                    </m:r>
                    <m:d>
                      <m:dPr>
                        <m:sepChr m:val=","/>
                        <m:ctrlPr>
                          <a:rPr lang="ar-AE" altLang="ja-JP" i="1">
                            <a:latin typeface="Cambria Math" panose="02040503050406030204" pitchFamily="18" charset="0"/>
                          </a:rPr>
                        </m:ctrlPr>
                      </m:dPr>
                      <m:e>
                        <m:r>
                          <a:rPr lang="ja-JP" altLang="ar-AE" i="1">
                            <a:latin typeface="Cambria Math" panose="02040503050406030204" pitchFamily="18" charset="0"/>
                          </a:rPr>
                          <m:t>𝑡</m:t>
                        </m:r>
                      </m:e>
                      <m:e>
                        <m:r>
                          <a:rPr lang="ja-JP" altLang="ar-AE" i="1">
                            <a:latin typeface="Cambria Math" panose="02040503050406030204" pitchFamily="18" charset="0"/>
                          </a:rPr>
                          <m:t>𝑥</m:t>
                        </m:r>
                      </m:e>
                    </m:d>
                    <m:r>
                      <a:rPr lang="ar-AE" altLang="ja-JP">
                        <a:latin typeface="Cambria Math" panose="02040503050406030204" pitchFamily="18" charset="0"/>
                      </a:rPr>
                      <m:t>:∣</m:t>
                    </m:r>
                    <m:r>
                      <a:rPr lang="ja-JP" altLang="ar-AE" i="1">
                        <a:latin typeface="Cambria Math" panose="02040503050406030204" pitchFamily="18" charset="0"/>
                      </a:rPr>
                      <m:t>𝑡</m:t>
                    </m:r>
                    <m:r>
                      <a:rPr lang="ar-AE" altLang="ja-JP">
                        <a:latin typeface="Cambria Math" panose="02040503050406030204" pitchFamily="18" charset="0"/>
                      </a:rPr>
                      <m:t>−</m:t>
                    </m:r>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ar-AE" altLang="ja-JP">
                        <a:latin typeface="Cambria Math" panose="02040503050406030204" pitchFamily="18" charset="0"/>
                      </a:rPr>
                      <m:t>∣≤</m:t>
                    </m:r>
                    <m:r>
                      <a:rPr lang="ja-JP" altLang="ar-AE" i="1">
                        <a:latin typeface="Cambria Math" panose="02040503050406030204" pitchFamily="18" charset="0"/>
                      </a:rPr>
                      <m:t>𝑎</m:t>
                    </m:r>
                    <m:r>
                      <a:rPr lang="en-US" altLang="ja-JP" b="0" i="1" smtClean="0">
                        <a:latin typeface="Cambria Math" panose="02040503050406030204" pitchFamily="18" charset="0"/>
                      </a:rPr>
                      <m:t>,</m:t>
                    </m:r>
                    <m:r>
                      <a:rPr lang="ar-AE" altLang="ja-JP">
                        <a:latin typeface="Cambria Math" panose="02040503050406030204" pitchFamily="18" charset="0"/>
                      </a:rPr>
                      <m:t>∥</m:t>
                    </m:r>
                    <m:r>
                      <a:rPr lang="ja-JP" altLang="ar-AE" i="1">
                        <a:latin typeface="Cambria Math" panose="02040503050406030204" pitchFamily="18" charset="0"/>
                      </a:rPr>
                      <m:t>𝑥</m:t>
                    </m:r>
                    <m:r>
                      <a:rPr lang="ar-AE" altLang="ja-JP">
                        <a:latin typeface="Cambria Math" panose="02040503050406030204" pitchFamily="18" charset="0"/>
                      </a:rPr>
                      <m:t>−</m:t>
                    </m:r>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ar-AE" altLang="ja-JP">
                            <a:latin typeface="Cambria Math" panose="02040503050406030204" pitchFamily="18" charset="0"/>
                          </a:rPr>
                          <m:t>0</m:t>
                        </m:r>
                      </m:sub>
                    </m:sSub>
                    <m:r>
                      <a:rPr lang="ar-AE" altLang="ja-JP">
                        <a:latin typeface="Cambria Math" panose="02040503050406030204" pitchFamily="18" charset="0"/>
                      </a:rPr>
                      <m:t>∥≤</m:t>
                    </m:r>
                    <m:r>
                      <a:rPr lang="ja-JP" altLang="ar-AE" i="1">
                        <a:latin typeface="Cambria Math" panose="02040503050406030204" pitchFamily="18" charset="0"/>
                      </a:rPr>
                      <m:t>𝑏</m:t>
                    </m:r>
                    <m:r>
                      <a:rPr lang="en-US" altLang="ja-JP" b="0" i="1" smtClean="0">
                        <a:latin typeface="Cambria Math" panose="02040503050406030204" pitchFamily="18" charset="0"/>
                      </a:rPr>
                      <m:t>}</m:t>
                    </m:r>
                  </m:oMath>
                </a14:m>
                <a:r>
                  <a:rPr lang="ja-JP" altLang="en-US" dirty="0"/>
                  <a:t>上连续，并且关于 </a:t>
                </a:r>
                <a14:m>
                  <m:oMath xmlns:m="http://schemas.openxmlformats.org/officeDocument/2006/math">
                    <m:r>
                      <a:rPr lang="ja-JP" altLang="en-US" i="1"/>
                      <m:t>𝑥</m:t>
                    </m:r>
                  </m:oMath>
                </a14:m>
                <a:r>
                  <a:rPr lang="ja-JP" altLang="en-US" dirty="0"/>
                  <a:t>满足 </a:t>
                </a:r>
                <a:r>
                  <a:rPr lang="en-US" altLang="ja-JP" dirty="0"/>
                  <a:t>Lipschitz </a:t>
                </a:r>
                <a:r>
                  <a:rPr lang="ja-JP" altLang="en-US" dirty="0"/>
                  <a:t>条件，即存在常数 </a:t>
                </a:r>
                <a14:m>
                  <m:oMath xmlns:m="http://schemas.openxmlformats.org/officeDocument/2006/math">
                    <m:r>
                      <a:rPr lang="ja-JP" altLang="en-US" i="1"/>
                      <m:t>𝐿</m:t>
                    </m:r>
                    <m:r>
                      <a:rPr lang="en-US" altLang="ja-JP"/>
                      <m:t>&gt;</m:t>
                    </m:r>
                    <m:r>
                      <a:rPr lang="en-US" altLang="ja-JP"/>
                      <m:t>0</m:t>
                    </m:r>
                  </m:oMath>
                </a14:m>
                <a:r>
                  <a:rPr lang="ja-JP" altLang="en-US" dirty="0"/>
                  <a:t>，使得对任意 </a:t>
                </a:r>
                <a14:m>
                  <m:oMath xmlns:m="http://schemas.openxmlformats.org/officeDocument/2006/math">
                    <m:d>
                      <m:dPr>
                        <m:sepChr m:val=","/>
                        <m:ctrlPr>
                          <a:rPr lang="ar-AE" altLang="ja-JP"/>
                        </m:ctrlPr>
                      </m:dPr>
                      <m:e>
                        <m:r>
                          <a:rPr lang="ja-JP" altLang="ar-AE" i="1"/>
                          <m:t>𝑡</m:t>
                        </m:r>
                      </m:e>
                      <m:e>
                        <m:r>
                          <a:rPr lang="ja-JP" altLang="ar-AE" i="1"/>
                          <m:t>𝑥</m:t>
                        </m:r>
                      </m:e>
                    </m:d>
                    <m:r>
                      <a:rPr lang="ar-AE" altLang="ja-JP"/>
                      <m:t>,</m:t>
                    </m:r>
                    <m:d>
                      <m:dPr>
                        <m:sepChr m:val=","/>
                        <m:ctrlPr>
                          <a:rPr lang="ar-AE" altLang="ja-JP" i="1"/>
                        </m:ctrlPr>
                      </m:dPr>
                      <m:e>
                        <m:r>
                          <a:rPr lang="ja-JP" altLang="ar-AE" i="1"/>
                          <m:t>𝑡</m:t>
                        </m:r>
                      </m:e>
                      <m:e>
                        <m:r>
                          <a:rPr lang="ja-JP" altLang="ar-AE" i="1"/>
                          <m:t>𝑦</m:t>
                        </m:r>
                      </m:e>
                    </m:d>
                    <m:r>
                      <a:rPr lang="ar-AE" altLang="ja-JP"/>
                      <m:t>∈</m:t>
                    </m:r>
                    <m:r>
                      <a:rPr lang="ja-JP" altLang="ar-AE" i="1"/>
                      <m:t>𝑅</m:t>
                    </m:r>
                  </m:oMath>
                </a14:m>
                <a:r>
                  <a:rPr lang="ja-JP" altLang="ar-AE" dirty="0"/>
                  <a:t>，</a:t>
                </a:r>
                <a:r>
                  <a:rPr lang="ja-JP" altLang="en-US" dirty="0"/>
                  <a:t>有</a:t>
                </a:r>
                <a14:m>
                  <m:oMath xmlns:m="http://schemas.openxmlformats.org/officeDocument/2006/math">
                    <m:r>
                      <a:rPr lang="ja-JP" altLang="en-US"/>
                      <m:t>∥</m:t>
                    </m:r>
                    <m:r>
                      <a:rPr lang="ja-JP" altLang="en-US" i="1"/>
                      <m:t>𝑓</m:t>
                    </m:r>
                    <m:d>
                      <m:dPr>
                        <m:sepChr m:val=","/>
                        <m:ctrlPr>
                          <a:rPr lang="ar-AE" altLang="ja-JP" i="1"/>
                        </m:ctrlPr>
                      </m:dPr>
                      <m:e>
                        <m:r>
                          <a:rPr lang="ja-JP" altLang="ar-AE" i="1"/>
                          <m:t>𝑡</m:t>
                        </m:r>
                      </m:e>
                      <m:e>
                        <m:r>
                          <a:rPr lang="ja-JP" altLang="ar-AE" i="1"/>
                          <m:t>𝑥</m:t>
                        </m:r>
                      </m:e>
                    </m:d>
                    <m:r>
                      <a:rPr lang="ar-AE" altLang="ja-JP"/>
                      <m:t>−</m:t>
                    </m:r>
                    <m:r>
                      <a:rPr lang="ja-JP" altLang="ar-AE" i="1"/>
                      <m:t>𝑓</m:t>
                    </m:r>
                    <m:d>
                      <m:dPr>
                        <m:sepChr m:val=","/>
                        <m:ctrlPr>
                          <a:rPr lang="ar-AE" altLang="ja-JP" i="1"/>
                        </m:ctrlPr>
                      </m:dPr>
                      <m:e>
                        <m:r>
                          <a:rPr lang="ja-JP" altLang="ar-AE" i="1"/>
                          <m:t>𝑡</m:t>
                        </m:r>
                      </m:e>
                      <m:e>
                        <m:r>
                          <a:rPr lang="ja-JP" altLang="ar-AE" i="1"/>
                          <m:t>𝑦</m:t>
                        </m:r>
                      </m:e>
                    </m:d>
                    <m:r>
                      <a:rPr lang="ar-AE" altLang="ja-JP"/>
                      <m:t>∥≤</m:t>
                    </m:r>
                    <m:r>
                      <a:rPr lang="ja-JP" altLang="ar-AE" i="1"/>
                      <m:t>𝐿</m:t>
                    </m:r>
                    <m:r>
                      <a:rPr lang="ar-AE" altLang="ja-JP"/>
                      <m:t>∥</m:t>
                    </m:r>
                    <m:r>
                      <a:rPr lang="ja-JP" altLang="ar-AE" i="1"/>
                      <m:t>𝑥</m:t>
                    </m:r>
                    <m:r>
                      <a:rPr lang="ar-AE" altLang="ja-JP"/>
                      <m:t>−</m:t>
                    </m:r>
                    <m:r>
                      <a:rPr lang="ja-JP" altLang="ar-AE" i="1"/>
                      <m:t>𝑦</m:t>
                    </m:r>
                    <m:r>
                      <a:rPr lang="ar-AE" altLang="ja-JP"/>
                      <m:t>∥</m:t>
                    </m:r>
                  </m:oMath>
                </a14:m>
                <a:r>
                  <a:rPr lang="zh-CN" altLang="en-US" dirty="0"/>
                  <a:t>。</a:t>
                </a:r>
                <a:r>
                  <a:rPr lang="ja-JP" altLang="en-US" dirty="0"/>
                  <a:t>那么初值问题 </a:t>
                </a:r>
                <a14:m>
                  <m:oMath xmlns:m="http://schemas.openxmlformats.org/officeDocument/2006/math">
                    <m:sSup>
                      <m:sSupPr>
                        <m:ctrlPr>
                          <a:rPr lang="ar-AE" altLang="ja-JP"/>
                        </m:ctrlPr>
                      </m:sSupPr>
                      <m:e>
                        <m:r>
                          <a:rPr lang="ja-JP" altLang="ar-AE" i="1"/>
                          <m:t>𝑥</m:t>
                        </m:r>
                      </m:e>
                      <m:sup>
                        <m:r>
                          <a:rPr lang="ar-AE" altLang="ja-JP"/>
                          <m:t>′</m:t>
                        </m:r>
                      </m:sup>
                    </m:sSup>
                    <m:d>
                      <m:dPr>
                        <m:ctrlPr>
                          <a:rPr lang="ar-AE" altLang="ja-JP" i="1"/>
                        </m:ctrlPr>
                      </m:dPr>
                      <m:e>
                        <m:r>
                          <a:rPr lang="ja-JP" altLang="ar-AE" i="1"/>
                          <m:t>𝑡</m:t>
                        </m:r>
                      </m:e>
                    </m:d>
                    <m:r>
                      <a:rPr lang="ar-AE" altLang="ja-JP"/>
                      <m:t>=</m:t>
                    </m:r>
                    <m:r>
                      <a:rPr lang="ja-JP" altLang="ar-AE" i="1"/>
                      <m:t>𝑓</m:t>
                    </m:r>
                    <m:d>
                      <m:dPr>
                        <m:sepChr m:val=","/>
                        <m:ctrlPr>
                          <a:rPr lang="ar-AE" altLang="ja-JP" i="1"/>
                        </m:ctrlPr>
                      </m:dPr>
                      <m:e>
                        <m:r>
                          <a:rPr lang="ja-JP" altLang="ar-AE" i="1"/>
                          <m:t>𝑡</m:t>
                        </m:r>
                      </m:e>
                      <m:e>
                        <m:r>
                          <a:rPr lang="ja-JP" altLang="ar-AE" i="1"/>
                          <m:t>𝑥</m:t>
                        </m:r>
                        <m:d>
                          <m:dPr>
                            <m:ctrlPr>
                              <a:rPr lang="ar-AE" altLang="ja-JP" i="1"/>
                            </m:ctrlPr>
                          </m:dPr>
                          <m:e>
                            <m:r>
                              <a:rPr lang="ja-JP" altLang="ar-AE" i="1"/>
                              <m:t>𝑡</m:t>
                            </m:r>
                          </m:e>
                        </m:d>
                      </m:e>
                    </m:d>
                    <m:r>
                      <a:rPr lang="ar-AE" altLang="ja-JP"/>
                      <m:t>, </m:t>
                    </m:r>
                    <m:r>
                      <a:rPr lang="ja-JP" altLang="ar-AE" i="1"/>
                      <m:t>𝑥</m:t>
                    </m:r>
                    <m:d>
                      <m:dPr>
                        <m:ctrlPr>
                          <a:rPr lang="ar-AE" altLang="ja-JP" i="1"/>
                        </m:ctrlPr>
                      </m:dPr>
                      <m:e>
                        <m:sSub>
                          <m:sSubPr>
                            <m:ctrlPr>
                              <a:rPr lang="ar-AE" altLang="ja-JP" i="1"/>
                            </m:ctrlPr>
                          </m:sSubPr>
                          <m:e>
                            <m:r>
                              <a:rPr lang="ja-JP" altLang="ar-AE" i="1"/>
                              <m:t>𝑡</m:t>
                            </m:r>
                          </m:e>
                          <m:sub>
                            <m:r>
                              <a:rPr lang="ar-AE" altLang="ja-JP"/>
                              <m:t>0</m:t>
                            </m:r>
                          </m:sub>
                        </m:sSub>
                      </m:e>
                    </m:d>
                    <m:r>
                      <a:rPr lang="ar-AE" altLang="ja-JP"/>
                      <m:t>=</m:t>
                    </m:r>
                    <m:sSub>
                      <m:sSubPr>
                        <m:ctrlPr>
                          <a:rPr lang="ar-AE" altLang="ja-JP" i="1"/>
                        </m:ctrlPr>
                      </m:sSubPr>
                      <m:e>
                        <m:r>
                          <a:rPr lang="ja-JP" altLang="ar-AE" i="1"/>
                          <m:t>𝑥</m:t>
                        </m:r>
                      </m:e>
                      <m:sub>
                        <m:r>
                          <a:rPr lang="ar-AE" altLang="ja-JP"/>
                          <m:t>0</m:t>
                        </m:r>
                      </m:sub>
                    </m:sSub>
                  </m:oMath>
                </a14:m>
                <a:r>
                  <a:rPr lang="ja-JP" altLang="en-US" dirty="0"/>
                  <a:t> 在 </a:t>
                </a:r>
                <a14:m>
                  <m:oMath xmlns:m="http://schemas.openxmlformats.org/officeDocument/2006/math">
                    <m:sSub>
                      <m:sSubPr>
                        <m:ctrlPr>
                          <a:rPr lang="ar-AE" altLang="ja-JP"/>
                        </m:ctrlPr>
                      </m:sSubPr>
                      <m:e>
                        <m:r>
                          <a:rPr lang="ja-JP" altLang="ar-AE" i="1"/>
                          <m:t>𝑡</m:t>
                        </m:r>
                      </m:e>
                      <m:sub>
                        <m:r>
                          <a:rPr lang="ar-AE" altLang="ja-JP"/>
                          <m:t>0</m:t>
                        </m:r>
                      </m:sub>
                    </m:sSub>
                  </m:oMath>
                </a14:m>
                <a:r>
                  <a:rPr lang="ja-JP" altLang="en-US" dirty="0"/>
                  <a:t>附近存在唯一解。</a:t>
                </a:r>
                <a:endParaRPr lang="en-US" altLang="ja-JP" dirty="0"/>
              </a:p>
              <a:p>
                <a:pPr>
                  <a:lnSpc>
                    <a:spcPct val="120000"/>
                  </a:lnSpc>
                </a:pPr>
                <a:r>
                  <a:rPr lang="ja-JP" altLang="en-US" dirty="0"/>
                  <a:t>更具体地说，存在一个足够小的区间</a:t>
                </a:r>
                <a14:m>
                  <m:oMath xmlns:m="http://schemas.openxmlformats.org/officeDocument/2006/math">
                    <m:r>
                      <a:rPr lang="ar-AE" altLang="ja-JP" i="1" smtClean="0"/>
                      <m:t> </m:t>
                    </m:r>
                  </m:oMath>
                </a14:m>
                <a:r>
                  <a:rPr lang="en-US" altLang="zh-CN" dirty="0"/>
                  <a:t>[</a:t>
                </a:r>
                <a14:m>
                  <m:oMath xmlns:m="http://schemas.openxmlformats.org/officeDocument/2006/math">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en-US" altLang="ja-JP" b="0" i="1" smtClean="0">
                        <a:latin typeface="Cambria Math" panose="02040503050406030204" pitchFamily="18" charset="0"/>
                      </a:rPr>
                      <m:t>- </m:t>
                    </m:r>
                    <m:r>
                      <a:rPr lang="en-US" altLang="ja-JP" b="0" i="1" smtClean="0">
                        <a:latin typeface="Cambria Math" panose="02040503050406030204" pitchFamily="18" charset="0"/>
                      </a:rPr>
                      <m:t>h</m:t>
                    </m:r>
                    <m:r>
                      <a:rPr lang="en-US" altLang="ja-JP" b="0" i="1" smtClean="0">
                        <a:latin typeface="Cambria Math" panose="02040503050406030204" pitchFamily="18" charset="0"/>
                      </a:rPr>
                      <m:t> ,</m:t>
                    </m:r>
                  </m:oMath>
                </a14:m>
                <a:r>
                  <a:rPr lang="ar-AE" altLang="ja-JP" dirty="0"/>
                  <a:t> </a:t>
                </a:r>
                <a14:m>
                  <m:oMath xmlns:m="http://schemas.openxmlformats.org/officeDocument/2006/math">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ar-AE" altLang="ja-JP">
                        <a:latin typeface="Cambria Math" panose="02040503050406030204" pitchFamily="18" charset="0"/>
                      </a:rPr>
                      <m:t>+</m:t>
                    </m:r>
                    <m:r>
                      <a:rPr lang="ar-AE" altLang="ja-JP" i="1">
                        <a:latin typeface="Cambria Math" panose="02040503050406030204" pitchFamily="18" charset="0"/>
                      </a:rPr>
                      <m:t>h</m:t>
                    </m:r>
                  </m:oMath>
                </a14:m>
                <a:r>
                  <a:rPr lang="en-US" altLang="zh-CN" dirty="0"/>
                  <a:t>]</a:t>
                </a:r>
                <a:r>
                  <a:rPr lang="zh-CN" altLang="en-US" dirty="0"/>
                  <a:t>，</a:t>
                </a:r>
                <a:r>
                  <a:rPr lang="ja-JP" altLang="en-US" dirty="0"/>
                  <a:t>使得在这个区间上存在唯一的函数 </a:t>
                </a:r>
                <a14:m>
                  <m:oMath xmlns:m="http://schemas.openxmlformats.org/officeDocument/2006/math">
                    <m:r>
                      <a:rPr lang="ja-JP" altLang="en-US" i="1"/>
                      <m:t>𝑥</m:t>
                    </m:r>
                    <m:d>
                      <m:dPr>
                        <m:ctrlPr>
                          <a:rPr lang="ar-AE" altLang="ja-JP" i="1"/>
                        </m:ctrlPr>
                      </m:dPr>
                      <m:e>
                        <m:r>
                          <a:rPr lang="ja-JP" altLang="ar-AE" i="1"/>
                          <m:t>𝑡</m:t>
                        </m:r>
                      </m:e>
                    </m:d>
                  </m:oMath>
                </a14:m>
                <a:r>
                  <a:rPr lang="ja-JP" altLang="ar-AE" dirty="0"/>
                  <a:t>，</a:t>
                </a:r>
                <a:r>
                  <a:rPr lang="ja-JP" altLang="en-US" dirty="0"/>
                  <a:t>满足：</a:t>
                </a:r>
                <a14:m>
                  <m:oMath xmlns:m="http://schemas.openxmlformats.org/officeDocument/2006/math">
                    <m:sSup>
                      <m:sSupPr>
                        <m:ctrlPr>
                          <a:rPr lang="ar-AE" altLang="ja-JP"/>
                        </m:ctrlPr>
                      </m:sSupPr>
                      <m:e>
                        <m:r>
                          <a:rPr lang="ja-JP" altLang="ar-AE" i="1"/>
                          <m:t>𝑥</m:t>
                        </m:r>
                      </m:e>
                      <m:sup>
                        <m:r>
                          <a:rPr lang="ar-AE" altLang="ja-JP"/>
                          <m:t>′</m:t>
                        </m:r>
                      </m:sup>
                    </m:sSup>
                    <m:d>
                      <m:dPr>
                        <m:ctrlPr>
                          <a:rPr lang="ar-AE" altLang="ja-JP" i="1"/>
                        </m:ctrlPr>
                      </m:dPr>
                      <m:e>
                        <m:r>
                          <a:rPr lang="ja-JP" altLang="ar-AE" i="1"/>
                          <m:t>𝑡</m:t>
                        </m:r>
                      </m:e>
                    </m:d>
                    <m:r>
                      <a:rPr lang="ar-AE" altLang="ja-JP"/>
                      <m:t>=</m:t>
                    </m:r>
                    <m:r>
                      <a:rPr lang="ja-JP" altLang="ar-AE" i="1"/>
                      <m:t>𝑓</m:t>
                    </m:r>
                    <m:d>
                      <m:dPr>
                        <m:sepChr m:val=","/>
                        <m:ctrlPr>
                          <a:rPr lang="ar-AE" altLang="ja-JP" i="1"/>
                        </m:ctrlPr>
                      </m:dPr>
                      <m:e>
                        <m:r>
                          <a:rPr lang="ja-JP" altLang="ar-AE" i="1"/>
                          <m:t>𝑡</m:t>
                        </m:r>
                      </m:e>
                      <m:e>
                        <m:r>
                          <a:rPr lang="ja-JP" altLang="ar-AE" i="1"/>
                          <m:t>𝑥</m:t>
                        </m:r>
                        <m:d>
                          <m:dPr>
                            <m:ctrlPr>
                              <a:rPr lang="ar-AE" altLang="ja-JP" i="1"/>
                            </m:ctrlPr>
                          </m:dPr>
                          <m:e>
                            <m:r>
                              <a:rPr lang="ja-JP" altLang="ar-AE" i="1"/>
                              <m:t>𝑡</m:t>
                            </m:r>
                          </m:e>
                        </m:d>
                      </m:e>
                    </m:d>
                    <m:r>
                      <a:rPr lang="ar-AE" altLang="ja-JP"/>
                      <m:t>, </m:t>
                    </m:r>
                    <m:r>
                      <a:rPr lang="ja-JP" altLang="ar-AE" i="1"/>
                      <m:t>𝑥</m:t>
                    </m:r>
                    <m:d>
                      <m:dPr>
                        <m:ctrlPr>
                          <a:rPr lang="ar-AE" altLang="ja-JP" i="1"/>
                        </m:ctrlPr>
                      </m:dPr>
                      <m:e>
                        <m:sSub>
                          <m:sSubPr>
                            <m:ctrlPr>
                              <a:rPr lang="ar-AE" altLang="ja-JP" i="1"/>
                            </m:ctrlPr>
                          </m:sSubPr>
                          <m:e>
                            <m:r>
                              <a:rPr lang="ja-JP" altLang="ar-AE" i="1"/>
                              <m:t>𝑡</m:t>
                            </m:r>
                          </m:e>
                          <m:sub>
                            <m:r>
                              <a:rPr lang="ar-AE" altLang="ja-JP"/>
                              <m:t>0</m:t>
                            </m:r>
                          </m:sub>
                        </m:sSub>
                      </m:e>
                    </m:d>
                    <m:r>
                      <a:rPr lang="ar-AE" altLang="ja-JP"/>
                      <m:t>=</m:t>
                    </m:r>
                    <m:sSub>
                      <m:sSubPr>
                        <m:ctrlPr>
                          <a:rPr lang="ar-AE" altLang="ja-JP" i="1"/>
                        </m:ctrlPr>
                      </m:sSubPr>
                      <m:e>
                        <m:r>
                          <a:rPr lang="ja-JP" altLang="ar-AE" i="1"/>
                          <m:t>𝑥</m:t>
                        </m:r>
                      </m:e>
                      <m:sub>
                        <m:r>
                          <a:rPr lang="ar-AE" altLang="ja-JP"/>
                          <m:t>0</m:t>
                        </m:r>
                      </m:sub>
                    </m:sSub>
                    <m:r>
                      <a:rPr lang="ar-AE" altLang="ja-JP"/>
                      <m:t>.</m:t>
                    </m:r>
                  </m:oMath>
                </a14:m>
                <a:r>
                  <a:rPr lang="ja-JP" altLang="en-US" dirty="0"/>
                  <a:t> 这就是 </a:t>
                </a:r>
                <a:r>
                  <a:rPr lang="en-US" altLang="ja-JP" dirty="0"/>
                  <a:t>Picard–Lindelöf </a:t>
                </a:r>
                <a:r>
                  <a:rPr lang="ja-JP" altLang="en-US" dirty="0"/>
                  <a:t>定理的核心结论。</a:t>
                </a:r>
                <a:endParaRPr lang="en-US" altLang="ja-JP" dirty="0"/>
              </a:p>
              <a:p>
                <a:pPr>
                  <a:lnSpc>
                    <a:spcPct val="120000"/>
                  </a:lnSpc>
                </a:pPr>
                <a:endParaRPr lang="en-US" altLang="zh-CN" sz="700" dirty="0"/>
              </a:p>
              <a:p>
                <a:pPr marL="0" indent="0">
                  <a:lnSpc>
                    <a:spcPct val="120000"/>
                  </a:lnSpc>
                  <a:buNone/>
                </a:pPr>
                <a:r>
                  <a:rPr lang="zh-CN" altLang="en-US" b="1" dirty="0">
                    <a:solidFill>
                      <a:srgbClr val="7030A0"/>
                    </a:solidFill>
                  </a:rPr>
                  <a:t>条件一：</a:t>
                </a:r>
                <a14:m>
                  <m:oMath xmlns:m="http://schemas.openxmlformats.org/officeDocument/2006/math">
                    <m:r>
                      <a:rPr lang="zh-CN" altLang="en-US" i="1">
                        <a:solidFill>
                          <a:srgbClr val="7030A0"/>
                        </a:solidFill>
                      </a:rPr>
                      <m:t>𝑓</m:t>
                    </m:r>
                    <m:d>
                      <m:dPr>
                        <m:sepChr m:val=","/>
                        <m:ctrlPr>
                          <a:rPr lang="zh-CN" altLang="en-US" i="1">
                            <a:solidFill>
                              <a:srgbClr val="7030A0"/>
                            </a:solidFill>
                          </a:rPr>
                        </m:ctrlPr>
                      </m:dPr>
                      <m:e>
                        <m:r>
                          <a:rPr lang="zh-CN" altLang="en-US" i="1">
                            <a:solidFill>
                              <a:srgbClr val="7030A0"/>
                            </a:solidFill>
                          </a:rPr>
                          <m:t>𝑡</m:t>
                        </m:r>
                      </m:e>
                      <m:e>
                        <m:r>
                          <a:rPr lang="zh-CN" altLang="en-US" i="1">
                            <a:solidFill>
                              <a:srgbClr val="7030A0"/>
                            </a:solidFill>
                          </a:rPr>
                          <m:t>𝑥</m:t>
                        </m:r>
                      </m:e>
                    </m:d>
                  </m:oMath>
                </a14:m>
                <a:r>
                  <a:rPr lang="zh-CN" altLang="en-US" b="1" dirty="0">
                    <a:solidFill>
                      <a:srgbClr val="7030A0"/>
                    </a:solidFill>
                  </a:rPr>
                  <a:t> 连续</a:t>
                </a:r>
                <a:r>
                  <a:rPr lang="zh-CN" altLang="en-US" b="1" dirty="0"/>
                  <a:t>：</a:t>
                </a:r>
                <a:r>
                  <a:rPr lang="zh-CN" altLang="en-US" dirty="0"/>
                  <a:t>连续性保证积分表达式是有意义的，也保证根据速度场可以构造出候选轨迹</a:t>
                </a:r>
              </a:p>
              <a:p>
                <a:pPr marL="0" indent="0">
                  <a:lnSpc>
                    <a:spcPct val="120000"/>
                  </a:lnSpc>
                  <a:buNone/>
                </a:pPr>
                <a:r>
                  <a:rPr lang="zh-CN" altLang="en-US" dirty="0"/>
                  <a:t> </a:t>
                </a:r>
                <a14:m>
                  <m:oMath xmlns:m="http://schemas.openxmlformats.org/officeDocument/2006/math">
                    <m:r>
                      <a:rPr lang="zh-CN" altLang="en-US" i="1"/>
                      <m:t>𝑓</m:t>
                    </m:r>
                    <m:d>
                      <m:dPr>
                        <m:sepChr m:val=","/>
                        <m:ctrlPr>
                          <a:rPr lang="zh-CN" altLang="en-US" i="1"/>
                        </m:ctrlPr>
                      </m:dPr>
                      <m:e>
                        <m:r>
                          <a:rPr lang="zh-CN" altLang="en-US" i="1"/>
                          <m:t>𝑡</m:t>
                        </m:r>
                      </m:e>
                      <m:e>
                        <m:r>
                          <a:rPr lang="zh-CN" altLang="en-US" i="1"/>
                          <m:t>𝑥</m:t>
                        </m:r>
                      </m:e>
                    </m:d>
                  </m:oMath>
                </a14:m>
                <a:r>
                  <a:rPr lang="zh-CN" altLang="en-US" dirty="0"/>
                  <a:t>不能突然跳变得太离谱，否则很难保证解存在。如果 </a:t>
                </a:r>
                <a14:m>
                  <m:oMath xmlns:m="http://schemas.openxmlformats.org/officeDocument/2006/math">
                    <m:r>
                      <a:rPr lang="zh-CN" altLang="en-US" i="1"/>
                      <m:t>𝑓</m:t>
                    </m:r>
                  </m:oMath>
                </a14:m>
                <a:r>
                  <a:rPr lang="zh-CN" altLang="en-US" dirty="0"/>
                  <a:t>连续，通常可以保证解至少存在。</a:t>
                </a:r>
                <a:endParaRPr lang="en-US" altLang="zh-CN" dirty="0"/>
              </a:p>
              <a:p>
                <a:pPr marL="0" indent="0">
                  <a:lnSpc>
                    <a:spcPct val="120000"/>
                  </a:lnSpc>
                  <a:buNone/>
                </a:pPr>
                <a:r>
                  <a:rPr lang="zh-CN" altLang="en-US" b="1" dirty="0">
                    <a:solidFill>
                      <a:srgbClr val="7030A0"/>
                    </a:solidFill>
                  </a:rPr>
                  <a:t>条件二：</a:t>
                </a:r>
                <a14:m>
                  <m:oMath xmlns:m="http://schemas.openxmlformats.org/officeDocument/2006/math">
                    <m:r>
                      <a:rPr lang="zh-CN" altLang="en-US" i="1">
                        <a:solidFill>
                          <a:srgbClr val="7030A0"/>
                        </a:solidFill>
                      </a:rPr>
                      <m:t>𝑓</m:t>
                    </m:r>
                    <m:d>
                      <m:dPr>
                        <m:sepChr m:val=","/>
                        <m:ctrlPr>
                          <a:rPr lang="zh-CN" altLang="en-US" i="1">
                            <a:solidFill>
                              <a:srgbClr val="7030A0"/>
                            </a:solidFill>
                          </a:rPr>
                        </m:ctrlPr>
                      </m:dPr>
                      <m:e>
                        <m:r>
                          <a:rPr lang="zh-CN" altLang="en-US" i="1">
                            <a:solidFill>
                              <a:srgbClr val="7030A0"/>
                            </a:solidFill>
                          </a:rPr>
                          <m:t>𝑡</m:t>
                        </m:r>
                      </m:e>
                      <m:e>
                        <m:r>
                          <a:rPr lang="zh-CN" altLang="en-US" i="1">
                            <a:solidFill>
                              <a:srgbClr val="7030A0"/>
                            </a:solidFill>
                          </a:rPr>
                          <m:t>𝑥</m:t>
                        </m:r>
                      </m:e>
                    </m:d>
                  </m:oMath>
                </a14:m>
                <a:r>
                  <a:rPr lang="zh-CN" altLang="en-US" b="1" dirty="0">
                    <a:solidFill>
                      <a:srgbClr val="7030A0"/>
                    </a:solidFill>
                  </a:rPr>
                  <a:t> 对 </a:t>
                </a:r>
                <a14:m>
                  <m:oMath xmlns:m="http://schemas.openxmlformats.org/officeDocument/2006/math">
                    <m:r>
                      <a:rPr lang="zh-CN" altLang="en-US" i="1">
                        <a:solidFill>
                          <a:srgbClr val="7030A0"/>
                        </a:solidFill>
                      </a:rPr>
                      <m:t>𝑥</m:t>
                    </m:r>
                  </m:oMath>
                </a14:m>
                <a:r>
                  <a:rPr lang="zh-CN" altLang="en-US" b="1" dirty="0">
                    <a:solidFill>
                      <a:srgbClr val="7030A0"/>
                    </a:solidFill>
                  </a:rPr>
                  <a:t>满足 </a:t>
                </a:r>
                <a:r>
                  <a:rPr lang="en-US" altLang="zh-CN" b="1" dirty="0">
                    <a:solidFill>
                      <a:srgbClr val="7030A0"/>
                    </a:solidFill>
                  </a:rPr>
                  <a:t>Lipschitz </a:t>
                </a:r>
                <a:r>
                  <a:rPr lang="zh-CN" altLang="en-US" b="1" dirty="0">
                    <a:solidFill>
                      <a:srgbClr val="7030A0"/>
                    </a:solidFill>
                  </a:rPr>
                  <a:t>条件</a:t>
                </a:r>
                <a:r>
                  <a:rPr lang="zh-CN" altLang="en-US" dirty="0"/>
                  <a:t>：当状态 </a:t>
                </a:r>
                <a14:m>
                  <m:oMath xmlns:m="http://schemas.openxmlformats.org/officeDocument/2006/math">
                    <m:r>
                      <a:rPr lang="zh-CN" altLang="en-US" i="1"/>
                      <m:t>𝑥</m:t>
                    </m:r>
                  </m:oMath>
                </a14:m>
                <a:r>
                  <a:rPr lang="zh-CN" altLang="en-US" dirty="0"/>
                  <a:t>和 </a:t>
                </a:r>
                <a14:m>
                  <m:oMath xmlns:m="http://schemas.openxmlformats.org/officeDocument/2006/math">
                    <m:r>
                      <a:rPr lang="zh-CN" altLang="en-US" i="1"/>
                      <m:t>𝑦</m:t>
                    </m:r>
                  </m:oMath>
                </a14:m>
                <a:r>
                  <a:rPr lang="zh-CN" altLang="en-US" dirty="0"/>
                  <a:t>很接近时，它们对应的速度 </a:t>
                </a:r>
                <a14:m>
                  <m:oMath xmlns:m="http://schemas.openxmlformats.org/officeDocument/2006/math">
                    <m:r>
                      <a:rPr lang="zh-CN" altLang="en-US" i="1"/>
                      <m:t>𝑓</m:t>
                    </m:r>
                    <m:d>
                      <m:dPr>
                        <m:sepChr m:val=","/>
                        <m:ctrlPr>
                          <a:rPr lang="zh-CN" altLang="en-US" i="1"/>
                        </m:ctrlPr>
                      </m:dPr>
                      <m:e>
                        <m:r>
                          <a:rPr lang="zh-CN" altLang="en-US" i="1"/>
                          <m:t>𝑡</m:t>
                        </m:r>
                      </m:e>
                      <m:e>
                        <m:r>
                          <a:rPr lang="zh-CN" altLang="en-US" i="1"/>
                          <m:t>𝑥</m:t>
                        </m:r>
                      </m:e>
                    </m:d>
                  </m:oMath>
                </a14:m>
                <a:r>
                  <a:rPr lang="zh-CN" altLang="en-US" dirty="0"/>
                  <a:t>和 </a:t>
                </a:r>
                <a14:m>
                  <m:oMath xmlns:m="http://schemas.openxmlformats.org/officeDocument/2006/math">
                    <m:r>
                      <a:rPr lang="zh-CN" altLang="en-US" i="1"/>
                      <m:t>𝑓</m:t>
                    </m:r>
                    <m:d>
                      <m:dPr>
                        <m:sepChr m:val=","/>
                        <m:ctrlPr>
                          <a:rPr lang="zh-CN" altLang="en-US" i="1"/>
                        </m:ctrlPr>
                      </m:dPr>
                      <m:e>
                        <m:r>
                          <a:rPr lang="zh-CN" altLang="en-US" i="1"/>
                          <m:t>𝑡</m:t>
                        </m:r>
                      </m:e>
                      <m:e>
                        <m:r>
                          <a:rPr lang="zh-CN" altLang="en-US" i="1"/>
                          <m:t>𝑦</m:t>
                        </m:r>
                      </m:e>
                    </m:d>
                  </m:oMath>
                </a14:m>
                <a:r>
                  <a:rPr lang="zh-CN" altLang="en-US" dirty="0"/>
                  <a:t>也不会差得太大。也就是说，速度场不能对状态变量过于敏感。保证了解的</a:t>
                </a:r>
                <a:r>
                  <a:rPr lang="zh-CN" altLang="en-US" b="1" dirty="0"/>
                  <a:t>唯一性</a:t>
                </a:r>
                <a:r>
                  <a:rPr lang="zh-CN" altLang="en-US" dirty="0"/>
                  <a:t>。</a:t>
                </a:r>
                <a:endParaRPr lang="en-US" altLang="ja-JP" sz="700" dirty="0"/>
              </a:p>
              <a:p>
                <a:pPr marL="0" indent="0">
                  <a:lnSpc>
                    <a:spcPct val="120000"/>
                  </a:lnSpc>
                  <a:buNone/>
                </a:pPr>
                <a:r>
                  <a:rPr lang="ja-JP" altLang="en-US" dirty="0"/>
                  <a:t>定理只保证在 </a:t>
                </a:r>
                <a14:m>
                  <m:oMath xmlns:m="http://schemas.openxmlformats.org/officeDocument/2006/math">
                    <m:sSub>
                      <m:sSubPr>
                        <m:ctrlPr>
                          <a:rPr lang="ar-AE" altLang="ja-JP"/>
                        </m:ctrlPr>
                      </m:sSubPr>
                      <m:e>
                        <m:r>
                          <a:rPr lang="ja-JP" altLang="ar-AE" i="1"/>
                          <m:t>𝑡</m:t>
                        </m:r>
                      </m:e>
                      <m:sub>
                        <m:r>
                          <a:rPr lang="ar-AE" altLang="ja-JP"/>
                          <m:t>0</m:t>
                        </m:r>
                      </m:sub>
                    </m:sSub>
                  </m:oMath>
                </a14:m>
                <a:r>
                  <a:rPr lang="ja-JP" altLang="en-US" dirty="0"/>
                  <a:t>附近的一小段时间内存在唯一解。也就是说，它保证：</a:t>
                </a:r>
                <a14:m>
                  <m:oMath xmlns:m="http://schemas.openxmlformats.org/officeDocument/2006/math">
                    <m:r>
                      <a:rPr lang="ja-JP" altLang="en-US" i="1"/>
                      <m:t>𝑡</m:t>
                    </m:r>
                    <m:r>
                      <a:rPr lang="ja-JP" altLang="en-US"/>
                      <m:t>∈</m:t>
                    </m:r>
                    <m:r>
                      <m:rPr>
                        <m:nor/>
                      </m:rPr>
                      <a:rPr lang="en-US" altLang="zh-CN" dirty="0"/>
                      <m:t>[</m:t>
                    </m:r>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en-US" altLang="ja-JP" i="1">
                        <a:latin typeface="Cambria Math" panose="02040503050406030204" pitchFamily="18" charset="0"/>
                      </a:rPr>
                      <m:t>− </m:t>
                    </m:r>
                    <m:r>
                      <a:rPr lang="en-US" altLang="ja-JP" i="1">
                        <a:latin typeface="Cambria Math" panose="02040503050406030204" pitchFamily="18" charset="0"/>
                      </a:rPr>
                      <m:t>h</m:t>
                    </m:r>
                    <m:r>
                      <a:rPr lang="en-US" altLang="ja-JP" i="1">
                        <a:latin typeface="Cambria Math" panose="02040503050406030204" pitchFamily="18" charset="0"/>
                      </a:rPr>
                      <m:t> ,</m:t>
                    </m:r>
                    <m:r>
                      <m:rPr>
                        <m:nor/>
                      </m:rPr>
                      <a:rPr lang="ar-AE" altLang="ja-JP" dirty="0"/>
                      <m:t> </m:t>
                    </m:r>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ar-AE" altLang="ja-JP">
                        <a:latin typeface="Cambria Math" panose="02040503050406030204" pitchFamily="18" charset="0"/>
                      </a:rPr>
                      <m:t>+</m:t>
                    </m:r>
                    <m:r>
                      <a:rPr lang="ar-AE" altLang="ja-JP" i="1">
                        <a:latin typeface="Cambria Math" panose="02040503050406030204" pitchFamily="18" charset="0"/>
                      </a:rPr>
                      <m:t>h</m:t>
                    </m:r>
                    <m:r>
                      <m:rPr>
                        <m:nor/>
                      </m:rPr>
                      <a:rPr lang="en-US" altLang="zh-CN" dirty="0"/>
                      <m:t>]</m:t>
                    </m:r>
                  </m:oMath>
                </a14:m>
                <a:r>
                  <a:rPr lang="ja-JP" altLang="en-US" dirty="0"/>
                  <a:t>时有唯一解。但它不一定保证解可以一直延伸到所有时间。</a:t>
                </a:r>
              </a:p>
              <a:p>
                <a:pPr marL="0" indent="0">
                  <a:lnSpc>
                    <a:spcPct val="120000"/>
                  </a:lnSpc>
                  <a:buNone/>
                </a:pPr>
                <a:r>
                  <a:rPr lang="ja-JP" altLang="en-US" dirty="0"/>
                  <a:t>例如解可能在有限时间内爆炸。考虑：</a:t>
                </a:r>
                <a14:m>
                  <m:oMath xmlns:m="http://schemas.openxmlformats.org/officeDocument/2006/math">
                    <m:sSup>
                      <m:sSupPr>
                        <m:ctrlPr>
                          <a:rPr lang="ar-AE" altLang="ja-JP"/>
                        </m:ctrlPr>
                      </m:sSupPr>
                      <m:e>
                        <m:r>
                          <a:rPr lang="ja-JP" altLang="ar-AE" i="1"/>
                          <m:t>𝑥</m:t>
                        </m:r>
                      </m:e>
                      <m:sup>
                        <m:r>
                          <a:rPr lang="ar-AE" altLang="ja-JP"/>
                          <m:t>′</m:t>
                        </m:r>
                      </m:sup>
                    </m:sSup>
                    <m:d>
                      <m:dPr>
                        <m:ctrlPr>
                          <a:rPr lang="ar-AE" altLang="ja-JP" i="1"/>
                        </m:ctrlPr>
                      </m:dPr>
                      <m:e>
                        <m:r>
                          <a:rPr lang="ja-JP" altLang="ar-AE" i="1"/>
                          <m:t>𝑡</m:t>
                        </m:r>
                      </m:e>
                    </m:d>
                    <m:r>
                      <a:rPr lang="ar-AE" altLang="ja-JP"/>
                      <m:t>=</m:t>
                    </m:r>
                    <m:r>
                      <a:rPr lang="ja-JP" altLang="ar-AE" i="1"/>
                      <m:t>𝑥</m:t>
                    </m:r>
                    <m:sSup>
                      <m:sSupPr>
                        <m:ctrlPr>
                          <a:rPr lang="ar-AE" altLang="ja-JP" i="1"/>
                        </m:ctrlPr>
                      </m:sSupPr>
                      <m:e>
                        <m:d>
                          <m:dPr>
                            <m:ctrlPr>
                              <a:rPr lang="ar-AE" altLang="ja-JP" i="1"/>
                            </m:ctrlPr>
                          </m:dPr>
                          <m:e>
                            <m:r>
                              <a:rPr lang="ja-JP" altLang="ar-AE" i="1"/>
                              <m:t>𝑡</m:t>
                            </m:r>
                          </m:e>
                        </m:d>
                      </m:e>
                      <m:sup>
                        <m:r>
                          <a:rPr lang="ar-AE" altLang="ja-JP"/>
                          <m:t>2</m:t>
                        </m:r>
                      </m:sup>
                    </m:sSup>
                    <m:r>
                      <a:rPr lang="ar-AE" altLang="ja-JP"/>
                      <m:t>, </m:t>
                    </m:r>
                    <m:r>
                      <a:rPr lang="ja-JP" altLang="ar-AE" i="1"/>
                      <m:t>𝑥</m:t>
                    </m:r>
                    <m:d>
                      <m:dPr>
                        <m:ctrlPr>
                          <a:rPr lang="ar-AE" altLang="ja-JP" i="1"/>
                        </m:ctrlPr>
                      </m:dPr>
                      <m:e>
                        <m:r>
                          <a:rPr lang="ar-AE" altLang="ja-JP"/>
                          <m:t>0</m:t>
                        </m:r>
                      </m:e>
                    </m:d>
                    <m:r>
                      <a:rPr lang="ar-AE" altLang="ja-JP"/>
                      <m:t>=</m:t>
                    </m:r>
                    <m:r>
                      <a:rPr lang="ar-AE" altLang="ja-JP"/>
                      <m:t>1</m:t>
                    </m:r>
                    <m:r>
                      <a:rPr lang="ar-AE" altLang="ja-JP"/>
                      <m:t>.</m:t>
                    </m:r>
                  </m:oMath>
                </a14:m>
                <a:r>
                  <a:rPr lang="ja-JP" altLang="en-US" dirty="0"/>
                  <a:t> 它的解是：</a:t>
                </a:r>
                <a14:m>
                  <m:oMath xmlns:m="http://schemas.openxmlformats.org/officeDocument/2006/math">
                    <m:r>
                      <a:rPr lang="ja-JP" altLang="en-US" i="1"/>
                      <m:t>𝑥</m:t>
                    </m:r>
                    <m:d>
                      <m:dPr>
                        <m:ctrlPr>
                          <a:rPr lang="ar-AE" altLang="ja-JP" i="1"/>
                        </m:ctrlPr>
                      </m:dPr>
                      <m:e>
                        <m:r>
                          <a:rPr lang="ja-JP" altLang="ar-AE" i="1"/>
                          <m:t>𝑡</m:t>
                        </m:r>
                      </m:e>
                    </m:d>
                    <m:r>
                      <a:rPr lang="ar-AE" altLang="ja-JP"/>
                      <m:t>=</m:t>
                    </m:r>
                    <m:f>
                      <m:fPr>
                        <m:ctrlPr>
                          <a:rPr lang="ar-AE" altLang="ja-JP" i="1"/>
                        </m:ctrlPr>
                      </m:fPr>
                      <m:num>
                        <m:r>
                          <a:rPr lang="ar-AE" altLang="ja-JP"/>
                          <m:t>1</m:t>
                        </m:r>
                      </m:num>
                      <m:den>
                        <m:r>
                          <a:rPr lang="ar-AE" altLang="ja-JP"/>
                          <m:t>1</m:t>
                        </m:r>
                        <m:r>
                          <a:rPr lang="ar-AE" altLang="ja-JP"/>
                          <m:t>−</m:t>
                        </m:r>
                        <m:r>
                          <a:rPr lang="ja-JP" altLang="ar-AE" i="1"/>
                          <m:t>𝑡</m:t>
                        </m:r>
                      </m:den>
                    </m:f>
                    <m:r>
                      <a:rPr lang="ar-AE" altLang="ja-JP"/>
                      <m:t>.</m:t>
                    </m:r>
                  </m:oMath>
                </a14:m>
                <a:r>
                  <a:rPr lang="en-US" altLang="ja-JP" dirty="0"/>
                  <a:t> </a:t>
                </a:r>
                <a:r>
                  <a:rPr lang="ja-JP" altLang="en-US" dirty="0"/>
                  <a:t>这个解在 </a:t>
                </a:r>
                <a14:m>
                  <m:oMath xmlns:m="http://schemas.openxmlformats.org/officeDocument/2006/math">
                    <m:r>
                      <a:rPr lang="ja-JP" altLang="en-US" i="1"/>
                      <m:t>𝑡</m:t>
                    </m:r>
                    <m:r>
                      <a:rPr lang="en-US" altLang="ja-JP"/>
                      <m:t>=</m:t>
                    </m:r>
                    <m:r>
                      <a:rPr lang="en-US" altLang="ja-JP"/>
                      <m:t>1</m:t>
                    </m:r>
                  </m:oMath>
                </a14:m>
                <a:r>
                  <a:rPr lang="ja-JP" altLang="en-US" dirty="0"/>
                  <a:t>处发散，所以不能定义在整个实数轴上。</a:t>
                </a:r>
              </a:p>
              <a:p>
                <a:pPr marL="0" indent="0">
                  <a:lnSpc>
                    <a:spcPct val="120000"/>
                  </a:lnSpc>
                  <a:buNone/>
                </a:pPr>
                <a:endParaRPr lang="en-US" altLang="zh-CN" dirty="0"/>
              </a:p>
              <a:p>
                <a:pPr marL="0" indent="0">
                  <a:lnSpc>
                    <a:spcPct val="120000"/>
                  </a:lnSpc>
                  <a:buNone/>
                </a:pPr>
                <a:endParaRPr lang="en-US" altLang="zh-CN" dirty="0"/>
              </a:p>
            </p:txBody>
          </p:sp>
        </mc:Choice>
        <mc:Fallback>
          <p:sp>
            <p:nvSpPr>
              <p:cNvPr id="12" name="コンテンツ プレースホルダー 2">
                <a:extLst>
                  <a:ext uri="{FF2B5EF4-FFF2-40B4-BE49-F238E27FC236}">
                    <a16:creationId xmlns:a16="http://schemas.microsoft.com/office/drawing/2014/main" id="{7FFABA9B-D131-094C-40A6-7085D50B32E2}"/>
                  </a:ext>
                </a:extLst>
              </p:cNvPr>
              <p:cNvSpPr>
                <a:spLocks noGrp="1" noRot="1" noChangeAspect="1" noMove="1" noResize="1" noEditPoints="1" noAdjustHandles="1" noChangeArrowheads="1" noChangeShapeType="1" noTextEdit="1"/>
              </p:cNvSpPr>
              <p:nvPr>
                <p:ph idx="1"/>
              </p:nvPr>
            </p:nvSpPr>
            <p:spPr>
              <a:xfrm>
                <a:off x="508000" y="1112520"/>
                <a:ext cx="11379200" cy="5440680"/>
              </a:xfrm>
              <a:blipFill>
                <a:blip r:embed="rId3"/>
                <a:stretch>
                  <a:fillRect l="-536" t="-448" r="-536" b="-37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5243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EFF6B-3ECE-F20A-532E-BB4443F88D39}"/>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158E270B-C32C-E0FD-48CE-9E222412863C}"/>
              </a:ext>
            </a:extLst>
          </p:cNvPr>
          <p:cNvSpPr>
            <a:spLocks noGrp="1" noChangeArrowheads="1"/>
          </p:cNvSpPr>
          <p:nvPr>
            <p:ph type="title"/>
          </p:nvPr>
        </p:nvSpPr>
        <p:spPr/>
        <p:txBody>
          <a:bodyPr/>
          <a:lstStyle/>
          <a:p>
            <a:r>
              <a:rPr lang="zh-CN" altLang="en-US" b="1" dirty="0"/>
              <a:t>不动点的直观说明</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B44726AC-8238-8E30-A488-CA1E6238A843}"/>
                  </a:ext>
                </a:extLst>
              </p:cNvPr>
              <p:cNvSpPr>
                <a:spLocks noGrp="1"/>
              </p:cNvSpPr>
              <p:nvPr>
                <p:ph idx="1"/>
              </p:nvPr>
            </p:nvSpPr>
            <p:spPr>
              <a:xfrm>
                <a:off x="508000" y="1112520"/>
                <a:ext cx="11379200" cy="5440680"/>
              </a:xfrm>
            </p:spPr>
            <p:txBody>
              <a:bodyPr/>
              <a:lstStyle/>
              <a:p>
                <a:pPr marL="0" indent="0">
                  <a:lnSpc>
                    <a:spcPct val="120000"/>
                  </a:lnSpc>
                  <a:buNone/>
                </a:pPr>
                <a:r>
                  <a:rPr lang="zh-CN" altLang="en-US" dirty="0"/>
                  <a:t>不动点的定义：</a:t>
                </a:r>
                <a14:m>
                  <m:oMath xmlns:m="http://schemas.openxmlformats.org/officeDocument/2006/math">
                    <m:r>
                      <a:rPr lang="zh-CN" altLang="en-US" i="1"/>
                      <m:t>𝐹</m:t>
                    </m:r>
                    <m:d>
                      <m:dPr>
                        <m:ctrlPr>
                          <a:rPr lang="zh-CN" altLang="en-US" i="1"/>
                        </m:ctrlPr>
                      </m:dPr>
                      <m:e>
                        <m:r>
                          <a:rPr lang="zh-CN" altLang="en-US" i="1"/>
                          <m:t>𝑥</m:t>
                        </m:r>
                      </m:e>
                    </m:d>
                    <m:r>
                      <a:rPr lang="en-US" altLang="zh-CN"/>
                      <m:t>=</m:t>
                    </m:r>
                    <m:r>
                      <a:rPr lang="zh-CN" altLang="en-US" i="1"/>
                      <m:t>𝑥</m:t>
                    </m:r>
                    <m:r>
                      <a:rPr lang="en-US" altLang="zh-CN"/>
                      <m:t>.</m:t>
                    </m:r>
                  </m:oMath>
                </a14:m>
                <a:r>
                  <a:rPr lang="zh-CN" altLang="en-US" dirty="0"/>
                  <a:t>  也就是说，经过某个变换 </a:t>
                </a:r>
                <a14:m>
                  <m:oMath xmlns:m="http://schemas.openxmlformats.org/officeDocument/2006/math">
                    <m:r>
                      <a:rPr lang="zh-CN" altLang="en-US" i="1"/>
                      <m:t>𝐹</m:t>
                    </m:r>
                  </m:oMath>
                </a14:m>
                <a:r>
                  <a:rPr lang="zh-CN" altLang="en-US" dirty="0"/>
                  <a:t>之后，点 </a:t>
                </a:r>
                <a14:m>
                  <m:oMath xmlns:m="http://schemas.openxmlformats.org/officeDocument/2006/math">
                    <m:r>
                      <a:rPr lang="zh-CN" altLang="en-US" i="1"/>
                      <m:t>𝑥</m:t>
                    </m:r>
                  </m:oMath>
                </a14:m>
                <a:r>
                  <a:rPr lang="zh-CN" altLang="en-US" dirty="0"/>
                  <a:t>不变。</a:t>
                </a:r>
              </a:p>
              <a:p>
                <a:pPr>
                  <a:lnSpc>
                    <a:spcPct val="120000"/>
                  </a:lnSpc>
                </a:pPr>
                <a:r>
                  <a:rPr lang="zh-CN" altLang="en-US" dirty="0"/>
                  <a:t>在普通函数中，可以把它理解为：输入一个值，经过函数作用后，输出还是它自己。</a:t>
                </a:r>
              </a:p>
              <a:p>
                <a:pPr>
                  <a:lnSpc>
                    <a:spcPct val="120000"/>
                  </a:lnSpc>
                </a:pPr>
                <a:r>
                  <a:rPr lang="zh-CN" altLang="en-US" dirty="0"/>
                  <a:t>在 </a:t>
                </a:r>
                <a:r>
                  <a:rPr lang="en-US" altLang="zh-CN" dirty="0"/>
                  <a:t>ODE </a:t>
                </a:r>
                <a:r>
                  <a:rPr lang="zh-CN" altLang="en-US" dirty="0"/>
                  <a:t>中，对象不是一个点，而是一条曲线。于是“不动点”变成：</a:t>
                </a:r>
              </a:p>
              <a:p>
                <a:pPr marL="0" indent="0" algn="ctr">
                  <a:lnSpc>
                    <a:spcPct val="120000"/>
                  </a:lnSpc>
                  <a:buNone/>
                </a:pPr>
                <a:r>
                  <a:rPr lang="zh-CN" altLang="en-US" dirty="0"/>
                  <a:t>输入一条曲线，经过积分更新后，得到的仍然是同一条曲线。</a:t>
                </a:r>
              </a:p>
              <a:p>
                <a:pPr marL="0" indent="0">
                  <a:lnSpc>
                    <a:spcPct val="120000"/>
                  </a:lnSpc>
                  <a:buNone/>
                </a:pPr>
                <a:endParaRPr lang="en-US" altLang="zh-CN" dirty="0"/>
              </a:p>
              <a:p>
                <a:pPr marL="0" indent="0">
                  <a:lnSpc>
                    <a:spcPct val="120000"/>
                  </a:lnSpc>
                  <a:buNone/>
                </a:pPr>
                <a:r>
                  <a:rPr lang="zh-CN" altLang="en-US" dirty="0"/>
                  <a:t>普通不动点：</a:t>
                </a:r>
                <a14:m>
                  <m:oMath xmlns:m="http://schemas.openxmlformats.org/officeDocument/2006/math">
                    <m:r>
                      <a:rPr lang="zh-CN" altLang="en-US" i="1"/>
                      <m:t>𝐹</m:t>
                    </m:r>
                    <m:d>
                      <m:dPr>
                        <m:ctrlPr>
                          <a:rPr lang="zh-CN" altLang="en-US" i="1"/>
                        </m:ctrlPr>
                      </m:dPr>
                      <m:e>
                        <m:r>
                          <a:rPr lang="zh-CN" altLang="en-US" i="1"/>
                          <m:t>𝑥</m:t>
                        </m:r>
                      </m:e>
                    </m:d>
                    <m:r>
                      <a:rPr lang="en-US" altLang="zh-CN"/>
                      <m:t>=</m:t>
                    </m:r>
                    <m:r>
                      <a:rPr lang="zh-CN" altLang="en-US" i="1"/>
                      <m:t>𝑥</m:t>
                    </m:r>
                  </m:oMath>
                </a14:m>
                <a:endParaRPr lang="zh-CN" altLang="en-US" dirty="0"/>
              </a:p>
              <a:p>
                <a:pPr marL="0" indent="0">
                  <a:lnSpc>
                    <a:spcPct val="120000"/>
                  </a:lnSpc>
                  <a:buNone/>
                </a:pPr>
                <a:r>
                  <a:rPr lang="en-US" altLang="zh-CN" dirty="0"/>
                  <a:t>ODE </a:t>
                </a:r>
                <a:r>
                  <a:rPr lang="zh-CN" altLang="en-US" dirty="0"/>
                  <a:t>中的不动点：</a:t>
                </a:r>
                <a14:m>
                  <m:oMath xmlns:m="http://schemas.openxmlformats.org/officeDocument/2006/math">
                    <m:r>
                      <a:rPr lang="zh-CN" altLang="en-US"/>
                      <m:t>𝒯</m:t>
                    </m:r>
                    <m:d>
                      <m:dPr>
                        <m:ctrlPr>
                          <a:rPr lang="zh-CN" altLang="en-US" i="1"/>
                        </m:ctrlPr>
                      </m:dPr>
                      <m:e>
                        <m:r>
                          <a:rPr lang="zh-CN" altLang="en-US" i="1"/>
                          <m:t>𝑥</m:t>
                        </m:r>
                        <m:d>
                          <m:dPr>
                            <m:ctrlPr>
                              <a:rPr lang="zh-CN" altLang="en-US" i="1"/>
                            </m:ctrlPr>
                          </m:dPr>
                          <m:e>
                            <m:r>
                              <a:rPr lang="zh-CN" altLang="en-US"/>
                              <m:t>⋅</m:t>
                            </m:r>
                          </m:e>
                        </m:d>
                      </m:e>
                    </m:d>
                    <m:r>
                      <a:rPr lang="en-US" altLang="zh-CN"/>
                      <m:t>=</m:t>
                    </m:r>
                    <m:r>
                      <a:rPr lang="zh-CN" altLang="en-US" i="1"/>
                      <m:t>𝑥</m:t>
                    </m:r>
                    <m:d>
                      <m:dPr>
                        <m:ctrlPr>
                          <a:rPr lang="zh-CN" altLang="en-US" i="1"/>
                        </m:ctrlPr>
                      </m:dPr>
                      <m:e>
                        <m:r>
                          <a:rPr lang="zh-CN" altLang="en-US"/>
                          <m:t>⋅</m:t>
                        </m:r>
                      </m:e>
                    </m:d>
                  </m:oMath>
                </a14:m>
                <a:r>
                  <a:rPr lang="zh-CN" altLang="en-US" dirty="0"/>
                  <a:t> 这里 </a:t>
                </a:r>
                <a14:m>
                  <m:oMath xmlns:m="http://schemas.openxmlformats.org/officeDocument/2006/math">
                    <m:r>
                      <a:rPr lang="zh-CN" altLang="en-US" i="1"/>
                      <m:t>𝑥</m:t>
                    </m:r>
                    <m:d>
                      <m:dPr>
                        <m:ctrlPr>
                          <a:rPr lang="zh-CN" altLang="en-US" i="1"/>
                        </m:ctrlPr>
                      </m:dPr>
                      <m:e>
                        <m:r>
                          <a:rPr lang="zh-CN" altLang="en-US"/>
                          <m:t>⋅</m:t>
                        </m:r>
                      </m:e>
                    </m:d>
                  </m:oMath>
                </a14:m>
                <a:r>
                  <a:rPr lang="zh-CN" altLang="en-US" dirty="0"/>
                  <a:t>表示整条函数曲线，而不是某一个时刻的值。</a:t>
                </a:r>
                <a:endParaRPr lang="en-US" altLang="zh-CN" dirty="0"/>
              </a:p>
            </p:txBody>
          </p:sp>
        </mc:Choice>
        <mc:Fallback>
          <p:sp>
            <p:nvSpPr>
              <p:cNvPr id="12" name="コンテンツ プレースホルダー 2">
                <a:extLst>
                  <a:ext uri="{FF2B5EF4-FFF2-40B4-BE49-F238E27FC236}">
                    <a16:creationId xmlns:a16="http://schemas.microsoft.com/office/drawing/2014/main" id="{B44726AC-8238-8E30-A488-CA1E6238A843}"/>
                  </a:ext>
                </a:extLst>
              </p:cNvPr>
              <p:cNvSpPr>
                <a:spLocks noGrp="1" noRot="1" noChangeAspect="1" noMove="1" noResize="1" noEditPoints="1" noAdjustHandles="1" noChangeArrowheads="1" noChangeShapeType="1" noTextEdit="1"/>
              </p:cNvSpPr>
              <p:nvPr>
                <p:ph idx="1"/>
              </p:nvPr>
            </p:nvSpPr>
            <p:spPr>
              <a:xfrm>
                <a:off x="508000" y="1112520"/>
                <a:ext cx="11379200" cy="5440680"/>
              </a:xfrm>
              <a:blipFill>
                <a:blip r:embed="rId3"/>
                <a:stretch>
                  <a:fillRect l="-536" t="-4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00739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7ECC-06E7-56C2-B238-3570CE5B92BB}"/>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2B081DA-B5FC-FA03-276B-4CF71E6C7A31}"/>
              </a:ext>
            </a:extLst>
          </p:cNvPr>
          <p:cNvSpPr>
            <a:spLocks noGrp="1" noChangeArrowheads="1"/>
          </p:cNvSpPr>
          <p:nvPr>
            <p:ph type="title"/>
          </p:nvPr>
        </p:nvSpPr>
        <p:spPr/>
        <p:txBody>
          <a:bodyPr/>
          <a:lstStyle/>
          <a:p>
            <a:r>
              <a:rPr lang="en-US" altLang="zh-CN" b="1" dirty="0"/>
              <a:t>Picard </a:t>
            </a:r>
            <a:r>
              <a:rPr lang="zh-CN" altLang="en-US" b="1" dirty="0"/>
              <a:t>迭代：从“猜一条曲线”到“逼近真正解”</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922A27A-D046-20BC-5A42-5D918F9DB023}"/>
                  </a:ext>
                </a:extLst>
              </p:cNvPr>
              <p:cNvSpPr>
                <a:spLocks noGrp="1"/>
              </p:cNvSpPr>
              <p:nvPr>
                <p:ph idx="1"/>
              </p:nvPr>
            </p:nvSpPr>
            <p:spPr>
              <a:xfrm>
                <a:off x="508000" y="1112520"/>
                <a:ext cx="11582400" cy="5440680"/>
              </a:xfrm>
            </p:spPr>
            <p:txBody>
              <a:bodyPr/>
              <a:lstStyle/>
              <a:p>
                <a:pPr marL="0" indent="0">
                  <a:buNone/>
                </a:pPr>
                <a:r>
                  <a:rPr lang="ja-JP" altLang="en-US" dirty="0"/>
                  <a:t>有了算子 </a:t>
                </a:r>
                <a14:m>
                  <m:oMath xmlns:m="http://schemas.openxmlformats.org/officeDocument/2006/math">
                    <m:r>
                      <a:rPr lang="ja-JP" altLang="en-US"/>
                      <m:t>𝒯</m:t>
                    </m:r>
                  </m:oMath>
                </a14:m>
                <a:r>
                  <a:rPr lang="ja-JP" altLang="en-US" dirty="0"/>
                  <a:t>，可以构造迭代：</a:t>
                </a:r>
                <a14:m>
                  <m:oMath xmlns:m="http://schemas.openxmlformats.org/officeDocument/2006/math">
                    <m:sSub>
                      <m:sSubPr>
                        <m:ctrlPr>
                          <a:rPr lang="ar-AE" altLang="ja-JP"/>
                        </m:ctrlPr>
                      </m:sSubPr>
                      <m:e>
                        <m:r>
                          <a:rPr lang="ja-JP" altLang="ar-AE" i="1"/>
                          <m:t>𝜑</m:t>
                        </m:r>
                      </m:e>
                      <m:sub>
                        <m:r>
                          <a:rPr lang="ar-AE" altLang="ja-JP"/>
                          <m:t>0</m:t>
                        </m:r>
                      </m:sub>
                    </m:sSub>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oMath>
                </a14:m>
                <a:endParaRPr lang="ar-AE" altLang="ja-JP" dirty="0"/>
              </a:p>
              <a:p>
                <a:pPr marL="0" indent="0">
                  <a:buNone/>
                </a:pPr>
                <a14:m>
                  <m:oMathPara xmlns:m="http://schemas.openxmlformats.org/officeDocument/2006/math">
                    <m:oMathParaPr>
                      <m:jc m:val="centerGroup"/>
                    </m:oMathParaPr>
                    <m:oMath xmlns:m="http://schemas.openxmlformats.org/officeDocument/2006/math">
                      <m:sSub>
                        <m:sSubPr>
                          <m:ctrlPr>
                            <a:rPr lang="ar-AE" altLang="ja-JP"/>
                          </m:ctrlPr>
                        </m:sSubPr>
                        <m:e>
                          <m:r>
                            <a:rPr lang="ja-JP" altLang="ar-AE" i="1"/>
                            <m:t>𝜑</m:t>
                          </m:r>
                        </m:e>
                        <m:sub>
                          <m:r>
                            <a:rPr lang="ja-JP" altLang="ar-AE" i="1"/>
                            <m:t>𝑛</m:t>
                          </m:r>
                          <m:r>
                            <a:rPr lang="ar-AE" altLang="ja-JP"/>
                            <m:t>+</m:t>
                          </m:r>
                          <m:r>
                            <a:rPr lang="ar-AE" altLang="ja-JP"/>
                            <m:t>1</m:t>
                          </m:r>
                        </m:sub>
                      </m:sSub>
                      <m:d>
                        <m:dPr>
                          <m:ctrlPr>
                            <a:rPr lang="ar-AE" altLang="ja-JP" i="1"/>
                          </m:ctrlPr>
                        </m:dPr>
                        <m:e>
                          <m:r>
                            <a:rPr lang="ja-JP" altLang="ar-AE" i="1"/>
                            <m:t>𝑡</m:t>
                          </m:r>
                        </m:e>
                      </m:d>
                      <m:r>
                        <a:rPr lang="ar-AE" altLang="ja-JP"/>
                        <m:t>=</m:t>
                      </m:r>
                      <m:d>
                        <m:dPr>
                          <m:ctrlPr>
                            <a:rPr lang="ar-AE" altLang="ja-JP" i="1"/>
                          </m:ctrlPr>
                        </m:dPr>
                        <m:e>
                          <m:r>
                            <a:rPr lang="ja-JP" altLang="ar-AE"/>
                            <m:t>𝒯</m:t>
                          </m:r>
                          <m:sSub>
                            <m:sSubPr>
                              <m:ctrlPr>
                                <a:rPr lang="ar-AE" altLang="ja-JP" i="1"/>
                              </m:ctrlPr>
                            </m:sSubPr>
                            <m:e>
                              <m:r>
                                <a:rPr lang="ja-JP" altLang="ar-AE" i="1"/>
                                <m:t>𝜑</m:t>
                              </m:r>
                            </m:e>
                            <m:sub>
                              <m:r>
                                <a:rPr lang="ja-JP" altLang="ar-AE" i="1"/>
                                <m:t>𝑛</m:t>
                              </m:r>
                            </m:sub>
                          </m:sSub>
                        </m:e>
                      </m:d>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r>
                            <a:rPr lang="ja-JP" altLang="ar-AE" i="1"/>
                            <m:t>𝑓</m:t>
                          </m:r>
                        </m:e>
                      </m:nary>
                      <m:d>
                        <m:dPr>
                          <m:sepChr m:val=","/>
                          <m:ctrlPr>
                            <a:rPr lang="ar-AE" altLang="ja-JP" i="1"/>
                          </m:ctrlPr>
                        </m:dPr>
                        <m:e>
                          <m:r>
                            <a:rPr lang="ja-JP" altLang="ar-AE" i="1"/>
                            <m:t>𝑠</m:t>
                          </m:r>
                        </m:e>
                        <m:e>
                          <m:sSub>
                            <m:sSubPr>
                              <m:ctrlPr>
                                <a:rPr lang="ar-AE" altLang="ja-JP" i="1"/>
                              </m:ctrlPr>
                            </m:sSubPr>
                            <m:e>
                              <m:r>
                                <a:rPr lang="ja-JP" altLang="ar-AE" i="1"/>
                                <m:t>𝜑</m:t>
                              </m:r>
                            </m:e>
                            <m:sub>
                              <m:r>
                                <a:rPr lang="ja-JP" altLang="ar-AE" i="1"/>
                                <m:t>𝑛</m:t>
                              </m:r>
                            </m:sub>
                          </m:sSub>
                          <m:d>
                            <m:dPr>
                              <m:ctrlPr>
                                <a:rPr lang="ar-AE" altLang="ja-JP" i="1"/>
                              </m:ctrlPr>
                            </m:dPr>
                            <m:e>
                              <m:r>
                                <a:rPr lang="ja-JP" altLang="ar-AE" i="1"/>
                                <m:t>𝑠</m:t>
                              </m:r>
                            </m:e>
                          </m:d>
                        </m:e>
                      </m:d>
                      <m:r>
                        <m:rPr>
                          <m:nor/>
                        </m:rPr>
                        <a:rPr lang="ar-AE" altLang="ja-JP" i="1"/>
                        <m:t> </m:t>
                      </m:r>
                      <m:r>
                        <a:rPr lang="ja-JP" altLang="ar-AE" i="1"/>
                        <m:t>𝑑𝑠</m:t>
                      </m:r>
                      <m:r>
                        <a:rPr lang="ar-AE" altLang="ja-JP"/>
                        <m:t>.</m:t>
                      </m:r>
                    </m:oMath>
                  </m:oMathPara>
                </a14:m>
                <a:endParaRPr lang="ar-AE" altLang="ja-JP" b="0" dirty="0"/>
              </a:p>
              <a:p>
                <a:pPr marL="0" indent="0">
                  <a:buNone/>
                </a:pPr>
                <a:r>
                  <a:rPr lang="ja-JP" altLang="en-US" dirty="0"/>
                  <a:t>直观解释：</a:t>
                </a:r>
              </a:p>
              <a:p>
                <a:pPr>
                  <a:buFont typeface="Wingdings" panose="05000000000000000000" pitchFamily="2" charset="2"/>
                  <a:buChar char="Ø"/>
                </a:pPr>
                <a:r>
                  <a:rPr lang="ja-JP" altLang="en-US" dirty="0"/>
                  <a:t>第一步：先假设状态一直不变，即 </a:t>
                </a:r>
                <a14:m>
                  <m:oMath xmlns:m="http://schemas.openxmlformats.org/officeDocument/2006/math">
                    <m:sSub>
                      <m:sSubPr>
                        <m:ctrlPr>
                          <a:rPr lang="ar-AE" altLang="ja-JP"/>
                        </m:ctrlPr>
                      </m:sSubPr>
                      <m:e>
                        <m:r>
                          <a:rPr lang="ja-JP" altLang="ar-AE" i="1"/>
                          <m:t>𝜑</m:t>
                        </m:r>
                      </m:e>
                      <m:sub>
                        <m:r>
                          <a:rPr lang="ar-AE" altLang="ja-JP"/>
                          <m:t>0</m:t>
                        </m:r>
                      </m:sub>
                    </m:sSub>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oMath>
                </a14:m>
                <a:r>
                  <a:rPr lang="ja-JP" altLang="ar-AE" dirty="0"/>
                  <a:t>。</a:t>
                </a:r>
              </a:p>
              <a:p>
                <a:pPr>
                  <a:buFont typeface="Wingdings" panose="05000000000000000000" pitchFamily="2" charset="2"/>
                  <a:buChar char="Ø"/>
                </a:pPr>
                <a:r>
                  <a:rPr lang="ja-JP" altLang="en-US" dirty="0"/>
                  <a:t>第二步：根据这条粗略轨迹计算速度，再积分，得到更好的轨迹 </a:t>
                </a:r>
                <a14:m>
                  <m:oMath xmlns:m="http://schemas.openxmlformats.org/officeDocument/2006/math">
                    <m:sSub>
                      <m:sSubPr>
                        <m:ctrlPr>
                          <a:rPr lang="ar-AE" altLang="ja-JP"/>
                        </m:ctrlPr>
                      </m:sSubPr>
                      <m:e>
                        <m:r>
                          <a:rPr lang="ja-JP" altLang="ar-AE" i="1"/>
                          <m:t>𝜑</m:t>
                        </m:r>
                      </m:e>
                      <m:sub>
                        <m:r>
                          <a:rPr lang="ar-AE" altLang="ja-JP"/>
                          <m:t>1</m:t>
                        </m:r>
                      </m:sub>
                    </m:sSub>
                    <m:d>
                      <m:dPr>
                        <m:ctrlPr>
                          <a:rPr lang="ar-AE" altLang="ja-JP" i="1"/>
                        </m:ctrlPr>
                      </m:dPr>
                      <m:e>
                        <m:r>
                          <a:rPr lang="ja-JP" altLang="ar-AE" i="1"/>
                          <m:t>𝑡</m:t>
                        </m:r>
                      </m:e>
                    </m:d>
                  </m:oMath>
                </a14:m>
                <a:r>
                  <a:rPr lang="ja-JP" altLang="ar-AE" dirty="0"/>
                  <a:t>。</a:t>
                </a:r>
              </a:p>
              <a:p>
                <a:pPr>
                  <a:buFont typeface="Wingdings" panose="05000000000000000000" pitchFamily="2" charset="2"/>
                  <a:buChar char="Ø"/>
                </a:pPr>
                <a:r>
                  <a:rPr lang="ja-JP" altLang="en-US" dirty="0"/>
                  <a:t>第三步：再用 </a:t>
                </a:r>
                <a14:m>
                  <m:oMath xmlns:m="http://schemas.openxmlformats.org/officeDocument/2006/math">
                    <m:sSub>
                      <m:sSubPr>
                        <m:ctrlPr>
                          <a:rPr lang="ar-AE" altLang="ja-JP"/>
                        </m:ctrlPr>
                      </m:sSubPr>
                      <m:e>
                        <m:r>
                          <a:rPr lang="ja-JP" altLang="ar-AE" i="1"/>
                          <m:t>𝜑</m:t>
                        </m:r>
                      </m:e>
                      <m:sub>
                        <m:r>
                          <a:rPr lang="ar-AE" altLang="ja-JP"/>
                          <m:t>1</m:t>
                        </m:r>
                      </m:sub>
                    </m:sSub>
                    <m:d>
                      <m:dPr>
                        <m:ctrlPr>
                          <a:rPr lang="ar-AE" altLang="ja-JP" i="1"/>
                        </m:ctrlPr>
                      </m:dPr>
                      <m:e>
                        <m:r>
                          <a:rPr lang="ja-JP" altLang="ar-AE" i="1"/>
                          <m:t>𝑡</m:t>
                        </m:r>
                      </m:e>
                    </m:d>
                  </m:oMath>
                </a14:m>
                <a:r>
                  <a:rPr lang="ja-JP" altLang="en-US" dirty="0"/>
                  <a:t>计算速度并积分，得到 </a:t>
                </a:r>
                <a14:m>
                  <m:oMath xmlns:m="http://schemas.openxmlformats.org/officeDocument/2006/math">
                    <m:sSub>
                      <m:sSubPr>
                        <m:ctrlPr>
                          <a:rPr lang="ar-AE" altLang="ja-JP"/>
                        </m:ctrlPr>
                      </m:sSubPr>
                      <m:e>
                        <m:r>
                          <a:rPr lang="ja-JP" altLang="ar-AE" i="1"/>
                          <m:t>𝜑</m:t>
                        </m:r>
                      </m:e>
                      <m:sub>
                        <m:r>
                          <a:rPr lang="ar-AE" altLang="ja-JP"/>
                          <m:t>2</m:t>
                        </m:r>
                      </m:sub>
                    </m:sSub>
                    <m:d>
                      <m:dPr>
                        <m:ctrlPr>
                          <a:rPr lang="ar-AE" altLang="ja-JP" i="1"/>
                        </m:ctrlPr>
                      </m:dPr>
                      <m:e>
                        <m:r>
                          <a:rPr lang="ja-JP" altLang="ar-AE" i="1"/>
                          <m:t>𝑡</m:t>
                        </m:r>
                      </m:e>
                    </m:d>
                  </m:oMath>
                </a14:m>
                <a:r>
                  <a:rPr lang="ja-JP" altLang="ar-AE" dirty="0"/>
                  <a:t>。</a:t>
                </a:r>
              </a:p>
              <a:p>
                <a:pPr>
                  <a:buFont typeface="Wingdings" panose="05000000000000000000" pitchFamily="2" charset="2"/>
                  <a:buChar char="Ø"/>
                </a:pPr>
                <a:r>
                  <a:rPr lang="ja-JP" altLang="en-US" dirty="0"/>
                  <a:t>不断重复：</a:t>
                </a:r>
                <a14:m>
                  <m:oMath xmlns:m="http://schemas.openxmlformats.org/officeDocument/2006/math">
                    <m:sSub>
                      <m:sSubPr>
                        <m:ctrlPr>
                          <a:rPr lang="ar-AE" altLang="ja-JP"/>
                        </m:ctrlPr>
                      </m:sSubPr>
                      <m:e>
                        <m:r>
                          <a:rPr lang="ja-JP" altLang="ar-AE" i="1"/>
                          <m:t>𝜑</m:t>
                        </m:r>
                      </m:e>
                      <m:sub>
                        <m:r>
                          <a:rPr lang="ar-AE" altLang="ja-JP"/>
                          <m:t>0</m:t>
                        </m:r>
                      </m:sub>
                    </m:sSub>
                    <m:r>
                      <a:rPr lang="ar-AE" altLang="ja-JP"/>
                      <m:t>→</m:t>
                    </m:r>
                    <m:sSub>
                      <m:sSubPr>
                        <m:ctrlPr>
                          <a:rPr lang="ar-AE" altLang="ja-JP" i="1"/>
                        </m:ctrlPr>
                      </m:sSubPr>
                      <m:e>
                        <m:r>
                          <a:rPr lang="ja-JP" altLang="ar-AE" i="1"/>
                          <m:t>𝜑</m:t>
                        </m:r>
                      </m:e>
                      <m:sub>
                        <m:r>
                          <a:rPr lang="ar-AE" altLang="ja-JP"/>
                          <m:t>1</m:t>
                        </m:r>
                      </m:sub>
                    </m:sSub>
                    <m:r>
                      <a:rPr lang="ar-AE" altLang="ja-JP"/>
                      <m:t>→</m:t>
                    </m:r>
                    <m:sSub>
                      <m:sSubPr>
                        <m:ctrlPr>
                          <a:rPr lang="ar-AE" altLang="ja-JP" i="1"/>
                        </m:ctrlPr>
                      </m:sSubPr>
                      <m:e>
                        <m:r>
                          <a:rPr lang="ja-JP" altLang="ar-AE" i="1"/>
                          <m:t>𝜑</m:t>
                        </m:r>
                      </m:e>
                      <m:sub>
                        <m:r>
                          <a:rPr lang="ar-AE" altLang="ja-JP"/>
                          <m:t>2</m:t>
                        </m:r>
                      </m:sub>
                    </m:sSub>
                    <m:r>
                      <a:rPr lang="ar-AE" altLang="ja-JP"/>
                      <m:t>→⋯</m:t>
                    </m:r>
                  </m:oMath>
                </a14:m>
                <a:endParaRPr lang="ar-AE" altLang="ja-JP" dirty="0"/>
              </a:p>
              <a:p>
                <a:pPr marL="0" indent="0">
                  <a:buNone/>
                </a:pPr>
                <a:endParaRPr lang="en-US" altLang="ja-JP" dirty="0"/>
              </a:p>
              <a:p>
                <a:pPr marL="0" indent="0">
                  <a:buNone/>
                </a:pPr>
                <a:r>
                  <a:rPr lang="ja-JP" altLang="en-US" dirty="0"/>
                  <a:t>如果这个过程收敛到某个极限 </a:t>
                </a:r>
                <a14:m>
                  <m:oMath xmlns:m="http://schemas.openxmlformats.org/officeDocument/2006/math">
                    <m:r>
                      <a:rPr lang="ja-JP" altLang="en-US" i="1"/>
                      <m:t>𝑥</m:t>
                    </m:r>
                    <m:d>
                      <m:dPr>
                        <m:ctrlPr>
                          <a:rPr lang="ar-AE" altLang="ja-JP" i="1"/>
                        </m:ctrlPr>
                      </m:dPr>
                      <m:e>
                        <m:r>
                          <a:rPr lang="ja-JP" altLang="ar-AE" i="1"/>
                          <m:t>𝑡</m:t>
                        </m:r>
                      </m:e>
                    </m:d>
                  </m:oMath>
                </a14:m>
                <a:r>
                  <a:rPr lang="ja-JP" altLang="ar-AE" dirty="0"/>
                  <a:t>，</a:t>
                </a:r>
                <a:r>
                  <a:rPr lang="ja-JP" altLang="en-US" dirty="0"/>
                  <a:t>那么这个极限满足</a:t>
                </a:r>
                <a14:m>
                  <m:oMath xmlns:m="http://schemas.openxmlformats.org/officeDocument/2006/math">
                    <m:r>
                      <a:rPr lang="ja-JP" altLang="en-US"/>
                      <m:t>𝒯</m:t>
                    </m:r>
                    <m:r>
                      <a:rPr lang="ja-JP" altLang="en-US" i="1"/>
                      <m:t>𝑥</m:t>
                    </m:r>
                    <m:r>
                      <a:rPr lang="en-US" altLang="ja-JP"/>
                      <m:t>=</m:t>
                    </m:r>
                    <m:r>
                      <a:rPr lang="ja-JP" altLang="en-US" i="1"/>
                      <m:t>𝑥</m:t>
                    </m:r>
                    <m:r>
                      <a:rPr lang="en-US" altLang="ja-JP"/>
                      <m:t>.</m:t>
                    </m:r>
                  </m:oMath>
                </a14:m>
                <a:r>
                  <a:rPr lang="ja-JP" altLang="en-US" dirty="0"/>
                  <a:t> 所以它就是 </a:t>
                </a:r>
                <a:r>
                  <a:rPr lang="en-US" altLang="ja-JP" dirty="0"/>
                  <a:t>ODE </a:t>
                </a:r>
                <a:r>
                  <a:rPr lang="ja-JP" altLang="en-US" dirty="0"/>
                  <a:t>的解。</a:t>
                </a:r>
              </a:p>
              <a:p>
                <a:pPr marL="0" indent="0">
                  <a:buNone/>
                </a:pPr>
                <a:endParaRPr lang="en-US" altLang="ja-JP" dirty="0"/>
              </a:p>
              <a:p>
                <a:pPr marL="0" indent="0">
                  <a:buNone/>
                </a:pPr>
                <a:r>
                  <a:rPr lang="ja-JP" altLang="en-US" dirty="0"/>
                  <a:t> </a:t>
                </a:r>
                <a:r>
                  <a:rPr lang="en-US" altLang="ja-JP" dirty="0"/>
                  <a:t>Picard </a:t>
                </a:r>
                <a:r>
                  <a:rPr lang="ja-JP" altLang="en-US" dirty="0"/>
                  <a:t>迭代：不断把“猜测的轨迹”代入积分公式，得到越来越自洽的轨迹；最终收敛到的自洽轨迹就是微分方程的解。</a:t>
                </a:r>
              </a:p>
            </p:txBody>
          </p:sp>
        </mc:Choice>
        <mc:Fallback>
          <p:sp>
            <p:nvSpPr>
              <p:cNvPr id="12" name="コンテンツ プレースホルダー 2">
                <a:extLst>
                  <a:ext uri="{FF2B5EF4-FFF2-40B4-BE49-F238E27FC236}">
                    <a16:creationId xmlns:a16="http://schemas.microsoft.com/office/drawing/2014/main" id="{C922A27A-D046-20BC-5A42-5D918F9DB023}"/>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51184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AED82-B3E0-BF9D-B5B4-D4A031DB5B44}"/>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9D629A8-8C67-5879-2207-95C05647FCE2}"/>
              </a:ext>
            </a:extLst>
          </p:cNvPr>
          <p:cNvSpPr>
            <a:spLocks noGrp="1" noChangeArrowheads="1"/>
          </p:cNvSpPr>
          <p:nvPr>
            <p:ph type="title"/>
          </p:nvPr>
        </p:nvSpPr>
        <p:spPr/>
        <p:txBody>
          <a:bodyPr/>
          <a:lstStyle/>
          <a:p>
            <a:r>
              <a:rPr lang="zh-CN" altLang="en-US" b="1" dirty="0"/>
              <a:t>为什么会收敛？压缩映射的作用</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277019F-323B-5894-3220-2EF48FF65E0D}"/>
                  </a:ext>
                </a:extLst>
              </p:cNvPr>
              <p:cNvSpPr>
                <a:spLocks noGrp="1"/>
              </p:cNvSpPr>
              <p:nvPr>
                <p:ph idx="1"/>
              </p:nvPr>
            </p:nvSpPr>
            <p:spPr>
              <a:xfrm>
                <a:off x="487680" y="1010920"/>
                <a:ext cx="11582400" cy="5440680"/>
              </a:xfrm>
            </p:spPr>
            <p:txBody>
              <a:bodyPr/>
              <a:lstStyle/>
              <a:p>
                <a:pPr marL="0" indent="0">
                  <a:lnSpc>
                    <a:spcPct val="110000"/>
                  </a:lnSpc>
                  <a:buNone/>
                </a:pPr>
                <a:r>
                  <a:rPr lang="ja-JP" altLang="en-US" dirty="0"/>
                  <a:t>为什么 </a:t>
                </a:r>
                <a14:m>
                  <m:oMath xmlns:m="http://schemas.openxmlformats.org/officeDocument/2006/math">
                    <m:sSub>
                      <m:sSubPr>
                        <m:ctrlPr>
                          <a:rPr lang="ar-AE" altLang="ja-JP"/>
                        </m:ctrlPr>
                      </m:sSubPr>
                      <m:e>
                        <m:r>
                          <a:rPr lang="ja-JP" altLang="ar-AE" i="1"/>
                          <m:t>𝜑</m:t>
                        </m:r>
                      </m:e>
                      <m:sub>
                        <m:r>
                          <a:rPr lang="ja-JP" altLang="ar-AE" i="1"/>
                          <m:t>𝑛</m:t>
                        </m:r>
                      </m:sub>
                    </m:sSub>
                  </m:oMath>
                </a14:m>
                <a:r>
                  <a:rPr lang="ja-JP" altLang="en-US" dirty="0"/>
                  <a:t>会收敛？为什么极限唯一？这里就需要 </a:t>
                </a:r>
                <a:r>
                  <a:rPr lang="en-US" altLang="ja-JP" dirty="0"/>
                  <a:t>Banach </a:t>
                </a:r>
                <a:r>
                  <a:rPr lang="ja-JP" altLang="en-US" dirty="0"/>
                  <a:t>不动点定理。</a:t>
                </a:r>
                <a:endParaRPr lang="en-US" altLang="ja-JP" dirty="0"/>
              </a:p>
              <a:p>
                <a:pPr marL="0" indent="0">
                  <a:lnSpc>
                    <a:spcPct val="110000"/>
                  </a:lnSpc>
                  <a:buNone/>
                </a:pPr>
                <a:r>
                  <a:rPr lang="ja-JP" altLang="en-US" dirty="0"/>
                  <a:t>设在函数空间</a:t>
                </a:r>
                <a14:m>
                  <m:oMath xmlns:m="http://schemas.openxmlformats.org/officeDocument/2006/math">
                    <m:r>
                      <a:rPr lang="ja-JP" altLang="en-US" i="1">
                        <a:latin typeface="Cambria Math" panose="02040503050406030204" pitchFamily="18" charset="0"/>
                      </a:rPr>
                      <m:t>𝐶</m:t>
                    </m:r>
                    <m:d>
                      <m:dPr>
                        <m:sepChr m:val=","/>
                        <m:ctrlPr>
                          <a:rPr lang="ar-AE" altLang="ja-JP" i="1">
                            <a:latin typeface="Cambria Math" panose="02040503050406030204" pitchFamily="18" charset="0"/>
                          </a:rPr>
                        </m:ctrlPr>
                      </m:dPr>
                      <m:e>
                        <m:r>
                          <m:rPr>
                            <m:nor/>
                          </m:rPr>
                          <a:rPr lang="en-US" altLang="zh-CN" dirty="0"/>
                          <m:t>[</m:t>
                        </m:r>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en-US" altLang="ja-JP" i="1">
                            <a:latin typeface="Cambria Math" panose="02040503050406030204" pitchFamily="18" charset="0"/>
                          </a:rPr>
                          <m:t>− </m:t>
                        </m:r>
                        <m:r>
                          <a:rPr lang="en-US" altLang="ja-JP" i="1">
                            <a:latin typeface="Cambria Math" panose="02040503050406030204" pitchFamily="18" charset="0"/>
                          </a:rPr>
                          <m:t>h</m:t>
                        </m:r>
                        <m:r>
                          <a:rPr lang="en-US" altLang="ja-JP" i="1">
                            <a:latin typeface="Cambria Math" panose="02040503050406030204" pitchFamily="18" charset="0"/>
                          </a:rPr>
                          <m:t> ,</m:t>
                        </m:r>
                        <m:r>
                          <m:rPr>
                            <m:nor/>
                          </m:rPr>
                          <a:rPr lang="ar-AE" altLang="ja-JP" dirty="0"/>
                          <m:t> </m:t>
                        </m:r>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ar-AE" altLang="ja-JP">
                            <a:latin typeface="Cambria Math" panose="02040503050406030204" pitchFamily="18" charset="0"/>
                          </a:rPr>
                          <m:t>+</m:t>
                        </m:r>
                        <m:r>
                          <a:rPr lang="ar-AE" altLang="ja-JP" i="1">
                            <a:latin typeface="Cambria Math" panose="02040503050406030204" pitchFamily="18" charset="0"/>
                          </a:rPr>
                          <m:t>h</m:t>
                        </m:r>
                        <m:r>
                          <m:rPr>
                            <m:nor/>
                          </m:rPr>
                          <a:rPr lang="en-US" altLang="zh-CN" dirty="0"/>
                          <m:t>]</m:t>
                        </m:r>
                      </m:e>
                      <m:e>
                        <m:sSup>
                          <m:sSupPr>
                            <m:ctrlPr>
                              <a:rPr lang="ar-AE" altLang="ja-JP" i="1">
                                <a:latin typeface="Cambria Math" panose="02040503050406030204" pitchFamily="18" charset="0"/>
                              </a:rPr>
                            </m:ctrlPr>
                          </m:sSupPr>
                          <m:e>
                            <m:r>
                              <a:rPr lang="en-US" altLang="ja-JP" b="0" i="0" smtClean="0">
                                <a:latin typeface="Cambria Math" panose="02040503050406030204" pitchFamily="18" charset="0"/>
                              </a:rPr>
                              <m:t> </m:t>
                            </m:r>
                            <m:r>
                              <a:rPr lang="ar-AE" altLang="ja-JP">
                                <a:latin typeface="Cambria Math" panose="02040503050406030204" pitchFamily="18" charset="0"/>
                              </a:rPr>
                              <m:t>ℝ</m:t>
                            </m:r>
                          </m:e>
                          <m:sup>
                            <m:r>
                              <a:rPr lang="ja-JP" altLang="ar-AE" i="1">
                                <a:latin typeface="Cambria Math" panose="02040503050406030204" pitchFamily="18" charset="0"/>
                              </a:rPr>
                              <m:t>𝑑</m:t>
                            </m:r>
                          </m:sup>
                        </m:sSup>
                      </m:e>
                    </m:d>
                  </m:oMath>
                </a14:m>
                <a:r>
                  <a:rPr lang="ja-JP" altLang="en-US" dirty="0"/>
                  <a:t>中工作，并使用一致范数：</a:t>
                </a:r>
              </a:p>
              <a:p>
                <a:pPr marL="0" indent="0">
                  <a:lnSpc>
                    <a:spcPct val="110000"/>
                  </a:lnSpc>
                  <a:buNone/>
                </a:pPr>
                <a14:m>
                  <m:oMathPara xmlns:m="http://schemas.openxmlformats.org/officeDocument/2006/math">
                    <m:oMathParaPr>
                      <m:jc m:val="centerGroup"/>
                    </m:oMathParaPr>
                    <m:oMath xmlns:m="http://schemas.openxmlformats.org/officeDocument/2006/math">
                      <m:r>
                        <a:rPr lang="ja-JP" altLang="en-US"/>
                        <m:t>∥</m:t>
                      </m:r>
                      <m:r>
                        <a:rPr lang="ja-JP" altLang="en-US" i="1"/>
                        <m:t>𝜑</m:t>
                      </m:r>
                      <m:r>
                        <a:rPr lang="ja-JP" altLang="en-US"/>
                        <m:t>−</m:t>
                      </m:r>
                      <m:r>
                        <a:rPr lang="ja-JP" altLang="en-US" i="1"/>
                        <m:t>𝜓</m:t>
                      </m:r>
                      <m:sSub>
                        <m:sSubPr>
                          <m:ctrlPr>
                            <a:rPr lang="ar-AE" altLang="ja-JP" i="1"/>
                          </m:ctrlPr>
                        </m:sSubPr>
                        <m:e>
                          <m:r>
                            <a:rPr lang="ar-AE" altLang="ja-JP"/>
                            <m:t>∥</m:t>
                          </m:r>
                        </m:e>
                        <m:sub>
                          <m:r>
                            <a:rPr lang="ar-AE" altLang="ja-JP"/>
                            <m:t>∞</m:t>
                          </m:r>
                        </m:sub>
                      </m:sSub>
                      <m:r>
                        <a:rPr lang="ar-AE" altLang="ja-JP"/>
                        <m:t>=</m:t>
                      </m:r>
                      <m:sSub>
                        <m:sSubPr>
                          <m:ctrlPr>
                            <a:rPr lang="ar-AE" altLang="ja-JP" i="1" smtClean="0">
                              <a:latin typeface="Cambria Math" panose="02040503050406030204" pitchFamily="18" charset="0"/>
                            </a:rPr>
                          </m:ctrlPr>
                        </m:sSubPr>
                        <m:e>
                          <m:r>
                            <m:rPr>
                              <m:sty m:val="p"/>
                            </m:rPr>
                            <a:rPr lang="en-US" altLang="zh-CN" i="1">
                              <a:latin typeface="Cambria Math" panose="02040503050406030204" pitchFamily="18" charset="0"/>
                            </a:rPr>
                            <m:t>su</m:t>
                          </m:r>
                          <m:r>
                            <m:rPr>
                              <m:sty m:val="p"/>
                            </m:rPr>
                            <a:rPr lang="en-US" altLang="zh-CN" b="0" i="1" smtClean="0">
                              <a:latin typeface="Cambria Math" panose="02040503050406030204" pitchFamily="18" charset="0"/>
                            </a:rPr>
                            <m:t>p</m:t>
                          </m:r>
                        </m:e>
                        <m:sub>
                          <m:r>
                            <m:rPr>
                              <m:nor/>
                            </m:rPr>
                            <a:rPr lang="en-US" altLang="zh-CN" dirty="0"/>
                            <m:t>[</m:t>
                          </m:r>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en-US" altLang="ja-JP" i="1">
                              <a:latin typeface="Cambria Math" panose="02040503050406030204" pitchFamily="18" charset="0"/>
                            </a:rPr>
                            <m:t>− </m:t>
                          </m:r>
                          <m:r>
                            <a:rPr lang="en-US" altLang="ja-JP" i="1">
                              <a:latin typeface="Cambria Math" panose="02040503050406030204" pitchFamily="18" charset="0"/>
                            </a:rPr>
                            <m:t>h</m:t>
                          </m:r>
                          <m:r>
                            <a:rPr lang="en-US" altLang="ja-JP" i="1">
                              <a:latin typeface="Cambria Math" panose="02040503050406030204" pitchFamily="18" charset="0"/>
                            </a:rPr>
                            <m:t> ,</m:t>
                          </m:r>
                          <m:r>
                            <m:rPr>
                              <m:nor/>
                            </m:rPr>
                            <a:rPr lang="ar-AE" altLang="ja-JP" dirty="0"/>
                            <m:t> </m:t>
                          </m:r>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0</m:t>
                              </m:r>
                            </m:sub>
                          </m:sSub>
                          <m:r>
                            <a:rPr lang="ar-AE" altLang="ja-JP">
                              <a:latin typeface="Cambria Math" panose="02040503050406030204" pitchFamily="18" charset="0"/>
                            </a:rPr>
                            <m:t>+</m:t>
                          </m:r>
                          <m:r>
                            <a:rPr lang="ar-AE" altLang="ja-JP" i="1">
                              <a:latin typeface="Cambria Math" panose="02040503050406030204" pitchFamily="18" charset="0"/>
                            </a:rPr>
                            <m:t>h</m:t>
                          </m:r>
                          <m:r>
                            <m:rPr>
                              <m:nor/>
                            </m:rPr>
                            <a:rPr lang="en-US" altLang="zh-CN" dirty="0"/>
                            <m:t>]</m:t>
                          </m:r>
                        </m:sub>
                      </m:sSub>
                      <m:r>
                        <a:rPr lang="ar-AE" altLang="ja-JP"/>
                        <m:t>∥</m:t>
                      </m:r>
                      <m:r>
                        <a:rPr lang="ja-JP" altLang="ar-AE" i="1"/>
                        <m:t>𝜑</m:t>
                      </m:r>
                      <m:d>
                        <m:dPr>
                          <m:ctrlPr>
                            <a:rPr lang="ar-AE" altLang="ja-JP" i="1"/>
                          </m:ctrlPr>
                        </m:dPr>
                        <m:e>
                          <m:r>
                            <a:rPr lang="ja-JP" altLang="ar-AE" i="1"/>
                            <m:t>𝑡</m:t>
                          </m:r>
                        </m:e>
                      </m:d>
                      <m:r>
                        <a:rPr lang="ar-AE" altLang="ja-JP"/>
                        <m:t>−</m:t>
                      </m:r>
                      <m:r>
                        <a:rPr lang="ja-JP" altLang="ar-AE" i="1"/>
                        <m:t>𝜓</m:t>
                      </m:r>
                      <m:d>
                        <m:dPr>
                          <m:ctrlPr>
                            <a:rPr lang="ar-AE" altLang="ja-JP" i="1"/>
                          </m:ctrlPr>
                        </m:dPr>
                        <m:e>
                          <m:r>
                            <a:rPr lang="ja-JP" altLang="ar-AE" i="1"/>
                            <m:t>𝑡</m:t>
                          </m:r>
                        </m:e>
                      </m:d>
                      <m:r>
                        <a:rPr lang="ar-AE" altLang="ja-JP"/>
                        <m:t>∥.</m:t>
                      </m:r>
                    </m:oMath>
                  </m:oMathPara>
                </a14:m>
                <a:endParaRPr lang="ar-AE" altLang="ja-JP" dirty="0"/>
              </a:p>
              <a:p>
                <a:pPr marL="0" indent="0">
                  <a:lnSpc>
                    <a:spcPct val="110000"/>
                  </a:lnSpc>
                  <a:buNone/>
                </a:pPr>
                <a:r>
                  <a:rPr lang="ja-JP" altLang="en-US" dirty="0"/>
                  <a:t>假设 </a:t>
                </a:r>
                <a14:m>
                  <m:oMath xmlns:m="http://schemas.openxmlformats.org/officeDocument/2006/math">
                    <m:r>
                      <a:rPr lang="ja-JP" altLang="en-US" i="1"/>
                      <m:t>𝑓</m:t>
                    </m:r>
                  </m:oMath>
                </a14:m>
                <a:r>
                  <a:rPr lang="ja-JP" altLang="en-US" dirty="0"/>
                  <a:t>关于状态变量 </a:t>
                </a:r>
                <a14:m>
                  <m:oMath xmlns:m="http://schemas.openxmlformats.org/officeDocument/2006/math">
                    <m:r>
                      <a:rPr lang="ja-JP" altLang="en-US" i="1"/>
                      <m:t>𝑥</m:t>
                    </m:r>
                  </m:oMath>
                </a14:m>
                <a:r>
                  <a:rPr lang="ja-JP" altLang="en-US" dirty="0"/>
                  <a:t>是 </a:t>
                </a:r>
                <a:r>
                  <a:rPr lang="en-US" altLang="ja-JP" dirty="0"/>
                  <a:t>Lipschitz </a:t>
                </a:r>
                <a:r>
                  <a:rPr lang="ja-JP" altLang="en-US" dirty="0"/>
                  <a:t>连续的：</a:t>
                </a:r>
                <a14:m>
                  <m:oMath xmlns:m="http://schemas.openxmlformats.org/officeDocument/2006/math">
                    <m:r>
                      <a:rPr lang="ja-JP" altLang="en-US"/>
                      <m:t>∥</m:t>
                    </m:r>
                    <m:r>
                      <a:rPr lang="ja-JP" altLang="en-US" i="1"/>
                      <m:t>𝑓</m:t>
                    </m:r>
                    <m:d>
                      <m:dPr>
                        <m:sepChr m:val=","/>
                        <m:ctrlPr>
                          <a:rPr lang="ar-AE" altLang="ja-JP" i="1"/>
                        </m:ctrlPr>
                      </m:dPr>
                      <m:e>
                        <m:r>
                          <a:rPr lang="ja-JP" altLang="ar-AE" i="1"/>
                          <m:t>𝑡</m:t>
                        </m:r>
                      </m:e>
                      <m:e>
                        <m:r>
                          <a:rPr lang="ja-JP" altLang="ar-AE" i="1"/>
                          <m:t>𝑥</m:t>
                        </m:r>
                      </m:e>
                    </m:d>
                    <m:r>
                      <a:rPr lang="ar-AE" altLang="ja-JP"/>
                      <m:t>−</m:t>
                    </m:r>
                    <m:r>
                      <a:rPr lang="ja-JP" altLang="ar-AE" i="1"/>
                      <m:t>𝑓</m:t>
                    </m:r>
                    <m:d>
                      <m:dPr>
                        <m:sepChr m:val=","/>
                        <m:ctrlPr>
                          <a:rPr lang="ar-AE" altLang="ja-JP" i="1"/>
                        </m:ctrlPr>
                      </m:dPr>
                      <m:e>
                        <m:r>
                          <a:rPr lang="ja-JP" altLang="ar-AE" i="1"/>
                          <m:t>𝑡</m:t>
                        </m:r>
                      </m:e>
                      <m:e>
                        <m:r>
                          <a:rPr lang="ja-JP" altLang="ar-AE" i="1"/>
                          <m:t>𝑦</m:t>
                        </m:r>
                      </m:e>
                    </m:d>
                    <m:r>
                      <a:rPr lang="ar-AE" altLang="ja-JP"/>
                      <m:t>∥≤</m:t>
                    </m:r>
                    <m:r>
                      <a:rPr lang="ja-JP" altLang="ar-AE" i="1"/>
                      <m:t>𝐿</m:t>
                    </m:r>
                    <m:r>
                      <a:rPr lang="ar-AE" altLang="ja-JP"/>
                      <m:t>∥</m:t>
                    </m:r>
                    <m:r>
                      <a:rPr lang="ja-JP" altLang="ar-AE" i="1"/>
                      <m:t>𝑥</m:t>
                    </m:r>
                    <m:r>
                      <a:rPr lang="ar-AE" altLang="ja-JP"/>
                      <m:t>−</m:t>
                    </m:r>
                    <m:r>
                      <a:rPr lang="ja-JP" altLang="ar-AE" i="1"/>
                      <m:t>𝑦</m:t>
                    </m:r>
                    <m:r>
                      <a:rPr lang="ar-AE" altLang="ja-JP"/>
                      <m:t>∥.</m:t>
                    </m:r>
                  </m:oMath>
                </a14:m>
                <a:endParaRPr lang="ar-AE" altLang="ja-JP" dirty="0"/>
              </a:p>
              <a:p>
                <a:pPr marL="0" indent="0">
                  <a:lnSpc>
                    <a:spcPct val="110000"/>
                  </a:lnSpc>
                  <a:buNone/>
                </a:pPr>
                <a:r>
                  <a:rPr lang="ja-JP" altLang="en-US" dirty="0"/>
                  <a:t>那么对于任意两条曲线 </a:t>
                </a:r>
                <a14:m>
                  <m:oMath xmlns:m="http://schemas.openxmlformats.org/officeDocument/2006/math">
                    <m:r>
                      <a:rPr lang="ja-JP" altLang="en-US" i="1"/>
                      <m:t>𝜑</m:t>
                    </m:r>
                    <m:r>
                      <a:rPr lang="en-US" altLang="ja-JP"/>
                      <m:t>,</m:t>
                    </m:r>
                    <m:r>
                      <a:rPr lang="ja-JP" altLang="en-US" i="1"/>
                      <m:t>𝜓</m:t>
                    </m:r>
                  </m:oMath>
                </a14:m>
                <a:r>
                  <a:rPr lang="ja-JP" altLang="en-US" dirty="0"/>
                  <a:t>，有</a:t>
                </a:r>
              </a:p>
              <a:p>
                <a:pPr marL="0" indent="0">
                  <a:lnSpc>
                    <a:spcPct val="110000"/>
                  </a:lnSpc>
                  <a:buNone/>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ar-AE" altLang="ja-JP"/>
                          </m:ctrlPr>
                        </m:mPr>
                        <m:mr>
                          <m:e>
                            <m:r>
                              <a:rPr lang="ar-AE" altLang="ja-JP"/>
                              <m:t>∥</m:t>
                            </m:r>
                            <m:d>
                              <m:dPr>
                                <m:ctrlPr>
                                  <a:rPr lang="ar-AE" altLang="ja-JP" i="1"/>
                                </m:ctrlPr>
                              </m:dPr>
                              <m:e>
                                <m:r>
                                  <a:rPr lang="ja-JP" altLang="ar-AE"/>
                                  <m:t>𝒯</m:t>
                                </m:r>
                                <m:r>
                                  <a:rPr lang="ja-JP" altLang="ar-AE" i="1"/>
                                  <m:t>𝜑</m:t>
                                </m:r>
                              </m:e>
                            </m:d>
                            <m:d>
                              <m:dPr>
                                <m:ctrlPr>
                                  <a:rPr lang="ar-AE" altLang="ja-JP" i="1"/>
                                </m:ctrlPr>
                              </m:dPr>
                              <m:e>
                                <m:r>
                                  <a:rPr lang="ja-JP" altLang="ar-AE" i="1"/>
                                  <m:t>𝑡</m:t>
                                </m:r>
                              </m:e>
                            </m:d>
                            <m:r>
                              <a:rPr lang="ar-AE" altLang="ja-JP"/>
                              <m:t>−</m:t>
                            </m:r>
                            <m:d>
                              <m:dPr>
                                <m:ctrlPr>
                                  <a:rPr lang="ar-AE" altLang="ja-JP" i="1"/>
                                </m:ctrlPr>
                              </m:dPr>
                              <m:e>
                                <m:r>
                                  <a:rPr lang="ja-JP" altLang="ar-AE"/>
                                  <m:t>𝒯</m:t>
                                </m:r>
                                <m:r>
                                  <a:rPr lang="ja-JP" altLang="ar-AE" i="1"/>
                                  <m:t>𝜓</m:t>
                                </m:r>
                              </m:e>
                            </m:d>
                            <m:d>
                              <m:dPr>
                                <m:ctrlPr>
                                  <a:rPr lang="ar-AE" altLang="ja-JP" i="1"/>
                                </m:ctrlPr>
                              </m:dPr>
                              <m:e>
                                <m:r>
                                  <a:rPr lang="ja-JP" altLang="ar-AE" i="1"/>
                                  <m:t>𝑡</m:t>
                                </m:r>
                              </m:e>
                            </m:d>
                            <m:r>
                              <a:rPr lang="ar-AE" altLang="ja-JP"/>
                              <m:t>∥</m:t>
                            </m:r>
                          </m:e>
                          <m:e>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r>
                                  <a:rPr lang="ar-AE" altLang="ja-JP"/>
                                  <m:t>(</m:t>
                                </m:r>
                              </m:e>
                            </m:nary>
                            <m:d>
                              <m:dPr>
                                <m:begChr m:val=""/>
                                <m:ctrlPr>
                                  <a:rPr lang="ar-AE" altLang="ja-JP" i="1"/>
                                </m:ctrlPr>
                              </m:dPr>
                              <m:e>
                                <m:r>
                                  <a:rPr lang="ja-JP" altLang="ar-AE" i="1"/>
                                  <m:t>𝑓</m:t>
                                </m:r>
                                <m:d>
                                  <m:dPr>
                                    <m:sepChr m:val=","/>
                                    <m:ctrlPr>
                                      <a:rPr lang="ar-AE" altLang="ja-JP" i="1"/>
                                    </m:ctrlPr>
                                  </m:dPr>
                                  <m:e>
                                    <m:r>
                                      <a:rPr lang="ja-JP" altLang="ar-AE" i="1"/>
                                      <m:t>𝑠</m:t>
                                    </m:r>
                                  </m:e>
                                  <m:e>
                                    <m:r>
                                      <a:rPr lang="ja-JP" altLang="ar-AE" i="1"/>
                                      <m:t>𝜑</m:t>
                                    </m:r>
                                    <m:d>
                                      <m:dPr>
                                        <m:ctrlPr>
                                          <a:rPr lang="ar-AE" altLang="ja-JP" i="1"/>
                                        </m:ctrlPr>
                                      </m:dPr>
                                      <m:e>
                                        <m:r>
                                          <a:rPr lang="ja-JP" altLang="ar-AE" i="1"/>
                                          <m:t>𝑠</m:t>
                                        </m:r>
                                      </m:e>
                                    </m:d>
                                  </m:e>
                                </m:d>
                                <m:r>
                                  <a:rPr lang="ar-AE" altLang="ja-JP"/>
                                  <m:t>−</m:t>
                                </m:r>
                                <m:r>
                                  <a:rPr lang="ja-JP" altLang="ar-AE" i="1"/>
                                  <m:t>𝑓</m:t>
                                </m:r>
                                <m:d>
                                  <m:dPr>
                                    <m:sepChr m:val=","/>
                                    <m:ctrlPr>
                                      <a:rPr lang="ar-AE" altLang="ja-JP" i="1"/>
                                    </m:ctrlPr>
                                  </m:dPr>
                                  <m:e>
                                    <m:r>
                                      <a:rPr lang="ja-JP" altLang="ar-AE" i="1"/>
                                      <m:t>𝑠</m:t>
                                    </m:r>
                                  </m:e>
                                  <m:e>
                                    <m:r>
                                      <a:rPr lang="ja-JP" altLang="ar-AE" i="1"/>
                                      <m:t>𝜓</m:t>
                                    </m:r>
                                    <m:d>
                                      <m:dPr>
                                        <m:ctrlPr>
                                          <a:rPr lang="ar-AE" altLang="ja-JP" i="1"/>
                                        </m:ctrlPr>
                                      </m:dPr>
                                      <m:e>
                                        <m:r>
                                          <a:rPr lang="ja-JP" altLang="ar-AE" i="1"/>
                                          <m:t>𝑠</m:t>
                                        </m:r>
                                      </m:e>
                                    </m:d>
                                  </m:e>
                                </m:d>
                              </m:e>
                            </m:d>
                            <m:r>
                              <m:rPr>
                                <m:nor/>
                              </m:rPr>
                              <a:rPr lang="ar-AE" altLang="ja-JP" i="1"/>
                              <m:t> </m:t>
                            </m:r>
                            <m:r>
                              <a:rPr lang="ja-JP" altLang="ar-AE" i="1"/>
                              <m:t>𝑑</m:t>
                            </m:r>
                            <m:d>
                              <m:dPr>
                                <m:begChr m:val=""/>
                                <m:endChr m:val="∥"/>
                                <m:ctrlPr>
                                  <a:rPr lang="ar-AE" altLang="ja-JP" i="1"/>
                                </m:ctrlPr>
                              </m:dPr>
                              <m:e>
                                <m:r>
                                  <a:rPr lang="ja-JP" altLang="ar-AE" i="1"/>
                                  <m:t>𝑠</m:t>
                                </m:r>
                              </m:e>
                            </m:d>
                          </m:e>
                        </m:mr>
                        <m:mr>
                          <m:e/>
                          <m:e>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r>
                                  <a:rPr lang="ja-JP" altLang="ar-AE" i="1"/>
                                  <m:t>𝐿</m:t>
                                </m:r>
                              </m:e>
                            </m:nary>
                            <m:r>
                              <a:rPr lang="ar-AE" altLang="ja-JP"/>
                              <m:t>∥</m:t>
                            </m:r>
                            <m:r>
                              <a:rPr lang="ja-JP" altLang="ar-AE" i="1"/>
                              <m:t>𝜑</m:t>
                            </m:r>
                            <m:d>
                              <m:dPr>
                                <m:ctrlPr>
                                  <a:rPr lang="ar-AE" altLang="ja-JP" i="1"/>
                                </m:ctrlPr>
                              </m:dPr>
                              <m:e>
                                <m:r>
                                  <a:rPr lang="ja-JP" altLang="ar-AE" i="1"/>
                                  <m:t>𝑠</m:t>
                                </m:r>
                              </m:e>
                            </m:d>
                            <m:r>
                              <a:rPr lang="ar-AE" altLang="ja-JP"/>
                              <m:t>−</m:t>
                            </m:r>
                            <m:r>
                              <a:rPr lang="ja-JP" altLang="ar-AE" i="1"/>
                              <m:t>𝜓</m:t>
                            </m:r>
                            <m:d>
                              <m:dPr>
                                <m:ctrlPr>
                                  <a:rPr lang="ar-AE" altLang="ja-JP" i="1"/>
                                </m:ctrlPr>
                              </m:dPr>
                              <m:e>
                                <m:r>
                                  <a:rPr lang="ja-JP" altLang="ar-AE" i="1"/>
                                  <m:t>𝑠</m:t>
                                </m:r>
                              </m:e>
                            </m:d>
                            <m:r>
                              <a:rPr lang="ar-AE" altLang="ja-JP"/>
                              <m:t>∥</m:t>
                            </m:r>
                            <m:r>
                              <m:rPr>
                                <m:nor/>
                              </m:rPr>
                              <a:rPr lang="ar-AE" altLang="ja-JP" i="1"/>
                              <m:t> </m:t>
                            </m:r>
                            <m:r>
                              <a:rPr lang="ja-JP" altLang="ar-AE" i="1"/>
                              <m:t>𝑑𝑠</m:t>
                            </m:r>
                            <m:r>
                              <a:rPr lang="en-US" altLang="ja-JP" b="0" i="1" smtClean="0">
                                <a:latin typeface="Cambria Math" panose="02040503050406030204" pitchFamily="18" charset="0"/>
                              </a:rPr>
                              <m:t> </m:t>
                            </m:r>
                            <m:r>
                              <a:rPr lang="ar-AE" altLang="ja-JP">
                                <a:latin typeface="Cambria Math" panose="02040503050406030204" pitchFamily="18" charset="0"/>
                              </a:rPr>
                              <m:t>≤</m:t>
                            </m:r>
                            <m:r>
                              <a:rPr lang="en-US" altLang="ja-JP" b="0" i="0" smtClean="0">
                                <a:latin typeface="Cambria Math" panose="02040503050406030204" pitchFamily="18" charset="0"/>
                              </a:rPr>
                              <m:t> </m:t>
                            </m:r>
                            <m:r>
                              <a:rPr lang="ja-JP" altLang="ar-AE" i="1">
                                <a:latin typeface="Cambria Math" panose="02040503050406030204" pitchFamily="18" charset="0"/>
                              </a:rPr>
                              <m:t>𝐿</m:t>
                            </m:r>
                            <m:r>
                              <a:rPr lang="ar-AE" altLang="ja-JP" i="1">
                                <a:latin typeface="Cambria Math" panose="02040503050406030204" pitchFamily="18" charset="0"/>
                              </a:rPr>
                              <m:t>h</m:t>
                            </m:r>
                            <m:r>
                              <a:rPr lang="ar-AE" altLang="ja-JP">
                                <a:latin typeface="Cambria Math" panose="02040503050406030204" pitchFamily="18" charset="0"/>
                              </a:rPr>
                              <m:t>∥</m:t>
                            </m:r>
                            <m:r>
                              <a:rPr lang="ja-JP" altLang="ar-AE" i="1">
                                <a:latin typeface="Cambria Math" panose="02040503050406030204" pitchFamily="18" charset="0"/>
                              </a:rPr>
                              <m:t>𝜑</m:t>
                            </m:r>
                            <m:r>
                              <a:rPr lang="ar-AE" altLang="ja-JP">
                                <a:latin typeface="Cambria Math" panose="02040503050406030204" pitchFamily="18" charset="0"/>
                              </a:rPr>
                              <m:t>−</m:t>
                            </m:r>
                            <m:r>
                              <a:rPr lang="ja-JP" altLang="ar-AE" i="1">
                                <a:latin typeface="Cambria Math" panose="02040503050406030204" pitchFamily="18" charset="0"/>
                              </a:rPr>
                              <m:t>𝜓</m:t>
                            </m:r>
                            <m:sSub>
                              <m:sSubPr>
                                <m:ctrlPr>
                                  <a:rPr lang="ar-AE" altLang="ja-JP" i="1">
                                    <a:latin typeface="Cambria Math" panose="02040503050406030204" pitchFamily="18" charset="0"/>
                                  </a:rPr>
                                </m:ctrlPr>
                              </m:sSubPr>
                              <m:e>
                                <m:r>
                                  <a:rPr lang="ar-AE" altLang="ja-JP">
                                    <a:latin typeface="Cambria Math" panose="02040503050406030204" pitchFamily="18" charset="0"/>
                                  </a:rPr>
                                  <m:t>∥</m:t>
                                </m:r>
                              </m:e>
                              <m:sub>
                                <m:r>
                                  <a:rPr lang="ar-AE" altLang="ja-JP">
                                    <a:latin typeface="Cambria Math" panose="02040503050406030204" pitchFamily="18" charset="0"/>
                                  </a:rPr>
                                  <m:t>∞</m:t>
                                </m:r>
                              </m:sub>
                            </m:sSub>
                          </m:e>
                        </m:mr>
                        <m:mr>
                          <m:e/>
                          <m:e/>
                        </m:mr>
                      </m:m>
                    </m:oMath>
                  </m:oMathPara>
                </a14:m>
                <a:endParaRPr lang="ar-AE" altLang="ja-JP" b="0" dirty="0"/>
              </a:p>
              <a:p>
                <a:pPr marL="0" indent="0">
                  <a:lnSpc>
                    <a:spcPct val="110000"/>
                  </a:lnSpc>
                  <a:buNone/>
                </a:pPr>
                <a:r>
                  <a:rPr lang="ja-JP" altLang="en-US" dirty="0"/>
                  <a:t>因此</a:t>
                </a:r>
                <a14:m>
                  <m:oMath xmlns:m="http://schemas.openxmlformats.org/officeDocument/2006/math">
                    <m:r>
                      <a:rPr lang="ja-JP" altLang="en-US"/>
                      <m:t>∥</m:t>
                    </m:r>
                    <m:r>
                      <a:rPr lang="ja-JP" altLang="en-US"/>
                      <m:t>𝒯</m:t>
                    </m:r>
                    <m:r>
                      <a:rPr lang="ja-JP" altLang="en-US" i="1"/>
                      <m:t>𝜑</m:t>
                    </m:r>
                    <m:r>
                      <a:rPr lang="ja-JP" altLang="en-US"/>
                      <m:t>−</m:t>
                    </m:r>
                    <m:r>
                      <a:rPr lang="ja-JP" altLang="en-US"/>
                      <m:t>𝒯</m:t>
                    </m:r>
                    <m:r>
                      <a:rPr lang="ja-JP" altLang="en-US" i="1"/>
                      <m:t>𝜓</m:t>
                    </m:r>
                    <m:sSub>
                      <m:sSubPr>
                        <m:ctrlPr>
                          <a:rPr lang="ar-AE" altLang="ja-JP" i="1"/>
                        </m:ctrlPr>
                      </m:sSubPr>
                      <m:e>
                        <m:r>
                          <a:rPr lang="ar-AE" altLang="ja-JP"/>
                          <m:t>∥</m:t>
                        </m:r>
                      </m:e>
                      <m:sub>
                        <m:r>
                          <a:rPr lang="ar-AE" altLang="ja-JP"/>
                          <m:t>∞</m:t>
                        </m:r>
                      </m:sub>
                    </m:sSub>
                    <m:r>
                      <a:rPr lang="ar-AE" altLang="ja-JP"/>
                      <m:t>≤</m:t>
                    </m:r>
                    <m:r>
                      <a:rPr lang="ja-JP" altLang="ar-AE" i="1"/>
                      <m:t>𝐿</m:t>
                    </m:r>
                    <m:r>
                      <a:rPr lang="ar-AE" altLang="ja-JP" i="1"/>
                      <m:t>h</m:t>
                    </m:r>
                    <m:r>
                      <a:rPr lang="ar-AE" altLang="ja-JP"/>
                      <m:t>∥</m:t>
                    </m:r>
                    <m:r>
                      <a:rPr lang="ja-JP" altLang="ar-AE" i="1"/>
                      <m:t>𝜑</m:t>
                    </m:r>
                    <m:r>
                      <a:rPr lang="ar-AE" altLang="ja-JP"/>
                      <m:t>−</m:t>
                    </m:r>
                    <m:r>
                      <a:rPr lang="ja-JP" altLang="ar-AE" i="1"/>
                      <m:t>𝜓</m:t>
                    </m:r>
                    <m:sSub>
                      <m:sSubPr>
                        <m:ctrlPr>
                          <a:rPr lang="ar-AE" altLang="ja-JP" i="1"/>
                        </m:ctrlPr>
                      </m:sSubPr>
                      <m:e>
                        <m:r>
                          <a:rPr lang="ar-AE" altLang="ja-JP"/>
                          <m:t>∥</m:t>
                        </m:r>
                      </m:e>
                      <m:sub>
                        <m:r>
                          <a:rPr lang="ar-AE" altLang="ja-JP"/>
                          <m:t>∞</m:t>
                        </m:r>
                      </m:sub>
                    </m:sSub>
                    <m:r>
                      <a:rPr lang="ar-AE" altLang="ja-JP"/>
                      <m:t>.</m:t>
                    </m:r>
                  </m:oMath>
                </a14:m>
                <a:r>
                  <a:rPr lang="ja-JP" altLang="en-US" dirty="0"/>
                  <a:t>   如果选取足够小的时间区间，使得</a:t>
                </a:r>
                <a14:m>
                  <m:oMath xmlns:m="http://schemas.openxmlformats.org/officeDocument/2006/math">
                    <m:r>
                      <a:rPr lang="ja-JP" altLang="en-US" i="1"/>
                      <m:t>𝐿</m:t>
                    </m:r>
                    <m:r>
                      <a:rPr lang="en-US" altLang="ja-JP" i="1"/>
                      <m:t>h</m:t>
                    </m:r>
                    <m:r>
                      <a:rPr lang="en-US" altLang="ja-JP"/>
                      <m:t>&lt;</m:t>
                    </m:r>
                    <m:r>
                      <a:rPr lang="en-US" altLang="ja-JP"/>
                      <m:t>1</m:t>
                    </m:r>
                    <m:r>
                      <a:rPr lang="en-US" altLang="ja-JP"/>
                      <m:t>,</m:t>
                    </m:r>
                  </m:oMath>
                </a14:m>
                <a:r>
                  <a:rPr lang="ja-JP" altLang="en-US" dirty="0"/>
                  <a:t>那么 </a:t>
                </a:r>
                <a14:m>
                  <m:oMath xmlns:m="http://schemas.openxmlformats.org/officeDocument/2006/math">
                    <m:r>
                      <a:rPr lang="ja-JP" altLang="en-US"/>
                      <m:t>𝒯</m:t>
                    </m:r>
                  </m:oMath>
                </a14:m>
                <a:r>
                  <a:rPr lang="ja-JP" altLang="en-US" dirty="0"/>
                  <a:t>就是一个压缩映射。</a:t>
                </a:r>
                <a:r>
                  <a:rPr lang="en-US" altLang="ja-JP" dirty="0"/>
                  <a:t>Banach </a:t>
                </a:r>
                <a:r>
                  <a:rPr lang="ja-JP" altLang="en-US" dirty="0"/>
                  <a:t>不动点定理告诉我们：在完备度量空间中，压缩映射存在唯一不动点，并且从任意初始点出发的迭代都会收敛到这个不动点。</a:t>
                </a:r>
              </a:p>
              <a:p>
                <a:pPr marL="0" indent="0">
                  <a:lnSpc>
                    <a:spcPct val="110000"/>
                  </a:lnSpc>
                  <a:buNone/>
                </a:pPr>
                <a:r>
                  <a:rPr lang="ja-JP" altLang="en-US" dirty="0"/>
                  <a:t>于是得到：</a:t>
                </a:r>
                <a:r>
                  <a:rPr lang="en-US" altLang="ja-JP" dirty="0"/>
                  <a:t>ODE </a:t>
                </a:r>
                <a:r>
                  <a:rPr lang="ja-JP" altLang="en-US" dirty="0"/>
                  <a:t>的解存在，因为 </a:t>
                </a:r>
                <a14:m>
                  <m:oMath xmlns:m="http://schemas.openxmlformats.org/officeDocument/2006/math">
                    <m:r>
                      <a:rPr lang="ja-JP" altLang="en-US"/>
                      <m:t>𝒯</m:t>
                    </m:r>
                  </m:oMath>
                </a14:m>
                <a:r>
                  <a:rPr lang="ja-JP" altLang="en-US" dirty="0"/>
                  <a:t>有不动点；</a:t>
                </a:r>
                <a:r>
                  <a:rPr lang="en-US" altLang="ja-JP" dirty="0"/>
                  <a:t>ODE </a:t>
                </a:r>
                <a:r>
                  <a:rPr lang="ja-JP" altLang="en-US" dirty="0"/>
                  <a:t>的解唯一，因为压缩映射的不动点唯一。</a:t>
                </a:r>
              </a:p>
              <a:p>
                <a:pPr marL="0" indent="0">
                  <a:lnSpc>
                    <a:spcPct val="110000"/>
                  </a:lnSpc>
                  <a:buNone/>
                </a:pPr>
                <a:r>
                  <a:rPr lang="ja-JP" altLang="en-US" dirty="0"/>
                  <a:t>这就是“常微分方程存在唯一性”与“不动点理论”的核心联系。</a:t>
                </a:r>
              </a:p>
            </p:txBody>
          </p:sp>
        </mc:Choice>
        <mc:Fallback>
          <p:sp>
            <p:nvSpPr>
              <p:cNvPr id="12" name="コンテンツ プレースホルダー 2">
                <a:extLst>
                  <a:ext uri="{FF2B5EF4-FFF2-40B4-BE49-F238E27FC236}">
                    <a16:creationId xmlns:a16="http://schemas.microsoft.com/office/drawing/2014/main" id="{C277019F-323B-5894-3220-2EF48FF65E0D}"/>
                  </a:ext>
                </a:extLst>
              </p:cNvPr>
              <p:cNvSpPr>
                <a:spLocks noGrp="1" noRot="1" noChangeAspect="1" noMove="1" noResize="1" noEditPoints="1" noAdjustHandles="1" noChangeArrowheads="1" noChangeShapeType="1" noTextEdit="1"/>
              </p:cNvSpPr>
              <p:nvPr>
                <p:ph idx="1"/>
              </p:nvPr>
            </p:nvSpPr>
            <p:spPr>
              <a:xfrm>
                <a:off x="487680" y="1010920"/>
                <a:ext cx="11582400" cy="5440680"/>
              </a:xfrm>
              <a:blipFill>
                <a:blip r:embed="rId3"/>
                <a:stretch>
                  <a:fillRect l="-526" t="-897" b="-7063"/>
                </a:stretch>
              </a:blipFill>
            </p:spPr>
            <p:txBody>
              <a:bodyPr/>
              <a:lstStyle/>
              <a:p>
                <a:r>
                  <a:rPr lang="ja-JP" altLang="en-US">
                    <a:noFill/>
                  </a:rPr>
                  <a:t> </a:t>
                </a:r>
              </a:p>
            </p:txBody>
          </p:sp>
        </mc:Fallback>
      </mc:AlternateContent>
      <p:sp>
        <p:nvSpPr>
          <p:cNvPr id="3" name="テキスト ボックス 2">
            <a:extLst>
              <a:ext uri="{FF2B5EF4-FFF2-40B4-BE49-F238E27FC236}">
                <a16:creationId xmlns:a16="http://schemas.microsoft.com/office/drawing/2014/main" id="{ED17EA2F-386A-BB17-D86C-5FC324E2C303}"/>
              </a:ext>
            </a:extLst>
          </p:cNvPr>
          <p:cNvSpPr txBox="1"/>
          <p:nvPr/>
        </p:nvSpPr>
        <p:spPr>
          <a:xfrm>
            <a:off x="508000" y="4058569"/>
            <a:ext cx="4712586" cy="646331"/>
          </a:xfrm>
          <a:prstGeom prst="rect">
            <a:avLst/>
          </a:prstGeom>
          <a:noFill/>
        </p:spPr>
        <p:txBody>
          <a:bodyPr wrap="square">
            <a:spAutoFit/>
          </a:bodyPr>
          <a:lstStyle/>
          <a:p>
            <a:r>
              <a:rPr lang="zh-CN" altLang="en-US" sz="1800" dirty="0">
                <a:solidFill>
                  <a:srgbClr val="7030A0"/>
                </a:solidFill>
              </a:rPr>
              <a:t>交换范数和积分，先把所有向量加起来再取长度，不会超过先把每个向量的长度加起来</a:t>
            </a:r>
            <a:endParaRPr lang="ja-JP" altLang="en-US" sz="1800" dirty="0">
              <a:solidFill>
                <a:srgbClr val="7030A0"/>
              </a:solidFill>
            </a:endParaRPr>
          </a:p>
        </p:txBody>
      </p:sp>
      <mc:AlternateContent xmlns:mc="http://schemas.openxmlformats.org/markup-compatibility/2006">
        <mc:Choice xmlns:a14="http://schemas.microsoft.com/office/drawing/2010/main" Requires="a14">
          <p:sp>
            <p:nvSpPr>
              <p:cNvPr id="5" name="テキスト ボックス 4">
                <a:extLst>
                  <a:ext uri="{FF2B5EF4-FFF2-40B4-BE49-F238E27FC236}">
                    <a16:creationId xmlns:a16="http://schemas.microsoft.com/office/drawing/2014/main" id="{2CE35872-34E2-0C42-0F1D-7AF9582CEBC5}"/>
                  </a:ext>
                </a:extLst>
              </p:cNvPr>
              <p:cNvSpPr txBox="1"/>
              <p:nvPr/>
            </p:nvSpPr>
            <p:spPr>
              <a:xfrm>
                <a:off x="6971416" y="3752524"/>
                <a:ext cx="2392326" cy="400110"/>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ja-JP" i="1" dirty="0" smtClean="0">
                          <a:solidFill>
                            <a:srgbClr val="7030A0"/>
                          </a:solidFill>
                          <a:latin typeface="Cambria Math" panose="02040503050406030204" pitchFamily="18" charset="0"/>
                        </a:rPr>
                        <m:t>𝑡</m:t>
                      </m:r>
                      <m:r>
                        <a:rPr lang="en-US" altLang="ja-JP" i="1" dirty="0" smtClean="0">
                          <a:solidFill>
                            <a:srgbClr val="7030A0"/>
                          </a:solidFill>
                          <a:latin typeface="Cambria Math" panose="02040503050406030204" pitchFamily="18" charset="0"/>
                        </a:rPr>
                        <m:t>∈[</m:t>
                      </m:r>
                      <m:sSub>
                        <m:sSubPr>
                          <m:ctrlPr>
                            <a:rPr lang="ar-AE" altLang="ja-JP" i="1">
                              <a:solidFill>
                                <a:srgbClr val="7030A0"/>
                              </a:solidFill>
                              <a:latin typeface="Cambria Math" panose="02040503050406030204" pitchFamily="18" charset="0"/>
                            </a:rPr>
                          </m:ctrlPr>
                        </m:sSubPr>
                        <m:e>
                          <m:r>
                            <a:rPr lang="ja-JP" altLang="ar-AE" i="1">
                              <a:solidFill>
                                <a:srgbClr val="7030A0"/>
                              </a:solidFill>
                              <a:latin typeface="Cambria Math" panose="02040503050406030204" pitchFamily="18" charset="0"/>
                            </a:rPr>
                            <m:t>𝑡</m:t>
                          </m:r>
                        </m:e>
                        <m:sub>
                          <m:r>
                            <a:rPr lang="ar-AE" altLang="ja-JP">
                              <a:solidFill>
                                <a:srgbClr val="7030A0"/>
                              </a:solidFill>
                              <a:latin typeface="Cambria Math" panose="02040503050406030204" pitchFamily="18" charset="0"/>
                            </a:rPr>
                            <m:t>0</m:t>
                          </m:r>
                        </m:sub>
                      </m:sSub>
                      <m:r>
                        <a:rPr lang="en-US" altLang="ja-JP" i="1" dirty="0" smtClean="0">
                          <a:solidFill>
                            <a:srgbClr val="7030A0"/>
                          </a:solidFill>
                          <a:latin typeface="Cambria Math" panose="02040503050406030204" pitchFamily="18" charset="0"/>
                        </a:rPr>
                        <m:t>​,</m:t>
                      </m:r>
                      <m:sSub>
                        <m:sSubPr>
                          <m:ctrlPr>
                            <a:rPr lang="ar-AE" altLang="ja-JP" i="1">
                              <a:solidFill>
                                <a:srgbClr val="7030A0"/>
                              </a:solidFill>
                              <a:latin typeface="Cambria Math" panose="02040503050406030204" pitchFamily="18" charset="0"/>
                            </a:rPr>
                          </m:ctrlPr>
                        </m:sSubPr>
                        <m:e>
                          <m:r>
                            <a:rPr lang="ja-JP" altLang="ar-AE" i="1">
                              <a:solidFill>
                                <a:srgbClr val="7030A0"/>
                              </a:solidFill>
                              <a:latin typeface="Cambria Math" panose="02040503050406030204" pitchFamily="18" charset="0"/>
                            </a:rPr>
                            <m:t>𝑡</m:t>
                          </m:r>
                        </m:e>
                        <m:sub>
                          <m:r>
                            <a:rPr lang="ar-AE" altLang="ja-JP">
                              <a:solidFill>
                                <a:srgbClr val="7030A0"/>
                              </a:solidFill>
                              <a:latin typeface="Cambria Math" panose="02040503050406030204" pitchFamily="18" charset="0"/>
                            </a:rPr>
                            <m:t>0</m:t>
                          </m:r>
                        </m:sub>
                      </m:sSub>
                      <m:r>
                        <a:rPr lang="en-US" altLang="ja-JP" i="1" dirty="0" smtClean="0">
                          <a:solidFill>
                            <a:srgbClr val="7030A0"/>
                          </a:solidFill>
                          <a:latin typeface="Cambria Math" panose="02040503050406030204" pitchFamily="18" charset="0"/>
                        </a:rPr>
                        <m:t>​+</m:t>
                      </m:r>
                      <m:r>
                        <a:rPr lang="en-US" altLang="ja-JP" i="1" dirty="0" smtClean="0">
                          <a:solidFill>
                            <a:srgbClr val="7030A0"/>
                          </a:solidFill>
                          <a:latin typeface="Cambria Math" panose="02040503050406030204" pitchFamily="18" charset="0"/>
                        </a:rPr>
                        <m:t>h</m:t>
                      </m:r>
                      <m:r>
                        <a:rPr lang="en-US" altLang="ja-JP" i="1" dirty="0" smtClean="0">
                          <a:solidFill>
                            <a:srgbClr val="7030A0"/>
                          </a:solidFill>
                          <a:latin typeface="Cambria Math" panose="02040503050406030204" pitchFamily="18" charset="0"/>
                        </a:rPr>
                        <m:t>]</m:t>
                      </m:r>
                    </m:oMath>
                  </m:oMathPara>
                </a14:m>
              </a:p>
            </p:txBody>
          </p:sp>
        </mc:Choice>
        <mc:Fallback>
          <p:sp>
            <p:nvSpPr>
              <p:cNvPr id="5" name="テキスト ボックス 4">
                <a:extLst>
                  <a:ext uri="{FF2B5EF4-FFF2-40B4-BE49-F238E27FC236}">
                    <a16:creationId xmlns:a16="http://schemas.microsoft.com/office/drawing/2014/main" id="{2CE35872-34E2-0C42-0F1D-7AF9582CEBC5}"/>
                  </a:ext>
                </a:extLst>
              </p:cNvPr>
              <p:cNvSpPr txBox="1">
                <a:spLocks noRot="1" noChangeAspect="1" noMove="1" noResize="1" noEditPoints="1" noAdjustHandles="1" noChangeArrowheads="1" noChangeShapeType="1" noTextEdit="1"/>
              </p:cNvSpPr>
              <p:nvPr/>
            </p:nvSpPr>
            <p:spPr>
              <a:xfrm>
                <a:off x="6971416" y="3752524"/>
                <a:ext cx="2392326" cy="400110"/>
              </a:xfrm>
              <a:prstGeom prst="rect">
                <a:avLst/>
              </a:prstGeom>
              <a:blipFill>
                <a:blip r:embed="rId4"/>
                <a:stretch>
                  <a:fillRect t="-9231" b="-2769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40800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79A47-5AE8-0D21-0DE2-58C51511C024}"/>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BF01DE1F-8F3D-8CB8-2F82-E6790CA33CD1}"/>
              </a:ext>
            </a:extLst>
          </p:cNvPr>
          <p:cNvSpPr>
            <a:spLocks noGrp="1" noChangeArrowheads="1"/>
          </p:cNvSpPr>
          <p:nvPr>
            <p:ph type="title"/>
          </p:nvPr>
        </p:nvSpPr>
        <p:spPr/>
        <p:txBody>
          <a:bodyPr/>
          <a:lstStyle/>
          <a:p>
            <a:r>
              <a:rPr lang="zh-CN" altLang="en-US" b="1" dirty="0"/>
              <a:t>一个简单例子：指数增长方程</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2B6E6F3E-8CBD-397A-3338-4F67CEB32E2B}"/>
                  </a:ext>
                </a:extLst>
              </p:cNvPr>
              <p:cNvSpPr>
                <a:spLocks noGrp="1"/>
              </p:cNvSpPr>
              <p:nvPr>
                <p:ph idx="1"/>
              </p:nvPr>
            </p:nvSpPr>
            <p:spPr>
              <a:xfrm>
                <a:off x="508000" y="1112520"/>
                <a:ext cx="11582400" cy="5440680"/>
              </a:xfrm>
            </p:spPr>
            <p:txBody>
              <a:bodyPr/>
              <a:lstStyle/>
              <a:p>
                <a:pPr marL="0" indent="0">
                  <a:buNone/>
                </a:pPr>
                <a:r>
                  <a:rPr lang="ja-JP" altLang="en-US" dirty="0"/>
                  <a:t>考虑</a:t>
                </a:r>
                <a14:m>
                  <m:oMath xmlns:m="http://schemas.openxmlformats.org/officeDocument/2006/math">
                    <m:sSup>
                      <m:sSupPr>
                        <m:ctrlPr>
                          <a:rPr lang="ar-AE" altLang="ja-JP"/>
                        </m:ctrlPr>
                      </m:sSupPr>
                      <m:e>
                        <m:r>
                          <a:rPr lang="ja-JP" altLang="ar-AE" i="1"/>
                          <m:t>𝑥</m:t>
                        </m:r>
                      </m:e>
                      <m:sup>
                        <m:r>
                          <a:rPr lang="ar-AE" altLang="ja-JP"/>
                          <m:t>′</m:t>
                        </m:r>
                      </m:sup>
                    </m:sSup>
                    <m:d>
                      <m:dPr>
                        <m:ctrlPr>
                          <a:rPr lang="ar-AE" altLang="ja-JP" i="1"/>
                        </m:ctrlPr>
                      </m:dPr>
                      <m:e>
                        <m:r>
                          <a:rPr lang="ja-JP" altLang="ar-AE" i="1"/>
                          <m:t>𝑡</m:t>
                        </m:r>
                      </m:e>
                    </m:d>
                    <m:r>
                      <a:rPr lang="ar-AE" altLang="ja-JP"/>
                      <m:t>=</m:t>
                    </m:r>
                    <m:r>
                      <a:rPr lang="ja-JP" altLang="ar-AE" i="1"/>
                      <m:t>𝑎𝑥</m:t>
                    </m:r>
                    <m:d>
                      <m:dPr>
                        <m:ctrlPr>
                          <a:rPr lang="ar-AE" altLang="ja-JP" i="1"/>
                        </m:ctrlPr>
                      </m:dPr>
                      <m:e>
                        <m:r>
                          <a:rPr lang="ja-JP" altLang="ar-AE" i="1"/>
                          <m:t>𝑡</m:t>
                        </m:r>
                      </m:e>
                    </m:d>
                    <m:r>
                      <a:rPr lang="ar-AE" altLang="ja-JP"/>
                      <m:t>, </m:t>
                    </m:r>
                    <m:r>
                      <a:rPr lang="en-US" altLang="ja-JP" b="0" i="1" smtClean="0">
                        <a:latin typeface="Cambria Math" panose="02040503050406030204" pitchFamily="18" charset="0"/>
                      </a:rPr>
                      <m:t> </m:t>
                    </m:r>
                    <m:r>
                      <a:rPr lang="ja-JP" altLang="ar-AE" i="1"/>
                      <m:t>𝑥</m:t>
                    </m:r>
                    <m:d>
                      <m:dPr>
                        <m:ctrlPr>
                          <a:rPr lang="ar-AE" altLang="ja-JP" i="1"/>
                        </m:ctrlPr>
                      </m:dPr>
                      <m:e>
                        <m:r>
                          <a:rPr lang="ar-AE" altLang="ja-JP"/>
                          <m:t>0</m:t>
                        </m:r>
                      </m:e>
                    </m:d>
                    <m:r>
                      <a:rPr lang="ar-AE" altLang="ja-JP"/>
                      <m:t>=</m:t>
                    </m:r>
                    <m:sSub>
                      <m:sSubPr>
                        <m:ctrlPr>
                          <a:rPr lang="ar-AE" altLang="ja-JP" i="1"/>
                        </m:ctrlPr>
                      </m:sSubPr>
                      <m:e>
                        <m:r>
                          <a:rPr lang="ja-JP" altLang="ar-AE" i="1"/>
                          <m:t>𝑥</m:t>
                        </m:r>
                      </m:e>
                      <m:sub>
                        <m:r>
                          <a:rPr lang="ar-AE" altLang="ja-JP"/>
                          <m:t>0</m:t>
                        </m:r>
                      </m:sub>
                    </m:sSub>
                    <m:r>
                      <a:rPr lang="ar-AE" altLang="ja-JP"/>
                      <m:t>.</m:t>
                    </m:r>
                  </m:oMath>
                </a14:m>
                <a:endParaRPr lang="ar-AE" altLang="ja-JP" dirty="0"/>
              </a:p>
              <a:p>
                <a:pPr marL="0" indent="0">
                  <a:buNone/>
                </a:pPr>
                <a:r>
                  <a:rPr lang="ja-JP" altLang="en-US" dirty="0"/>
                  <a:t>积分形式是</a:t>
                </a:r>
                <a14:m>
                  <m:oMath xmlns:m="http://schemas.openxmlformats.org/officeDocument/2006/math">
                    <m:r>
                      <a:rPr lang="ja-JP" altLang="en-US" i="1"/>
                      <m:t>𝑥</m:t>
                    </m:r>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r>
                          <a:rPr lang="ar-AE" altLang="ja-JP"/>
                          <m:t>0</m:t>
                        </m:r>
                      </m:sub>
                      <m:sup>
                        <m:r>
                          <a:rPr lang="ja-JP" altLang="ar-AE" i="1"/>
                          <m:t>𝑡</m:t>
                        </m:r>
                      </m:sup>
                      <m:e>
                        <m:r>
                          <a:rPr lang="ja-JP" altLang="ar-AE" i="1"/>
                          <m:t>𝑎</m:t>
                        </m:r>
                      </m:e>
                    </m:nary>
                    <m:r>
                      <a:rPr lang="ja-JP" altLang="ar-AE" i="1"/>
                      <m:t>𝑥</m:t>
                    </m:r>
                    <m:d>
                      <m:dPr>
                        <m:ctrlPr>
                          <a:rPr lang="ar-AE" altLang="ja-JP" i="1"/>
                        </m:ctrlPr>
                      </m:dPr>
                      <m:e>
                        <m:r>
                          <a:rPr lang="ja-JP" altLang="ar-AE" i="1"/>
                          <m:t>𝑠</m:t>
                        </m:r>
                      </m:e>
                    </m:d>
                    <m:r>
                      <m:rPr>
                        <m:nor/>
                      </m:rPr>
                      <a:rPr lang="ar-AE" altLang="ja-JP" i="1"/>
                      <m:t> </m:t>
                    </m:r>
                    <m:r>
                      <a:rPr lang="ja-JP" altLang="ar-AE" i="1"/>
                      <m:t>𝑑𝑠</m:t>
                    </m:r>
                    <m:r>
                      <a:rPr lang="ar-AE" altLang="ja-JP"/>
                      <m:t>.</m:t>
                    </m:r>
                  </m:oMath>
                </a14:m>
                <a:r>
                  <a:rPr lang="ja-JP" altLang="en-US" dirty="0"/>
                  <a:t>       定义</a:t>
                </a:r>
                <a14:m>
                  <m:oMath xmlns:m="http://schemas.openxmlformats.org/officeDocument/2006/math">
                    <m:d>
                      <m:dPr>
                        <m:ctrlPr>
                          <a:rPr lang="ar-AE" altLang="ja-JP"/>
                        </m:ctrlPr>
                      </m:dPr>
                      <m:e>
                        <m:r>
                          <a:rPr lang="ja-JP" altLang="ar-AE"/>
                          <m:t>𝒯</m:t>
                        </m:r>
                        <m:r>
                          <a:rPr lang="ja-JP" altLang="ar-AE" i="1"/>
                          <m:t>𝜑</m:t>
                        </m:r>
                      </m:e>
                    </m:d>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r>
                          <a:rPr lang="ar-AE" altLang="ja-JP"/>
                          <m:t>0</m:t>
                        </m:r>
                      </m:sub>
                      <m:sup>
                        <m:r>
                          <a:rPr lang="ja-JP" altLang="ar-AE" i="1"/>
                          <m:t>𝑡</m:t>
                        </m:r>
                      </m:sup>
                      <m:e>
                        <m:r>
                          <a:rPr lang="ja-JP" altLang="ar-AE" i="1"/>
                          <m:t>𝑎</m:t>
                        </m:r>
                      </m:e>
                    </m:nary>
                    <m:r>
                      <a:rPr lang="ja-JP" altLang="ar-AE" i="1"/>
                      <m:t>𝜑</m:t>
                    </m:r>
                    <m:d>
                      <m:dPr>
                        <m:ctrlPr>
                          <a:rPr lang="ar-AE" altLang="ja-JP" i="1"/>
                        </m:ctrlPr>
                      </m:dPr>
                      <m:e>
                        <m:r>
                          <a:rPr lang="ja-JP" altLang="ar-AE" i="1"/>
                          <m:t>𝑠</m:t>
                        </m:r>
                      </m:e>
                    </m:d>
                    <m:r>
                      <m:rPr>
                        <m:nor/>
                      </m:rPr>
                      <a:rPr lang="ar-AE" altLang="ja-JP" i="1"/>
                      <m:t> </m:t>
                    </m:r>
                    <m:r>
                      <a:rPr lang="ja-JP" altLang="ar-AE" i="1"/>
                      <m:t>𝑑𝑠</m:t>
                    </m:r>
                    <m:r>
                      <a:rPr lang="ar-AE" altLang="ja-JP"/>
                      <m:t>.</m:t>
                    </m:r>
                  </m:oMath>
                </a14:m>
                <a:endParaRPr lang="ar-AE" altLang="ja-JP" b="0" dirty="0"/>
              </a:p>
              <a:p>
                <a:pPr marL="0" indent="0">
                  <a:buNone/>
                </a:pPr>
                <a:r>
                  <a:rPr lang="en-US" altLang="ja-JP" dirty="0"/>
                  <a:t>Picard </a:t>
                </a:r>
                <a:r>
                  <a:rPr lang="ja-JP" altLang="en-US" dirty="0"/>
                  <a:t>迭代：</a:t>
                </a:r>
              </a:p>
              <a:p>
                <a:pPr lvl="1">
                  <a:buFont typeface="Wingdings" panose="05000000000000000000" pitchFamily="2" charset="2"/>
                  <a:buChar char="Ø"/>
                </a:pPr>
                <a14:m>
                  <m:oMath xmlns:m="http://schemas.openxmlformats.org/officeDocument/2006/math">
                    <m:sSub>
                      <m:sSubPr>
                        <m:ctrlPr>
                          <a:rPr lang="ar-AE" altLang="ja-JP"/>
                        </m:ctrlPr>
                      </m:sSubPr>
                      <m:e>
                        <m:r>
                          <a:rPr lang="ja-JP" altLang="ar-AE" i="1"/>
                          <m:t>𝜑</m:t>
                        </m:r>
                      </m:e>
                      <m:sub>
                        <m:r>
                          <a:rPr lang="ar-AE" altLang="ja-JP"/>
                          <m:t>0</m:t>
                        </m:r>
                      </m:sub>
                    </m:sSub>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oMath>
                </a14:m>
                <a:endParaRPr lang="ar-AE" altLang="ja-JP" dirty="0"/>
              </a:p>
              <a:p>
                <a:pPr lvl="1">
                  <a:buFont typeface="Wingdings" panose="05000000000000000000" pitchFamily="2" charset="2"/>
                  <a:buChar char="Ø"/>
                </a:pPr>
                <a14:m>
                  <m:oMath xmlns:m="http://schemas.openxmlformats.org/officeDocument/2006/math">
                    <m:sSub>
                      <m:sSubPr>
                        <m:ctrlPr>
                          <a:rPr lang="ar-AE" altLang="ja-JP"/>
                        </m:ctrlPr>
                      </m:sSubPr>
                      <m:e>
                        <m:r>
                          <a:rPr lang="ja-JP" altLang="ar-AE" i="1"/>
                          <m:t>𝜑</m:t>
                        </m:r>
                      </m:e>
                      <m:sub>
                        <m:r>
                          <a:rPr lang="ar-AE" altLang="ja-JP"/>
                          <m:t>1</m:t>
                        </m:r>
                      </m:sub>
                    </m:sSub>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r>
                          <a:rPr lang="ar-AE" altLang="ja-JP"/>
                          <m:t>0</m:t>
                        </m:r>
                      </m:sub>
                      <m:sup>
                        <m:r>
                          <a:rPr lang="ja-JP" altLang="ar-AE" i="1"/>
                          <m:t>𝑡</m:t>
                        </m:r>
                      </m:sup>
                      <m:e>
                        <m:r>
                          <a:rPr lang="ja-JP" altLang="ar-AE" i="1"/>
                          <m:t>𝑎</m:t>
                        </m:r>
                      </m:e>
                    </m:nary>
                    <m:sSub>
                      <m:sSubPr>
                        <m:ctrlPr>
                          <a:rPr lang="ar-AE" altLang="ja-JP" i="1"/>
                        </m:ctrlPr>
                      </m:sSubPr>
                      <m:e>
                        <m:r>
                          <a:rPr lang="ja-JP" altLang="ar-AE" i="1"/>
                          <m:t>𝑥</m:t>
                        </m:r>
                      </m:e>
                      <m:sub>
                        <m:r>
                          <a:rPr lang="ar-AE" altLang="ja-JP"/>
                          <m:t>0</m:t>
                        </m:r>
                      </m:sub>
                    </m:sSub>
                    <m:r>
                      <m:rPr>
                        <m:nor/>
                      </m:rPr>
                      <a:rPr lang="ar-AE" altLang="ja-JP" i="1"/>
                      <m:t> </m:t>
                    </m:r>
                    <m:r>
                      <a:rPr lang="ja-JP" altLang="ar-AE" i="1"/>
                      <m:t>𝑑𝑠</m:t>
                    </m:r>
                    <m:r>
                      <a:rPr lang="ar-AE" altLang="ja-JP"/>
                      <m:t>=</m:t>
                    </m:r>
                    <m:sSub>
                      <m:sSubPr>
                        <m:ctrlPr>
                          <a:rPr lang="ar-AE" altLang="ja-JP" i="1"/>
                        </m:ctrlPr>
                      </m:sSubPr>
                      <m:e>
                        <m:r>
                          <a:rPr lang="ja-JP" altLang="ar-AE" i="1"/>
                          <m:t>𝑥</m:t>
                        </m:r>
                      </m:e>
                      <m:sub>
                        <m:r>
                          <a:rPr lang="ar-AE" altLang="ja-JP"/>
                          <m:t>0</m:t>
                        </m:r>
                      </m:sub>
                    </m:sSub>
                    <m:d>
                      <m:dPr>
                        <m:ctrlPr>
                          <a:rPr lang="ar-AE" altLang="ja-JP" i="1"/>
                        </m:ctrlPr>
                      </m:dPr>
                      <m:e>
                        <m:r>
                          <a:rPr lang="ar-AE" altLang="ja-JP"/>
                          <m:t>1</m:t>
                        </m:r>
                        <m:r>
                          <a:rPr lang="ar-AE" altLang="ja-JP"/>
                          <m:t>+</m:t>
                        </m:r>
                        <m:r>
                          <a:rPr lang="ja-JP" altLang="ar-AE" i="1"/>
                          <m:t>𝑎𝑡</m:t>
                        </m:r>
                      </m:e>
                    </m:d>
                    <m:r>
                      <a:rPr lang="ar-AE" altLang="ja-JP"/>
                      <m:t>,</m:t>
                    </m:r>
                  </m:oMath>
                </a14:m>
                <a:endParaRPr lang="ar-AE" altLang="ja-JP" b="0" dirty="0"/>
              </a:p>
              <a:p>
                <a:pPr lvl="1">
                  <a:buFont typeface="Wingdings" panose="05000000000000000000" pitchFamily="2" charset="2"/>
                  <a:buChar char="Ø"/>
                </a:pPr>
                <a14:m>
                  <m:oMath xmlns:m="http://schemas.openxmlformats.org/officeDocument/2006/math">
                    <m:sSub>
                      <m:sSubPr>
                        <m:ctrlPr>
                          <a:rPr lang="ar-AE" altLang="ja-JP"/>
                        </m:ctrlPr>
                      </m:sSubPr>
                      <m:e>
                        <m:r>
                          <a:rPr lang="ja-JP" altLang="ar-AE" i="1"/>
                          <m:t>𝜑</m:t>
                        </m:r>
                      </m:e>
                      <m:sub>
                        <m:r>
                          <a:rPr lang="ar-AE" altLang="ja-JP"/>
                          <m:t>2</m:t>
                        </m:r>
                      </m:sub>
                    </m:sSub>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r>
                      <a:rPr lang="ar-AE" altLang="ja-JP"/>
                      <m:t>+</m:t>
                    </m:r>
                    <m:nary>
                      <m:naryPr>
                        <m:grow m:val="on"/>
                        <m:ctrlPr>
                          <a:rPr lang="ar-AE" altLang="ja-JP" i="1"/>
                        </m:ctrlPr>
                      </m:naryPr>
                      <m:sub>
                        <m:r>
                          <a:rPr lang="ar-AE" altLang="ja-JP"/>
                          <m:t>0</m:t>
                        </m:r>
                      </m:sub>
                      <m:sup>
                        <m:r>
                          <a:rPr lang="ja-JP" altLang="ar-AE" i="1"/>
                          <m:t>𝑡</m:t>
                        </m:r>
                      </m:sup>
                      <m:e>
                        <m:r>
                          <a:rPr lang="ja-JP" altLang="ar-AE" i="1"/>
                          <m:t>𝑎</m:t>
                        </m:r>
                      </m:e>
                    </m:nary>
                    <m:sSub>
                      <m:sSubPr>
                        <m:ctrlPr>
                          <a:rPr lang="ar-AE" altLang="ja-JP" i="1"/>
                        </m:ctrlPr>
                      </m:sSubPr>
                      <m:e>
                        <m:r>
                          <a:rPr lang="ja-JP" altLang="ar-AE" i="1"/>
                          <m:t>𝑥</m:t>
                        </m:r>
                      </m:e>
                      <m:sub>
                        <m:r>
                          <a:rPr lang="ar-AE" altLang="ja-JP"/>
                          <m:t>0</m:t>
                        </m:r>
                      </m:sub>
                    </m:sSub>
                    <m:d>
                      <m:dPr>
                        <m:ctrlPr>
                          <a:rPr lang="ar-AE" altLang="ja-JP" i="1"/>
                        </m:ctrlPr>
                      </m:dPr>
                      <m:e>
                        <m:r>
                          <a:rPr lang="ar-AE" altLang="ja-JP"/>
                          <m:t>1</m:t>
                        </m:r>
                        <m:r>
                          <a:rPr lang="ar-AE" altLang="ja-JP"/>
                          <m:t>+</m:t>
                        </m:r>
                        <m:r>
                          <a:rPr lang="ja-JP" altLang="ar-AE" i="1"/>
                          <m:t>𝑎𝑠</m:t>
                        </m:r>
                      </m:e>
                    </m:d>
                    <m:r>
                      <m:rPr>
                        <m:nor/>
                      </m:rPr>
                      <a:rPr lang="ar-AE" altLang="ja-JP" i="1"/>
                      <m:t> </m:t>
                    </m:r>
                    <m:r>
                      <a:rPr lang="ja-JP" altLang="ar-AE" i="1"/>
                      <m:t>𝑑𝑠</m:t>
                    </m:r>
                    <m:r>
                      <a:rPr lang="ar-AE" altLang="ja-JP"/>
                      <m:t>=</m:t>
                    </m:r>
                    <m:sSub>
                      <m:sSubPr>
                        <m:ctrlPr>
                          <a:rPr lang="ar-AE" altLang="ja-JP" i="1"/>
                        </m:ctrlPr>
                      </m:sSubPr>
                      <m:e>
                        <m:r>
                          <a:rPr lang="ja-JP" altLang="ar-AE" i="1"/>
                          <m:t>𝑥</m:t>
                        </m:r>
                      </m:e>
                      <m:sub>
                        <m:r>
                          <a:rPr lang="ar-AE" altLang="ja-JP"/>
                          <m:t>0</m:t>
                        </m:r>
                      </m:sub>
                    </m:sSub>
                    <m:d>
                      <m:dPr>
                        <m:ctrlPr>
                          <a:rPr lang="ar-AE" altLang="ja-JP" i="1"/>
                        </m:ctrlPr>
                      </m:dPr>
                      <m:e>
                        <m:r>
                          <a:rPr lang="ar-AE" altLang="ja-JP"/>
                          <m:t>1</m:t>
                        </m:r>
                        <m:r>
                          <a:rPr lang="ar-AE" altLang="ja-JP"/>
                          <m:t>+</m:t>
                        </m:r>
                        <m:r>
                          <a:rPr lang="ja-JP" altLang="ar-AE" i="1"/>
                          <m:t>𝑎𝑡</m:t>
                        </m:r>
                        <m:r>
                          <a:rPr lang="ar-AE" altLang="ja-JP"/>
                          <m:t>+</m:t>
                        </m:r>
                        <m:f>
                          <m:fPr>
                            <m:ctrlPr>
                              <a:rPr lang="ar-AE" altLang="ja-JP" i="1"/>
                            </m:ctrlPr>
                          </m:fPr>
                          <m:num>
                            <m:sSup>
                              <m:sSupPr>
                                <m:ctrlPr>
                                  <a:rPr lang="ar-AE" altLang="ja-JP" i="1"/>
                                </m:ctrlPr>
                              </m:sSupPr>
                              <m:e>
                                <m:r>
                                  <a:rPr lang="ja-JP" altLang="ar-AE" i="1"/>
                                  <m:t>𝑎</m:t>
                                </m:r>
                              </m:e>
                              <m:sup>
                                <m:r>
                                  <a:rPr lang="ar-AE" altLang="ja-JP"/>
                                  <m:t>2</m:t>
                                </m:r>
                              </m:sup>
                            </m:sSup>
                            <m:sSup>
                              <m:sSupPr>
                                <m:ctrlPr>
                                  <a:rPr lang="ar-AE" altLang="ja-JP" i="1"/>
                                </m:ctrlPr>
                              </m:sSupPr>
                              <m:e>
                                <m:r>
                                  <a:rPr lang="ja-JP" altLang="ar-AE" i="1"/>
                                  <m:t>𝑡</m:t>
                                </m:r>
                              </m:e>
                              <m:sup>
                                <m:r>
                                  <a:rPr lang="ar-AE" altLang="ja-JP"/>
                                  <m:t>2</m:t>
                                </m:r>
                              </m:sup>
                            </m:sSup>
                          </m:num>
                          <m:den>
                            <m:r>
                              <a:rPr lang="ar-AE" altLang="ja-JP"/>
                              <m:t>2</m:t>
                            </m:r>
                          </m:den>
                        </m:f>
                      </m:e>
                    </m:d>
                    <m:r>
                      <a:rPr lang="ar-AE" altLang="ja-JP"/>
                      <m:t>.</m:t>
                    </m:r>
                  </m:oMath>
                </a14:m>
                <a:endParaRPr lang="ar-AE" altLang="ja-JP" b="0" dirty="0"/>
              </a:p>
              <a:p>
                <a:pPr marL="0" indent="0">
                  <a:buNone/>
                </a:pPr>
                <a:r>
                  <a:rPr lang="ja-JP" altLang="en-US" dirty="0"/>
                  <a:t>继续迭代，会得到</a:t>
                </a:r>
                <a14:m>
                  <m:oMath xmlns:m="http://schemas.openxmlformats.org/officeDocument/2006/math">
                    <m:sSub>
                      <m:sSubPr>
                        <m:ctrlPr>
                          <a:rPr lang="ar-AE" altLang="ja-JP"/>
                        </m:ctrlPr>
                      </m:sSubPr>
                      <m:e>
                        <m:r>
                          <a:rPr lang="ja-JP" altLang="ar-AE" i="1"/>
                          <m:t>𝑥</m:t>
                        </m:r>
                      </m:e>
                      <m:sub>
                        <m:r>
                          <a:rPr lang="ar-AE" altLang="ja-JP"/>
                          <m:t>0</m:t>
                        </m:r>
                      </m:sub>
                    </m:sSub>
                    <m:d>
                      <m:dPr>
                        <m:ctrlPr>
                          <a:rPr lang="ar-AE" altLang="ja-JP" i="1"/>
                        </m:ctrlPr>
                      </m:dPr>
                      <m:e>
                        <m:r>
                          <a:rPr lang="ar-AE" altLang="ja-JP"/>
                          <m:t>1</m:t>
                        </m:r>
                        <m:r>
                          <a:rPr lang="ar-AE" altLang="ja-JP"/>
                          <m:t>+</m:t>
                        </m:r>
                        <m:r>
                          <a:rPr lang="ja-JP" altLang="ar-AE" i="1"/>
                          <m:t>𝑎𝑡</m:t>
                        </m:r>
                        <m:r>
                          <a:rPr lang="ar-AE" altLang="ja-JP"/>
                          <m:t>+</m:t>
                        </m:r>
                        <m:f>
                          <m:fPr>
                            <m:ctrlPr>
                              <a:rPr lang="ar-AE" altLang="ja-JP" i="1"/>
                            </m:ctrlPr>
                          </m:fPr>
                          <m:num>
                            <m:sSup>
                              <m:sSupPr>
                                <m:ctrlPr>
                                  <a:rPr lang="ar-AE" altLang="ja-JP" i="1"/>
                                </m:ctrlPr>
                              </m:sSupPr>
                              <m:e>
                                <m:r>
                                  <a:rPr lang="ja-JP" altLang="ar-AE" i="1"/>
                                  <m:t>𝑎</m:t>
                                </m:r>
                              </m:e>
                              <m:sup>
                                <m:r>
                                  <a:rPr lang="ar-AE" altLang="ja-JP"/>
                                  <m:t>2</m:t>
                                </m:r>
                              </m:sup>
                            </m:sSup>
                            <m:sSup>
                              <m:sSupPr>
                                <m:ctrlPr>
                                  <a:rPr lang="ar-AE" altLang="ja-JP" i="1"/>
                                </m:ctrlPr>
                              </m:sSupPr>
                              <m:e>
                                <m:r>
                                  <a:rPr lang="ja-JP" altLang="ar-AE" i="1"/>
                                  <m:t>𝑡</m:t>
                                </m:r>
                              </m:e>
                              <m:sup>
                                <m:r>
                                  <a:rPr lang="ar-AE" altLang="ja-JP"/>
                                  <m:t>2</m:t>
                                </m:r>
                              </m:sup>
                            </m:sSup>
                          </m:num>
                          <m:den>
                            <m:r>
                              <a:rPr lang="ar-AE" altLang="ja-JP"/>
                              <m:t>2</m:t>
                            </m:r>
                            <m:r>
                              <a:rPr lang="ar-AE" altLang="ja-JP"/>
                              <m:t>!</m:t>
                            </m:r>
                          </m:den>
                        </m:f>
                        <m:r>
                          <a:rPr lang="ar-AE" altLang="ja-JP"/>
                          <m:t>+</m:t>
                        </m:r>
                        <m:f>
                          <m:fPr>
                            <m:ctrlPr>
                              <a:rPr lang="ar-AE" altLang="ja-JP" i="1"/>
                            </m:ctrlPr>
                          </m:fPr>
                          <m:num>
                            <m:sSup>
                              <m:sSupPr>
                                <m:ctrlPr>
                                  <a:rPr lang="ar-AE" altLang="ja-JP" i="1"/>
                                </m:ctrlPr>
                              </m:sSupPr>
                              <m:e>
                                <m:r>
                                  <a:rPr lang="ja-JP" altLang="ar-AE" i="1"/>
                                  <m:t>𝑎</m:t>
                                </m:r>
                              </m:e>
                              <m:sup>
                                <m:r>
                                  <a:rPr lang="ar-AE" altLang="ja-JP"/>
                                  <m:t>3</m:t>
                                </m:r>
                              </m:sup>
                            </m:sSup>
                            <m:sSup>
                              <m:sSupPr>
                                <m:ctrlPr>
                                  <a:rPr lang="ar-AE" altLang="ja-JP" i="1"/>
                                </m:ctrlPr>
                              </m:sSupPr>
                              <m:e>
                                <m:r>
                                  <a:rPr lang="ja-JP" altLang="ar-AE" i="1"/>
                                  <m:t>𝑡</m:t>
                                </m:r>
                              </m:e>
                              <m:sup>
                                <m:r>
                                  <a:rPr lang="ar-AE" altLang="ja-JP"/>
                                  <m:t>3</m:t>
                                </m:r>
                              </m:sup>
                            </m:sSup>
                          </m:num>
                          <m:den>
                            <m:r>
                              <a:rPr lang="ar-AE" altLang="ja-JP"/>
                              <m:t>3</m:t>
                            </m:r>
                            <m:r>
                              <a:rPr lang="ar-AE" altLang="ja-JP"/>
                              <m:t>!</m:t>
                            </m:r>
                          </m:den>
                        </m:f>
                        <m:r>
                          <a:rPr lang="ar-AE" altLang="ja-JP"/>
                          <m:t>+⋯</m:t>
                        </m:r>
                        <m:r>
                          <m:rPr>
                            <m:nor/>
                          </m:rPr>
                          <a:rPr lang="ar-AE" altLang="ja-JP" i="1"/>
                          <m:t> </m:t>
                        </m:r>
                      </m:e>
                    </m:d>
                    <m:r>
                      <a:rPr lang="ar-AE" altLang="ja-JP"/>
                      <m:t>.</m:t>
                    </m:r>
                  </m:oMath>
                </a14:m>
                <a:endParaRPr lang="ar-AE" altLang="ja-JP" b="0" dirty="0"/>
              </a:p>
              <a:p>
                <a:pPr marL="0" indent="0">
                  <a:buNone/>
                </a:pPr>
                <a:r>
                  <a:rPr lang="ja-JP" altLang="en-US" dirty="0"/>
                  <a:t>极限是</a:t>
                </a:r>
                <a14:m>
                  <m:oMath xmlns:m="http://schemas.openxmlformats.org/officeDocument/2006/math">
                    <m:r>
                      <a:rPr lang="ja-JP" altLang="en-US" i="1"/>
                      <m:t>𝑥</m:t>
                    </m:r>
                    <m:d>
                      <m:dPr>
                        <m:ctrlPr>
                          <a:rPr lang="ar-AE" altLang="ja-JP" i="1"/>
                        </m:ctrlPr>
                      </m:dPr>
                      <m:e>
                        <m:r>
                          <a:rPr lang="ja-JP" altLang="ar-AE" i="1"/>
                          <m:t>𝑡</m:t>
                        </m:r>
                      </m:e>
                    </m:d>
                    <m:r>
                      <a:rPr lang="ar-AE" altLang="ja-JP"/>
                      <m:t>=</m:t>
                    </m:r>
                    <m:sSub>
                      <m:sSubPr>
                        <m:ctrlPr>
                          <a:rPr lang="ar-AE" altLang="ja-JP" i="1"/>
                        </m:ctrlPr>
                      </m:sSubPr>
                      <m:e>
                        <m:r>
                          <a:rPr lang="ja-JP" altLang="ar-AE" i="1"/>
                          <m:t>𝑥</m:t>
                        </m:r>
                      </m:e>
                      <m:sub>
                        <m:r>
                          <a:rPr lang="ar-AE" altLang="ja-JP"/>
                          <m:t>0</m:t>
                        </m:r>
                      </m:sub>
                    </m:sSub>
                    <m:sSup>
                      <m:sSupPr>
                        <m:ctrlPr>
                          <a:rPr lang="ar-AE" altLang="ja-JP" i="1"/>
                        </m:ctrlPr>
                      </m:sSupPr>
                      <m:e>
                        <m:r>
                          <a:rPr lang="ja-JP" altLang="ar-AE" i="1"/>
                          <m:t>𝑒</m:t>
                        </m:r>
                      </m:e>
                      <m:sup>
                        <m:r>
                          <a:rPr lang="ja-JP" altLang="ar-AE" i="1"/>
                          <m:t>𝑎𝑡</m:t>
                        </m:r>
                      </m:sup>
                    </m:sSup>
                    <m:r>
                      <a:rPr lang="ar-AE" altLang="ja-JP"/>
                      <m:t>.</m:t>
                    </m:r>
                  </m:oMath>
                </a14:m>
                <a:endParaRPr lang="en-US" altLang="ja-JP" dirty="0"/>
              </a:p>
              <a:p>
                <a:pPr marL="0" indent="0">
                  <a:buNone/>
                </a:pPr>
                <a:endParaRPr lang="en-US" altLang="ja-JP" dirty="0"/>
              </a:p>
              <a:p>
                <a:pPr marL="0" indent="0">
                  <a:buNone/>
                </a:pPr>
                <a:endParaRPr lang="en-US" altLang="ja-JP" dirty="0"/>
              </a:p>
              <a:p>
                <a:pPr marL="0" indent="0" algn="ctr">
                  <a:buNone/>
                </a:pPr>
                <a:r>
                  <a:rPr lang="ja-JP" altLang="en-US" dirty="0"/>
                  <a:t> </a:t>
                </a:r>
                <a:r>
                  <a:rPr lang="en-US" altLang="ja-JP" dirty="0"/>
                  <a:t>Picard </a:t>
                </a:r>
                <a:r>
                  <a:rPr lang="ja-JP" altLang="en-US" dirty="0"/>
                  <a:t>迭代实际上是在逐步构造解的级数展开。</a:t>
                </a:r>
              </a:p>
            </p:txBody>
          </p:sp>
        </mc:Choice>
        <mc:Fallback>
          <p:sp>
            <p:nvSpPr>
              <p:cNvPr id="12" name="コンテンツ プレースホルダー 2">
                <a:extLst>
                  <a:ext uri="{FF2B5EF4-FFF2-40B4-BE49-F238E27FC236}">
                    <a16:creationId xmlns:a16="http://schemas.microsoft.com/office/drawing/2014/main" id="{2B6E6F3E-8CBD-397A-3338-4F67CEB32E2B}"/>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67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05192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89D16-3956-5304-FDEC-4A2CF6F9EA8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7BFC8F8-1EE9-A7E8-51A0-B160E0F7A2B3}"/>
              </a:ext>
            </a:extLst>
          </p:cNvPr>
          <p:cNvSpPr>
            <a:spLocks noGrp="1" noChangeArrowheads="1"/>
          </p:cNvSpPr>
          <p:nvPr>
            <p:ph type="title"/>
          </p:nvPr>
        </p:nvSpPr>
        <p:spPr/>
        <p:txBody>
          <a:bodyPr/>
          <a:lstStyle/>
          <a:p>
            <a:r>
              <a:rPr lang="en-US" altLang="zh-CN" b="1" dirty="0"/>
              <a:t>ODE</a:t>
            </a:r>
            <a:r>
              <a:rPr lang="zh-CN" altLang="en-US" b="1" dirty="0"/>
              <a:t>中的不动点</a:t>
            </a:r>
            <a:endParaRPr lang="ja-JP" altLang="en-US" b="1" dirty="0"/>
          </a:p>
        </p:txBody>
      </p:sp>
      <p:pic>
        <p:nvPicPr>
          <p:cNvPr id="3" name="図 2">
            <a:extLst>
              <a:ext uri="{FF2B5EF4-FFF2-40B4-BE49-F238E27FC236}">
                <a16:creationId xmlns:a16="http://schemas.microsoft.com/office/drawing/2014/main" id="{0FB43FF4-9394-D439-384E-49A5960619D9}"/>
              </a:ext>
            </a:extLst>
          </p:cNvPr>
          <p:cNvPicPr>
            <a:picLocks noChangeAspect="1"/>
          </p:cNvPicPr>
          <p:nvPr/>
        </p:nvPicPr>
        <p:blipFill>
          <a:blip r:embed="rId3"/>
          <a:stretch>
            <a:fillRect/>
          </a:stretch>
        </p:blipFill>
        <p:spPr>
          <a:xfrm>
            <a:off x="750873" y="1160079"/>
            <a:ext cx="10363694" cy="5697921"/>
          </a:xfrm>
          <a:prstGeom prst="rect">
            <a:avLst/>
          </a:prstGeom>
        </p:spPr>
      </p:pic>
    </p:spTree>
    <p:extLst>
      <p:ext uri="{BB962C8B-B14F-4D97-AF65-F5344CB8AC3E}">
        <p14:creationId xmlns:p14="http://schemas.microsoft.com/office/powerpoint/2010/main" val="1128522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1F03E-F6EC-C3B8-F289-52BEF437D4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5F6FD1-04B7-41B5-EBD9-68E2DE216EEE}"/>
              </a:ext>
            </a:extLst>
          </p:cNvPr>
          <p:cNvSpPr>
            <a:spLocks noGrp="1"/>
          </p:cNvSpPr>
          <p:nvPr>
            <p:ph type="title"/>
          </p:nvPr>
        </p:nvSpPr>
        <p:spPr/>
        <p:txBody>
          <a:bodyPr/>
          <a:lstStyle/>
          <a:p>
            <a:r>
              <a:rPr lang="zh-CN" altLang="en-US" dirty="0"/>
              <a:t>相关方法和论文介绍</a:t>
            </a:r>
            <a:endParaRPr kumimoji="1" lang="ja-JP" altLang="en-US" dirty="0"/>
          </a:p>
        </p:txBody>
      </p:sp>
      <p:sp>
        <p:nvSpPr>
          <p:cNvPr id="3" name="テキスト プレースホルダー 2">
            <a:extLst>
              <a:ext uri="{FF2B5EF4-FFF2-40B4-BE49-F238E27FC236}">
                <a16:creationId xmlns:a16="http://schemas.microsoft.com/office/drawing/2014/main" id="{202E0A7E-F10B-0DAC-AB83-F94FCE40F72A}"/>
              </a:ext>
            </a:extLst>
          </p:cNvPr>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419424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4AC27-B77D-14D4-E8DB-7C56A487A810}"/>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79772D80-FBD7-09D9-A122-7432EA2CDC22}"/>
              </a:ext>
            </a:extLst>
          </p:cNvPr>
          <p:cNvSpPr>
            <a:spLocks noGrp="1" noChangeArrowheads="1"/>
          </p:cNvSpPr>
          <p:nvPr>
            <p:ph type="title"/>
          </p:nvPr>
        </p:nvSpPr>
        <p:spPr/>
        <p:txBody>
          <a:bodyPr/>
          <a:lstStyle/>
          <a:p>
            <a:r>
              <a:rPr lang="zh-CN" altLang="en-US" b="1" dirty="0"/>
              <a:t>机器学习相关论文</a:t>
            </a:r>
            <a:endParaRPr lang="ja-JP" altLang="en-US" b="1" dirty="0"/>
          </a:p>
        </p:txBody>
      </p:sp>
      <mc:AlternateContent xmlns:mc="http://schemas.openxmlformats.org/markup-compatibility/2006">
        <mc:Choice xmlns:a14="http://schemas.microsoft.com/office/drawing/2010/main" Requires="a14">
          <p:graphicFrame>
            <p:nvGraphicFramePr>
              <p:cNvPr id="3" name="表 2">
                <a:extLst>
                  <a:ext uri="{FF2B5EF4-FFF2-40B4-BE49-F238E27FC236}">
                    <a16:creationId xmlns:a16="http://schemas.microsoft.com/office/drawing/2014/main" id="{6EAE5098-D3F3-3145-DEF4-C12241F7F48B}"/>
                  </a:ext>
                </a:extLst>
              </p:cNvPr>
              <p:cNvGraphicFramePr>
                <a:graphicFrameLocks noGrp="1"/>
              </p:cNvGraphicFramePr>
              <p:nvPr>
                <p:extLst>
                  <p:ext uri="{D42A27DB-BD31-4B8C-83A1-F6EECF244321}">
                    <p14:modId xmlns:p14="http://schemas.microsoft.com/office/powerpoint/2010/main" val="1681445789"/>
                  </p:ext>
                </p:extLst>
              </p:nvPr>
            </p:nvGraphicFramePr>
            <p:xfrm>
              <a:off x="650241" y="1295400"/>
              <a:ext cx="10932159" cy="5257800"/>
            </p:xfrm>
            <a:graphic>
              <a:graphicData uri="http://schemas.openxmlformats.org/drawingml/2006/table">
                <a:tbl>
                  <a:tblPr/>
                  <a:tblGrid>
                    <a:gridCol w="3570885">
                      <a:extLst>
                        <a:ext uri="{9D8B030D-6E8A-4147-A177-3AD203B41FA5}">
                          <a16:colId xmlns:a16="http://schemas.microsoft.com/office/drawing/2014/main" val="2915448259"/>
                        </a:ext>
                      </a:extLst>
                    </a:gridCol>
                    <a:gridCol w="3276954">
                      <a:extLst>
                        <a:ext uri="{9D8B030D-6E8A-4147-A177-3AD203B41FA5}">
                          <a16:colId xmlns:a16="http://schemas.microsoft.com/office/drawing/2014/main" val="3768667873"/>
                        </a:ext>
                      </a:extLst>
                    </a:gridCol>
                    <a:gridCol w="4084320">
                      <a:extLst>
                        <a:ext uri="{9D8B030D-6E8A-4147-A177-3AD203B41FA5}">
                          <a16:colId xmlns:a16="http://schemas.microsoft.com/office/drawing/2014/main" val="3114344111"/>
                        </a:ext>
                      </a:extLst>
                    </a:gridCol>
                  </a:tblGrid>
                  <a:tr h="314960">
                    <a:tc>
                      <a:txBody>
                        <a:bodyPr/>
                        <a:lstStyle/>
                        <a:p>
                          <a:pPr algn="ctr">
                            <a:buNone/>
                          </a:pPr>
                          <a:r>
                            <a:rPr lang="zh-CN" altLang="en-US" sz="1800"/>
                            <a:t>机器学习场景</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ja-JP" altLang="en-US" sz="1800"/>
                            <a:t>数学形式</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ja-JP" altLang="en-US" sz="1800"/>
                            <a:t>推荐论文</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6194557"/>
                      </a:ext>
                    </a:extLst>
                  </a:tr>
                  <a:tr h="787400">
                    <a:tc>
                      <a:txBody>
                        <a:bodyPr/>
                        <a:lstStyle/>
                        <a:p>
                          <a:pPr algn="ctr">
                            <a:buNone/>
                          </a:pPr>
                          <a:r>
                            <a:rPr lang="en-US" sz="1800" dirty="0"/>
                            <a:t>Neural ODE</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d>
                                  <m:dPr>
                                    <m:ctrlPr>
                                      <a:rPr lang="pt-BR" sz="1800" i="1" dirty="0" smtClean="0">
                                        <a:latin typeface="Cambria Math" panose="02040503050406030204" pitchFamily="18" charset="0"/>
                                      </a:rPr>
                                    </m:ctrlPr>
                                  </m:dPr>
                                  <m:e>
                                    <m:acc>
                                      <m:accPr>
                                        <m:chr m:val="̇"/>
                                        <m:ctrlPr>
                                          <a:rPr lang="pt-BR" sz="1800" i="1" dirty="0" smtClean="0">
                                            <a:latin typeface="Cambria Math" panose="02040503050406030204" pitchFamily="18" charset="0"/>
                                          </a:rPr>
                                        </m:ctrlPr>
                                      </m:accPr>
                                      <m:e>
                                        <m:r>
                                          <a:rPr lang="pt-BR" sz="1800" i="1" dirty="0" smtClean="0">
                                            <a:latin typeface="Cambria Math" panose="02040503050406030204" pitchFamily="18" charset="0"/>
                                          </a:rPr>
                                          <m:t>h</m:t>
                                        </m:r>
                                      </m:e>
                                    </m:acc>
                                    <m:r>
                                      <a:rPr lang="pt-BR" sz="1800" i="1" dirty="0" smtClean="0">
                                        <a:latin typeface="Cambria Math" panose="02040503050406030204" pitchFamily="18" charset="0"/>
                                      </a:rPr>
                                      <m:t>=</m:t>
                                    </m:r>
                                    <m:sSub>
                                      <m:sSubPr>
                                        <m:ctrlPr>
                                          <a:rPr lang="pt-BR" sz="1800" i="1" dirty="0" smtClean="0">
                                            <a:latin typeface="Cambria Math" panose="02040503050406030204" pitchFamily="18" charset="0"/>
                                          </a:rPr>
                                        </m:ctrlPr>
                                      </m:sSubPr>
                                      <m:e>
                                        <m:r>
                                          <a:rPr lang="pt-BR" sz="1800" i="1" dirty="0" smtClean="0">
                                            <a:latin typeface="Cambria Math" panose="02040503050406030204" pitchFamily="18" charset="0"/>
                                          </a:rPr>
                                          <m:t>𝑓</m:t>
                                        </m:r>
                                      </m:e>
                                      <m:sub>
                                        <m:r>
                                          <a:rPr lang="pt-BR" sz="1800" i="1" dirty="0" smtClean="0">
                                            <a:latin typeface="Cambria Math" panose="02040503050406030204" pitchFamily="18" charset="0"/>
                                          </a:rPr>
                                          <m:t>𝜃</m:t>
                                        </m:r>
                                      </m:sub>
                                    </m:sSub>
                                    <m:d>
                                      <m:dPr>
                                        <m:ctrlPr>
                                          <a:rPr lang="pt-BR" sz="1800" i="1" dirty="0" smtClean="0">
                                            <a:latin typeface="Cambria Math" panose="02040503050406030204" pitchFamily="18" charset="0"/>
                                          </a:rPr>
                                        </m:ctrlPr>
                                      </m:dPr>
                                      <m:e>
                                        <m:r>
                                          <a:rPr lang="pt-BR" sz="1800" i="1" dirty="0" smtClean="0">
                                            <a:latin typeface="Cambria Math" panose="02040503050406030204" pitchFamily="18" charset="0"/>
                                          </a:rPr>
                                          <m:t>𝑡</m:t>
                                        </m:r>
                                        <m:r>
                                          <a:rPr lang="pt-BR" sz="1800" i="1" dirty="0" smtClean="0">
                                            <a:latin typeface="Cambria Math" panose="02040503050406030204" pitchFamily="18" charset="0"/>
                                          </a:rPr>
                                          <m:t>,</m:t>
                                        </m:r>
                                        <m:r>
                                          <a:rPr lang="pt-BR" sz="1800" i="1" dirty="0" smtClean="0">
                                            <a:latin typeface="Cambria Math" panose="02040503050406030204" pitchFamily="18" charset="0"/>
                                          </a:rPr>
                                          <m:t>h</m:t>
                                        </m:r>
                                      </m:e>
                                    </m:d>
                                  </m:e>
                                </m:d>
                              </m:oMath>
                            </m:oMathPara>
                          </a14:m>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t>Chen et al., </a:t>
                          </a:r>
                          <a:r>
                            <a:rPr lang="en-US" sz="1800" i="1"/>
                            <a:t>Neural Ordinary Differential Equations</a:t>
                          </a:r>
                          <a:r>
                            <a:rPr lang="en-US" sz="1800"/>
                            <a:t>, NeurIPS 2018 (</a:t>
                          </a:r>
                          <a:r>
                            <a:rPr lang="en-US" sz="1800">
                              <a:hlinkClick r:id="rId3" tooltip="[1806.07366] Neural Ordinary Differential Equations"/>
                            </a:rPr>
                            <a:t>arXiv</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39373"/>
                      </a:ext>
                    </a:extLst>
                  </a:tr>
                  <a:tr h="1023620">
                    <a:tc>
                      <a:txBody>
                        <a:bodyPr/>
                        <a:lstStyle/>
                        <a:p>
                          <a:pPr algn="ctr">
                            <a:buNone/>
                          </a:pPr>
                          <a:r>
                            <a:rPr lang="en-US" sz="1800" dirty="0"/>
                            <a:t>Neural CDE</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14:m>
                            <m:oMathPara xmlns:m="http://schemas.openxmlformats.org/officeDocument/2006/math">
                              <m:oMathParaPr>
                                <m:jc m:val="centerGroup"/>
                              </m:oMathParaPr>
                              <m:oMath xmlns:m="http://schemas.openxmlformats.org/officeDocument/2006/math">
                                <m:d>
                                  <m:dPr>
                                    <m:ctrlPr>
                                      <a:rPr lang="en-US" sz="1800" i="1" dirty="0" smtClean="0">
                                        <a:latin typeface="Cambria Math" panose="02040503050406030204" pitchFamily="18" charset="0"/>
                                      </a:rPr>
                                    </m:ctrlPr>
                                  </m:dPr>
                                  <m:e>
                                    <m:r>
                                      <a:rPr lang="en-US" sz="1800" i="1" dirty="0" smtClean="0">
                                        <a:latin typeface="Cambria Math" panose="02040503050406030204" pitchFamily="18" charset="0"/>
                                      </a:rPr>
                                      <m:t>𝑑h</m:t>
                                    </m:r>
                                    <m:r>
                                      <a:rPr lang="en-US" sz="1800" i="1" dirty="0" smtClean="0">
                                        <a:latin typeface="Cambria Math" panose="02040503050406030204" pitchFamily="18" charset="0"/>
                                      </a:rPr>
                                      <m:t>=</m:t>
                                    </m:r>
                                    <m:sSub>
                                      <m:sSubPr>
                                        <m:ctrlPr>
                                          <a:rPr lang="en-US" sz="1800" i="1" dirty="0" smtClean="0">
                                            <a:latin typeface="Cambria Math" panose="02040503050406030204" pitchFamily="18" charset="0"/>
                                          </a:rPr>
                                        </m:ctrlPr>
                                      </m:sSubPr>
                                      <m:e>
                                        <m:r>
                                          <a:rPr lang="en-US" sz="1800" i="1" dirty="0" smtClean="0">
                                            <a:latin typeface="Cambria Math" panose="02040503050406030204" pitchFamily="18" charset="0"/>
                                          </a:rPr>
                                          <m:t>𝑓</m:t>
                                        </m:r>
                                      </m:e>
                                      <m:sub>
                                        <m:r>
                                          <a:rPr lang="en-US" sz="1800" i="1" dirty="0" smtClean="0">
                                            <a:latin typeface="Cambria Math" panose="02040503050406030204" pitchFamily="18" charset="0"/>
                                          </a:rPr>
                                          <m:t>𝜃</m:t>
                                        </m:r>
                                      </m:sub>
                                    </m:sSub>
                                    <m:d>
                                      <m:dPr>
                                        <m:ctrlPr>
                                          <a:rPr lang="en-US" sz="1800" i="1" dirty="0" smtClean="0">
                                            <a:latin typeface="Cambria Math" panose="02040503050406030204" pitchFamily="18" charset="0"/>
                                          </a:rPr>
                                        </m:ctrlPr>
                                      </m:dPr>
                                      <m:e>
                                        <m:r>
                                          <a:rPr lang="en-US" sz="1800" i="1" dirty="0" smtClean="0">
                                            <a:latin typeface="Cambria Math" panose="02040503050406030204" pitchFamily="18" charset="0"/>
                                          </a:rPr>
                                          <m:t>h</m:t>
                                        </m:r>
                                      </m:e>
                                    </m:d>
                                    <m:r>
                                      <a:rPr lang="en-US" sz="1800" i="1" dirty="0" smtClean="0">
                                        <a:latin typeface="Cambria Math" panose="02040503050406030204" pitchFamily="18" charset="0"/>
                                      </a:rPr>
                                      <m:t>,</m:t>
                                    </m:r>
                                    <m:r>
                                      <a:rPr lang="en-US" sz="1800" i="1" dirty="0" err="1">
                                        <a:latin typeface="Cambria Math" panose="02040503050406030204" pitchFamily="18" charset="0"/>
                                      </a:rPr>
                                      <m:t>𝑑</m:t>
                                    </m:r>
                                    <m:sSub>
                                      <m:sSubPr>
                                        <m:ctrlPr>
                                          <a:rPr lang="en-US" sz="1800" i="1" dirty="0" err="1">
                                            <a:latin typeface="Cambria Math" panose="02040503050406030204" pitchFamily="18" charset="0"/>
                                          </a:rPr>
                                        </m:ctrlPr>
                                      </m:sSubPr>
                                      <m:e>
                                        <m:r>
                                          <a:rPr lang="en-US" sz="1800" i="1" dirty="0" err="1">
                                            <a:latin typeface="Cambria Math" panose="02040503050406030204" pitchFamily="18" charset="0"/>
                                          </a:rPr>
                                          <m:t>𝑋</m:t>
                                        </m:r>
                                      </m:e>
                                      <m:sub>
                                        <m:r>
                                          <a:rPr lang="en-US" sz="1800" i="1" dirty="0" err="1">
                                            <a:latin typeface="Cambria Math" panose="02040503050406030204" pitchFamily="18" charset="0"/>
                                          </a:rPr>
                                          <m:t>𝑡</m:t>
                                        </m:r>
                                      </m:sub>
                                    </m:sSub>
                                  </m:e>
                                </m:d>
                              </m:oMath>
                            </m:oMathPara>
                          </a14:m>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t>Kidger et al., </a:t>
                          </a:r>
                          <a:r>
                            <a:rPr lang="en-US" sz="1800" i="1"/>
                            <a:t>Neural Controlled Differential Equations for Irregular Time Series</a:t>
                          </a:r>
                          <a:r>
                            <a:rPr lang="en-US" sz="1800"/>
                            <a:t>, NeurIPS 2020 (</a:t>
                          </a:r>
                          <a:r>
                            <a:rPr lang="en-US" sz="1800">
                              <a:hlinkClick r:id="rId4" tooltip="[2005.08926] Neural Controlled Differential Equations for Irregular Time Series"/>
                            </a:rPr>
                            <a:t>arXiv</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834572"/>
                      </a:ext>
                    </a:extLst>
                  </a:tr>
                  <a:tr h="787400">
                    <a:tc>
                      <a:txBody>
                        <a:bodyPr/>
                        <a:lstStyle/>
                        <a:p>
                          <a:pPr algn="ctr">
                            <a:buNone/>
                          </a:pPr>
                          <a:r>
                            <a:rPr lang="en-US" sz="1800" dirty="0"/>
                            <a:t>Deep Equilibrium Models</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d>
                                  <m:dPr>
                                    <m:ctrlPr>
                                      <a:rPr lang="pl-PL" sz="1800" i="1" dirty="0" smtClean="0">
                                        <a:latin typeface="Cambria Math" panose="02040503050406030204" pitchFamily="18" charset="0"/>
                                      </a:rPr>
                                    </m:ctrlPr>
                                  </m:dPr>
                                  <m:e>
                                    <m:sSup>
                                      <m:sSupPr>
                                        <m:ctrlPr>
                                          <a:rPr lang="pl-PL" sz="1800" i="1" dirty="0" smtClean="0">
                                            <a:latin typeface="Cambria Math" panose="02040503050406030204" pitchFamily="18" charset="0"/>
                                          </a:rPr>
                                        </m:ctrlPr>
                                      </m:sSupPr>
                                      <m:e>
                                        <m:r>
                                          <a:rPr lang="pl-PL" sz="1800" i="1" dirty="0" smtClean="0">
                                            <a:latin typeface="Cambria Math" panose="02040503050406030204" pitchFamily="18" charset="0"/>
                                          </a:rPr>
                                          <m:t>𝑧</m:t>
                                        </m:r>
                                      </m:e>
                                      <m:sup>
                                        <m:r>
                                          <a:rPr lang="pl-PL" sz="1800" i="1" dirty="0" smtClean="0">
                                            <a:latin typeface="Cambria Math" panose="02040503050406030204" pitchFamily="18" charset="0"/>
                                          </a:rPr>
                                          <m:t>∗</m:t>
                                        </m:r>
                                      </m:sup>
                                    </m:sSup>
                                    <m:r>
                                      <a:rPr lang="pl-PL" sz="1800" i="1" dirty="0" smtClean="0">
                                        <a:latin typeface="Cambria Math" panose="02040503050406030204" pitchFamily="18" charset="0"/>
                                      </a:rPr>
                                      <m:t>=</m:t>
                                    </m:r>
                                    <m:sSub>
                                      <m:sSubPr>
                                        <m:ctrlPr>
                                          <a:rPr lang="pl-PL" sz="1800" i="1" dirty="0" smtClean="0">
                                            <a:latin typeface="Cambria Math" panose="02040503050406030204" pitchFamily="18" charset="0"/>
                                          </a:rPr>
                                        </m:ctrlPr>
                                      </m:sSubPr>
                                      <m:e>
                                        <m:r>
                                          <a:rPr lang="pl-PL" sz="1800" i="1" dirty="0" smtClean="0">
                                            <a:latin typeface="Cambria Math" panose="02040503050406030204" pitchFamily="18" charset="0"/>
                                          </a:rPr>
                                          <m:t>𝑓</m:t>
                                        </m:r>
                                      </m:e>
                                      <m:sub>
                                        <m:r>
                                          <a:rPr lang="pl-PL" sz="1800" i="1" dirty="0" smtClean="0">
                                            <a:latin typeface="Cambria Math" panose="02040503050406030204" pitchFamily="18" charset="0"/>
                                          </a:rPr>
                                          <m:t>𝜃</m:t>
                                        </m:r>
                                      </m:sub>
                                    </m:sSub>
                                    <m:d>
                                      <m:dPr>
                                        <m:ctrlPr>
                                          <a:rPr lang="pl-PL" sz="1800" i="1" dirty="0" smtClean="0">
                                            <a:latin typeface="Cambria Math" panose="02040503050406030204" pitchFamily="18" charset="0"/>
                                          </a:rPr>
                                        </m:ctrlPr>
                                      </m:dPr>
                                      <m:e>
                                        <m:sSup>
                                          <m:sSupPr>
                                            <m:ctrlPr>
                                              <a:rPr lang="pl-PL" sz="1800" i="1" dirty="0" smtClean="0">
                                                <a:latin typeface="Cambria Math" panose="02040503050406030204" pitchFamily="18" charset="0"/>
                                              </a:rPr>
                                            </m:ctrlPr>
                                          </m:sSupPr>
                                          <m:e>
                                            <m:r>
                                              <a:rPr lang="pl-PL" sz="1800" i="1" dirty="0" smtClean="0">
                                                <a:latin typeface="Cambria Math" panose="02040503050406030204" pitchFamily="18" charset="0"/>
                                              </a:rPr>
                                              <m:t>𝑧</m:t>
                                            </m:r>
                                          </m:e>
                                          <m:sup>
                                            <m:r>
                                              <a:rPr lang="pl-PL" sz="1800" i="1" dirty="0" smtClean="0">
                                                <a:latin typeface="Cambria Math" panose="02040503050406030204" pitchFamily="18" charset="0"/>
                                              </a:rPr>
                                              <m:t>∗</m:t>
                                            </m:r>
                                          </m:sup>
                                        </m:sSup>
                                        <m:r>
                                          <a:rPr lang="pl-PL" sz="1800" i="1" dirty="0" smtClean="0">
                                            <a:latin typeface="Cambria Math" panose="02040503050406030204" pitchFamily="18" charset="0"/>
                                          </a:rPr>
                                          <m:t>,</m:t>
                                        </m:r>
                                        <m:r>
                                          <a:rPr lang="pl-PL" sz="1800" i="1" dirty="0" smtClean="0">
                                            <a:latin typeface="Cambria Math" panose="02040503050406030204" pitchFamily="18" charset="0"/>
                                          </a:rPr>
                                          <m:t>𝑥</m:t>
                                        </m:r>
                                      </m:e>
                                    </m:d>
                                  </m:e>
                                </m:d>
                              </m:oMath>
                            </m:oMathPara>
                          </a14:m>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t>Bai, Kolter, Koltun, </a:t>
                          </a:r>
                          <a:r>
                            <a:rPr lang="en-US" sz="1800" i="1"/>
                            <a:t>Deep Equilibrium Models</a:t>
                          </a:r>
                          <a:r>
                            <a:rPr lang="en-US" sz="1800"/>
                            <a:t>, NeurIPS 2019 (</a:t>
                          </a:r>
                          <a:r>
                            <a:rPr lang="en-US" sz="1800">
                              <a:hlinkClick r:id="rId5" tooltip="Deep Equilibrium Models"/>
                            </a:rPr>
                            <a:t>NeurIPS Proceedings</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269195"/>
                      </a:ext>
                    </a:extLst>
                  </a:tr>
                  <a:tr h="1023620">
                    <a:tc>
                      <a:txBody>
                        <a:bodyPr/>
                        <a:lstStyle/>
                        <a:p>
                          <a:pPr algn="ctr">
                            <a:buNone/>
                          </a:pPr>
                          <a:r>
                            <a:rPr lang="en-US" sz="1800"/>
                            <a:t>Implicit Deep Learning</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800"/>
                            <a:t>隐藏特征由不动点方程定义</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t>El Ghaoui et al., </a:t>
                          </a:r>
                          <a:r>
                            <a:rPr lang="en-US" sz="1800" i="1"/>
                            <a:t>Implicit Deep Learning</a:t>
                          </a:r>
                          <a:r>
                            <a:rPr lang="en-US" sz="1800"/>
                            <a:t>, SIAM Journal on Mathematics of Data Science, 2021 (</a:t>
                          </a:r>
                          <a:r>
                            <a:rPr lang="en-US" sz="1800">
                              <a:hlinkClick r:id="rId6" tooltip="Implicit Deep Learning | SIAM Journal on Mathematics of Data Science"/>
                            </a:rPr>
                            <a:t>SIAM</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4750364"/>
                      </a:ext>
                    </a:extLst>
                  </a:tr>
                  <a:tr h="787400">
                    <a:tc>
                      <a:txBody>
                        <a:bodyPr/>
                        <a:lstStyle/>
                        <a:p>
                          <a:pPr algn="ctr">
                            <a:buNone/>
                          </a:pPr>
                          <a:r>
                            <a:rPr lang="en-US" sz="1800"/>
                            <a:t>Monotone Equilibrium Networks</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800"/>
                            <a:t>单调算子保证稳定平衡点</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Winston and Kolter, </a:t>
                          </a:r>
                          <a:r>
                            <a:rPr lang="en-US" sz="1800" i="1" dirty="0"/>
                            <a:t>Monotone Operator Equilibrium Networks</a:t>
                          </a:r>
                          <a:r>
                            <a:rPr lang="en-US" sz="1800" dirty="0"/>
                            <a:t>, </a:t>
                          </a:r>
                          <a:r>
                            <a:rPr lang="en-US" sz="1800" dirty="0" err="1"/>
                            <a:t>NeurIPS</a:t>
                          </a:r>
                          <a:r>
                            <a:rPr lang="en-US" sz="1800" dirty="0"/>
                            <a:t> 2020 (</a:t>
                          </a:r>
                          <a:r>
                            <a:rPr lang="en-US" sz="1800" dirty="0" err="1">
                              <a:hlinkClick r:id="rId7" tooltip="[2006.08591] Monotone operator equilibrium networks"/>
                            </a:rPr>
                            <a:t>arXiv</a:t>
                          </a:r>
                          <a:r>
                            <a:rPr lang="en-US" sz="1800" dirty="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0298401"/>
                      </a:ext>
                    </a:extLst>
                  </a:tr>
                </a:tbl>
              </a:graphicData>
            </a:graphic>
          </p:graphicFrame>
        </mc:Choice>
        <mc:Fallback>
          <p:graphicFrame>
            <p:nvGraphicFramePr>
              <p:cNvPr id="3" name="表 2">
                <a:extLst>
                  <a:ext uri="{FF2B5EF4-FFF2-40B4-BE49-F238E27FC236}">
                    <a16:creationId xmlns:a16="http://schemas.microsoft.com/office/drawing/2014/main" id="{6EAE5098-D3F3-3145-DEF4-C12241F7F48B}"/>
                  </a:ext>
                </a:extLst>
              </p:cNvPr>
              <p:cNvGraphicFramePr>
                <a:graphicFrameLocks noGrp="1"/>
              </p:cNvGraphicFramePr>
              <p:nvPr>
                <p:extLst>
                  <p:ext uri="{D42A27DB-BD31-4B8C-83A1-F6EECF244321}">
                    <p14:modId xmlns:p14="http://schemas.microsoft.com/office/powerpoint/2010/main" val="1681445789"/>
                  </p:ext>
                </p:extLst>
              </p:nvPr>
            </p:nvGraphicFramePr>
            <p:xfrm>
              <a:off x="650241" y="1295400"/>
              <a:ext cx="10932159" cy="5257800"/>
            </p:xfrm>
            <a:graphic>
              <a:graphicData uri="http://schemas.openxmlformats.org/drawingml/2006/table">
                <a:tbl>
                  <a:tblPr/>
                  <a:tblGrid>
                    <a:gridCol w="3570885">
                      <a:extLst>
                        <a:ext uri="{9D8B030D-6E8A-4147-A177-3AD203B41FA5}">
                          <a16:colId xmlns:a16="http://schemas.microsoft.com/office/drawing/2014/main" val="2915448259"/>
                        </a:ext>
                      </a:extLst>
                    </a:gridCol>
                    <a:gridCol w="3276954">
                      <a:extLst>
                        <a:ext uri="{9D8B030D-6E8A-4147-A177-3AD203B41FA5}">
                          <a16:colId xmlns:a16="http://schemas.microsoft.com/office/drawing/2014/main" val="3768667873"/>
                        </a:ext>
                      </a:extLst>
                    </a:gridCol>
                    <a:gridCol w="4084320">
                      <a:extLst>
                        <a:ext uri="{9D8B030D-6E8A-4147-A177-3AD203B41FA5}">
                          <a16:colId xmlns:a16="http://schemas.microsoft.com/office/drawing/2014/main" val="3114344111"/>
                        </a:ext>
                      </a:extLst>
                    </a:gridCol>
                  </a:tblGrid>
                  <a:tr h="353060">
                    <a:tc>
                      <a:txBody>
                        <a:bodyPr/>
                        <a:lstStyle/>
                        <a:p>
                          <a:pPr algn="ctr">
                            <a:buNone/>
                          </a:pPr>
                          <a:r>
                            <a:rPr lang="zh-CN" altLang="en-US" sz="1800"/>
                            <a:t>机器学习场景</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ja-JP" altLang="en-US" sz="1800"/>
                            <a:t>数学形式</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ja-JP" altLang="en-US" sz="1800"/>
                            <a:t>推荐论文</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6194557"/>
                      </a:ext>
                    </a:extLst>
                  </a:tr>
                  <a:tr h="901700">
                    <a:tc>
                      <a:txBody>
                        <a:bodyPr/>
                        <a:lstStyle/>
                        <a:p>
                          <a:pPr algn="ctr">
                            <a:buNone/>
                          </a:pPr>
                          <a:r>
                            <a:rPr lang="en-US" sz="1800" dirty="0"/>
                            <a:t>Neural ODE</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9108" t="-45270" r="-125093" b="-456081"/>
                          </a:stretch>
                        </a:blipFill>
                      </a:tcPr>
                    </a:tc>
                    <a:tc>
                      <a:txBody>
                        <a:bodyPr/>
                        <a:lstStyle/>
                        <a:p>
                          <a:pPr algn="ctr">
                            <a:buNone/>
                          </a:pPr>
                          <a:r>
                            <a:rPr lang="en-US" sz="1800"/>
                            <a:t>Chen et al., </a:t>
                          </a:r>
                          <a:r>
                            <a:rPr lang="en-US" sz="1800" i="1"/>
                            <a:t>Neural Ordinary Differential Equations</a:t>
                          </a:r>
                          <a:r>
                            <a:rPr lang="en-US" sz="1800"/>
                            <a:t>, NeurIPS 2018 (</a:t>
                          </a:r>
                          <a:r>
                            <a:rPr lang="en-US" sz="1800">
                              <a:hlinkClick r:id="rId3" tooltip="[1806.07366] Neural Ordinary Differential Equations"/>
                            </a:rPr>
                            <a:t>arXiv</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539373"/>
                      </a:ext>
                    </a:extLst>
                  </a:tr>
                  <a:tr h="1023620">
                    <a:tc>
                      <a:txBody>
                        <a:bodyPr/>
                        <a:lstStyle/>
                        <a:p>
                          <a:pPr algn="ctr">
                            <a:buNone/>
                          </a:pPr>
                          <a:r>
                            <a:rPr lang="en-US" sz="1800" dirty="0"/>
                            <a:t>Neural CDE</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ja-JP"/>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9108" t="-127976" r="-125093" b="-301786"/>
                          </a:stretch>
                        </a:blipFill>
                      </a:tcPr>
                    </a:tc>
                    <a:tc>
                      <a:txBody>
                        <a:bodyPr/>
                        <a:lstStyle/>
                        <a:p>
                          <a:pPr algn="ctr">
                            <a:buNone/>
                          </a:pPr>
                          <a:r>
                            <a:rPr lang="en-US" sz="1800"/>
                            <a:t>Kidger et al., </a:t>
                          </a:r>
                          <a:r>
                            <a:rPr lang="en-US" sz="1800" i="1"/>
                            <a:t>Neural Controlled Differential Equations for Irregular Time Series</a:t>
                          </a:r>
                          <a:r>
                            <a:rPr lang="en-US" sz="1800"/>
                            <a:t>, NeurIPS 2020 (</a:t>
                          </a:r>
                          <a:r>
                            <a:rPr lang="en-US" sz="1800">
                              <a:hlinkClick r:id="rId4" tooltip="[2005.08926] Neural Controlled Differential Equations for Irregular Time Series"/>
                            </a:rPr>
                            <a:t>arXiv</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7834572"/>
                      </a:ext>
                    </a:extLst>
                  </a:tr>
                  <a:tr h="901700">
                    <a:tc>
                      <a:txBody>
                        <a:bodyPr/>
                        <a:lstStyle/>
                        <a:p>
                          <a:pPr algn="ctr">
                            <a:buNone/>
                          </a:pPr>
                          <a:r>
                            <a:rPr lang="en-US" sz="1800" dirty="0"/>
                            <a:t>Deep Equilibrium Models</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9108" t="-258784" r="-125093" b="-242568"/>
                          </a:stretch>
                        </a:blipFill>
                      </a:tcPr>
                    </a:tc>
                    <a:tc>
                      <a:txBody>
                        <a:bodyPr/>
                        <a:lstStyle/>
                        <a:p>
                          <a:pPr algn="ctr">
                            <a:buNone/>
                          </a:pPr>
                          <a:r>
                            <a:rPr lang="en-US" sz="1800"/>
                            <a:t>Bai, Kolter, Koltun, </a:t>
                          </a:r>
                          <a:r>
                            <a:rPr lang="en-US" sz="1800" i="1"/>
                            <a:t>Deep Equilibrium Models</a:t>
                          </a:r>
                          <a:r>
                            <a:rPr lang="en-US" sz="1800"/>
                            <a:t>, NeurIPS 2019 (</a:t>
                          </a:r>
                          <a:r>
                            <a:rPr lang="en-US" sz="1800">
                              <a:hlinkClick r:id="rId5" tooltip="Deep Equilibrium Models"/>
                            </a:rPr>
                            <a:t>NeurIPS Proceedings</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269195"/>
                      </a:ext>
                    </a:extLst>
                  </a:tr>
                  <a:tr h="1176020">
                    <a:tc>
                      <a:txBody>
                        <a:bodyPr/>
                        <a:lstStyle/>
                        <a:p>
                          <a:pPr algn="ctr">
                            <a:buNone/>
                          </a:pPr>
                          <a:r>
                            <a:rPr lang="en-US" sz="1800"/>
                            <a:t>Implicit Deep Learning</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800"/>
                            <a:t>隐藏特征由不动点方程定义</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t>El Ghaoui et al., </a:t>
                          </a:r>
                          <a:r>
                            <a:rPr lang="en-US" sz="1800" i="1"/>
                            <a:t>Implicit Deep Learning</a:t>
                          </a:r>
                          <a:r>
                            <a:rPr lang="en-US" sz="1800"/>
                            <a:t>, SIAM Journal on Mathematics of Data Science, 2021 (</a:t>
                          </a:r>
                          <a:r>
                            <a:rPr lang="en-US" sz="1800">
                              <a:hlinkClick r:id="rId6" tooltip="Implicit Deep Learning | SIAM Journal on Mathematics of Data Science"/>
                            </a:rPr>
                            <a:t>SIAM</a:t>
                          </a:r>
                          <a:r>
                            <a:rPr lang="en-US" sz="180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4750364"/>
                      </a:ext>
                    </a:extLst>
                  </a:tr>
                  <a:tr h="901700">
                    <a:tc>
                      <a:txBody>
                        <a:bodyPr/>
                        <a:lstStyle/>
                        <a:p>
                          <a:pPr algn="ctr">
                            <a:buNone/>
                          </a:pPr>
                          <a:r>
                            <a:rPr lang="en-US" sz="1800"/>
                            <a:t>Monotone Equilibrium Networks</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800"/>
                            <a:t>单调算子保证稳定平衡点</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Winston and Kolter, </a:t>
                          </a:r>
                          <a:r>
                            <a:rPr lang="en-US" sz="1800" i="1" dirty="0"/>
                            <a:t>Monotone Operator Equilibrium Networks</a:t>
                          </a:r>
                          <a:r>
                            <a:rPr lang="en-US" sz="1800" dirty="0"/>
                            <a:t>, </a:t>
                          </a:r>
                          <a:r>
                            <a:rPr lang="en-US" sz="1800" dirty="0" err="1"/>
                            <a:t>NeurIPS</a:t>
                          </a:r>
                          <a:r>
                            <a:rPr lang="en-US" sz="1800" dirty="0"/>
                            <a:t> 2020 (</a:t>
                          </a:r>
                          <a:r>
                            <a:rPr lang="en-US" sz="1800" dirty="0" err="1">
                              <a:hlinkClick r:id="rId7" tooltip="[2006.08591] Monotone operator equilibrium networks"/>
                            </a:rPr>
                            <a:t>arXiv</a:t>
                          </a:r>
                          <a:r>
                            <a:rPr lang="en-US" sz="1800" dirty="0"/>
                            <a:t>)</a:t>
                          </a:r>
                        </a:p>
                      </a:txBody>
                      <a:tcPr marL="78740" marR="78740" marT="39370" marB="393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0298401"/>
                      </a:ext>
                    </a:extLst>
                  </a:tr>
                </a:tbl>
              </a:graphicData>
            </a:graphic>
          </p:graphicFrame>
        </mc:Fallback>
      </mc:AlternateContent>
    </p:spTree>
    <p:extLst>
      <p:ext uri="{BB962C8B-B14F-4D97-AF65-F5344CB8AC3E}">
        <p14:creationId xmlns:p14="http://schemas.microsoft.com/office/powerpoint/2010/main" val="3160837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9660A-80B2-48A5-E7FB-F2B118380D44}"/>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93DC9E6-F866-3482-A3B4-4915387E0A39}"/>
              </a:ext>
            </a:extLst>
          </p:cNvPr>
          <p:cNvSpPr>
            <a:spLocks noGrp="1" noChangeArrowheads="1"/>
          </p:cNvSpPr>
          <p:nvPr>
            <p:ph type="title"/>
          </p:nvPr>
        </p:nvSpPr>
        <p:spPr/>
        <p:txBody>
          <a:bodyPr/>
          <a:lstStyle/>
          <a:p>
            <a:r>
              <a:rPr lang="zh-CN" altLang="en-US" b="1" dirty="0"/>
              <a:t>机器学习中的对应场景一：</a:t>
            </a:r>
            <a:r>
              <a:rPr lang="en-US" altLang="ja-JP" dirty="0"/>
              <a:t>Neural ODE</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22BB622B-D3F1-330A-3F5A-A082F5FF54BF}"/>
                  </a:ext>
                </a:extLst>
              </p:cNvPr>
              <p:cNvSpPr>
                <a:spLocks noGrp="1"/>
              </p:cNvSpPr>
              <p:nvPr>
                <p:ph idx="1"/>
              </p:nvPr>
            </p:nvSpPr>
            <p:spPr>
              <a:xfrm>
                <a:off x="508000" y="1112520"/>
                <a:ext cx="11582400" cy="5440680"/>
              </a:xfrm>
            </p:spPr>
            <p:txBody>
              <a:bodyPr/>
              <a:lstStyle/>
              <a:p>
                <a:pPr marL="0" indent="0">
                  <a:lnSpc>
                    <a:spcPct val="120000"/>
                  </a:lnSpc>
                  <a:buNone/>
                </a:pPr>
                <a:r>
                  <a:rPr lang="en-US" altLang="zh-CN" dirty="0"/>
                  <a:t>Neural ODE </a:t>
                </a:r>
                <a:r>
                  <a:rPr lang="zh-CN" altLang="en-US" dirty="0"/>
                  <a:t>的基本想法：</a:t>
                </a:r>
                <a:endParaRPr lang="en-US" altLang="zh-CN" dirty="0"/>
              </a:p>
              <a:p>
                <a:pPr>
                  <a:lnSpc>
                    <a:spcPct val="120000"/>
                  </a:lnSpc>
                </a:pPr>
                <a:r>
                  <a:rPr lang="ja-JP" altLang="en-US" dirty="0"/>
                  <a:t>普通深度神经网络是一层一层计算的。例如：</a:t>
                </a:r>
                <a14:m>
                  <m:oMath xmlns:m="http://schemas.openxmlformats.org/officeDocument/2006/math">
                    <m:sSub>
                      <m:sSubPr>
                        <m:ctrlPr>
                          <a:rPr lang="ar-AE" altLang="ja-JP"/>
                        </m:ctrlPr>
                      </m:sSubPr>
                      <m:e>
                        <m:r>
                          <a:rPr lang="ar-AE" altLang="ja-JP" i="1"/>
                          <m:t>h</m:t>
                        </m:r>
                      </m:e>
                      <m:sub>
                        <m:r>
                          <a:rPr lang="ar-AE" altLang="ja-JP"/>
                          <m:t>0</m:t>
                        </m:r>
                      </m:sub>
                    </m:sSub>
                    <m:r>
                      <a:rPr lang="ar-AE" altLang="ja-JP"/>
                      <m:t>→</m:t>
                    </m:r>
                    <m:sSub>
                      <m:sSubPr>
                        <m:ctrlPr>
                          <a:rPr lang="ar-AE" altLang="ja-JP" i="1"/>
                        </m:ctrlPr>
                      </m:sSubPr>
                      <m:e>
                        <m:r>
                          <a:rPr lang="ar-AE" altLang="ja-JP" i="1"/>
                          <m:t>h</m:t>
                        </m:r>
                      </m:e>
                      <m:sub>
                        <m:r>
                          <a:rPr lang="ar-AE" altLang="ja-JP"/>
                          <m:t>1</m:t>
                        </m:r>
                      </m:sub>
                    </m:sSub>
                    <m:r>
                      <a:rPr lang="ar-AE" altLang="ja-JP"/>
                      <m:t>→</m:t>
                    </m:r>
                    <m:sSub>
                      <m:sSubPr>
                        <m:ctrlPr>
                          <a:rPr lang="ar-AE" altLang="ja-JP" i="1"/>
                        </m:ctrlPr>
                      </m:sSubPr>
                      <m:e>
                        <m:r>
                          <a:rPr lang="ar-AE" altLang="ja-JP" i="1"/>
                          <m:t>h</m:t>
                        </m:r>
                      </m:e>
                      <m:sub>
                        <m:r>
                          <a:rPr lang="ar-AE" altLang="ja-JP"/>
                          <m:t>2</m:t>
                        </m:r>
                      </m:sub>
                    </m:sSub>
                    <m:r>
                      <a:rPr lang="ar-AE" altLang="ja-JP"/>
                      <m:t>→⋯→</m:t>
                    </m:r>
                    <m:sSub>
                      <m:sSubPr>
                        <m:ctrlPr>
                          <a:rPr lang="ar-AE" altLang="ja-JP" i="1"/>
                        </m:ctrlPr>
                      </m:sSubPr>
                      <m:e>
                        <m:r>
                          <a:rPr lang="ar-AE" altLang="ja-JP" i="1"/>
                          <m:t>h</m:t>
                        </m:r>
                      </m:e>
                      <m:sub>
                        <m:r>
                          <a:rPr lang="ja-JP" altLang="ar-AE" i="1"/>
                          <m:t>𝐿</m:t>
                        </m:r>
                      </m:sub>
                    </m:sSub>
                    <m:r>
                      <a:rPr lang="ar-AE" altLang="ja-JP"/>
                      <m:t>.</m:t>
                    </m:r>
                  </m:oMath>
                </a14:m>
                <a:endParaRPr lang="ar-AE" altLang="ja-JP" dirty="0"/>
              </a:p>
              <a:p>
                <a:pPr>
                  <a:lnSpc>
                    <a:spcPct val="120000"/>
                  </a:lnSpc>
                </a:pPr>
                <a:r>
                  <a:rPr lang="ja-JP" altLang="en-US" dirty="0"/>
                  <a:t>每一层可以写成：</a:t>
                </a:r>
                <a14:m>
                  <m:oMath xmlns:m="http://schemas.openxmlformats.org/officeDocument/2006/math">
                    <m:sSub>
                      <m:sSubPr>
                        <m:ctrlPr>
                          <a:rPr lang="ar-AE" altLang="ja-JP"/>
                        </m:ctrlPr>
                      </m:sSubPr>
                      <m:e>
                        <m:r>
                          <a:rPr lang="ar-AE" altLang="ja-JP" i="1"/>
                          <m:t>h</m:t>
                        </m:r>
                      </m:e>
                      <m:sub>
                        <m:r>
                          <a:rPr lang="ja-JP" altLang="ar-AE" i="1"/>
                          <m:t>𝑘</m:t>
                        </m:r>
                        <m:r>
                          <a:rPr lang="ar-AE" altLang="ja-JP"/>
                          <m:t>+</m:t>
                        </m:r>
                        <m:r>
                          <a:rPr lang="ar-AE" altLang="ja-JP"/>
                          <m:t>1</m:t>
                        </m:r>
                      </m:sub>
                    </m:sSub>
                    <m:r>
                      <a:rPr lang="ar-AE" altLang="ja-JP"/>
                      <m:t>=</m:t>
                    </m:r>
                    <m:sSub>
                      <m:sSubPr>
                        <m:ctrlPr>
                          <a:rPr lang="ar-AE" altLang="ja-JP" i="1"/>
                        </m:ctrlPr>
                      </m:sSubPr>
                      <m:e>
                        <m:r>
                          <a:rPr lang="ja-JP" altLang="ar-AE" i="1"/>
                          <m:t>𝐹</m:t>
                        </m:r>
                      </m:e>
                      <m:sub>
                        <m:r>
                          <a:rPr lang="ja-JP" altLang="ar-AE" i="1"/>
                          <m:t>𝜃</m:t>
                        </m:r>
                      </m:sub>
                    </m:sSub>
                    <m:d>
                      <m:dPr>
                        <m:ctrlPr>
                          <a:rPr lang="ar-AE" altLang="ja-JP" i="1"/>
                        </m:ctrlPr>
                      </m:dPr>
                      <m:e>
                        <m:sSub>
                          <m:sSubPr>
                            <m:ctrlPr>
                              <a:rPr lang="ar-AE" altLang="ja-JP" i="1"/>
                            </m:ctrlPr>
                          </m:sSubPr>
                          <m:e>
                            <m:r>
                              <a:rPr lang="ar-AE" altLang="ja-JP" i="1"/>
                              <m:t>h</m:t>
                            </m:r>
                          </m:e>
                          <m:sub>
                            <m:r>
                              <a:rPr lang="ja-JP" altLang="ar-AE" i="1"/>
                              <m:t>𝑘</m:t>
                            </m:r>
                          </m:sub>
                        </m:sSub>
                      </m:e>
                    </m:d>
                    <m:r>
                      <a:rPr lang="ar-AE" altLang="ja-JP"/>
                      <m:t>.</m:t>
                    </m:r>
                  </m:oMath>
                </a14:m>
                <a:endParaRPr lang="ar-AE" altLang="ja-JP" dirty="0"/>
              </a:p>
              <a:p>
                <a:pPr>
                  <a:lnSpc>
                    <a:spcPct val="120000"/>
                  </a:lnSpc>
                </a:pPr>
                <a:r>
                  <a:rPr lang="ja-JP" altLang="en-US" dirty="0"/>
                  <a:t>如果是 </a:t>
                </a:r>
                <a:r>
                  <a:rPr lang="en-US" altLang="ja-JP" dirty="0" err="1"/>
                  <a:t>ResNet</a:t>
                </a:r>
                <a:r>
                  <a:rPr lang="ja-JP" altLang="en-US" dirty="0"/>
                  <a:t>，则常写成：</a:t>
                </a:r>
                <a14:m>
                  <m:oMath xmlns:m="http://schemas.openxmlformats.org/officeDocument/2006/math">
                    <m:sSub>
                      <m:sSubPr>
                        <m:ctrlPr>
                          <a:rPr lang="ar-AE" altLang="ja-JP"/>
                        </m:ctrlPr>
                      </m:sSubPr>
                      <m:e>
                        <m:r>
                          <a:rPr lang="ar-AE" altLang="ja-JP" i="1"/>
                          <m:t>h</m:t>
                        </m:r>
                      </m:e>
                      <m:sub>
                        <m:r>
                          <a:rPr lang="ja-JP" altLang="ar-AE" i="1"/>
                          <m:t>𝑘</m:t>
                        </m:r>
                        <m:r>
                          <a:rPr lang="ar-AE" altLang="ja-JP"/>
                          <m:t>+</m:t>
                        </m:r>
                        <m:r>
                          <a:rPr lang="ar-AE" altLang="ja-JP"/>
                          <m:t>1</m:t>
                        </m:r>
                      </m:sub>
                    </m:sSub>
                    <m:r>
                      <a:rPr lang="ar-AE" altLang="ja-JP"/>
                      <m:t>=</m:t>
                    </m:r>
                    <m:sSub>
                      <m:sSubPr>
                        <m:ctrlPr>
                          <a:rPr lang="ar-AE" altLang="ja-JP" i="1"/>
                        </m:ctrlPr>
                      </m:sSubPr>
                      <m:e>
                        <m:r>
                          <a:rPr lang="ar-AE" altLang="ja-JP" i="1"/>
                          <m:t>h</m:t>
                        </m:r>
                      </m:e>
                      <m:sub>
                        <m:r>
                          <a:rPr lang="ja-JP" altLang="ar-AE" i="1"/>
                          <m:t>𝑘</m:t>
                        </m:r>
                      </m:sub>
                    </m:sSub>
                    <m:r>
                      <a:rPr lang="ar-AE" altLang="ja-JP"/>
                      <m:t>+</m:t>
                    </m:r>
                    <m:sSub>
                      <m:sSubPr>
                        <m:ctrlPr>
                          <a:rPr lang="ar-AE" altLang="ja-JP" i="1"/>
                        </m:ctrlPr>
                      </m:sSubPr>
                      <m:e>
                        <m:r>
                          <a:rPr lang="ja-JP" altLang="ar-AE" i="1"/>
                          <m:t>𝑓</m:t>
                        </m:r>
                      </m:e>
                      <m:sub>
                        <m:r>
                          <a:rPr lang="ja-JP" altLang="ar-AE" i="1"/>
                          <m:t>𝜃</m:t>
                        </m:r>
                      </m:sub>
                    </m:sSub>
                    <m:d>
                      <m:dPr>
                        <m:ctrlPr>
                          <a:rPr lang="ar-AE" altLang="ja-JP" i="1"/>
                        </m:ctrlPr>
                      </m:dPr>
                      <m:e>
                        <m:sSub>
                          <m:sSubPr>
                            <m:ctrlPr>
                              <a:rPr lang="ar-AE" altLang="ja-JP" i="1"/>
                            </m:ctrlPr>
                          </m:sSubPr>
                          <m:e>
                            <m:r>
                              <a:rPr lang="ar-AE" altLang="ja-JP" i="1"/>
                              <m:t>h</m:t>
                            </m:r>
                          </m:e>
                          <m:sub>
                            <m:r>
                              <a:rPr lang="ja-JP" altLang="ar-AE" i="1"/>
                              <m:t>𝑘</m:t>
                            </m:r>
                          </m:sub>
                        </m:sSub>
                      </m:e>
                    </m:d>
                    <m:r>
                      <a:rPr lang="ar-AE" altLang="ja-JP"/>
                      <m:t>.</m:t>
                    </m:r>
                  </m:oMath>
                </a14:m>
                <a:endParaRPr lang="ar-AE" altLang="ja-JP" dirty="0"/>
              </a:p>
              <a:p>
                <a:pPr marL="0" indent="0">
                  <a:lnSpc>
                    <a:spcPct val="120000"/>
                  </a:lnSpc>
                  <a:buNone/>
                </a:pPr>
                <a:r>
                  <a:rPr lang="ja-JP" altLang="en-US" dirty="0"/>
                  <a:t>意思是：下一层状态等于当前状态加上一个由神经网络学习出来的变化量。</a:t>
                </a:r>
              </a:p>
              <a:p>
                <a:pPr marL="0" indent="0">
                  <a:lnSpc>
                    <a:spcPct val="120000"/>
                  </a:lnSpc>
                  <a:buNone/>
                </a:pPr>
                <a:r>
                  <a:rPr lang="en-US" altLang="ja-JP" dirty="0">
                    <a:solidFill>
                      <a:srgbClr val="C00000"/>
                    </a:solidFill>
                  </a:rPr>
                  <a:t>Neural ODE </a:t>
                </a:r>
                <a:r>
                  <a:rPr lang="ja-JP" altLang="en-US" dirty="0">
                    <a:solidFill>
                      <a:srgbClr val="C00000"/>
                    </a:solidFill>
                  </a:rPr>
                  <a:t>的核心思想是</a:t>
                </a:r>
                <a:r>
                  <a:rPr lang="ja-JP" altLang="en-US" dirty="0"/>
                  <a:t>：</a:t>
                </a:r>
              </a:p>
              <a:p>
                <a:pPr>
                  <a:lnSpc>
                    <a:spcPct val="120000"/>
                  </a:lnSpc>
                </a:pPr>
                <a:r>
                  <a:rPr lang="ja-JP" altLang="en-US" dirty="0"/>
                  <a:t>如果网络层数非常多，每一层变化很小，那么</a:t>
                </a:r>
                <a:r>
                  <a:rPr lang="ja-JP" altLang="en-US" dirty="0">
                    <a:solidFill>
                      <a:srgbClr val="C00000"/>
                    </a:solidFill>
                  </a:rPr>
                  <a:t>“离散层更新”可以看成“连续时间演化”</a:t>
                </a:r>
                <a:r>
                  <a:rPr lang="ja-JP" altLang="en-US" dirty="0"/>
                  <a:t>。</a:t>
                </a:r>
              </a:p>
              <a:p>
                <a:pPr>
                  <a:lnSpc>
                    <a:spcPct val="120000"/>
                  </a:lnSpc>
                </a:pPr>
                <a:r>
                  <a:rPr lang="ja-JP" altLang="en-US" dirty="0"/>
                  <a:t>于是把离散层编号 </a:t>
                </a:r>
                <a14:m>
                  <m:oMath xmlns:m="http://schemas.openxmlformats.org/officeDocument/2006/math">
                    <m:r>
                      <a:rPr lang="ja-JP" altLang="en-US" i="1"/>
                      <m:t>𝑘</m:t>
                    </m:r>
                  </m:oMath>
                </a14:m>
                <a:r>
                  <a:rPr lang="ja-JP" altLang="en-US" dirty="0"/>
                  <a:t>换成连续时间 </a:t>
                </a:r>
                <a14:m>
                  <m:oMath xmlns:m="http://schemas.openxmlformats.org/officeDocument/2006/math">
                    <m:r>
                      <a:rPr lang="ja-JP" altLang="en-US" i="1"/>
                      <m:t>𝑡</m:t>
                    </m:r>
                  </m:oMath>
                </a14:m>
                <a:r>
                  <a:rPr lang="ja-JP" altLang="en-US" dirty="0"/>
                  <a:t>，把隐藏状态写成 </a:t>
                </a:r>
                <a14:m>
                  <m:oMath xmlns:m="http://schemas.openxmlformats.org/officeDocument/2006/math">
                    <m:r>
                      <a:rPr lang="en-US" altLang="ja-JP" i="1"/>
                      <m:t>h</m:t>
                    </m:r>
                    <m:d>
                      <m:dPr>
                        <m:ctrlPr>
                          <a:rPr lang="ar-AE" altLang="ja-JP" i="1"/>
                        </m:ctrlPr>
                      </m:dPr>
                      <m:e>
                        <m:r>
                          <a:rPr lang="ja-JP" altLang="ar-AE" i="1"/>
                          <m:t>𝑡</m:t>
                        </m:r>
                      </m:e>
                    </m:d>
                  </m:oMath>
                </a14:m>
                <a:r>
                  <a:rPr lang="ja-JP" altLang="ar-AE" dirty="0"/>
                  <a:t>，</a:t>
                </a:r>
                <a:r>
                  <a:rPr lang="ja-JP" altLang="en-US" dirty="0"/>
                  <a:t>得到：</a:t>
                </a:r>
              </a:p>
              <a:p>
                <a:pPr marL="0" indent="0">
                  <a:lnSpc>
                    <a:spcPct val="120000"/>
                  </a:lnSpc>
                  <a:buNone/>
                </a:pPr>
                <a14:m>
                  <m:oMathPara xmlns:m="http://schemas.openxmlformats.org/officeDocument/2006/math">
                    <m:oMathParaPr>
                      <m:jc m:val="centerGroup"/>
                    </m:oMathParaPr>
                    <m:oMath xmlns:m="http://schemas.openxmlformats.org/officeDocument/2006/math">
                      <m:f>
                        <m:fPr>
                          <m:ctrlPr>
                            <a:rPr lang="ar-AE" altLang="ja-JP"/>
                          </m:ctrlPr>
                        </m:fPr>
                        <m:num>
                          <m:r>
                            <a:rPr lang="ja-JP" altLang="ar-AE" i="1"/>
                            <m:t>𝑑</m:t>
                          </m:r>
                          <m:r>
                            <a:rPr lang="ar-AE" altLang="ja-JP" i="1"/>
                            <m:t>h</m:t>
                          </m:r>
                          <m:d>
                            <m:dPr>
                              <m:ctrlPr>
                                <a:rPr lang="ar-AE" altLang="ja-JP" i="1"/>
                              </m:ctrlPr>
                            </m:dPr>
                            <m:e>
                              <m:r>
                                <a:rPr lang="ja-JP" altLang="ar-AE" i="1"/>
                                <m:t>𝑡</m:t>
                              </m:r>
                            </m:e>
                          </m:d>
                        </m:num>
                        <m:den>
                          <m:r>
                            <a:rPr lang="ja-JP" altLang="ar-AE" i="1"/>
                            <m:t>𝑑𝑡</m:t>
                          </m:r>
                        </m:den>
                      </m:f>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r>
                            <a:rPr lang="ja-JP" altLang="ar-AE" i="1"/>
                            <m:t>𝑡</m:t>
                          </m:r>
                        </m:e>
                        <m:e>
                          <m:r>
                            <a:rPr lang="ar-AE" altLang="ja-JP" i="1"/>
                            <m:t>h</m:t>
                          </m:r>
                          <m:d>
                            <m:dPr>
                              <m:ctrlPr>
                                <a:rPr lang="ar-AE" altLang="ja-JP" i="1"/>
                              </m:ctrlPr>
                            </m:dPr>
                            <m:e>
                              <m:r>
                                <a:rPr lang="ja-JP" altLang="ar-AE" i="1"/>
                                <m:t>𝑡</m:t>
                              </m:r>
                            </m:e>
                          </m:d>
                        </m:e>
                      </m:d>
                      <m:r>
                        <a:rPr lang="ar-AE" altLang="ja-JP"/>
                        <m:t>.</m:t>
                      </m:r>
                    </m:oMath>
                  </m:oMathPara>
                </a14:m>
                <a:endParaRPr lang="ar-AE" altLang="ja-JP" dirty="0"/>
              </a:p>
              <a:p>
                <a:pPr>
                  <a:lnSpc>
                    <a:spcPct val="120000"/>
                  </a:lnSpc>
                </a:pPr>
                <a:r>
                  <a:rPr lang="ja-JP" altLang="en-US" dirty="0"/>
                  <a:t>这就是 </a:t>
                </a:r>
                <a:r>
                  <a:rPr lang="en-US" altLang="ja-JP" dirty="0"/>
                  <a:t>Neural ODE </a:t>
                </a:r>
                <a:r>
                  <a:rPr lang="ja-JP" altLang="en-US" dirty="0"/>
                  <a:t>的基本形式。</a:t>
                </a:r>
                <a:r>
                  <a:rPr lang="en-US" altLang="ja-JP" dirty="0"/>
                  <a:t>Chen, </a:t>
                </a:r>
                <a:r>
                  <a:rPr lang="en-US" altLang="ja-JP" dirty="0" err="1"/>
                  <a:t>Rubanova</a:t>
                </a:r>
                <a:r>
                  <a:rPr lang="en-US" altLang="ja-JP" dirty="0"/>
                  <a:t>, Bettencourt </a:t>
                </a:r>
                <a:r>
                  <a:rPr lang="ja-JP" altLang="en-US" dirty="0"/>
                  <a:t>和 </a:t>
                </a:r>
                <a:r>
                  <a:rPr lang="en-US" altLang="ja-JP" dirty="0" err="1"/>
                  <a:t>Duvenaud</a:t>
                </a:r>
                <a:r>
                  <a:rPr lang="en-US" altLang="ja-JP" dirty="0"/>
                  <a:t> </a:t>
                </a:r>
                <a:r>
                  <a:rPr lang="ja-JP" altLang="en-US" dirty="0"/>
                  <a:t>在 </a:t>
                </a:r>
                <a:r>
                  <a:rPr lang="en-US" altLang="ja-JP" dirty="0"/>
                  <a:t>2018 </a:t>
                </a:r>
                <a:r>
                  <a:rPr lang="ja-JP" altLang="en-US" dirty="0"/>
                  <a:t>年提出 </a:t>
                </a:r>
                <a:r>
                  <a:rPr lang="en-US" altLang="ja-JP" dirty="0"/>
                  <a:t>Neural Ordinary Differential Equations</a:t>
                </a:r>
                <a:r>
                  <a:rPr lang="ja-JP" altLang="en-US" dirty="0"/>
                  <a:t>，核心做法就是不用离散层序列指定深度网络，而是用神经网络参数化隐藏状态的导数，并通过黑箱 </a:t>
                </a:r>
                <a:r>
                  <a:rPr lang="en-US" altLang="ja-JP" dirty="0"/>
                  <a:t>ODE solver </a:t>
                </a:r>
                <a:r>
                  <a:rPr lang="ja-JP" altLang="en-US" dirty="0"/>
                  <a:t>计算输出。</a:t>
                </a:r>
              </a:p>
              <a:p>
                <a:pPr marL="0" indent="0">
                  <a:lnSpc>
                    <a:spcPct val="120000"/>
                  </a:lnSpc>
                  <a:buNone/>
                </a:pPr>
                <a:endParaRPr lang="zh-CN" altLang="en-US" dirty="0"/>
              </a:p>
            </p:txBody>
          </p:sp>
        </mc:Choice>
        <mc:Fallback>
          <p:sp>
            <p:nvSpPr>
              <p:cNvPr id="12" name="コンテンツ プレースホルダー 2">
                <a:extLst>
                  <a:ext uri="{FF2B5EF4-FFF2-40B4-BE49-F238E27FC236}">
                    <a16:creationId xmlns:a16="http://schemas.microsoft.com/office/drawing/2014/main" id="{22BB622B-D3F1-330A-3F5A-A082F5FF54BF}"/>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448" r="-316" b="-639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テキスト ボックス 8">
                <a:extLst>
                  <a:ext uri="{FF2B5EF4-FFF2-40B4-BE49-F238E27FC236}">
                    <a16:creationId xmlns:a16="http://schemas.microsoft.com/office/drawing/2014/main" id="{8214956A-13A5-D643-B145-42116CF34CBE}"/>
                  </a:ext>
                </a:extLst>
              </p:cNvPr>
              <p:cNvSpPr txBox="1"/>
              <p:nvPr/>
            </p:nvSpPr>
            <p:spPr>
              <a:xfrm>
                <a:off x="6490586" y="1880030"/>
                <a:ext cx="6103088" cy="1077218"/>
              </a:xfrm>
              <a:prstGeom prst="rect">
                <a:avLst/>
              </a:prstGeom>
              <a:noFill/>
            </p:spPr>
            <p:txBody>
              <a:bodyPr wrap="square">
                <a:spAutoFit/>
              </a:bodyPr>
              <a:lstStyle/>
              <a:p>
                <a:pPr>
                  <a:buNone/>
                </a:pPr>
                <a:r>
                  <a:rPr lang="en-US" altLang="zh-CN" sz="1600" dirty="0">
                    <a:solidFill>
                      <a:srgbClr val="7030A0"/>
                    </a:solidFill>
                    <a:latin typeface="+mj-ea"/>
                    <a:ea typeface="+mj-ea"/>
                  </a:rPr>
                  <a:t>ResNet </a:t>
                </a:r>
                <a:r>
                  <a:rPr lang="zh-CN" altLang="en-US" sz="1600" dirty="0">
                    <a:solidFill>
                      <a:srgbClr val="7030A0"/>
                    </a:solidFill>
                    <a:latin typeface="+mj-ea"/>
                    <a:ea typeface="+mj-ea"/>
                  </a:rPr>
                  <a:t>可以理解为一种离散时间动力系统：</a:t>
                </a:r>
              </a:p>
              <a:p>
                <a:pPr>
                  <a:buNone/>
                </a:pPr>
                <a14:m>
                  <m:oMathPara xmlns:m="http://schemas.openxmlformats.org/officeDocument/2006/math">
                    <m:oMathParaPr>
                      <m:jc m:val="centerGroup"/>
                    </m:oMathParaPr>
                    <m:oMath xmlns:m="http://schemas.openxmlformats.org/officeDocument/2006/math">
                      <m:sSub>
                        <m:sSubPr>
                          <m:ctrlPr>
                            <a:rPr lang="zh-CN" altLang="en-US" sz="1600" i="1">
                              <a:solidFill>
                                <a:srgbClr val="7030A0"/>
                              </a:solidFill>
                              <a:latin typeface="Cambria Math" panose="02040503050406030204" pitchFamily="18" charset="0"/>
                              <a:ea typeface="+mj-ea"/>
                            </a:rPr>
                          </m:ctrlPr>
                        </m:sSubPr>
                        <m:e>
                          <m:r>
                            <a:rPr lang="en-US" altLang="zh-CN" sz="1600" i="1">
                              <a:solidFill>
                                <a:srgbClr val="7030A0"/>
                              </a:solidFill>
                              <a:latin typeface="Cambria Math" panose="02040503050406030204" pitchFamily="18" charset="0"/>
                              <a:ea typeface="+mj-ea"/>
                            </a:rPr>
                            <m:t>h</m:t>
                          </m:r>
                        </m:e>
                        <m:sub>
                          <m:r>
                            <a:rPr lang="zh-CN" altLang="en-US" sz="1600" i="1">
                              <a:solidFill>
                                <a:srgbClr val="7030A0"/>
                              </a:solidFill>
                              <a:latin typeface="Cambria Math" panose="02040503050406030204" pitchFamily="18" charset="0"/>
                              <a:ea typeface="+mj-ea"/>
                            </a:rPr>
                            <m:t>𝑘</m:t>
                          </m:r>
                          <m:r>
                            <a:rPr lang="en-US" altLang="zh-CN" sz="1600" i="0">
                              <a:solidFill>
                                <a:srgbClr val="7030A0"/>
                              </a:solidFill>
                              <a:latin typeface="Cambria Math" panose="02040503050406030204" pitchFamily="18" charset="0"/>
                              <a:ea typeface="+mj-ea"/>
                            </a:rPr>
                            <m:t>+</m:t>
                          </m:r>
                          <m:r>
                            <a:rPr lang="en-US" altLang="zh-CN" sz="1600" i="0">
                              <a:solidFill>
                                <a:srgbClr val="7030A0"/>
                              </a:solidFill>
                              <a:latin typeface="Cambria Math" panose="02040503050406030204" pitchFamily="18" charset="0"/>
                              <a:ea typeface="+mj-ea"/>
                            </a:rPr>
                            <m:t>1</m:t>
                          </m:r>
                        </m:sub>
                      </m:sSub>
                      <m:r>
                        <a:rPr lang="en-US" altLang="zh-CN" sz="1600" i="0">
                          <a:solidFill>
                            <a:srgbClr val="7030A0"/>
                          </a:solidFill>
                          <a:latin typeface="Cambria Math" panose="02040503050406030204" pitchFamily="18" charset="0"/>
                          <a:ea typeface="+mj-ea"/>
                        </a:rPr>
                        <m:t>=</m:t>
                      </m:r>
                      <m:sSub>
                        <m:sSubPr>
                          <m:ctrlPr>
                            <a:rPr lang="zh-CN" altLang="en-US" sz="1600" i="1">
                              <a:solidFill>
                                <a:srgbClr val="7030A0"/>
                              </a:solidFill>
                              <a:latin typeface="Cambria Math" panose="02040503050406030204" pitchFamily="18" charset="0"/>
                              <a:ea typeface="+mj-ea"/>
                            </a:rPr>
                          </m:ctrlPr>
                        </m:sSubPr>
                        <m:e>
                          <m:r>
                            <a:rPr lang="en-US" altLang="zh-CN" sz="1600" i="1">
                              <a:solidFill>
                                <a:srgbClr val="7030A0"/>
                              </a:solidFill>
                              <a:latin typeface="Cambria Math" panose="02040503050406030204" pitchFamily="18" charset="0"/>
                              <a:ea typeface="+mj-ea"/>
                            </a:rPr>
                            <m:t>h</m:t>
                          </m:r>
                        </m:e>
                        <m:sub>
                          <m:r>
                            <a:rPr lang="zh-CN" altLang="en-US" sz="1600" i="1">
                              <a:solidFill>
                                <a:srgbClr val="7030A0"/>
                              </a:solidFill>
                              <a:latin typeface="Cambria Math" panose="02040503050406030204" pitchFamily="18" charset="0"/>
                              <a:ea typeface="+mj-ea"/>
                            </a:rPr>
                            <m:t>𝑘</m:t>
                          </m:r>
                        </m:sub>
                      </m:sSub>
                      <m:r>
                        <a:rPr lang="en-US" altLang="zh-CN" sz="1600" i="0">
                          <a:solidFill>
                            <a:srgbClr val="7030A0"/>
                          </a:solidFill>
                          <a:latin typeface="Cambria Math" panose="02040503050406030204" pitchFamily="18" charset="0"/>
                          <a:ea typeface="+mj-ea"/>
                        </a:rPr>
                        <m:t>+</m:t>
                      </m:r>
                      <m:r>
                        <m:rPr>
                          <m:sty m:val="p"/>
                        </m:rPr>
                        <a:rPr lang="en-US" altLang="zh-CN" sz="1600" i="0">
                          <a:solidFill>
                            <a:srgbClr val="7030A0"/>
                          </a:solidFill>
                          <a:latin typeface="Cambria Math" panose="02040503050406030204" pitchFamily="18" charset="0"/>
                          <a:ea typeface="+mj-ea"/>
                        </a:rPr>
                        <m:t>Δ</m:t>
                      </m:r>
                      <m:r>
                        <a:rPr lang="zh-CN" altLang="en-US" sz="1600" i="1">
                          <a:solidFill>
                            <a:srgbClr val="7030A0"/>
                          </a:solidFill>
                          <a:latin typeface="Cambria Math" panose="02040503050406030204" pitchFamily="18" charset="0"/>
                          <a:ea typeface="+mj-ea"/>
                        </a:rPr>
                        <m:t>𝑡</m:t>
                      </m:r>
                      <m:sSub>
                        <m:sSubPr>
                          <m:ctrlPr>
                            <a:rPr lang="zh-CN" altLang="en-US" sz="1600" i="1">
                              <a:solidFill>
                                <a:srgbClr val="7030A0"/>
                              </a:solidFill>
                              <a:latin typeface="Cambria Math" panose="02040503050406030204" pitchFamily="18" charset="0"/>
                              <a:ea typeface="+mj-ea"/>
                            </a:rPr>
                          </m:ctrlPr>
                        </m:sSubPr>
                        <m:e>
                          <m:r>
                            <a:rPr lang="zh-CN" altLang="en-US" sz="1600" i="1">
                              <a:solidFill>
                                <a:srgbClr val="7030A0"/>
                              </a:solidFill>
                              <a:latin typeface="Cambria Math" panose="02040503050406030204" pitchFamily="18" charset="0"/>
                              <a:ea typeface="+mj-ea"/>
                            </a:rPr>
                            <m:t>𝑓</m:t>
                          </m:r>
                        </m:e>
                        <m:sub>
                          <m:r>
                            <a:rPr lang="zh-CN" altLang="en-US" sz="1600" i="1">
                              <a:solidFill>
                                <a:srgbClr val="7030A0"/>
                              </a:solidFill>
                              <a:latin typeface="Cambria Math" panose="02040503050406030204" pitchFamily="18" charset="0"/>
                              <a:ea typeface="+mj-ea"/>
                            </a:rPr>
                            <m:t>𝜃</m:t>
                          </m:r>
                        </m:sub>
                      </m:sSub>
                      <m:d>
                        <m:dPr>
                          <m:ctrlPr>
                            <a:rPr lang="zh-CN" altLang="en-US" sz="1600" i="1">
                              <a:solidFill>
                                <a:srgbClr val="7030A0"/>
                              </a:solidFill>
                              <a:latin typeface="Cambria Math" panose="02040503050406030204" pitchFamily="18" charset="0"/>
                              <a:ea typeface="+mj-ea"/>
                            </a:rPr>
                          </m:ctrlPr>
                        </m:dPr>
                        <m:e>
                          <m:sSub>
                            <m:sSubPr>
                              <m:ctrlPr>
                                <a:rPr lang="zh-CN" altLang="en-US" sz="1600" i="1">
                                  <a:solidFill>
                                    <a:srgbClr val="7030A0"/>
                                  </a:solidFill>
                                  <a:latin typeface="Cambria Math" panose="02040503050406030204" pitchFamily="18" charset="0"/>
                                  <a:ea typeface="+mj-ea"/>
                                </a:rPr>
                              </m:ctrlPr>
                            </m:sSubPr>
                            <m:e>
                              <m:r>
                                <a:rPr lang="en-US" altLang="zh-CN" sz="1600" i="1">
                                  <a:solidFill>
                                    <a:srgbClr val="7030A0"/>
                                  </a:solidFill>
                                  <a:latin typeface="Cambria Math" panose="02040503050406030204" pitchFamily="18" charset="0"/>
                                  <a:ea typeface="+mj-ea"/>
                                </a:rPr>
                                <m:t>h</m:t>
                              </m:r>
                            </m:e>
                            <m:sub>
                              <m:r>
                                <a:rPr lang="zh-CN" altLang="en-US" sz="1600" i="1">
                                  <a:solidFill>
                                    <a:srgbClr val="7030A0"/>
                                  </a:solidFill>
                                  <a:latin typeface="Cambria Math" panose="02040503050406030204" pitchFamily="18" charset="0"/>
                                  <a:ea typeface="+mj-ea"/>
                                </a:rPr>
                                <m:t>𝑘</m:t>
                              </m:r>
                            </m:sub>
                          </m:sSub>
                        </m:e>
                      </m:d>
                      <m:r>
                        <a:rPr lang="en-US" altLang="zh-CN" sz="1600" i="0">
                          <a:solidFill>
                            <a:srgbClr val="7030A0"/>
                          </a:solidFill>
                          <a:latin typeface="Cambria Math" panose="02040503050406030204" pitchFamily="18" charset="0"/>
                          <a:ea typeface="+mj-ea"/>
                        </a:rPr>
                        <m:t>.</m:t>
                      </m:r>
                    </m:oMath>
                  </m:oMathPara>
                </a14:m>
                <a:endParaRPr lang="zh-CN" altLang="en-US" sz="1600" dirty="0">
                  <a:solidFill>
                    <a:srgbClr val="7030A0"/>
                  </a:solidFill>
                  <a:latin typeface="+mj-ea"/>
                  <a:ea typeface="+mj-ea"/>
                </a:endParaRPr>
              </a:p>
              <a:p>
                <a:pPr>
                  <a:buNone/>
                </a:pPr>
                <a:r>
                  <a:rPr lang="zh-CN" altLang="en-US" sz="1600" dirty="0">
                    <a:solidFill>
                      <a:srgbClr val="7030A0"/>
                    </a:solidFill>
                    <a:latin typeface="+mj-ea"/>
                    <a:ea typeface="+mj-ea"/>
                  </a:rPr>
                  <a:t>每一层是在当前状态上做小步更新。</a:t>
                </a:r>
              </a:p>
              <a:p>
                <a:pPr>
                  <a:buNone/>
                </a:pPr>
                <a:r>
                  <a:rPr lang="zh-CN" altLang="en-US" sz="1600" dirty="0">
                    <a:solidFill>
                      <a:srgbClr val="7030A0"/>
                    </a:solidFill>
                    <a:latin typeface="+mj-ea"/>
                    <a:ea typeface="+mj-ea"/>
                  </a:rPr>
                  <a:t>结构很稳定，意味着它更适合描述“逐步演化”的特征变化。</a:t>
                </a:r>
              </a:p>
            </p:txBody>
          </p:sp>
        </mc:Choice>
        <mc:Fallback>
          <p:sp>
            <p:nvSpPr>
              <p:cNvPr id="9" name="テキスト ボックス 8">
                <a:extLst>
                  <a:ext uri="{FF2B5EF4-FFF2-40B4-BE49-F238E27FC236}">
                    <a16:creationId xmlns:a16="http://schemas.microsoft.com/office/drawing/2014/main" id="{8214956A-13A5-D643-B145-42116CF34CBE}"/>
                  </a:ext>
                </a:extLst>
              </p:cNvPr>
              <p:cNvSpPr txBox="1">
                <a:spLocks noRot="1" noChangeAspect="1" noMove="1" noResize="1" noEditPoints="1" noAdjustHandles="1" noChangeArrowheads="1" noChangeShapeType="1" noTextEdit="1"/>
              </p:cNvSpPr>
              <p:nvPr/>
            </p:nvSpPr>
            <p:spPr>
              <a:xfrm>
                <a:off x="6490586" y="1880030"/>
                <a:ext cx="6103088" cy="1077218"/>
              </a:xfrm>
              <a:prstGeom prst="rect">
                <a:avLst/>
              </a:prstGeom>
              <a:blipFill>
                <a:blip r:embed="rId4"/>
                <a:stretch>
                  <a:fillRect l="-599" t="-1695" b="-621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29261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8F54C-8062-A05F-25C9-1304DCFED2EF}"/>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EAF64BF-96E6-5E46-EE4E-9DD9634D3AE7}"/>
              </a:ext>
            </a:extLst>
          </p:cNvPr>
          <p:cNvSpPr>
            <a:spLocks noGrp="1" noChangeArrowheads="1"/>
          </p:cNvSpPr>
          <p:nvPr>
            <p:ph type="title"/>
          </p:nvPr>
        </p:nvSpPr>
        <p:spPr/>
        <p:txBody>
          <a:bodyPr/>
          <a:lstStyle/>
          <a:p>
            <a:r>
              <a:rPr lang="zh-CN" altLang="en-US" b="1" dirty="0"/>
              <a:t>机器学习中的对应场景一：</a:t>
            </a:r>
            <a:r>
              <a:rPr lang="en-US" altLang="ja-JP" dirty="0"/>
              <a:t>Neural ODE</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73D1C0DF-0D3F-41C8-151F-F869650F5818}"/>
                  </a:ext>
                </a:extLst>
              </p:cNvPr>
              <p:cNvSpPr>
                <a:spLocks noGrp="1"/>
              </p:cNvSpPr>
              <p:nvPr>
                <p:ph idx="1"/>
              </p:nvPr>
            </p:nvSpPr>
            <p:spPr>
              <a:xfrm>
                <a:off x="508000" y="1112520"/>
                <a:ext cx="11582400" cy="5440680"/>
              </a:xfrm>
            </p:spPr>
            <p:txBody>
              <a:bodyPr/>
              <a:lstStyle/>
              <a:p>
                <a:pPr marL="0" indent="0">
                  <a:buNone/>
                </a:pPr>
                <a:r>
                  <a:rPr lang="en-US" altLang="zh-CN" dirty="0"/>
                  <a:t>Neural ODE </a:t>
                </a:r>
                <a:r>
                  <a:rPr lang="zh-CN" altLang="en-US" dirty="0"/>
                  <a:t>将神经网络层从离散形式</a:t>
                </a:r>
                <a14:m>
                  <m:oMath xmlns:m="http://schemas.openxmlformats.org/officeDocument/2006/math">
                    <m:sSub>
                      <m:sSubPr>
                        <m:ctrlPr>
                          <a:rPr lang="zh-CN" altLang="en-US"/>
                        </m:ctrlPr>
                      </m:sSubPr>
                      <m:e>
                        <m:r>
                          <a:rPr lang="en-US" altLang="zh-CN" i="1"/>
                          <m:t>h</m:t>
                        </m:r>
                      </m:e>
                      <m:sub>
                        <m:r>
                          <a:rPr lang="zh-CN" altLang="en-US" i="1"/>
                          <m:t>𝑘</m:t>
                        </m:r>
                        <m:r>
                          <a:rPr lang="en-US" altLang="zh-CN"/>
                          <m:t>+</m:t>
                        </m:r>
                        <m:r>
                          <a:rPr lang="en-US" altLang="zh-CN"/>
                          <m:t>1</m:t>
                        </m:r>
                      </m:sub>
                    </m:sSub>
                    <m:r>
                      <a:rPr lang="en-US" altLang="zh-CN"/>
                      <m:t>=</m:t>
                    </m:r>
                    <m:sSub>
                      <m:sSubPr>
                        <m:ctrlPr>
                          <a:rPr lang="zh-CN" altLang="en-US" i="1"/>
                        </m:ctrlPr>
                      </m:sSubPr>
                      <m:e>
                        <m:r>
                          <a:rPr lang="en-US" altLang="zh-CN" i="1"/>
                          <m:t>h</m:t>
                        </m:r>
                      </m:e>
                      <m:sub>
                        <m:r>
                          <a:rPr lang="zh-CN" altLang="en-US" i="1"/>
                          <m:t>𝑘</m:t>
                        </m:r>
                      </m:sub>
                    </m:sSub>
                    <m:r>
                      <a:rPr lang="en-US" altLang="zh-CN"/>
                      <m:t>+</m:t>
                    </m:r>
                    <m:sSub>
                      <m:sSubPr>
                        <m:ctrlPr>
                          <a:rPr lang="zh-CN" altLang="en-US" i="1"/>
                        </m:ctrlPr>
                      </m:sSubPr>
                      <m:e>
                        <m:r>
                          <a:rPr lang="zh-CN" altLang="en-US" i="1"/>
                          <m:t>𝑓</m:t>
                        </m:r>
                      </m:e>
                      <m:sub>
                        <m:r>
                          <a:rPr lang="zh-CN" altLang="en-US" i="1"/>
                          <m:t>𝜃</m:t>
                        </m:r>
                      </m:sub>
                    </m:sSub>
                    <m:d>
                      <m:dPr>
                        <m:ctrlPr>
                          <a:rPr lang="zh-CN" altLang="en-US" i="1"/>
                        </m:ctrlPr>
                      </m:dPr>
                      <m:e>
                        <m:sSub>
                          <m:sSubPr>
                            <m:ctrlPr>
                              <a:rPr lang="zh-CN" altLang="en-US" i="1"/>
                            </m:ctrlPr>
                          </m:sSubPr>
                          <m:e>
                            <m:r>
                              <a:rPr lang="en-US" altLang="zh-CN" i="1"/>
                              <m:t>h</m:t>
                            </m:r>
                          </m:e>
                          <m:sub>
                            <m:r>
                              <a:rPr lang="zh-CN" altLang="en-US" i="1"/>
                              <m:t>𝑘</m:t>
                            </m:r>
                          </m:sub>
                        </m:sSub>
                      </m:e>
                    </m:d>
                  </m:oMath>
                </a14:m>
                <a:r>
                  <a:rPr lang="zh-CN" altLang="en-US" dirty="0"/>
                  <a:t>推广为连续时间动力系统：</a:t>
                </a:r>
              </a:p>
              <a:p>
                <a:pPr marL="0" indent="0">
                  <a:buNone/>
                </a:pPr>
                <a:endParaRPr lang="en-US" altLang="zh-CN" dirty="0"/>
              </a:p>
              <a:p>
                <a:pPr marL="0" indent="0">
                  <a:buNone/>
                </a:pPr>
                <a14:m>
                  <m:oMathPara xmlns:m="http://schemas.openxmlformats.org/officeDocument/2006/math">
                    <m:oMathParaPr>
                      <m:jc m:val="centerGroup"/>
                    </m:oMathParaPr>
                    <m:oMath xmlns:m="http://schemas.openxmlformats.org/officeDocument/2006/math">
                      <m:f>
                        <m:fPr>
                          <m:ctrlPr>
                            <a:rPr lang="zh-CN" altLang="en-US"/>
                          </m:ctrlPr>
                        </m:fPr>
                        <m:num>
                          <m:r>
                            <a:rPr lang="zh-CN" altLang="en-US" i="1"/>
                            <m:t>𝑑</m:t>
                          </m:r>
                          <m:r>
                            <a:rPr lang="en-US" altLang="zh-CN" i="1"/>
                            <m:t>h</m:t>
                          </m:r>
                          <m:d>
                            <m:dPr>
                              <m:ctrlPr>
                                <a:rPr lang="zh-CN" altLang="en-US" i="1"/>
                              </m:ctrlPr>
                            </m:dPr>
                            <m:e>
                              <m:r>
                                <a:rPr lang="zh-CN" altLang="en-US" i="1"/>
                                <m:t>𝑡</m:t>
                              </m:r>
                            </m:e>
                          </m:d>
                        </m:num>
                        <m:den>
                          <m:r>
                            <a:rPr lang="zh-CN" altLang="en-US" i="1"/>
                            <m:t>𝑑𝑡</m:t>
                          </m:r>
                        </m:den>
                      </m:f>
                      <m:r>
                        <a:rPr lang="en-US" altLang="zh-CN"/>
                        <m:t>=</m:t>
                      </m:r>
                      <m:sSub>
                        <m:sSubPr>
                          <m:ctrlPr>
                            <a:rPr lang="zh-CN" altLang="en-US" i="1"/>
                          </m:ctrlPr>
                        </m:sSubPr>
                        <m:e>
                          <m:r>
                            <a:rPr lang="zh-CN" altLang="en-US" i="1"/>
                            <m:t>𝑓</m:t>
                          </m:r>
                        </m:e>
                        <m:sub>
                          <m:r>
                            <a:rPr lang="zh-CN" altLang="en-US" i="1"/>
                            <m:t>𝜃</m:t>
                          </m:r>
                        </m:sub>
                      </m:sSub>
                      <m:d>
                        <m:dPr>
                          <m:sepChr m:val=","/>
                          <m:ctrlPr>
                            <a:rPr lang="zh-CN" altLang="en-US" i="1"/>
                          </m:ctrlPr>
                        </m:dPr>
                        <m:e>
                          <m:r>
                            <a:rPr lang="zh-CN" altLang="en-US" i="1"/>
                            <m:t>𝑡</m:t>
                          </m:r>
                        </m:e>
                        <m:e>
                          <m:r>
                            <a:rPr lang="en-US" altLang="zh-CN" i="1"/>
                            <m:t>h</m:t>
                          </m:r>
                          <m:d>
                            <m:dPr>
                              <m:ctrlPr>
                                <a:rPr lang="zh-CN" altLang="en-US" i="1"/>
                              </m:ctrlPr>
                            </m:dPr>
                            <m:e>
                              <m:r>
                                <a:rPr lang="zh-CN" altLang="en-US" i="1"/>
                                <m:t>𝑡</m:t>
                              </m:r>
                            </m:e>
                          </m:d>
                        </m:e>
                      </m:d>
                      <m:r>
                        <a:rPr lang="en-US" altLang="zh-CN"/>
                        <m:t>.</m:t>
                      </m:r>
                    </m:oMath>
                  </m:oMathPara>
                </a14:m>
                <a:endParaRPr lang="zh-CN" altLang="en-US" dirty="0"/>
              </a:p>
              <a:p>
                <a:pPr marL="0" indent="0">
                  <a:buNone/>
                </a:pPr>
                <a:endParaRPr lang="en-US" altLang="zh-CN" dirty="0"/>
              </a:p>
              <a:p>
                <a:pPr marL="0" indent="0">
                  <a:buNone/>
                </a:pPr>
                <a:r>
                  <a:rPr lang="zh-CN" altLang="en-US" dirty="0"/>
                  <a:t> </a:t>
                </a:r>
                <a14:m>
                  <m:oMath xmlns:m="http://schemas.openxmlformats.org/officeDocument/2006/math">
                    <m:r>
                      <a:rPr lang="en-US" altLang="zh-CN" i="1"/>
                      <m:t>h</m:t>
                    </m:r>
                    <m:d>
                      <m:dPr>
                        <m:ctrlPr>
                          <a:rPr lang="zh-CN" altLang="en-US" i="1"/>
                        </m:ctrlPr>
                      </m:dPr>
                      <m:e>
                        <m:r>
                          <a:rPr lang="zh-CN" altLang="en-US" i="1"/>
                          <m:t>𝑡</m:t>
                        </m:r>
                      </m:e>
                    </m:d>
                  </m:oMath>
                </a14:m>
                <a:r>
                  <a:rPr lang="zh-CN" altLang="en-US" dirty="0"/>
                  <a:t>是隐藏状态，</a:t>
                </a:r>
                <a14:m>
                  <m:oMath xmlns:m="http://schemas.openxmlformats.org/officeDocument/2006/math">
                    <m:sSub>
                      <m:sSubPr>
                        <m:ctrlPr>
                          <a:rPr lang="zh-CN" altLang="en-US"/>
                        </m:ctrlPr>
                      </m:sSubPr>
                      <m:e>
                        <m:r>
                          <a:rPr lang="zh-CN" altLang="en-US" i="1"/>
                          <m:t>𝑓</m:t>
                        </m:r>
                      </m:e>
                      <m:sub>
                        <m:r>
                          <a:rPr lang="zh-CN" altLang="en-US" i="1"/>
                          <m:t>𝜃</m:t>
                        </m:r>
                      </m:sub>
                    </m:sSub>
                  </m:oMath>
                </a14:m>
                <a:r>
                  <a:rPr lang="zh-CN" altLang="en-US" dirty="0"/>
                  <a:t> 是神经网络学习到的向量场。</a:t>
                </a:r>
                <a:endParaRPr lang="en-US" altLang="zh-CN" dirty="0"/>
              </a:p>
              <a:p>
                <a:pPr marL="0" indent="0">
                  <a:buNone/>
                </a:pPr>
                <a:r>
                  <a:rPr lang="zh-CN" altLang="en-US" dirty="0"/>
                  <a:t>模型的前向传播就是求解一个 </a:t>
                </a:r>
                <a:r>
                  <a:rPr lang="en-US" altLang="zh-CN" dirty="0"/>
                  <a:t>ODE</a:t>
                </a:r>
                <a:r>
                  <a:rPr lang="zh-CN" altLang="en-US" dirty="0"/>
                  <a:t>：</a:t>
                </a:r>
              </a:p>
              <a:p>
                <a:pPr marL="0" indent="0">
                  <a:buNone/>
                </a:pPr>
                <a14:m>
                  <m:oMathPara xmlns:m="http://schemas.openxmlformats.org/officeDocument/2006/math">
                    <m:oMathParaPr>
                      <m:jc m:val="centerGroup"/>
                    </m:oMathParaPr>
                    <m:oMath xmlns:m="http://schemas.openxmlformats.org/officeDocument/2006/math">
                      <m:r>
                        <a:rPr lang="en-US" altLang="zh-CN" i="1"/>
                        <m:t>h</m:t>
                      </m:r>
                      <m:d>
                        <m:dPr>
                          <m:ctrlPr>
                            <a:rPr lang="zh-CN" altLang="en-US" i="1"/>
                          </m:ctrlPr>
                        </m:dPr>
                        <m:e>
                          <m:sSub>
                            <m:sSubPr>
                              <m:ctrlPr>
                                <a:rPr lang="zh-CN" altLang="en-US" i="1"/>
                              </m:ctrlPr>
                            </m:sSubPr>
                            <m:e>
                              <m:r>
                                <a:rPr lang="zh-CN" altLang="en-US" i="1"/>
                                <m:t>𝑡</m:t>
                              </m:r>
                            </m:e>
                            <m:sub>
                              <m:r>
                                <a:rPr lang="en-US" altLang="zh-CN"/>
                                <m:t>1</m:t>
                              </m:r>
                            </m:sub>
                          </m:sSub>
                        </m:e>
                      </m:d>
                      <m:r>
                        <a:rPr lang="en-US" altLang="zh-CN"/>
                        <m:t>=</m:t>
                      </m:r>
                      <m:r>
                        <a:rPr lang="en-US" altLang="zh-CN" i="1"/>
                        <m:t>h</m:t>
                      </m:r>
                      <m:d>
                        <m:dPr>
                          <m:ctrlPr>
                            <a:rPr lang="zh-CN" altLang="en-US" i="1"/>
                          </m:ctrlPr>
                        </m:dPr>
                        <m:e>
                          <m:sSub>
                            <m:sSubPr>
                              <m:ctrlPr>
                                <a:rPr lang="zh-CN" altLang="en-US" i="1"/>
                              </m:ctrlPr>
                            </m:sSubPr>
                            <m:e>
                              <m:r>
                                <a:rPr lang="zh-CN" altLang="en-US" i="1"/>
                                <m:t>𝑡</m:t>
                              </m:r>
                            </m:e>
                            <m:sub>
                              <m:r>
                                <a:rPr lang="en-US" altLang="zh-CN"/>
                                <m:t>0</m:t>
                              </m:r>
                            </m:sub>
                          </m:sSub>
                        </m:e>
                      </m:d>
                      <m:r>
                        <a:rPr lang="en-US" altLang="zh-CN"/>
                        <m:t>+</m:t>
                      </m:r>
                      <m:nary>
                        <m:naryPr>
                          <m:grow m:val="on"/>
                          <m:ctrlPr>
                            <a:rPr lang="zh-CN" altLang="en-US" i="1"/>
                          </m:ctrlPr>
                        </m:naryPr>
                        <m:sub>
                          <m:sSub>
                            <m:sSubPr>
                              <m:ctrlPr>
                                <a:rPr lang="zh-CN" altLang="en-US" i="1"/>
                              </m:ctrlPr>
                            </m:sSubPr>
                            <m:e>
                              <m:r>
                                <a:rPr lang="zh-CN" altLang="en-US" i="1"/>
                                <m:t>𝑡</m:t>
                              </m:r>
                            </m:e>
                            <m:sub>
                              <m:r>
                                <a:rPr lang="en-US" altLang="zh-CN"/>
                                <m:t>0</m:t>
                              </m:r>
                            </m:sub>
                          </m:sSub>
                        </m:sub>
                        <m:sup>
                          <m:sSub>
                            <m:sSubPr>
                              <m:ctrlPr>
                                <a:rPr lang="zh-CN" altLang="en-US" i="1"/>
                              </m:ctrlPr>
                            </m:sSubPr>
                            <m:e>
                              <m:r>
                                <a:rPr lang="zh-CN" altLang="en-US" i="1"/>
                                <m:t>𝑡</m:t>
                              </m:r>
                            </m:e>
                            <m:sub>
                              <m:r>
                                <a:rPr lang="en-US" altLang="zh-CN"/>
                                <m:t>1</m:t>
                              </m:r>
                            </m:sub>
                          </m:sSub>
                        </m:sup>
                        <m:e>
                          <m:sSub>
                            <m:sSubPr>
                              <m:ctrlPr>
                                <a:rPr lang="zh-CN" altLang="en-US" i="1"/>
                              </m:ctrlPr>
                            </m:sSubPr>
                            <m:e>
                              <m:r>
                                <a:rPr lang="zh-CN" altLang="en-US" i="1"/>
                                <m:t>𝑓</m:t>
                              </m:r>
                            </m:e>
                            <m:sub>
                              <m:r>
                                <a:rPr lang="zh-CN" altLang="en-US" i="1"/>
                                <m:t>𝜃</m:t>
                              </m:r>
                            </m:sub>
                          </m:sSub>
                        </m:e>
                      </m:nary>
                      <m:d>
                        <m:dPr>
                          <m:sepChr m:val=","/>
                          <m:ctrlPr>
                            <a:rPr lang="zh-CN" altLang="en-US" i="1"/>
                          </m:ctrlPr>
                        </m:dPr>
                        <m:e>
                          <m:r>
                            <a:rPr lang="zh-CN" altLang="en-US" i="1"/>
                            <m:t>𝑠</m:t>
                          </m:r>
                        </m:e>
                        <m:e>
                          <m:r>
                            <a:rPr lang="en-US" altLang="zh-CN" i="1"/>
                            <m:t>h</m:t>
                          </m:r>
                          <m:d>
                            <m:dPr>
                              <m:ctrlPr>
                                <a:rPr lang="zh-CN" altLang="en-US" i="1"/>
                              </m:ctrlPr>
                            </m:dPr>
                            <m:e>
                              <m:r>
                                <a:rPr lang="zh-CN" altLang="en-US" i="1"/>
                                <m:t>𝑠</m:t>
                              </m:r>
                            </m:e>
                          </m:d>
                        </m:e>
                      </m:d>
                      <m:r>
                        <m:rPr>
                          <m:nor/>
                        </m:rPr>
                        <a:rPr lang="zh-CN" altLang="en-US" i="1"/>
                        <m:t> </m:t>
                      </m:r>
                      <m:r>
                        <a:rPr lang="zh-CN" altLang="en-US" i="1"/>
                        <m:t>𝑑𝑠</m:t>
                      </m:r>
                      <m:r>
                        <a:rPr lang="en-US" altLang="zh-CN"/>
                        <m:t>.</m:t>
                      </m:r>
                    </m:oMath>
                  </m:oMathPara>
                </a14:m>
                <a:endParaRPr lang="zh-CN" altLang="en-US" b="0" dirty="0"/>
              </a:p>
              <a:p>
                <a:r>
                  <a:rPr lang="zh-CN" altLang="en-US" dirty="0"/>
                  <a:t> </a:t>
                </a:r>
                <a14:m>
                  <m:oMath xmlns:m="http://schemas.openxmlformats.org/officeDocument/2006/math">
                    <m:r>
                      <a:rPr lang="en-US" altLang="ja-JP" i="1">
                        <a:latin typeface="Cambria Math" panose="02040503050406030204" pitchFamily="18" charset="0"/>
                      </a:rPr>
                      <m:t>h</m:t>
                    </m:r>
                    <m:d>
                      <m:dPr>
                        <m:ctrlPr>
                          <a:rPr lang="ar-AE" altLang="ja-JP" i="1">
                            <a:latin typeface="Cambria Math" panose="02040503050406030204" pitchFamily="18" charset="0"/>
                          </a:rPr>
                        </m:ctrlPr>
                      </m:dPr>
                      <m:e>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en-US" altLang="ja-JP" b="0" i="0" smtClean="0">
                                <a:latin typeface="Cambria Math" panose="02040503050406030204" pitchFamily="18" charset="0"/>
                              </a:rPr>
                              <m:t>0</m:t>
                            </m:r>
                          </m:sub>
                        </m:sSub>
                      </m:e>
                    </m:d>
                  </m:oMath>
                </a14:m>
                <a:r>
                  <a:rPr lang="ja-JP" altLang="en-US" dirty="0"/>
                  <a:t>表示初始时刻 </a:t>
                </a:r>
                <a14:m>
                  <m:oMath xmlns:m="http://schemas.openxmlformats.org/officeDocument/2006/math">
                    <m:sSub>
                      <m:sSubPr>
                        <m:ctrlPr>
                          <a:rPr lang="ar-AE" altLang="ja-JP"/>
                        </m:ctrlPr>
                      </m:sSubPr>
                      <m:e>
                        <m:r>
                          <a:rPr lang="ja-JP" altLang="ar-AE" i="1"/>
                          <m:t>𝑡</m:t>
                        </m:r>
                      </m:e>
                      <m:sub>
                        <m:r>
                          <a:rPr lang="ar-AE" altLang="ja-JP"/>
                          <m:t>0</m:t>
                        </m:r>
                      </m:sub>
                    </m:sSub>
                  </m:oMath>
                </a14:m>
                <a:r>
                  <a:rPr lang="ja-JP" altLang="en-US" dirty="0"/>
                  <a:t>的状态。</a:t>
                </a:r>
              </a:p>
              <a:p>
                <a14:m>
                  <m:oMath xmlns:m="http://schemas.openxmlformats.org/officeDocument/2006/math">
                    <m:r>
                      <a:rPr lang="en-US" altLang="ja-JP" i="1"/>
                      <m:t>h</m:t>
                    </m:r>
                    <m:d>
                      <m:dPr>
                        <m:ctrlPr>
                          <a:rPr lang="ar-AE" altLang="ja-JP" i="1"/>
                        </m:ctrlPr>
                      </m:dPr>
                      <m:e>
                        <m:sSub>
                          <m:sSubPr>
                            <m:ctrlPr>
                              <a:rPr lang="ar-AE" altLang="ja-JP" i="1"/>
                            </m:ctrlPr>
                          </m:sSubPr>
                          <m:e>
                            <m:r>
                              <a:rPr lang="ja-JP" altLang="ar-AE" i="1"/>
                              <m:t>𝑡</m:t>
                            </m:r>
                          </m:e>
                          <m:sub>
                            <m:r>
                              <a:rPr lang="ar-AE" altLang="ja-JP"/>
                              <m:t>1</m:t>
                            </m:r>
                          </m:sub>
                        </m:sSub>
                      </m:e>
                    </m:d>
                  </m:oMath>
                </a14:m>
                <a:r>
                  <a:rPr lang="ja-JP" altLang="en-US" dirty="0"/>
                  <a:t>表示经过一段时间演化后，在时刻 </a:t>
                </a:r>
                <a14:m>
                  <m:oMath xmlns:m="http://schemas.openxmlformats.org/officeDocument/2006/math">
                    <m:sSub>
                      <m:sSubPr>
                        <m:ctrlPr>
                          <a:rPr lang="ar-AE" altLang="ja-JP"/>
                        </m:ctrlPr>
                      </m:sSubPr>
                      <m:e>
                        <m:r>
                          <a:rPr lang="ja-JP" altLang="ar-AE" i="1"/>
                          <m:t>𝑡</m:t>
                        </m:r>
                      </m:e>
                      <m:sub>
                        <m:r>
                          <a:rPr lang="ar-AE" altLang="ja-JP"/>
                          <m:t>1</m:t>
                        </m:r>
                      </m:sub>
                    </m:sSub>
                  </m:oMath>
                </a14:m>
                <a:r>
                  <a:rPr lang="ja-JP" altLang="en-US" dirty="0"/>
                  <a:t>的状态。</a:t>
                </a:r>
              </a:p>
              <a:p>
                <a14:m>
                  <m:oMath xmlns:m="http://schemas.openxmlformats.org/officeDocument/2006/math">
                    <m:sSub>
                      <m:sSubPr>
                        <m:ctrlPr>
                          <a:rPr lang="ar-AE" altLang="ja-JP"/>
                        </m:ctrlPr>
                      </m:sSubPr>
                      <m:e>
                        <m:r>
                          <a:rPr lang="ja-JP" altLang="ar-AE" i="1"/>
                          <m:t>𝑓</m:t>
                        </m:r>
                      </m:e>
                      <m:sub>
                        <m:r>
                          <a:rPr lang="ja-JP" altLang="ar-AE" i="1"/>
                          <m:t>𝜃</m:t>
                        </m:r>
                      </m:sub>
                    </m:sSub>
                    <m:d>
                      <m:dPr>
                        <m:sepChr m:val=","/>
                        <m:ctrlPr>
                          <a:rPr lang="ar-AE" altLang="ja-JP" i="1"/>
                        </m:ctrlPr>
                      </m:dPr>
                      <m:e>
                        <m:r>
                          <a:rPr lang="ja-JP" altLang="ar-AE" i="1"/>
                          <m:t>𝑠</m:t>
                        </m:r>
                      </m:e>
                      <m:e>
                        <m:r>
                          <a:rPr lang="ar-AE" altLang="ja-JP" i="1"/>
                          <m:t>h</m:t>
                        </m:r>
                        <m:d>
                          <m:dPr>
                            <m:ctrlPr>
                              <a:rPr lang="ar-AE" altLang="ja-JP" i="1"/>
                            </m:ctrlPr>
                          </m:dPr>
                          <m:e>
                            <m:r>
                              <a:rPr lang="ja-JP" altLang="ar-AE" i="1"/>
                              <m:t>𝑠</m:t>
                            </m:r>
                          </m:e>
                        </m:d>
                      </m:e>
                    </m:d>
                  </m:oMath>
                </a14:m>
                <a:r>
                  <a:rPr lang="ja-JP" altLang="en-US" dirty="0"/>
                  <a:t>表示在时间 </a:t>
                </a:r>
                <a14:m>
                  <m:oMath xmlns:m="http://schemas.openxmlformats.org/officeDocument/2006/math">
                    <m:r>
                      <a:rPr lang="ja-JP" altLang="en-US" i="1"/>
                      <m:t>𝑠</m:t>
                    </m:r>
                  </m:oMath>
                </a14:m>
                <a:r>
                  <a:rPr lang="ja-JP" altLang="en-US" dirty="0"/>
                  <a:t>、状态为 </a:t>
                </a:r>
                <a14:m>
                  <m:oMath xmlns:m="http://schemas.openxmlformats.org/officeDocument/2006/math">
                    <m:r>
                      <a:rPr lang="en-US" altLang="ja-JP" i="1"/>
                      <m:t>h</m:t>
                    </m:r>
                    <m:d>
                      <m:dPr>
                        <m:ctrlPr>
                          <a:rPr lang="ar-AE" altLang="ja-JP" i="1"/>
                        </m:ctrlPr>
                      </m:dPr>
                      <m:e>
                        <m:r>
                          <a:rPr lang="ja-JP" altLang="ar-AE" i="1"/>
                          <m:t>𝑠</m:t>
                        </m:r>
                      </m:e>
                    </m:d>
                  </m:oMath>
                </a14:m>
                <a:r>
                  <a:rPr lang="ja-JP" altLang="en-US" dirty="0"/>
                  <a:t>时，系统的变化速度。 </a:t>
                </a:r>
                <a14:m>
                  <m:oMath xmlns:m="http://schemas.openxmlformats.org/officeDocument/2006/math">
                    <m:r>
                      <a:rPr lang="ja-JP" altLang="en-US" i="1"/>
                      <m:t>𝜃</m:t>
                    </m:r>
                  </m:oMath>
                </a14:m>
                <a:r>
                  <a:rPr lang="ja-JP" altLang="en-US" dirty="0"/>
                  <a:t>是模型参数，在 </a:t>
                </a:r>
                <a:r>
                  <a:rPr lang="en-US" altLang="ja-JP" dirty="0"/>
                  <a:t>Neural ODE </a:t>
                </a:r>
                <a:r>
                  <a:rPr lang="ja-JP" altLang="en-US" dirty="0"/>
                  <a:t>中通常由神经网络学习得到。</a:t>
                </a:r>
              </a:p>
              <a:p>
                <a14:m>
                  <m:oMath xmlns:m="http://schemas.openxmlformats.org/officeDocument/2006/math">
                    <m:nary>
                      <m:naryPr>
                        <m:grow m:val="on"/>
                        <m:ctrlPr>
                          <a:rPr lang="ar-AE" altLang="ja-JP"/>
                        </m:ctrlPr>
                      </m:naryPr>
                      <m:sub>
                        <m:sSub>
                          <m:sSubPr>
                            <m:ctrlPr>
                              <a:rPr lang="ar-AE" altLang="ja-JP" i="1"/>
                            </m:ctrlPr>
                          </m:sSubPr>
                          <m:e>
                            <m:r>
                              <a:rPr lang="ja-JP" altLang="ar-AE" i="1"/>
                              <m:t>𝑡</m:t>
                            </m:r>
                          </m:e>
                          <m:sub>
                            <m:r>
                              <a:rPr lang="ar-AE" altLang="ja-JP"/>
                              <m:t>0</m:t>
                            </m:r>
                          </m:sub>
                        </m:sSub>
                      </m:sub>
                      <m:sup>
                        <m:sSub>
                          <m:sSubPr>
                            <m:ctrlPr>
                              <a:rPr lang="ar-AE" altLang="ja-JP" i="1"/>
                            </m:ctrlPr>
                          </m:sSubPr>
                          <m:e>
                            <m:r>
                              <a:rPr lang="ja-JP" altLang="ar-AE" i="1"/>
                              <m:t>𝑡</m:t>
                            </m:r>
                          </m:e>
                          <m:sub>
                            <m:r>
                              <a:rPr lang="ar-AE" altLang="ja-JP"/>
                              <m:t>1</m:t>
                            </m:r>
                          </m:sub>
                        </m:sSub>
                      </m:sup>
                      <m:e>
                        <m:sSub>
                          <m:sSubPr>
                            <m:ctrlPr>
                              <a:rPr lang="ar-AE" altLang="ja-JP" i="1"/>
                            </m:ctrlPr>
                          </m:sSubPr>
                          <m:e>
                            <m:r>
                              <a:rPr lang="ja-JP" altLang="ar-AE" i="1"/>
                              <m:t>𝑓</m:t>
                            </m:r>
                          </m:e>
                          <m:sub>
                            <m:r>
                              <a:rPr lang="ja-JP" altLang="ar-AE" i="1"/>
                              <m:t>𝜃</m:t>
                            </m:r>
                          </m:sub>
                        </m:sSub>
                      </m:e>
                    </m:nary>
                    <m:d>
                      <m:dPr>
                        <m:sepChr m:val=","/>
                        <m:ctrlPr>
                          <a:rPr lang="ar-AE" altLang="ja-JP" i="1"/>
                        </m:ctrlPr>
                      </m:dPr>
                      <m:e>
                        <m:r>
                          <a:rPr lang="ja-JP" altLang="ar-AE" i="1"/>
                          <m:t>𝑠</m:t>
                        </m:r>
                      </m:e>
                      <m:e>
                        <m:r>
                          <a:rPr lang="ar-AE" altLang="ja-JP" i="1"/>
                          <m:t>h</m:t>
                        </m:r>
                        <m:d>
                          <m:dPr>
                            <m:ctrlPr>
                              <a:rPr lang="ar-AE" altLang="ja-JP" i="1"/>
                            </m:ctrlPr>
                          </m:dPr>
                          <m:e>
                            <m:r>
                              <a:rPr lang="ja-JP" altLang="ar-AE" i="1"/>
                              <m:t>𝑠</m:t>
                            </m:r>
                          </m:e>
                        </m:d>
                      </m:e>
                    </m:d>
                    <m:r>
                      <m:rPr>
                        <m:nor/>
                      </m:rPr>
                      <a:rPr lang="ar-AE" altLang="ja-JP" i="1"/>
                      <m:t> </m:t>
                    </m:r>
                    <m:r>
                      <a:rPr lang="ja-JP" altLang="ar-AE" i="1"/>
                      <m:t>𝑑𝑠</m:t>
                    </m:r>
                  </m:oMath>
                </a14:m>
                <a:r>
                  <a:rPr lang="ja-JP" altLang="en-US" dirty="0"/>
                  <a:t> 表示从 </a:t>
                </a:r>
                <a14:m>
                  <m:oMath xmlns:m="http://schemas.openxmlformats.org/officeDocument/2006/math">
                    <m:sSub>
                      <m:sSubPr>
                        <m:ctrlPr>
                          <a:rPr lang="ar-AE" altLang="ja-JP"/>
                        </m:ctrlPr>
                      </m:sSubPr>
                      <m:e>
                        <m:r>
                          <a:rPr lang="ja-JP" altLang="ar-AE" i="1"/>
                          <m:t>𝑡</m:t>
                        </m:r>
                      </m:e>
                      <m:sub>
                        <m:r>
                          <a:rPr lang="ar-AE" altLang="ja-JP"/>
                          <m:t>0</m:t>
                        </m:r>
                      </m:sub>
                    </m:sSub>
                  </m:oMath>
                </a14:m>
                <a:r>
                  <a:rPr lang="ja-JP" altLang="en-US" dirty="0"/>
                  <a:t>到 </a:t>
                </a:r>
                <a14:m>
                  <m:oMath xmlns:m="http://schemas.openxmlformats.org/officeDocument/2006/math">
                    <m:sSub>
                      <m:sSubPr>
                        <m:ctrlPr>
                          <a:rPr lang="ar-AE" altLang="ja-JP"/>
                        </m:ctrlPr>
                      </m:sSubPr>
                      <m:e>
                        <m:r>
                          <a:rPr lang="ja-JP" altLang="ar-AE" i="1"/>
                          <m:t>𝑡</m:t>
                        </m:r>
                      </m:e>
                      <m:sub>
                        <m:r>
                          <a:rPr lang="ar-AE" altLang="ja-JP"/>
                          <m:t>1</m:t>
                        </m:r>
                      </m:sub>
                    </m:sSub>
                  </m:oMath>
                </a14:m>
                <a:r>
                  <a:rPr lang="ja-JP" altLang="en-US" dirty="0"/>
                  <a:t>之间，所有瞬时变化速度的累积效果。</a:t>
                </a:r>
              </a:p>
              <a:p>
                <a:pPr marL="0" indent="0">
                  <a:buNone/>
                </a:pPr>
                <a:r>
                  <a:rPr lang="zh-CN" altLang="en-US" dirty="0"/>
                  <a:t>公式：</a:t>
                </a:r>
                <a:r>
                  <a:rPr lang="zh-CN" altLang="en-US" dirty="0">
                    <a:solidFill>
                      <a:srgbClr val="C00000"/>
                    </a:solidFill>
                  </a:rPr>
                  <a:t>终点状态 </a:t>
                </a:r>
                <a:r>
                  <a:rPr lang="en-US" altLang="zh-CN" dirty="0">
                    <a:solidFill>
                      <a:srgbClr val="C00000"/>
                    </a:solidFill>
                  </a:rPr>
                  <a:t>= </a:t>
                </a:r>
                <a:r>
                  <a:rPr lang="zh-CN" altLang="en-US" dirty="0">
                    <a:solidFill>
                      <a:srgbClr val="C00000"/>
                    </a:solidFill>
                  </a:rPr>
                  <a:t>初始状态 </a:t>
                </a:r>
                <a:r>
                  <a:rPr lang="en-US" altLang="zh-CN" dirty="0">
                    <a:solidFill>
                      <a:srgbClr val="C00000"/>
                    </a:solidFill>
                  </a:rPr>
                  <a:t>+ </a:t>
                </a:r>
                <a:r>
                  <a:rPr lang="zh-CN" altLang="en-US" dirty="0">
                    <a:solidFill>
                      <a:srgbClr val="C00000"/>
                    </a:solidFill>
                  </a:rPr>
                  <a:t>从初始时刻到终点时刻累计起来的变化量</a:t>
                </a:r>
                <a:r>
                  <a:rPr lang="zh-CN" altLang="en-US" dirty="0"/>
                  <a:t>。</a:t>
                </a:r>
              </a:p>
            </p:txBody>
          </p:sp>
        </mc:Choice>
        <mc:Fallback>
          <p:sp>
            <p:nvSpPr>
              <p:cNvPr id="12" name="コンテンツ プレースホルダー 2">
                <a:extLst>
                  <a:ext uri="{FF2B5EF4-FFF2-40B4-BE49-F238E27FC236}">
                    <a16:creationId xmlns:a16="http://schemas.microsoft.com/office/drawing/2014/main" id="{73D1C0DF-0D3F-41C8-151F-F869650F5818}"/>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1105" t="-1009" b="-1087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25824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CE0C1-AA4E-E88E-1AA5-42A5B0FF2153}"/>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E1DA2471-B695-2360-7B3F-7D9801EEDD8F}"/>
              </a:ext>
            </a:extLst>
          </p:cNvPr>
          <p:cNvSpPr>
            <a:spLocks noGrp="1" noChangeArrowheads="1"/>
          </p:cNvSpPr>
          <p:nvPr>
            <p:ph type="title"/>
          </p:nvPr>
        </p:nvSpPr>
        <p:spPr/>
        <p:txBody>
          <a:bodyPr/>
          <a:lstStyle/>
          <a:p>
            <a:r>
              <a:rPr lang="zh-CN" altLang="en-US" b="1" dirty="0"/>
              <a:t>机器学习中的对应场景一：</a:t>
            </a:r>
            <a:r>
              <a:rPr lang="en-US" altLang="ja-JP" dirty="0"/>
              <a:t>Neural ODE</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8FE09D7-CE7D-EAC2-E79D-468BAD9EEDAE}"/>
                  </a:ext>
                </a:extLst>
              </p:cNvPr>
              <p:cNvSpPr>
                <a:spLocks noGrp="1"/>
              </p:cNvSpPr>
              <p:nvPr>
                <p:ph idx="1"/>
              </p:nvPr>
            </p:nvSpPr>
            <p:spPr>
              <a:xfrm>
                <a:off x="508000" y="1112520"/>
                <a:ext cx="11582400" cy="5440680"/>
              </a:xfrm>
            </p:spPr>
            <p:txBody>
              <a:bodyPr/>
              <a:lstStyle/>
              <a:p>
                <a:pPr marL="0" indent="0">
                  <a:buNone/>
                </a:pPr>
                <a:r>
                  <a:rPr lang="zh-CN" altLang="en-US" dirty="0"/>
                  <a:t>模型的前向传播就是求解一个 </a:t>
                </a:r>
                <a:r>
                  <a:rPr lang="en-US" altLang="zh-CN" dirty="0"/>
                  <a:t>ODE</a:t>
                </a:r>
                <a:r>
                  <a:rPr lang="zh-CN" altLang="en-US" dirty="0"/>
                  <a:t>：</a:t>
                </a:r>
              </a:p>
              <a:p>
                <a:pPr marL="0" indent="0">
                  <a:buNone/>
                </a:pPr>
                <a14:m>
                  <m:oMathPara xmlns:m="http://schemas.openxmlformats.org/officeDocument/2006/math">
                    <m:oMathParaPr>
                      <m:jc m:val="centerGroup"/>
                    </m:oMathParaPr>
                    <m:oMath xmlns:m="http://schemas.openxmlformats.org/officeDocument/2006/math">
                      <m:r>
                        <a:rPr lang="en-US" altLang="zh-CN" i="1"/>
                        <m:t>h</m:t>
                      </m:r>
                      <m:d>
                        <m:dPr>
                          <m:ctrlPr>
                            <a:rPr lang="zh-CN" altLang="en-US" i="1"/>
                          </m:ctrlPr>
                        </m:dPr>
                        <m:e>
                          <m:sSub>
                            <m:sSubPr>
                              <m:ctrlPr>
                                <a:rPr lang="zh-CN" altLang="en-US" i="1"/>
                              </m:ctrlPr>
                            </m:sSubPr>
                            <m:e>
                              <m:r>
                                <a:rPr lang="zh-CN" altLang="en-US" i="1"/>
                                <m:t>𝑡</m:t>
                              </m:r>
                            </m:e>
                            <m:sub>
                              <m:r>
                                <a:rPr lang="en-US" altLang="zh-CN"/>
                                <m:t>1</m:t>
                              </m:r>
                            </m:sub>
                          </m:sSub>
                        </m:e>
                      </m:d>
                      <m:r>
                        <a:rPr lang="en-US" altLang="zh-CN"/>
                        <m:t>=</m:t>
                      </m:r>
                      <m:r>
                        <a:rPr lang="en-US" altLang="zh-CN" i="1"/>
                        <m:t>h</m:t>
                      </m:r>
                      <m:d>
                        <m:dPr>
                          <m:ctrlPr>
                            <a:rPr lang="zh-CN" altLang="en-US" i="1"/>
                          </m:ctrlPr>
                        </m:dPr>
                        <m:e>
                          <m:sSub>
                            <m:sSubPr>
                              <m:ctrlPr>
                                <a:rPr lang="zh-CN" altLang="en-US" i="1"/>
                              </m:ctrlPr>
                            </m:sSubPr>
                            <m:e>
                              <m:r>
                                <a:rPr lang="zh-CN" altLang="en-US" i="1"/>
                                <m:t>𝑡</m:t>
                              </m:r>
                            </m:e>
                            <m:sub>
                              <m:r>
                                <a:rPr lang="en-US" altLang="zh-CN"/>
                                <m:t>0</m:t>
                              </m:r>
                            </m:sub>
                          </m:sSub>
                        </m:e>
                      </m:d>
                      <m:r>
                        <a:rPr lang="en-US" altLang="zh-CN"/>
                        <m:t>+</m:t>
                      </m:r>
                      <m:nary>
                        <m:naryPr>
                          <m:grow m:val="on"/>
                          <m:ctrlPr>
                            <a:rPr lang="zh-CN" altLang="en-US" i="1"/>
                          </m:ctrlPr>
                        </m:naryPr>
                        <m:sub>
                          <m:sSub>
                            <m:sSubPr>
                              <m:ctrlPr>
                                <a:rPr lang="zh-CN" altLang="en-US" i="1"/>
                              </m:ctrlPr>
                            </m:sSubPr>
                            <m:e>
                              <m:r>
                                <a:rPr lang="zh-CN" altLang="en-US" i="1"/>
                                <m:t>𝑡</m:t>
                              </m:r>
                            </m:e>
                            <m:sub>
                              <m:r>
                                <a:rPr lang="en-US" altLang="zh-CN"/>
                                <m:t>0</m:t>
                              </m:r>
                            </m:sub>
                          </m:sSub>
                        </m:sub>
                        <m:sup>
                          <m:sSub>
                            <m:sSubPr>
                              <m:ctrlPr>
                                <a:rPr lang="zh-CN" altLang="en-US" i="1"/>
                              </m:ctrlPr>
                            </m:sSubPr>
                            <m:e>
                              <m:r>
                                <a:rPr lang="zh-CN" altLang="en-US" i="1"/>
                                <m:t>𝑡</m:t>
                              </m:r>
                            </m:e>
                            <m:sub>
                              <m:r>
                                <a:rPr lang="en-US" altLang="zh-CN"/>
                                <m:t>1</m:t>
                              </m:r>
                            </m:sub>
                          </m:sSub>
                        </m:sup>
                        <m:e>
                          <m:sSub>
                            <m:sSubPr>
                              <m:ctrlPr>
                                <a:rPr lang="zh-CN" altLang="en-US" i="1"/>
                              </m:ctrlPr>
                            </m:sSubPr>
                            <m:e>
                              <m:r>
                                <a:rPr lang="zh-CN" altLang="en-US" i="1"/>
                                <m:t>𝑓</m:t>
                              </m:r>
                            </m:e>
                            <m:sub>
                              <m:r>
                                <a:rPr lang="zh-CN" altLang="en-US" i="1"/>
                                <m:t>𝜃</m:t>
                              </m:r>
                            </m:sub>
                          </m:sSub>
                        </m:e>
                      </m:nary>
                      <m:d>
                        <m:dPr>
                          <m:sepChr m:val=","/>
                          <m:ctrlPr>
                            <a:rPr lang="zh-CN" altLang="en-US" i="1"/>
                          </m:ctrlPr>
                        </m:dPr>
                        <m:e>
                          <m:r>
                            <a:rPr lang="zh-CN" altLang="en-US" i="1"/>
                            <m:t>𝑠</m:t>
                          </m:r>
                        </m:e>
                        <m:e>
                          <m:r>
                            <a:rPr lang="en-US" altLang="zh-CN" i="1"/>
                            <m:t>h</m:t>
                          </m:r>
                          <m:d>
                            <m:dPr>
                              <m:ctrlPr>
                                <a:rPr lang="zh-CN" altLang="en-US" i="1"/>
                              </m:ctrlPr>
                            </m:dPr>
                            <m:e>
                              <m:r>
                                <a:rPr lang="zh-CN" altLang="en-US" i="1"/>
                                <m:t>𝑠</m:t>
                              </m:r>
                            </m:e>
                          </m:d>
                        </m:e>
                      </m:d>
                      <m:r>
                        <m:rPr>
                          <m:nor/>
                        </m:rPr>
                        <a:rPr lang="zh-CN" altLang="en-US" i="1"/>
                        <m:t> </m:t>
                      </m:r>
                      <m:r>
                        <a:rPr lang="zh-CN" altLang="en-US" i="1"/>
                        <m:t>𝑑𝑠</m:t>
                      </m:r>
                      <m:r>
                        <a:rPr lang="en-US" altLang="zh-CN"/>
                        <m:t>.</m:t>
                      </m:r>
                    </m:oMath>
                  </m:oMathPara>
                </a14:m>
                <a:endParaRPr lang="zh-CN" altLang="en-US" b="0" dirty="0"/>
              </a:p>
              <a:p>
                <a:pPr marL="0" indent="0">
                  <a:buNone/>
                </a:pPr>
                <a:r>
                  <a:rPr lang="zh-CN" altLang="en-US" dirty="0"/>
                  <a:t> </a:t>
                </a:r>
                <a:r>
                  <a:rPr lang="en-US" altLang="zh-CN" dirty="0"/>
                  <a:t>Neural ODE </a:t>
                </a:r>
                <a:r>
                  <a:rPr lang="zh-CN" altLang="en-US" dirty="0"/>
                  <a:t>的数学基础直接涉及 </a:t>
                </a:r>
                <a:r>
                  <a:rPr lang="en-US" altLang="zh-CN" dirty="0"/>
                  <a:t>ODE </a:t>
                </a:r>
                <a:r>
                  <a:rPr lang="zh-CN" altLang="en-US" dirty="0"/>
                  <a:t>的存在唯一性。</a:t>
                </a:r>
                <a:endParaRPr lang="en-US" altLang="zh-CN" dirty="0"/>
              </a:p>
              <a:p>
                <a:pPr marL="0" indent="0">
                  <a:buNone/>
                </a:pPr>
                <a:r>
                  <a:rPr lang="zh-CN" altLang="en-US" dirty="0"/>
                  <a:t>若 </a:t>
                </a:r>
                <a14:m>
                  <m:oMath xmlns:m="http://schemas.openxmlformats.org/officeDocument/2006/math">
                    <m:sSub>
                      <m:sSubPr>
                        <m:ctrlPr>
                          <a:rPr lang="zh-CN" altLang="en-US"/>
                        </m:ctrlPr>
                      </m:sSubPr>
                      <m:e>
                        <m:r>
                          <a:rPr lang="zh-CN" altLang="en-US" i="1"/>
                          <m:t>𝑓</m:t>
                        </m:r>
                      </m:e>
                      <m:sub>
                        <m:r>
                          <a:rPr lang="zh-CN" altLang="en-US" i="1"/>
                          <m:t>𝜃</m:t>
                        </m:r>
                      </m:sub>
                    </m:sSub>
                  </m:oMath>
                </a14:m>
                <a:r>
                  <a:rPr lang="zh-CN" altLang="en-US" dirty="0"/>
                  <a:t>在状态变量上满足适当的 </a:t>
                </a:r>
                <a:r>
                  <a:rPr lang="en-US" altLang="zh-CN" dirty="0"/>
                  <a:t>Lipschitz </a:t>
                </a:r>
                <a:r>
                  <a:rPr lang="zh-CN" altLang="en-US" dirty="0"/>
                  <a:t>条件，则局部解是唯一的；这保证给定输入和初始状态时，模型输出是明确的。</a:t>
                </a:r>
                <a:endParaRPr lang="en-US" altLang="zh-CN" dirty="0"/>
              </a:p>
              <a:p>
                <a:pPr marL="0" indent="0">
                  <a:buNone/>
                </a:pPr>
                <a:r>
                  <a:rPr lang="zh-CN" altLang="en-US" dirty="0"/>
                  <a:t>论文明确提出用神经网络参数化隐藏状态的导数，并用黑箱 </a:t>
                </a:r>
                <a:r>
                  <a:rPr lang="en-US" altLang="zh-CN" dirty="0"/>
                  <a:t>ODE solver </a:t>
                </a:r>
                <a:r>
                  <a:rPr lang="zh-CN" altLang="en-US" dirty="0"/>
                  <a:t>计算连续深度模型的输出。</a:t>
                </a:r>
                <a:endParaRPr lang="en-US" altLang="zh-CN" dirty="0"/>
              </a:p>
              <a:p>
                <a:pPr marL="0" indent="0">
                  <a:buNone/>
                </a:pPr>
                <a:r>
                  <a:rPr lang="en-US" altLang="zh-CN" dirty="0" err="1"/>
                  <a:t>ResNet</a:t>
                </a:r>
                <a:r>
                  <a:rPr lang="en-US" altLang="zh-CN" dirty="0"/>
                  <a:t> </a:t>
                </a:r>
                <a:r>
                  <a:rPr lang="zh-CN" altLang="en-US" dirty="0"/>
                  <a:t>是有限步迭代；</a:t>
                </a:r>
                <a:r>
                  <a:rPr lang="en-US" altLang="zh-CN" dirty="0"/>
                  <a:t>Neural ODE </a:t>
                </a:r>
                <a:r>
                  <a:rPr lang="zh-CN" altLang="en-US" dirty="0"/>
                  <a:t>是连续时间极限；</a:t>
                </a:r>
                <a:r>
                  <a:rPr lang="en-US" altLang="zh-CN" dirty="0"/>
                  <a:t>Picard </a:t>
                </a:r>
                <a:r>
                  <a:rPr lang="zh-CN" altLang="en-US" dirty="0"/>
                  <a:t>迭代说明了为什么连续动力系统的解可以看作一个积分算子的不动点。</a:t>
                </a:r>
              </a:p>
            </p:txBody>
          </p:sp>
        </mc:Choice>
        <mc:Fallback>
          <p:sp>
            <p:nvSpPr>
              <p:cNvPr id="12" name="コンテンツ プレースホルダー 2">
                <a:extLst>
                  <a:ext uri="{FF2B5EF4-FFF2-40B4-BE49-F238E27FC236}">
                    <a16:creationId xmlns:a16="http://schemas.microsoft.com/office/drawing/2014/main" id="{98FE09D7-CE7D-EAC2-E79D-468BAD9EEDAE}"/>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r="-579"/>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2D597B4A-AF43-3C85-C699-04039FF4A4B1}"/>
              </a:ext>
            </a:extLst>
          </p:cNvPr>
          <p:cNvPicPr>
            <a:picLocks noChangeAspect="1"/>
          </p:cNvPicPr>
          <p:nvPr/>
        </p:nvPicPr>
        <p:blipFill>
          <a:blip r:embed="rId4"/>
          <a:stretch>
            <a:fillRect/>
          </a:stretch>
        </p:blipFill>
        <p:spPr>
          <a:xfrm>
            <a:off x="2343806" y="4409443"/>
            <a:ext cx="8141171" cy="2143757"/>
          </a:xfrm>
          <a:prstGeom prst="rect">
            <a:avLst/>
          </a:prstGeom>
        </p:spPr>
      </p:pic>
    </p:spTree>
    <p:extLst>
      <p:ext uri="{BB962C8B-B14F-4D97-AF65-F5344CB8AC3E}">
        <p14:creationId xmlns:p14="http://schemas.microsoft.com/office/powerpoint/2010/main" val="1260750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7E014-253A-2DEE-5939-EAD624E13C3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C6491A56-B8B2-4CE3-9540-BEDBE670981F}"/>
              </a:ext>
            </a:extLst>
          </p:cNvPr>
          <p:cNvSpPr>
            <a:spLocks noGrp="1" noChangeArrowheads="1"/>
          </p:cNvSpPr>
          <p:nvPr>
            <p:ph type="title"/>
          </p:nvPr>
        </p:nvSpPr>
        <p:spPr/>
        <p:txBody>
          <a:bodyPr/>
          <a:lstStyle/>
          <a:p>
            <a:r>
              <a:rPr lang="zh-CN" altLang="en-US" b="1" dirty="0"/>
              <a:t>机器学习中的对应场景一：</a:t>
            </a:r>
            <a:r>
              <a:rPr lang="en-US" altLang="ja-JP" dirty="0"/>
              <a:t>Neural ODE</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7DA57451-CA73-D637-D682-4E1E4585A12C}"/>
                  </a:ext>
                </a:extLst>
              </p:cNvPr>
              <p:cNvSpPr>
                <a:spLocks noGrp="1"/>
              </p:cNvSpPr>
              <p:nvPr>
                <p:ph idx="1"/>
              </p:nvPr>
            </p:nvSpPr>
            <p:spPr>
              <a:xfrm>
                <a:off x="508000" y="1112520"/>
                <a:ext cx="11582400" cy="5440680"/>
              </a:xfrm>
            </p:spPr>
            <p:txBody>
              <a:bodyPr/>
              <a:lstStyle/>
              <a:p>
                <a:pPr marL="0" indent="0">
                  <a:buNone/>
                </a:pPr>
                <a:r>
                  <a:rPr lang="en-US" altLang="zh-CN" dirty="0"/>
                  <a:t>ODE solver: </a:t>
                </a:r>
                <a:r>
                  <a:rPr lang="zh-CN" altLang="en-US" dirty="0"/>
                  <a:t>给定一个常微分方程和初始条件，数值地计算出未知函数在后续时间上的近似值。</a:t>
                </a:r>
                <a:endParaRPr lang="en-US" altLang="zh-CN" dirty="0"/>
              </a:p>
              <a:p>
                <a:pPr marL="0" lvl="0" indent="0">
                  <a:spcBef>
                    <a:spcPct val="0"/>
                  </a:spcBef>
                  <a:buClrTx/>
                  <a:buNone/>
                </a:pPr>
                <a:endParaRPr lang="ja-JP" altLang="ja-JP" dirty="0">
                  <a:latin typeface="Arial" panose="020B0604020202020204" pitchFamily="34" charset="0"/>
                </a:endParaRPr>
              </a:p>
              <a:p>
                <a:pPr lvl="0">
                  <a:spcBef>
                    <a:spcPct val="0"/>
                  </a:spcBef>
                  <a:buClrTx/>
                  <a:buFont typeface="Wingdings" panose="05000000000000000000" pitchFamily="2" charset="2"/>
                  <a:buChar char="Ø"/>
                </a:pPr>
                <a:r>
                  <a:rPr lang="ja-JP" altLang="ja-JP" dirty="0">
                    <a:latin typeface="Arial" panose="020B0604020202020204" pitchFamily="34" charset="0"/>
                  </a:rPr>
                  <a:t>每个时刻的变化速度由 </a:t>
                </a:r>
                <a14:m>
                  <m:oMath xmlns:m="http://schemas.openxmlformats.org/officeDocument/2006/math">
                    <m:r>
                      <a:rPr lang="ja-JP" altLang="ja-JP" i="1" dirty="0" smtClean="0">
                        <a:latin typeface="Cambria Math" panose="02040503050406030204" pitchFamily="18" charset="0"/>
                      </a:rPr>
                      <m:t>𝑓</m:t>
                    </m:r>
                    <m:r>
                      <a:rPr lang="ja-JP" altLang="ja-JP" i="1" dirty="0" smtClean="0">
                        <a:latin typeface="Cambria Math" panose="02040503050406030204" pitchFamily="18" charset="0"/>
                      </a:rPr>
                      <m:t>(</m:t>
                    </m:r>
                    <m:r>
                      <a:rPr lang="ja-JP" altLang="ja-JP" i="1" dirty="0" smtClean="0">
                        <a:latin typeface="Cambria Math" panose="02040503050406030204" pitchFamily="18" charset="0"/>
                      </a:rPr>
                      <m:t>𝑡</m:t>
                    </m:r>
                    <m:r>
                      <a:rPr lang="ja-JP" altLang="ja-JP" i="1" dirty="0" smtClean="0">
                        <a:latin typeface="Cambria Math" panose="02040503050406030204" pitchFamily="18" charset="0"/>
                      </a:rPr>
                      <m:t>,</m:t>
                    </m:r>
                    <m:r>
                      <a:rPr lang="ja-JP" altLang="ja-JP" i="1" dirty="0" smtClean="0">
                        <a:latin typeface="Cambria Math" panose="02040503050406030204" pitchFamily="18" charset="0"/>
                      </a:rPr>
                      <m:t>h</m:t>
                    </m:r>
                    <m:r>
                      <a:rPr lang="ja-JP" altLang="ja-JP" i="1" dirty="0" smtClean="0">
                        <a:latin typeface="Cambria Math" panose="02040503050406030204" pitchFamily="18" charset="0"/>
                      </a:rPr>
                      <m:t>(</m:t>
                    </m:r>
                    <m:r>
                      <a:rPr lang="ja-JP" altLang="ja-JP" i="1" dirty="0" smtClean="0">
                        <a:latin typeface="Cambria Math" panose="02040503050406030204" pitchFamily="18" charset="0"/>
                      </a:rPr>
                      <m:t>𝑡</m:t>
                    </m:r>
                    <m:r>
                      <a:rPr lang="ja-JP" altLang="ja-JP" i="1" dirty="0" smtClean="0">
                        <a:latin typeface="Cambria Math" panose="02040503050406030204" pitchFamily="18" charset="0"/>
                      </a:rPr>
                      <m:t>)) </m:t>
                    </m:r>
                  </m:oMath>
                </a14:m>
                <a:r>
                  <a:rPr lang="ja-JP" altLang="ja-JP" dirty="0">
                    <a:latin typeface="Arial" panose="020B0604020202020204" pitchFamily="34" charset="0"/>
                  </a:rPr>
                  <a:t>给出； 目标是求出未来某个时刻 </a:t>
                </a:r>
                <a14:m>
                  <m:oMath xmlns:m="http://schemas.openxmlformats.org/officeDocument/2006/math">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1</m:t>
                        </m:r>
                      </m:sub>
                    </m:sSub>
                  </m:oMath>
                </a14:m>
                <a:r>
                  <a:rPr lang="ja-JP" altLang="ja-JP" dirty="0">
                    <a:latin typeface="Arial" panose="020B0604020202020204" pitchFamily="34" charset="0"/>
                  </a:rPr>
                  <a:t>的状态 </a:t>
                </a:r>
                <a14:m>
                  <m:oMath xmlns:m="http://schemas.openxmlformats.org/officeDocument/2006/math">
                    <m:r>
                      <a:rPr lang="ar-AE" altLang="ja-JP" i="1">
                        <a:latin typeface="Cambria Math" panose="02040503050406030204" pitchFamily="18" charset="0"/>
                      </a:rPr>
                      <m:t>h</m:t>
                    </m:r>
                    <m:d>
                      <m:dPr>
                        <m:ctrlPr>
                          <a:rPr lang="ar-AE" altLang="ja-JP" i="1">
                            <a:latin typeface="Cambria Math" panose="02040503050406030204" pitchFamily="18" charset="0"/>
                          </a:rPr>
                        </m:ctrlPr>
                      </m:dPr>
                      <m:e>
                        <m:sSub>
                          <m:sSubPr>
                            <m:ctrlPr>
                              <a:rPr lang="ar-AE" altLang="ja-JP" i="1">
                                <a:latin typeface="Cambria Math" panose="02040503050406030204" pitchFamily="18" charset="0"/>
                              </a:rPr>
                            </m:ctrlPr>
                          </m:sSubPr>
                          <m:e>
                            <m:r>
                              <a:rPr lang="ja-JP" altLang="ar-AE" i="1">
                                <a:latin typeface="Cambria Math" panose="02040503050406030204" pitchFamily="18" charset="0"/>
                              </a:rPr>
                              <m:t>𝑡</m:t>
                            </m:r>
                          </m:e>
                          <m:sub>
                            <m:r>
                              <a:rPr lang="ar-AE" altLang="ja-JP">
                                <a:latin typeface="Cambria Math" panose="02040503050406030204" pitchFamily="18" charset="0"/>
                              </a:rPr>
                              <m:t>1</m:t>
                            </m:r>
                          </m:sub>
                        </m:sSub>
                      </m:e>
                    </m:d>
                  </m:oMath>
                </a14:m>
                <a:endParaRPr lang="en-US" altLang="zh-CN" dirty="0"/>
              </a:p>
              <a:p>
                <a:pPr lvl="0">
                  <a:spcBef>
                    <a:spcPct val="0"/>
                  </a:spcBef>
                  <a:buClrTx/>
                  <a:buFont typeface="Wingdings" panose="05000000000000000000" pitchFamily="2" charset="2"/>
                  <a:buChar char="Ø"/>
                </a:pPr>
                <a:endParaRPr lang="en-US" altLang="zh-CN" dirty="0"/>
              </a:p>
              <a:p>
                <a:pPr marL="0" indent="0">
                  <a:buNone/>
                </a:pPr>
                <a:r>
                  <a:rPr lang="en-US" altLang="ja-JP" dirty="0"/>
                  <a:t>ODE solver </a:t>
                </a:r>
                <a:r>
                  <a:rPr lang="ja-JP" altLang="en-US" dirty="0"/>
                  <a:t>做的事情就是：</a:t>
                </a:r>
                <a14:m>
                  <m:oMath xmlns:m="http://schemas.openxmlformats.org/officeDocument/2006/math">
                    <m:r>
                      <a:rPr lang="en-US" altLang="ja-JP" i="1"/>
                      <m:t>h</m:t>
                    </m:r>
                    <m:d>
                      <m:dPr>
                        <m:ctrlPr>
                          <a:rPr lang="ar-AE" altLang="ja-JP" i="1"/>
                        </m:ctrlPr>
                      </m:dPr>
                      <m:e>
                        <m:sSub>
                          <m:sSubPr>
                            <m:ctrlPr>
                              <a:rPr lang="ar-AE" altLang="ja-JP" i="1"/>
                            </m:ctrlPr>
                          </m:sSubPr>
                          <m:e>
                            <m:r>
                              <a:rPr lang="ja-JP" altLang="ar-AE" i="1"/>
                              <m:t>𝑡</m:t>
                            </m:r>
                          </m:e>
                          <m:sub>
                            <m:r>
                              <a:rPr lang="ar-AE" altLang="ja-JP"/>
                              <m:t>0</m:t>
                            </m:r>
                          </m:sub>
                        </m:sSub>
                      </m:e>
                    </m:d>
                    <m:r>
                      <a:rPr lang="ar-AE" altLang="ja-JP"/>
                      <m:t>⟶</m:t>
                    </m:r>
                    <m:r>
                      <a:rPr lang="ar-AE" altLang="ja-JP" i="1"/>
                      <m:t>h</m:t>
                    </m:r>
                    <m:d>
                      <m:dPr>
                        <m:ctrlPr>
                          <a:rPr lang="ar-AE" altLang="ja-JP" i="1"/>
                        </m:ctrlPr>
                      </m:dPr>
                      <m:e>
                        <m:sSub>
                          <m:sSubPr>
                            <m:ctrlPr>
                              <a:rPr lang="ar-AE" altLang="ja-JP" i="1"/>
                            </m:ctrlPr>
                          </m:sSubPr>
                          <m:e>
                            <m:r>
                              <a:rPr lang="ja-JP" altLang="ar-AE" i="1"/>
                              <m:t>𝑡</m:t>
                            </m:r>
                          </m:e>
                          <m:sub>
                            <m:r>
                              <a:rPr lang="ar-AE" altLang="ja-JP"/>
                              <m:t>1</m:t>
                            </m:r>
                          </m:sub>
                        </m:sSub>
                      </m:e>
                    </m:d>
                  </m:oMath>
                </a14:m>
                <a:endParaRPr lang="ar-AE" altLang="ja-JP" dirty="0"/>
              </a:p>
              <a:p>
                <a:r>
                  <a:rPr lang="ja-JP" altLang="en-US" dirty="0"/>
                  <a:t>也就是根据速度场 </a:t>
                </a:r>
                <a14:m>
                  <m:oMath xmlns:m="http://schemas.openxmlformats.org/officeDocument/2006/math">
                    <m:r>
                      <a:rPr lang="ja-JP" altLang="en-US" i="1"/>
                      <m:t>𝑓</m:t>
                    </m:r>
                  </m:oMath>
                </a14:m>
                <a:r>
                  <a:rPr lang="ja-JP" altLang="en-US" dirty="0"/>
                  <a:t>，从初始状态出发，沿着系统轨迹往前推进。</a:t>
                </a:r>
              </a:p>
              <a:p>
                <a:pPr marL="0" indent="0">
                  <a:buNone/>
                </a:pPr>
                <a:r>
                  <a:rPr lang="en-US" altLang="zh-CN" dirty="0"/>
                  <a:t>ODE solver </a:t>
                </a:r>
                <a:r>
                  <a:rPr lang="zh-CN" altLang="en-US" dirty="0"/>
                  <a:t>的核心任务是近似计算这个积分：</a:t>
                </a:r>
                <a14:m>
                  <m:oMath xmlns:m="http://schemas.openxmlformats.org/officeDocument/2006/math">
                    <m:nary>
                      <m:naryPr>
                        <m:grow m:val="on"/>
                        <m:ctrlPr>
                          <a:rPr lang="zh-CN" altLang="en-US"/>
                        </m:ctrlPr>
                      </m:naryPr>
                      <m:sub>
                        <m:sSub>
                          <m:sSubPr>
                            <m:ctrlPr>
                              <a:rPr lang="zh-CN" altLang="en-US" i="1"/>
                            </m:ctrlPr>
                          </m:sSubPr>
                          <m:e>
                            <m:r>
                              <a:rPr lang="zh-CN" altLang="en-US" i="1"/>
                              <m:t>𝑡</m:t>
                            </m:r>
                          </m:e>
                          <m:sub>
                            <m:r>
                              <a:rPr lang="en-US" altLang="zh-CN"/>
                              <m:t>0</m:t>
                            </m:r>
                          </m:sub>
                        </m:sSub>
                      </m:sub>
                      <m:sup>
                        <m:sSub>
                          <m:sSubPr>
                            <m:ctrlPr>
                              <a:rPr lang="zh-CN" altLang="en-US" i="1"/>
                            </m:ctrlPr>
                          </m:sSubPr>
                          <m:e>
                            <m:r>
                              <a:rPr lang="zh-CN" altLang="en-US" i="1"/>
                              <m:t>𝑡</m:t>
                            </m:r>
                          </m:e>
                          <m:sub>
                            <m:r>
                              <a:rPr lang="en-US" altLang="zh-CN"/>
                              <m:t>1</m:t>
                            </m:r>
                          </m:sub>
                        </m:sSub>
                      </m:sup>
                      <m:e>
                        <m:r>
                          <a:rPr lang="zh-CN" altLang="en-US" i="1"/>
                          <m:t>𝑓</m:t>
                        </m:r>
                      </m:e>
                    </m:nary>
                    <m:d>
                      <m:dPr>
                        <m:sepChr m:val=","/>
                        <m:ctrlPr>
                          <a:rPr lang="zh-CN" altLang="en-US" i="1"/>
                        </m:ctrlPr>
                      </m:dPr>
                      <m:e>
                        <m:r>
                          <a:rPr lang="zh-CN" altLang="en-US" i="1"/>
                          <m:t>𝑠</m:t>
                        </m:r>
                      </m:e>
                      <m:e>
                        <m:r>
                          <a:rPr lang="en-US" altLang="zh-CN" i="1"/>
                          <m:t>h</m:t>
                        </m:r>
                        <m:d>
                          <m:dPr>
                            <m:ctrlPr>
                              <a:rPr lang="zh-CN" altLang="en-US" i="1"/>
                            </m:ctrlPr>
                          </m:dPr>
                          <m:e>
                            <m:r>
                              <a:rPr lang="zh-CN" altLang="en-US" i="1"/>
                              <m:t>𝑠</m:t>
                            </m:r>
                          </m:e>
                        </m:d>
                      </m:e>
                    </m:d>
                    <m:r>
                      <m:rPr>
                        <m:nor/>
                      </m:rPr>
                      <a:rPr lang="zh-CN" altLang="en-US" i="1"/>
                      <m:t> </m:t>
                    </m:r>
                    <m:r>
                      <a:rPr lang="zh-CN" altLang="en-US" i="1"/>
                      <m:t>𝑑𝑠</m:t>
                    </m:r>
                    <m:r>
                      <a:rPr lang="en-US" altLang="zh-CN"/>
                      <m:t>.</m:t>
                    </m:r>
                  </m:oMath>
                </a14:m>
                <a:endParaRPr lang="zh-CN" altLang="en-US" b="0" dirty="0"/>
              </a:p>
              <a:p>
                <a:pPr marL="0" indent="0">
                  <a:buNone/>
                </a:pPr>
                <a:r>
                  <a:rPr lang="zh-CN" altLang="en-US" dirty="0"/>
                  <a:t>难点：积分里的 </a:t>
                </a:r>
                <a14:m>
                  <m:oMath xmlns:m="http://schemas.openxmlformats.org/officeDocument/2006/math">
                    <m:r>
                      <a:rPr lang="en-US" altLang="zh-CN" i="1"/>
                      <m:t>h</m:t>
                    </m:r>
                    <m:d>
                      <m:dPr>
                        <m:ctrlPr>
                          <a:rPr lang="zh-CN" altLang="en-US" i="1"/>
                        </m:ctrlPr>
                      </m:dPr>
                      <m:e>
                        <m:r>
                          <a:rPr lang="zh-CN" altLang="en-US" i="1"/>
                          <m:t>𝑠</m:t>
                        </m:r>
                      </m:e>
                    </m:d>
                  </m:oMath>
                </a14:m>
                <a:r>
                  <a:rPr lang="zh-CN" altLang="en-US" dirty="0"/>
                  <a:t>本身也是未知的。所以 </a:t>
                </a:r>
                <a:r>
                  <a:rPr lang="en-US" altLang="zh-CN" dirty="0"/>
                  <a:t>solver </a:t>
                </a:r>
                <a:r>
                  <a:rPr lang="zh-CN" altLang="en-US" dirty="0"/>
                  <a:t>不能简单地直接积分，而是要一边估计轨迹，一边估计变化速度。</a:t>
                </a:r>
              </a:p>
              <a:p>
                <a:pPr marL="0" indent="0">
                  <a:buNone/>
                </a:pPr>
                <a:endParaRPr lang="en-US" altLang="ja-JP" b="1" dirty="0"/>
              </a:p>
              <a:p>
                <a:pPr marL="0" indent="0">
                  <a:buNone/>
                </a:pPr>
                <a:r>
                  <a:rPr lang="ja-JP" altLang="en-US" b="1" dirty="0"/>
                  <a:t>最简单的例子：</a:t>
                </a:r>
                <a:r>
                  <a:rPr lang="en-US" altLang="ja-JP" b="1" dirty="0"/>
                  <a:t>Euler </a:t>
                </a:r>
                <a:r>
                  <a:rPr lang="ja-JP" altLang="en-US" b="1" dirty="0"/>
                  <a:t>方法</a:t>
                </a:r>
              </a:p>
              <a:p>
                <a:pPr marL="0" indent="0">
                  <a:buNone/>
                </a:pPr>
                <a:r>
                  <a:rPr lang="ja-JP" altLang="en-US" dirty="0"/>
                  <a:t>假设从 </a:t>
                </a:r>
                <a14:m>
                  <m:oMath xmlns:m="http://schemas.openxmlformats.org/officeDocument/2006/math">
                    <m:sSub>
                      <m:sSubPr>
                        <m:ctrlPr>
                          <a:rPr lang="ar-AE" altLang="ja-JP"/>
                        </m:ctrlPr>
                      </m:sSubPr>
                      <m:e>
                        <m:r>
                          <a:rPr lang="ja-JP" altLang="ar-AE" i="1"/>
                          <m:t>𝑡</m:t>
                        </m:r>
                      </m:e>
                      <m:sub>
                        <m:r>
                          <a:rPr lang="ar-AE" altLang="ja-JP"/>
                          <m:t>0</m:t>
                        </m:r>
                      </m:sub>
                    </m:sSub>
                  </m:oMath>
                </a14:m>
                <a:r>
                  <a:rPr lang="ja-JP" altLang="en-US" dirty="0"/>
                  <a:t>到 </a:t>
                </a:r>
                <a14:m>
                  <m:oMath xmlns:m="http://schemas.openxmlformats.org/officeDocument/2006/math">
                    <m:sSub>
                      <m:sSubPr>
                        <m:ctrlPr>
                          <a:rPr lang="ar-AE" altLang="ja-JP"/>
                        </m:ctrlPr>
                      </m:sSubPr>
                      <m:e>
                        <m:r>
                          <a:rPr lang="ja-JP" altLang="ar-AE" i="1"/>
                          <m:t>𝑡</m:t>
                        </m:r>
                      </m:e>
                      <m:sub>
                        <m:r>
                          <a:rPr lang="ar-AE" altLang="ja-JP"/>
                          <m:t>1</m:t>
                        </m:r>
                      </m:sub>
                    </m:sSub>
                  </m:oMath>
                </a14:m>
                <a:r>
                  <a:rPr lang="ja-JP" altLang="ar-AE" dirty="0"/>
                  <a:t>，</a:t>
                </a:r>
                <a:r>
                  <a:rPr lang="ja-JP" altLang="en-US" dirty="0"/>
                  <a:t>用小步长 </a:t>
                </a:r>
                <a14:m>
                  <m:oMath xmlns:m="http://schemas.openxmlformats.org/officeDocument/2006/math">
                    <m:r>
                      <m:rPr>
                        <m:sty m:val="p"/>
                      </m:rPr>
                      <a:rPr lang="el-GR" altLang="ja-JP"/>
                      <m:t>Δ</m:t>
                    </m:r>
                    <m:r>
                      <a:rPr lang="ja-JP" altLang="el-GR" i="1"/>
                      <m:t>𝑡</m:t>
                    </m:r>
                  </m:oMath>
                </a14:m>
                <a:r>
                  <a:rPr lang="ja-JP" altLang="en-US" dirty="0"/>
                  <a:t>前进。在当前时刻 </a:t>
                </a:r>
                <a14:m>
                  <m:oMath xmlns:m="http://schemas.openxmlformats.org/officeDocument/2006/math">
                    <m:sSub>
                      <m:sSubPr>
                        <m:ctrlPr>
                          <a:rPr lang="ar-AE" altLang="ja-JP"/>
                        </m:ctrlPr>
                      </m:sSubPr>
                      <m:e>
                        <m:r>
                          <a:rPr lang="ja-JP" altLang="ar-AE" i="1"/>
                          <m:t>𝑡</m:t>
                        </m:r>
                      </m:e>
                      <m:sub>
                        <m:r>
                          <a:rPr lang="ja-JP" altLang="ar-AE" i="1"/>
                          <m:t>𝑘</m:t>
                        </m:r>
                      </m:sub>
                    </m:sSub>
                  </m:oMath>
                </a14:m>
                <a:r>
                  <a:rPr lang="ja-JP" altLang="ar-AE" dirty="0"/>
                  <a:t>，</a:t>
                </a:r>
                <a:r>
                  <a:rPr lang="ja-JP" altLang="en-US" dirty="0"/>
                  <a:t>状态是 </a:t>
                </a:r>
                <a14:m>
                  <m:oMath xmlns:m="http://schemas.openxmlformats.org/officeDocument/2006/math">
                    <m:sSub>
                      <m:sSubPr>
                        <m:ctrlPr>
                          <a:rPr lang="ar-AE" altLang="ja-JP"/>
                        </m:ctrlPr>
                      </m:sSubPr>
                      <m:e>
                        <m:r>
                          <a:rPr lang="ar-AE" altLang="ja-JP" i="1"/>
                          <m:t>h</m:t>
                        </m:r>
                      </m:e>
                      <m:sub>
                        <m:r>
                          <a:rPr lang="ja-JP" altLang="ar-AE" i="1"/>
                          <m:t>𝑘</m:t>
                        </m:r>
                      </m:sub>
                    </m:sSub>
                  </m:oMath>
                </a14:m>
                <a:r>
                  <a:rPr lang="ja-JP" altLang="ar-AE" dirty="0"/>
                  <a:t>。</a:t>
                </a:r>
                <a:r>
                  <a:rPr lang="en-US" altLang="ja-JP" dirty="0"/>
                  <a:t>ODE </a:t>
                </a:r>
                <a:r>
                  <a:rPr lang="ja-JP" altLang="en-US" dirty="0"/>
                  <a:t>告诉我们当前速度是：</a:t>
                </a:r>
                <a14:m>
                  <m:oMath xmlns:m="http://schemas.openxmlformats.org/officeDocument/2006/math">
                    <m:r>
                      <a:rPr lang="ja-JP" altLang="en-US" i="1"/>
                      <m:t>𝑓</m:t>
                    </m:r>
                    <m:d>
                      <m:dPr>
                        <m:sepChr m:val=","/>
                        <m:ctrlPr>
                          <a:rPr lang="ar-AE" altLang="ja-JP" i="1"/>
                        </m:ctrlPr>
                      </m:dPr>
                      <m:e>
                        <m:sSub>
                          <m:sSubPr>
                            <m:ctrlPr>
                              <a:rPr lang="ar-AE" altLang="ja-JP" i="1"/>
                            </m:ctrlPr>
                          </m:sSubPr>
                          <m:e>
                            <m:r>
                              <a:rPr lang="ja-JP" altLang="ar-AE" i="1"/>
                              <m:t>𝑡</m:t>
                            </m:r>
                          </m:e>
                          <m:sub>
                            <m:r>
                              <a:rPr lang="ja-JP" altLang="ar-AE" i="1"/>
                              <m:t>𝑘</m:t>
                            </m:r>
                          </m:sub>
                        </m:sSub>
                      </m:e>
                      <m:e>
                        <m:sSub>
                          <m:sSubPr>
                            <m:ctrlPr>
                              <a:rPr lang="ar-AE" altLang="ja-JP" i="1"/>
                            </m:ctrlPr>
                          </m:sSubPr>
                          <m:e>
                            <m:r>
                              <a:rPr lang="ar-AE" altLang="ja-JP" i="1"/>
                              <m:t>h</m:t>
                            </m:r>
                          </m:e>
                          <m:sub>
                            <m:r>
                              <a:rPr lang="ja-JP" altLang="ar-AE" i="1"/>
                              <m:t>𝑘</m:t>
                            </m:r>
                          </m:sub>
                        </m:sSub>
                      </m:e>
                    </m:d>
                    <m:r>
                      <a:rPr lang="ar-AE" altLang="ja-JP"/>
                      <m:t>.</m:t>
                    </m:r>
                  </m:oMath>
                </a14:m>
                <a:endParaRPr lang="ar-AE" altLang="ja-JP" dirty="0"/>
              </a:p>
              <a:p>
                <a:pPr marL="0" indent="0">
                  <a:buNone/>
                </a:pPr>
                <a:r>
                  <a:rPr lang="ja-JP" altLang="en-US" dirty="0"/>
                  <a:t>于是下一步可以近似为：</a:t>
                </a:r>
                <a14:m>
                  <m:oMath xmlns:m="http://schemas.openxmlformats.org/officeDocument/2006/math">
                    <m:sSub>
                      <m:sSubPr>
                        <m:ctrlPr>
                          <a:rPr lang="ar-AE" altLang="ja-JP"/>
                        </m:ctrlPr>
                      </m:sSubPr>
                      <m:e>
                        <m:r>
                          <a:rPr lang="ar-AE" altLang="ja-JP" i="1"/>
                          <m:t>h</m:t>
                        </m:r>
                      </m:e>
                      <m:sub>
                        <m:r>
                          <a:rPr lang="ja-JP" altLang="ar-AE" i="1"/>
                          <m:t>𝑘</m:t>
                        </m:r>
                        <m:r>
                          <a:rPr lang="ar-AE" altLang="ja-JP"/>
                          <m:t>+</m:t>
                        </m:r>
                        <m:r>
                          <a:rPr lang="ar-AE" altLang="ja-JP"/>
                          <m:t>1</m:t>
                        </m:r>
                      </m:sub>
                    </m:sSub>
                    <m:r>
                      <a:rPr lang="ar-AE" altLang="ja-JP"/>
                      <m:t>=</m:t>
                    </m:r>
                    <m:sSub>
                      <m:sSubPr>
                        <m:ctrlPr>
                          <a:rPr lang="ar-AE" altLang="ja-JP" i="1"/>
                        </m:ctrlPr>
                      </m:sSubPr>
                      <m:e>
                        <m:r>
                          <a:rPr lang="ar-AE" altLang="ja-JP" i="1"/>
                          <m:t>h</m:t>
                        </m:r>
                      </m:e>
                      <m:sub>
                        <m:r>
                          <a:rPr lang="ja-JP" altLang="ar-AE" i="1"/>
                          <m:t>𝑘</m:t>
                        </m:r>
                      </m:sub>
                    </m:sSub>
                    <m:r>
                      <a:rPr lang="ar-AE" altLang="ja-JP"/>
                      <m:t>+</m:t>
                    </m:r>
                    <m:r>
                      <m:rPr>
                        <m:sty m:val="p"/>
                      </m:rPr>
                      <a:rPr lang="el-GR" altLang="ja-JP"/>
                      <m:t>Δ</m:t>
                    </m:r>
                    <m:r>
                      <a:rPr lang="ja-JP" altLang="el-GR" i="1"/>
                      <m:t>𝑡𝑓</m:t>
                    </m:r>
                    <m:d>
                      <m:dPr>
                        <m:sepChr m:val=","/>
                        <m:ctrlPr>
                          <a:rPr lang="ar-AE" altLang="ja-JP" i="1"/>
                        </m:ctrlPr>
                      </m:dPr>
                      <m:e>
                        <m:sSub>
                          <m:sSubPr>
                            <m:ctrlPr>
                              <a:rPr lang="ar-AE" altLang="ja-JP" i="1"/>
                            </m:ctrlPr>
                          </m:sSubPr>
                          <m:e>
                            <m:r>
                              <a:rPr lang="ja-JP" altLang="ar-AE" i="1"/>
                              <m:t>𝑡</m:t>
                            </m:r>
                          </m:e>
                          <m:sub>
                            <m:r>
                              <a:rPr lang="ja-JP" altLang="ar-AE" i="1"/>
                              <m:t>𝑘</m:t>
                            </m:r>
                          </m:sub>
                        </m:sSub>
                      </m:e>
                      <m:e>
                        <m:sSub>
                          <m:sSubPr>
                            <m:ctrlPr>
                              <a:rPr lang="ar-AE" altLang="ja-JP" i="1"/>
                            </m:ctrlPr>
                          </m:sSubPr>
                          <m:e>
                            <m:r>
                              <a:rPr lang="ar-AE" altLang="ja-JP" i="1"/>
                              <m:t>h</m:t>
                            </m:r>
                          </m:e>
                          <m:sub>
                            <m:r>
                              <a:rPr lang="ja-JP" altLang="ar-AE" i="1"/>
                              <m:t>𝑘</m:t>
                            </m:r>
                          </m:sub>
                        </m:sSub>
                      </m:e>
                    </m:d>
                    <m:r>
                      <a:rPr lang="ar-AE" altLang="ja-JP"/>
                      <m:t>.</m:t>
                    </m:r>
                  </m:oMath>
                </a14:m>
                <a:endParaRPr lang="ar-AE" altLang="ja-JP" dirty="0"/>
              </a:p>
              <a:p>
                <a:pPr lvl="1"/>
                <a:r>
                  <a:rPr lang="ja-JP" altLang="en-US" dirty="0"/>
                  <a:t>当前状态 </a:t>
                </a:r>
                <a:r>
                  <a:rPr lang="en-US" altLang="ja-JP" dirty="0"/>
                  <a:t>+ </a:t>
                </a:r>
                <a:r>
                  <a:rPr lang="ja-JP" altLang="en-US" dirty="0"/>
                  <a:t>当前速度 </a:t>
                </a:r>
                <a:r>
                  <a:rPr lang="en-US" altLang="ja-JP" dirty="0"/>
                  <a:t>× </a:t>
                </a:r>
                <a:r>
                  <a:rPr lang="ja-JP" altLang="en-US" dirty="0"/>
                  <a:t>一小段时间 </a:t>
                </a:r>
                <a:r>
                  <a:rPr lang="en-US" altLang="ja-JP" dirty="0"/>
                  <a:t>= </a:t>
                </a:r>
                <a:r>
                  <a:rPr lang="ja-JP" altLang="en-US" dirty="0"/>
                  <a:t>下一时刻状态。</a:t>
                </a:r>
              </a:p>
              <a:p>
                <a:pPr marL="0" indent="0">
                  <a:buNone/>
                </a:pPr>
                <a:endParaRPr lang="en-US" altLang="zh-CN" dirty="0"/>
              </a:p>
              <a:p>
                <a:pPr marL="0" indent="0">
                  <a:buNone/>
                </a:pPr>
                <a:endParaRPr lang="zh-CN" altLang="en-US" dirty="0"/>
              </a:p>
            </p:txBody>
          </p:sp>
        </mc:Choice>
        <mc:Fallback>
          <p:sp>
            <p:nvSpPr>
              <p:cNvPr id="12" name="コンテンツ プレースホルダー 2">
                <a:extLst>
                  <a:ext uri="{FF2B5EF4-FFF2-40B4-BE49-F238E27FC236}">
                    <a16:creationId xmlns:a16="http://schemas.microsoft.com/office/drawing/2014/main" id="{7DA57451-CA73-D637-D682-4E1E4585A12C}"/>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r="-68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72838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DE59F-BFF7-E78C-0311-75E1860EE97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918B702-681B-1C41-237A-CACD31263225}"/>
              </a:ext>
            </a:extLst>
          </p:cNvPr>
          <p:cNvSpPr>
            <a:spLocks noGrp="1" noChangeArrowheads="1"/>
          </p:cNvSpPr>
          <p:nvPr>
            <p:ph type="title"/>
          </p:nvPr>
        </p:nvSpPr>
        <p:spPr/>
        <p:txBody>
          <a:bodyPr/>
          <a:lstStyle/>
          <a:p>
            <a:r>
              <a:rPr lang="zh-CN" altLang="en-US" b="1" dirty="0"/>
              <a:t>机器学习中的对应场景一：</a:t>
            </a:r>
            <a:r>
              <a:rPr lang="en-US" altLang="ja-JP" dirty="0"/>
              <a:t>Neural ODE</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8A35917-D960-575A-A7B0-516010A320A0}"/>
                  </a:ext>
                </a:extLst>
              </p:cNvPr>
              <p:cNvSpPr>
                <a:spLocks noGrp="1"/>
              </p:cNvSpPr>
              <p:nvPr>
                <p:ph idx="1"/>
              </p:nvPr>
            </p:nvSpPr>
            <p:spPr>
              <a:xfrm>
                <a:off x="233916" y="974291"/>
                <a:ext cx="11856484" cy="5440680"/>
              </a:xfrm>
            </p:spPr>
            <p:txBody>
              <a:bodyPr/>
              <a:lstStyle/>
              <a:p>
                <a:pPr marL="0" indent="0">
                  <a:lnSpc>
                    <a:spcPct val="120000"/>
                  </a:lnSpc>
                  <a:spcBef>
                    <a:spcPts val="0"/>
                  </a:spcBef>
                  <a:buNone/>
                </a:pPr>
                <a:r>
                  <a:rPr lang="en-US" altLang="ja-JP" sz="1800" dirty="0"/>
                  <a:t>Euler </a:t>
                </a:r>
                <a:r>
                  <a:rPr lang="ja-JP" altLang="en-US" sz="1800" dirty="0"/>
                  <a:t>方法简单，但精度不高。更常用的 </a:t>
                </a:r>
                <a:r>
                  <a:rPr lang="en-US" altLang="ja-JP" sz="1800" dirty="0"/>
                  <a:t>ODE solver </a:t>
                </a:r>
                <a:r>
                  <a:rPr lang="ja-JP" altLang="en-US" sz="1800" dirty="0"/>
                  <a:t>会做得更精细，例如：</a:t>
                </a:r>
              </a:p>
              <a:p>
                <a:pPr lvl="1">
                  <a:lnSpc>
                    <a:spcPct val="120000"/>
                  </a:lnSpc>
                  <a:spcBef>
                    <a:spcPts val="0"/>
                  </a:spcBef>
                  <a:buFont typeface="Wingdings" panose="05000000000000000000" pitchFamily="2" charset="2"/>
                  <a:buChar char="Ø"/>
                </a:pPr>
                <a:r>
                  <a:rPr lang="en-US" altLang="ja-JP" sz="1800" dirty="0"/>
                  <a:t>Runge–</a:t>
                </a:r>
                <a:r>
                  <a:rPr lang="en-US" altLang="ja-JP" sz="1800" dirty="0" err="1"/>
                  <a:t>Kutta</a:t>
                </a:r>
                <a:r>
                  <a:rPr lang="en-US" altLang="ja-JP" sz="1800" dirty="0"/>
                  <a:t> </a:t>
                </a:r>
                <a:r>
                  <a:rPr lang="ja-JP" altLang="en-US" sz="1800" dirty="0"/>
                  <a:t>方法； </a:t>
                </a:r>
                <a:r>
                  <a:rPr lang="en-US" altLang="ja-JP" sz="1800" dirty="0"/>
                  <a:t>adaptive step-size </a:t>
                </a:r>
                <a:r>
                  <a:rPr lang="ja-JP" altLang="en-US" sz="1800" dirty="0"/>
                  <a:t>方法； </a:t>
                </a:r>
                <a:r>
                  <a:rPr lang="en-US" altLang="ja-JP" sz="1800" dirty="0"/>
                  <a:t>stiff ODE solver</a:t>
                </a:r>
                <a:r>
                  <a:rPr lang="ja-JP" altLang="en-US" sz="1800" dirty="0"/>
                  <a:t>； </a:t>
                </a:r>
                <a:r>
                  <a:rPr lang="en-US" altLang="ja-JP" sz="1800" dirty="0"/>
                  <a:t>implicit solver</a:t>
                </a:r>
                <a:r>
                  <a:rPr lang="ja-JP" altLang="en-US" sz="1800" dirty="0"/>
                  <a:t>。 </a:t>
                </a:r>
              </a:p>
              <a:p>
                <a:pPr marL="0" indent="0">
                  <a:lnSpc>
                    <a:spcPct val="120000"/>
                  </a:lnSpc>
                  <a:spcBef>
                    <a:spcPts val="0"/>
                  </a:spcBef>
                  <a:buNone/>
                </a:pPr>
                <a:r>
                  <a:rPr lang="ja-JP" altLang="en-US" sz="1800" dirty="0"/>
                  <a:t>主要改进三件事：</a:t>
                </a:r>
              </a:p>
              <a:p>
                <a:pPr>
                  <a:lnSpc>
                    <a:spcPct val="120000"/>
                  </a:lnSpc>
                  <a:spcBef>
                    <a:spcPts val="0"/>
                  </a:spcBef>
                </a:pPr>
                <a:r>
                  <a:rPr lang="ja-JP" altLang="en-US" sz="1800" b="1" dirty="0"/>
                  <a:t>第一，更准确地估计变化趋势</a:t>
                </a:r>
                <a:r>
                  <a:rPr lang="zh-CN" altLang="en-US" sz="1800" b="1" dirty="0"/>
                  <a:t>。</a:t>
                </a:r>
                <a:r>
                  <a:rPr lang="en-US" altLang="ja-JP" sz="1800" dirty="0"/>
                  <a:t>Euler </a:t>
                </a:r>
                <a:r>
                  <a:rPr lang="ja-JP" altLang="en-US" sz="1800" dirty="0"/>
                  <a:t>方法只看当前点的速度：</a:t>
                </a:r>
                <a14:m>
                  <m:oMath xmlns:m="http://schemas.openxmlformats.org/officeDocument/2006/math">
                    <m:r>
                      <a:rPr lang="ja-JP" altLang="en-US" sz="1800" i="1"/>
                      <m:t>𝑓</m:t>
                    </m:r>
                    <m:d>
                      <m:dPr>
                        <m:sepChr m:val=","/>
                        <m:ctrlPr>
                          <a:rPr lang="ar-AE" altLang="ja-JP" sz="1800" i="1"/>
                        </m:ctrlPr>
                      </m:dPr>
                      <m:e>
                        <m:sSub>
                          <m:sSubPr>
                            <m:ctrlPr>
                              <a:rPr lang="ar-AE" altLang="ja-JP" sz="1800" i="1"/>
                            </m:ctrlPr>
                          </m:sSubPr>
                          <m:e>
                            <m:r>
                              <a:rPr lang="ja-JP" altLang="ar-AE" sz="1800" i="1"/>
                              <m:t>𝑡</m:t>
                            </m:r>
                          </m:e>
                          <m:sub>
                            <m:r>
                              <a:rPr lang="ja-JP" altLang="ar-AE" sz="1800" i="1"/>
                              <m:t>𝑘</m:t>
                            </m:r>
                          </m:sub>
                        </m:sSub>
                      </m:e>
                      <m:e>
                        <m:sSub>
                          <m:sSubPr>
                            <m:ctrlPr>
                              <a:rPr lang="ar-AE" altLang="ja-JP" sz="1800" i="1"/>
                            </m:ctrlPr>
                          </m:sSubPr>
                          <m:e>
                            <m:r>
                              <a:rPr lang="ar-AE" altLang="ja-JP" sz="1800" i="1"/>
                              <m:t>h</m:t>
                            </m:r>
                          </m:e>
                          <m:sub>
                            <m:r>
                              <a:rPr lang="ja-JP" altLang="ar-AE" sz="1800" i="1"/>
                              <m:t>𝑘</m:t>
                            </m:r>
                          </m:sub>
                        </m:sSub>
                      </m:e>
                    </m:d>
                    <m:r>
                      <a:rPr lang="ar-AE" altLang="ja-JP" sz="1800"/>
                      <m:t>.</m:t>
                    </m:r>
                  </m:oMath>
                </a14:m>
                <a:r>
                  <a:rPr lang="en-US" altLang="ja-JP" sz="1800" dirty="0"/>
                  <a:t> Runge–</a:t>
                </a:r>
                <a:r>
                  <a:rPr lang="en-US" altLang="ja-JP" sz="1800" dirty="0" err="1"/>
                  <a:t>Kutta</a:t>
                </a:r>
                <a:r>
                  <a:rPr lang="en-US" altLang="ja-JP" sz="1800" dirty="0"/>
                  <a:t> </a:t>
                </a:r>
                <a:r>
                  <a:rPr lang="ja-JP" altLang="en-US" sz="1800" dirty="0"/>
                  <a:t>方法会在一步中取多个中间点，综合估计这段时间内的平均变化趋势。</a:t>
                </a:r>
                <a:r>
                  <a:rPr lang="en-US" altLang="ja-JP" sz="1800" dirty="0"/>
                  <a:t>Euler </a:t>
                </a:r>
                <a:r>
                  <a:rPr lang="ja-JP" altLang="en-US" sz="1800" dirty="0"/>
                  <a:t>方法只问“现在速度是多少”；</a:t>
                </a:r>
                <a:r>
                  <a:rPr lang="en-US" altLang="ja-JP" sz="1800" dirty="0"/>
                  <a:t>Runge–</a:t>
                </a:r>
                <a:r>
                  <a:rPr lang="en-US" altLang="ja-JP" sz="1800" dirty="0" err="1"/>
                  <a:t>Kutta</a:t>
                </a:r>
                <a:r>
                  <a:rPr lang="en-US" altLang="ja-JP" sz="1800" dirty="0"/>
                  <a:t> </a:t>
                </a:r>
                <a:r>
                  <a:rPr lang="ja-JP" altLang="en-US" sz="1800" dirty="0"/>
                  <a:t>方法会多问几次“中间速度可能是多少”。</a:t>
                </a:r>
              </a:p>
              <a:p>
                <a:pPr>
                  <a:lnSpc>
                    <a:spcPct val="120000"/>
                  </a:lnSpc>
                  <a:spcBef>
                    <a:spcPts val="0"/>
                  </a:spcBef>
                </a:pPr>
                <a:r>
                  <a:rPr lang="ja-JP" altLang="en-US" sz="1800" b="1" dirty="0"/>
                  <a:t>第二，自动调整步长</a:t>
                </a:r>
                <a:r>
                  <a:rPr lang="zh-CN" altLang="en-US" sz="1800" b="1" dirty="0"/>
                  <a:t>。</a:t>
                </a:r>
                <a:r>
                  <a:rPr lang="ja-JP" altLang="en-US" sz="1800" dirty="0"/>
                  <a:t>如果轨迹变化平缓，可以用大步长：</a:t>
                </a:r>
                <a14:m>
                  <m:oMath xmlns:m="http://schemas.openxmlformats.org/officeDocument/2006/math">
                    <m:r>
                      <m:rPr>
                        <m:sty m:val="p"/>
                      </m:rPr>
                      <a:rPr lang="el-GR" altLang="ja-JP" sz="1800"/>
                      <m:t>Δ</m:t>
                    </m:r>
                    <m:r>
                      <a:rPr lang="ja-JP" altLang="el-GR" sz="1800" i="1"/>
                      <m:t>𝑡</m:t>
                    </m:r>
                    <m:r>
                      <m:rPr>
                        <m:nor/>
                      </m:rPr>
                      <a:rPr lang="el-GR" altLang="ja-JP" sz="1800" i="1"/>
                      <m:t> </m:t>
                    </m:r>
                    <m:r>
                      <m:rPr>
                        <m:nor/>
                      </m:rPr>
                      <a:rPr lang="ja-JP" altLang="en-US" sz="1800" i="1"/>
                      <m:t>大一些</m:t>
                    </m:r>
                  </m:oMath>
                </a14:m>
                <a:r>
                  <a:rPr lang="zh-CN" altLang="en-US" sz="1800" b="0" dirty="0"/>
                  <a:t>；</a:t>
                </a:r>
                <a:r>
                  <a:rPr lang="ja-JP" altLang="en-US" sz="1800" dirty="0"/>
                  <a:t>如果轨迹变化很剧烈，就用小步长：</a:t>
                </a:r>
                <a14:m>
                  <m:oMath xmlns:m="http://schemas.openxmlformats.org/officeDocument/2006/math">
                    <m:r>
                      <m:rPr>
                        <m:sty m:val="p"/>
                      </m:rPr>
                      <a:rPr lang="el-GR" altLang="ja-JP" sz="1800"/>
                      <m:t>Δ</m:t>
                    </m:r>
                    <m:r>
                      <a:rPr lang="ja-JP" altLang="el-GR" sz="1800" i="1"/>
                      <m:t>𝑡</m:t>
                    </m:r>
                    <m:r>
                      <m:rPr>
                        <m:nor/>
                      </m:rPr>
                      <a:rPr lang="el-GR" altLang="ja-JP" sz="1800" i="1"/>
                      <m:t> </m:t>
                    </m:r>
                    <m:r>
                      <m:rPr>
                        <m:nor/>
                      </m:rPr>
                      <a:rPr lang="ja-JP" altLang="en-US" sz="1800" i="1"/>
                      <m:t>小一些</m:t>
                    </m:r>
                  </m:oMath>
                </a14:m>
                <a:r>
                  <a:rPr lang="zh-CN" altLang="en-US" sz="1800" dirty="0"/>
                  <a:t>。</a:t>
                </a:r>
                <a:r>
                  <a:rPr lang="ja-JP" altLang="en-US" sz="1800" dirty="0"/>
                  <a:t>这叫 </a:t>
                </a:r>
                <a:r>
                  <a:rPr lang="en-US" altLang="ja-JP" sz="1800" dirty="0"/>
                  <a:t>adaptive step-size</a:t>
                </a:r>
                <a:r>
                  <a:rPr lang="ja-JP" altLang="en-US" sz="1800" dirty="0"/>
                  <a:t>。目的：在保证精度的同时，尽量减少计算量。</a:t>
                </a:r>
              </a:p>
              <a:p>
                <a:pPr>
                  <a:lnSpc>
                    <a:spcPct val="120000"/>
                  </a:lnSpc>
                  <a:spcBef>
                    <a:spcPts val="0"/>
                  </a:spcBef>
                </a:pPr>
                <a:r>
                  <a:rPr lang="ja-JP" altLang="en-US" sz="1800" b="1" dirty="0"/>
                  <a:t>第三，控制误差</a:t>
                </a:r>
                <a:r>
                  <a:rPr lang="zh-CN" altLang="en-US" sz="1800" b="1" dirty="0"/>
                  <a:t>。</a:t>
                </a:r>
                <a:r>
                  <a:rPr lang="en-US" altLang="ja-JP" sz="1800" dirty="0"/>
                  <a:t>ODE solver </a:t>
                </a:r>
                <a:r>
                  <a:rPr lang="ja-JP" altLang="en-US" sz="1800" dirty="0"/>
                  <a:t>通常会估计当前数值解的误差。如果误差太大，就减小步长重新算。如果误差很小，就可以增大步长，提高效率。所以 </a:t>
                </a:r>
                <a:r>
                  <a:rPr lang="en-US" altLang="ja-JP" sz="1800" dirty="0"/>
                  <a:t>solver </a:t>
                </a:r>
                <a:r>
                  <a:rPr lang="ja-JP" altLang="en-US" sz="1800" dirty="0"/>
                  <a:t>不只是“往前算”，还会不断判断：</a:t>
                </a:r>
                <a14:m>
                  <m:oMath xmlns:m="http://schemas.openxmlformats.org/officeDocument/2006/math">
                    <m:r>
                      <m:rPr>
                        <m:nor/>
                      </m:rPr>
                      <a:rPr lang="ja-JP" altLang="en-US" sz="1800" b="0"/>
                      <m:t>这一步算得够不够准</m:t>
                    </m:r>
                    <m:r>
                      <m:rPr>
                        <m:nor/>
                      </m:rPr>
                      <a:rPr lang="ja-JP" altLang="en-US" sz="1800" b="0"/>
                      <m:t>？</m:t>
                    </m:r>
                  </m:oMath>
                </a14:m>
                <a:endParaRPr lang="ja-JP" altLang="en-US" sz="1800" dirty="0"/>
              </a:p>
              <a:p>
                <a:pPr marL="0" indent="0">
                  <a:lnSpc>
                    <a:spcPct val="120000"/>
                  </a:lnSpc>
                  <a:spcBef>
                    <a:spcPts val="0"/>
                  </a:spcBef>
                  <a:buNone/>
                </a:pPr>
                <a:r>
                  <a:rPr lang="ja-JP" altLang="en-US" sz="1800" b="1" dirty="0"/>
                  <a:t>在 </a:t>
                </a:r>
                <a:r>
                  <a:rPr lang="en-US" altLang="ja-JP" sz="1800" b="1" dirty="0"/>
                  <a:t>Neural ODE </a:t>
                </a:r>
                <a:r>
                  <a:rPr lang="ja-JP" altLang="en-US" sz="1800" b="1" dirty="0"/>
                  <a:t>中，</a:t>
                </a:r>
                <a:r>
                  <a:rPr lang="en-US" altLang="ja-JP" sz="1800" b="1" dirty="0"/>
                  <a:t>ODE solver </a:t>
                </a:r>
                <a:r>
                  <a:rPr lang="ja-JP" altLang="en-US" sz="1800" b="1" dirty="0"/>
                  <a:t>做什么？</a:t>
                </a:r>
              </a:p>
              <a:p>
                <a:pPr marL="0" indent="0">
                  <a:lnSpc>
                    <a:spcPct val="120000"/>
                  </a:lnSpc>
                  <a:spcBef>
                    <a:spcPts val="0"/>
                  </a:spcBef>
                  <a:buNone/>
                </a:pPr>
                <a:r>
                  <a:rPr lang="en-US" altLang="ja-JP" sz="1800" dirty="0"/>
                  <a:t>Neural ODE </a:t>
                </a:r>
                <a:r>
                  <a:rPr lang="ja-JP" altLang="en-US" sz="1800" dirty="0"/>
                  <a:t>中有：</a:t>
                </a:r>
                <a14:m>
                  <m:oMath xmlns:m="http://schemas.openxmlformats.org/officeDocument/2006/math">
                    <m:f>
                      <m:fPr>
                        <m:ctrlPr>
                          <a:rPr lang="ar-AE" altLang="ja-JP" sz="1800"/>
                        </m:ctrlPr>
                      </m:fPr>
                      <m:num>
                        <m:r>
                          <a:rPr lang="ja-JP" altLang="ar-AE" sz="1800" i="1"/>
                          <m:t>𝑑</m:t>
                        </m:r>
                        <m:r>
                          <a:rPr lang="ar-AE" altLang="ja-JP" sz="1800" i="1"/>
                          <m:t>h</m:t>
                        </m:r>
                        <m:d>
                          <m:dPr>
                            <m:ctrlPr>
                              <a:rPr lang="ar-AE" altLang="ja-JP" sz="1800" i="1"/>
                            </m:ctrlPr>
                          </m:dPr>
                          <m:e>
                            <m:r>
                              <a:rPr lang="ja-JP" altLang="ar-AE" sz="1800" i="1"/>
                              <m:t>𝑡</m:t>
                            </m:r>
                          </m:e>
                        </m:d>
                      </m:num>
                      <m:den>
                        <m:r>
                          <a:rPr lang="ja-JP" altLang="ar-AE" sz="1800" i="1"/>
                          <m:t>𝑑𝑡</m:t>
                        </m:r>
                      </m:den>
                    </m:f>
                    <m:r>
                      <a:rPr lang="ar-AE" altLang="ja-JP" sz="1800"/>
                      <m:t>=</m:t>
                    </m:r>
                    <m:sSub>
                      <m:sSubPr>
                        <m:ctrlPr>
                          <a:rPr lang="ar-AE" altLang="ja-JP" sz="1800" i="1"/>
                        </m:ctrlPr>
                      </m:sSubPr>
                      <m:e>
                        <m:r>
                          <a:rPr lang="ja-JP" altLang="ar-AE" sz="1800" i="1"/>
                          <m:t>𝑓</m:t>
                        </m:r>
                      </m:e>
                      <m:sub>
                        <m:r>
                          <a:rPr lang="ja-JP" altLang="ar-AE" sz="1800" i="1"/>
                          <m:t>𝜃</m:t>
                        </m:r>
                      </m:sub>
                    </m:sSub>
                    <m:d>
                      <m:dPr>
                        <m:sepChr m:val=","/>
                        <m:ctrlPr>
                          <a:rPr lang="ar-AE" altLang="ja-JP" sz="1800" i="1"/>
                        </m:ctrlPr>
                      </m:dPr>
                      <m:e>
                        <m:r>
                          <a:rPr lang="ja-JP" altLang="ar-AE" sz="1800" i="1"/>
                          <m:t>𝑡</m:t>
                        </m:r>
                      </m:e>
                      <m:e>
                        <m:r>
                          <a:rPr lang="ar-AE" altLang="ja-JP" sz="1800" i="1"/>
                          <m:t>h</m:t>
                        </m:r>
                        <m:d>
                          <m:dPr>
                            <m:ctrlPr>
                              <a:rPr lang="ar-AE" altLang="ja-JP" sz="1800" i="1"/>
                            </m:ctrlPr>
                          </m:dPr>
                          <m:e>
                            <m:r>
                              <a:rPr lang="ja-JP" altLang="ar-AE" sz="1800" i="1"/>
                              <m:t>𝑡</m:t>
                            </m:r>
                          </m:e>
                        </m:d>
                      </m:e>
                    </m:d>
                    <m:r>
                      <a:rPr lang="ar-AE" altLang="ja-JP" sz="1800"/>
                      <m:t>.</m:t>
                    </m:r>
                  </m:oMath>
                </a14:m>
                <a:r>
                  <a:rPr lang="en-US" altLang="ja-JP" sz="1800" dirty="0"/>
                  <a:t> </a:t>
                </a:r>
                <a:r>
                  <a:rPr lang="ja-JP" altLang="en-US" sz="1800" dirty="0"/>
                  <a:t>这里 </a:t>
                </a:r>
                <a14:m>
                  <m:oMath xmlns:m="http://schemas.openxmlformats.org/officeDocument/2006/math">
                    <m:sSub>
                      <m:sSubPr>
                        <m:ctrlPr>
                          <a:rPr lang="ar-AE" altLang="ja-JP" sz="1800"/>
                        </m:ctrlPr>
                      </m:sSubPr>
                      <m:e>
                        <m:r>
                          <a:rPr lang="ja-JP" altLang="ar-AE" sz="1800" i="1"/>
                          <m:t>𝑓</m:t>
                        </m:r>
                      </m:e>
                      <m:sub>
                        <m:r>
                          <a:rPr lang="ja-JP" altLang="ar-AE" sz="1800" i="1"/>
                          <m:t>𝜃</m:t>
                        </m:r>
                      </m:sub>
                    </m:sSub>
                  </m:oMath>
                </a14:m>
                <a:r>
                  <a:rPr lang="ja-JP" altLang="en-US" sz="1800" dirty="0"/>
                  <a:t>是神经网络。给定输入后，先得到初始隐藏状态：</a:t>
                </a:r>
                <a14:m>
                  <m:oMath xmlns:m="http://schemas.openxmlformats.org/officeDocument/2006/math">
                    <m:r>
                      <a:rPr lang="en-US" altLang="ja-JP" sz="1800" i="1"/>
                      <m:t>h</m:t>
                    </m:r>
                    <m:d>
                      <m:dPr>
                        <m:ctrlPr>
                          <a:rPr lang="ar-AE" altLang="ja-JP" sz="1800" i="1"/>
                        </m:ctrlPr>
                      </m:dPr>
                      <m:e>
                        <m:sSub>
                          <m:sSubPr>
                            <m:ctrlPr>
                              <a:rPr lang="ar-AE" altLang="ja-JP" sz="1800" i="1"/>
                            </m:ctrlPr>
                          </m:sSubPr>
                          <m:e>
                            <m:r>
                              <a:rPr lang="ja-JP" altLang="ar-AE" sz="1800" i="1"/>
                              <m:t>𝑡</m:t>
                            </m:r>
                          </m:e>
                          <m:sub>
                            <m:r>
                              <a:rPr lang="ar-AE" altLang="ja-JP" sz="1800"/>
                              <m:t>0</m:t>
                            </m:r>
                          </m:sub>
                        </m:sSub>
                      </m:e>
                    </m:d>
                    <m:r>
                      <a:rPr lang="ar-AE" altLang="ja-JP" sz="1800"/>
                      <m:t>.</m:t>
                    </m:r>
                    <m:r>
                      <a:rPr lang="en-US" altLang="ja-JP" sz="1800" b="0" i="0" smtClean="0">
                        <a:latin typeface="Cambria Math" panose="02040503050406030204" pitchFamily="18" charset="0"/>
                      </a:rPr>
                      <m:t> </m:t>
                    </m:r>
                  </m:oMath>
                </a14:m>
                <a:r>
                  <a:rPr lang="ja-JP" altLang="en-US" sz="1800" dirty="0"/>
                  <a:t>然后 </a:t>
                </a:r>
                <a:r>
                  <a:rPr lang="en-US" altLang="ja-JP" sz="1800" dirty="0"/>
                  <a:t>ODE solver </a:t>
                </a:r>
                <a:r>
                  <a:rPr lang="ja-JP" altLang="en-US" sz="1800" dirty="0"/>
                  <a:t>负责从 </a:t>
                </a:r>
                <a14:m>
                  <m:oMath xmlns:m="http://schemas.openxmlformats.org/officeDocument/2006/math">
                    <m:sSub>
                      <m:sSubPr>
                        <m:ctrlPr>
                          <a:rPr lang="ar-AE" altLang="ja-JP" sz="1800"/>
                        </m:ctrlPr>
                      </m:sSubPr>
                      <m:e>
                        <m:r>
                          <a:rPr lang="ja-JP" altLang="ar-AE" sz="1800" i="1"/>
                          <m:t>𝑡</m:t>
                        </m:r>
                      </m:e>
                      <m:sub>
                        <m:r>
                          <a:rPr lang="ar-AE" altLang="ja-JP" sz="1800"/>
                          <m:t>0</m:t>
                        </m:r>
                      </m:sub>
                    </m:sSub>
                  </m:oMath>
                </a14:m>
                <a:r>
                  <a:rPr lang="ja-JP" altLang="en-US" sz="1800" dirty="0"/>
                  <a:t>解到 </a:t>
                </a:r>
                <a14:m>
                  <m:oMath xmlns:m="http://schemas.openxmlformats.org/officeDocument/2006/math">
                    <m:sSub>
                      <m:sSubPr>
                        <m:ctrlPr>
                          <a:rPr lang="ar-AE" altLang="ja-JP" sz="1800"/>
                        </m:ctrlPr>
                      </m:sSubPr>
                      <m:e>
                        <m:r>
                          <a:rPr lang="ja-JP" altLang="ar-AE" sz="1800" i="1"/>
                          <m:t>𝑡</m:t>
                        </m:r>
                      </m:e>
                      <m:sub>
                        <m:r>
                          <a:rPr lang="ar-AE" altLang="ja-JP" sz="1800"/>
                          <m:t>1</m:t>
                        </m:r>
                      </m:sub>
                    </m:sSub>
                  </m:oMath>
                </a14:m>
                <a:r>
                  <a:rPr lang="ja-JP" altLang="ar-AE" sz="1800" dirty="0"/>
                  <a:t>：</a:t>
                </a:r>
                <a14:m>
                  <m:oMath xmlns:m="http://schemas.openxmlformats.org/officeDocument/2006/math">
                    <m:r>
                      <a:rPr lang="ar-AE" altLang="ja-JP" sz="1800" i="1"/>
                      <m:t>h</m:t>
                    </m:r>
                    <m:d>
                      <m:dPr>
                        <m:ctrlPr>
                          <a:rPr lang="ar-AE" altLang="ja-JP" sz="1800" i="1"/>
                        </m:ctrlPr>
                      </m:dPr>
                      <m:e>
                        <m:sSub>
                          <m:sSubPr>
                            <m:ctrlPr>
                              <a:rPr lang="ar-AE" altLang="ja-JP" sz="1800" i="1"/>
                            </m:ctrlPr>
                          </m:sSubPr>
                          <m:e>
                            <m:r>
                              <a:rPr lang="ja-JP" altLang="ar-AE" sz="1800" i="1"/>
                              <m:t>𝑡</m:t>
                            </m:r>
                          </m:e>
                          <m:sub>
                            <m:r>
                              <a:rPr lang="ar-AE" altLang="ja-JP" sz="1800"/>
                              <m:t>1</m:t>
                            </m:r>
                          </m:sub>
                        </m:sSub>
                      </m:e>
                    </m:d>
                    <m:r>
                      <a:rPr lang="ar-AE" altLang="ja-JP" sz="1800"/>
                      <m:t>=</m:t>
                    </m:r>
                    <m:r>
                      <a:rPr lang="ar-AE" altLang="ja-JP" sz="1800" i="1"/>
                      <m:t>h</m:t>
                    </m:r>
                    <m:d>
                      <m:dPr>
                        <m:ctrlPr>
                          <a:rPr lang="ar-AE" altLang="ja-JP" sz="1800" i="1"/>
                        </m:ctrlPr>
                      </m:dPr>
                      <m:e>
                        <m:sSub>
                          <m:sSubPr>
                            <m:ctrlPr>
                              <a:rPr lang="ar-AE" altLang="ja-JP" sz="1800" i="1"/>
                            </m:ctrlPr>
                          </m:sSubPr>
                          <m:e>
                            <m:r>
                              <a:rPr lang="ja-JP" altLang="ar-AE" sz="1800" i="1"/>
                              <m:t>𝑡</m:t>
                            </m:r>
                          </m:e>
                          <m:sub>
                            <m:r>
                              <a:rPr lang="ar-AE" altLang="ja-JP" sz="1800"/>
                              <m:t>0</m:t>
                            </m:r>
                          </m:sub>
                        </m:sSub>
                      </m:e>
                    </m:d>
                    <m:r>
                      <a:rPr lang="ar-AE" altLang="ja-JP" sz="1800"/>
                      <m:t>+</m:t>
                    </m:r>
                    <m:nary>
                      <m:naryPr>
                        <m:grow m:val="on"/>
                        <m:ctrlPr>
                          <a:rPr lang="ar-AE" altLang="ja-JP" sz="1800" i="1"/>
                        </m:ctrlPr>
                      </m:naryPr>
                      <m:sub>
                        <m:sSub>
                          <m:sSubPr>
                            <m:ctrlPr>
                              <a:rPr lang="ar-AE" altLang="ja-JP" sz="1800" i="1"/>
                            </m:ctrlPr>
                          </m:sSubPr>
                          <m:e>
                            <m:r>
                              <a:rPr lang="ja-JP" altLang="ar-AE" sz="1800" i="1"/>
                              <m:t>𝑡</m:t>
                            </m:r>
                          </m:e>
                          <m:sub>
                            <m:r>
                              <a:rPr lang="ar-AE" altLang="ja-JP" sz="1800"/>
                              <m:t>0</m:t>
                            </m:r>
                          </m:sub>
                        </m:sSub>
                      </m:sub>
                      <m:sup>
                        <m:sSub>
                          <m:sSubPr>
                            <m:ctrlPr>
                              <a:rPr lang="ar-AE" altLang="ja-JP" sz="1800" i="1"/>
                            </m:ctrlPr>
                          </m:sSubPr>
                          <m:e>
                            <m:r>
                              <a:rPr lang="ja-JP" altLang="ar-AE" sz="1800" i="1"/>
                              <m:t>𝑡</m:t>
                            </m:r>
                          </m:e>
                          <m:sub>
                            <m:r>
                              <a:rPr lang="ar-AE" altLang="ja-JP" sz="1800"/>
                              <m:t>1</m:t>
                            </m:r>
                          </m:sub>
                        </m:sSub>
                      </m:sup>
                      <m:e>
                        <m:sSub>
                          <m:sSubPr>
                            <m:ctrlPr>
                              <a:rPr lang="ar-AE" altLang="ja-JP" sz="1800" i="1"/>
                            </m:ctrlPr>
                          </m:sSubPr>
                          <m:e>
                            <m:r>
                              <a:rPr lang="ja-JP" altLang="ar-AE" sz="1800" i="1"/>
                              <m:t>𝑓</m:t>
                            </m:r>
                          </m:e>
                          <m:sub>
                            <m:r>
                              <a:rPr lang="ja-JP" altLang="ar-AE" sz="1800" i="1"/>
                              <m:t>𝜃</m:t>
                            </m:r>
                          </m:sub>
                        </m:sSub>
                      </m:e>
                    </m:nary>
                    <m:d>
                      <m:dPr>
                        <m:sepChr m:val=","/>
                        <m:ctrlPr>
                          <a:rPr lang="ar-AE" altLang="ja-JP" sz="1800" i="1"/>
                        </m:ctrlPr>
                      </m:dPr>
                      <m:e>
                        <m:r>
                          <a:rPr lang="ja-JP" altLang="ar-AE" sz="1800" i="1"/>
                          <m:t>𝑠</m:t>
                        </m:r>
                      </m:e>
                      <m:e>
                        <m:r>
                          <a:rPr lang="ar-AE" altLang="ja-JP" sz="1800" i="1"/>
                          <m:t>h</m:t>
                        </m:r>
                        <m:d>
                          <m:dPr>
                            <m:ctrlPr>
                              <a:rPr lang="ar-AE" altLang="ja-JP" sz="1800" i="1"/>
                            </m:ctrlPr>
                          </m:dPr>
                          <m:e>
                            <m:r>
                              <a:rPr lang="ja-JP" altLang="ar-AE" sz="1800" i="1"/>
                              <m:t>𝑠</m:t>
                            </m:r>
                          </m:e>
                        </m:d>
                      </m:e>
                    </m:d>
                    <m:r>
                      <m:rPr>
                        <m:nor/>
                      </m:rPr>
                      <a:rPr lang="ar-AE" altLang="ja-JP" sz="1800" i="1"/>
                      <m:t> </m:t>
                    </m:r>
                    <m:r>
                      <a:rPr lang="ja-JP" altLang="ar-AE" sz="1800" i="1"/>
                      <m:t>𝑑𝑠</m:t>
                    </m:r>
                    <m:r>
                      <a:rPr lang="ar-AE" altLang="ja-JP" sz="1800"/>
                      <m:t>.</m:t>
                    </m:r>
                  </m:oMath>
                </a14:m>
                <a:r>
                  <a:rPr lang="en-US" altLang="ja-JP" sz="1800" b="0" dirty="0"/>
                  <a:t> </a:t>
                </a:r>
                <a:r>
                  <a:rPr lang="ja-JP" altLang="en-US" sz="1800" dirty="0"/>
                  <a:t>所以在 </a:t>
                </a:r>
                <a:r>
                  <a:rPr lang="en-US" altLang="ja-JP" sz="1800" dirty="0"/>
                  <a:t>Neural ODE </a:t>
                </a:r>
                <a:r>
                  <a:rPr lang="ja-JP" altLang="en-US" sz="1800" dirty="0"/>
                  <a:t>中，</a:t>
                </a:r>
                <a:r>
                  <a:rPr lang="en-US" altLang="ja-JP" sz="1800" dirty="0"/>
                  <a:t>ODE solver </a:t>
                </a:r>
                <a:r>
                  <a:rPr lang="ja-JP" altLang="en-US" sz="1800" dirty="0"/>
                  <a:t>相当于连续深度网络的“前向传播工具”。</a:t>
                </a:r>
              </a:p>
              <a:p>
                <a:pPr marL="0" indent="0">
                  <a:lnSpc>
                    <a:spcPct val="120000"/>
                  </a:lnSpc>
                  <a:spcBef>
                    <a:spcPts val="0"/>
                  </a:spcBef>
                  <a:buNone/>
                </a:pPr>
                <a:r>
                  <a:rPr lang="ja-JP" altLang="en-US" sz="1800" dirty="0"/>
                  <a:t>普通神经网络是：</a:t>
                </a:r>
                <a14:m>
                  <m:oMath xmlns:m="http://schemas.openxmlformats.org/officeDocument/2006/math">
                    <m:sSub>
                      <m:sSubPr>
                        <m:ctrlPr>
                          <a:rPr lang="ar-AE" altLang="ja-JP" sz="1800"/>
                        </m:ctrlPr>
                      </m:sSubPr>
                      <m:e>
                        <m:r>
                          <a:rPr lang="ar-AE" altLang="ja-JP" sz="1800" i="1"/>
                          <m:t>h</m:t>
                        </m:r>
                      </m:e>
                      <m:sub>
                        <m:r>
                          <a:rPr lang="ar-AE" altLang="ja-JP" sz="1800"/>
                          <m:t>0</m:t>
                        </m:r>
                      </m:sub>
                    </m:sSub>
                    <m:r>
                      <a:rPr lang="ar-AE" altLang="ja-JP" sz="1800"/>
                      <m:t>→</m:t>
                    </m:r>
                    <m:sSub>
                      <m:sSubPr>
                        <m:ctrlPr>
                          <a:rPr lang="ar-AE" altLang="ja-JP" sz="1800" i="1"/>
                        </m:ctrlPr>
                      </m:sSubPr>
                      <m:e>
                        <m:r>
                          <a:rPr lang="ar-AE" altLang="ja-JP" sz="1800" i="1"/>
                          <m:t>h</m:t>
                        </m:r>
                      </m:e>
                      <m:sub>
                        <m:r>
                          <a:rPr lang="ar-AE" altLang="ja-JP" sz="1800"/>
                          <m:t>1</m:t>
                        </m:r>
                      </m:sub>
                    </m:sSub>
                    <m:r>
                      <a:rPr lang="ar-AE" altLang="ja-JP" sz="1800"/>
                      <m:t>→</m:t>
                    </m:r>
                    <m:sSub>
                      <m:sSubPr>
                        <m:ctrlPr>
                          <a:rPr lang="ar-AE" altLang="ja-JP" sz="1800" i="1"/>
                        </m:ctrlPr>
                      </m:sSubPr>
                      <m:e>
                        <m:r>
                          <a:rPr lang="ar-AE" altLang="ja-JP" sz="1800" i="1"/>
                          <m:t>h</m:t>
                        </m:r>
                      </m:e>
                      <m:sub>
                        <m:r>
                          <a:rPr lang="ar-AE" altLang="ja-JP" sz="1800"/>
                          <m:t>2</m:t>
                        </m:r>
                      </m:sub>
                    </m:sSub>
                    <m:r>
                      <a:rPr lang="ar-AE" altLang="ja-JP" sz="1800"/>
                      <m:t>→⋯→</m:t>
                    </m:r>
                    <m:sSub>
                      <m:sSubPr>
                        <m:ctrlPr>
                          <a:rPr lang="ar-AE" altLang="ja-JP" sz="1800" i="1"/>
                        </m:ctrlPr>
                      </m:sSubPr>
                      <m:e>
                        <m:r>
                          <a:rPr lang="ar-AE" altLang="ja-JP" sz="1800" i="1"/>
                          <m:t>h</m:t>
                        </m:r>
                      </m:e>
                      <m:sub>
                        <m:r>
                          <a:rPr lang="ja-JP" altLang="ar-AE" sz="1800" i="1"/>
                          <m:t>𝐿</m:t>
                        </m:r>
                      </m:sub>
                    </m:sSub>
                    <m:r>
                      <a:rPr lang="ar-AE" altLang="ja-JP" sz="1800"/>
                      <m:t>.</m:t>
                    </m:r>
                  </m:oMath>
                </a14:m>
                <a:r>
                  <a:rPr lang="en-US" altLang="ja-JP" sz="1800" dirty="0"/>
                  <a:t>   Neural ODE </a:t>
                </a:r>
                <a:r>
                  <a:rPr lang="ja-JP" altLang="en-US" sz="1800" dirty="0"/>
                  <a:t>是：</a:t>
                </a:r>
                <a14:m>
                  <m:oMath xmlns:m="http://schemas.openxmlformats.org/officeDocument/2006/math">
                    <m:r>
                      <a:rPr lang="en-US" altLang="ja-JP" sz="1800" i="1"/>
                      <m:t>h</m:t>
                    </m:r>
                    <m:d>
                      <m:dPr>
                        <m:ctrlPr>
                          <a:rPr lang="ar-AE" altLang="ja-JP" sz="1800" i="1"/>
                        </m:ctrlPr>
                      </m:dPr>
                      <m:e>
                        <m:sSub>
                          <m:sSubPr>
                            <m:ctrlPr>
                              <a:rPr lang="ar-AE" altLang="ja-JP" sz="1800" i="1"/>
                            </m:ctrlPr>
                          </m:sSubPr>
                          <m:e>
                            <m:r>
                              <a:rPr lang="ja-JP" altLang="ar-AE" sz="1800" i="1"/>
                              <m:t>𝑡</m:t>
                            </m:r>
                          </m:e>
                          <m:sub>
                            <m:r>
                              <a:rPr lang="ar-AE" altLang="ja-JP" sz="1800"/>
                              <m:t>0</m:t>
                            </m:r>
                          </m:sub>
                        </m:sSub>
                      </m:e>
                    </m:d>
                    <m:groupChr>
                      <m:groupChrPr>
                        <m:chr m:val="→"/>
                        <m:vertJc m:val="bot"/>
                        <m:ctrlPr>
                          <a:rPr lang="ar-AE" altLang="ja-JP" sz="1800" i="1"/>
                        </m:ctrlPr>
                      </m:groupChrPr>
                      <m:e>
                        <m:box>
                          <m:boxPr>
                            <m:ctrlPr>
                              <a:rPr lang="ar-AE" altLang="ja-JP" sz="1800" i="1"/>
                            </m:ctrlPr>
                          </m:boxPr>
                          <m:e>
                            <m:r>
                              <m:rPr>
                                <m:nor/>
                              </m:rPr>
                              <a:rPr lang="en-US" altLang="ja-JP" sz="1800" i="1"/>
                              <m:t>ODE</m:t>
                            </m:r>
                            <m:r>
                              <m:rPr>
                                <m:nor/>
                              </m:rPr>
                              <a:rPr lang="en-US" altLang="ja-JP" sz="1800" i="1"/>
                              <m:t> </m:t>
                            </m:r>
                            <m:r>
                              <m:rPr>
                                <m:nor/>
                              </m:rPr>
                              <a:rPr lang="en-US" altLang="ja-JP" sz="1800" i="1"/>
                              <m:t>solver</m:t>
                            </m:r>
                          </m:e>
                        </m:box>
                      </m:e>
                    </m:groupChr>
                    <m:r>
                      <a:rPr lang="ar-AE" altLang="ja-JP" sz="1800" i="1"/>
                      <m:t>h</m:t>
                    </m:r>
                    <m:d>
                      <m:dPr>
                        <m:ctrlPr>
                          <a:rPr lang="ar-AE" altLang="ja-JP" sz="1800" i="1"/>
                        </m:ctrlPr>
                      </m:dPr>
                      <m:e>
                        <m:sSub>
                          <m:sSubPr>
                            <m:ctrlPr>
                              <a:rPr lang="ar-AE" altLang="ja-JP" sz="1800" i="1"/>
                            </m:ctrlPr>
                          </m:sSubPr>
                          <m:e>
                            <m:r>
                              <a:rPr lang="ja-JP" altLang="ar-AE" sz="1800" i="1"/>
                              <m:t>𝑡</m:t>
                            </m:r>
                          </m:e>
                          <m:sub>
                            <m:r>
                              <a:rPr lang="ar-AE" altLang="ja-JP" sz="1800"/>
                              <m:t>1</m:t>
                            </m:r>
                          </m:sub>
                        </m:sSub>
                      </m:e>
                    </m:d>
                    <m:r>
                      <a:rPr lang="ar-AE" altLang="ja-JP" sz="1800"/>
                      <m:t>.</m:t>
                    </m:r>
                  </m:oMath>
                </a14:m>
                <a:endParaRPr lang="ar-AE" altLang="ja-JP" sz="1800" b="0" dirty="0"/>
              </a:p>
              <a:p>
                <a:pPr marL="0" indent="0">
                  <a:lnSpc>
                    <a:spcPct val="120000"/>
                  </a:lnSpc>
                  <a:spcBef>
                    <a:spcPts val="0"/>
                  </a:spcBef>
                  <a:buNone/>
                </a:pPr>
                <a:r>
                  <a:rPr lang="en-US" altLang="ja-JP" sz="1800" dirty="0"/>
                  <a:t>ODE solver </a:t>
                </a:r>
                <a:r>
                  <a:rPr lang="ja-JP" altLang="en-US" sz="1800" dirty="0"/>
                  <a:t>代替了普通神经网络中固定层数的逐层计算。</a:t>
                </a:r>
              </a:p>
              <a:p>
                <a:pPr marL="0" indent="0">
                  <a:lnSpc>
                    <a:spcPct val="120000"/>
                  </a:lnSpc>
                  <a:spcBef>
                    <a:spcPts val="0"/>
                  </a:spcBef>
                  <a:buNone/>
                </a:pPr>
                <a:endParaRPr lang="en-US" altLang="zh-CN" sz="1800" dirty="0"/>
              </a:p>
              <a:p>
                <a:pPr marL="0" indent="0">
                  <a:lnSpc>
                    <a:spcPct val="120000"/>
                  </a:lnSpc>
                  <a:spcBef>
                    <a:spcPts val="0"/>
                  </a:spcBef>
                  <a:buNone/>
                </a:pPr>
                <a:endParaRPr lang="en-US" altLang="zh-CN" sz="1800" dirty="0"/>
              </a:p>
              <a:p>
                <a:pPr marL="0" indent="0">
                  <a:lnSpc>
                    <a:spcPct val="120000"/>
                  </a:lnSpc>
                  <a:spcBef>
                    <a:spcPts val="0"/>
                  </a:spcBef>
                  <a:buNone/>
                </a:pPr>
                <a:endParaRPr lang="zh-CN" altLang="en-US" sz="1800" dirty="0"/>
              </a:p>
            </p:txBody>
          </p:sp>
        </mc:Choice>
        <mc:Fallback>
          <p:sp>
            <p:nvSpPr>
              <p:cNvPr id="12" name="コンテンツ プレースホルダー 2">
                <a:extLst>
                  <a:ext uri="{FF2B5EF4-FFF2-40B4-BE49-F238E27FC236}">
                    <a16:creationId xmlns:a16="http://schemas.microsoft.com/office/drawing/2014/main" id="{C8A35917-D960-575A-A7B0-516010A320A0}"/>
                  </a:ext>
                </a:extLst>
              </p:cNvPr>
              <p:cNvSpPr>
                <a:spLocks noGrp="1" noRot="1" noChangeAspect="1" noMove="1" noResize="1" noEditPoints="1" noAdjustHandles="1" noChangeArrowheads="1" noChangeShapeType="1" noTextEdit="1"/>
              </p:cNvSpPr>
              <p:nvPr>
                <p:ph idx="1"/>
              </p:nvPr>
            </p:nvSpPr>
            <p:spPr>
              <a:xfrm>
                <a:off x="233916" y="974291"/>
                <a:ext cx="11856484" cy="5440680"/>
              </a:xfrm>
              <a:blipFill>
                <a:blip r:embed="rId3"/>
                <a:stretch>
                  <a:fillRect l="-411" t="-448" r="-206" b="-1098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949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B6C15-28F8-0A40-9E8B-F018550C60F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771F7A81-67C6-B483-842C-7EE548BEE241}"/>
              </a:ext>
            </a:extLst>
          </p:cNvPr>
          <p:cNvSpPr>
            <a:spLocks noGrp="1" noChangeArrowheads="1"/>
          </p:cNvSpPr>
          <p:nvPr>
            <p:ph type="title"/>
          </p:nvPr>
        </p:nvSpPr>
        <p:spPr/>
        <p:txBody>
          <a:bodyPr/>
          <a:lstStyle/>
          <a:p>
            <a:r>
              <a:rPr lang="zh-CN" altLang="en-US" b="1" dirty="0"/>
              <a:t>场景二：</a:t>
            </a:r>
            <a:r>
              <a:rPr lang="en-US" altLang="zh-CN" b="1" dirty="0"/>
              <a:t>Neural CDE </a:t>
            </a:r>
            <a:r>
              <a:rPr lang="zh-CN" altLang="en-US" b="1" dirty="0"/>
              <a:t>与不规则时间序列</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6DC23AF6-DC53-C7F4-0FDD-47A469685C92}"/>
                  </a:ext>
                </a:extLst>
              </p:cNvPr>
              <p:cNvSpPr>
                <a:spLocks noGrp="1"/>
              </p:cNvSpPr>
              <p:nvPr>
                <p:ph idx="1"/>
              </p:nvPr>
            </p:nvSpPr>
            <p:spPr>
              <a:xfrm>
                <a:off x="406400" y="1021080"/>
                <a:ext cx="11684000" cy="5440680"/>
              </a:xfrm>
            </p:spPr>
            <p:txBody>
              <a:bodyPr/>
              <a:lstStyle/>
              <a:p>
                <a:pPr marL="0" indent="0">
                  <a:lnSpc>
                    <a:spcPct val="110000"/>
                  </a:lnSpc>
                  <a:buNone/>
                </a:pPr>
                <a:r>
                  <a:rPr lang="ja-JP" altLang="en-US" dirty="0"/>
                  <a:t>普通 </a:t>
                </a:r>
                <a:r>
                  <a:rPr lang="en-US" altLang="ja-JP" dirty="0"/>
                  <a:t>Neural ODE </a:t>
                </a:r>
                <a:r>
                  <a:rPr lang="ja-JP" altLang="en-US" dirty="0"/>
                  <a:t>写成：</a:t>
                </a:r>
                <a14:m>
                  <m:oMath xmlns:m="http://schemas.openxmlformats.org/officeDocument/2006/math">
                    <m:f>
                      <m:fPr>
                        <m:ctrlPr>
                          <a:rPr lang="ar-AE" altLang="ja-JP"/>
                        </m:ctrlPr>
                      </m:fPr>
                      <m:num>
                        <m:r>
                          <a:rPr lang="ja-JP" altLang="ar-AE" i="1"/>
                          <m:t>𝑑𝑧</m:t>
                        </m:r>
                        <m:d>
                          <m:dPr>
                            <m:ctrlPr>
                              <a:rPr lang="ar-AE" altLang="ja-JP" i="1"/>
                            </m:ctrlPr>
                          </m:dPr>
                          <m:e>
                            <m:r>
                              <a:rPr lang="ja-JP" altLang="ar-AE" i="1"/>
                              <m:t>𝑡</m:t>
                            </m:r>
                          </m:e>
                        </m:d>
                      </m:num>
                      <m:den>
                        <m:r>
                          <a:rPr lang="ja-JP" altLang="ar-AE" i="1"/>
                          <m:t>𝑑𝑡</m:t>
                        </m:r>
                      </m:den>
                    </m:f>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r>
                          <a:rPr lang="ja-JP" altLang="ar-AE" i="1"/>
                          <m:t>𝑡</m:t>
                        </m:r>
                      </m:e>
                      <m:e>
                        <m:r>
                          <a:rPr lang="ja-JP" altLang="ar-AE" i="1"/>
                          <m:t>𝑧</m:t>
                        </m:r>
                        <m:d>
                          <m:dPr>
                            <m:ctrlPr>
                              <a:rPr lang="ar-AE" altLang="ja-JP" i="1"/>
                            </m:ctrlPr>
                          </m:dPr>
                          <m:e>
                            <m:r>
                              <a:rPr lang="ja-JP" altLang="ar-AE" i="1"/>
                              <m:t>𝑡</m:t>
                            </m:r>
                          </m:e>
                        </m:d>
                      </m:e>
                    </m:d>
                    <m:r>
                      <a:rPr lang="ar-AE" altLang="ja-JP"/>
                      <m:t>, </m:t>
                    </m:r>
                    <m:r>
                      <a:rPr lang="ja-JP" altLang="ar-AE" i="1"/>
                      <m:t>𝑧</m:t>
                    </m:r>
                    <m:d>
                      <m:dPr>
                        <m:ctrlPr>
                          <a:rPr lang="ar-AE" altLang="ja-JP" i="1"/>
                        </m:ctrlPr>
                      </m:dPr>
                      <m:e>
                        <m:sSub>
                          <m:sSubPr>
                            <m:ctrlPr>
                              <a:rPr lang="ar-AE" altLang="ja-JP" i="1"/>
                            </m:ctrlPr>
                          </m:sSubPr>
                          <m:e>
                            <m:r>
                              <a:rPr lang="ja-JP" altLang="ar-AE" i="1"/>
                              <m:t>𝑡</m:t>
                            </m:r>
                          </m:e>
                          <m:sub>
                            <m:r>
                              <a:rPr lang="ar-AE" altLang="ja-JP"/>
                              <m:t>0</m:t>
                            </m:r>
                          </m:sub>
                        </m:sSub>
                      </m:e>
                    </m:d>
                    <m:r>
                      <a:rPr lang="ar-AE" altLang="ja-JP"/>
                      <m:t>=</m:t>
                    </m:r>
                    <m:sSub>
                      <m:sSubPr>
                        <m:ctrlPr>
                          <a:rPr lang="ar-AE" altLang="ja-JP" i="1"/>
                        </m:ctrlPr>
                      </m:sSubPr>
                      <m:e>
                        <m:r>
                          <a:rPr lang="ja-JP" altLang="ar-AE" i="1"/>
                          <m:t>𝑧</m:t>
                        </m:r>
                      </m:e>
                      <m:sub>
                        <m:r>
                          <a:rPr lang="ar-AE" altLang="ja-JP"/>
                          <m:t>0</m:t>
                        </m:r>
                      </m:sub>
                    </m:sSub>
                    <m:r>
                      <a:rPr lang="ar-AE" altLang="ja-JP"/>
                      <m:t>.</m:t>
                    </m:r>
                  </m:oMath>
                </a14:m>
                <a:endParaRPr lang="ar-AE" altLang="ja-JP" dirty="0"/>
              </a:p>
              <a:p>
                <a:pPr marL="0" indent="0">
                  <a:lnSpc>
                    <a:spcPct val="110000"/>
                  </a:lnSpc>
                  <a:buNone/>
                </a:pPr>
                <a:r>
                  <a:rPr lang="ja-JP" altLang="en-US" dirty="0"/>
                  <a:t>积分形式是：</a:t>
                </a:r>
                <a14:m>
                  <m:oMath xmlns:m="http://schemas.openxmlformats.org/officeDocument/2006/math">
                    <m:r>
                      <a:rPr lang="ja-JP" altLang="en-US" i="1"/>
                      <m:t>𝑧</m:t>
                    </m:r>
                    <m:d>
                      <m:dPr>
                        <m:ctrlPr>
                          <a:rPr lang="ar-AE" altLang="ja-JP" i="1"/>
                        </m:ctrlPr>
                      </m:dPr>
                      <m:e>
                        <m:r>
                          <a:rPr lang="ja-JP" altLang="ar-AE" i="1"/>
                          <m:t>𝑡</m:t>
                        </m:r>
                      </m:e>
                    </m:d>
                    <m:r>
                      <a:rPr lang="ar-AE" altLang="ja-JP"/>
                      <m:t>=</m:t>
                    </m:r>
                    <m:r>
                      <a:rPr lang="ja-JP" altLang="ar-AE" i="1"/>
                      <m:t>𝑧</m:t>
                    </m:r>
                    <m:d>
                      <m:dPr>
                        <m:ctrlPr>
                          <a:rPr lang="ar-AE" altLang="ja-JP" i="1"/>
                        </m:ctrlPr>
                      </m:dPr>
                      <m:e>
                        <m:sSub>
                          <m:sSubPr>
                            <m:ctrlPr>
                              <a:rPr lang="ar-AE" altLang="ja-JP" i="1"/>
                            </m:ctrlPr>
                          </m:sSubPr>
                          <m:e>
                            <m:r>
                              <a:rPr lang="ja-JP" altLang="ar-AE" i="1"/>
                              <m:t>𝑡</m:t>
                            </m:r>
                          </m:e>
                          <m:sub>
                            <m:r>
                              <a:rPr lang="ar-AE" altLang="ja-JP"/>
                              <m:t>0</m:t>
                            </m:r>
                          </m:sub>
                        </m:sSub>
                      </m:e>
                    </m:d>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sSub>
                          <m:sSubPr>
                            <m:ctrlPr>
                              <a:rPr lang="ar-AE" altLang="ja-JP" i="1"/>
                            </m:ctrlPr>
                          </m:sSubPr>
                          <m:e>
                            <m:r>
                              <a:rPr lang="ja-JP" altLang="ar-AE" i="1"/>
                              <m:t>𝑓</m:t>
                            </m:r>
                          </m:e>
                          <m:sub>
                            <m:r>
                              <a:rPr lang="ja-JP" altLang="ar-AE" i="1"/>
                              <m:t>𝜃</m:t>
                            </m:r>
                          </m:sub>
                        </m:sSub>
                      </m:e>
                    </m:nary>
                    <m:d>
                      <m:dPr>
                        <m:sepChr m:val=","/>
                        <m:ctrlPr>
                          <a:rPr lang="ar-AE" altLang="ja-JP" i="1"/>
                        </m:ctrlPr>
                      </m:dPr>
                      <m:e>
                        <m:r>
                          <a:rPr lang="ja-JP" altLang="ar-AE" i="1"/>
                          <m:t>𝑠</m:t>
                        </m:r>
                      </m:e>
                      <m:e>
                        <m:r>
                          <a:rPr lang="ja-JP" altLang="ar-AE" i="1"/>
                          <m:t>𝑧</m:t>
                        </m:r>
                        <m:d>
                          <m:dPr>
                            <m:ctrlPr>
                              <a:rPr lang="ar-AE" altLang="ja-JP" i="1"/>
                            </m:ctrlPr>
                          </m:dPr>
                          <m:e>
                            <m:r>
                              <a:rPr lang="ja-JP" altLang="ar-AE" i="1"/>
                              <m:t>𝑠</m:t>
                            </m:r>
                          </m:e>
                        </m:d>
                      </m:e>
                    </m:d>
                    <m:r>
                      <m:rPr>
                        <m:nor/>
                      </m:rPr>
                      <a:rPr lang="ar-AE" altLang="ja-JP" i="1"/>
                      <m:t> </m:t>
                    </m:r>
                    <m:r>
                      <a:rPr lang="ja-JP" altLang="ar-AE" i="1"/>
                      <m:t>𝑑𝑠</m:t>
                    </m:r>
                    <m:r>
                      <a:rPr lang="ar-AE" altLang="ja-JP"/>
                      <m:t>.</m:t>
                    </m:r>
                  </m:oMath>
                </a14:m>
                <a:endParaRPr lang="ar-AE" altLang="ja-JP" b="0" dirty="0"/>
              </a:p>
              <a:p>
                <a:pPr>
                  <a:lnSpc>
                    <a:spcPct val="110000"/>
                  </a:lnSpc>
                </a:pPr>
                <a:r>
                  <a:rPr lang="ja-JP" altLang="en-US" dirty="0"/>
                  <a:t>这里的轨迹 </a:t>
                </a:r>
                <a14:m>
                  <m:oMath xmlns:m="http://schemas.openxmlformats.org/officeDocument/2006/math">
                    <m:r>
                      <a:rPr lang="ja-JP" altLang="en-US" i="1"/>
                      <m:t>𝑧</m:t>
                    </m:r>
                    <m:d>
                      <m:dPr>
                        <m:ctrlPr>
                          <a:rPr lang="ar-AE" altLang="ja-JP" i="1"/>
                        </m:ctrlPr>
                      </m:dPr>
                      <m:e>
                        <m:r>
                          <a:rPr lang="ja-JP" altLang="ar-AE" i="1"/>
                          <m:t>𝑡</m:t>
                        </m:r>
                      </m:e>
                    </m:d>
                  </m:oMath>
                </a14:m>
                <a:r>
                  <a:rPr lang="ja-JP" altLang="en-US" dirty="0"/>
                  <a:t>主要由两个东西决定：</a:t>
                </a:r>
                <a14:m>
                  <m:oMath xmlns:m="http://schemas.openxmlformats.org/officeDocument/2006/math">
                    <m:r>
                      <a:rPr lang="ja-JP" altLang="en-US" i="1"/>
                      <m:t>𝑧</m:t>
                    </m:r>
                    <m:d>
                      <m:dPr>
                        <m:ctrlPr>
                          <a:rPr lang="ar-AE" altLang="ja-JP" i="1"/>
                        </m:ctrlPr>
                      </m:dPr>
                      <m:e>
                        <m:sSub>
                          <m:sSubPr>
                            <m:ctrlPr>
                              <a:rPr lang="ar-AE" altLang="ja-JP" i="1"/>
                            </m:ctrlPr>
                          </m:sSubPr>
                          <m:e>
                            <m:r>
                              <a:rPr lang="ja-JP" altLang="ar-AE" i="1"/>
                              <m:t>𝑡</m:t>
                            </m:r>
                          </m:e>
                          <m:sub>
                            <m:r>
                              <a:rPr lang="ar-AE" altLang="ja-JP"/>
                              <m:t>0</m:t>
                            </m:r>
                          </m:sub>
                        </m:sSub>
                      </m:e>
                    </m:d>
                  </m:oMath>
                </a14:m>
                <a:r>
                  <a:rPr lang="ja-JP" altLang="en-US" dirty="0"/>
                  <a:t>和</a:t>
                </a:r>
                <a14:m>
                  <m:oMath xmlns:m="http://schemas.openxmlformats.org/officeDocument/2006/math">
                    <m:sSub>
                      <m:sSubPr>
                        <m:ctrlPr>
                          <a:rPr lang="ar-AE" altLang="ja-JP"/>
                        </m:ctrlPr>
                      </m:sSubPr>
                      <m:e>
                        <m:r>
                          <a:rPr lang="ja-JP" altLang="ar-AE" i="1"/>
                          <m:t>𝑓</m:t>
                        </m:r>
                      </m:e>
                      <m:sub>
                        <m:r>
                          <a:rPr lang="ja-JP" altLang="ar-AE" i="1"/>
                          <m:t>𝜃</m:t>
                        </m:r>
                      </m:sub>
                    </m:sSub>
                    <m:r>
                      <a:rPr lang="ar-AE" altLang="ja-JP"/>
                      <m:t>.</m:t>
                    </m:r>
                  </m:oMath>
                </a14:m>
                <a:endParaRPr lang="ar-AE" altLang="ja-JP" dirty="0"/>
              </a:p>
              <a:p>
                <a:pPr marL="0" indent="0">
                  <a:lnSpc>
                    <a:spcPct val="110000"/>
                  </a:lnSpc>
                  <a:buNone/>
                </a:pPr>
                <a:r>
                  <a:rPr lang="ja-JP" altLang="en-US" dirty="0"/>
                  <a:t>也就是说，</a:t>
                </a:r>
                <a:r>
                  <a:rPr lang="ja-JP" altLang="en-US" dirty="0">
                    <a:solidFill>
                      <a:srgbClr val="C00000"/>
                    </a:solidFill>
                  </a:rPr>
                  <a:t>一旦初始状态 </a:t>
                </a:r>
                <a14:m>
                  <m:oMath xmlns:m="http://schemas.openxmlformats.org/officeDocument/2006/math">
                    <m:r>
                      <a:rPr lang="ja-JP" altLang="en-US" i="1">
                        <a:solidFill>
                          <a:srgbClr val="C00000"/>
                        </a:solidFill>
                      </a:rPr>
                      <m:t>𝑧</m:t>
                    </m:r>
                    <m:d>
                      <m:dPr>
                        <m:ctrlPr>
                          <a:rPr lang="ar-AE" altLang="ja-JP" i="1">
                            <a:solidFill>
                              <a:srgbClr val="C00000"/>
                            </a:solidFill>
                          </a:rPr>
                        </m:ctrlPr>
                      </m:dPr>
                      <m:e>
                        <m:sSub>
                          <m:sSubPr>
                            <m:ctrlPr>
                              <a:rPr lang="ar-AE" altLang="ja-JP" i="1">
                                <a:solidFill>
                                  <a:srgbClr val="C00000"/>
                                </a:solidFill>
                              </a:rPr>
                            </m:ctrlPr>
                          </m:sSubPr>
                          <m:e>
                            <m:r>
                              <a:rPr lang="ja-JP" altLang="ar-AE" i="1">
                                <a:solidFill>
                                  <a:srgbClr val="C00000"/>
                                </a:solidFill>
                              </a:rPr>
                              <m:t>𝑡</m:t>
                            </m:r>
                          </m:e>
                          <m:sub>
                            <m:r>
                              <a:rPr lang="ar-AE" altLang="ja-JP">
                                <a:solidFill>
                                  <a:srgbClr val="C00000"/>
                                </a:solidFill>
                              </a:rPr>
                              <m:t>0</m:t>
                            </m:r>
                          </m:sub>
                        </m:sSub>
                      </m:e>
                    </m:d>
                  </m:oMath>
                </a14:m>
                <a:r>
                  <a:rPr lang="ja-JP" altLang="en-US" dirty="0">
                    <a:solidFill>
                      <a:srgbClr val="C00000"/>
                    </a:solidFill>
                  </a:rPr>
                  <a:t>和动力学函数 </a:t>
                </a:r>
                <a14:m>
                  <m:oMath xmlns:m="http://schemas.openxmlformats.org/officeDocument/2006/math">
                    <m:sSub>
                      <m:sSubPr>
                        <m:ctrlPr>
                          <a:rPr lang="ar-AE" altLang="ja-JP">
                            <a:solidFill>
                              <a:srgbClr val="C00000"/>
                            </a:solidFill>
                          </a:rPr>
                        </m:ctrlPr>
                      </m:sSubPr>
                      <m:e>
                        <m:r>
                          <a:rPr lang="ja-JP" altLang="ar-AE" i="1">
                            <a:solidFill>
                              <a:srgbClr val="C00000"/>
                            </a:solidFill>
                          </a:rPr>
                          <m:t>𝑓</m:t>
                        </m:r>
                      </m:e>
                      <m:sub>
                        <m:r>
                          <a:rPr lang="ja-JP" altLang="ar-AE" i="1">
                            <a:solidFill>
                              <a:srgbClr val="C00000"/>
                            </a:solidFill>
                          </a:rPr>
                          <m:t>𝜃</m:t>
                        </m:r>
                      </m:sub>
                    </m:sSub>
                  </m:oMath>
                </a14:m>
                <a:r>
                  <a:rPr lang="ja-JP" altLang="en-US" dirty="0">
                    <a:solidFill>
                      <a:srgbClr val="C00000"/>
                    </a:solidFill>
                  </a:rPr>
                  <a:t>确定，后面的整条轨迹基本就确定了</a:t>
                </a:r>
                <a:r>
                  <a:rPr lang="ja-JP" altLang="en-US" dirty="0"/>
                  <a:t>。</a:t>
                </a:r>
              </a:p>
              <a:p>
                <a:pPr marL="0" indent="0">
                  <a:lnSpc>
                    <a:spcPct val="110000"/>
                  </a:lnSpc>
                  <a:buNone/>
                </a:pPr>
                <a:r>
                  <a:rPr lang="ja-JP" altLang="en-US" dirty="0"/>
                  <a:t>这在某些任务中没有问题，比如给一张图片，先编码成 </a:t>
                </a:r>
                <a14:m>
                  <m:oMath xmlns:m="http://schemas.openxmlformats.org/officeDocument/2006/math">
                    <m:r>
                      <a:rPr lang="ja-JP" altLang="en-US" i="1"/>
                      <m:t>𝑧</m:t>
                    </m:r>
                    <m:d>
                      <m:dPr>
                        <m:ctrlPr>
                          <a:rPr lang="ar-AE" altLang="ja-JP" i="1"/>
                        </m:ctrlPr>
                      </m:dPr>
                      <m:e>
                        <m:sSub>
                          <m:sSubPr>
                            <m:ctrlPr>
                              <a:rPr lang="ar-AE" altLang="ja-JP" i="1"/>
                            </m:ctrlPr>
                          </m:sSubPr>
                          <m:e>
                            <m:r>
                              <a:rPr lang="ja-JP" altLang="ar-AE" i="1"/>
                              <m:t>𝑡</m:t>
                            </m:r>
                          </m:e>
                          <m:sub>
                            <m:r>
                              <a:rPr lang="ar-AE" altLang="ja-JP"/>
                              <m:t>0</m:t>
                            </m:r>
                          </m:sub>
                        </m:sSub>
                      </m:e>
                    </m:d>
                  </m:oMath>
                </a14:m>
                <a:r>
                  <a:rPr lang="ja-JP" altLang="ar-AE" dirty="0"/>
                  <a:t>，</a:t>
                </a:r>
                <a:r>
                  <a:rPr lang="ja-JP" altLang="en-US" dirty="0"/>
                  <a:t>然后让它连续演化到 </a:t>
                </a:r>
                <a14:m>
                  <m:oMath xmlns:m="http://schemas.openxmlformats.org/officeDocument/2006/math">
                    <m:r>
                      <a:rPr lang="ja-JP" altLang="en-US" i="1"/>
                      <m:t>𝑧</m:t>
                    </m:r>
                    <m:d>
                      <m:dPr>
                        <m:ctrlPr>
                          <a:rPr lang="ar-AE" altLang="ja-JP" i="1"/>
                        </m:ctrlPr>
                      </m:dPr>
                      <m:e>
                        <m:sSub>
                          <m:sSubPr>
                            <m:ctrlPr>
                              <a:rPr lang="ar-AE" altLang="ja-JP" i="1"/>
                            </m:ctrlPr>
                          </m:sSubPr>
                          <m:e>
                            <m:r>
                              <a:rPr lang="ja-JP" altLang="ar-AE" i="1"/>
                              <m:t>𝑡</m:t>
                            </m:r>
                          </m:e>
                          <m:sub>
                            <m:r>
                              <a:rPr lang="ar-AE" altLang="ja-JP"/>
                              <m:t>1</m:t>
                            </m:r>
                          </m:sub>
                        </m:sSub>
                      </m:e>
                    </m:d>
                  </m:oMath>
                </a14:m>
                <a:r>
                  <a:rPr lang="ja-JP" altLang="ar-AE" dirty="0"/>
                  <a:t>，</a:t>
                </a:r>
                <a:r>
                  <a:rPr lang="ja-JP" altLang="en-US" dirty="0"/>
                  <a:t>最后分类</a:t>
                </a:r>
                <a:endParaRPr lang="en-US" altLang="ja-JP" dirty="0"/>
              </a:p>
              <a:p>
                <a:pPr marL="0" indent="0">
                  <a:lnSpc>
                    <a:spcPct val="110000"/>
                  </a:lnSpc>
                  <a:buNone/>
                </a:pPr>
                <a:endParaRPr lang="en-US" altLang="ja-JP" dirty="0"/>
              </a:p>
              <a:p>
                <a:pPr marL="0" indent="0">
                  <a:lnSpc>
                    <a:spcPct val="110000"/>
                  </a:lnSpc>
                  <a:buNone/>
                </a:pPr>
                <a:r>
                  <a:rPr lang="ja-JP" altLang="en-US" dirty="0"/>
                  <a:t>但是</a:t>
                </a:r>
                <a:r>
                  <a:rPr lang="ja-JP" altLang="en-US" b="1" dirty="0">
                    <a:solidFill>
                      <a:schemeClr val="accent1">
                        <a:lumMod val="50000"/>
                      </a:schemeClr>
                    </a:solidFill>
                  </a:rPr>
                  <a:t>对于时间序列来说，这就有问题</a:t>
                </a:r>
                <a:r>
                  <a:rPr lang="ja-JP" altLang="en-US" dirty="0"/>
                  <a:t>。</a:t>
                </a:r>
                <a:r>
                  <a:rPr lang="zh-CN" altLang="en-US" dirty="0"/>
                  <a:t>例如医学数据：</a:t>
                </a:r>
                <a14:m>
                  <m:oMath xmlns:m="http://schemas.openxmlformats.org/officeDocument/2006/math">
                    <m:d>
                      <m:dPr>
                        <m:sepChr m:val=","/>
                        <m:ctrlPr>
                          <a:rPr lang="zh-CN" altLang="en-US"/>
                        </m:ctrlPr>
                      </m:dPr>
                      <m:e>
                        <m:sSub>
                          <m:sSubPr>
                            <m:ctrlPr>
                              <a:rPr lang="zh-CN" altLang="en-US" i="1"/>
                            </m:ctrlPr>
                          </m:sSubPr>
                          <m:e>
                            <m:r>
                              <a:rPr lang="zh-CN" altLang="en-US" i="1"/>
                              <m:t>𝑡</m:t>
                            </m:r>
                          </m:e>
                          <m:sub>
                            <m:r>
                              <a:rPr lang="en-US" altLang="zh-CN"/>
                              <m:t>1</m:t>
                            </m:r>
                          </m:sub>
                        </m:sSub>
                      </m:e>
                      <m:e>
                        <m:sSub>
                          <m:sSubPr>
                            <m:ctrlPr>
                              <a:rPr lang="zh-CN" altLang="en-US" i="1"/>
                            </m:ctrlPr>
                          </m:sSubPr>
                          <m:e>
                            <m:r>
                              <a:rPr lang="zh-CN" altLang="en-US" i="1"/>
                              <m:t>𝑥</m:t>
                            </m:r>
                          </m:e>
                          <m:sub>
                            <m:r>
                              <a:rPr lang="en-US" altLang="zh-CN"/>
                              <m:t>1</m:t>
                            </m:r>
                          </m:sub>
                        </m:sSub>
                      </m:e>
                    </m:d>
                    <m:r>
                      <a:rPr lang="en-US" altLang="zh-CN"/>
                      <m:t>,</m:t>
                    </m:r>
                    <m:r>
                      <m:rPr>
                        <m:nor/>
                      </m:rPr>
                      <a:rPr lang="zh-CN" altLang="en-US" i="1"/>
                      <m:t> </m:t>
                    </m:r>
                    <m:d>
                      <m:dPr>
                        <m:sepChr m:val=","/>
                        <m:ctrlPr>
                          <a:rPr lang="zh-CN" altLang="en-US" i="1"/>
                        </m:ctrlPr>
                      </m:dPr>
                      <m:e>
                        <m:sSub>
                          <m:sSubPr>
                            <m:ctrlPr>
                              <a:rPr lang="zh-CN" altLang="en-US" i="1"/>
                            </m:ctrlPr>
                          </m:sSubPr>
                          <m:e>
                            <m:r>
                              <a:rPr lang="zh-CN" altLang="en-US" i="1"/>
                              <m:t>𝑡</m:t>
                            </m:r>
                          </m:e>
                          <m:sub>
                            <m:r>
                              <a:rPr lang="en-US" altLang="zh-CN"/>
                              <m:t>2</m:t>
                            </m:r>
                          </m:sub>
                        </m:sSub>
                      </m:e>
                      <m:e>
                        <m:sSub>
                          <m:sSubPr>
                            <m:ctrlPr>
                              <a:rPr lang="zh-CN" altLang="en-US" i="1"/>
                            </m:ctrlPr>
                          </m:sSubPr>
                          <m:e>
                            <m:r>
                              <a:rPr lang="zh-CN" altLang="en-US" i="1"/>
                              <m:t>𝑥</m:t>
                            </m:r>
                          </m:e>
                          <m:sub>
                            <m:r>
                              <a:rPr lang="en-US" altLang="zh-CN"/>
                              <m:t>2</m:t>
                            </m:r>
                          </m:sub>
                        </m:sSub>
                      </m:e>
                    </m:d>
                    <m:r>
                      <a:rPr lang="en-US" altLang="zh-CN"/>
                      <m:t>,</m:t>
                    </m:r>
                    <m:r>
                      <m:rPr>
                        <m:nor/>
                      </m:rPr>
                      <a:rPr lang="zh-CN" altLang="en-US" i="1"/>
                      <m:t> </m:t>
                    </m:r>
                    <m:d>
                      <m:dPr>
                        <m:sepChr m:val=","/>
                        <m:ctrlPr>
                          <a:rPr lang="zh-CN" altLang="en-US" i="1"/>
                        </m:ctrlPr>
                      </m:dPr>
                      <m:e>
                        <m:sSub>
                          <m:sSubPr>
                            <m:ctrlPr>
                              <a:rPr lang="zh-CN" altLang="en-US" i="1"/>
                            </m:ctrlPr>
                          </m:sSubPr>
                          <m:e>
                            <m:r>
                              <a:rPr lang="zh-CN" altLang="en-US" i="1"/>
                              <m:t>𝑡</m:t>
                            </m:r>
                          </m:e>
                          <m:sub>
                            <m:r>
                              <a:rPr lang="en-US" altLang="zh-CN"/>
                              <m:t>3</m:t>
                            </m:r>
                          </m:sub>
                        </m:sSub>
                      </m:e>
                      <m:e>
                        <m:sSub>
                          <m:sSubPr>
                            <m:ctrlPr>
                              <a:rPr lang="zh-CN" altLang="en-US" i="1"/>
                            </m:ctrlPr>
                          </m:sSubPr>
                          <m:e>
                            <m:r>
                              <a:rPr lang="zh-CN" altLang="en-US" i="1"/>
                              <m:t>𝑥</m:t>
                            </m:r>
                          </m:e>
                          <m:sub>
                            <m:r>
                              <a:rPr lang="en-US" altLang="zh-CN"/>
                              <m:t>3</m:t>
                            </m:r>
                          </m:sub>
                        </m:sSub>
                      </m:e>
                    </m:d>
                    <m:r>
                      <a:rPr lang="en-US" altLang="zh-CN"/>
                      <m:t>,…</m:t>
                    </m:r>
                  </m:oMath>
                </a14:m>
                <a:endParaRPr lang="zh-CN" altLang="en-US" b="0" dirty="0"/>
              </a:p>
              <a:p>
                <a:pPr marL="0" indent="0">
                  <a:lnSpc>
                    <a:spcPct val="110000"/>
                  </a:lnSpc>
                  <a:buNone/>
                </a:pPr>
                <a:r>
                  <a:rPr lang="zh-CN" altLang="en-US" dirty="0"/>
                  <a:t>这里 </a:t>
                </a:r>
                <a14:m>
                  <m:oMath xmlns:m="http://schemas.openxmlformats.org/officeDocument/2006/math">
                    <m:sSub>
                      <m:sSubPr>
                        <m:ctrlPr>
                          <a:rPr lang="zh-CN" altLang="en-US"/>
                        </m:ctrlPr>
                      </m:sSubPr>
                      <m:e>
                        <m:r>
                          <a:rPr lang="zh-CN" altLang="en-US" i="1"/>
                          <m:t>𝑥</m:t>
                        </m:r>
                      </m:e>
                      <m:sub>
                        <m:r>
                          <a:rPr lang="zh-CN" altLang="en-US" i="1"/>
                          <m:t>𝑖</m:t>
                        </m:r>
                      </m:sub>
                    </m:sSub>
                  </m:oMath>
                </a14:m>
                <a:r>
                  <a:rPr lang="zh-CN" altLang="en-US" dirty="0"/>
                  <a:t>可能是血压、心率、血糖、体温等观测值。真实情况是：</a:t>
                </a:r>
                <a:r>
                  <a:rPr lang="zh-CN" altLang="en-US" dirty="0">
                    <a:solidFill>
                      <a:srgbClr val="C00000"/>
                    </a:solidFill>
                  </a:rPr>
                  <a:t>系统不是只在一开始接收一次输入，而是在后续时间中不断接收新观测</a:t>
                </a:r>
                <a:r>
                  <a:rPr lang="zh-CN" altLang="en-US" dirty="0"/>
                  <a:t>。</a:t>
                </a:r>
              </a:p>
              <a:p>
                <a:pPr marL="0" indent="0">
                  <a:lnSpc>
                    <a:spcPct val="110000"/>
                  </a:lnSpc>
                  <a:buNone/>
                </a:pPr>
                <a:endParaRPr lang="en-US" altLang="zh-CN" sz="400" dirty="0"/>
              </a:p>
              <a:p>
                <a:pPr marL="0" indent="0">
                  <a:lnSpc>
                    <a:spcPct val="110000"/>
                  </a:lnSpc>
                  <a:buNone/>
                </a:pPr>
                <a:r>
                  <a:rPr lang="zh-CN" altLang="en-US" dirty="0"/>
                  <a:t>普通 </a:t>
                </a:r>
                <a:r>
                  <a:rPr lang="en-US" altLang="zh-CN" dirty="0"/>
                  <a:t>Neural ODE </a:t>
                </a:r>
                <a:r>
                  <a:rPr lang="zh-CN" altLang="en-US" dirty="0"/>
                  <a:t>如果只用初始状态 </a:t>
                </a:r>
                <a14:m>
                  <m:oMath xmlns:m="http://schemas.openxmlformats.org/officeDocument/2006/math">
                    <m:r>
                      <a:rPr lang="zh-CN" altLang="en-US" i="1"/>
                      <m:t>𝑧</m:t>
                    </m:r>
                    <m:d>
                      <m:dPr>
                        <m:ctrlPr>
                          <a:rPr lang="zh-CN" altLang="en-US" i="1"/>
                        </m:ctrlPr>
                      </m:dPr>
                      <m:e>
                        <m:sSub>
                          <m:sSubPr>
                            <m:ctrlPr>
                              <a:rPr lang="zh-CN" altLang="en-US" i="1"/>
                            </m:ctrlPr>
                          </m:sSubPr>
                          <m:e>
                            <m:r>
                              <a:rPr lang="zh-CN" altLang="en-US" i="1"/>
                              <m:t>𝑡</m:t>
                            </m:r>
                          </m:e>
                          <m:sub>
                            <m:r>
                              <a:rPr lang="en-US" altLang="zh-CN"/>
                              <m:t>0</m:t>
                            </m:r>
                          </m:sub>
                        </m:sSub>
                      </m:e>
                    </m:d>
                  </m:oMath>
                </a14:m>
                <a:r>
                  <a:rPr lang="zh-CN" altLang="en-US" dirty="0"/>
                  <a:t>来决定后续轨迹，就缺少一种机制来让后面的观测 </a:t>
                </a:r>
                <a14:m>
                  <m:oMath xmlns:m="http://schemas.openxmlformats.org/officeDocument/2006/math">
                    <m:sSub>
                      <m:sSubPr>
                        <m:ctrlPr>
                          <a:rPr lang="zh-CN" altLang="en-US"/>
                        </m:ctrlPr>
                      </m:sSubPr>
                      <m:e>
                        <m:r>
                          <a:rPr lang="zh-CN" altLang="en-US" i="1"/>
                          <m:t>𝑥</m:t>
                        </m:r>
                      </m:e>
                      <m:sub>
                        <m:r>
                          <a:rPr lang="en-US" altLang="zh-CN"/>
                          <m:t>2</m:t>
                        </m:r>
                      </m:sub>
                    </m:sSub>
                    <m:r>
                      <a:rPr lang="en-US" altLang="zh-CN"/>
                      <m:t>,</m:t>
                    </m:r>
                    <m:sSub>
                      <m:sSubPr>
                        <m:ctrlPr>
                          <a:rPr lang="zh-CN" altLang="en-US" i="1"/>
                        </m:ctrlPr>
                      </m:sSubPr>
                      <m:e>
                        <m:r>
                          <a:rPr lang="zh-CN" altLang="en-US" i="1"/>
                          <m:t>𝑥</m:t>
                        </m:r>
                      </m:e>
                      <m:sub>
                        <m:r>
                          <a:rPr lang="en-US" altLang="zh-CN"/>
                          <m:t>3</m:t>
                        </m:r>
                      </m:sub>
                    </m:sSub>
                    <m:r>
                      <a:rPr lang="en-US" altLang="zh-CN"/>
                      <m:t>,…</m:t>
                    </m:r>
                  </m:oMath>
                </a14:m>
                <a:r>
                  <a:rPr lang="zh-CN" altLang="en-US" dirty="0"/>
                  <a:t>持续影响隐藏状态。</a:t>
                </a:r>
                <a:r>
                  <a:rPr lang="en-US" altLang="zh-CN" dirty="0"/>
                  <a:t>Kidger </a:t>
                </a:r>
                <a:r>
                  <a:rPr lang="zh-CN" altLang="en-US" dirty="0"/>
                  <a:t>等人在 </a:t>
                </a:r>
                <a:r>
                  <a:rPr lang="en-US" altLang="zh-CN" dirty="0"/>
                  <a:t>Neural CDE </a:t>
                </a:r>
                <a:r>
                  <a:rPr lang="zh-CN" altLang="en-US" dirty="0"/>
                  <a:t>论文中也明确指出，</a:t>
                </a:r>
                <a:r>
                  <a:rPr lang="en-US" altLang="zh-CN" dirty="0"/>
                  <a:t>Neural ODE </a:t>
                </a:r>
                <a:r>
                  <a:rPr lang="zh-CN" altLang="en-US" dirty="0"/>
                  <a:t>的解由初始条件决定，并没有机制根据后续观测调整轨迹；他们用 </a:t>
                </a:r>
                <a:r>
                  <a:rPr lang="en-US" altLang="zh-CN" dirty="0">
                    <a:solidFill>
                      <a:srgbClr val="7030A0"/>
                    </a:solidFill>
                  </a:rPr>
                  <a:t>controlled differential equations </a:t>
                </a:r>
                <a:r>
                  <a:rPr lang="zh-CN" altLang="en-US" dirty="0"/>
                  <a:t>解决这个问题。</a:t>
                </a:r>
                <a:endParaRPr lang="en-US" altLang="zh-CN" dirty="0"/>
              </a:p>
              <a:p>
                <a:pPr marL="0" indent="0">
                  <a:lnSpc>
                    <a:spcPct val="110000"/>
                  </a:lnSpc>
                  <a:buNone/>
                </a:pPr>
                <a:endParaRPr lang="zh-CN" altLang="en-US" sz="400" dirty="0"/>
              </a:p>
              <a:p>
                <a:pPr marL="0" indent="0">
                  <a:lnSpc>
                    <a:spcPct val="110000"/>
                  </a:lnSpc>
                  <a:buNone/>
                </a:pPr>
                <a:r>
                  <a:rPr lang="en-US" altLang="zh-CN" dirty="0"/>
                  <a:t>Neural ODE </a:t>
                </a:r>
                <a:r>
                  <a:rPr lang="zh-CN" altLang="en-US" dirty="0"/>
                  <a:t>研究“状态自己随时间演化”；</a:t>
                </a:r>
                <a:r>
                  <a:rPr lang="en-US" altLang="zh-CN" dirty="0"/>
                  <a:t>Neural CDE </a:t>
                </a:r>
                <a:r>
                  <a:rPr lang="zh-CN" altLang="en-US" dirty="0"/>
                  <a:t>研究“状态在外部观测信号驱动下演化”。两者都需要讨论微分方程解的良定义性，而不动点思想是理解存在唯一性的基础工具。</a:t>
                </a:r>
              </a:p>
              <a:p>
                <a:pPr marL="0" indent="0">
                  <a:lnSpc>
                    <a:spcPct val="110000"/>
                  </a:lnSpc>
                  <a:buNone/>
                </a:pPr>
                <a:br>
                  <a:rPr lang="zh-CN" altLang="en-US" dirty="0"/>
                </a:br>
                <a:endParaRPr lang="zh-CN" altLang="en-US" dirty="0"/>
              </a:p>
            </p:txBody>
          </p:sp>
        </mc:Choice>
        <mc:Fallback>
          <p:sp>
            <p:nvSpPr>
              <p:cNvPr id="12" name="コンテンツ プレースホルダー 2">
                <a:extLst>
                  <a:ext uri="{FF2B5EF4-FFF2-40B4-BE49-F238E27FC236}">
                    <a16:creationId xmlns:a16="http://schemas.microsoft.com/office/drawing/2014/main" id="{6DC23AF6-DC53-C7F4-0FDD-47A469685C92}"/>
                  </a:ext>
                </a:extLst>
              </p:cNvPr>
              <p:cNvSpPr>
                <a:spLocks noGrp="1" noRot="1" noChangeAspect="1" noMove="1" noResize="1" noEditPoints="1" noAdjustHandles="1" noChangeArrowheads="1" noChangeShapeType="1" noTextEdit="1"/>
              </p:cNvSpPr>
              <p:nvPr>
                <p:ph idx="1"/>
              </p:nvPr>
            </p:nvSpPr>
            <p:spPr>
              <a:xfrm>
                <a:off x="406400" y="1021080"/>
                <a:ext cx="11684000" cy="5440680"/>
              </a:xfrm>
              <a:blipFill>
                <a:blip r:embed="rId3"/>
                <a:stretch>
                  <a:fillRect l="-574" r="-522" b="-863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18095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6C904-5026-2ECC-6BE4-F6835FE3291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E58A208D-E0BD-5F87-AABD-64E6652548AE}"/>
              </a:ext>
            </a:extLst>
          </p:cNvPr>
          <p:cNvSpPr>
            <a:spLocks noGrp="1" noChangeArrowheads="1"/>
          </p:cNvSpPr>
          <p:nvPr>
            <p:ph type="title"/>
          </p:nvPr>
        </p:nvSpPr>
        <p:spPr/>
        <p:txBody>
          <a:bodyPr/>
          <a:lstStyle/>
          <a:p>
            <a:r>
              <a:rPr lang="zh-CN" altLang="en-US" b="1" dirty="0"/>
              <a:t>场景二：</a:t>
            </a:r>
            <a:r>
              <a:rPr lang="en-US" altLang="zh-CN" b="1" dirty="0"/>
              <a:t>Neural CDE </a:t>
            </a:r>
            <a:r>
              <a:rPr lang="zh-CN" altLang="en-US" b="1" dirty="0"/>
              <a:t>与不规则时间序列</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E66D0C3-885D-FCF8-CF22-EDE7EE36A8A0}"/>
                  </a:ext>
                </a:extLst>
              </p:cNvPr>
              <p:cNvSpPr>
                <a:spLocks noGrp="1"/>
              </p:cNvSpPr>
              <p:nvPr>
                <p:ph idx="1"/>
              </p:nvPr>
            </p:nvSpPr>
            <p:spPr>
              <a:xfrm>
                <a:off x="508000" y="1112520"/>
                <a:ext cx="11582400" cy="5440680"/>
              </a:xfrm>
            </p:spPr>
            <p:txBody>
              <a:bodyPr/>
              <a:lstStyle/>
              <a:p>
                <a:pPr marL="0" indent="0">
                  <a:lnSpc>
                    <a:spcPct val="120000"/>
                  </a:lnSpc>
                  <a:buNone/>
                </a:pPr>
                <a:r>
                  <a:rPr lang="en-US" altLang="zh-CN" dirty="0"/>
                  <a:t>Neural Controlled Differential Equations </a:t>
                </a:r>
                <a:r>
                  <a:rPr lang="zh-CN" altLang="en-US" dirty="0"/>
                  <a:t>用受控微分方程处理不规则采样、多变量、部分观测的时间序列。它的动机是：普通 </a:t>
                </a:r>
                <a:r>
                  <a:rPr lang="en-US" altLang="zh-CN" dirty="0"/>
                  <a:t>Neural ODE </a:t>
                </a:r>
                <a:r>
                  <a:rPr lang="zh-CN" altLang="en-US" dirty="0"/>
                  <a:t>的轨迹主要由初始条件决定，而真实时间序列会不断接收新的观测信号，因此需要 </a:t>
                </a:r>
                <a:r>
                  <a:rPr lang="en-US" altLang="zh-CN" dirty="0"/>
                  <a:t>controlled differential equation </a:t>
                </a:r>
                <a:r>
                  <a:rPr lang="zh-CN" altLang="en-US" dirty="0"/>
                  <a:t>来让轨迹受输入路径驱动。</a:t>
                </a:r>
                <a:endParaRPr lang="en-US" altLang="zh-CN" dirty="0"/>
              </a:p>
              <a:p>
                <a:pPr marL="0" indent="0">
                  <a:lnSpc>
                    <a:spcPct val="120000"/>
                  </a:lnSpc>
                  <a:buNone/>
                </a:pPr>
                <a:endParaRPr lang="en-US" altLang="zh-CN" dirty="0"/>
              </a:p>
              <a:p>
                <a:pPr marL="0" indent="0">
                  <a:lnSpc>
                    <a:spcPct val="120000"/>
                  </a:lnSpc>
                  <a:buNone/>
                </a:pPr>
                <a:r>
                  <a:rPr lang="en-US" altLang="ja-JP" dirty="0"/>
                  <a:t>Neural CDE </a:t>
                </a:r>
                <a:r>
                  <a:rPr lang="ja-JP" altLang="en-US" dirty="0"/>
                  <a:t>的基本形式是：</a:t>
                </a:r>
                <a14:m>
                  <m:oMath xmlns:m="http://schemas.openxmlformats.org/officeDocument/2006/math">
                    <m:r>
                      <a:rPr lang="ja-JP" altLang="en-US" i="1"/>
                      <m:t>𝑧</m:t>
                    </m:r>
                    <m:d>
                      <m:dPr>
                        <m:ctrlPr>
                          <a:rPr lang="ar-AE" altLang="ja-JP" i="1"/>
                        </m:ctrlPr>
                      </m:dPr>
                      <m:e>
                        <m:r>
                          <a:rPr lang="ja-JP" altLang="ar-AE" i="1"/>
                          <m:t>𝑡</m:t>
                        </m:r>
                      </m:e>
                    </m:d>
                    <m:r>
                      <a:rPr lang="ar-AE" altLang="ja-JP"/>
                      <m:t>=</m:t>
                    </m:r>
                    <m:r>
                      <a:rPr lang="ja-JP" altLang="ar-AE" i="1"/>
                      <m:t>𝑧</m:t>
                    </m:r>
                    <m:d>
                      <m:dPr>
                        <m:ctrlPr>
                          <a:rPr lang="ar-AE" altLang="ja-JP" i="1"/>
                        </m:ctrlPr>
                      </m:dPr>
                      <m:e>
                        <m:sSub>
                          <m:sSubPr>
                            <m:ctrlPr>
                              <a:rPr lang="ar-AE" altLang="ja-JP" i="1"/>
                            </m:ctrlPr>
                          </m:sSubPr>
                          <m:e>
                            <m:r>
                              <a:rPr lang="ja-JP" altLang="ar-AE" i="1"/>
                              <m:t>𝑡</m:t>
                            </m:r>
                          </m:e>
                          <m:sub>
                            <m:r>
                              <a:rPr lang="ar-AE" altLang="ja-JP"/>
                              <m:t>0</m:t>
                            </m:r>
                          </m:sub>
                        </m:sSub>
                      </m:e>
                    </m:d>
                    <m:r>
                      <a:rPr lang="ar-AE" altLang="ja-JP"/>
                      <m:t>+</m:t>
                    </m:r>
                    <m:nary>
                      <m:naryPr>
                        <m:grow m:val="on"/>
                        <m:ctrlPr>
                          <a:rPr lang="ar-AE" altLang="ja-JP" i="1"/>
                        </m:ctrlPr>
                      </m:naryPr>
                      <m:sub>
                        <m:sSub>
                          <m:sSubPr>
                            <m:ctrlPr>
                              <a:rPr lang="ar-AE" altLang="ja-JP" i="1"/>
                            </m:ctrlPr>
                          </m:sSubPr>
                          <m:e>
                            <m:r>
                              <a:rPr lang="ja-JP" altLang="ar-AE" i="1"/>
                              <m:t>𝑡</m:t>
                            </m:r>
                          </m:e>
                          <m:sub>
                            <m:r>
                              <a:rPr lang="ar-AE" altLang="ja-JP"/>
                              <m:t>0</m:t>
                            </m:r>
                          </m:sub>
                        </m:sSub>
                      </m:sub>
                      <m:sup>
                        <m:r>
                          <a:rPr lang="ja-JP" altLang="ar-AE" i="1"/>
                          <m:t>𝑡</m:t>
                        </m:r>
                      </m:sup>
                      <m:e>
                        <m:sSub>
                          <m:sSubPr>
                            <m:ctrlPr>
                              <a:rPr lang="ar-AE" altLang="ja-JP" i="1"/>
                            </m:ctrlPr>
                          </m:sSubPr>
                          <m:e>
                            <m:r>
                              <a:rPr lang="ja-JP" altLang="ar-AE" i="1"/>
                              <m:t>𝑓</m:t>
                            </m:r>
                          </m:e>
                          <m:sub>
                            <m:r>
                              <a:rPr lang="ja-JP" altLang="ar-AE" i="1"/>
                              <m:t>𝜃</m:t>
                            </m:r>
                          </m:sub>
                        </m:sSub>
                      </m:e>
                    </m:nary>
                    <m:d>
                      <m:dPr>
                        <m:ctrlPr>
                          <a:rPr lang="ar-AE" altLang="ja-JP" i="1"/>
                        </m:ctrlPr>
                      </m:dPr>
                      <m:e>
                        <m:r>
                          <a:rPr lang="ja-JP" altLang="ar-AE" i="1"/>
                          <m:t>𝑧</m:t>
                        </m:r>
                        <m:d>
                          <m:dPr>
                            <m:ctrlPr>
                              <a:rPr lang="ar-AE" altLang="ja-JP" i="1"/>
                            </m:ctrlPr>
                          </m:dPr>
                          <m:e>
                            <m:r>
                              <a:rPr lang="ja-JP" altLang="ar-AE" i="1"/>
                              <m:t>𝑠</m:t>
                            </m:r>
                          </m:e>
                        </m:d>
                      </m:e>
                    </m:d>
                    <m:r>
                      <m:rPr>
                        <m:nor/>
                      </m:rPr>
                      <a:rPr lang="ar-AE" altLang="ja-JP" i="1"/>
                      <m:t> </m:t>
                    </m:r>
                    <m:r>
                      <a:rPr lang="ja-JP" altLang="ar-AE" i="1"/>
                      <m:t>𝑑𝑋</m:t>
                    </m:r>
                    <m:d>
                      <m:dPr>
                        <m:ctrlPr>
                          <a:rPr lang="ar-AE" altLang="ja-JP" i="1"/>
                        </m:ctrlPr>
                      </m:dPr>
                      <m:e>
                        <m:r>
                          <a:rPr lang="ja-JP" altLang="ar-AE" i="1"/>
                          <m:t>𝑠</m:t>
                        </m:r>
                      </m:e>
                    </m:d>
                    <m:r>
                      <a:rPr lang="ar-AE" altLang="ja-JP"/>
                      <m:t>.</m:t>
                    </m:r>
                  </m:oMath>
                </a14:m>
                <a:endParaRPr lang="ar-AE" altLang="ja-JP" b="0" dirty="0"/>
              </a:p>
              <a:p>
                <a:pPr>
                  <a:lnSpc>
                    <a:spcPct val="120000"/>
                  </a:lnSpc>
                </a:pPr>
                <a:r>
                  <a:rPr lang="ja-JP" altLang="en-US" dirty="0"/>
                  <a:t>或者写成微分形式：</a:t>
                </a:r>
              </a:p>
              <a:p>
                <a:pPr marL="0" indent="0">
                  <a:lnSpc>
                    <a:spcPct val="120000"/>
                  </a:lnSpc>
                  <a:buNone/>
                </a:pPr>
                <a14:m>
                  <m:oMathPara xmlns:m="http://schemas.openxmlformats.org/officeDocument/2006/math">
                    <m:oMathParaPr>
                      <m:jc m:val="centerGroup"/>
                    </m:oMathParaPr>
                    <m:oMath xmlns:m="http://schemas.openxmlformats.org/officeDocument/2006/math">
                      <m:r>
                        <a:rPr lang="ja-JP" altLang="en-US" i="1"/>
                        <m:t>𝑑𝑧</m:t>
                      </m:r>
                      <m:d>
                        <m:dPr>
                          <m:ctrlPr>
                            <a:rPr lang="ar-AE" altLang="ja-JP" i="1"/>
                          </m:ctrlPr>
                        </m:dPr>
                        <m:e>
                          <m:r>
                            <a:rPr lang="ja-JP" altLang="ar-AE" i="1"/>
                            <m:t>𝑡</m:t>
                          </m:r>
                        </m:e>
                      </m:d>
                      <m:r>
                        <a:rPr lang="ar-AE" altLang="ja-JP"/>
                        <m:t>=</m:t>
                      </m:r>
                      <m:sSub>
                        <m:sSubPr>
                          <m:ctrlPr>
                            <a:rPr lang="ar-AE" altLang="ja-JP" i="1"/>
                          </m:ctrlPr>
                        </m:sSubPr>
                        <m:e>
                          <m:r>
                            <a:rPr lang="ja-JP" altLang="ar-AE" i="1"/>
                            <m:t>𝑓</m:t>
                          </m:r>
                        </m:e>
                        <m:sub>
                          <m:r>
                            <a:rPr lang="ja-JP" altLang="ar-AE" i="1"/>
                            <m:t>𝜃</m:t>
                          </m:r>
                        </m:sub>
                      </m:sSub>
                      <m:d>
                        <m:dPr>
                          <m:ctrlPr>
                            <a:rPr lang="ar-AE" altLang="ja-JP" i="1"/>
                          </m:ctrlPr>
                        </m:dPr>
                        <m:e>
                          <m:r>
                            <a:rPr lang="ja-JP" altLang="ar-AE" i="1"/>
                            <m:t>𝑧</m:t>
                          </m:r>
                          <m:d>
                            <m:dPr>
                              <m:ctrlPr>
                                <a:rPr lang="ar-AE" altLang="ja-JP" i="1"/>
                              </m:ctrlPr>
                            </m:dPr>
                            <m:e>
                              <m:r>
                                <a:rPr lang="ja-JP" altLang="ar-AE" i="1"/>
                                <m:t>𝑡</m:t>
                              </m:r>
                            </m:e>
                          </m:d>
                        </m:e>
                      </m:d>
                      <m:r>
                        <m:rPr>
                          <m:nor/>
                        </m:rPr>
                        <a:rPr lang="ar-AE" altLang="ja-JP" i="1"/>
                        <m:t> </m:t>
                      </m:r>
                      <m:r>
                        <a:rPr lang="ja-JP" altLang="ar-AE" i="1"/>
                        <m:t>𝑑𝑋</m:t>
                      </m:r>
                      <m:d>
                        <m:dPr>
                          <m:ctrlPr>
                            <a:rPr lang="ar-AE" altLang="ja-JP" i="1"/>
                          </m:ctrlPr>
                        </m:dPr>
                        <m:e>
                          <m:r>
                            <a:rPr lang="ja-JP" altLang="ar-AE" i="1"/>
                            <m:t>𝑡</m:t>
                          </m:r>
                        </m:e>
                      </m:d>
                      <m:r>
                        <a:rPr lang="ar-AE" altLang="ja-JP"/>
                        <m:t>.</m:t>
                      </m:r>
                    </m:oMath>
                  </m:oMathPara>
                </a14:m>
                <a:endParaRPr lang="ar-AE" altLang="ja-JP" b="0" dirty="0"/>
              </a:p>
              <a:p>
                <a:pPr marL="0" indent="0">
                  <a:lnSpc>
                    <a:spcPct val="120000"/>
                  </a:lnSpc>
                  <a:buNone/>
                </a:pPr>
                <a:r>
                  <a:rPr lang="ja-JP" altLang="en-US" dirty="0"/>
                  <a:t>这里最重要的是多了一个东西：</a:t>
                </a:r>
                <a14:m>
                  <m:oMath xmlns:m="http://schemas.openxmlformats.org/officeDocument/2006/math">
                    <m:r>
                      <a:rPr lang="ja-JP" altLang="en-US" i="1"/>
                      <m:t>𝑋</m:t>
                    </m:r>
                    <m:d>
                      <m:dPr>
                        <m:ctrlPr>
                          <a:rPr lang="ar-AE" altLang="ja-JP" i="1"/>
                        </m:ctrlPr>
                      </m:dPr>
                      <m:e>
                        <m:r>
                          <a:rPr lang="ja-JP" altLang="ar-AE" i="1"/>
                          <m:t>𝑡</m:t>
                        </m:r>
                      </m:e>
                    </m:d>
                    <m:r>
                      <a:rPr lang="ar-AE" altLang="ja-JP"/>
                      <m:t>.</m:t>
                    </m:r>
                  </m:oMath>
                </a14:m>
                <a:r>
                  <a:rPr lang="ar-AE" altLang="ja-JP" dirty="0"/>
                  <a:t> </a:t>
                </a:r>
                <a:r>
                  <a:rPr lang="ja-JP" altLang="en-US" dirty="0"/>
                  <a:t>由原始时间序列数据构造出来的</a:t>
                </a:r>
                <a:r>
                  <a:rPr lang="ja-JP" altLang="en-US" b="1" dirty="0"/>
                  <a:t>连续输入路径</a:t>
                </a:r>
                <a:r>
                  <a:rPr lang="ja-JP" altLang="en-US" dirty="0"/>
                  <a:t>。</a:t>
                </a:r>
              </a:p>
              <a:p>
                <a:pPr marL="0" indent="0">
                  <a:lnSpc>
                    <a:spcPct val="120000"/>
                  </a:lnSpc>
                  <a:buNone/>
                </a:pPr>
                <a:endParaRPr lang="en-US" altLang="ja-JP" dirty="0"/>
              </a:p>
              <a:p>
                <a:pPr marL="0" indent="0">
                  <a:lnSpc>
                    <a:spcPct val="120000"/>
                  </a:lnSpc>
                  <a:buNone/>
                </a:pPr>
                <a:r>
                  <a:rPr lang="ja-JP" altLang="en-US" dirty="0"/>
                  <a:t> </a:t>
                </a:r>
                <a:r>
                  <a:rPr lang="en-US" altLang="ja-JP" dirty="0"/>
                  <a:t>Neural CDE </a:t>
                </a:r>
                <a:r>
                  <a:rPr lang="ja-JP" altLang="en-US" dirty="0"/>
                  <a:t>的思想是：</a:t>
                </a:r>
              </a:p>
              <a:p>
                <a:pPr>
                  <a:lnSpc>
                    <a:spcPct val="120000"/>
                  </a:lnSpc>
                </a:pPr>
                <a:r>
                  <a:rPr lang="ja-JP" altLang="en-US" dirty="0"/>
                  <a:t>不是只让隐藏状态 </a:t>
                </a:r>
                <a14:m>
                  <m:oMath xmlns:m="http://schemas.openxmlformats.org/officeDocument/2006/math">
                    <m:r>
                      <a:rPr lang="ja-JP" altLang="en-US" i="1"/>
                      <m:t>𝑧</m:t>
                    </m:r>
                    <m:d>
                      <m:dPr>
                        <m:ctrlPr>
                          <a:rPr lang="ar-AE" altLang="ja-JP" i="1"/>
                        </m:ctrlPr>
                      </m:dPr>
                      <m:e>
                        <m:r>
                          <a:rPr lang="ja-JP" altLang="ar-AE" i="1"/>
                          <m:t>𝑡</m:t>
                        </m:r>
                      </m:e>
                    </m:d>
                  </m:oMath>
                </a14:m>
                <a:r>
                  <a:rPr lang="ja-JP" altLang="en-US" dirty="0"/>
                  <a:t>自己演化，而是让它被输入路径 </a:t>
                </a:r>
                <a14:m>
                  <m:oMath xmlns:m="http://schemas.openxmlformats.org/officeDocument/2006/math">
                    <m:r>
                      <a:rPr lang="ja-JP" altLang="en-US" i="1"/>
                      <m:t>𝑋</m:t>
                    </m:r>
                    <m:d>
                      <m:dPr>
                        <m:ctrlPr>
                          <a:rPr lang="ar-AE" altLang="ja-JP" i="1"/>
                        </m:ctrlPr>
                      </m:dPr>
                      <m:e>
                        <m:r>
                          <a:rPr lang="ja-JP" altLang="ar-AE" i="1"/>
                          <m:t>𝑡</m:t>
                        </m:r>
                      </m:e>
                    </m:d>
                  </m:oMath>
                </a14:m>
                <a:r>
                  <a:rPr lang="ja-JP" altLang="en-US" dirty="0"/>
                  <a:t>持续驱动。</a:t>
                </a:r>
              </a:p>
              <a:p>
                <a:pPr>
                  <a:lnSpc>
                    <a:spcPct val="120000"/>
                  </a:lnSpc>
                </a:pPr>
                <a:r>
                  <a:rPr lang="ja-JP" altLang="en-US" dirty="0"/>
                  <a:t>这就是“</a:t>
                </a:r>
                <a:r>
                  <a:rPr lang="en-US" altLang="ja-JP" dirty="0"/>
                  <a:t>controlled”</a:t>
                </a:r>
                <a:r>
                  <a:rPr lang="ja-JP" altLang="en-US" dirty="0"/>
                  <a:t>的意思。这里的 </a:t>
                </a:r>
                <a:r>
                  <a:rPr lang="en-US" altLang="ja-JP" dirty="0"/>
                  <a:t>control </a:t>
                </a:r>
                <a:r>
                  <a:rPr lang="ja-JP" altLang="en-US" dirty="0"/>
                  <a:t>不是说模型主动控制外部世界，而是说隐藏状态的变化由外部输入路径 </a:t>
                </a:r>
                <a14:m>
                  <m:oMath xmlns:m="http://schemas.openxmlformats.org/officeDocument/2006/math">
                    <m:r>
                      <a:rPr lang="ja-JP" altLang="en-US" i="1"/>
                      <m:t>𝑋</m:t>
                    </m:r>
                    <m:d>
                      <m:dPr>
                        <m:ctrlPr>
                          <a:rPr lang="ar-AE" altLang="ja-JP" i="1"/>
                        </m:ctrlPr>
                      </m:dPr>
                      <m:e>
                        <m:r>
                          <a:rPr lang="ja-JP" altLang="ar-AE" i="1"/>
                          <m:t>𝑡</m:t>
                        </m:r>
                      </m:e>
                    </m:d>
                  </m:oMath>
                </a14:m>
                <a:r>
                  <a:rPr lang="ja-JP" altLang="en-US" dirty="0"/>
                  <a:t>来驱动。</a:t>
                </a:r>
              </a:p>
            </p:txBody>
          </p:sp>
        </mc:Choice>
        <mc:Fallback>
          <p:sp>
            <p:nvSpPr>
              <p:cNvPr id="12" name="コンテンツ プレースホルダー 2">
                <a:extLst>
                  <a:ext uri="{FF2B5EF4-FFF2-40B4-BE49-F238E27FC236}">
                    <a16:creationId xmlns:a16="http://schemas.microsoft.com/office/drawing/2014/main" id="{9E66D0C3-885D-FCF8-CF22-EDE7EE36A8A0}"/>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448" b="-358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94421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98EB0-18FB-0331-B7D0-95A534BC49C0}"/>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5E49A04-C06E-0C69-52F3-E58A172D4785}"/>
              </a:ext>
            </a:extLst>
          </p:cNvPr>
          <p:cNvSpPr>
            <a:spLocks noGrp="1" noChangeArrowheads="1"/>
          </p:cNvSpPr>
          <p:nvPr>
            <p:ph type="title"/>
          </p:nvPr>
        </p:nvSpPr>
        <p:spPr/>
        <p:txBody>
          <a:bodyPr/>
          <a:lstStyle/>
          <a:p>
            <a:r>
              <a:rPr lang="zh-CN" altLang="en-US" b="1" dirty="0"/>
              <a:t>场景二：</a:t>
            </a:r>
            <a:r>
              <a:rPr lang="en-US" altLang="zh-CN" b="1" dirty="0"/>
              <a:t>Neural CDE </a:t>
            </a:r>
            <a:r>
              <a:rPr lang="zh-CN" altLang="en-US" b="1" dirty="0"/>
              <a:t>与不规则时间序列</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2C62418A-897C-C0D7-8216-06A7D0D17202}"/>
                  </a:ext>
                </a:extLst>
              </p:cNvPr>
              <p:cNvSpPr>
                <a:spLocks noGrp="1"/>
              </p:cNvSpPr>
              <p:nvPr>
                <p:ph idx="1"/>
              </p:nvPr>
            </p:nvSpPr>
            <p:spPr>
              <a:xfrm>
                <a:off x="436880" y="1112520"/>
                <a:ext cx="11582400" cy="5440680"/>
              </a:xfrm>
            </p:spPr>
            <p:txBody>
              <a:bodyPr/>
              <a:lstStyle/>
              <a:p>
                <a:pPr marL="0" indent="0">
                  <a:lnSpc>
                    <a:spcPct val="110000"/>
                  </a:lnSpc>
                  <a:buNone/>
                </a:pPr>
                <a:r>
                  <a:rPr lang="zh-CN" altLang="en-US" dirty="0"/>
                  <a:t>为什么需要输入路径 </a:t>
                </a:r>
                <a14:m>
                  <m:oMath xmlns:m="http://schemas.openxmlformats.org/officeDocument/2006/math">
                    <m:r>
                      <a:rPr lang="zh-CN" altLang="en-US" i="1"/>
                      <m:t>𝑋</m:t>
                    </m:r>
                    <m:d>
                      <m:dPr>
                        <m:ctrlPr>
                          <a:rPr lang="zh-CN" altLang="en-US" i="1"/>
                        </m:ctrlPr>
                      </m:dPr>
                      <m:e>
                        <m:r>
                          <a:rPr lang="zh-CN" altLang="en-US" i="1"/>
                          <m:t>𝑡</m:t>
                        </m:r>
                      </m:e>
                    </m:d>
                  </m:oMath>
                </a14:m>
                <a:r>
                  <a:rPr lang="zh-CN" altLang="en-US" dirty="0"/>
                  <a:t>？</a:t>
                </a:r>
                <a:endParaRPr lang="en-US" altLang="zh-CN" dirty="0"/>
              </a:p>
              <a:p>
                <a:pPr marL="0" indent="0">
                  <a:lnSpc>
                    <a:spcPct val="110000"/>
                  </a:lnSpc>
                  <a:buNone/>
                </a:pPr>
                <a:r>
                  <a:rPr lang="ja-JP" altLang="en-US" dirty="0"/>
                  <a:t>真实时间序列通常是离散观测的，例如：</a:t>
                </a:r>
                <a14:m>
                  <m:oMath xmlns:m="http://schemas.openxmlformats.org/officeDocument/2006/math">
                    <m:d>
                      <m:dPr>
                        <m:sepChr m:val=","/>
                        <m:ctrlPr>
                          <a:rPr lang="ar-AE" altLang="ja-JP"/>
                        </m:ctrlPr>
                      </m:dPr>
                      <m:e>
                        <m:sSub>
                          <m:sSubPr>
                            <m:ctrlPr>
                              <a:rPr lang="ar-AE" altLang="ja-JP" i="1"/>
                            </m:ctrlPr>
                          </m:sSubPr>
                          <m:e>
                            <m:r>
                              <a:rPr lang="ja-JP" altLang="ar-AE" i="1"/>
                              <m:t>𝑡</m:t>
                            </m:r>
                          </m:e>
                          <m:sub>
                            <m:r>
                              <a:rPr lang="ar-AE" altLang="ja-JP"/>
                              <m:t>0</m:t>
                            </m:r>
                          </m:sub>
                        </m:sSub>
                      </m:e>
                      <m:e>
                        <m:sSub>
                          <m:sSubPr>
                            <m:ctrlPr>
                              <a:rPr lang="ar-AE" altLang="ja-JP" i="1"/>
                            </m:ctrlPr>
                          </m:sSubPr>
                          <m:e>
                            <m:r>
                              <a:rPr lang="ja-JP" altLang="ar-AE" i="1"/>
                              <m:t>𝑥</m:t>
                            </m:r>
                          </m:e>
                          <m:sub>
                            <m:r>
                              <a:rPr lang="ar-AE" altLang="ja-JP"/>
                              <m:t>0</m:t>
                            </m:r>
                          </m:sub>
                        </m:sSub>
                      </m:e>
                    </m:d>
                    <m:r>
                      <a:rPr lang="ar-AE" altLang="ja-JP"/>
                      <m:t>,</m:t>
                    </m:r>
                    <m:r>
                      <m:rPr>
                        <m:nor/>
                      </m:rPr>
                      <a:rPr lang="ar-AE" altLang="ja-JP" i="1"/>
                      <m:t> </m:t>
                    </m:r>
                    <m:d>
                      <m:dPr>
                        <m:sepChr m:val=","/>
                        <m:ctrlPr>
                          <a:rPr lang="ar-AE" altLang="ja-JP" i="1"/>
                        </m:ctrlPr>
                      </m:dPr>
                      <m:e>
                        <m:sSub>
                          <m:sSubPr>
                            <m:ctrlPr>
                              <a:rPr lang="ar-AE" altLang="ja-JP" i="1"/>
                            </m:ctrlPr>
                          </m:sSubPr>
                          <m:e>
                            <m:r>
                              <a:rPr lang="ja-JP" altLang="ar-AE" i="1"/>
                              <m:t>𝑡</m:t>
                            </m:r>
                          </m:e>
                          <m:sub>
                            <m:r>
                              <a:rPr lang="ar-AE" altLang="ja-JP"/>
                              <m:t>1</m:t>
                            </m:r>
                          </m:sub>
                        </m:sSub>
                      </m:e>
                      <m:e>
                        <m:sSub>
                          <m:sSubPr>
                            <m:ctrlPr>
                              <a:rPr lang="ar-AE" altLang="ja-JP" i="1"/>
                            </m:ctrlPr>
                          </m:sSubPr>
                          <m:e>
                            <m:r>
                              <a:rPr lang="ja-JP" altLang="ar-AE" i="1"/>
                              <m:t>𝑥</m:t>
                            </m:r>
                          </m:e>
                          <m:sub>
                            <m:r>
                              <a:rPr lang="ar-AE" altLang="ja-JP"/>
                              <m:t>1</m:t>
                            </m:r>
                          </m:sub>
                        </m:sSub>
                      </m:e>
                    </m:d>
                    <m:r>
                      <a:rPr lang="ar-AE" altLang="ja-JP"/>
                      <m:t>,</m:t>
                    </m:r>
                    <m:r>
                      <m:rPr>
                        <m:nor/>
                      </m:rPr>
                      <a:rPr lang="ar-AE" altLang="ja-JP" i="1"/>
                      <m:t> </m:t>
                    </m:r>
                    <m:d>
                      <m:dPr>
                        <m:sepChr m:val=","/>
                        <m:ctrlPr>
                          <a:rPr lang="ar-AE" altLang="ja-JP" i="1"/>
                        </m:ctrlPr>
                      </m:dPr>
                      <m:e>
                        <m:sSub>
                          <m:sSubPr>
                            <m:ctrlPr>
                              <a:rPr lang="ar-AE" altLang="ja-JP" i="1"/>
                            </m:ctrlPr>
                          </m:sSubPr>
                          <m:e>
                            <m:r>
                              <a:rPr lang="ja-JP" altLang="ar-AE" i="1"/>
                              <m:t>𝑡</m:t>
                            </m:r>
                          </m:e>
                          <m:sub>
                            <m:r>
                              <a:rPr lang="ar-AE" altLang="ja-JP"/>
                              <m:t>2</m:t>
                            </m:r>
                          </m:sub>
                        </m:sSub>
                      </m:e>
                      <m:e>
                        <m:sSub>
                          <m:sSubPr>
                            <m:ctrlPr>
                              <a:rPr lang="ar-AE" altLang="ja-JP" i="1"/>
                            </m:ctrlPr>
                          </m:sSubPr>
                          <m:e>
                            <m:r>
                              <a:rPr lang="ja-JP" altLang="ar-AE" i="1"/>
                              <m:t>𝑥</m:t>
                            </m:r>
                          </m:e>
                          <m:sub>
                            <m:r>
                              <a:rPr lang="ar-AE" altLang="ja-JP"/>
                              <m:t>2</m:t>
                            </m:r>
                          </m:sub>
                        </m:sSub>
                      </m:e>
                    </m:d>
                    <m:r>
                      <a:rPr lang="ar-AE" altLang="ja-JP"/>
                      <m:t>,…,</m:t>
                    </m:r>
                    <m:d>
                      <m:dPr>
                        <m:sepChr m:val=","/>
                        <m:ctrlPr>
                          <a:rPr lang="ar-AE" altLang="ja-JP" i="1"/>
                        </m:ctrlPr>
                      </m:dPr>
                      <m:e>
                        <m:sSub>
                          <m:sSubPr>
                            <m:ctrlPr>
                              <a:rPr lang="ar-AE" altLang="ja-JP" i="1"/>
                            </m:ctrlPr>
                          </m:sSubPr>
                          <m:e>
                            <m:r>
                              <a:rPr lang="ja-JP" altLang="ar-AE" i="1"/>
                              <m:t>𝑡</m:t>
                            </m:r>
                          </m:e>
                          <m:sub>
                            <m:r>
                              <a:rPr lang="ja-JP" altLang="ar-AE" i="1"/>
                              <m:t>𝑛</m:t>
                            </m:r>
                          </m:sub>
                        </m:sSub>
                      </m:e>
                      <m:e>
                        <m:sSub>
                          <m:sSubPr>
                            <m:ctrlPr>
                              <a:rPr lang="ar-AE" altLang="ja-JP" i="1"/>
                            </m:ctrlPr>
                          </m:sSubPr>
                          <m:e>
                            <m:r>
                              <a:rPr lang="ja-JP" altLang="ar-AE" i="1"/>
                              <m:t>𝑥</m:t>
                            </m:r>
                          </m:e>
                          <m:sub>
                            <m:r>
                              <a:rPr lang="ja-JP" altLang="ar-AE" i="1"/>
                              <m:t>𝑛</m:t>
                            </m:r>
                          </m:sub>
                        </m:sSub>
                      </m:e>
                    </m:d>
                    <m:r>
                      <a:rPr lang="ar-AE" altLang="ja-JP"/>
                      <m:t>.</m:t>
                    </m:r>
                  </m:oMath>
                </a14:m>
                <a:endParaRPr lang="ar-AE" altLang="ja-JP" b="0" dirty="0"/>
              </a:p>
              <a:p>
                <a:pPr>
                  <a:lnSpc>
                    <a:spcPct val="110000"/>
                  </a:lnSpc>
                </a:pPr>
                <a:r>
                  <a:rPr lang="ja-JP" altLang="en-US" dirty="0"/>
                  <a:t>但是微分方程需要连续时间上的对象。因此 </a:t>
                </a:r>
                <a:r>
                  <a:rPr lang="en-US" altLang="ja-JP" dirty="0"/>
                  <a:t>Neural CDE </a:t>
                </a:r>
                <a:r>
                  <a:rPr lang="ja-JP" altLang="en-US" dirty="0"/>
                  <a:t>先把这些离散观测点变成一条连续曲线：</a:t>
                </a:r>
              </a:p>
              <a:p>
                <a:pPr marL="0" indent="0">
                  <a:lnSpc>
                    <a:spcPct val="110000"/>
                  </a:lnSpc>
                  <a:buNone/>
                </a:pPr>
                <a14:m>
                  <m:oMathPara xmlns:m="http://schemas.openxmlformats.org/officeDocument/2006/math">
                    <m:oMathParaPr>
                      <m:jc m:val="centerGroup"/>
                    </m:oMathParaPr>
                    <m:oMath xmlns:m="http://schemas.openxmlformats.org/officeDocument/2006/math">
                      <m:r>
                        <a:rPr lang="ja-JP" altLang="en-US" i="1"/>
                        <m:t>𝑋</m:t>
                      </m:r>
                      <m:r>
                        <a:rPr lang="en-US" altLang="ja-JP"/>
                        <m:t>:</m:t>
                      </m:r>
                      <m:d>
                        <m:dPr>
                          <m:begChr m:val="["/>
                          <m:endChr m:val="]"/>
                          <m:sepChr m:val=","/>
                          <m:ctrlPr>
                            <a:rPr lang="ar-AE" altLang="ja-JP" i="1"/>
                          </m:ctrlPr>
                        </m:dPr>
                        <m:e>
                          <m:sSub>
                            <m:sSubPr>
                              <m:ctrlPr>
                                <a:rPr lang="ar-AE" altLang="ja-JP" i="1"/>
                              </m:ctrlPr>
                            </m:sSubPr>
                            <m:e>
                              <m:r>
                                <a:rPr lang="ja-JP" altLang="ar-AE" i="1"/>
                                <m:t>𝑡</m:t>
                              </m:r>
                            </m:e>
                            <m:sub>
                              <m:r>
                                <a:rPr lang="ar-AE" altLang="ja-JP"/>
                                <m:t>0</m:t>
                              </m:r>
                            </m:sub>
                          </m:sSub>
                        </m:e>
                        <m:e>
                          <m:sSub>
                            <m:sSubPr>
                              <m:ctrlPr>
                                <a:rPr lang="ar-AE" altLang="ja-JP" i="1"/>
                              </m:ctrlPr>
                            </m:sSubPr>
                            <m:e>
                              <m:r>
                                <a:rPr lang="ja-JP" altLang="ar-AE" i="1"/>
                                <m:t>𝑡</m:t>
                              </m:r>
                            </m:e>
                            <m:sub>
                              <m:r>
                                <a:rPr lang="ja-JP" altLang="ar-AE" i="1"/>
                                <m:t>𝑛</m:t>
                              </m:r>
                            </m:sub>
                          </m:sSub>
                        </m:e>
                      </m:d>
                      <m:r>
                        <a:rPr lang="ar-AE" altLang="ja-JP"/>
                        <m:t>→</m:t>
                      </m:r>
                      <m:sSup>
                        <m:sSupPr>
                          <m:ctrlPr>
                            <a:rPr lang="ar-AE" altLang="ja-JP" i="1"/>
                          </m:ctrlPr>
                        </m:sSupPr>
                        <m:e>
                          <m:r>
                            <a:rPr lang="ar-AE" altLang="ja-JP"/>
                            <m:t>ℝ</m:t>
                          </m:r>
                        </m:e>
                        <m:sup>
                          <m:r>
                            <a:rPr lang="ja-JP" altLang="ar-AE" i="1"/>
                            <m:t>𝑣</m:t>
                          </m:r>
                        </m:sup>
                      </m:sSup>
                      <m:r>
                        <a:rPr lang="ar-AE" altLang="ja-JP"/>
                        <m:t>.</m:t>
                      </m:r>
                    </m:oMath>
                  </m:oMathPara>
                </a14:m>
                <a:endParaRPr lang="ar-AE" altLang="ja-JP" dirty="0"/>
              </a:p>
              <a:p>
                <a:pPr>
                  <a:lnSpc>
                    <a:spcPct val="110000"/>
                  </a:lnSpc>
                </a:pPr>
                <a:r>
                  <a:rPr lang="ja-JP" altLang="en-US" dirty="0"/>
                  <a:t>例如可以用线性插值、三次样条插值等方法，把离散数据连接成连续路径。</a:t>
                </a:r>
                <a:r>
                  <a:rPr lang="en-US" altLang="ja-JP" dirty="0"/>
                  <a:t>Neural CDE </a:t>
                </a:r>
                <a:r>
                  <a:rPr lang="ja-JP" altLang="en-US" dirty="0"/>
                  <a:t>论文将这个模型用于不规则采样、部分观测、多变量时间序列，并强调连续时间理论可以把“</a:t>
                </a:r>
                <a:r>
                  <a:rPr lang="en-US" altLang="ja-JP" dirty="0"/>
                  <a:t>messy time series”</a:t>
                </a:r>
                <a:r>
                  <a:rPr lang="ja-JP" altLang="en-US" dirty="0"/>
                  <a:t>的处理转移到插值路径上。</a:t>
                </a:r>
              </a:p>
              <a:p>
                <a:pPr marL="0" indent="0">
                  <a:lnSpc>
                    <a:spcPct val="110000"/>
                  </a:lnSpc>
                  <a:buNone/>
                </a:pPr>
                <a:endParaRPr lang="en-US" altLang="ja-JP" dirty="0"/>
              </a:p>
              <a:p>
                <a:pPr marL="0" indent="0">
                  <a:lnSpc>
                    <a:spcPct val="110000"/>
                  </a:lnSpc>
                  <a:buNone/>
                </a:pPr>
                <a:r>
                  <a:rPr lang="ja-JP" altLang="en-US" dirty="0"/>
                  <a:t>直观上：原始数据是一些散点：</a:t>
                </a:r>
                <a14:m>
                  <m:oMath xmlns:m="http://schemas.openxmlformats.org/officeDocument/2006/math">
                    <m:d>
                      <m:dPr>
                        <m:sepChr m:val=","/>
                        <m:ctrlPr>
                          <a:rPr lang="ar-AE" altLang="ja-JP"/>
                        </m:ctrlPr>
                      </m:dPr>
                      <m:e>
                        <m:sSub>
                          <m:sSubPr>
                            <m:ctrlPr>
                              <a:rPr lang="ar-AE" altLang="ja-JP" i="1"/>
                            </m:ctrlPr>
                          </m:sSubPr>
                          <m:e>
                            <m:r>
                              <a:rPr lang="ja-JP" altLang="ar-AE" i="1"/>
                              <m:t>𝑡</m:t>
                            </m:r>
                          </m:e>
                          <m:sub>
                            <m:r>
                              <a:rPr lang="ar-AE" altLang="ja-JP"/>
                              <m:t>0</m:t>
                            </m:r>
                          </m:sub>
                        </m:sSub>
                      </m:e>
                      <m:e>
                        <m:sSub>
                          <m:sSubPr>
                            <m:ctrlPr>
                              <a:rPr lang="ar-AE" altLang="ja-JP" i="1"/>
                            </m:ctrlPr>
                          </m:sSubPr>
                          <m:e>
                            <m:r>
                              <a:rPr lang="ja-JP" altLang="ar-AE" i="1"/>
                              <m:t>𝑥</m:t>
                            </m:r>
                          </m:e>
                          <m:sub>
                            <m:r>
                              <a:rPr lang="ar-AE" altLang="ja-JP"/>
                              <m:t>0</m:t>
                            </m:r>
                          </m:sub>
                        </m:sSub>
                      </m:e>
                    </m:d>
                    <m:r>
                      <a:rPr lang="ar-AE" altLang="ja-JP"/>
                      <m:t>,</m:t>
                    </m:r>
                    <m:r>
                      <m:rPr>
                        <m:nor/>
                      </m:rPr>
                      <a:rPr lang="ar-AE" altLang="ja-JP" i="1"/>
                      <m:t> </m:t>
                    </m:r>
                    <m:d>
                      <m:dPr>
                        <m:sepChr m:val=","/>
                        <m:ctrlPr>
                          <a:rPr lang="ar-AE" altLang="ja-JP" i="1"/>
                        </m:ctrlPr>
                      </m:dPr>
                      <m:e>
                        <m:sSub>
                          <m:sSubPr>
                            <m:ctrlPr>
                              <a:rPr lang="ar-AE" altLang="ja-JP" i="1"/>
                            </m:ctrlPr>
                          </m:sSubPr>
                          <m:e>
                            <m:r>
                              <a:rPr lang="ja-JP" altLang="ar-AE" i="1"/>
                              <m:t>𝑡</m:t>
                            </m:r>
                          </m:e>
                          <m:sub>
                            <m:r>
                              <a:rPr lang="ar-AE" altLang="ja-JP"/>
                              <m:t>1</m:t>
                            </m:r>
                          </m:sub>
                        </m:sSub>
                      </m:e>
                      <m:e>
                        <m:sSub>
                          <m:sSubPr>
                            <m:ctrlPr>
                              <a:rPr lang="ar-AE" altLang="ja-JP" i="1"/>
                            </m:ctrlPr>
                          </m:sSubPr>
                          <m:e>
                            <m:r>
                              <a:rPr lang="ja-JP" altLang="ar-AE" i="1"/>
                              <m:t>𝑥</m:t>
                            </m:r>
                          </m:e>
                          <m:sub>
                            <m:r>
                              <a:rPr lang="ar-AE" altLang="ja-JP"/>
                              <m:t>1</m:t>
                            </m:r>
                          </m:sub>
                        </m:sSub>
                      </m:e>
                    </m:d>
                    <m:r>
                      <a:rPr lang="ar-AE" altLang="ja-JP"/>
                      <m:t>,</m:t>
                    </m:r>
                    <m:r>
                      <m:rPr>
                        <m:nor/>
                      </m:rPr>
                      <a:rPr lang="ar-AE" altLang="ja-JP" i="1"/>
                      <m:t> </m:t>
                    </m:r>
                    <m:d>
                      <m:dPr>
                        <m:sepChr m:val=","/>
                        <m:ctrlPr>
                          <a:rPr lang="ar-AE" altLang="ja-JP" i="1"/>
                        </m:ctrlPr>
                      </m:dPr>
                      <m:e>
                        <m:sSub>
                          <m:sSubPr>
                            <m:ctrlPr>
                              <a:rPr lang="ar-AE" altLang="ja-JP" i="1"/>
                            </m:ctrlPr>
                          </m:sSubPr>
                          <m:e>
                            <m:r>
                              <a:rPr lang="ja-JP" altLang="ar-AE" i="1"/>
                              <m:t>𝑡</m:t>
                            </m:r>
                          </m:e>
                          <m:sub>
                            <m:r>
                              <a:rPr lang="ar-AE" altLang="ja-JP"/>
                              <m:t>2</m:t>
                            </m:r>
                          </m:sub>
                        </m:sSub>
                      </m:e>
                      <m:e>
                        <m:sSub>
                          <m:sSubPr>
                            <m:ctrlPr>
                              <a:rPr lang="ar-AE" altLang="ja-JP" i="1"/>
                            </m:ctrlPr>
                          </m:sSubPr>
                          <m:e>
                            <m:r>
                              <a:rPr lang="ja-JP" altLang="ar-AE" i="1"/>
                              <m:t>𝑥</m:t>
                            </m:r>
                          </m:e>
                          <m:sub>
                            <m:r>
                              <a:rPr lang="ar-AE" altLang="ja-JP"/>
                              <m:t>2</m:t>
                            </m:r>
                          </m:sub>
                        </m:sSub>
                      </m:e>
                    </m:d>
                    <m:r>
                      <a:rPr lang="ar-AE" altLang="ja-JP"/>
                      <m:t>,…</m:t>
                    </m:r>
                  </m:oMath>
                </a14:m>
                <a:endParaRPr lang="ar-AE" altLang="ja-JP" b="0" dirty="0"/>
              </a:p>
              <a:p>
                <a:pPr marL="0" indent="0">
                  <a:lnSpc>
                    <a:spcPct val="110000"/>
                  </a:lnSpc>
                  <a:buNone/>
                </a:pPr>
                <a:r>
                  <a:rPr lang="en-US" altLang="ja-JP" dirty="0"/>
                  <a:t>Neural CDE </a:t>
                </a:r>
                <a:r>
                  <a:rPr lang="ja-JP" altLang="en-US" dirty="0"/>
                  <a:t>先把它们连接成一条路径：</a:t>
                </a:r>
                <a14:m>
                  <m:oMath xmlns:m="http://schemas.openxmlformats.org/officeDocument/2006/math">
                    <m:r>
                      <a:rPr lang="ja-JP" altLang="en-US" i="1"/>
                      <m:t>𝑋</m:t>
                    </m:r>
                    <m:d>
                      <m:dPr>
                        <m:ctrlPr>
                          <a:rPr lang="ar-AE" altLang="ja-JP" i="1"/>
                        </m:ctrlPr>
                      </m:dPr>
                      <m:e>
                        <m:r>
                          <a:rPr lang="ja-JP" altLang="ar-AE" i="1"/>
                          <m:t>𝑡</m:t>
                        </m:r>
                      </m:e>
                    </m:d>
                    <m:r>
                      <a:rPr lang="ar-AE" altLang="ja-JP"/>
                      <m:t>.</m:t>
                    </m:r>
                  </m:oMath>
                </a14:m>
                <a:r>
                  <a:rPr lang="en-US" altLang="ja-JP" dirty="0"/>
                  <a:t>  </a:t>
                </a:r>
                <a:r>
                  <a:rPr lang="ja-JP" altLang="en-US" dirty="0"/>
                  <a:t>然后让隐藏状态 </a:t>
                </a:r>
                <a14:m>
                  <m:oMath xmlns:m="http://schemas.openxmlformats.org/officeDocument/2006/math">
                    <m:r>
                      <a:rPr lang="ja-JP" altLang="en-US" i="1"/>
                      <m:t>𝑧</m:t>
                    </m:r>
                    <m:d>
                      <m:dPr>
                        <m:ctrlPr>
                          <a:rPr lang="ar-AE" altLang="ja-JP" i="1"/>
                        </m:ctrlPr>
                      </m:dPr>
                      <m:e>
                        <m:r>
                          <a:rPr lang="ja-JP" altLang="ar-AE" i="1"/>
                          <m:t>𝑡</m:t>
                        </m:r>
                      </m:e>
                    </m:d>
                  </m:oMath>
                </a14:m>
                <a:r>
                  <a:rPr lang="ja-JP" altLang="en-US" dirty="0"/>
                  <a:t>沿着这条路径变化：</a:t>
                </a:r>
                <a:endParaRPr lang="en-US" altLang="ja-JP" dirty="0"/>
              </a:p>
              <a:p>
                <a:pPr marL="0" indent="0">
                  <a:lnSpc>
                    <a:spcPct val="110000"/>
                  </a:lnSpc>
                  <a:buNone/>
                </a:pPr>
                <a14:m>
                  <m:oMathPara xmlns:m="http://schemas.openxmlformats.org/officeDocument/2006/math">
                    <m:oMathParaPr>
                      <m:jc m:val="centerGroup"/>
                    </m:oMathParaPr>
                    <m:oMath xmlns:m="http://schemas.openxmlformats.org/officeDocument/2006/math">
                      <m:r>
                        <a:rPr lang="ja-JP" altLang="en-US" i="1"/>
                        <m:t>𝑑𝑧</m:t>
                      </m:r>
                      <m:d>
                        <m:dPr>
                          <m:ctrlPr>
                            <a:rPr lang="ar-AE" altLang="ja-JP" i="1"/>
                          </m:ctrlPr>
                        </m:dPr>
                        <m:e>
                          <m:r>
                            <a:rPr lang="ja-JP" altLang="ar-AE" i="1"/>
                            <m:t>𝑡</m:t>
                          </m:r>
                        </m:e>
                      </m:d>
                      <m:r>
                        <a:rPr lang="ar-AE" altLang="ja-JP"/>
                        <m:t>=</m:t>
                      </m:r>
                      <m:sSub>
                        <m:sSubPr>
                          <m:ctrlPr>
                            <a:rPr lang="ar-AE" altLang="ja-JP" i="1"/>
                          </m:ctrlPr>
                        </m:sSubPr>
                        <m:e>
                          <m:r>
                            <a:rPr lang="ja-JP" altLang="ar-AE" i="1"/>
                            <m:t>𝑓</m:t>
                          </m:r>
                        </m:e>
                        <m:sub>
                          <m:r>
                            <a:rPr lang="ja-JP" altLang="ar-AE" i="1"/>
                            <m:t>𝜃</m:t>
                          </m:r>
                        </m:sub>
                      </m:sSub>
                      <m:d>
                        <m:dPr>
                          <m:ctrlPr>
                            <a:rPr lang="ar-AE" altLang="ja-JP" i="1"/>
                          </m:ctrlPr>
                        </m:dPr>
                        <m:e>
                          <m:r>
                            <a:rPr lang="ja-JP" altLang="ar-AE" i="1"/>
                            <m:t>𝑧</m:t>
                          </m:r>
                          <m:d>
                            <m:dPr>
                              <m:ctrlPr>
                                <a:rPr lang="ar-AE" altLang="ja-JP" i="1"/>
                              </m:ctrlPr>
                            </m:dPr>
                            <m:e>
                              <m:r>
                                <a:rPr lang="ja-JP" altLang="ar-AE" i="1"/>
                                <m:t>𝑡</m:t>
                              </m:r>
                            </m:e>
                          </m:d>
                        </m:e>
                      </m:d>
                      <m:r>
                        <m:rPr>
                          <m:nor/>
                        </m:rPr>
                        <a:rPr lang="ar-AE" altLang="ja-JP" i="1"/>
                        <m:t> </m:t>
                      </m:r>
                      <m:r>
                        <a:rPr lang="ja-JP" altLang="ar-AE" i="1"/>
                        <m:t>𝑑𝑋</m:t>
                      </m:r>
                      <m:d>
                        <m:dPr>
                          <m:ctrlPr>
                            <a:rPr lang="ar-AE" altLang="ja-JP" i="1"/>
                          </m:ctrlPr>
                        </m:dPr>
                        <m:e>
                          <m:r>
                            <a:rPr lang="ja-JP" altLang="ar-AE" i="1"/>
                            <m:t>𝑡</m:t>
                          </m:r>
                        </m:e>
                      </m:d>
                      <m:r>
                        <a:rPr lang="ar-AE" altLang="ja-JP"/>
                        <m:t>.</m:t>
                      </m:r>
                    </m:oMath>
                  </m:oMathPara>
                </a14:m>
                <a:endParaRPr lang="ar-AE" altLang="ja-JP" b="0" dirty="0"/>
              </a:p>
              <a:p>
                <a:pPr marL="0" indent="0">
                  <a:lnSpc>
                    <a:spcPct val="110000"/>
                  </a:lnSpc>
                  <a:buNone/>
                </a:pPr>
                <a:r>
                  <a:rPr lang="ja-JP" altLang="en-US" dirty="0"/>
                  <a:t>所以 </a:t>
                </a:r>
                <a14:m>
                  <m:oMath xmlns:m="http://schemas.openxmlformats.org/officeDocument/2006/math">
                    <m:r>
                      <a:rPr lang="ja-JP" altLang="en-US" i="1"/>
                      <m:t>𝑋</m:t>
                    </m:r>
                    <m:d>
                      <m:dPr>
                        <m:ctrlPr>
                          <a:rPr lang="ar-AE" altLang="ja-JP" i="1"/>
                        </m:ctrlPr>
                      </m:dPr>
                      <m:e>
                        <m:r>
                          <a:rPr lang="ja-JP" altLang="ar-AE" i="1"/>
                          <m:t>𝑡</m:t>
                        </m:r>
                      </m:e>
                    </m:d>
                  </m:oMath>
                </a14:m>
                <a:r>
                  <a:rPr lang="ja-JP" altLang="en-US" dirty="0"/>
                  <a:t>相当于“外部信号”，而 </a:t>
                </a:r>
                <a14:m>
                  <m:oMath xmlns:m="http://schemas.openxmlformats.org/officeDocument/2006/math">
                    <m:r>
                      <a:rPr lang="ja-JP" altLang="en-US" i="1"/>
                      <m:t>𝑧</m:t>
                    </m:r>
                    <m:d>
                      <m:dPr>
                        <m:ctrlPr>
                          <a:rPr lang="ar-AE" altLang="ja-JP" i="1"/>
                        </m:ctrlPr>
                      </m:dPr>
                      <m:e>
                        <m:r>
                          <a:rPr lang="ja-JP" altLang="ar-AE" i="1"/>
                          <m:t>𝑡</m:t>
                        </m:r>
                      </m:e>
                    </m:d>
                  </m:oMath>
                </a14:m>
                <a:r>
                  <a:rPr lang="ja-JP" altLang="en-US" dirty="0"/>
                  <a:t>是模型内部的隐藏状态。</a:t>
                </a:r>
              </a:p>
              <a:p>
                <a:pPr marL="0" indent="0">
                  <a:lnSpc>
                    <a:spcPct val="110000"/>
                  </a:lnSpc>
                  <a:buNone/>
                </a:pPr>
                <a:endParaRPr lang="en-US" altLang="zh-CN" dirty="0"/>
              </a:p>
              <a:p>
                <a:pPr marL="0" indent="0">
                  <a:lnSpc>
                    <a:spcPct val="110000"/>
                  </a:lnSpc>
                  <a:buNone/>
                </a:pPr>
                <a:r>
                  <a:rPr lang="zh-CN" altLang="en-US" dirty="0"/>
                  <a:t>总结：</a:t>
                </a:r>
                <a:r>
                  <a:rPr lang="en-US" altLang="zh-CN" dirty="0"/>
                  <a:t>Neural ODE </a:t>
                </a:r>
                <a:r>
                  <a:rPr lang="zh-CN" altLang="en-US" dirty="0"/>
                  <a:t>研究“状态自己随时间演化”；</a:t>
                </a:r>
                <a:r>
                  <a:rPr lang="en-US" altLang="zh-CN" dirty="0"/>
                  <a:t>Neural CDE </a:t>
                </a:r>
                <a:r>
                  <a:rPr lang="zh-CN" altLang="en-US" dirty="0"/>
                  <a:t>研究“状态在外部观测信号驱动下演化”。两者都需要讨论微分方程解的良定义性，而不动点思想是理解存在唯一性的基础工具。</a:t>
                </a:r>
              </a:p>
              <a:p>
                <a:pPr marL="0" indent="0">
                  <a:lnSpc>
                    <a:spcPct val="110000"/>
                  </a:lnSpc>
                  <a:buNone/>
                </a:pPr>
                <a:br>
                  <a:rPr lang="zh-CN" altLang="en-US" dirty="0"/>
                </a:br>
                <a:endParaRPr lang="zh-CN" altLang="en-US" dirty="0"/>
              </a:p>
            </p:txBody>
          </p:sp>
        </mc:Choice>
        <mc:Fallback>
          <p:sp>
            <p:nvSpPr>
              <p:cNvPr id="12" name="コンテンツ プレースホルダー 2">
                <a:extLst>
                  <a:ext uri="{FF2B5EF4-FFF2-40B4-BE49-F238E27FC236}">
                    <a16:creationId xmlns:a16="http://schemas.microsoft.com/office/drawing/2014/main" id="{2C62418A-897C-C0D7-8216-06A7D0D17202}"/>
                  </a:ext>
                </a:extLst>
              </p:cNvPr>
              <p:cNvSpPr>
                <a:spLocks noGrp="1" noRot="1" noChangeAspect="1" noMove="1" noResize="1" noEditPoints="1" noAdjustHandles="1" noChangeArrowheads="1" noChangeShapeType="1" noTextEdit="1"/>
              </p:cNvSpPr>
              <p:nvPr>
                <p:ph idx="1"/>
              </p:nvPr>
            </p:nvSpPr>
            <p:spPr>
              <a:xfrm>
                <a:off x="436880" y="1112520"/>
                <a:ext cx="11582400" cy="5440680"/>
              </a:xfrm>
              <a:blipFill>
                <a:blip r:embed="rId3"/>
                <a:stretch>
                  <a:fillRect l="-579" t="-897" b="-762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94688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E063C-6086-AA77-0B6B-334B82F1D8C0}"/>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E5DFDAC-7B57-6BA4-910D-CD7F8513DAC7}"/>
              </a:ext>
            </a:extLst>
          </p:cNvPr>
          <p:cNvSpPr>
            <a:spLocks noGrp="1" noChangeArrowheads="1"/>
          </p:cNvSpPr>
          <p:nvPr>
            <p:ph type="title"/>
          </p:nvPr>
        </p:nvSpPr>
        <p:spPr/>
        <p:txBody>
          <a:bodyPr/>
          <a:lstStyle/>
          <a:p>
            <a:r>
              <a:rPr lang="zh-CN" altLang="en-US" b="1" dirty="0"/>
              <a:t>场景二：</a:t>
            </a:r>
            <a:r>
              <a:rPr lang="en-US" altLang="zh-CN" b="1" dirty="0"/>
              <a:t>Neural CDE </a:t>
            </a:r>
            <a:r>
              <a:rPr lang="zh-CN" altLang="en-US" b="1" dirty="0"/>
              <a:t>与不规则时间序列</a:t>
            </a:r>
            <a:endParaRPr lang="ja-JP" altLang="en-US" b="1" dirty="0"/>
          </a:p>
        </p:txBody>
      </p:sp>
      <p:pic>
        <p:nvPicPr>
          <p:cNvPr id="4" name="図 3">
            <a:extLst>
              <a:ext uri="{FF2B5EF4-FFF2-40B4-BE49-F238E27FC236}">
                <a16:creationId xmlns:a16="http://schemas.microsoft.com/office/drawing/2014/main" id="{D82AFD09-2B0C-7668-DF33-5566AAEAF039}"/>
              </a:ext>
            </a:extLst>
          </p:cNvPr>
          <p:cNvPicPr>
            <a:picLocks noChangeAspect="1"/>
          </p:cNvPicPr>
          <p:nvPr/>
        </p:nvPicPr>
        <p:blipFill>
          <a:blip r:embed="rId3"/>
          <a:stretch>
            <a:fillRect/>
          </a:stretch>
        </p:blipFill>
        <p:spPr>
          <a:xfrm>
            <a:off x="1894841" y="1095069"/>
            <a:ext cx="8156625" cy="5630851"/>
          </a:xfrm>
          <a:prstGeom prst="rect">
            <a:avLst/>
          </a:prstGeom>
        </p:spPr>
      </p:pic>
    </p:spTree>
    <p:extLst>
      <p:ext uri="{BB962C8B-B14F-4D97-AF65-F5344CB8AC3E}">
        <p14:creationId xmlns:p14="http://schemas.microsoft.com/office/powerpoint/2010/main" val="21023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00761-1122-8CEC-92B0-60BC2AE6CACE}"/>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2E3FAC9-C2B3-AF14-DF40-9BC1A348EB0C}"/>
              </a:ext>
            </a:extLst>
          </p:cNvPr>
          <p:cNvSpPr>
            <a:spLocks noGrp="1" noChangeArrowheads="1"/>
          </p:cNvSpPr>
          <p:nvPr>
            <p:ph type="title"/>
          </p:nvPr>
        </p:nvSpPr>
        <p:spPr/>
        <p:txBody>
          <a:bodyPr/>
          <a:lstStyle/>
          <a:p>
            <a:r>
              <a:rPr lang="zh-CN" altLang="en-US" b="1" dirty="0"/>
              <a:t>场景二：</a:t>
            </a:r>
            <a:r>
              <a:rPr lang="en-US" altLang="zh-CN" b="1" dirty="0"/>
              <a:t>Neural CDE </a:t>
            </a:r>
            <a:r>
              <a:rPr lang="zh-CN" altLang="en-US" b="1" dirty="0"/>
              <a:t>与不规则时间序列</a:t>
            </a:r>
            <a:endParaRPr lang="ja-JP"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577EBCE-F0B1-1D2B-E56F-DA26D55949F7}"/>
                  </a:ext>
                </a:extLst>
              </p:cNvPr>
              <p:cNvSpPr>
                <a:spLocks noGrp="1"/>
              </p:cNvSpPr>
              <p:nvPr>
                <p:ph idx="1"/>
              </p:nvPr>
            </p:nvSpPr>
            <p:spPr>
              <a:xfrm>
                <a:off x="508000" y="1112520"/>
                <a:ext cx="11582400" cy="5440680"/>
              </a:xfrm>
            </p:spPr>
            <p:txBody>
              <a:bodyPr/>
              <a:lstStyle/>
              <a:p>
                <a:pPr marL="0" indent="0">
                  <a:buNone/>
                </a:pPr>
                <a:r>
                  <a:rPr lang="zh-CN" altLang="en-US" dirty="0"/>
                  <a:t>一个直观例子：病人状态预测</a:t>
                </a:r>
                <a:endParaRPr lang="en-US" altLang="zh-CN" dirty="0"/>
              </a:p>
              <a:p>
                <a:pPr marL="0" indent="0">
                  <a:buNone/>
                </a:pPr>
                <a:r>
                  <a:rPr lang="zh-CN" altLang="en-US" dirty="0"/>
                  <a:t>假设要预测病人在 </a:t>
                </a:r>
                <a:r>
                  <a:rPr lang="en-US" altLang="zh-CN" dirty="0"/>
                  <a:t>ICU </a:t>
                </a:r>
                <a:r>
                  <a:rPr lang="zh-CN" altLang="en-US" dirty="0"/>
                  <a:t>中未来是否恶化。观测数据可能是：</a:t>
                </a:r>
              </a:p>
              <a:p>
                <a:pPr marL="0" indent="0">
                  <a:buNone/>
                </a:pPr>
                <a14:m>
                  <m:oMathPara xmlns:m="http://schemas.openxmlformats.org/officeDocument/2006/math">
                    <m:oMathParaPr>
                      <m:jc m:val="centerGroup"/>
                    </m:oMathParaPr>
                    <m:oMath xmlns:m="http://schemas.openxmlformats.org/officeDocument/2006/math">
                      <m:d>
                        <m:dPr>
                          <m:sepChr m:val=","/>
                          <m:ctrlPr>
                            <a:rPr lang="zh-CN" altLang="en-US">
                              <a:latin typeface="+mj-lt"/>
                            </a:rPr>
                          </m:ctrlPr>
                        </m:dPr>
                        <m:e>
                          <m:sSub>
                            <m:sSubPr>
                              <m:ctrlPr>
                                <a:rPr lang="zh-CN" altLang="en-US" i="1">
                                  <a:latin typeface="+mj-lt"/>
                                </a:rPr>
                              </m:ctrlPr>
                            </m:sSubPr>
                            <m:e>
                              <m:r>
                                <a:rPr lang="zh-CN" altLang="en-US" i="1">
                                  <a:latin typeface="+mj-lt"/>
                                </a:rPr>
                                <m:t>𝑡</m:t>
                              </m:r>
                            </m:e>
                            <m:sub>
                              <m:r>
                                <a:rPr lang="zh-CN" altLang="en-US" i="1">
                                  <a:latin typeface="+mj-lt"/>
                                </a:rPr>
                                <m:t>𝑖</m:t>
                              </m:r>
                            </m:sub>
                          </m:sSub>
                        </m:e>
                        <m:e>
                          <m:sSub>
                            <m:sSubPr>
                              <m:ctrlPr>
                                <a:rPr lang="zh-CN" altLang="en-US" i="1">
                                  <a:latin typeface="+mj-lt"/>
                                </a:rPr>
                              </m:ctrlPr>
                            </m:sSubPr>
                            <m:e>
                              <m:r>
                                <m:rPr>
                                  <m:nor/>
                                </m:rPr>
                                <a:rPr lang="en-US" altLang="zh-CN" i="1">
                                  <a:latin typeface="+mj-lt"/>
                                </a:rPr>
                                <m:t>heart</m:t>
                              </m:r>
                              <m:r>
                                <m:rPr>
                                  <m:nor/>
                                </m:rPr>
                                <a:rPr lang="en-US" altLang="zh-CN" i="1">
                                  <a:latin typeface="+mj-lt"/>
                                </a:rPr>
                                <m:t> </m:t>
                              </m:r>
                              <m:r>
                                <m:rPr>
                                  <m:nor/>
                                </m:rPr>
                                <a:rPr lang="en-US" altLang="zh-CN" i="1">
                                  <a:latin typeface="+mj-lt"/>
                                </a:rPr>
                                <m:t>rate</m:t>
                              </m:r>
                            </m:e>
                            <m:sub>
                              <m:r>
                                <a:rPr lang="zh-CN" altLang="en-US" i="1">
                                  <a:latin typeface="+mj-lt"/>
                                </a:rPr>
                                <m:t>𝑖</m:t>
                              </m:r>
                            </m:sub>
                          </m:sSub>
                        </m:e>
                        <m:e>
                          <m:sSub>
                            <m:sSubPr>
                              <m:ctrlPr>
                                <a:rPr lang="zh-CN" altLang="en-US" i="1">
                                  <a:latin typeface="+mj-lt"/>
                                </a:rPr>
                              </m:ctrlPr>
                            </m:sSubPr>
                            <m:e>
                              <m:r>
                                <m:rPr>
                                  <m:nor/>
                                </m:rPr>
                                <a:rPr lang="en-US" altLang="zh-CN" i="1">
                                  <a:latin typeface="+mj-lt"/>
                                </a:rPr>
                                <m:t>blood</m:t>
                              </m:r>
                              <m:r>
                                <m:rPr>
                                  <m:nor/>
                                </m:rPr>
                                <a:rPr lang="en-US" altLang="zh-CN" i="1">
                                  <a:latin typeface="+mj-lt"/>
                                </a:rPr>
                                <m:t> </m:t>
                              </m:r>
                              <m:r>
                                <m:rPr>
                                  <m:nor/>
                                </m:rPr>
                                <a:rPr lang="en-US" altLang="zh-CN" i="1">
                                  <a:latin typeface="+mj-lt"/>
                                </a:rPr>
                                <m:t>pressure</m:t>
                              </m:r>
                            </m:e>
                            <m:sub>
                              <m:r>
                                <a:rPr lang="zh-CN" altLang="en-US" i="1">
                                  <a:latin typeface="+mj-lt"/>
                                </a:rPr>
                                <m:t>𝑖</m:t>
                              </m:r>
                            </m:sub>
                          </m:sSub>
                        </m:e>
                        <m:e>
                          <m:sSub>
                            <m:sSubPr>
                              <m:ctrlPr>
                                <a:rPr lang="zh-CN" altLang="en-US" i="1">
                                  <a:latin typeface="+mj-lt"/>
                                </a:rPr>
                              </m:ctrlPr>
                            </m:sSubPr>
                            <m:e>
                              <m:r>
                                <m:rPr>
                                  <m:nor/>
                                </m:rPr>
                                <a:rPr lang="en-US" altLang="zh-CN" i="1">
                                  <a:latin typeface="+mj-lt"/>
                                </a:rPr>
                                <m:t>temperature</m:t>
                              </m:r>
                            </m:e>
                            <m:sub>
                              <m:r>
                                <a:rPr lang="zh-CN" altLang="en-US" i="1">
                                  <a:latin typeface="+mj-lt"/>
                                </a:rPr>
                                <m:t>𝑖</m:t>
                              </m:r>
                            </m:sub>
                          </m:sSub>
                        </m:e>
                        <m:e>
                          <m:r>
                            <a:rPr lang="en-US" altLang="zh-CN">
                              <a:latin typeface="+mj-lt"/>
                            </a:rPr>
                            <m:t>…</m:t>
                          </m:r>
                          <m:r>
                            <m:rPr>
                              <m:nor/>
                            </m:rPr>
                            <a:rPr lang="zh-CN" altLang="en-US" i="1">
                              <a:latin typeface="+mj-lt"/>
                            </a:rPr>
                            <m:t> </m:t>
                          </m:r>
                        </m:e>
                      </m:d>
                      <m:r>
                        <a:rPr lang="en-US" altLang="zh-CN"/>
                        <m:t>.</m:t>
                      </m:r>
                    </m:oMath>
                  </m:oMathPara>
                </a14:m>
                <a:endParaRPr lang="zh-CN" altLang="en-US" b="0" dirty="0"/>
              </a:p>
              <a:p>
                <a:pPr marL="0" indent="0">
                  <a:buNone/>
                </a:pPr>
                <a:r>
                  <a:rPr lang="zh-CN" altLang="en-US" dirty="0"/>
                  <a:t>这些数据有几个特点：</a:t>
                </a:r>
              </a:p>
              <a:p>
                <a:r>
                  <a:rPr lang="zh-CN" altLang="en-US" dirty="0"/>
                  <a:t>第一，采样时间不规则。有时 </a:t>
                </a:r>
                <a:r>
                  <a:rPr lang="en-US" altLang="zh-CN" dirty="0"/>
                  <a:t>1 </a:t>
                </a:r>
                <a:r>
                  <a:rPr lang="zh-CN" altLang="en-US" dirty="0"/>
                  <a:t>小时测一次，有时 </a:t>
                </a:r>
                <a:r>
                  <a:rPr lang="en-US" altLang="zh-CN" dirty="0"/>
                  <a:t>5 </a:t>
                </a:r>
                <a:r>
                  <a:rPr lang="zh-CN" altLang="en-US" dirty="0"/>
                  <a:t>分钟测一次。</a:t>
                </a:r>
              </a:p>
              <a:p>
                <a:r>
                  <a:rPr lang="zh-CN" altLang="en-US" dirty="0"/>
                  <a:t>第二，多变量。每个时间点可能有心率、血压、血氧、体温等多个变量。</a:t>
                </a:r>
              </a:p>
              <a:p>
                <a:r>
                  <a:rPr lang="zh-CN" altLang="en-US" dirty="0"/>
                  <a:t>第三，部分观测。有些时间点只测了心率，没有测血压；有些时间点只测了体温。</a:t>
                </a:r>
              </a:p>
              <a:p>
                <a:pPr marL="0" indent="0">
                  <a:buNone/>
                </a:pPr>
                <a:r>
                  <a:rPr lang="zh-CN" altLang="en-US" dirty="0"/>
                  <a:t>普通 </a:t>
                </a:r>
                <a:r>
                  <a:rPr lang="en-US" altLang="zh-CN" dirty="0"/>
                  <a:t>Neural ODE </a:t>
                </a:r>
                <a:r>
                  <a:rPr lang="zh-CN" altLang="en-US" dirty="0"/>
                  <a:t>如果只把最初观测编码成 </a:t>
                </a:r>
                <a14:m>
                  <m:oMath xmlns:m="http://schemas.openxmlformats.org/officeDocument/2006/math">
                    <m:r>
                      <a:rPr lang="zh-CN" altLang="en-US" i="1"/>
                      <m:t>𝑧</m:t>
                    </m:r>
                    <m:d>
                      <m:dPr>
                        <m:ctrlPr>
                          <a:rPr lang="zh-CN" altLang="en-US" i="1"/>
                        </m:ctrlPr>
                      </m:dPr>
                      <m:e>
                        <m:sSub>
                          <m:sSubPr>
                            <m:ctrlPr>
                              <a:rPr lang="zh-CN" altLang="en-US" i="1"/>
                            </m:ctrlPr>
                          </m:sSubPr>
                          <m:e>
                            <m:r>
                              <a:rPr lang="zh-CN" altLang="en-US" i="1"/>
                              <m:t>𝑡</m:t>
                            </m:r>
                          </m:e>
                          <m:sub>
                            <m:r>
                              <a:rPr lang="en-US" altLang="zh-CN"/>
                              <m:t>0</m:t>
                            </m:r>
                          </m:sub>
                        </m:sSub>
                      </m:e>
                    </m:d>
                  </m:oMath>
                </a14:m>
                <a:r>
                  <a:rPr lang="zh-CN" altLang="en-US" dirty="0"/>
                  <a:t>，然后自己演化，就很难自然地把后续观测持续加入模型。</a:t>
                </a:r>
              </a:p>
              <a:p>
                <a:r>
                  <a:rPr lang="en-US" altLang="zh-CN" dirty="0"/>
                  <a:t>Neural CDE </a:t>
                </a:r>
                <a:r>
                  <a:rPr lang="zh-CN" altLang="en-US" dirty="0"/>
                  <a:t>的处理方式是：</a:t>
                </a:r>
              </a:p>
              <a:p>
                <a:r>
                  <a:rPr lang="zh-CN" altLang="en-US" dirty="0"/>
                  <a:t>先把所有观测整理成输入路径：</a:t>
                </a:r>
                <a14:m>
                  <m:oMath xmlns:m="http://schemas.openxmlformats.org/officeDocument/2006/math">
                    <m:r>
                      <a:rPr lang="zh-CN" altLang="en-US" i="1"/>
                      <m:t>𝑋</m:t>
                    </m:r>
                    <m:d>
                      <m:dPr>
                        <m:ctrlPr>
                          <a:rPr lang="zh-CN" altLang="en-US" i="1"/>
                        </m:ctrlPr>
                      </m:dPr>
                      <m:e>
                        <m:r>
                          <a:rPr lang="zh-CN" altLang="en-US" i="1"/>
                          <m:t>𝑡</m:t>
                        </m:r>
                      </m:e>
                    </m:d>
                    <m:r>
                      <a:rPr lang="en-US" altLang="zh-CN"/>
                      <m:t>.</m:t>
                    </m:r>
                  </m:oMath>
                </a14:m>
                <a:endParaRPr lang="zh-CN" altLang="en-US" dirty="0"/>
              </a:p>
              <a:p>
                <a:r>
                  <a:rPr lang="zh-CN" altLang="en-US" dirty="0"/>
                  <a:t>然后隐藏状态按照：</a:t>
                </a:r>
                <a14:m>
                  <m:oMath xmlns:m="http://schemas.openxmlformats.org/officeDocument/2006/math">
                    <m:r>
                      <a:rPr lang="zh-CN" altLang="en-US" i="1"/>
                      <m:t>𝑧</m:t>
                    </m:r>
                    <m:d>
                      <m:dPr>
                        <m:ctrlPr>
                          <a:rPr lang="zh-CN" altLang="en-US" i="1"/>
                        </m:ctrlPr>
                      </m:dPr>
                      <m:e>
                        <m:r>
                          <a:rPr lang="zh-CN" altLang="en-US" i="1"/>
                          <m:t>𝑡</m:t>
                        </m:r>
                      </m:e>
                    </m:d>
                    <m:r>
                      <a:rPr lang="en-US" altLang="zh-CN"/>
                      <m:t>=</m:t>
                    </m:r>
                    <m:r>
                      <a:rPr lang="zh-CN" altLang="en-US" i="1"/>
                      <m:t>𝑧</m:t>
                    </m:r>
                    <m:d>
                      <m:dPr>
                        <m:ctrlPr>
                          <a:rPr lang="zh-CN" altLang="en-US" i="1"/>
                        </m:ctrlPr>
                      </m:dPr>
                      <m:e>
                        <m:sSub>
                          <m:sSubPr>
                            <m:ctrlPr>
                              <a:rPr lang="zh-CN" altLang="en-US" i="1"/>
                            </m:ctrlPr>
                          </m:sSubPr>
                          <m:e>
                            <m:r>
                              <a:rPr lang="zh-CN" altLang="en-US" i="1"/>
                              <m:t>𝑡</m:t>
                            </m:r>
                          </m:e>
                          <m:sub>
                            <m:r>
                              <a:rPr lang="en-US" altLang="zh-CN"/>
                              <m:t>0</m:t>
                            </m:r>
                          </m:sub>
                        </m:sSub>
                      </m:e>
                    </m:d>
                    <m:r>
                      <a:rPr lang="en-US" altLang="zh-CN"/>
                      <m:t>+</m:t>
                    </m:r>
                    <m:nary>
                      <m:naryPr>
                        <m:grow m:val="on"/>
                        <m:ctrlPr>
                          <a:rPr lang="zh-CN" altLang="en-US" i="1"/>
                        </m:ctrlPr>
                      </m:naryPr>
                      <m:sub>
                        <m:sSub>
                          <m:sSubPr>
                            <m:ctrlPr>
                              <a:rPr lang="zh-CN" altLang="en-US" i="1"/>
                            </m:ctrlPr>
                          </m:sSubPr>
                          <m:e>
                            <m:r>
                              <a:rPr lang="zh-CN" altLang="en-US" i="1"/>
                              <m:t>𝑡</m:t>
                            </m:r>
                          </m:e>
                          <m:sub>
                            <m:r>
                              <a:rPr lang="en-US" altLang="zh-CN"/>
                              <m:t>0</m:t>
                            </m:r>
                          </m:sub>
                        </m:sSub>
                      </m:sub>
                      <m:sup>
                        <m:r>
                          <a:rPr lang="zh-CN" altLang="en-US" i="1"/>
                          <m:t>𝑡</m:t>
                        </m:r>
                      </m:sup>
                      <m:e>
                        <m:sSub>
                          <m:sSubPr>
                            <m:ctrlPr>
                              <a:rPr lang="zh-CN" altLang="en-US" i="1"/>
                            </m:ctrlPr>
                          </m:sSubPr>
                          <m:e>
                            <m:r>
                              <a:rPr lang="zh-CN" altLang="en-US" i="1"/>
                              <m:t>𝑓</m:t>
                            </m:r>
                          </m:e>
                          <m:sub>
                            <m:r>
                              <a:rPr lang="zh-CN" altLang="en-US" i="1"/>
                              <m:t>𝜃</m:t>
                            </m:r>
                          </m:sub>
                        </m:sSub>
                      </m:e>
                    </m:nary>
                    <m:d>
                      <m:dPr>
                        <m:ctrlPr>
                          <a:rPr lang="zh-CN" altLang="en-US" i="1"/>
                        </m:ctrlPr>
                      </m:dPr>
                      <m:e>
                        <m:r>
                          <a:rPr lang="zh-CN" altLang="en-US" i="1"/>
                          <m:t>𝑧</m:t>
                        </m:r>
                        <m:d>
                          <m:dPr>
                            <m:ctrlPr>
                              <a:rPr lang="zh-CN" altLang="en-US" i="1"/>
                            </m:ctrlPr>
                          </m:dPr>
                          <m:e>
                            <m:r>
                              <a:rPr lang="zh-CN" altLang="en-US" i="1"/>
                              <m:t>𝑠</m:t>
                            </m:r>
                          </m:e>
                        </m:d>
                      </m:e>
                    </m:d>
                    <m:r>
                      <m:rPr>
                        <m:nor/>
                      </m:rPr>
                      <a:rPr lang="zh-CN" altLang="en-US" i="1"/>
                      <m:t> </m:t>
                    </m:r>
                    <m:r>
                      <a:rPr lang="zh-CN" altLang="en-US" i="1"/>
                      <m:t>𝑑𝑋</m:t>
                    </m:r>
                    <m:d>
                      <m:dPr>
                        <m:ctrlPr>
                          <a:rPr lang="zh-CN" altLang="en-US" i="1"/>
                        </m:ctrlPr>
                      </m:dPr>
                      <m:e>
                        <m:r>
                          <a:rPr lang="zh-CN" altLang="en-US" i="1"/>
                          <m:t>𝑠</m:t>
                        </m:r>
                      </m:e>
                    </m:d>
                  </m:oMath>
                </a14:m>
                <a:r>
                  <a:rPr lang="zh-CN" altLang="en-US" dirty="0"/>
                  <a:t>变化。</a:t>
                </a:r>
              </a:p>
              <a:p>
                <a:r>
                  <a:rPr lang="zh-CN" altLang="en-US" dirty="0"/>
                  <a:t>当新的观测改变了 </a:t>
                </a:r>
                <a14:m>
                  <m:oMath xmlns:m="http://schemas.openxmlformats.org/officeDocument/2006/math">
                    <m:r>
                      <a:rPr lang="zh-CN" altLang="en-US" i="1"/>
                      <m:t>𝑋</m:t>
                    </m:r>
                    <m:d>
                      <m:dPr>
                        <m:ctrlPr>
                          <a:rPr lang="zh-CN" altLang="en-US" i="1"/>
                        </m:ctrlPr>
                      </m:dPr>
                      <m:e>
                        <m:r>
                          <a:rPr lang="zh-CN" altLang="en-US" i="1"/>
                          <m:t>𝑡</m:t>
                        </m:r>
                      </m:e>
                    </m:d>
                  </m:oMath>
                </a14:m>
                <a:r>
                  <a:rPr lang="zh-CN" altLang="en-US" dirty="0"/>
                  <a:t>的形状时，隐藏状态 </a:t>
                </a:r>
                <a14:m>
                  <m:oMath xmlns:m="http://schemas.openxmlformats.org/officeDocument/2006/math">
                    <m:r>
                      <a:rPr lang="zh-CN" altLang="en-US" i="1"/>
                      <m:t>𝑧</m:t>
                    </m:r>
                    <m:d>
                      <m:dPr>
                        <m:ctrlPr>
                          <a:rPr lang="zh-CN" altLang="en-US" i="1"/>
                        </m:ctrlPr>
                      </m:dPr>
                      <m:e>
                        <m:r>
                          <a:rPr lang="zh-CN" altLang="en-US" i="1"/>
                          <m:t>𝑡</m:t>
                        </m:r>
                      </m:e>
                    </m:d>
                  </m:oMath>
                </a14:m>
                <a:r>
                  <a:rPr lang="zh-CN" altLang="en-US" dirty="0"/>
                  <a:t>的轨迹也会随之改变。</a:t>
                </a:r>
              </a:p>
              <a:p>
                <a:r>
                  <a:rPr lang="zh-CN" altLang="en-US" dirty="0"/>
                  <a:t>所以可以理解为：输入路径 </a:t>
                </a:r>
                <a14:m>
                  <m:oMath xmlns:m="http://schemas.openxmlformats.org/officeDocument/2006/math">
                    <m:r>
                      <a:rPr lang="zh-CN" altLang="en-US" i="1"/>
                      <m:t>𝑋</m:t>
                    </m:r>
                    <m:d>
                      <m:dPr>
                        <m:ctrlPr>
                          <a:rPr lang="zh-CN" altLang="en-US" i="1"/>
                        </m:ctrlPr>
                      </m:dPr>
                      <m:e>
                        <m:r>
                          <a:rPr lang="zh-CN" altLang="en-US" i="1"/>
                          <m:t>𝑡</m:t>
                        </m:r>
                      </m:e>
                    </m:d>
                  </m:oMath>
                </a14:m>
                <a:r>
                  <a:rPr lang="zh-CN" altLang="en-US" dirty="0"/>
                  <a:t>像一只“手”，不断推动隐藏状态 </a:t>
                </a:r>
                <a14:m>
                  <m:oMath xmlns:m="http://schemas.openxmlformats.org/officeDocument/2006/math">
                    <m:r>
                      <a:rPr lang="zh-CN" altLang="en-US" i="1"/>
                      <m:t>𝑧</m:t>
                    </m:r>
                    <m:d>
                      <m:dPr>
                        <m:ctrlPr>
                          <a:rPr lang="zh-CN" altLang="en-US" i="1"/>
                        </m:ctrlPr>
                      </m:dPr>
                      <m:e>
                        <m:r>
                          <a:rPr lang="zh-CN" altLang="en-US" i="1"/>
                          <m:t>𝑡</m:t>
                        </m:r>
                      </m:e>
                    </m:d>
                  </m:oMath>
                </a14:m>
                <a:r>
                  <a:rPr lang="zh-CN" altLang="en-US" dirty="0"/>
                  <a:t>前进；模型学习的是“受到这种推动时，内部状态应该如何变化”。</a:t>
                </a:r>
              </a:p>
              <a:p>
                <a:pPr marL="0" indent="0">
                  <a:buNone/>
                </a:pPr>
                <a:endParaRPr lang="zh-CN" altLang="en-US" dirty="0"/>
              </a:p>
            </p:txBody>
          </p:sp>
        </mc:Choice>
        <mc:Fallback>
          <p:sp>
            <p:nvSpPr>
              <p:cNvPr id="12" name="コンテンツ プレースホルダー 2">
                <a:extLst>
                  <a:ext uri="{FF2B5EF4-FFF2-40B4-BE49-F238E27FC236}">
                    <a16:creationId xmlns:a16="http://schemas.microsoft.com/office/drawing/2014/main" id="{9577EBCE-F0B1-1D2B-E56F-DA26D55949F7}"/>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r="-263" b="-280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90965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3F93-5143-4587-3525-58F734B71949}"/>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31EC65C8-1F43-D9E7-9777-7AE685F35388}"/>
              </a:ext>
            </a:extLst>
          </p:cNvPr>
          <p:cNvSpPr>
            <a:spLocks noGrp="1" noChangeArrowheads="1"/>
          </p:cNvSpPr>
          <p:nvPr>
            <p:ph type="title"/>
          </p:nvPr>
        </p:nvSpPr>
        <p:spPr/>
        <p:txBody>
          <a:bodyPr/>
          <a:lstStyle/>
          <a:p>
            <a:r>
              <a:rPr lang="zh-CN" altLang="en-US" b="1" dirty="0"/>
              <a:t>场景三：</a:t>
            </a:r>
            <a:r>
              <a:rPr lang="en-US" altLang="zh-CN" b="1" dirty="0"/>
              <a:t>Deep Equilibrium Models</a:t>
            </a:r>
            <a:r>
              <a:rPr lang="zh-CN" altLang="en-US" b="1" dirty="0"/>
              <a:t>，直接求不动点</a:t>
            </a: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FFD13666-523F-B563-9950-4233E6E809CC}"/>
                  </a:ext>
                </a:extLst>
              </p:cNvPr>
              <p:cNvSpPr>
                <a:spLocks noGrp="1"/>
              </p:cNvSpPr>
              <p:nvPr>
                <p:ph idx="1"/>
              </p:nvPr>
            </p:nvSpPr>
            <p:spPr>
              <a:xfrm>
                <a:off x="508000" y="1112520"/>
                <a:ext cx="11582400" cy="5440680"/>
              </a:xfrm>
            </p:spPr>
            <p:txBody>
              <a:bodyPr/>
              <a:lstStyle/>
              <a:p>
                <a:pPr marL="0" indent="0">
                  <a:lnSpc>
                    <a:spcPct val="120000"/>
                  </a:lnSpc>
                  <a:buNone/>
                </a:pPr>
                <a:r>
                  <a:rPr lang="zh-CN" altLang="en-US" dirty="0"/>
                  <a:t>不再显式堆叠很多层神经网络，而是直接求一个“稳定隐藏状态”作为模型的输出表示。</a:t>
                </a:r>
                <a:endParaRPr lang="en-US" altLang="zh-CN" dirty="0"/>
              </a:p>
              <a:p>
                <a:pPr marL="0" indent="0">
                  <a:lnSpc>
                    <a:spcPct val="120000"/>
                  </a:lnSpc>
                  <a:buNone/>
                </a:pPr>
                <a:r>
                  <a:rPr lang="en-US" altLang="zh-CN" dirty="0"/>
                  <a:t>Deep Equilibrium Models, DEQ, </a:t>
                </a:r>
                <a:r>
                  <a:rPr lang="zh-CN" altLang="en-US" dirty="0"/>
                  <a:t>与 </a:t>
                </a:r>
                <a:r>
                  <a:rPr lang="en-US" altLang="zh-CN" dirty="0"/>
                  <a:t>ODE </a:t>
                </a:r>
                <a:r>
                  <a:rPr lang="zh-CN" altLang="en-US" dirty="0"/>
                  <a:t>的联系更直接。它不显式堆叠很多层，而是直接定义一个平衡状态：</a:t>
                </a:r>
                <a14:m>
                  <m:oMath xmlns:m="http://schemas.openxmlformats.org/officeDocument/2006/math">
                    <m:sSup>
                      <m:sSupPr>
                        <m:ctrlPr>
                          <a:rPr lang="zh-CN" altLang="en-US"/>
                        </m:ctrlPr>
                      </m:sSupPr>
                      <m:e>
                        <m:r>
                          <a:rPr lang="zh-CN" altLang="en-US" i="1"/>
                          <m:t>𝑧</m:t>
                        </m:r>
                      </m:e>
                      <m:sup>
                        <m:r>
                          <a:rPr lang="zh-CN" altLang="en-US"/>
                          <m:t>∗</m:t>
                        </m:r>
                      </m:sup>
                    </m:sSup>
                    <m:r>
                      <a:rPr lang="en-US" altLang="zh-CN"/>
                      <m:t>=</m:t>
                    </m:r>
                    <m:sSub>
                      <m:sSubPr>
                        <m:ctrlPr>
                          <a:rPr lang="zh-CN" altLang="en-US" i="1"/>
                        </m:ctrlPr>
                      </m:sSubPr>
                      <m:e>
                        <m:r>
                          <a:rPr lang="zh-CN" altLang="en-US" i="1"/>
                          <m:t>𝑓</m:t>
                        </m:r>
                      </m:e>
                      <m:sub>
                        <m:r>
                          <a:rPr lang="zh-CN" altLang="en-US" i="1"/>
                          <m:t>𝜃</m:t>
                        </m:r>
                      </m:sub>
                    </m:sSub>
                    <m:d>
                      <m:dPr>
                        <m:sepChr m:val=","/>
                        <m:ctrlPr>
                          <a:rPr lang="zh-CN" altLang="en-US" i="1"/>
                        </m:ctrlPr>
                      </m:dPr>
                      <m:e>
                        <m:sSup>
                          <m:sSupPr>
                            <m:ctrlPr>
                              <a:rPr lang="zh-CN" altLang="en-US" i="1"/>
                            </m:ctrlPr>
                          </m:sSupPr>
                          <m:e>
                            <m:r>
                              <a:rPr lang="zh-CN" altLang="en-US" i="1"/>
                              <m:t>𝑧</m:t>
                            </m:r>
                          </m:e>
                          <m:sup>
                            <m:r>
                              <a:rPr lang="zh-CN" altLang="en-US"/>
                              <m:t>∗</m:t>
                            </m:r>
                          </m:sup>
                        </m:sSup>
                      </m:e>
                      <m:e>
                        <m:r>
                          <a:rPr lang="zh-CN" altLang="en-US" i="1"/>
                          <m:t>𝑥</m:t>
                        </m:r>
                      </m:e>
                    </m:d>
                    <m:r>
                      <a:rPr lang="en-US" altLang="zh-CN"/>
                      <m:t>.</m:t>
                    </m:r>
                  </m:oMath>
                </a14:m>
                <a:r>
                  <a:rPr lang="zh-CN" altLang="en-US" dirty="0"/>
                  <a:t> 这里 </a:t>
                </a:r>
                <a14:m>
                  <m:oMath xmlns:m="http://schemas.openxmlformats.org/officeDocument/2006/math">
                    <m:sSup>
                      <m:sSupPr>
                        <m:ctrlPr>
                          <a:rPr lang="zh-CN" altLang="en-US"/>
                        </m:ctrlPr>
                      </m:sSupPr>
                      <m:e>
                        <m:r>
                          <a:rPr lang="zh-CN" altLang="en-US" i="1"/>
                          <m:t>𝑧</m:t>
                        </m:r>
                      </m:e>
                      <m:sup>
                        <m:r>
                          <a:rPr lang="zh-CN" altLang="en-US"/>
                          <m:t>∗</m:t>
                        </m:r>
                      </m:sup>
                    </m:sSup>
                  </m:oMath>
                </a14:m>
                <a:r>
                  <a:rPr lang="zh-CN" altLang="en-US" dirty="0"/>
                  <a:t>就是不动点。</a:t>
                </a:r>
              </a:p>
              <a:p>
                <a:pPr marL="0" indent="0">
                  <a:lnSpc>
                    <a:spcPct val="120000"/>
                  </a:lnSpc>
                  <a:buNone/>
                </a:pPr>
                <a:r>
                  <a:rPr lang="zh-CN" altLang="en-US" dirty="0"/>
                  <a:t>普通深度网络是：</a:t>
                </a:r>
                <a14:m>
                  <m:oMath xmlns:m="http://schemas.openxmlformats.org/officeDocument/2006/math">
                    <m:sSub>
                      <m:sSubPr>
                        <m:ctrlPr>
                          <a:rPr lang="zh-CN" altLang="en-US"/>
                        </m:ctrlPr>
                      </m:sSubPr>
                      <m:e>
                        <m:r>
                          <a:rPr lang="zh-CN" altLang="en-US" i="1"/>
                          <m:t>𝑧</m:t>
                        </m:r>
                      </m:e>
                      <m:sub>
                        <m:r>
                          <a:rPr lang="en-US" altLang="zh-CN"/>
                          <m:t>1</m:t>
                        </m:r>
                      </m:sub>
                    </m:sSub>
                    <m:r>
                      <a:rPr lang="en-US" altLang="zh-CN"/>
                      <m:t>=</m:t>
                    </m:r>
                    <m:sSub>
                      <m:sSubPr>
                        <m:ctrlPr>
                          <a:rPr lang="zh-CN" altLang="en-US" i="1"/>
                        </m:ctrlPr>
                      </m:sSubPr>
                      <m:e>
                        <m:r>
                          <a:rPr lang="zh-CN" altLang="en-US" i="1"/>
                          <m:t>𝑓</m:t>
                        </m:r>
                      </m:e>
                      <m:sub>
                        <m:r>
                          <a:rPr lang="zh-CN" altLang="en-US" i="1"/>
                          <m:t>𝜃</m:t>
                        </m:r>
                      </m:sub>
                    </m:sSub>
                    <m:d>
                      <m:dPr>
                        <m:sepChr m:val=","/>
                        <m:ctrlPr>
                          <a:rPr lang="zh-CN" altLang="en-US" i="1"/>
                        </m:ctrlPr>
                      </m:dPr>
                      <m:e>
                        <m:sSub>
                          <m:sSubPr>
                            <m:ctrlPr>
                              <a:rPr lang="zh-CN" altLang="en-US" i="1"/>
                            </m:ctrlPr>
                          </m:sSubPr>
                          <m:e>
                            <m:r>
                              <a:rPr lang="zh-CN" altLang="en-US" i="1"/>
                              <m:t>𝑧</m:t>
                            </m:r>
                          </m:e>
                          <m:sub>
                            <m:r>
                              <a:rPr lang="en-US" altLang="zh-CN"/>
                              <m:t>0</m:t>
                            </m:r>
                          </m:sub>
                        </m:sSub>
                      </m:e>
                      <m:e>
                        <m:r>
                          <a:rPr lang="zh-CN" altLang="en-US" i="1"/>
                          <m:t>𝑥</m:t>
                        </m:r>
                      </m:e>
                    </m:d>
                    <m:r>
                      <a:rPr lang="en-US" altLang="zh-CN"/>
                      <m:t>, </m:t>
                    </m:r>
                    <m:sSub>
                      <m:sSubPr>
                        <m:ctrlPr>
                          <a:rPr lang="zh-CN" altLang="en-US" i="1"/>
                        </m:ctrlPr>
                      </m:sSubPr>
                      <m:e>
                        <m:r>
                          <a:rPr lang="zh-CN" altLang="en-US" i="1"/>
                          <m:t>𝑧</m:t>
                        </m:r>
                      </m:e>
                      <m:sub>
                        <m:r>
                          <a:rPr lang="en-US" altLang="zh-CN"/>
                          <m:t>2</m:t>
                        </m:r>
                      </m:sub>
                    </m:sSub>
                    <m:r>
                      <a:rPr lang="en-US" altLang="zh-CN"/>
                      <m:t>=</m:t>
                    </m:r>
                    <m:sSub>
                      <m:sSubPr>
                        <m:ctrlPr>
                          <a:rPr lang="zh-CN" altLang="en-US" i="1"/>
                        </m:ctrlPr>
                      </m:sSubPr>
                      <m:e>
                        <m:r>
                          <a:rPr lang="zh-CN" altLang="en-US" i="1"/>
                          <m:t>𝑓</m:t>
                        </m:r>
                      </m:e>
                      <m:sub>
                        <m:r>
                          <a:rPr lang="zh-CN" altLang="en-US" i="1"/>
                          <m:t>𝜃</m:t>
                        </m:r>
                      </m:sub>
                    </m:sSub>
                    <m:d>
                      <m:dPr>
                        <m:sepChr m:val=","/>
                        <m:ctrlPr>
                          <a:rPr lang="zh-CN" altLang="en-US" i="1"/>
                        </m:ctrlPr>
                      </m:dPr>
                      <m:e>
                        <m:sSub>
                          <m:sSubPr>
                            <m:ctrlPr>
                              <a:rPr lang="zh-CN" altLang="en-US" i="1"/>
                            </m:ctrlPr>
                          </m:sSubPr>
                          <m:e>
                            <m:r>
                              <a:rPr lang="zh-CN" altLang="en-US" i="1"/>
                              <m:t>𝑧</m:t>
                            </m:r>
                          </m:e>
                          <m:sub>
                            <m:r>
                              <a:rPr lang="en-US" altLang="zh-CN"/>
                              <m:t>1</m:t>
                            </m:r>
                          </m:sub>
                        </m:sSub>
                      </m:e>
                      <m:e>
                        <m:r>
                          <a:rPr lang="zh-CN" altLang="en-US" i="1"/>
                          <m:t>𝑥</m:t>
                        </m:r>
                      </m:e>
                    </m:d>
                    <m:r>
                      <a:rPr lang="en-US" altLang="zh-CN"/>
                      <m:t>, …</m:t>
                    </m:r>
                  </m:oMath>
                </a14:m>
                <a:endParaRPr lang="zh-CN" altLang="en-US" dirty="0"/>
              </a:p>
              <a:p>
                <a:pPr marL="0" indent="0">
                  <a:lnSpc>
                    <a:spcPct val="120000"/>
                  </a:lnSpc>
                  <a:buNone/>
                </a:pPr>
                <a:r>
                  <a:rPr lang="en-US" altLang="zh-CN" dirty="0"/>
                  <a:t>DEQ </a:t>
                </a:r>
                <a:r>
                  <a:rPr lang="zh-CN" altLang="en-US" dirty="0"/>
                  <a:t>则认为，当层数趋向无穷时，隐藏状态可能收敛到某个平衡点：</a:t>
                </a:r>
                <a14:m>
                  <m:oMath xmlns:m="http://schemas.openxmlformats.org/officeDocument/2006/math">
                    <m:sSup>
                      <m:sSupPr>
                        <m:ctrlPr>
                          <a:rPr lang="zh-CN" altLang="en-US"/>
                        </m:ctrlPr>
                      </m:sSupPr>
                      <m:e>
                        <m:r>
                          <a:rPr lang="zh-CN" altLang="en-US" i="1"/>
                          <m:t>𝑧</m:t>
                        </m:r>
                      </m:e>
                      <m:sup>
                        <m:r>
                          <a:rPr lang="zh-CN" altLang="en-US"/>
                          <m:t>∗</m:t>
                        </m:r>
                      </m:sup>
                    </m:sSup>
                    <m:r>
                      <a:rPr lang="en-US" altLang="zh-CN"/>
                      <m:t>=</m:t>
                    </m:r>
                    <m:sSub>
                      <m:sSubPr>
                        <m:ctrlPr>
                          <a:rPr lang="zh-CN" altLang="en-US" i="1"/>
                        </m:ctrlPr>
                      </m:sSubPr>
                      <m:e>
                        <m:r>
                          <a:rPr lang="zh-CN" altLang="en-US" i="1"/>
                          <m:t>𝑓</m:t>
                        </m:r>
                      </m:e>
                      <m:sub>
                        <m:r>
                          <a:rPr lang="zh-CN" altLang="en-US" i="1"/>
                          <m:t>𝜃</m:t>
                        </m:r>
                      </m:sub>
                    </m:sSub>
                    <m:d>
                      <m:dPr>
                        <m:sepChr m:val=","/>
                        <m:ctrlPr>
                          <a:rPr lang="zh-CN" altLang="en-US" i="1"/>
                        </m:ctrlPr>
                      </m:dPr>
                      <m:e>
                        <m:sSup>
                          <m:sSupPr>
                            <m:ctrlPr>
                              <a:rPr lang="zh-CN" altLang="en-US" i="1"/>
                            </m:ctrlPr>
                          </m:sSupPr>
                          <m:e>
                            <m:r>
                              <a:rPr lang="zh-CN" altLang="en-US" i="1"/>
                              <m:t>𝑧</m:t>
                            </m:r>
                          </m:e>
                          <m:sup>
                            <m:r>
                              <a:rPr lang="zh-CN" altLang="en-US"/>
                              <m:t>∗</m:t>
                            </m:r>
                          </m:sup>
                        </m:sSup>
                      </m:e>
                      <m:e>
                        <m:r>
                          <a:rPr lang="zh-CN" altLang="en-US" i="1"/>
                          <m:t>𝑥</m:t>
                        </m:r>
                      </m:e>
                    </m:d>
                    <m:r>
                      <a:rPr lang="en-US" altLang="zh-CN"/>
                      <m:t>.</m:t>
                    </m:r>
                  </m:oMath>
                </a14:m>
                <a:endParaRPr lang="en-US" altLang="zh-CN" dirty="0"/>
              </a:p>
              <a:p>
                <a:pPr marL="0" indent="0">
                  <a:lnSpc>
                    <a:spcPct val="120000"/>
                  </a:lnSpc>
                  <a:buNone/>
                </a:pPr>
                <a:r>
                  <a:rPr lang="ja-JP" altLang="en-US" dirty="0"/>
                  <a:t>普通深度神经网络是一层一层计算的：</a:t>
                </a:r>
              </a:p>
              <a:p>
                <a:pPr lvl="1">
                  <a:lnSpc>
                    <a:spcPct val="120000"/>
                  </a:lnSpc>
                </a:pPr>
                <a14:m>
                  <m:oMath xmlns:m="http://schemas.openxmlformats.org/officeDocument/2006/math">
                    <m:sSub>
                      <m:sSubPr>
                        <m:ctrlPr>
                          <a:rPr lang="ar-AE" altLang="ja-JP"/>
                        </m:ctrlPr>
                      </m:sSubPr>
                      <m:e>
                        <m:r>
                          <a:rPr lang="ja-JP" altLang="ar-AE" i="1"/>
                          <m:t>𝑧</m:t>
                        </m:r>
                      </m:e>
                      <m:sub>
                        <m:r>
                          <a:rPr lang="ar-AE" altLang="ja-JP"/>
                          <m:t>1</m:t>
                        </m:r>
                      </m:sub>
                    </m:sSub>
                    <m:r>
                      <a:rPr lang="ar-AE" altLang="ja-JP"/>
                      <m:t>=</m:t>
                    </m:r>
                    <m:sSub>
                      <m:sSubPr>
                        <m:ctrlPr>
                          <a:rPr lang="ar-AE" altLang="ja-JP" i="1"/>
                        </m:ctrlPr>
                      </m:sSubPr>
                      <m:e>
                        <m:r>
                          <a:rPr lang="ja-JP" altLang="ar-AE" i="1"/>
                          <m:t>𝑓</m:t>
                        </m:r>
                      </m:e>
                      <m:sub>
                        <m:r>
                          <a:rPr lang="ja-JP" altLang="ar-AE" i="1"/>
                          <m:t>𝜃</m:t>
                        </m:r>
                        <m:r>
                          <a:rPr lang="ar-AE" altLang="ja-JP"/>
                          <m:t>,</m:t>
                        </m:r>
                        <m:r>
                          <a:rPr lang="ar-AE" altLang="ja-JP"/>
                          <m:t>1</m:t>
                        </m:r>
                      </m:sub>
                    </m:sSub>
                    <m:d>
                      <m:dPr>
                        <m:sepChr m:val=","/>
                        <m:ctrlPr>
                          <a:rPr lang="ar-AE" altLang="ja-JP" i="1"/>
                        </m:ctrlPr>
                      </m:dPr>
                      <m:e>
                        <m:sSub>
                          <m:sSubPr>
                            <m:ctrlPr>
                              <a:rPr lang="ar-AE" altLang="ja-JP" i="1"/>
                            </m:ctrlPr>
                          </m:sSubPr>
                          <m:e>
                            <m:r>
                              <a:rPr lang="ja-JP" altLang="ar-AE" i="1"/>
                              <m:t>𝑧</m:t>
                            </m:r>
                          </m:e>
                          <m:sub>
                            <m:r>
                              <a:rPr lang="ar-AE" altLang="ja-JP"/>
                              <m:t>0</m:t>
                            </m:r>
                          </m:sub>
                        </m:sSub>
                      </m:e>
                      <m:e>
                        <m:r>
                          <a:rPr lang="ja-JP" altLang="ar-AE" i="1"/>
                          <m:t>𝑥</m:t>
                        </m:r>
                      </m:e>
                    </m:d>
                    <m:r>
                      <a:rPr lang="ar-AE" altLang="ja-JP"/>
                      <m:t>,</m:t>
                    </m:r>
                  </m:oMath>
                </a14:m>
                <a:endParaRPr lang="ar-AE" altLang="ja-JP" dirty="0"/>
              </a:p>
              <a:p>
                <a:pPr lvl="1">
                  <a:lnSpc>
                    <a:spcPct val="120000"/>
                  </a:lnSpc>
                </a:pPr>
                <a14:m>
                  <m:oMath xmlns:m="http://schemas.openxmlformats.org/officeDocument/2006/math">
                    <m:sSub>
                      <m:sSubPr>
                        <m:ctrlPr>
                          <a:rPr lang="ar-AE" altLang="ja-JP"/>
                        </m:ctrlPr>
                      </m:sSubPr>
                      <m:e>
                        <m:r>
                          <a:rPr lang="ja-JP" altLang="ar-AE" i="1"/>
                          <m:t>𝑧</m:t>
                        </m:r>
                      </m:e>
                      <m:sub>
                        <m:r>
                          <a:rPr lang="ar-AE" altLang="ja-JP"/>
                          <m:t>2</m:t>
                        </m:r>
                      </m:sub>
                    </m:sSub>
                    <m:r>
                      <a:rPr lang="ar-AE" altLang="ja-JP"/>
                      <m:t>=</m:t>
                    </m:r>
                    <m:sSub>
                      <m:sSubPr>
                        <m:ctrlPr>
                          <a:rPr lang="ar-AE" altLang="ja-JP" i="1"/>
                        </m:ctrlPr>
                      </m:sSubPr>
                      <m:e>
                        <m:r>
                          <a:rPr lang="ja-JP" altLang="ar-AE" i="1"/>
                          <m:t>𝑓</m:t>
                        </m:r>
                      </m:e>
                      <m:sub>
                        <m:r>
                          <a:rPr lang="ja-JP" altLang="ar-AE" i="1"/>
                          <m:t>𝜃</m:t>
                        </m:r>
                        <m:r>
                          <a:rPr lang="ar-AE" altLang="ja-JP"/>
                          <m:t>,</m:t>
                        </m:r>
                        <m:r>
                          <a:rPr lang="ar-AE" altLang="ja-JP"/>
                          <m:t>2</m:t>
                        </m:r>
                      </m:sub>
                    </m:sSub>
                    <m:d>
                      <m:dPr>
                        <m:sepChr m:val=","/>
                        <m:ctrlPr>
                          <a:rPr lang="ar-AE" altLang="ja-JP" i="1"/>
                        </m:ctrlPr>
                      </m:dPr>
                      <m:e>
                        <m:sSub>
                          <m:sSubPr>
                            <m:ctrlPr>
                              <a:rPr lang="ar-AE" altLang="ja-JP" i="1"/>
                            </m:ctrlPr>
                          </m:sSubPr>
                          <m:e>
                            <m:r>
                              <a:rPr lang="ja-JP" altLang="ar-AE" i="1"/>
                              <m:t>𝑧</m:t>
                            </m:r>
                          </m:e>
                          <m:sub>
                            <m:r>
                              <a:rPr lang="ar-AE" altLang="ja-JP"/>
                              <m:t>1</m:t>
                            </m:r>
                          </m:sub>
                        </m:sSub>
                      </m:e>
                      <m:e>
                        <m:r>
                          <a:rPr lang="ja-JP" altLang="ar-AE" i="1"/>
                          <m:t>𝑥</m:t>
                        </m:r>
                      </m:e>
                    </m:d>
                    <m:r>
                      <a:rPr lang="ar-AE" altLang="ja-JP"/>
                      <m:t>,</m:t>
                    </m:r>
                  </m:oMath>
                </a14:m>
                <a:endParaRPr lang="ar-AE" altLang="ja-JP" dirty="0"/>
              </a:p>
              <a:p>
                <a:pPr lvl="1">
                  <a:lnSpc>
                    <a:spcPct val="120000"/>
                  </a:lnSpc>
                </a:pPr>
                <a14:m>
                  <m:oMath xmlns:m="http://schemas.openxmlformats.org/officeDocument/2006/math">
                    <m:r>
                      <a:rPr lang="ar-AE" altLang="ja-JP"/>
                      <m:t>⋯</m:t>
                    </m:r>
                  </m:oMath>
                </a14:m>
                <a:endParaRPr lang="ar-AE" altLang="ja-JP" dirty="0"/>
              </a:p>
              <a:p>
                <a:pPr lvl="1">
                  <a:lnSpc>
                    <a:spcPct val="120000"/>
                  </a:lnSpc>
                </a:pPr>
                <a14:m>
                  <m:oMath xmlns:m="http://schemas.openxmlformats.org/officeDocument/2006/math">
                    <m:sSub>
                      <m:sSubPr>
                        <m:ctrlPr>
                          <a:rPr lang="ar-AE" altLang="ja-JP"/>
                        </m:ctrlPr>
                      </m:sSubPr>
                      <m:e>
                        <m:r>
                          <a:rPr lang="ja-JP" altLang="ar-AE" i="1"/>
                          <m:t>𝑧</m:t>
                        </m:r>
                      </m:e>
                      <m:sub>
                        <m:r>
                          <a:rPr lang="ja-JP" altLang="ar-AE" i="1"/>
                          <m:t>𝐿</m:t>
                        </m:r>
                      </m:sub>
                    </m:sSub>
                    <m:r>
                      <a:rPr lang="ar-AE" altLang="ja-JP"/>
                      <m:t>=</m:t>
                    </m:r>
                    <m:sSub>
                      <m:sSubPr>
                        <m:ctrlPr>
                          <a:rPr lang="ar-AE" altLang="ja-JP" i="1"/>
                        </m:ctrlPr>
                      </m:sSubPr>
                      <m:e>
                        <m:r>
                          <a:rPr lang="ja-JP" altLang="ar-AE" i="1"/>
                          <m:t>𝑓</m:t>
                        </m:r>
                      </m:e>
                      <m:sub>
                        <m:r>
                          <a:rPr lang="ja-JP" altLang="ar-AE" i="1"/>
                          <m:t>𝜃</m:t>
                        </m:r>
                        <m:r>
                          <a:rPr lang="ar-AE" altLang="ja-JP"/>
                          <m:t>,</m:t>
                        </m:r>
                        <m:r>
                          <a:rPr lang="ja-JP" altLang="ar-AE" i="1"/>
                          <m:t>𝐿</m:t>
                        </m:r>
                      </m:sub>
                    </m:sSub>
                    <m:d>
                      <m:dPr>
                        <m:sepChr m:val=","/>
                        <m:ctrlPr>
                          <a:rPr lang="ar-AE" altLang="ja-JP" i="1"/>
                        </m:ctrlPr>
                      </m:dPr>
                      <m:e>
                        <m:sSub>
                          <m:sSubPr>
                            <m:ctrlPr>
                              <a:rPr lang="ar-AE" altLang="ja-JP" i="1"/>
                            </m:ctrlPr>
                          </m:sSubPr>
                          <m:e>
                            <m:r>
                              <a:rPr lang="ja-JP" altLang="ar-AE" i="1"/>
                              <m:t>𝑧</m:t>
                            </m:r>
                          </m:e>
                          <m:sub>
                            <m:r>
                              <a:rPr lang="ja-JP" altLang="ar-AE" i="1"/>
                              <m:t>𝐿</m:t>
                            </m:r>
                            <m:r>
                              <a:rPr lang="ar-AE" altLang="ja-JP"/>
                              <m:t>−</m:t>
                            </m:r>
                            <m:r>
                              <a:rPr lang="ar-AE" altLang="ja-JP"/>
                              <m:t>1</m:t>
                            </m:r>
                          </m:sub>
                        </m:sSub>
                      </m:e>
                      <m:e>
                        <m:r>
                          <a:rPr lang="ja-JP" altLang="ar-AE" i="1"/>
                          <m:t>𝑥</m:t>
                        </m:r>
                      </m:e>
                    </m:d>
                    <m:r>
                      <a:rPr lang="ar-AE" altLang="ja-JP"/>
                      <m:t>.</m:t>
                    </m:r>
                  </m:oMath>
                </a14:m>
                <a:endParaRPr lang="ar-AE" altLang="ja-JP" dirty="0"/>
              </a:p>
              <a:p>
                <a:pPr marL="400050" lvl="1" indent="0">
                  <a:lnSpc>
                    <a:spcPct val="120000"/>
                  </a:lnSpc>
                  <a:buNone/>
                </a:pPr>
                <a14:m>
                  <m:oMath xmlns:m="http://schemas.openxmlformats.org/officeDocument/2006/math">
                    <m:r>
                      <a:rPr lang="ja-JP" altLang="en-US" i="1"/>
                      <m:t>𝑥</m:t>
                    </m:r>
                  </m:oMath>
                </a14:m>
                <a:r>
                  <a:rPr lang="ja-JP" altLang="en-US" dirty="0"/>
                  <a:t>是输入； </a:t>
                </a:r>
                <a14:m>
                  <m:oMath xmlns:m="http://schemas.openxmlformats.org/officeDocument/2006/math">
                    <m:sSub>
                      <m:sSubPr>
                        <m:ctrlPr>
                          <a:rPr lang="ar-AE" altLang="ja-JP"/>
                        </m:ctrlPr>
                      </m:sSubPr>
                      <m:e>
                        <m:r>
                          <a:rPr lang="ja-JP" altLang="ar-AE" i="1"/>
                          <m:t>𝑧</m:t>
                        </m:r>
                      </m:e>
                      <m:sub>
                        <m:r>
                          <a:rPr lang="ja-JP" altLang="ar-AE" i="1"/>
                          <m:t>𝑘</m:t>
                        </m:r>
                      </m:sub>
                    </m:sSub>
                  </m:oMath>
                </a14:m>
                <a:r>
                  <a:rPr lang="ja-JP" altLang="en-US" dirty="0"/>
                  <a:t>是第 </a:t>
                </a:r>
                <a14:m>
                  <m:oMath xmlns:m="http://schemas.openxmlformats.org/officeDocument/2006/math">
                    <m:r>
                      <a:rPr lang="ja-JP" altLang="en-US" i="1"/>
                      <m:t>𝑘</m:t>
                    </m:r>
                  </m:oMath>
                </a14:m>
                <a:r>
                  <a:rPr lang="ja-JP" altLang="en-US" dirty="0"/>
                  <a:t>层的隐藏状态； </a:t>
                </a:r>
                <a14:m>
                  <m:oMath xmlns:m="http://schemas.openxmlformats.org/officeDocument/2006/math">
                    <m:sSub>
                      <m:sSubPr>
                        <m:ctrlPr>
                          <a:rPr lang="ar-AE" altLang="ja-JP"/>
                        </m:ctrlPr>
                      </m:sSubPr>
                      <m:e>
                        <m:r>
                          <a:rPr lang="ja-JP" altLang="ar-AE" i="1"/>
                          <m:t>𝑓</m:t>
                        </m:r>
                      </m:e>
                      <m:sub>
                        <m:r>
                          <a:rPr lang="ja-JP" altLang="ar-AE" i="1"/>
                          <m:t>𝜃</m:t>
                        </m:r>
                        <m:r>
                          <a:rPr lang="ar-AE" altLang="ja-JP"/>
                          <m:t>,</m:t>
                        </m:r>
                        <m:r>
                          <a:rPr lang="ja-JP" altLang="ar-AE" i="1"/>
                          <m:t>𝑘</m:t>
                        </m:r>
                      </m:sub>
                    </m:sSub>
                  </m:oMath>
                </a14:m>
                <a:r>
                  <a:rPr lang="ja-JP" altLang="en-US" dirty="0"/>
                  <a:t>是第 </a:t>
                </a:r>
                <a14:m>
                  <m:oMath xmlns:m="http://schemas.openxmlformats.org/officeDocument/2006/math">
                    <m:r>
                      <a:rPr lang="ja-JP" altLang="en-US" i="1"/>
                      <m:t>𝑘</m:t>
                    </m:r>
                  </m:oMath>
                </a14:m>
                <a:r>
                  <a:rPr lang="ja-JP" altLang="en-US" dirty="0"/>
                  <a:t>层的变换； </a:t>
                </a:r>
                <a14:m>
                  <m:oMath xmlns:m="http://schemas.openxmlformats.org/officeDocument/2006/math">
                    <m:r>
                      <a:rPr lang="ja-JP" altLang="en-US" i="1"/>
                      <m:t>𝐿</m:t>
                    </m:r>
                  </m:oMath>
                </a14:m>
                <a:r>
                  <a:rPr lang="ja-JP" altLang="en-US" dirty="0"/>
                  <a:t>是网络深度。 </a:t>
                </a:r>
              </a:p>
              <a:p>
                <a:pPr marL="400050" lvl="1" indent="0">
                  <a:lnSpc>
                    <a:spcPct val="120000"/>
                  </a:lnSpc>
                  <a:buNone/>
                </a:pPr>
                <a:r>
                  <a:rPr lang="ja-JP" altLang="en-US" dirty="0"/>
                  <a:t>普通神经网络的问题是：我们需要事先决定网络有多少层，比如 </a:t>
                </a:r>
                <a:r>
                  <a:rPr lang="en-US" altLang="ja-JP" dirty="0"/>
                  <a:t>12 </a:t>
                </a:r>
                <a:r>
                  <a:rPr lang="ja-JP" altLang="en-US" dirty="0"/>
                  <a:t>层、</a:t>
                </a:r>
                <a:r>
                  <a:rPr lang="en-US" altLang="ja-JP" dirty="0"/>
                  <a:t>24 </a:t>
                </a:r>
                <a:r>
                  <a:rPr lang="ja-JP" altLang="en-US" dirty="0"/>
                  <a:t>层、</a:t>
                </a:r>
                <a:r>
                  <a:rPr lang="en-US" altLang="ja-JP" dirty="0"/>
                  <a:t>100 </a:t>
                </a:r>
                <a:r>
                  <a:rPr lang="ja-JP" altLang="en-US" dirty="0"/>
                  <a:t>层。</a:t>
                </a:r>
              </a:p>
              <a:p>
                <a:pPr>
                  <a:lnSpc>
                    <a:spcPct val="120000"/>
                  </a:lnSpc>
                </a:pPr>
                <a:r>
                  <a:rPr lang="en-US" altLang="ja-JP" dirty="0"/>
                  <a:t>DEQ </a:t>
                </a:r>
                <a:r>
                  <a:rPr lang="ja-JP" altLang="en-US" dirty="0"/>
                  <a:t>的想法是：</a:t>
                </a:r>
                <a:r>
                  <a:rPr lang="ja-JP" altLang="en-US" dirty="0">
                    <a:solidFill>
                      <a:srgbClr val="C00000"/>
                    </a:solidFill>
                  </a:rPr>
                  <a:t>如果一个网络不断重复同一种变换，最后会不会收敛到某个稳定状态</a:t>
                </a:r>
                <a:r>
                  <a:rPr lang="ja-JP" altLang="en-US" dirty="0"/>
                  <a:t>？</a:t>
                </a:r>
              </a:p>
            </p:txBody>
          </p:sp>
        </mc:Choice>
        <mc:Fallback>
          <p:sp>
            <p:nvSpPr>
              <p:cNvPr id="12" name="コンテンツ プレースホルダー 2">
                <a:extLst>
                  <a:ext uri="{FF2B5EF4-FFF2-40B4-BE49-F238E27FC236}">
                    <a16:creationId xmlns:a16="http://schemas.microsoft.com/office/drawing/2014/main" id="{FFD13666-523F-B563-9950-4233E6E809CC}"/>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448" b="-41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315606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0864A-5EF7-399C-223C-EFBD185ED371}"/>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7DC18820-4A7F-94F6-1104-151E12212739}"/>
              </a:ext>
            </a:extLst>
          </p:cNvPr>
          <p:cNvSpPr>
            <a:spLocks noGrp="1" noChangeArrowheads="1"/>
          </p:cNvSpPr>
          <p:nvPr>
            <p:ph type="title"/>
          </p:nvPr>
        </p:nvSpPr>
        <p:spPr/>
        <p:txBody>
          <a:bodyPr/>
          <a:lstStyle/>
          <a:p>
            <a:r>
              <a:rPr lang="zh-CN" altLang="en-US" b="1" dirty="0"/>
              <a:t>场景三：</a:t>
            </a:r>
            <a:r>
              <a:rPr lang="en-US" altLang="zh-CN" b="1" dirty="0"/>
              <a:t>Deep Equilibrium Models</a:t>
            </a:r>
            <a:r>
              <a:rPr lang="zh-CN" altLang="en-US" b="1" dirty="0"/>
              <a:t>，直接求不动点</a:t>
            </a: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4B1BB84F-6749-89C8-3014-55CA65DEBA42}"/>
                  </a:ext>
                </a:extLst>
              </p:cNvPr>
              <p:cNvSpPr>
                <a:spLocks noGrp="1"/>
              </p:cNvSpPr>
              <p:nvPr>
                <p:ph idx="1"/>
              </p:nvPr>
            </p:nvSpPr>
            <p:spPr>
              <a:xfrm>
                <a:off x="508000" y="1112520"/>
                <a:ext cx="11582400" cy="5440680"/>
              </a:xfrm>
            </p:spPr>
            <p:txBody>
              <a:bodyPr/>
              <a:lstStyle/>
              <a:p>
                <a:pPr marL="0" indent="0">
                  <a:lnSpc>
                    <a:spcPct val="120000"/>
                  </a:lnSpc>
                  <a:buNone/>
                </a:pPr>
                <a:r>
                  <a:rPr lang="ja-JP" altLang="en-US" dirty="0"/>
                  <a:t>考虑一种特殊的深度网络：每一层都使用同一个变换 </a:t>
                </a:r>
                <a14:m>
                  <m:oMath xmlns:m="http://schemas.openxmlformats.org/officeDocument/2006/math">
                    <m:sSub>
                      <m:sSubPr>
                        <m:ctrlPr>
                          <a:rPr lang="ar-AE" altLang="ja-JP"/>
                        </m:ctrlPr>
                      </m:sSubPr>
                      <m:e>
                        <m:r>
                          <a:rPr lang="ja-JP" altLang="ar-AE" i="1"/>
                          <m:t>𝑓</m:t>
                        </m:r>
                      </m:e>
                      <m:sub>
                        <m:r>
                          <a:rPr lang="ja-JP" altLang="ar-AE" i="1"/>
                          <m:t>𝜃</m:t>
                        </m:r>
                      </m:sub>
                    </m:sSub>
                  </m:oMath>
                </a14:m>
                <a:r>
                  <a:rPr lang="ja-JP" altLang="ar-AE" dirty="0"/>
                  <a:t>。</a:t>
                </a:r>
              </a:p>
              <a:p>
                <a:pPr>
                  <a:lnSpc>
                    <a:spcPct val="120000"/>
                  </a:lnSpc>
                </a:pPr>
                <a14:m>
                  <m:oMath xmlns:m="http://schemas.openxmlformats.org/officeDocument/2006/math">
                    <m:sSub>
                      <m:sSubPr>
                        <m:ctrlPr>
                          <a:rPr lang="ar-AE" altLang="ja-JP"/>
                        </m:ctrlPr>
                      </m:sSubPr>
                      <m:e>
                        <m:r>
                          <a:rPr lang="ja-JP" altLang="ar-AE" i="1"/>
                          <m:t>𝑧</m:t>
                        </m:r>
                      </m:e>
                      <m:sub>
                        <m:r>
                          <a:rPr lang="ja-JP" altLang="ar-AE" i="1"/>
                          <m:t>𝑘</m:t>
                        </m:r>
                        <m:r>
                          <a:rPr lang="ar-AE" altLang="ja-JP"/>
                          <m:t>+</m:t>
                        </m:r>
                        <m:r>
                          <a:rPr lang="ar-AE" altLang="ja-JP"/>
                          <m:t>1</m:t>
                        </m:r>
                      </m:sub>
                    </m:sSub>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sSub>
                          <m:sSubPr>
                            <m:ctrlPr>
                              <a:rPr lang="ar-AE" altLang="ja-JP" i="1"/>
                            </m:ctrlPr>
                          </m:sSubPr>
                          <m:e>
                            <m:r>
                              <a:rPr lang="ja-JP" altLang="ar-AE" i="1"/>
                              <m:t>𝑧</m:t>
                            </m:r>
                          </m:e>
                          <m:sub>
                            <m:r>
                              <a:rPr lang="ja-JP" altLang="ar-AE" i="1"/>
                              <m:t>𝑘</m:t>
                            </m:r>
                          </m:sub>
                        </m:sSub>
                      </m:e>
                      <m:e>
                        <m:r>
                          <a:rPr lang="ja-JP" altLang="ar-AE" i="1"/>
                          <m:t>𝑥</m:t>
                        </m:r>
                      </m:e>
                    </m:d>
                    <m:r>
                      <a:rPr lang="ar-AE" altLang="ja-JP"/>
                      <m:t>.</m:t>
                    </m:r>
                  </m:oMath>
                </a14:m>
                <a:r>
                  <a:rPr lang="ja-JP" altLang="en-US" dirty="0"/>
                  <a:t> 这里所有层共享参数 </a:t>
                </a:r>
                <a14:m>
                  <m:oMath xmlns:m="http://schemas.openxmlformats.org/officeDocument/2006/math">
                    <m:r>
                      <a:rPr lang="ja-JP" altLang="en-US" i="1"/>
                      <m:t>𝜃</m:t>
                    </m:r>
                  </m:oMath>
                </a14:m>
                <a:r>
                  <a:rPr lang="ja-JP" altLang="en-US" dirty="0"/>
                  <a:t>。这种结构叫 </a:t>
                </a:r>
                <a:r>
                  <a:rPr lang="en-US" altLang="ja-JP" b="1" dirty="0">
                    <a:solidFill>
                      <a:srgbClr val="C00000"/>
                    </a:solidFill>
                  </a:rPr>
                  <a:t>weight-tied network</a:t>
                </a:r>
                <a:r>
                  <a:rPr lang="ja-JP" altLang="en-US" dirty="0">
                    <a:solidFill>
                      <a:schemeClr val="bg2">
                        <a:lumMod val="50000"/>
                      </a:schemeClr>
                    </a:solidFill>
                  </a:rPr>
                  <a:t>，即</a:t>
                </a:r>
                <a:r>
                  <a:rPr lang="ja-JP" altLang="en-US" dirty="0">
                    <a:solidFill>
                      <a:srgbClr val="C00000"/>
                    </a:solidFill>
                  </a:rPr>
                  <a:t>权重共享网络</a:t>
                </a:r>
                <a:r>
                  <a:rPr lang="ja-JP" altLang="en-US" dirty="0"/>
                  <a:t>。</a:t>
                </a:r>
              </a:p>
              <a:p>
                <a:pPr marL="0" indent="0">
                  <a:lnSpc>
                    <a:spcPct val="120000"/>
                  </a:lnSpc>
                  <a:buNone/>
                </a:pPr>
                <a:endParaRPr lang="en-US" altLang="ja-JP" dirty="0"/>
              </a:p>
              <a:p>
                <a:pPr marL="0" indent="0">
                  <a:lnSpc>
                    <a:spcPct val="120000"/>
                  </a:lnSpc>
                  <a:buNone/>
                </a:pPr>
                <a:r>
                  <a:rPr lang="ja-JP" altLang="en-US" dirty="0"/>
                  <a:t>如果不断迭代：</a:t>
                </a:r>
                <a14:m>
                  <m:oMath xmlns:m="http://schemas.openxmlformats.org/officeDocument/2006/math">
                    <m:sSub>
                      <m:sSubPr>
                        <m:ctrlPr>
                          <a:rPr lang="ar-AE" altLang="ja-JP"/>
                        </m:ctrlPr>
                      </m:sSubPr>
                      <m:e>
                        <m:r>
                          <a:rPr lang="ja-JP" altLang="ar-AE" i="1"/>
                          <m:t>𝑧</m:t>
                        </m:r>
                      </m:e>
                      <m:sub>
                        <m:r>
                          <a:rPr lang="ar-AE" altLang="ja-JP"/>
                          <m:t>0</m:t>
                        </m:r>
                      </m:sub>
                    </m:sSub>
                    <m:r>
                      <a:rPr lang="ar-AE" altLang="ja-JP"/>
                      <m:t>→</m:t>
                    </m:r>
                    <m:sSub>
                      <m:sSubPr>
                        <m:ctrlPr>
                          <a:rPr lang="ar-AE" altLang="ja-JP" i="1"/>
                        </m:ctrlPr>
                      </m:sSubPr>
                      <m:e>
                        <m:r>
                          <a:rPr lang="ja-JP" altLang="ar-AE" i="1"/>
                          <m:t>𝑧</m:t>
                        </m:r>
                      </m:e>
                      <m:sub>
                        <m:r>
                          <a:rPr lang="ar-AE" altLang="ja-JP"/>
                          <m:t>1</m:t>
                        </m:r>
                      </m:sub>
                    </m:sSub>
                    <m:r>
                      <a:rPr lang="ar-AE" altLang="ja-JP"/>
                      <m:t>→</m:t>
                    </m:r>
                    <m:sSub>
                      <m:sSubPr>
                        <m:ctrlPr>
                          <a:rPr lang="ar-AE" altLang="ja-JP" i="1"/>
                        </m:ctrlPr>
                      </m:sSubPr>
                      <m:e>
                        <m:r>
                          <a:rPr lang="ja-JP" altLang="ar-AE" i="1"/>
                          <m:t>𝑧</m:t>
                        </m:r>
                      </m:e>
                      <m:sub>
                        <m:r>
                          <a:rPr lang="ar-AE" altLang="ja-JP"/>
                          <m:t>2</m:t>
                        </m:r>
                      </m:sub>
                    </m:sSub>
                    <m:r>
                      <a:rPr lang="ar-AE" altLang="ja-JP"/>
                      <m:t>→⋯</m:t>
                    </m:r>
                  </m:oMath>
                </a14:m>
                <a:r>
                  <a:rPr lang="en-US" altLang="ja-JP" dirty="0"/>
                  <a:t>, </a:t>
                </a:r>
                <a:r>
                  <a:rPr lang="ja-JP" altLang="en-US" dirty="0"/>
                  <a:t>并且这个过程收敛，那么极限状态 </a:t>
                </a:r>
                <a14:m>
                  <m:oMath xmlns:m="http://schemas.openxmlformats.org/officeDocument/2006/math">
                    <m:sSup>
                      <m:sSupPr>
                        <m:ctrlPr>
                          <a:rPr lang="ar-AE" altLang="ja-JP"/>
                        </m:ctrlPr>
                      </m:sSupPr>
                      <m:e>
                        <m:r>
                          <a:rPr lang="ja-JP" altLang="ar-AE" i="1"/>
                          <m:t>𝑧</m:t>
                        </m:r>
                      </m:e>
                      <m:sup>
                        <m:r>
                          <a:rPr lang="ar-AE" altLang="ja-JP"/>
                          <m:t>∗</m:t>
                        </m:r>
                      </m:sup>
                    </m:sSup>
                  </m:oMath>
                </a14:m>
                <a:r>
                  <a:rPr lang="ja-JP" altLang="en-US" dirty="0"/>
                  <a:t>应该满足：</a:t>
                </a:r>
                <a14:m>
                  <m:oMath xmlns:m="http://schemas.openxmlformats.org/officeDocument/2006/math">
                    <m:sSup>
                      <m:sSupPr>
                        <m:ctrlPr>
                          <a:rPr lang="ar-AE" altLang="ja-JP"/>
                        </m:ctrlPr>
                      </m:sSupPr>
                      <m:e>
                        <m:r>
                          <a:rPr lang="ja-JP" altLang="ar-AE" i="1"/>
                          <m:t>𝑧</m:t>
                        </m:r>
                      </m:e>
                      <m:sup>
                        <m:r>
                          <a:rPr lang="ar-AE" altLang="ja-JP"/>
                          <m:t>∗</m:t>
                        </m:r>
                      </m:sup>
                    </m:sSup>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sSup>
                          <m:sSupPr>
                            <m:ctrlPr>
                              <a:rPr lang="ar-AE" altLang="ja-JP" i="1"/>
                            </m:ctrlPr>
                          </m:sSupPr>
                          <m:e>
                            <m:r>
                              <a:rPr lang="ja-JP" altLang="ar-AE" i="1"/>
                              <m:t>𝑧</m:t>
                            </m:r>
                          </m:e>
                          <m:sup>
                            <m:r>
                              <a:rPr lang="ar-AE" altLang="ja-JP"/>
                              <m:t>∗</m:t>
                            </m:r>
                          </m:sup>
                        </m:sSup>
                      </m:e>
                      <m:e>
                        <m:r>
                          <a:rPr lang="ja-JP" altLang="ar-AE" i="1"/>
                          <m:t>𝑥</m:t>
                        </m:r>
                      </m:e>
                    </m:d>
                    <m:r>
                      <a:rPr lang="ar-AE" altLang="ja-JP"/>
                      <m:t>.</m:t>
                    </m:r>
                  </m:oMath>
                </a14:m>
                <a:r>
                  <a:rPr lang="en-US" altLang="ja-JP" dirty="0"/>
                  <a:t> </a:t>
                </a:r>
                <a:r>
                  <a:rPr lang="ja-JP" altLang="en-US" dirty="0"/>
                  <a:t>这就是 </a:t>
                </a:r>
                <a:r>
                  <a:rPr lang="en-US" altLang="ja-JP" dirty="0"/>
                  <a:t>DEQ </a:t>
                </a:r>
                <a:r>
                  <a:rPr lang="ja-JP" altLang="en-US" dirty="0"/>
                  <a:t>的核心方程。</a:t>
                </a:r>
              </a:p>
              <a:p>
                <a:pPr>
                  <a:lnSpc>
                    <a:spcPct val="120000"/>
                  </a:lnSpc>
                </a:pPr>
                <a14:m>
                  <m:oMath xmlns:m="http://schemas.openxmlformats.org/officeDocument/2006/math">
                    <m:sSup>
                      <m:sSupPr>
                        <m:ctrlPr>
                          <a:rPr lang="ar-AE" altLang="ja-JP"/>
                        </m:ctrlPr>
                      </m:sSupPr>
                      <m:e>
                        <m:r>
                          <a:rPr lang="ja-JP" altLang="ar-AE" i="1"/>
                          <m:t>𝑧</m:t>
                        </m:r>
                      </m:e>
                      <m:sup>
                        <m:r>
                          <a:rPr lang="ar-AE" altLang="ja-JP"/>
                          <m:t>∗</m:t>
                        </m:r>
                      </m:sup>
                    </m:sSup>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sSup>
                          <m:sSupPr>
                            <m:ctrlPr>
                              <a:rPr lang="ar-AE" altLang="ja-JP" i="1"/>
                            </m:ctrlPr>
                          </m:sSupPr>
                          <m:e>
                            <m:r>
                              <a:rPr lang="ja-JP" altLang="ar-AE" i="1"/>
                              <m:t>𝑧</m:t>
                            </m:r>
                          </m:e>
                          <m:sup>
                            <m:r>
                              <a:rPr lang="ar-AE" altLang="ja-JP"/>
                              <m:t>∗</m:t>
                            </m:r>
                          </m:sup>
                        </m:sSup>
                      </m:e>
                      <m:e>
                        <m:r>
                          <a:rPr lang="ja-JP" altLang="ar-AE" i="1"/>
                          <m:t>𝑥</m:t>
                        </m:r>
                      </m:e>
                    </m:d>
                  </m:oMath>
                </a14:m>
                <a:r>
                  <a:rPr lang="ja-JP" altLang="en-US" dirty="0"/>
                  <a:t> 这个 </a:t>
                </a:r>
                <a14:m>
                  <m:oMath xmlns:m="http://schemas.openxmlformats.org/officeDocument/2006/math">
                    <m:sSup>
                      <m:sSupPr>
                        <m:ctrlPr>
                          <a:rPr lang="ar-AE" altLang="ja-JP"/>
                        </m:ctrlPr>
                      </m:sSupPr>
                      <m:e>
                        <m:r>
                          <a:rPr lang="ja-JP" altLang="ar-AE" i="1"/>
                          <m:t>𝑧</m:t>
                        </m:r>
                      </m:e>
                      <m:sup>
                        <m:r>
                          <a:rPr lang="ar-AE" altLang="ja-JP"/>
                          <m:t>∗</m:t>
                        </m:r>
                      </m:sup>
                    </m:sSup>
                  </m:oMath>
                </a14:m>
                <a:r>
                  <a:rPr lang="ja-JP" altLang="en-US" dirty="0"/>
                  <a:t>叫做 </a:t>
                </a:r>
                <a:r>
                  <a:rPr lang="en-US" altLang="ja-JP" b="1" dirty="0">
                    <a:solidFill>
                      <a:srgbClr val="C00000"/>
                    </a:solidFill>
                  </a:rPr>
                  <a:t>equilibrium point</a:t>
                </a:r>
                <a:r>
                  <a:rPr lang="ja-JP" altLang="en-US" dirty="0"/>
                  <a:t>，即</a:t>
                </a:r>
                <a:r>
                  <a:rPr lang="ja-JP" altLang="en-US" dirty="0">
                    <a:solidFill>
                      <a:srgbClr val="C00000"/>
                    </a:solidFill>
                  </a:rPr>
                  <a:t>平衡点</a:t>
                </a:r>
                <a:r>
                  <a:rPr lang="ja-JP" altLang="en-US" dirty="0"/>
                  <a:t>，也就是</a:t>
                </a:r>
                <a:r>
                  <a:rPr lang="ja-JP" altLang="en-US" dirty="0">
                    <a:solidFill>
                      <a:srgbClr val="C00000"/>
                    </a:solidFill>
                  </a:rPr>
                  <a:t>不动点</a:t>
                </a:r>
                <a:r>
                  <a:rPr lang="ja-JP" altLang="en-US" dirty="0"/>
                  <a:t>。</a:t>
                </a:r>
              </a:p>
              <a:p>
                <a:pPr marL="0" indent="0">
                  <a:lnSpc>
                    <a:spcPct val="120000"/>
                  </a:lnSpc>
                  <a:buNone/>
                </a:pPr>
                <a:endParaRPr lang="en-US" altLang="ja-JP" dirty="0"/>
              </a:p>
              <a:p>
                <a:pPr marL="0" indent="0">
                  <a:lnSpc>
                    <a:spcPct val="120000"/>
                  </a:lnSpc>
                  <a:buNone/>
                </a:pPr>
                <a:r>
                  <a:rPr lang="ja-JP" altLang="en-US" dirty="0"/>
                  <a:t>为了用数值方法求它，通常把它改写成求根问题：</a:t>
                </a:r>
                <a14:m>
                  <m:oMath xmlns:m="http://schemas.openxmlformats.org/officeDocument/2006/math">
                    <m:sSub>
                      <m:sSubPr>
                        <m:ctrlPr>
                          <a:rPr lang="ar-AE" altLang="ja-JP"/>
                        </m:ctrlPr>
                      </m:sSubPr>
                      <m:e>
                        <m:r>
                          <a:rPr lang="ja-JP" altLang="ar-AE" i="1"/>
                          <m:t>𝐹</m:t>
                        </m:r>
                      </m:e>
                      <m:sub>
                        <m:r>
                          <a:rPr lang="ja-JP" altLang="ar-AE" i="1"/>
                          <m:t>𝜃</m:t>
                        </m:r>
                      </m:sub>
                    </m:sSub>
                    <m:d>
                      <m:dPr>
                        <m:sepChr m:val=";"/>
                        <m:ctrlPr>
                          <a:rPr lang="ar-AE" altLang="ja-JP" i="1"/>
                        </m:ctrlPr>
                      </m:dPr>
                      <m:e>
                        <m:r>
                          <a:rPr lang="ja-JP" altLang="ar-AE" i="1"/>
                          <m:t>𝑧</m:t>
                        </m:r>
                      </m:e>
                      <m:e>
                        <m:r>
                          <a:rPr lang="ja-JP" altLang="ar-AE" i="1"/>
                          <m:t>𝑥</m:t>
                        </m:r>
                      </m:e>
                    </m:d>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r>
                          <a:rPr lang="ja-JP" altLang="ar-AE" i="1"/>
                          <m:t>𝑧</m:t>
                        </m:r>
                      </m:e>
                      <m:e>
                        <m:r>
                          <a:rPr lang="ja-JP" altLang="ar-AE" i="1"/>
                          <m:t>𝑥</m:t>
                        </m:r>
                      </m:e>
                    </m:d>
                    <m:r>
                      <a:rPr lang="ar-AE" altLang="ja-JP"/>
                      <m:t>−</m:t>
                    </m:r>
                    <m:r>
                      <a:rPr lang="ja-JP" altLang="ar-AE" i="1"/>
                      <m:t>𝑧</m:t>
                    </m:r>
                    <m:r>
                      <a:rPr lang="ar-AE" altLang="ja-JP"/>
                      <m:t>=</m:t>
                    </m:r>
                    <m:r>
                      <a:rPr lang="ar-AE" altLang="ja-JP"/>
                      <m:t>0</m:t>
                    </m:r>
                  </m:oMath>
                </a14:m>
                <a:endParaRPr lang="ar-AE" altLang="ja-JP" dirty="0"/>
              </a:p>
              <a:p>
                <a:pPr>
                  <a:lnSpc>
                    <a:spcPct val="120000"/>
                  </a:lnSpc>
                </a:pPr>
                <a:r>
                  <a:rPr lang="ja-JP" altLang="en-US" dirty="0"/>
                  <a:t>也就是说，</a:t>
                </a:r>
                <a:r>
                  <a:rPr lang="en-US" altLang="ja-JP" dirty="0"/>
                  <a:t>DEQ </a:t>
                </a:r>
                <a:r>
                  <a:rPr lang="ja-JP" altLang="en-US" dirty="0"/>
                  <a:t>的前向传播不是逐层计算，而是求解：</a:t>
                </a:r>
                <a14:m>
                  <m:oMath xmlns:m="http://schemas.openxmlformats.org/officeDocument/2006/math">
                    <m:sSub>
                      <m:sSubPr>
                        <m:ctrlPr>
                          <a:rPr lang="ar-AE" altLang="ja-JP"/>
                        </m:ctrlPr>
                      </m:sSubPr>
                      <m:e>
                        <m:r>
                          <a:rPr lang="ja-JP" altLang="ar-AE" i="1"/>
                          <m:t>𝐹</m:t>
                        </m:r>
                      </m:e>
                      <m:sub>
                        <m:r>
                          <a:rPr lang="ja-JP" altLang="ar-AE" i="1"/>
                          <m:t>𝜃</m:t>
                        </m:r>
                      </m:sub>
                    </m:sSub>
                    <m:d>
                      <m:dPr>
                        <m:sepChr m:val=";"/>
                        <m:ctrlPr>
                          <a:rPr lang="ar-AE" altLang="ja-JP" i="1"/>
                        </m:ctrlPr>
                      </m:dPr>
                      <m:e>
                        <m:r>
                          <a:rPr lang="ja-JP" altLang="ar-AE" i="1"/>
                          <m:t>𝑧</m:t>
                        </m:r>
                      </m:e>
                      <m:e>
                        <m:r>
                          <a:rPr lang="ja-JP" altLang="ar-AE" i="1"/>
                          <m:t>𝑥</m:t>
                        </m:r>
                      </m:e>
                    </m:d>
                    <m:r>
                      <a:rPr lang="ar-AE" altLang="ja-JP"/>
                      <m:t>=</m:t>
                    </m:r>
                    <m:r>
                      <a:rPr lang="ar-AE" altLang="ja-JP"/>
                      <m:t>0</m:t>
                    </m:r>
                    <m:r>
                      <a:rPr lang="ar-AE" altLang="ja-JP"/>
                      <m:t>.</m:t>
                    </m:r>
                  </m:oMath>
                </a14:m>
                <a:endParaRPr lang="ar-AE" altLang="ja-JP" dirty="0"/>
              </a:p>
              <a:p>
                <a:pPr>
                  <a:lnSpc>
                    <a:spcPct val="120000"/>
                  </a:lnSpc>
                </a:pPr>
                <a:r>
                  <a:rPr lang="ja-JP" altLang="en-US" dirty="0"/>
                  <a:t>这就是 </a:t>
                </a:r>
                <a:r>
                  <a:rPr lang="en-US" altLang="ja-JP" dirty="0"/>
                  <a:t>root-finding</a:t>
                </a:r>
                <a:r>
                  <a:rPr lang="ja-JP" altLang="en-US" dirty="0"/>
                  <a:t>。数值算法的目标是：</a:t>
                </a:r>
                <a14:m>
                  <m:oMath xmlns:m="http://schemas.openxmlformats.org/officeDocument/2006/math">
                    <m:r>
                      <m:rPr>
                        <m:nor/>
                      </m:rPr>
                      <a:rPr lang="en-US" altLang="ja-JP" b="0" smtClean="0">
                        <a:solidFill>
                          <a:srgbClr val="C00000"/>
                        </a:solidFill>
                      </a:rPr>
                      <m:t>find</m:t>
                    </m:r>
                    <m:r>
                      <m:rPr>
                        <m:nor/>
                      </m:rPr>
                      <a:rPr lang="en-US" altLang="ja-JP" b="0" i="1" smtClean="0">
                        <a:solidFill>
                          <a:srgbClr val="C00000"/>
                        </a:solidFill>
                      </a:rPr>
                      <m:t> </m:t>
                    </m:r>
                    <m:sSup>
                      <m:sSupPr>
                        <m:ctrlPr>
                          <a:rPr lang="ar-AE" altLang="ja-JP" i="1">
                            <a:solidFill>
                              <a:srgbClr val="C00000"/>
                            </a:solidFill>
                          </a:rPr>
                        </m:ctrlPr>
                      </m:sSupPr>
                      <m:e>
                        <m:r>
                          <a:rPr lang="ja-JP" altLang="ar-AE" b="0" i="1">
                            <a:solidFill>
                              <a:srgbClr val="C00000"/>
                            </a:solidFill>
                          </a:rPr>
                          <m:t>𝑧</m:t>
                        </m:r>
                      </m:e>
                      <m:sup>
                        <m:r>
                          <a:rPr lang="ar-AE" altLang="ja-JP">
                            <a:solidFill>
                              <a:srgbClr val="C00000"/>
                            </a:solidFill>
                          </a:rPr>
                          <m:t>∗</m:t>
                        </m:r>
                      </m:sup>
                    </m:sSup>
                    <m:r>
                      <m:rPr>
                        <m:nor/>
                      </m:rPr>
                      <a:rPr lang="ar-AE" altLang="ja-JP" i="1">
                        <a:solidFill>
                          <a:srgbClr val="C00000"/>
                        </a:solidFill>
                      </a:rPr>
                      <m:t> </m:t>
                    </m:r>
                    <m:r>
                      <m:rPr>
                        <m:nor/>
                      </m:rPr>
                      <a:rPr lang="en-US" altLang="ja-JP" i="1">
                        <a:solidFill>
                          <a:srgbClr val="C00000"/>
                        </a:solidFill>
                      </a:rPr>
                      <m:t>such</m:t>
                    </m:r>
                    <m:r>
                      <m:rPr>
                        <m:nor/>
                      </m:rPr>
                      <a:rPr lang="en-US" altLang="ja-JP" i="1">
                        <a:solidFill>
                          <a:srgbClr val="C00000"/>
                        </a:solidFill>
                      </a:rPr>
                      <m:t> </m:t>
                    </m:r>
                    <m:r>
                      <m:rPr>
                        <m:nor/>
                      </m:rPr>
                      <a:rPr lang="en-US" altLang="ja-JP" i="1">
                        <a:solidFill>
                          <a:srgbClr val="C00000"/>
                        </a:solidFill>
                      </a:rPr>
                      <m:t>that</m:t>
                    </m:r>
                    <m:r>
                      <m:rPr>
                        <m:nor/>
                      </m:rPr>
                      <a:rPr lang="en-US" altLang="ja-JP" i="1">
                        <a:solidFill>
                          <a:srgbClr val="C00000"/>
                        </a:solidFill>
                      </a:rPr>
                      <m:t> </m:t>
                    </m:r>
                    <m:r>
                      <a:rPr lang="en-US" altLang="ja-JP">
                        <a:solidFill>
                          <a:srgbClr val="C00000"/>
                        </a:solidFill>
                      </a:rPr>
                      <m:t>∥</m:t>
                    </m:r>
                    <m:sSub>
                      <m:sSubPr>
                        <m:ctrlPr>
                          <a:rPr lang="ar-AE" altLang="ja-JP" i="1">
                            <a:solidFill>
                              <a:srgbClr val="C00000"/>
                            </a:solidFill>
                          </a:rPr>
                        </m:ctrlPr>
                      </m:sSubPr>
                      <m:e>
                        <m:r>
                          <a:rPr lang="ja-JP" altLang="ar-AE" i="1">
                            <a:solidFill>
                              <a:srgbClr val="C00000"/>
                            </a:solidFill>
                          </a:rPr>
                          <m:t>𝑓</m:t>
                        </m:r>
                      </m:e>
                      <m:sub>
                        <m:r>
                          <a:rPr lang="ja-JP" altLang="ar-AE" i="1">
                            <a:solidFill>
                              <a:srgbClr val="C00000"/>
                            </a:solidFill>
                          </a:rPr>
                          <m:t>𝜃</m:t>
                        </m:r>
                      </m:sub>
                    </m:sSub>
                    <m:d>
                      <m:dPr>
                        <m:sepChr m:val=","/>
                        <m:ctrlPr>
                          <a:rPr lang="ar-AE" altLang="ja-JP" i="1">
                            <a:solidFill>
                              <a:srgbClr val="C00000"/>
                            </a:solidFill>
                          </a:rPr>
                        </m:ctrlPr>
                      </m:dPr>
                      <m:e>
                        <m:sSup>
                          <m:sSupPr>
                            <m:ctrlPr>
                              <a:rPr lang="ar-AE" altLang="ja-JP" i="1">
                                <a:solidFill>
                                  <a:srgbClr val="C00000"/>
                                </a:solidFill>
                              </a:rPr>
                            </m:ctrlPr>
                          </m:sSupPr>
                          <m:e>
                            <m:r>
                              <a:rPr lang="ja-JP" altLang="ar-AE" i="1">
                                <a:solidFill>
                                  <a:srgbClr val="C00000"/>
                                </a:solidFill>
                              </a:rPr>
                              <m:t>𝑧</m:t>
                            </m:r>
                          </m:e>
                          <m:sup>
                            <m:r>
                              <a:rPr lang="ar-AE" altLang="ja-JP">
                                <a:solidFill>
                                  <a:srgbClr val="C00000"/>
                                </a:solidFill>
                              </a:rPr>
                              <m:t>∗</m:t>
                            </m:r>
                          </m:sup>
                        </m:sSup>
                      </m:e>
                      <m:e>
                        <m:r>
                          <a:rPr lang="ja-JP" altLang="ar-AE" i="1">
                            <a:solidFill>
                              <a:srgbClr val="C00000"/>
                            </a:solidFill>
                          </a:rPr>
                          <m:t>𝑥</m:t>
                        </m:r>
                      </m:e>
                    </m:d>
                    <m:r>
                      <a:rPr lang="ar-AE" altLang="ja-JP">
                        <a:solidFill>
                          <a:srgbClr val="C00000"/>
                        </a:solidFill>
                      </a:rPr>
                      <m:t>−</m:t>
                    </m:r>
                    <m:sSup>
                      <m:sSupPr>
                        <m:ctrlPr>
                          <a:rPr lang="ar-AE" altLang="ja-JP" i="1">
                            <a:solidFill>
                              <a:srgbClr val="C00000"/>
                            </a:solidFill>
                          </a:rPr>
                        </m:ctrlPr>
                      </m:sSupPr>
                      <m:e>
                        <m:r>
                          <a:rPr lang="ja-JP" altLang="ar-AE" i="1">
                            <a:solidFill>
                              <a:srgbClr val="C00000"/>
                            </a:solidFill>
                          </a:rPr>
                          <m:t>𝑧</m:t>
                        </m:r>
                      </m:e>
                      <m:sup>
                        <m:r>
                          <a:rPr lang="ar-AE" altLang="ja-JP">
                            <a:solidFill>
                              <a:srgbClr val="C00000"/>
                            </a:solidFill>
                          </a:rPr>
                          <m:t>∗</m:t>
                        </m:r>
                      </m:sup>
                    </m:sSup>
                    <m:r>
                      <a:rPr lang="ar-AE" altLang="ja-JP">
                        <a:solidFill>
                          <a:srgbClr val="C00000"/>
                        </a:solidFill>
                      </a:rPr>
                      <m:t>∥≈</m:t>
                    </m:r>
                    <m:r>
                      <a:rPr lang="ar-AE" altLang="ja-JP">
                        <a:solidFill>
                          <a:srgbClr val="C00000"/>
                        </a:solidFill>
                      </a:rPr>
                      <m:t>0</m:t>
                    </m:r>
                    <m:r>
                      <a:rPr lang="ar-AE" altLang="ja-JP"/>
                      <m:t>.</m:t>
                    </m:r>
                  </m:oMath>
                </a14:m>
                <a:endParaRPr lang="ar-AE" altLang="ja-JP" b="0" dirty="0"/>
              </a:p>
              <a:p>
                <a:pPr>
                  <a:lnSpc>
                    <a:spcPct val="120000"/>
                  </a:lnSpc>
                </a:pPr>
                <a:endParaRPr lang="en-US" altLang="zh-CN" dirty="0"/>
              </a:p>
              <a:p>
                <a:pPr marL="0" indent="0">
                  <a:lnSpc>
                    <a:spcPct val="120000"/>
                  </a:lnSpc>
                  <a:buNone/>
                </a:pPr>
                <a:r>
                  <a:rPr lang="en-US" altLang="zh-CN" dirty="0"/>
                  <a:t>Bai, Kolter, and Koltun </a:t>
                </a:r>
                <a:r>
                  <a:rPr lang="zh-CN" altLang="en-US" dirty="0"/>
                  <a:t>的 </a:t>
                </a:r>
                <a:r>
                  <a:rPr lang="en-US" altLang="zh-CN" dirty="0"/>
                  <a:t>DEQ </a:t>
                </a:r>
                <a:r>
                  <a:rPr lang="zh-CN" altLang="en-US" dirty="0"/>
                  <a:t>论文提出直接通过 </a:t>
                </a:r>
                <a:r>
                  <a:rPr lang="en-US" altLang="zh-CN" dirty="0"/>
                  <a:t>root-finding </a:t>
                </a:r>
                <a:r>
                  <a:rPr lang="zh-CN" altLang="en-US" dirty="0"/>
                  <a:t>寻找这种 </a:t>
                </a:r>
                <a:r>
                  <a:rPr lang="en-US" altLang="zh-CN" dirty="0"/>
                  <a:t>equilibrium point</a:t>
                </a:r>
                <a:r>
                  <a:rPr lang="zh-CN" altLang="en-US" dirty="0"/>
                  <a:t>，并用隐式微分进行反向传播；论文也指出这等价于运行一个无限深度的权重共享前馈网络。</a:t>
                </a:r>
              </a:p>
            </p:txBody>
          </p:sp>
        </mc:Choice>
        <mc:Fallback>
          <p:sp>
            <p:nvSpPr>
              <p:cNvPr id="12" name="コンテンツ プレースホルダー 2">
                <a:extLst>
                  <a:ext uri="{FF2B5EF4-FFF2-40B4-BE49-F238E27FC236}">
                    <a16:creationId xmlns:a16="http://schemas.microsoft.com/office/drawing/2014/main" id="{4B1BB84F-6749-89C8-3014-55CA65DEBA42}"/>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448" r="-316" b="-134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15594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7081E-F84C-7040-1C68-5AC7ABEC8A3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0E42411-40E8-6EB1-DEBD-A9DF0C2FB134}"/>
              </a:ext>
            </a:extLst>
          </p:cNvPr>
          <p:cNvSpPr>
            <a:spLocks noGrp="1" noChangeArrowheads="1"/>
          </p:cNvSpPr>
          <p:nvPr>
            <p:ph type="title"/>
          </p:nvPr>
        </p:nvSpPr>
        <p:spPr/>
        <p:txBody>
          <a:bodyPr/>
          <a:lstStyle/>
          <a:p>
            <a:r>
              <a:rPr lang="zh-CN" altLang="en-US" b="1" dirty="0"/>
              <a:t>场景三：</a:t>
            </a:r>
            <a:r>
              <a:rPr lang="en-US" altLang="zh-CN" b="1" dirty="0"/>
              <a:t>Deep Equilibrium Models</a:t>
            </a:r>
            <a:r>
              <a:rPr lang="zh-CN" altLang="en-US" b="1" dirty="0"/>
              <a:t>，直接求不动点</a:t>
            </a: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7102F67D-9320-6B84-CDB0-56DB254ABB38}"/>
                  </a:ext>
                </a:extLst>
              </p:cNvPr>
              <p:cNvSpPr>
                <a:spLocks noGrp="1"/>
              </p:cNvSpPr>
              <p:nvPr>
                <p:ph idx="1"/>
              </p:nvPr>
            </p:nvSpPr>
            <p:spPr>
              <a:xfrm>
                <a:off x="508000" y="1112520"/>
                <a:ext cx="11582400" cy="5440680"/>
              </a:xfrm>
            </p:spPr>
            <p:txBody>
              <a:bodyPr/>
              <a:lstStyle/>
              <a:p>
                <a:pPr marL="0" indent="0">
                  <a:lnSpc>
                    <a:spcPct val="120000"/>
                  </a:lnSpc>
                  <a:buNone/>
                </a:pPr>
                <a:r>
                  <a:rPr lang="ja-JP" altLang="en-US" dirty="0"/>
                  <a:t>常用的 </a:t>
                </a:r>
                <a:r>
                  <a:rPr lang="en-US" altLang="ja-JP" dirty="0"/>
                  <a:t>root-finding </a:t>
                </a:r>
                <a:r>
                  <a:rPr lang="ja-JP" altLang="en-US" dirty="0"/>
                  <a:t>方法包括：</a:t>
                </a:r>
              </a:p>
              <a:p>
                <a:pPr lvl="1">
                  <a:lnSpc>
                    <a:spcPct val="120000"/>
                  </a:lnSpc>
                  <a:buFont typeface="Wingdings" panose="05000000000000000000" pitchFamily="2" charset="2"/>
                  <a:buChar char="Ø"/>
                </a:pPr>
                <a14:m>
                  <m:oMath xmlns:m="http://schemas.openxmlformats.org/officeDocument/2006/math">
                    <m:r>
                      <m:rPr>
                        <m:nor/>
                      </m:rPr>
                      <a:rPr lang="en-US" altLang="ja-JP" b="0"/>
                      <m:t>fixed</m:t>
                    </m:r>
                    <m:r>
                      <m:rPr>
                        <m:nor/>
                      </m:rPr>
                      <a:rPr lang="en-US" altLang="ja-JP" b="0"/>
                      <m:t>−</m:t>
                    </m:r>
                    <m:r>
                      <m:rPr>
                        <m:nor/>
                      </m:rPr>
                      <a:rPr lang="en-US" altLang="ja-JP" b="0"/>
                      <m:t>point</m:t>
                    </m:r>
                    <m:r>
                      <m:rPr>
                        <m:nor/>
                      </m:rPr>
                      <a:rPr lang="en-US" altLang="ja-JP" b="0" i="1"/>
                      <m:t> </m:t>
                    </m:r>
                    <m:r>
                      <m:rPr>
                        <m:nor/>
                      </m:rPr>
                      <a:rPr lang="en-US" altLang="ja-JP" b="0" i="1"/>
                      <m:t>iteration</m:t>
                    </m:r>
                    <m:r>
                      <a:rPr lang="en-US" altLang="ja-JP"/>
                      <m:t>,</m:t>
                    </m:r>
                  </m:oMath>
                </a14:m>
                <a:endParaRPr lang="en-US" altLang="ja-JP" b="0" dirty="0"/>
              </a:p>
              <a:p>
                <a:pPr lvl="1">
                  <a:lnSpc>
                    <a:spcPct val="120000"/>
                  </a:lnSpc>
                  <a:buFont typeface="Wingdings" panose="05000000000000000000" pitchFamily="2" charset="2"/>
                  <a:buChar char="Ø"/>
                </a:pPr>
                <a14:m>
                  <m:oMath xmlns:m="http://schemas.openxmlformats.org/officeDocument/2006/math">
                    <m:r>
                      <m:rPr>
                        <m:nor/>
                      </m:rPr>
                      <a:rPr lang="en-US" altLang="ja-JP" b="0"/>
                      <m:t>Newton</m:t>
                    </m:r>
                    <m:r>
                      <m:rPr>
                        <m:nor/>
                      </m:rPr>
                      <a:rPr lang="en-US" altLang="ja-JP" b="0" i="1"/>
                      <m:t> </m:t>
                    </m:r>
                    <m:r>
                      <m:rPr>
                        <m:nor/>
                      </m:rPr>
                      <a:rPr lang="en-US" altLang="ja-JP" b="0" i="1"/>
                      <m:t>method</m:t>
                    </m:r>
                    <m:r>
                      <a:rPr lang="en-US" altLang="ja-JP"/>
                      <m:t>,</m:t>
                    </m:r>
                  </m:oMath>
                </a14:m>
                <a:endParaRPr lang="en-US" altLang="ja-JP" b="0" dirty="0"/>
              </a:p>
              <a:p>
                <a:pPr lvl="1">
                  <a:lnSpc>
                    <a:spcPct val="120000"/>
                  </a:lnSpc>
                  <a:buFont typeface="Wingdings" panose="05000000000000000000" pitchFamily="2" charset="2"/>
                  <a:buChar char="Ø"/>
                </a:pPr>
                <a14:m>
                  <m:oMath xmlns:m="http://schemas.openxmlformats.org/officeDocument/2006/math">
                    <m:r>
                      <m:rPr>
                        <m:nor/>
                      </m:rPr>
                      <a:rPr lang="en-US" altLang="ja-JP" b="0"/>
                      <m:t>quasi</m:t>
                    </m:r>
                    <m:r>
                      <m:rPr>
                        <m:nor/>
                      </m:rPr>
                      <a:rPr lang="en-US" altLang="ja-JP" b="0"/>
                      <m:t>−</m:t>
                    </m:r>
                    <m:r>
                      <m:rPr>
                        <m:nor/>
                      </m:rPr>
                      <a:rPr lang="en-US" altLang="ja-JP" b="0"/>
                      <m:t>Newton</m:t>
                    </m:r>
                    <m:r>
                      <m:rPr>
                        <m:nor/>
                      </m:rPr>
                      <a:rPr lang="en-US" altLang="ja-JP" b="0" i="1"/>
                      <m:t> </m:t>
                    </m:r>
                    <m:r>
                      <m:rPr>
                        <m:nor/>
                      </m:rPr>
                      <a:rPr lang="en-US" altLang="ja-JP" b="0" i="1"/>
                      <m:t>method</m:t>
                    </m:r>
                    <m:r>
                      <a:rPr lang="en-US" altLang="ja-JP"/>
                      <m:t>,</m:t>
                    </m:r>
                  </m:oMath>
                </a14:m>
                <a:endParaRPr lang="en-US" altLang="ja-JP" b="0" dirty="0"/>
              </a:p>
              <a:p>
                <a:pPr lvl="1">
                  <a:lnSpc>
                    <a:spcPct val="120000"/>
                  </a:lnSpc>
                  <a:buFont typeface="Wingdings" panose="05000000000000000000" pitchFamily="2" charset="2"/>
                  <a:buChar char="Ø"/>
                </a:pPr>
                <a14:m>
                  <m:oMath xmlns:m="http://schemas.openxmlformats.org/officeDocument/2006/math">
                    <m:r>
                      <m:rPr>
                        <m:nor/>
                      </m:rPr>
                      <a:rPr lang="en-US" altLang="ja-JP" b="0"/>
                      <m:t>Broyden</m:t>
                    </m:r>
                    <m:r>
                      <m:rPr>
                        <m:nor/>
                      </m:rPr>
                      <a:rPr lang="en-US" altLang="ja-JP" b="0"/>
                      <m:t>’</m:t>
                    </m:r>
                    <m:r>
                      <m:rPr>
                        <m:nor/>
                      </m:rPr>
                      <a:rPr lang="en-US" altLang="ja-JP" b="0"/>
                      <m:t>s</m:t>
                    </m:r>
                    <m:r>
                      <m:rPr>
                        <m:nor/>
                      </m:rPr>
                      <a:rPr lang="en-US" altLang="ja-JP" b="0" i="1"/>
                      <m:t> </m:t>
                    </m:r>
                    <m:r>
                      <m:rPr>
                        <m:nor/>
                      </m:rPr>
                      <a:rPr lang="en-US" altLang="ja-JP" b="0" i="1"/>
                      <m:t>method</m:t>
                    </m:r>
                  </m:oMath>
                </a14:m>
                <a:endParaRPr lang="en-US" altLang="ja-JP" b="0" dirty="0"/>
              </a:p>
              <a:p>
                <a:pPr marL="0" indent="0">
                  <a:lnSpc>
                    <a:spcPct val="120000"/>
                  </a:lnSpc>
                  <a:buNone/>
                </a:pPr>
                <a:r>
                  <a:rPr lang="en-US" altLang="ja-JP" dirty="0"/>
                  <a:t>Bai </a:t>
                </a:r>
                <a:r>
                  <a:rPr lang="ja-JP" altLang="en-US" dirty="0"/>
                  <a:t>等人的 </a:t>
                </a:r>
                <a:r>
                  <a:rPr lang="en-US" altLang="ja-JP" dirty="0"/>
                  <a:t>DEQ </a:t>
                </a:r>
                <a:r>
                  <a:rPr lang="ja-JP" altLang="en-US" dirty="0"/>
                  <a:t>工作强调，可以通过黑箱 </a:t>
                </a:r>
                <a:r>
                  <a:rPr lang="en-US" altLang="ja-JP" dirty="0"/>
                  <a:t>root solver</a:t>
                </a:r>
                <a:r>
                  <a:rPr lang="ja-JP" altLang="en-US" dirty="0"/>
                  <a:t>，例如 </a:t>
                </a:r>
                <a:r>
                  <a:rPr lang="en-US" altLang="ja-JP" dirty="0" err="1"/>
                  <a:t>Broyden</a:t>
                </a:r>
                <a:r>
                  <a:rPr lang="en-US" altLang="ja-JP" dirty="0"/>
                  <a:t> </a:t>
                </a:r>
                <a:r>
                  <a:rPr lang="ja-JP" altLang="en-US" dirty="0"/>
                  <a:t>方法，直接寻找平衡点，而不是显式运行很多层。</a:t>
                </a:r>
                <a:endParaRPr lang="en-US" altLang="ja-JP" dirty="0"/>
              </a:p>
              <a:p>
                <a:pPr marL="457200" indent="-457200">
                  <a:buFont typeface="+mj-lt"/>
                  <a:buAutoNum type="arabicPeriod"/>
                </a:pPr>
                <a:r>
                  <a:rPr lang="en-US" altLang="ja-JP" dirty="0"/>
                  <a:t>fixed-point iteration</a:t>
                </a:r>
                <a:r>
                  <a:rPr lang="ja-JP" altLang="en-US" dirty="0"/>
                  <a:t>：把方程 </a:t>
                </a:r>
                <a14:m>
                  <m:oMath xmlns:m="http://schemas.openxmlformats.org/officeDocument/2006/math">
                    <m:r>
                      <a:rPr lang="ja-JP" altLang="en-US" b="0" i="1"/>
                      <m:t>𝐹</m:t>
                    </m:r>
                    <m:d>
                      <m:dPr>
                        <m:ctrlPr>
                          <a:rPr lang="ar-AE" altLang="ja-JP" i="1"/>
                        </m:ctrlPr>
                      </m:dPr>
                      <m:e>
                        <m:r>
                          <a:rPr lang="ja-JP" altLang="ar-AE" b="0" i="1"/>
                          <m:t>𝑧</m:t>
                        </m:r>
                      </m:e>
                    </m:d>
                    <m:r>
                      <a:rPr lang="ar-AE" altLang="ja-JP" b="0"/>
                      <m:t>=</m:t>
                    </m:r>
                    <m:r>
                      <a:rPr lang="ar-AE" altLang="ja-JP" b="0"/>
                      <m:t>0</m:t>
                    </m:r>
                  </m:oMath>
                </a14:m>
                <a:r>
                  <a:rPr lang="ja-JP" altLang="en-US" dirty="0"/>
                  <a:t>改写成 </a:t>
                </a:r>
                <a14:m>
                  <m:oMath xmlns:m="http://schemas.openxmlformats.org/officeDocument/2006/math">
                    <m:r>
                      <a:rPr lang="ja-JP" altLang="en-US" b="0" i="1"/>
                      <m:t>𝑧</m:t>
                    </m:r>
                    <m:r>
                      <a:rPr lang="en-US" altLang="ja-JP" b="0"/>
                      <m:t>=</m:t>
                    </m:r>
                    <m:r>
                      <a:rPr lang="ja-JP" altLang="en-US" b="0" i="1"/>
                      <m:t>𝑇</m:t>
                    </m:r>
                    <m:d>
                      <m:dPr>
                        <m:ctrlPr>
                          <a:rPr lang="ar-AE" altLang="ja-JP" i="1"/>
                        </m:ctrlPr>
                      </m:dPr>
                      <m:e>
                        <m:r>
                          <a:rPr lang="ja-JP" altLang="ar-AE" b="0" i="1"/>
                          <m:t>𝑧</m:t>
                        </m:r>
                      </m:e>
                    </m:d>
                  </m:oMath>
                </a14:m>
                <a:r>
                  <a:rPr lang="ja-JP" altLang="ar-AE" dirty="0"/>
                  <a:t>，</a:t>
                </a:r>
                <a:r>
                  <a:rPr lang="ja-JP" altLang="en-US" dirty="0"/>
                  <a:t>然后反复做 </a:t>
                </a:r>
                <a14:m>
                  <m:oMath xmlns:m="http://schemas.openxmlformats.org/officeDocument/2006/math">
                    <m:sSub>
                      <m:sSubPr>
                        <m:ctrlPr>
                          <a:rPr lang="ar-AE" altLang="ja-JP"/>
                        </m:ctrlPr>
                      </m:sSubPr>
                      <m:e>
                        <m:r>
                          <a:rPr lang="ja-JP" altLang="ar-AE" b="0" i="1"/>
                          <m:t>𝑧</m:t>
                        </m:r>
                      </m:e>
                      <m:sub>
                        <m:r>
                          <a:rPr lang="ja-JP" altLang="ar-AE" b="0" i="1"/>
                          <m:t>𝑘</m:t>
                        </m:r>
                        <m:r>
                          <a:rPr lang="ar-AE" altLang="ja-JP" b="0"/>
                          <m:t>+</m:t>
                        </m:r>
                        <m:r>
                          <a:rPr lang="ar-AE" altLang="ja-JP" b="0"/>
                          <m:t>1</m:t>
                        </m:r>
                      </m:sub>
                    </m:sSub>
                    <m:r>
                      <a:rPr lang="ar-AE" altLang="ja-JP" b="0"/>
                      <m:t>=</m:t>
                    </m:r>
                    <m:r>
                      <a:rPr lang="ja-JP" altLang="ar-AE" b="0" i="1"/>
                      <m:t>𝑇</m:t>
                    </m:r>
                    <m:d>
                      <m:dPr>
                        <m:ctrlPr>
                          <a:rPr lang="ar-AE" altLang="ja-JP" i="1"/>
                        </m:ctrlPr>
                      </m:dPr>
                      <m:e>
                        <m:sSub>
                          <m:sSubPr>
                            <m:ctrlPr>
                              <a:rPr lang="ar-AE" altLang="ja-JP" i="1"/>
                            </m:ctrlPr>
                          </m:sSubPr>
                          <m:e>
                            <m:r>
                              <a:rPr lang="ja-JP" altLang="ar-AE" b="0" i="1"/>
                              <m:t>𝑧</m:t>
                            </m:r>
                          </m:e>
                          <m:sub>
                            <m:r>
                              <a:rPr lang="ja-JP" altLang="ar-AE" b="0" i="1"/>
                              <m:t>𝑘</m:t>
                            </m:r>
                          </m:sub>
                        </m:sSub>
                      </m:e>
                    </m:d>
                  </m:oMath>
                </a14:m>
                <a:r>
                  <a:rPr lang="ja-JP" altLang="ar-AE" dirty="0"/>
                  <a:t>，</a:t>
                </a:r>
                <a:r>
                  <a:rPr lang="ja-JP" altLang="en-US" dirty="0"/>
                  <a:t>直到收敛到不动点。</a:t>
                </a:r>
              </a:p>
              <a:p>
                <a:pPr marL="457200" indent="-457200">
                  <a:buFont typeface="+mj-lt"/>
                  <a:buAutoNum type="arabicPeriod"/>
                </a:pPr>
                <a:r>
                  <a:rPr lang="en-US" altLang="ja-JP" dirty="0"/>
                  <a:t>Newton method</a:t>
                </a:r>
                <a:r>
                  <a:rPr lang="ja-JP" altLang="en-US" dirty="0"/>
                  <a:t>：在当前点用一阶线性近似代替 </a:t>
                </a:r>
                <a14:m>
                  <m:oMath xmlns:m="http://schemas.openxmlformats.org/officeDocument/2006/math">
                    <m:r>
                      <a:rPr lang="ja-JP" altLang="en-US" b="0" i="1"/>
                      <m:t>𝐹</m:t>
                    </m:r>
                  </m:oMath>
                </a14:m>
                <a:r>
                  <a:rPr lang="ja-JP" altLang="en-US" dirty="0"/>
                  <a:t>，再直接求这个线性近似的零点，因此通常收敛快，但需要 </a:t>
                </a:r>
                <a:r>
                  <a:rPr lang="en-US" altLang="ja-JP" dirty="0"/>
                  <a:t>Jacobian </a:t>
                </a:r>
                <a:r>
                  <a:rPr lang="ja-JP" altLang="en-US" dirty="0"/>
                  <a:t>及其逆或线性求解。</a:t>
                </a:r>
              </a:p>
              <a:p>
                <a:pPr marL="457200" indent="-457200">
                  <a:buFont typeface="+mj-lt"/>
                  <a:buAutoNum type="arabicPeriod"/>
                </a:pPr>
                <a:r>
                  <a:rPr lang="en-US" altLang="ja-JP" dirty="0"/>
                  <a:t>quasi-Newton method</a:t>
                </a:r>
                <a:r>
                  <a:rPr lang="ja-JP" altLang="en-US" dirty="0"/>
                  <a:t>：不每次精确计算 </a:t>
                </a:r>
                <a:r>
                  <a:rPr lang="en-US" altLang="ja-JP" dirty="0"/>
                  <a:t>Jacobian</a:t>
                </a:r>
                <a:r>
                  <a:rPr lang="ja-JP" altLang="en-US" dirty="0"/>
                  <a:t>，而是用迭代过程中的历史信息近似 </a:t>
                </a:r>
                <a:r>
                  <a:rPr lang="en-US" altLang="ja-JP" dirty="0"/>
                  <a:t>Jacobian </a:t>
                </a:r>
                <a:r>
                  <a:rPr lang="ja-JP" altLang="en-US" dirty="0"/>
                  <a:t>或其逆，从而降低计算成本。</a:t>
                </a:r>
              </a:p>
              <a:p>
                <a:pPr marL="457200" indent="-457200">
                  <a:buFont typeface="+mj-lt"/>
                  <a:buAutoNum type="arabicPeriod"/>
                </a:pPr>
                <a:r>
                  <a:rPr lang="en-US" altLang="ja-JP" dirty="0" err="1"/>
                  <a:t>Broyden’s</a:t>
                </a:r>
                <a:r>
                  <a:rPr lang="en-US" altLang="ja-JP" dirty="0"/>
                  <a:t> method</a:t>
                </a:r>
                <a:r>
                  <a:rPr lang="ja-JP" altLang="en-US" dirty="0"/>
                  <a:t>：是一类 </a:t>
                </a:r>
                <a:r>
                  <a:rPr lang="en-US" altLang="ja-JP" dirty="0"/>
                  <a:t>quasi-Newton </a:t>
                </a:r>
                <a:r>
                  <a:rPr lang="ja-JP" altLang="en-US" dirty="0"/>
                  <a:t>方法，用割线条件更新 </a:t>
                </a:r>
                <a:r>
                  <a:rPr lang="en-US" altLang="ja-JP" dirty="0"/>
                  <a:t>Jacobian </a:t>
                </a:r>
                <a:r>
                  <a:rPr lang="ja-JP" altLang="en-US" dirty="0"/>
                  <a:t>近似或逆 </a:t>
                </a:r>
                <a:r>
                  <a:rPr lang="en-US" altLang="ja-JP" dirty="0"/>
                  <a:t>Jacobian </a:t>
                </a:r>
                <a:r>
                  <a:rPr lang="ja-JP" altLang="en-US" dirty="0"/>
                  <a:t>近似，常用于高维非线性方程求根，例如 </a:t>
                </a:r>
                <a:r>
                  <a:rPr lang="en-US" altLang="ja-JP" dirty="0"/>
                  <a:t>DEQ </a:t>
                </a:r>
                <a:r>
                  <a:rPr lang="ja-JP" altLang="en-US" dirty="0"/>
                  <a:t>的平衡点求解。</a:t>
                </a:r>
              </a:p>
              <a:p>
                <a:pPr marL="0" indent="0">
                  <a:lnSpc>
                    <a:spcPct val="120000"/>
                  </a:lnSpc>
                  <a:buNone/>
                </a:pPr>
                <a:endParaRPr lang="ja-JP" altLang="en-US" dirty="0"/>
              </a:p>
            </p:txBody>
          </p:sp>
        </mc:Choice>
        <mc:Fallback>
          <p:sp>
            <p:nvSpPr>
              <p:cNvPr id="12" name="コンテンツ プレースホルダー 2">
                <a:extLst>
                  <a:ext uri="{FF2B5EF4-FFF2-40B4-BE49-F238E27FC236}">
                    <a16:creationId xmlns:a16="http://schemas.microsoft.com/office/drawing/2014/main" id="{7102F67D-9320-6B84-CDB0-56DB254ABB38}"/>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737" t="-448" r="-895" b="-616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65015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3074-F36B-2CAE-1137-672D60F5AC1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7DF128CF-F820-13DF-51F8-E1021612247E}"/>
              </a:ext>
            </a:extLst>
          </p:cNvPr>
          <p:cNvSpPr>
            <a:spLocks noGrp="1" noChangeArrowheads="1"/>
          </p:cNvSpPr>
          <p:nvPr>
            <p:ph type="title"/>
          </p:nvPr>
        </p:nvSpPr>
        <p:spPr/>
        <p:txBody>
          <a:bodyPr/>
          <a:lstStyle/>
          <a:p>
            <a:r>
              <a:rPr lang="zh-CN" altLang="en-US" b="1" dirty="0"/>
              <a:t>场景三：</a:t>
            </a:r>
            <a:r>
              <a:rPr lang="en-US" altLang="zh-CN" b="1" dirty="0"/>
              <a:t>Deep Equilibrium Models</a:t>
            </a:r>
            <a:r>
              <a:rPr lang="zh-CN" altLang="en-US" b="1" dirty="0"/>
              <a:t>，直接求不动点</a:t>
            </a:r>
          </a:p>
        </p:txBody>
      </p:sp>
      <p:pic>
        <p:nvPicPr>
          <p:cNvPr id="4" name="図 3">
            <a:extLst>
              <a:ext uri="{FF2B5EF4-FFF2-40B4-BE49-F238E27FC236}">
                <a16:creationId xmlns:a16="http://schemas.microsoft.com/office/drawing/2014/main" id="{69FB270F-C729-03E9-4F1D-5715147EC2C3}"/>
              </a:ext>
            </a:extLst>
          </p:cNvPr>
          <p:cNvPicPr>
            <a:picLocks noChangeAspect="1"/>
          </p:cNvPicPr>
          <p:nvPr/>
        </p:nvPicPr>
        <p:blipFill>
          <a:blip r:embed="rId3"/>
          <a:stretch>
            <a:fillRect/>
          </a:stretch>
        </p:blipFill>
        <p:spPr>
          <a:xfrm>
            <a:off x="1280159" y="1193151"/>
            <a:ext cx="9272541" cy="5271986"/>
          </a:xfrm>
          <a:prstGeom prst="rect">
            <a:avLst/>
          </a:prstGeom>
        </p:spPr>
      </p:pic>
    </p:spTree>
    <p:extLst>
      <p:ext uri="{BB962C8B-B14F-4D97-AF65-F5344CB8AC3E}">
        <p14:creationId xmlns:p14="http://schemas.microsoft.com/office/powerpoint/2010/main" val="532024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96837-6B4B-B4BB-DD3F-FC2406801EC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1375853-7296-9338-6DAB-AAF548C622EE}"/>
              </a:ext>
            </a:extLst>
          </p:cNvPr>
          <p:cNvSpPr>
            <a:spLocks noGrp="1" noChangeArrowheads="1"/>
          </p:cNvSpPr>
          <p:nvPr>
            <p:ph type="title"/>
          </p:nvPr>
        </p:nvSpPr>
        <p:spPr/>
        <p:txBody>
          <a:bodyPr/>
          <a:lstStyle/>
          <a:p>
            <a:r>
              <a:rPr lang="zh-CN" altLang="en-US" b="1" dirty="0"/>
              <a:t>场景三：</a:t>
            </a:r>
            <a:r>
              <a:rPr lang="en-US" altLang="zh-CN" b="1" dirty="0"/>
              <a:t>Deep Equilibrium Models</a:t>
            </a:r>
            <a:r>
              <a:rPr lang="zh-CN" altLang="en-US" b="1" dirty="0"/>
              <a:t>，直接求不动点</a:t>
            </a:r>
          </a:p>
        </p:txBody>
      </p:sp>
      <p:pic>
        <p:nvPicPr>
          <p:cNvPr id="3" name="図 2">
            <a:extLst>
              <a:ext uri="{FF2B5EF4-FFF2-40B4-BE49-F238E27FC236}">
                <a16:creationId xmlns:a16="http://schemas.microsoft.com/office/drawing/2014/main" id="{6EB7888F-D28B-6E0D-0001-06650CF478F7}"/>
              </a:ext>
            </a:extLst>
          </p:cNvPr>
          <p:cNvPicPr>
            <a:picLocks noChangeAspect="1"/>
          </p:cNvPicPr>
          <p:nvPr/>
        </p:nvPicPr>
        <p:blipFill>
          <a:blip r:embed="rId3"/>
          <a:stretch>
            <a:fillRect/>
          </a:stretch>
        </p:blipFill>
        <p:spPr>
          <a:xfrm>
            <a:off x="1450425" y="1121229"/>
            <a:ext cx="9083556" cy="5665100"/>
          </a:xfrm>
          <a:prstGeom prst="rect">
            <a:avLst/>
          </a:prstGeom>
        </p:spPr>
      </p:pic>
    </p:spTree>
    <p:extLst>
      <p:ext uri="{BB962C8B-B14F-4D97-AF65-F5344CB8AC3E}">
        <p14:creationId xmlns:p14="http://schemas.microsoft.com/office/powerpoint/2010/main" val="2049667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C6177-365A-610D-3CB0-8A964CCDD6C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DD2C8B09-03A1-8243-CE22-63F8AD355D9F}"/>
              </a:ext>
            </a:extLst>
          </p:cNvPr>
          <p:cNvSpPr>
            <a:spLocks noGrp="1" noChangeArrowheads="1"/>
          </p:cNvSpPr>
          <p:nvPr>
            <p:ph type="title"/>
          </p:nvPr>
        </p:nvSpPr>
        <p:spPr/>
        <p:txBody>
          <a:bodyPr/>
          <a:lstStyle/>
          <a:p>
            <a:r>
              <a:rPr lang="zh-CN" altLang="en-US" b="1" dirty="0"/>
              <a:t>场景三：</a:t>
            </a:r>
            <a:r>
              <a:rPr lang="en-US" altLang="zh-CN" b="1" dirty="0"/>
              <a:t>Deep Equilibrium Models</a:t>
            </a:r>
            <a:r>
              <a:rPr lang="zh-CN" altLang="en-US" b="1" dirty="0"/>
              <a:t>，直接求不动点</a:t>
            </a:r>
          </a:p>
        </p:txBody>
      </p:sp>
      <p:pic>
        <p:nvPicPr>
          <p:cNvPr id="3" name="図 2">
            <a:extLst>
              <a:ext uri="{FF2B5EF4-FFF2-40B4-BE49-F238E27FC236}">
                <a16:creationId xmlns:a16="http://schemas.microsoft.com/office/drawing/2014/main" id="{52A7AD08-85BA-05BA-2B93-6717E7D749C8}"/>
              </a:ext>
            </a:extLst>
          </p:cNvPr>
          <p:cNvPicPr>
            <a:picLocks noChangeAspect="1"/>
          </p:cNvPicPr>
          <p:nvPr/>
        </p:nvPicPr>
        <p:blipFill>
          <a:blip r:embed="rId3"/>
          <a:stretch>
            <a:fillRect/>
          </a:stretch>
        </p:blipFill>
        <p:spPr>
          <a:xfrm>
            <a:off x="1368126" y="1073343"/>
            <a:ext cx="9103931" cy="5630063"/>
          </a:xfrm>
          <a:prstGeom prst="rect">
            <a:avLst/>
          </a:prstGeom>
        </p:spPr>
      </p:pic>
    </p:spTree>
    <p:extLst>
      <p:ext uri="{BB962C8B-B14F-4D97-AF65-F5344CB8AC3E}">
        <p14:creationId xmlns:p14="http://schemas.microsoft.com/office/powerpoint/2010/main" val="1025049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4A9ED-F5A3-5F6E-2311-4553FD8A046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C1435DEA-E448-0D68-7C4B-492CEEBBE8DB}"/>
              </a:ext>
            </a:extLst>
          </p:cNvPr>
          <p:cNvSpPr>
            <a:spLocks noGrp="1" noChangeArrowheads="1"/>
          </p:cNvSpPr>
          <p:nvPr>
            <p:ph type="title"/>
          </p:nvPr>
        </p:nvSpPr>
        <p:spPr/>
        <p:txBody>
          <a:bodyPr/>
          <a:lstStyle/>
          <a:p>
            <a:r>
              <a:rPr lang="zh-CN" altLang="en-US" b="1" dirty="0"/>
              <a:t>场景四：</a:t>
            </a:r>
            <a:r>
              <a:rPr lang="en-US" altLang="zh-CN" b="1" dirty="0"/>
              <a:t>Implicit Deep Learning</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4C9AE76-3BD4-5607-C792-5B7FC4F79548}"/>
                  </a:ext>
                </a:extLst>
              </p:cNvPr>
              <p:cNvSpPr>
                <a:spLocks noGrp="1"/>
              </p:cNvSpPr>
              <p:nvPr>
                <p:ph idx="1"/>
              </p:nvPr>
            </p:nvSpPr>
            <p:spPr>
              <a:xfrm>
                <a:off x="508000" y="1112520"/>
                <a:ext cx="11582400" cy="5440680"/>
              </a:xfrm>
            </p:spPr>
            <p:txBody>
              <a:bodyPr/>
              <a:lstStyle/>
              <a:p>
                <a:r>
                  <a:rPr lang="en-US" altLang="zh-CN" dirty="0"/>
                  <a:t>Implicit Deep Learning </a:t>
                </a:r>
                <a:r>
                  <a:rPr lang="zh-CN" altLang="en-US" dirty="0"/>
                  <a:t>不把隐藏特征写成一层一层递推，而是把隐藏特征定义为某个方程的解。</a:t>
                </a:r>
              </a:p>
              <a:p>
                <a:pPr marL="0" indent="0">
                  <a:buNone/>
                </a:pPr>
                <a:r>
                  <a:rPr lang="zh-CN" altLang="en-US" dirty="0"/>
                  <a:t>一个典型形式是：</a:t>
                </a:r>
                <a14:m>
                  <m:oMath xmlns:m="http://schemas.openxmlformats.org/officeDocument/2006/math">
                    <m:acc>
                      <m:accPr>
                        <m:chr m:val="̂"/>
                        <m:ctrlPr>
                          <a:rPr lang="zh-CN" altLang="en-US" smtClean="0">
                            <a:solidFill>
                              <a:srgbClr val="C00000"/>
                            </a:solidFill>
                          </a:rPr>
                        </m:ctrlPr>
                      </m:accPr>
                      <m:e>
                        <m:r>
                          <a:rPr lang="zh-CN" altLang="en-US" i="1">
                            <a:solidFill>
                              <a:srgbClr val="C00000"/>
                            </a:solidFill>
                          </a:rPr>
                          <m:t>𝑦</m:t>
                        </m:r>
                      </m:e>
                    </m:acc>
                    <m:r>
                      <a:rPr lang="en-US" altLang="zh-CN">
                        <a:solidFill>
                          <a:srgbClr val="C00000"/>
                        </a:solidFill>
                      </a:rPr>
                      <m:t>=</m:t>
                    </m:r>
                    <m:r>
                      <a:rPr lang="zh-CN" altLang="en-US" i="1">
                        <a:solidFill>
                          <a:srgbClr val="C00000"/>
                        </a:solidFill>
                      </a:rPr>
                      <m:t>𝐶𝑥</m:t>
                    </m:r>
                    <m:r>
                      <a:rPr lang="en-US" altLang="zh-CN">
                        <a:solidFill>
                          <a:srgbClr val="C00000"/>
                        </a:solidFill>
                      </a:rPr>
                      <m:t>+</m:t>
                    </m:r>
                    <m:r>
                      <a:rPr lang="zh-CN" altLang="en-US" i="1">
                        <a:solidFill>
                          <a:srgbClr val="C00000"/>
                        </a:solidFill>
                      </a:rPr>
                      <m:t>𝐷𝑢</m:t>
                    </m:r>
                    <m:r>
                      <a:rPr lang="en-US" altLang="zh-CN" smtClean="0">
                        <a:solidFill>
                          <a:schemeClr val="tx1"/>
                        </a:solidFill>
                      </a:rPr>
                      <m:t>,</m:t>
                    </m:r>
                    <m:r>
                      <a:rPr lang="en-US" altLang="zh-CN" b="0" i="1" smtClean="0">
                        <a:solidFill>
                          <a:schemeClr val="tx1"/>
                        </a:solidFill>
                        <a:latin typeface="Cambria Math" panose="02040503050406030204" pitchFamily="18" charset="0"/>
                      </a:rPr>
                      <m:t>  </m:t>
                    </m:r>
                    <m:r>
                      <a:rPr lang="zh-CN" altLang="en-US" i="1">
                        <a:solidFill>
                          <a:srgbClr val="C00000"/>
                        </a:solidFill>
                      </a:rPr>
                      <m:t>𝑥</m:t>
                    </m:r>
                    <m:r>
                      <a:rPr lang="en-US" altLang="zh-CN">
                        <a:solidFill>
                          <a:srgbClr val="C00000"/>
                        </a:solidFill>
                      </a:rPr>
                      <m:t>=</m:t>
                    </m:r>
                    <m:r>
                      <a:rPr lang="zh-CN" altLang="en-US" i="1">
                        <a:solidFill>
                          <a:srgbClr val="C00000"/>
                        </a:solidFill>
                      </a:rPr>
                      <m:t>𝜙</m:t>
                    </m:r>
                    <m:d>
                      <m:dPr>
                        <m:ctrlPr>
                          <a:rPr lang="zh-CN" altLang="en-US" i="1">
                            <a:solidFill>
                              <a:srgbClr val="C00000"/>
                            </a:solidFill>
                          </a:rPr>
                        </m:ctrlPr>
                      </m:dPr>
                      <m:e>
                        <m:r>
                          <a:rPr lang="zh-CN" altLang="en-US" i="1">
                            <a:solidFill>
                              <a:srgbClr val="C00000"/>
                            </a:solidFill>
                          </a:rPr>
                          <m:t>𝐴𝑥</m:t>
                        </m:r>
                        <m:r>
                          <a:rPr lang="en-US" altLang="zh-CN">
                            <a:solidFill>
                              <a:srgbClr val="C00000"/>
                            </a:solidFill>
                          </a:rPr>
                          <m:t>+</m:t>
                        </m:r>
                        <m:r>
                          <a:rPr lang="zh-CN" altLang="en-US" i="1">
                            <a:solidFill>
                              <a:srgbClr val="C00000"/>
                            </a:solidFill>
                          </a:rPr>
                          <m:t>𝐵𝑢</m:t>
                        </m:r>
                      </m:e>
                    </m:d>
                    <m:r>
                      <a:rPr lang="en-US" altLang="zh-CN"/>
                      <m:t>.</m:t>
                    </m:r>
                  </m:oMath>
                </a14:m>
                <a:endParaRPr lang="zh-CN" altLang="en-US" dirty="0"/>
              </a:p>
              <a:p>
                <a:pPr marL="0" indent="0">
                  <a:buNone/>
                </a:pPr>
                <a:r>
                  <a:rPr lang="zh-CN" altLang="en-US" dirty="0"/>
                  <a:t>这里：</a:t>
                </a:r>
              </a:p>
              <a:p>
                <a:pPr lvl="1"/>
                <a14:m>
                  <m:oMath xmlns:m="http://schemas.openxmlformats.org/officeDocument/2006/math">
                    <m:r>
                      <a:rPr lang="zh-CN" altLang="en-US" i="1"/>
                      <m:t>𝑢</m:t>
                    </m:r>
                  </m:oMath>
                </a14:m>
                <a:r>
                  <a:rPr lang="zh-CN" altLang="en-US" dirty="0"/>
                  <a:t>：输入； </a:t>
                </a:r>
              </a:p>
              <a:p>
                <a:pPr lvl="1"/>
                <a14:m>
                  <m:oMath xmlns:m="http://schemas.openxmlformats.org/officeDocument/2006/math">
                    <m:r>
                      <a:rPr lang="zh-CN" altLang="en-US" i="1"/>
                      <m:t>𝑥</m:t>
                    </m:r>
                  </m:oMath>
                </a14:m>
                <a:r>
                  <a:rPr lang="zh-CN" altLang="en-US" dirty="0"/>
                  <a:t>：隐藏特征，也叫 </a:t>
                </a:r>
                <a:r>
                  <a:rPr lang="en-US" altLang="zh-CN" dirty="0"/>
                  <a:t>state vector</a:t>
                </a:r>
                <a:r>
                  <a:rPr lang="zh-CN" altLang="en-US" dirty="0"/>
                  <a:t>； </a:t>
                </a:r>
              </a:p>
              <a:p>
                <a:pPr lvl="1"/>
                <a14:m>
                  <m:oMath xmlns:m="http://schemas.openxmlformats.org/officeDocument/2006/math">
                    <m:acc>
                      <m:accPr>
                        <m:chr m:val="̂"/>
                        <m:ctrlPr>
                          <a:rPr lang="zh-CN" altLang="en-US"/>
                        </m:ctrlPr>
                      </m:accPr>
                      <m:e>
                        <m:r>
                          <a:rPr lang="zh-CN" altLang="en-US" i="1"/>
                          <m:t>𝑦</m:t>
                        </m:r>
                      </m:e>
                    </m:acc>
                  </m:oMath>
                </a14:m>
                <a:r>
                  <a:rPr lang="zh-CN" altLang="en-US" dirty="0"/>
                  <a:t>：预测输出； </a:t>
                </a:r>
              </a:p>
              <a:p>
                <a:pPr lvl="1"/>
                <a14:m>
                  <m:oMath xmlns:m="http://schemas.openxmlformats.org/officeDocument/2006/math">
                    <m:r>
                      <a:rPr lang="zh-CN" altLang="en-US" i="1"/>
                      <m:t>𝐴</m:t>
                    </m:r>
                    <m:r>
                      <a:rPr lang="en-US" altLang="zh-CN"/>
                      <m:t>,</m:t>
                    </m:r>
                    <m:r>
                      <a:rPr lang="zh-CN" altLang="en-US" i="1"/>
                      <m:t>𝐵</m:t>
                    </m:r>
                    <m:r>
                      <a:rPr lang="en-US" altLang="zh-CN"/>
                      <m:t>,</m:t>
                    </m:r>
                    <m:r>
                      <a:rPr lang="zh-CN" altLang="en-US" i="1"/>
                      <m:t>𝐶</m:t>
                    </m:r>
                    <m:r>
                      <a:rPr lang="en-US" altLang="zh-CN"/>
                      <m:t>,</m:t>
                    </m:r>
                    <m:r>
                      <a:rPr lang="zh-CN" altLang="en-US" i="1"/>
                      <m:t>𝐷</m:t>
                    </m:r>
                  </m:oMath>
                </a14:m>
                <a:r>
                  <a:rPr lang="zh-CN" altLang="en-US" dirty="0"/>
                  <a:t>：模型参数矩阵； </a:t>
                </a:r>
              </a:p>
              <a:p>
                <a:pPr lvl="1"/>
                <a14:m>
                  <m:oMath xmlns:m="http://schemas.openxmlformats.org/officeDocument/2006/math">
                    <m:r>
                      <a:rPr lang="zh-CN" altLang="en-US" i="1"/>
                      <m:t>𝜙</m:t>
                    </m:r>
                  </m:oMath>
                </a14:m>
                <a:r>
                  <a:rPr lang="zh-CN" altLang="en-US" dirty="0"/>
                  <a:t>：非线性激活函数，例如 </a:t>
                </a:r>
                <a:r>
                  <a:rPr lang="en-US" altLang="zh-CN" dirty="0" err="1"/>
                  <a:t>ReLU</a:t>
                </a:r>
                <a:r>
                  <a:rPr lang="zh-CN" altLang="en-US" dirty="0"/>
                  <a:t>、</a:t>
                </a:r>
                <a:r>
                  <a:rPr lang="en-US" altLang="zh-CN" dirty="0"/>
                  <a:t>tanh</a:t>
                </a:r>
                <a:r>
                  <a:rPr lang="zh-CN" altLang="en-US" dirty="0"/>
                  <a:t>； </a:t>
                </a:r>
              </a:p>
              <a:p>
                <a:pPr lvl="1"/>
                <a:r>
                  <a:rPr lang="zh-CN" altLang="en-US" dirty="0"/>
                  <a:t>方程 </a:t>
                </a:r>
                <a14:m>
                  <m:oMath xmlns:m="http://schemas.openxmlformats.org/officeDocument/2006/math">
                    <m:r>
                      <a:rPr lang="zh-CN" altLang="en-US" i="1" smtClean="0">
                        <a:solidFill>
                          <a:srgbClr val="C00000"/>
                        </a:solidFill>
                      </a:rPr>
                      <m:t>𝑥</m:t>
                    </m:r>
                    <m:r>
                      <a:rPr lang="en-US" altLang="zh-CN">
                        <a:solidFill>
                          <a:srgbClr val="C00000"/>
                        </a:solidFill>
                      </a:rPr>
                      <m:t>=</m:t>
                    </m:r>
                    <m:r>
                      <a:rPr lang="zh-CN" altLang="en-US" i="1">
                        <a:solidFill>
                          <a:srgbClr val="C00000"/>
                        </a:solidFill>
                      </a:rPr>
                      <m:t>𝜙</m:t>
                    </m:r>
                    <m:d>
                      <m:dPr>
                        <m:ctrlPr>
                          <a:rPr lang="zh-CN" altLang="en-US" i="1">
                            <a:solidFill>
                              <a:srgbClr val="C00000"/>
                            </a:solidFill>
                          </a:rPr>
                        </m:ctrlPr>
                      </m:dPr>
                      <m:e>
                        <m:r>
                          <a:rPr lang="zh-CN" altLang="en-US" i="1">
                            <a:solidFill>
                              <a:srgbClr val="C00000"/>
                            </a:solidFill>
                          </a:rPr>
                          <m:t>𝐴𝑥</m:t>
                        </m:r>
                        <m:r>
                          <a:rPr lang="en-US" altLang="zh-CN">
                            <a:solidFill>
                              <a:srgbClr val="C00000"/>
                            </a:solidFill>
                          </a:rPr>
                          <m:t>+</m:t>
                        </m:r>
                        <m:r>
                          <a:rPr lang="zh-CN" altLang="en-US" i="1">
                            <a:solidFill>
                              <a:srgbClr val="C00000"/>
                            </a:solidFill>
                          </a:rPr>
                          <m:t>𝐵𝑢</m:t>
                        </m:r>
                      </m:e>
                    </m:d>
                  </m:oMath>
                </a14:m>
                <a:r>
                  <a:rPr lang="zh-CN" altLang="en-US" dirty="0"/>
                  <a:t>：定义隐藏状态的</a:t>
                </a:r>
                <a:r>
                  <a:rPr lang="zh-CN" altLang="en-US" b="1" dirty="0">
                    <a:solidFill>
                      <a:srgbClr val="C00000"/>
                    </a:solidFill>
                  </a:rPr>
                  <a:t>不动点方程</a:t>
                </a:r>
                <a:r>
                  <a:rPr lang="zh-CN" altLang="en-US" dirty="0"/>
                  <a:t>。 </a:t>
                </a:r>
              </a:p>
              <a:p>
                <a:r>
                  <a:rPr lang="en-US" altLang="zh-CN" dirty="0"/>
                  <a:t>El </a:t>
                </a:r>
                <a:r>
                  <a:rPr lang="en-US" altLang="zh-CN" dirty="0" err="1"/>
                  <a:t>Ghaoui</a:t>
                </a:r>
                <a:r>
                  <a:rPr lang="en-US" altLang="zh-CN" dirty="0"/>
                  <a:t> </a:t>
                </a:r>
                <a:r>
                  <a:rPr lang="zh-CN" altLang="en-US" dirty="0"/>
                  <a:t>等人的 </a:t>
                </a:r>
                <a:r>
                  <a:rPr lang="en-US" altLang="zh-CN" i="1" dirty="0"/>
                  <a:t>Implicit Deep Learning</a:t>
                </a:r>
                <a:r>
                  <a:rPr lang="zh-CN" altLang="en-US" dirty="0"/>
                  <a:t> </a:t>
                </a:r>
                <a:r>
                  <a:rPr lang="zh-CN" altLang="en-US" dirty="0">
                    <a:solidFill>
                      <a:srgbClr val="C00000"/>
                    </a:solidFill>
                  </a:rPr>
                  <a:t>论文将这种预测规则解释为前馈神经网络递归规则的推广</a:t>
                </a:r>
                <a:r>
                  <a:rPr lang="zh-CN" altLang="en-US" dirty="0"/>
                  <a:t>：隐藏特征不是显式给出的，而是通过一个固定点方程隐式定义的。并指出这种框架可以用于新架构、鲁棒性分析、可解释性、稀疏性和网络结构优化等方向。</a:t>
                </a:r>
              </a:p>
            </p:txBody>
          </p:sp>
        </mc:Choice>
        <mc:Fallback>
          <p:sp>
            <p:nvSpPr>
              <p:cNvPr id="12" name="コンテンツ プレースホルダー 2">
                <a:extLst>
                  <a:ext uri="{FF2B5EF4-FFF2-40B4-BE49-F238E27FC236}">
                    <a16:creationId xmlns:a16="http://schemas.microsoft.com/office/drawing/2014/main" id="{94C9AE76-3BD4-5607-C792-5B7FC4F79548}"/>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12811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D3843-A7F8-1464-50B2-171377508BB5}"/>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056340E-6812-D167-E09E-31645ED73274}"/>
              </a:ext>
            </a:extLst>
          </p:cNvPr>
          <p:cNvSpPr>
            <a:spLocks noGrp="1" noChangeArrowheads="1"/>
          </p:cNvSpPr>
          <p:nvPr>
            <p:ph type="title"/>
          </p:nvPr>
        </p:nvSpPr>
        <p:spPr/>
        <p:txBody>
          <a:bodyPr/>
          <a:lstStyle/>
          <a:p>
            <a:r>
              <a:rPr lang="zh-CN" altLang="en-US" b="1" dirty="0"/>
              <a:t>场景四：</a:t>
            </a:r>
            <a:r>
              <a:rPr lang="en-US" altLang="zh-CN" b="1" dirty="0"/>
              <a:t>Implicit Deep Learning</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31D5679E-EAEC-A1EA-CC5A-259023519B8E}"/>
                  </a:ext>
                </a:extLst>
              </p:cNvPr>
              <p:cNvSpPr>
                <a:spLocks noGrp="1"/>
              </p:cNvSpPr>
              <p:nvPr>
                <p:ph idx="1"/>
              </p:nvPr>
            </p:nvSpPr>
            <p:spPr>
              <a:xfrm>
                <a:off x="508000" y="1112520"/>
                <a:ext cx="11582400" cy="5440680"/>
              </a:xfrm>
            </p:spPr>
            <p:txBody>
              <a:bodyPr/>
              <a:lstStyle/>
              <a:p>
                <a:pPr marL="0" indent="0">
                  <a:buNone/>
                </a:pPr>
                <a:r>
                  <a:rPr lang="zh-CN" altLang="en-US" dirty="0"/>
                  <a:t>这种框架可以用于新架构、鲁棒性分析、可解释性、稀疏性和网络结构优化等方向</a:t>
                </a:r>
                <a:endParaRPr lang="en-US" altLang="zh-CN" dirty="0"/>
              </a:p>
              <a:p>
                <a:r>
                  <a:rPr lang="zh-CN" altLang="en-US" dirty="0"/>
                  <a:t>普通前馈网络通常要求信息单向流动：</a:t>
                </a:r>
              </a:p>
              <a:p>
                <a:pPr marL="0" indent="0">
                  <a:buNone/>
                </a:pPr>
                <a14:m>
                  <m:oMathPara xmlns:m="http://schemas.openxmlformats.org/officeDocument/2006/math">
                    <m:oMathParaPr>
                      <m:jc m:val="centerGroup"/>
                    </m:oMathParaPr>
                    <m:oMath xmlns:m="http://schemas.openxmlformats.org/officeDocument/2006/math">
                      <m:sSub>
                        <m:sSubPr>
                          <m:ctrlPr>
                            <a:rPr lang="zh-CN" altLang="en-US"/>
                          </m:ctrlPr>
                        </m:sSubPr>
                        <m:e>
                          <m:r>
                            <a:rPr lang="zh-CN" altLang="en-US" i="1"/>
                            <m:t>𝑥</m:t>
                          </m:r>
                        </m:e>
                        <m:sub>
                          <m:r>
                            <a:rPr lang="en-US" altLang="zh-CN"/>
                            <m:t>1</m:t>
                          </m:r>
                        </m:sub>
                      </m:sSub>
                      <m:r>
                        <a:rPr lang="zh-CN" altLang="en-US"/>
                        <m:t>→</m:t>
                      </m:r>
                      <m:sSub>
                        <m:sSubPr>
                          <m:ctrlPr>
                            <a:rPr lang="zh-CN" altLang="en-US" i="1"/>
                          </m:ctrlPr>
                        </m:sSubPr>
                        <m:e>
                          <m:r>
                            <a:rPr lang="zh-CN" altLang="en-US" i="1"/>
                            <m:t>𝑥</m:t>
                          </m:r>
                        </m:e>
                        <m:sub>
                          <m:r>
                            <a:rPr lang="en-US" altLang="zh-CN"/>
                            <m:t>2</m:t>
                          </m:r>
                        </m:sub>
                      </m:sSub>
                      <m:r>
                        <a:rPr lang="zh-CN" altLang="en-US"/>
                        <m:t>→</m:t>
                      </m:r>
                      <m:sSub>
                        <m:sSubPr>
                          <m:ctrlPr>
                            <a:rPr lang="zh-CN" altLang="en-US" i="1"/>
                          </m:ctrlPr>
                        </m:sSubPr>
                        <m:e>
                          <m:r>
                            <a:rPr lang="zh-CN" altLang="en-US" i="1"/>
                            <m:t>𝑥</m:t>
                          </m:r>
                        </m:e>
                        <m:sub>
                          <m:r>
                            <a:rPr lang="en-US" altLang="zh-CN"/>
                            <m:t>3</m:t>
                          </m:r>
                        </m:sub>
                      </m:sSub>
                      <m:r>
                        <a:rPr lang="en-US" altLang="zh-CN"/>
                        <m:t>.</m:t>
                      </m:r>
                    </m:oMath>
                  </m:oMathPara>
                </a14:m>
                <a:endParaRPr lang="zh-CN" altLang="en-US" dirty="0"/>
              </a:p>
              <a:p>
                <a:pPr marL="0" indent="0">
                  <a:buNone/>
                </a:pPr>
                <a:r>
                  <a:rPr lang="zh-CN" altLang="en-US" dirty="0"/>
                  <a:t>这相当于矩阵 </a:t>
                </a:r>
                <a14:m>
                  <m:oMath xmlns:m="http://schemas.openxmlformats.org/officeDocument/2006/math">
                    <m:r>
                      <a:rPr lang="zh-CN" altLang="en-US" i="1"/>
                      <m:t>𝐴</m:t>
                    </m:r>
                  </m:oMath>
                </a14:m>
                <a:r>
                  <a:rPr lang="zh-CN" altLang="en-US" dirty="0"/>
                  <a:t>具有严格的层状结构，例如块三角结构。这样每一层只依赖前一层，可以按顺序计算</a:t>
                </a:r>
                <a:endParaRPr lang="en-US" altLang="zh-CN" dirty="0"/>
              </a:p>
              <a:p>
                <a:pPr marL="0" indent="0">
                  <a:buNone/>
                </a:pPr>
                <a:endParaRPr lang="zh-CN" altLang="en-US" dirty="0"/>
              </a:p>
              <a:p>
                <a:pPr marL="0" indent="0">
                  <a:buNone/>
                </a:pPr>
                <a:r>
                  <a:rPr lang="zh-CN" altLang="en-US" dirty="0"/>
                  <a:t>但是在 </a:t>
                </a:r>
                <a:r>
                  <a:rPr lang="en-US" altLang="zh-CN" dirty="0"/>
                  <a:t>implicit deep learning </a:t>
                </a:r>
                <a:r>
                  <a:rPr lang="zh-CN" altLang="en-US" dirty="0"/>
                  <a:t>中：</a:t>
                </a:r>
              </a:p>
              <a:p>
                <a:pPr marL="0" indent="0">
                  <a:buNone/>
                </a:pPr>
                <a14:m>
                  <m:oMathPara xmlns:m="http://schemas.openxmlformats.org/officeDocument/2006/math">
                    <m:oMathParaPr>
                      <m:jc m:val="centerGroup"/>
                    </m:oMathParaPr>
                    <m:oMath xmlns:m="http://schemas.openxmlformats.org/officeDocument/2006/math">
                      <m:r>
                        <a:rPr lang="zh-CN" altLang="en-US" i="1"/>
                        <m:t>𝑥</m:t>
                      </m:r>
                      <m:r>
                        <a:rPr lang="en-US" altLang="zh-CN"/>
                        <m:t>=</m:t>
                      </m:r>
                      <m:r>
                        <a:rPr lang="zh-CN" altLang="en-US" i="1"/>
                        <m:t>𝜙</m:t>
                      </m:r>
                      <m:d>
                        <m:dPr>
                          <m:ctrlPr>
                            <a:rPr lang="zh-CN" altLang="en-US" i="1"/>
                          </m:ctrlPr>
                        </m:dPr>
                        <m:e>
                          <m:r>
                            <a:rPr lang="zh-CN" altLang="en-US" i="1"/>
                            <m:t>𝐴𝑥</m:t>
                          </m:r>
                          <m:r>
                            <a:rPr lang="en-US" altLang="zh-CN"/>
                            <m:t>+</m:t>
                          </m:r>
                          <m:r>
                            <a:rPr lang="zh-CN" altLang="en-US" i="1"/>
                            <m:t>𝐵𝑢</m:t>
                          </m:r>
                        </m:e>
                      </m:d>
                    </m:oMath>
                  </m:oMathPara>
                </a14:m>
                <a:endParaRPr lang="zh-CN" altLang="en-US" dirty="0"/>
              </a:p>
              <a:p>
                <a:pPr marL="0" indent="0">
                  <a:buNone/>
                </a:pPr>
                <a:r>
                  <a:rPr lang="zh-CN" altLang="en-US" dirty="0"/>
                  <a:t>里面的 </a:t>
                </a:r>
                <a14:m>
                  <m:oMath xmlns:m="http://schemas.openxmlformats.org/officeDocument/2006/math">
                    <m:r>
                      <a:rPr lang="zh-CN" altLang="en-US" i="1"/>
                      <m:t>𝐴</m:t>
                    </m:r>
                  </m:oMath>
                </a14:m>
                <a:r>
                  <a:rPr lang="zh-CN" altLang="en-US" dirty="0"/>
                  <a:t>不一定是三角矩阵。它可以包含反馈连接、跨层连接、循环连接、图结构连接。例如：</a:t>
                </a:r>
              </a:p>
              <a:p>
                <a:pPr marL="0" indent="0">
                  <a:buNone/>
                </a:pPr>
                <a14:m>
                  <m:oMathPara xmlns:m="http://schemas.openxmlformats.org/officeDocument/2006/math">
                    <m:oMathParaPr>
                      <m:jc m:val="centerGroup"/>
                    </m:oMathParaPr>
                    <m:oMath xmlns:m="http://schemas.openxmlformats.org/officeDocument/2006/math">
                      <m:sSub>
                        <m:sSubPr>
                          <m:ctrlPr>
                            <a:rPr lang="zh-CN" altLang="en-US"/>
                          </m:ctrlPr>
                        </m:sSubPr>
                        <m:e>
                          <m:r>
                            <a:rPr lang="zh-CN" altLang="en-US" i="1"/>
                            <m:t>𝑥</m:t>
                          </m:r>
                        </m:e>
                        <m:sub>
                          <m:r>
                            <a:rPr lang="en-US" altLang="zh-CN"/>
                            <m:t>1</m:t>
                          </m:r>
                        </m:sub>
                      </m:sSub>
                      <m:r>
                        <a:rPr lang="zh-CN" altLang="en-US"/>
                        <m:t>↔</m:t>
                      </m:r>
                      <m:sSub>
                        <m:sSubPr>
                          <m:ctrlPr>
                            <a:rPr lang="zh-CN" altLang="en-US" i="1"/>
                          </m:ctrlPr>
                        </m:sSubPr>
                        <m:e>
                          <m:r>
                            <a:rPr lang="zh-CN" altLang="en-US" i="1"/>
                            <m:t>𝑥</m:t>
                          </m:r>
                        </m:e>
                        <m:sub>
                          <m:r>
                            <a:rPr lang="en-US" altLang="zh-CN"/>
                            <m:t>2</m:t>
                          </m:r>
                        </m:sub>
                      </m:sSub>
                      <m:r>
                        <a:rPr lang="en-US" altLang="zh-CN"/>
                        <m:t>, </m:t>
                      </m:r>
                      <m:sSub>
                        <m:sSubPr>
                          <m:ctrlPr>
                            <a:rPr lang="zh-CN" altLang="en-US" i="1"/>
                          </m:ctrlPr>
                        </m:sSubPr>
                        <m:e>
                          <m:r>
                            <a:rPr lang="zh-CN" altLang="en-US" i="1"/>
                            <m:t>𝑥</m:t>
                          </m:r>
                        </m:e>
                        <m:sub>
                          <m:r>
                            <a:rPr lang="en-US" altLang="zh-CN"/>
                            <m:t>2</m:t>
                          </m:r>
                        </m:sub>
                      </m:sSub>
                      <m:r>
                        <a:rPr lang="zh-CN" altLang="en-US"/>
                        <m:t>↔</m:t>
                      </m:r>
                      <m:sSub>
                        <m:sSubPr>
                          <m:ctrlPr>
                            <a:rPr lang="zh-CN" altLang="en-US" i="1"/>
                          </m:ctrlPr>
                        </m:sSubPr>
                        <m:e>
                          <m:r>
                            <a:rPr lang="zh-CN" altLang="en-US" i="1"/>
                            <m:t>𝑥</m:t>
                          </m:r>
                        </m:e>
                        <m:sub>
                          <m:r>
                            <a:rPr lang="en-US" altLang="zh-CN"/>
                            <m:t>3</m:t>
                          </m:r>
                        </m:sub>
                      </m:sSub>
                      <m:r>
                        <a:rPr lang="en-US" altLang="zh-CN"/>
                        <m:t>.</m:t>
                      </m:r>
                    </m:oMath>
                  </m:oMathPara>
                </a14:m>
                <a:endParaRPr lang="zh-CN" altLang="en-US" dirty="0"/>
              </a:p>
              <a:p>
                <a:r>
                  <a:rPr lang="zh-CN" altLang="en-US" dirty="0"/>
                  <a:t>这意味着模型不再局限于“第 </a:t>
                </a:r>
                <a:r>
                  <a:rPr lang="en-US" altLang="zh-CN" dirty="0"/>
                  <a:t>1 </a:t>
                </a:r>
                <a:r>
                  <a:rPr lang="zh-CN" altLang="en-US" dirty="0"/>
                  <a:t>层到第 </a:t>
                </a:r>
                <a:r>
                  <a:rPr lang="en-US" altLang="zh-CN" dirty="0"/>
                  <a:t>2 </a:t>
                </a:r>
                <a:r>
                  <a:rPr lang="zh-CN" altLang="en-US" dirty="0"/>
                  <a:t>层到第 </a:t>
                </a:r>
                <a:r>
                  <a:rPr lang="en-US" altLang="zh-CN" dirty="0"/>
                  <a:t>3 </a:t>
                </a:r>
                <a:r>
                  <a:rPr lang="zh-CN" altLang="en-US" dirty="0"/>
                  <a:t>层”的单向传播，而是允许隐藏特征之间互相影响，最后共同达到一个平衡状态。</a:t>
                </a:r>
              </a:p>
              <a:p>
                <a:pPr marL="0" indent="0">
                  <a:buNone/>
                </a:pPr>
                <a:endParaRPr lang="en-US" altLang="zh-CN" dirty="0"/>
              </a:p>
              <a:p>
                <a:pPr marL="0" indent="0">
                  <a:buNone/>
                </a:pPr>
                <a:r>
                  <a:rPr lang="zh-CN" altLang="en-US" dirty="0"/>
                  <a:t>所以它可以自然产生新的网络架构：</a:t>
                </a:r>
              </a:p>
              <a:p>
                <a14:m>
                  <m:oMath xmlns:m="http://schemas.openxmlformats.org/officeDocument/2006/math">
                    <m:r>
                      <m:rPr>
                        <m:nor/>
                      </m:rPr>
                      <a:rPr lang="zh-CN" altLang="en-US" b="0"/>
                      <m:t>输入 </m:t>
                    </m:r>
                    <m:r>
                      <m:rPr>
                        <m:sty m:val="p"/>
                      </m:rPr>
                      <a:rPr lang="zh-CN" altLang="en-US" b="0" i="0"/>
                      <m:t>u</m:t>
                    </m:r>
                    <m:r>
                      <a:rPr lang="zh-CN" altLang="en-US" i="0"/>
                      <m:t>⟶</m:t>
                    </m:r>
                    <m:r>
                      <m:rPr>
                        <m:nor/>
                      </m:rPr>
                      <a:rPr lang="zh-CN" altLang="en-US"/>
                      <m:t>求解平衡状态 </m:t>
                    </m:r>
                    <m:r>
                      <m:rPr>
                        <m:sty m:val="p"/>
                      </m:rPr>
                      <a:rPr lang="zh-CN" altLang="en-US" i="0"/>
                      <m:t>x</m:t>
                    </m:r>
                    <m:r>
                      <a:rPr lang="zh-CN" altLang="en-US" i="0"/>
                      <m:t>⟶</m:t>
                    </m:r>
                    <m:r>
                      <m:rPr>
                        <m:nor/>
                      </m:rPr>
                      <a:rPr lang="zh-CN" altLang="en-US"/>
                      <m:t>输出 </m:t>
                    </m:r>
                    <m:acc>
                      <m:accPr>
                        <m:chr m:val="̂"/>
                        <m:ctrlPr>
                          <a:rPr lang="zh-CN" altLang="en-US"/>
                        </m:ctrlPr>
                      </m:accPr>
                      <m:e>
                        <m:r>
                          <m:rPr>
                            <m:sty m:val="p"/>
                          </m:rPr>
                          <a:rPr lang="zh-CN" altLang="en-US" i="0"/>
                          <m:t>y</m:t>
                        </m:r>
                      </m:e>
                    </m:acc>
                    <m:r>
                      <a:rPr lang="en-US" altLang="zh-CN"/>
                      <m:t>.</m:t>
                    </m:r>
                  </m:oMath>
                </a14:m>
                <a:endParaRPr lang="zh-CN" altLang="en-US" b="0" dirty="0"/>
              </a:p>
              <a:p>
                <a:r>
                  <a:rPr lang="zh-CN" altLang="en-US" dirty="0"/>
                  <a:t>这种结构包括普通前馈网络、</a:t>
                </a:r>
                <a:r>
                  <a:rPr lang="en-US" altLang="zh-CN" dirty="0"/>
                  <a:t>RNN</a:t>
                </a:r>
                <a:r>
                  <a:rPr lang="zh-CN" altLang="en-US" dirty="0"/>
                  <a:t>、</a:t>
                </a:r>
                <a:r>
                  <a:rPr lang="en-US" altLang="zh-CN" dirty="0"/>
                  <a:t>DEQ</a:t>
                </a:r>
                <a:r>
                  <a:rPr lang="zh-CN" altLang="en-US" dirty="0"/>
                  <a:t>、反馈网络、图结构网络等的思想。它的本质是：</a:t>
                </a:r>
              </a:p>
              <a:p>
                <a:pPr marL="400050" lvl="1" indent="0">
                  <a:buNone/>
                </a:pPr>
                <a:r>
                  <a:rPr lang="zh-CN" altLang="en-US" dirty="0"/>
                  <a:t>不再手工规定“有多少层、每层如何连接”，而是通过一个隐式方程描述隐藏状态之间的整体关系</a:t>
                </a:r>
              </a:p>
            </p:txBody>
          </p:sp>
        </mc:Choice>
        <mc:Fallback>
          <p:sp>
            <p:nvSpPr>
              <p:cNvPr id="12" name="コンテンツ プレースホルダー 2">
                <a:extLst>
                  <a:ext uri="{FF2B5EF4-FFF2-40B4-BE49-F238E27FC236}">
                    <a16:creationId xmlns:a16="http://schemas.microsoft.com/office/drawing/2014/main" id="{31D5679E-EAEC-A1EA-CC5A-259023519B8E}"/>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r="-579" b="-526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52965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AAAF6-55EC-BDC8-AD34-C78205ED09C5}"/>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807DD2C-7EB6-2AEE-5465-3A22A390CD7C}"/>
              </a:ext>
            </a:extLst>
          </p:cNvPr>
          <p:cNvSpPr>
            <a:spLocks noGrp="1" noChangeArrowheads="1"/>
          </p:cNvSpPr>
          <p:nvPr>
            <p:ph type="title"/>
          </p:nvPr>
        </p:nvSpPr>
        <p:spPr/>
        <p:txBody>
          <a:bodyPr/>
          <a:lstStyle/>
          <a:p>
            <a:r>
              <a:rPr lang="zh-CN" altLang="en-US" b="1" dirty="0"/>
              <a:t>场景四：</a:t>
            </a:r>
            <a:r>
              <a:rPr lang="en-US" altLang="zh-CN" b="1" dirty="0"/>
              <a:t>Implicit Deep Learning</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527F5DC1-8179-BD38-3D49-2D783054F255}"/>
                  </a:ext>
                </a:extLst>
              </p:cNvPr>
              <p:cNvSpPr>
                <a:spLocks noGrp="1"/>
              </p:cNvSpPr>
              <p:nvPr>
                <p:ph idx="1"/>
              </p:nvPr>
            </p:nvSpPr>
            <p:spPr>
              <a:xfrm>
                <a:off x="508000" y="1112520"/>
                <a:ext cx="11582400" cy="5440680"/>
              </a:xfrm>
            </p:spPr>
            <p:txBody>
              <a:bodyPr/>
              <a:lstStyle/>
              <a:p>
                <a:pPr marL="0" indent="0">
                  <a:buNone/>
                </a:pPr>
                <a:r>
                  <a:rPr lang="ja-JP" altLang="en-US" dirty="0"/>
                  <a:t>鲁棒性关注的问题是：输入 </a:t>
                </a:r>
                <a14:m>
                  <m:oMath xmlns:m="http://schemas.openxmlformats.org/officeDocument/2006/math">
                    <m:r>
                      <a:rPr lang="ja-JP" altLang="en-US" i="1"/>
                      <m:t>𝑢</m:t>
                    </m:r>
                  </m:oMath>
                </a14:m>
                <a:r>
                  <a:rPr lang="ja-JP" altLang="en-US" dirty="0"/>
                  <a:t>发生小扰动时，输出 </a:t>
                </a:r>
                <a14:m>
                  <m:oMath xmlns:m="http://schemas.openxmlformats.org/officeDocument/2006/math">
                    <m:acc>
                      <m:accPr>
                        <m:chr m:val="̂"/>
                        <m:ctrlPr>
                          <a:rPr lang="ar-AE" altLang="ja-JP"/>
                        </m:ctrlPr>
                      </m:accPr>
                      <m:e>
                        <m:r>
                          <a:rPr lang="ja-JP" altLang="ar-AE" i="1"/>
                          <m:t>𝑦</m:t>
                        </m:r>
                      </m:e>
                    </m:acc>
                  </m:oMath>
                </a14:m>
                <a:r>
                  <a:rPr lang="ja-JP" altLang="en-US" dirty="0"/>
                  <a:t>会不会发生很大变化？</a:t>
                </a:r>
              </a:p>
              <a:p>
                <a:r>
                  <a:rPr lang="ja-JP" altLang="en-US" dirty="0"/>
                  <a:t>在 </a:t>
                </a:r>
                <a:r>
                  <a:rPr lang="en-US" altLang="ja-JP" dirty="0"/>
                  <a:t>implicit deep learning </a:t>
                </a:r>
                <a:r>
                  <a:rPr lang="ja-JP" altLang="en-US" dirty="0"/>
                  <a:t>中，隐藏状态满足：</a:t>
                </a:r>
              </a:p>
              <a:p>
                <a:pPr marL="0" indent="0">
                  <a:buNone/>
                </a:pPr>
                <a14:m>
                  <m:oMathPara xmlns:m="http://schemas.openxmlformats.org/officeDocument/2006/math">
                    <m:oMathParaPr>
                      <m:jc m:val="centerGroup"/>
                    </m:oMathParaPr>
                    <m:oMath xmlns:m="http://schemas.openxmlformats.org/officeDocument/2006/math">
                      <m:r>
                        <a:rPr lang="ja-JP" altLang="en-US" i="1"/>
                        <m:t>𝑥</m:t>
                      </m:r>
                      <m:r>
                        <a:rPr lang="en-US" altLang="ja-JP"/>
                        <m:t>=</m:t>
                      </m:r>
                      <m:r>
                        <a:rPr lang="ja-JP" altLang="en-US" i="1"/>
                        <m:t>𝜙</m:t>
                      </m:r>
                      <m:d>
                        <m:dPr>
                          <m:ctrlPr>
                            <a:rPr lang="ar-AE" altLang="ja-JP" i="1"/>
                          </m:ctrlPr>
                        </m:dPr>
                        <m:e>
                          <m:r>
                            <a:rPr lang="ja-JP" altLang="ar-AE" i="1"/>
                            <m:t>𝐴𝑥</m:t>
                          </m:r>
                          <m:r>
                            <a:rPr lang="ar-AE" altLang="ja-JP"/>
                            <m:t>+</m:t>
                          </m:r>
                          <m:r>
                            <a:rPr lang="ja-JP" altLang="ar-AE" i="1"/>
                            <m:t>𝐵𝑢</m:t>
                          </m:r>
                        </m:e>
                      </m:d>
                      <m:r>
                        <a:rPr lang="ar-AE" altLang="ja-JP"/>
                        <m:t>.</m:t>
                      </m:r>
                    </m:oMath>
                  </m:oMathPara>
                </a14:m>
                <a:endParaRPr lang="ar-AE" altLang="ja-JP" dirty="0"/>
              </a:p>
              <a:p>
                <a:r>
                  <a:rPr lang="ja-JP" altLang="en-US" dirty="0"/>
                  <a:t>假设输入从 </a:t>
                </a:r>
                <a14:m>
                  <m:oMath xmlns:m="http://schemas.openxmlformats.org/officeDocument/2006/math">
                    <m:r>
                      <a:rPr lang="ja-JP" altLang="en-US" i="1"/>
                      <m:t>𝑢</m:t>
                    </m:r>
                  </m:oMath>
                </a14:m>
                <a:r>
                  <a:rPr lang="ja-JP" altLang="en-US" dirty="0"/>
                  <a:t>变成 </a:t>
                </a:r>
                <a14:m>
                  <m:oMath xmlns:m="http://schemas.openxmlformats.org/officeDocument/2006/math">
                    <m:sSup>
                      <m:sSupPr>
                        <m:ctrlPr>
                          <a:rPr lang="ar-AE" altLang="ja-JP"/>
                        </m:ctrlPr>
                      </m:sSupPr>
                      <m:e>
                        <m:r>
                          <a:rPr lang="ja-JP" altLang="ar-AE" i="1"/>
                          <m:t>𝑢</m:t>
                        </m:r>
                      </m:e>
                      <m:sup>
                        <m:r>
                          <a:rPr lang="ar-AE" altLang="ja-JP"/>
                          <m:t>′</m:t>
                        </m:r>
                      </m:sup>
                    </m:sSup>
                  </m:oMath>
                </a14:m>
                <a:r>
                  <a:rPr lang="ja-JP" altLang="ar-AE" dirty="0"/>
                  <a:t>，</a:t>
                </a:r>
                <a:r>
                  <a:rPr lang="ja-JP" altLang="en-US" dirty="0"/>
                  <a:t>对应的隐藏状态从 </a:t>
                </a:r>
                <a14:m>
                  <m:oMath xmlns:m="http://schemas.openxmlformats.org/officeDocument/2006/math">
                    <m:r>
                      <a:rPr lang="ja-JP" altLang="en-US" i="1"/>
                      <m:t>𝑥</m:t>
                    </m:r>
                  </m:oMath>
                </a14:m>
                <a:r>
                  <a:rPr lang="ja-JP" altLang="en-US" dirty="0"/>
                  <a:t>变成 </a:t>
                </a:r>
                <a14:m>
                  <m:oMath xmlns:m="http://schemas.openxmlformats.org/officeDocument/2006/math">
                    <m:sSup>
                      <m:sSupPr>
                        <m:ctrlPr>
                          <a:rPr lang="ar-AE" altLang="ja-JP"/>
                        </m:ctrlPr>
                      </m:sSupPr>
                      <m:e>
                        <m:r>
                          <a:rPr lang="ja-JP" altLang="ar-AE" i="1"/>
                          <m:t>𝑥</m:t>
                        </m:r>
                      </m:e>
                      <m:sup>
                        <m:r>
                          <a:rPr lang="ar-AE" altLang="ja-JP"/>
                          <m:t>′</m:t>
                        </m:r>
                      </m:sup>
                    </m:sSup>
                  </m:oMath>
                </a14:m>
                <a:r>
                  <a:rPr lang="ja-JP" altLang="ar-AE" dirty="0"/>
                  <a:t>。</a:t>
                </a:r>
                <a:r>
                  <a:rPr lang="ja-JP" altLang="en-US" dirty="0"/>
                  <a:t>则有：</a:t>
                </a:r>
              </a:p>
              <a:p>
                <a:pPr marL="0" indent="0">
                  <a:buNone/>
                </a:pPr>
                <a14:m>
                  <m:oMathPara xmlns:m="http://schemas.openxmlformats.org/officeDocument/2006/math">
                    <m:oMathParaPr>
                      <m:jc m:val="centerGroup"/>
                    </m:oMathParaPr>
                    <m:oMath xmlns:m="http://schemas.openxmlformats.org/officeDocument/2006/math">
                      <m:r>
                        <a:rPr lang="ja-JP" altLang="en-US" i="1"/>
                        <m:t>𝑥</m:t>
                      </m:r>
                      <m:r>
                        <a:rPr lang="en-US" altLang="ja-JP"/>
                        <m:t>=</m:t>
                      </m:r>
                      <m:r>
                        <a:rPr lang="ja-JP" altLang="en-US" i="1"/>
                        <m:t>𝜙</m:t>
                      </m:r>
                      <m:d>
                        <m:dPr>
                          <m:ctrlPr>
                            <a:rPr lang="ar-AE" altLang="ja-JP" i="1"/>
                          </m:ctrlPr>
                        </m:dPr>
                        <m:e>
                          <m:r>
                            <a:rPr lang="ja-JP" altLang="ar-AE" i="1"/>
                            <m:t>𝐴𝑥</m:t>
                          </m:r>
                          <m:r>
                            <a:rPr lang="ar-AE" altLang="ja-JP"/>
                            <m:t>+</m:t>
                          </m:r>
                          <m:r>
                            <a:rPr lang="ja-JP" altLang="ar-AE" i="1"/>
                            <m:t>𝐵𝑢</m:t>
                          </m:r>
                        </m:e>
                      </m:d>
                      <m:r>
                        <a:rPr lang="ar-AE" altLang="ja-JP"/>
                        <m:t>,</m:t>
                      </m:r>
                    </m:oMath>
                  </m:oMathPara>
                </a14:m>
                <a:endParaRPr lang="ar-AE" altLang="ja-JP" dirty="0"/>
              </a:p>
              <a:p>
                <a:pPr marL="0" indent="0">
                  <a:buNone/>
                </a:pPr>
                <a14:m>
                  <m:oMathPara xmlns:m="http://schemas.openxmlformats.org/officeDocument/2006/math">
                    <m:oMathParaPr>
                      <m:jc m:val="centerGroup"/>
                    </m:oMathParaPr>
                    <m:oMath xmlns:m="http://schemas.openxmlformats.org/officeDocument/2006/math">
                      <m:sSup>
                        <m:sSupPr>
                          <m:ctrlPr>
                            <a:rPr lang="ar-AE" altLang="ja-JP"/>
                          </m:ctrlPr>
                        </m:sSupPr>
                        <m:e>
                          <m:r>
                            <a:rPr lang="ja-JP" altLang="ar-AE" i="1"/>
                            <m:t>𝑥</m:t>
                          </m:r>
                        </m:e>
                        <m:sup>
                          <m:r>
                            <a:rPr lang="ar-AE" altLang="ja-JP"/>
                            <m:t>′</m:t>
                          </m:r>
                        </m:sup>
                      </m:sSup>
                      <m:r>
                        <a:rPr lang="ar-AE" altLang="ja-JP"/>
                        <m:t>=</m:t>
                      </m:r>
                      <m:r>
                        <a:rPr lang="ja-JP" altLang="ar-AE" i="1"/>
                        <m:t>𝜙</m:t>
                      </m:r>
                      <m:d>
                        <m:dPr>
                          <m:ctrlPr>
                            <a:rPr lang="ar-AE" altLang="ja-JP" i="1"/>
                          </m:ctrlPr>
                        </m:dPr>
                        <m:e>
                          <m:r>
                            <a:rPr lang="ja-JP" altLang="ar-AE" i="1"/>
                            <m:t>𝐴</m:t>
                          </m:r>
                          <m:sSup>
                            <m:sSupPr>
                              <m:ctrlPr>
                                <a:rPr lang="ar-AE" altLang="ja-JP" i="1"/>
                              </m:ctrlPr>
                            </m:sSupPr>
                            <m:e>
                              <m:r>
                                <a:rPr lang="ja-JP" altLang="ar-AE" i="1"/>
                                <m:t>𝑥</m:t>
                              </m:r>
                            </m:e>
                            <m:sup>
                              <m:r>
                                <a:rPr lang="ar-AE" altLang="ja-JP"/>
                                <m:t>′</m:t>
                              </m:r>
                            </m:sup>
                          </m:sSup>
                          <m:r>
                            <a:rPr lang="ar-AE" altLang="ja-JP"/>
                            <m:t>+</m:t>
                          </m:r>
                          <m:r>
                            <a:rPr lang="ja-JP" altLang="ar-AE" i="1"/>
                            <m:t>𝐵</m:t>
                          </m:r>
                          <m:sSup>
                            <m:sSupPr>
                              <m:ctrlPr>
                                <a:rPr lang="ar-AE" altLang="ja-JP" i="1"/>
                              </m:ctrlPr>
                            </m:sSupPr>
                            <m:e>
                              <m:r>
                                <a:rPr lang="ja-JP" altLang="ar-AE" i="1"/>
                                <m:t>𝑢</m:t>
                              </m:r>
                            </m:e>
                            <m:sup>
                              <m:r>
                                <a:rPr lang="ar-AE" altLang="ja-JP"/>
                                <m:t>′</m:t>
                              </m:r>
                            </m:sup>
                          </m:sSup>
                        </m:e>
                      </m:d>
                      <m:r>
                        <a:rPr lang="ar-AE" altLang="ja-JP"/>
                        <m:t>.</m:t>
                      </m:r>
                    </m:oMath>
                  </m:oMathPara>
                </a14:m>
                <a:endParaRPr lang="ar-AE" altLang="ja-JP" dirty="0"/>
              </a:p>
              <a:p>
                <a:r>
                  <a:rPr lang="ja-JP" altLang="en-US" dirty="0"/>
                  <a:t>如果激活函数 </a:t>
                </a:r>
                <a14:m>
                  <m:oMath xmlns:m="http://schemas.openxmlformats.org/officeDocument/2006/math">
                    <m:r>
                      <a:rPr lang="ja-JP" altLang="en-US" i="1"/>
                      <m:t>𝜙</m:t>
                    </m:r>
                  </m:oMath>
                </a14:m>
                <a:r>
                  <a:rPr lang="ja-JP" altLang="en-US" dirty="0"/>
                  <a:t>是 </a:t>
                </a:r>
                <a:r>
                  <a:rPr lang="en-US" altLang="ja-JP" dirty="0"/>
                  <a:t>1-Lipschitz</a:t>
                </a:r>
                <a:r>
                  <a:rPr lang="ja-JP" altLang="en-US" dirty="0"/>
                  <a:t>，例如 </a:t>
                </a:r>
                <a:r>
                  <a:rPr lang="en-US" altLang="ja-JP" dirty="0" err="1"/>
                  <a:t>ReLU</a:t>
                </a:r>
                <a:r>
                  <a:rPr lang="ja-JP" altLang="en-US" dirty="0"/>
                  <a:t>、</a:t>
                </a:r>
                <a:r>
                  <a:rPr lang="en-US" altLang="ja-JP" dirty="0"/>
                  <a:t>tanh </a:t>
                </a:r>
                <a:r>
                  <a:rPr lang="ja-JP" altLang="en-US" dirty="0"/>
                  <a:t>在适当范数下可被这样估计，那么：</a:t>
                </a:r>
              </a:p>
              <a:p>
                <a:pPr marL="0" indent="0">
                  <a:buNone/>
                </a:pPr>
                <a14:m>
                  <m:oMathPara xmlns:m="http://schemas.openxmlformats.org/officeDocument/2006/math">
                    <m:oMathParaPr>
                      <m:jc m:val="centerGroup"/>
                    </m:oMathParaPr>
                    <m:oMath xmlns:m="http://schemas.openxmlformats.org/officeDocument/2006/math">
                      <m:r>
                        <a:rPr lang="ja-JP" altLang="en-US"/>
                        <m:t>∥</m:t>
                      </m:r>
                      <m:r>
                        <a:rPr lang="ja-JP" altLang="en-US" i="1"/>
                        <m:t>𝑥</m:t>
                      </m:r>
                      <m:r>
                        <a:rPr lang="ja-JP" altLang="en-US"/>
                        <m:t>−</m:t>
                      </m:r>
                      <m:sSup>
                        <m:sSupPr>
                          <m:ctrlPr>
                            <a:rPr lang="ar-AE" altLang="ja-JP" i="1"/>
                          </m:ctrlPr>
                        </m:sSupPr>
                        <m:e>
                          <m:r>
                            <a:rPr lang="ja-JP" altLang="ar-AE" i="1"/>
                            <m:t>𝑥</m:t>
                          </m:r>
                        </m:e>
                        <m:sup>
                          <m:r>
                            <a:rPr lang="ar-AE" altLang="ja-JP"/>
                            <m:t>′</m:t>
                          </m:r>
                        </m:sup>
                      </m:sSup>
                      <m:r>
                        <a:rPr lang="ar-AE" altLang="ja-JP"/>
                        <m:t>∥≤∥</m:t>
                      </m:r>
                      <m:r>
                        <a:rPr lang="ja-JP" altLang="ar-AE" i="1"/>
                        <m:t>𝐴</m:t>
                      </m:r>
                      <m:d>
                        <m:dPr>
                          <m:ctrlPr>
                            <a:rPr lang="ar-AE" altLang="ja-JP" i="1"/>
                          </m:ctrlPr>
                        </m:dPr>
                        <m:e>
                          <m:r>
                            <a:rPr lang="ja-JP" altLang="ar-AE" i="1"/>
                            <m:t>𝑥</m:t>
                          </m:r>
                          <m:r>
                            <a:rPr lang="ar-AE" altLang="ja-JP"/>
                            <m:t>−</m:t>
                          </m:r>
                          <m:sSup>
                            <m:sSupPr>
                              <m:ctrlPr>
                                <a:rPr lang="ar-AE" altLang="ja-JP" i="1"/>
                              </m:ctrlPr>
                            </m:sSupPr>
                            <m:e>
                              <m:r>
                                <a:rPr lang="ja-JP" altLang="ar-AE" i="1"/>
                                <m:t>𝑥</m:t>
                              </m:r>
                            </m:e>
                            <m:sup>
                              <m:r>
                                <a:rPr lang="ar-AE" altLang="ja-JP"/>
                                <m:t>′</m:t>
                              </m:r>
                            </m:sup>
                          </m:sSup>
                        </m:e>
                      </m:d>
                      <m:r>
                        <a:rPr lang="ar-AE" altLang="ja-JP"/>
                        <m:t>+</m:t>
                      </m:r>
                      <m:r>
                        <a:rPr lang="ja-JP" altLang="ar-AE" i="1"/>
                        <m:t>𝐵</m:t>
                      </m:r>
                      <m:d>
                        <m:dPr>
                          <m:ctrlPr>
                            <a:rPr lang="ar-AE" altLang="ja-JP" i="1"/>
                          </m:ctrlPr>
                        </m:dPr>
                        <m:e>
                          <m:r>
                            <a:rPr lang="ja-JP" altLang="ar-AE" i="1"/>
                            <m:t>𝑢</m:t>
                          </m:r>
                          <m:r>
                            <a:rPr lang="ar-AE" altLang="ja-JP"/>
                            <m:t>−</m:t>
                          </m:r>
                          <m:sSup>
                            <m:sSupPr>
                              <m:ctrlPr>
                                <a:rPr lang="ar-AE" altLang="ja-JP" i="1"/>
                              </m:ctrlPr>
                            </m:sSupPr>
                            <m:e>
                              <m:r>
                                <a:rPr lang="ja-JP" altLang="ar-AE" i="1"/>
                                <m:t>𝑢</m:t>
                              </m:r>
                            </m:e>
                            <m:sup>
                              <m:r>
                                <a:rPr lang="ar-AE" altLang="ja-JP"/>
                                <m:t>′</m:t>
                              </m:r>
                            </m:sup>
                          </m:sSup>
                        </m:e>
                      </m:d>
                      <m:r>
                        <a:rPr lang="ar-AE" altLang="ja-JP"/>
                        <m:t>∥.</m:t>
                      </m:r>
                    </m:oMath>
                  </m:oMathPara>
                </a14:m>
                <a:endParaRPr lang="ar-AE" altLang="ja-JP" dirty="0"/>
              </a:p>
              <a:p>
                <a:r>
                  <a:rPr lang="ja-JP" altLang="en-US" dirty="0"/>
                  <a:t>进一步有：</a:t>
                </a:r>
                <a14:m>
                  <m:oMath xmlns:m="http://schemas.openxmlformats.org/officeDocument/2006/math">
                    <m:r>
                      <a:rPr lang="ja-JP" altLang="en-US"/>
                      <m:t>∥</m:t>
                    </m:r>
                    <m:r>
                      <a:rPr lang="ja-JP" altLang="en-US" i="1"/>
                      <m:t>𝑥</m:t>
                    </m:r>
                    <m:r>
                      <a:rPr lang="ja-JP" altLang="en-US"/>
                      <m:t>−</m:t>
                    </m:r>
                    <m:sSup>
                      <m:sSupPr>
                        <m:ctrlPr>
                          <a:rPr lang="ar-AE" altLang="ja-JP" i="1"/>
                        </m:ctrlPr>
                      </m:sSupPr>
                      <m:e>
                        <m:r>
                          <a:rPr lang="ja-JP" altLang="ar-AE" i="1"/>
                          <m:t>𝑥</m:t>
                        </m:r>
                      </m:e>
                      <m:sup>
                        <m:r>
                          <a:rPr lang="ar-AE" altLang="ja-JP"/>
                          <m:t>′</m:t>
                        </m:r>
                      </m:sup>
                    </m:sSup>
                    <m:r>
                      <a:rPr lang="ar-AE" altLang="ja-JP"/>
                      <m:t>∥≤∥</m:t>
                    </m:r>
                    <m:r>
                      <a:rPr lang="ja-JP" altLang="ar-AE" i="1"/>
                      <m:t>𝐴</m:t>
                    </m:r>
                    <m:r>
                      <a:rPr lang="ar-AE" altLang="ja-JP"/>
                      <m:t>∥∥</m:t>
                    </m:r>
                    <m:r>
                      <a:rPr lang="ja-JP" altLang="ar-AE" i="1"/>
                      <m:t>𝑥</m:t>
                    </m:r>
                    <m:r>
                      <a:rPr lang="ar-AE" altLang="ja-JP"/>
                      <m:t>−</m:t>
                    </m:r>
                    <m:sSup>
                      <m:sSupPr>
                        <m:ctrlPr>
                          <a:rPr lang="ar-AE" altLang="ja-JP" i="1"/>
                        </m:ctrlPr>
                      </m:sSupPr>
                      <m:e>
                        <m:r>
                          <a:rPr lang="ja-JP" altLang="ar-AE" i="1"/>
                          <m:t>𝑥</m:t>
                        </m:r>
                      </m:e>
                      <m:sup>
                        <m:r>
                          <a:rPr lang="ar-AE" altLang="ja-JP"/>
                          <m:t>′</m:t>
                        </m:r>
                      </m:sup>
                    </m:sSup>
                    <m:r>
                      <a:rPr lang="ar-AE" altLang="ja-JP"/>
                      <m:t>∥+∥</m:t>
                    </m:r>
                    <m:r>
                      <a:rPr lang="ja-JP" altLang="ar-AE" i="1"/>
                      <m:t>𝐵</m:t>
                    </m:r>
                    <m:r>
                      <a:rPr lang="ar-AE" altLang="ja-JP"/>
                      <m:t>∥∥</m:t>
                    </m:r>
                    <m:r>
                      <a:rPr lang="ja-JP" altLang="ar-AE" i="1"/>
                      <m:t>𝑢</m:t>
                    </m:r>
                    <m:r>
                      <a:rPr lang="ar-AE" altLang="ja-JP"/>
                      <m:t>−</m:t>
                    </m:r>
                    <m:sSup>
                      <m:sSupPr>
                        <m:ctrlPr>
                          <a:rPr lang="ar-AE" altLang="ja-JP" i="1"/>
                        </m:ctrlPr>
                      </m:sSupPr>
                      <m:e>
                        <m:r>
                          <a:rPr lang="ja-JP" altLang="ar-AE" i="1"/>
                          <m:t>𝑢</m:t>
                        </m:r>
                      </m:e>
                      <m:sup>
                        <m:r>
                          <a:rPr lang="ar-AE" altLang="ja-JP"/>
                          <m:t>′</m:t>
                        </m:r>
                      </m:sup>
                    </m:sSup>
                    <m:r>
                      <a:rPr lang="ar-AE" altLang="ja-JP"/>
                      <m:t>∥.</m:t>
                    </m:r>
                  </m:oMath>
                </a14:m>
                <a:endParaRPr lang="ar-AE" altLang="ja-JP" dirty="0"/>
              </a:p>
              <a:p>
                <a:r>
                  <a:rPr lang="ja-JP" altLang="en-US" dirty="0"/>
                  <a:t>如果</a:t>
                </a:r>
                <a14:m>
                  <m:oMath xmlns:m="http://schemas.openxmlformats.org/officeDocument/2006/math">
                    <m:r>
                      <a:rPr lang="ja-JP" altLang="en-US"/>
                      <m:t>∥</m:t>
                    </m:r>
                    <m:r>
                      <a:rPr lang="ja-JP" altLang="en-US" i="1"/>
                      <m:t>𝐴</m:t>
                    </m:r>
                    <m:r>
                      <a:rPr lang="ja-JP" altLang="en-US"/>
                      <m:t>∥</m:t>
                    </m:r>
                    <m:r>
                      <a:rPr lang="en-US" altLang="ja-JP"/>
                      <m:t>&lt;</m:t>
                    </m:r>
                    <m:r>
                      <a:rPr lang="en-US" altLang="ja-JP"/>
                      <m:t>1</m:t>
                    </m:r>
                    <m:r>
                      <a:rPr lang="en-US" altLang="ja-JP"/>
                      <m:t>, </m:t>
                    </m:r>
                  </m:oMath>
                </a14:m>
                <a:r>
                  <a:rPr lang="ja-JP" altLang="en-US" dirty="0"/>
                  <a:t>那么可以移项得到：</a:t>
                </a:r>
              </a:p>
              <a:p>
                <a:pPr marL="0" indent="0">
                  <a:buNone/>
                </a:pPr>
                <a14:m>
                  <m:oMathPara xmlns:m="http://schemas.openxmlformats.org/officeDocument/2006/math">
                    <m:oMathParaPr>
                      <m:jc m:val="centerGroup"/>
                    </m:oMathParaPr>
                    <m:oMath xmlns:m="http://schemas.openxmlformats.org/officeDocument/2006/math">
                      <m:r>
                        <a:rPr lang="ja-JP" altLang="en-US"/>
                        <m:t>∥</m:t>
                      </m:r>
                      <m:r>
                        <a:rPr lang="ja-JP" altLang="en-US" i="1"/>
                        <m:t>𝑥</m:t>
                      </m:r>
                      <m:r>
                        <a:rPr lang="ja-JP" altLang="en-US"/>
                        <m:t>−</m:t>
                      </m:r>
                      <m:sSup>
                        <m:sSupPr>
                          <m:ctrlPr>
                            <a:rPr lang="ar-AE" altLang="ja-JP" i="1"/>
                          </m:ctrlPr>
                        </m:sSupPr>
                        <m:e>
                          <m:r>
                            <a:rPr lang="ja-JP" altLang="ar-AE" i="1"/>
                            <m:t>𝑥</m:t>
                          </m:r>
                        </m:e>
                        <m:sup>
                          <m:r>
                            <a:rPr lang="ar-AE" altLang="ja-JP"/>
                            <m:t>′</m:t>
                          </m:r>
                        </m:sup>
                      </m:sSup>
                      <m:r>
                        <a:rPr lang="ar-AE" altLang="ja-JP"/>
                        <m:t>∥≤</m:t>
                      </m:r>
                      <m:f>
                        <m:fPr>
                          <m:ctrlPr>
                            <a:rPr lang="ar-AE" altLang="ja-JP" i="1"/>
                          </m:ctrlPr>
                        </m:fPr>
                        <m:num>
                          <m:r>
                            <a:rPr lang="ar-AE" altLang="ja-JP"/>
                            <m:t>∥</m:t>
                          </m:r>
                          <m:r>
                            <a:rPr lang="ja-JP" altLang="ar-AE" i="1"/>
                            <m:t>𝐵</m:t>
                          </m:r>
                          <m:r>
                            <a:rPr lang="ar-AE" altLang="ja-JP"/>
                            <m:t>∥</m:t>
                          </m:r>
                        </m:num>
                        <m:den>
                          <m:r>
                            <a:rPr lang="ar-AE" altLang="ja-JP"/>
                            <m:t>1</m:t>
                          </m:r>
                          <m:r>
                            <a:rPr lang="ar-AE" altLang="ja-JP"/>
                            <m:t>−∥</m:t>
                          </m:r>
                          <m:r>
                            <a:rPr lang="ja-JP" altLang="ar-AE" i="1"/>
                            <m:t>𝐴</m:t>
                          </m:r>
                          <m:r>
                            <a:rPr lang="ar-AE" altLang="ja-JP"/>
                            <m:t>∥</m:t>
                          </m:r>
                        </m:den>
                      </m:f>
                      <m:r>
                        <a:rPr lang="ar-AE" altLang="ja-JP"/>
                        <m:t>∥</m:t>
                      </m:r>
                      <m:r>
                        <a:rPr lang="ja-JP" altLang="ar-AE" i="1"/>
                        <m:t>𝑢</m:t>
                      </m:r>
                      <m:r>
                        <a:rPr lang="ar-AE" altLang="ja-JP"/>
                        <m:t>−</m:t>
                      </m:r>
                      <m:sSup>
                        <m:sSupPr>
                          <m:ctrlPr>
                            <a:rPr lang="ar-AE" altLang="ja-JP" i="1"/>
                          </m:ctrlPr>
                        </m:sSupPr>
                        <m:e>
                          <m:r>
                            <a:rPr lang="ja-JP" altLang="ar-AE" i="1"/>
                            <m:t>𝑢</m:t>
                          </m:r>
                        </m:e>
                        <m:sup>
                          <m:r>
                            <a:rPr lang="ar-AE" altLang="ja-JP"/>
                            <m:t>′</m:t>
                          </m:r>
                        </m:sup>
                      </m:sSup>
                      <m:r>
                        <a:rPr lang="ar-AE" altLang="ja-JP"/>
                        <m:t>∥.</m:t>
                      </m:r>
                    </m:oMath>
                  </m:oMathPara>
                </a14:m>
                <a:endParaRPr lang="ar-AE" altLang="ja-JP" dirty="0"/>
              </a:p>
              <a:p>
                <a:pPr marL="0" indent="0">
                  <a:buNone/>
                </a:pPr>
                <a:r>
                  <a:rPr lang="ja-JP" altLang="en-US" dirty="0"/>
                  <a:t>说明：只要对 </a:t>
                </a:r>
                <a14:m>
                  <m:oMath xmlns:m="http://schemas.openxmlformats.org/officeDocument/2006/math">
                    <m:r>
                      <a:rPr lang="ja-JP" altLang="en-US" i="1"/>
                      <m:t>𝐴</m:t>
                    </m:r>
                  </m:oMath>
                </a14:m>
                <a:r>
                  <a:rPr lang="ja-JP" altLang="en-US" dirty="0"/>
                  <a:t>加合适约束，就可以控制输入扰动对隐藏状态的影响。</a:t>
                </a:r>
              </a:p>
              <a:p>
                <a:r>
                  <a:rPr lang="ja-JP" altLang="en-US" dirty="0"/>
                  <a:t>输出为：</a:t>
                </a:r>
                <a14:m>
                  <m:oMath xmlns:m="http://schemas.openxmlformats.org/officeDocument/2006/math">
                    <m:acc>
                      <m:accPr>
                        <m:chr m:val="̂"/>
                        <m:ctrlPr>
                          <a:rPr lang="ar-AE" altLang="ja-JP"/>
                        </m:ctrlPr>
                      </m:accPr>
                      <m:e>
                        <m:r>
                          <a:rPr lang="ja-JP" altLang="ar-AE" i="1"/>
                          <m:t>𝑦</m:t>
                        </m:r>
                      </m:e>
                    </m:acc>
                    <m:r>
                      <a:rPr lang="ar-AE" altLang="ja-JP"/>
                      <m:t>=</m:t>
                    </m:r>
                    <m:r>
                      <a:rPr lang="ja-JP" altLang="ar-AE" i="1"/>
                      <m:t>𝐶𝑥</m:t>
                    </m:r>
                    <m:r>
                      <a:rPr lang="ar-AE" altLang="ja-JP"/>
                      <m:t>+</m:t>
                    </m:r>
                    <m:r>
                      <a:rPr lang="ja-JP" altLang="ar-AE" i="1"/>
                      <m:t>𝐷𝑢</m:t>
                    </m:r>
                    <m:r>
                      <a:rPr lang="ar-AE" altLang="ja-JP"/>
                      <m:t>.</m:t>
                    </m:r>
                  </m:oMath>
                </a14:m>
                <a:endParaRPr lang="ar-AE" altLang="ja-JP" dirty="0"/>
              </a:p>
              <a:p>
                <a:r>
                  <a:rPr lang="ja-JP" altLang="en-US" dirty="0"/>
                  <a:t>因此也可以进一步控制：</a:t>
                </a:r>
                <a14:m>
                  <m:oMath xmlns:m="http://schemas.openxmlformats.org/officeDocument/2006/math">
                    <m:r>
                      <a:rPr lang="ja-JP" altLang="en-US"/>
                      <m:t>∥</m:t>
                    </m:r>
                    <m:acc>
                      <m:accPr>
                        <m:chr m:val="̂"/>
                        <m:ctrlPr>
                          <a:rPr lang="ar-AE" altLang="ja-JP" i="1"/>
                        </m:ctrlPr>
                      </m:accPr>
                      <m:e>
                        <m:r>
                          <a:rPr lang="ja-JP" altLang="ar-AE" i="1"/>
                          <m:t>𝑦</m:t>
                        </m:r>
                      </m:e>
                    </m:acc>
                    <m:r>
                      <a:rPr lang="ar-AE" altLang="ja-JP"/>
                      <m:t>−</m:t>
                    </m:r>
                    <m:sSup>
                      <m:sSupPr>
                        <m:ctrlPr>
                          <a:rPr lang="ar-AE" altLang="ja-JP" i="1"/>
                        </m:ctrlPr>
                      </m:sSupPr>
                      <m:e>
                        <m:acc>
                          <m:accPr>
                            <m:chr m:val="̂"/>
                            <m:ctrlPr>
                              <a:rPr lang="ar-AE" altLang="ja-JP" i="1"/>
                            </m:ctrlPr>
                          </m:accPr>
                          <m:e>
                            <m:r>
                              <a:rPr lang="ja-JP" altLang="ar-AE" i="1"/>
                              <m:t>𝑦</m:t>
                            </m:r>
                          </m:e>
                        </m:acc>
                      </m:e>
                      <m:sup>
                        <m:r>
                          <a:rPr lang="ar-AE" altLang="ja-JP"/>
                          <m:t>′</m:t>
                        </m:r>
                      </m:sup>
                    </m:sSup>
                    <m:r>
                      <a:rPr lang="ar-AE" altLang="ja-JP"/>
                      <m:t>∥.</m:t>
                    </m:r>
                  </m:oMath>
                </a14:m>
                <a:endParaRPr lang="ar-AE" altLang="ja-JP" dirty="0"/>
              </a:p>
              <a:p>
                <a:pPr marL="0" indent="0">
                  <a:buNone/>
                </a:pPr>
                <a:r>
                  <a:rPr lang="ja-JP" altLang="en-US" dirty="0"/>
                  <a:t>适合鲁棒性分析的原因：它把模型稳定性转化为关于 </a:t>
                </a:r>
                <a14:m>
                  <m:oMath xmlns:m="http://schemas.openxmlformats.org/officeDocument/2006/math">
                    <m:r>
                      <a:rPr lang="ja-JP" altLang="en-US" i="1"/>
                      <m:t>𝐴</m:t>
                    </m:r>
                    <m:r>
                      <a:rPr lang="en-US" altLang="ja-JP"/>
                      <m:t>,</m:t>
                    </m:r>
                    <m:r>
                      <a:rPr lang="ja-JP" altLang="en-US" i="1"/>
                      <m:t>𝐵</m:t>
                    </m:r>
                    <m:r>
                      <a:rPr lang="en-US" altLang="ja-JP"/>
                      <m:t>,</m:t>
                    </m:r>
                    <m:r>
                      <a:rPr lang="ja-JP" altLang="en-US" i="1"/>
                      <m:t>𝐶</m:t>
                    </m:r>
                    <m:r>
                      <a:rPr lang="en-US" altLang="ja-JP"/>
                      <m:t>,</m:t>
                    </m:r>
                    <m:r>
                      <a:rPr lang="ja-JP" altLang="en-US" i="1"/>
                      <m:t>𝐷</m:t>
                    </m:r>
                  </m:oMath>
                </a14:m>
                <a:r>
                  <a:rPr lang="ja-JP" altLang="en-US" dirty="0"/>
                  <a:t>的数学约束问题。</a:t>
                </a:r>
              </a:p>
            </p:txBody>
          </p:sp>
        </mc:Choice>
        <mc:Fallback>
          <p:sp>
            <p:nvSpPr>
              <p:cNvPr id="12" name="コンテンツ プレースホルダー 2">
                <a:extLst>
                  <a:ext uri="{FF2B5EF4-FFF2-40B4-BE49-F238E27FC236}">
                    <a16:creationId xmlns:a16="http://schemas.microsoft.com/office/drawing/2014/main" id="{527F5DC1-8179-BD38-3D49-2D783054F255}"/>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b="-504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25057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C455B-8C77-E7E2-5B2D-4752E93995C0}"/>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6543E4E-C829-B7F6-A26A-CCCE8770352D}"/>
              </a:ext>
            </a:extLst>
          </p:cNvPr>
          <p:cNvSpPr>
            <a:spLocks noGrp="1" noChangeArrowheads="1"/>
          </p:cNvSpPr>
          <p:nvPr>
            <p:ph type="title"/>
          </p:nvPr>
        </p:nvSpPr>
        <p:spPr/>
        <p:txBody>
          <a:bodyPr/>
          <a:lstStyle/>
          <a:p>
            <a:r>
              <a:rPr lang="zh-CN" altLang="en-US" b="1" dirty="0"/>
              <a:t>场景四：</a:t>
            </a:r>
            <a:r>
              <a:rPr lang="en-US" altLang="zh-CN" b="1" dirty="0"/>
              <a:t>Implicit Deep Learning</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E38F0DE-0BBC-CB9F-8D2F-AE4A708F2208}"/>
                  </a:ext>
                </a:extLst>
              </p:cNvPr>
              <p:cNvSpPr>
                <a:spLocks noGrp="1"/>
              </p:cNvSpPr>
              <p:nvPr>
                <p:ph idx="1"/>
              </p:nvPr>
            </p:nvSpPr>
            <p:spPr>
              <a:xfrm>
                <a:off x="508000" y="1112520"/>
                <a:ext cx="11582400" cy="5440680"/>
              </a:xfrm>
            </p:spPr>
            <p:txBody>
              <a:bodyPr/>
              <a:lstStyle/>
              <a:p>
                <a:r>
                  <a:rPr lang="zh-CN" altLang="en-US" dirty="0"/>
                  <a:t>在普通深度网络中，隐藏层很多：</a:t>
                </a:r>
                <a14:m>
                  <m:oMath xmlns:m="http://schemas.openxmlformats.org/officeDocument/2006/math">
                    <m:sSub>
                      <m:sSubPr>
                        <m:ctrlPr>
                          <a:rPr lang="zh-CN" altLang="en-US"/>
                        </m:ctrlPr>
                      </m:sSubPr>
                      <m:e>
                        <m:r>
                          <a:rPr lang="zh-CN" altLang="en-US" i="1"/>
                          <m:t>𝑥</m:t>
                        </m:r>
                      </m:e>
                      <m:sub>
                        <m:r>
                          <a:rPr lang="en-US" altLang="zh-CN"/>
                          <m:t>1</m:t>
                        </m:r>
                      </m:sub>
                    </m:sSub>
                    <m:r>
                      <a:rPr lang="en-US" altLang="zh-CN"/>
                      <m:t>,</m:t>
                    </m:r>
                    <m:sSub>
                      <m:sSubPr>
                        <m:ctrlPr>
                          <a:rPr lang="zh-CN" altLang="en-US" i="1"/>
                        </m:ctrlPr>
                      </m:sSubPr>
                      <m:e>
                        <m:r>
                          <a:rPr lang="zh-CN" altLang="en-US" i="1"/>
                          <m:t>𝑥</m:t>
                        </m:r>
                      </m:e>
                      <m:sub>
                        <m:r>
                          <a:rPr lang="en-US" altLang="zh-CN"/>
                          <m:t>2</m:t>
                        </m:r>
                      </m:sub>
                    </m:sSub>
                    <m:r>
                      <a:rPr lang="en-US" altLang="zh-CN"/>
                      <m:t>,…,</m:t>
                    </m:r>
                    <m:sSub>
                      <m:sSubPr>
                        <m:ctrlPr>
                          <a:rPr lang="zh-CN" altLang="en-US" i="1"/>
                        </m:ctrlPr>
                      </m:sSubPr>
                      <m:e>
                        <m:r>
                          <a:rPr lang="zh-CN" altLang="en-US" i="1"/>
                          <m:t>𝑥</m:t>
                        </m:r>
                      </m:e>
                      <m:sub>
                        <m:r>
                          <a:rPr lang="zh-CN" altLang="en-US" i="1"/>
                          <m:t>𝐿</m:t>
                        </m:r>
                      </m:sub>
                    </m:sSub>
                    <m:r>
                      <a:rPr lang="en-US" altLang="zh-CN"/>
                      <m:t>.</m:t>
                    </m:r>
                  </m:oMath>
                </a14:m>
                <a:endParaRPr lang="zh-CN" altLang="en-US" dirty="0"/>
              </a:p>
              <a:p>
                <a:pPr marL="400050" lvl="1" indent="0">
                  <a:buNone/>
                </a:pPr>
                <a:r>
                  <a:rPr lang="zh-CN" altLang="en-US" dirty="0"/>
                  <a:t>每一层都有自己的权重，整体结构很复杂。要解释模型内部机制，需要追踪多层变换。</a:t>
                </a:r>
              </a:p>
              <a:p>
                <a:r>
                  <a:rPr lang="zh-CN" altLang="en-US" dirty="0"/>
                  <a:t>而 </a:t>
                </a:r>
                <a:r>
                  <a:rPr lang="en-US" altLang="zh-CN" dirty="0"/>
                  <a:t>implicit deep learning </a:t>
                </a:r>
                <a:r>
                  <a:rPr lang="zh-CN" altLang="en-US" dirty="0"/>
                  <a:t>把所有隐藏特征放在一个统一方程中：</a:t>
                </a:r>
              </a:p>
              <a:p>
                <a:pPr marL="0" indent="0">
                  <a:buNone/>
                </a:pPr>
                <a14:m>
                  <m:oMathPara xmlns:m="http://schemas.openxmlformats.org/officeDocument/2006/math">
                    <m:oMathParaPr>
                      <m:jc m:val="centerGroup"/>
                    </m:oMathParaPr>
                    <m:oMath xmlns:m="http://schemas.openxmlformats.org/officeDocument/2006/math">
                      <m:r>
                        <a:rPr lang="zh-CN" altLang="en-US" i="1"/>
                        <m:t>𝑥</m:t>
                      </m:r>
                      <m:r>
                        <a:rPr lang="en-US" altLang="zh-CN"/>
                        <m:t>=</m:t>
                      </m:r>
                      <m:r>
                        <a:rPr lang="zh-CN" altLang="en-US" i="1"/>
                        <m:t>𝜙</m:t>
                      </m:r>
                      <m:d>
                        <m:dPr>
                          <m:ctrlPr>
                            <a:rPr lang="zh-CN" altLang="en-US" i="1"/>
                          </m:ctrlPr>
                        </m:dPr>
                        <m:e>
                          <m:r>
                            <a:rPr lang="zh-CN" altLang="en-US" i="1"/>
                            <m:t>𝐴𝑥</m:t>
                          </m:r>
                          <m:r>
                            <a:rPr lang="en-US" altLang="zh-CN"/>
                            <m:t>+</m:t>
                          </m:r>
                          <m:r>
                            <a:rPr lang="zh-CN" altLang="en-US" i="1"/>
                            <m:t>𝐵𝑢</m:t>
                          </m:r>
                        </m:e>
                      </m:d>
                      <m:r>
                        <a:rPr lang="en-US" altLang="zh-CN"/>
                        <m:t>.</m:t>
                      </m:r>
                    </m:oMath>
                  </m:oMathPara>
                </a14:m>
                <a:endParaRPr lang="zh-CN" altLang="en-US" dirty="0"/>
              </a:p>
              <a:p>
                <a:r>
                  <a:rPr lang="zh-CN" altLang="en-US" dirty="0"/>
                  <a:t>这里的矩阵有比较清楚的解释：</a:t>
                </a:r>
              </a:p>
              <a:p>
                <a:pPr lvl="1"/>
                <a14:m>
                  <m:oMath xmlns:m="http://schemas.openxmlformats.org/officeDocument/2006/math">
                    <m:r>
                      <a:rPr lang="zh-CN" altLang="en-US" i="1"/>
                      <m:t>𝐵</m:t>
                    </m:r>
                  </m:oMath>
                </a14:m>
                <a:r>
                  <a:rPr lang="zh-CN" altLang="en-US" dirty="0"/>
                  <a:t>表示输入 </a:t>
                </a:r>
                <a14:m>
                  <m:oMath xmlns:m="http://schemas.openxmlformats.org/officeDocument/2006/math">
                    <m:r>
                      <a:rPr lang="zh-CN" altLang="en-US" i="1"/>
                      <m:t>𝑢</m:t>
                    </m:r>
                  </m:oMath>
                </a14:m>
                <a:r>
                  <a:rPr lang="zh-CN" altLang="en-US" dirty="0"/>
                  <a:t>如何影响隐藏状态 </a:t>
                </a:r>
                <a14:m>
                  <m:oMath xmlns:m="http://schemas.openxmlformats.org/officeDocument/2006/math">
                    <m:r>
                      <a:rPr lang="zh-CN" altLang="en-US" i="1"/>
                      <m:t>𝑥</m:t>
                    </m:r>
                  </m:oMath>
                </a14:m>
                <a:r>
                  <a:rPr lang="zh-CN" altLang="en-US" dirty="0"/>
                  <a:t>。</a:t>
                </a:r>
              </a:p>
              <a:p>
                <a:pPr lvl="1"/>
                <a14:m>
                  <m:oMath xmlns:m="http://schemas.openxmlformats.org/officeDocument/2006/math">
                    <m:r>
                      <a:rPr lang="zh-CN" altLang="en-US" i="1"/>
                      <m:t>𝐴</m:t>
                    </m:r>
                  </m:oMath>
                </a14:m>
                <a:r>
                  <a:rPr lang="zh-CN" altLang="en-US" dirty="0"/>
                  <a:t>表示隐藏特征之间如何互相影响。</a:t>
                </a:r>
              </a:p>
              <a:p>
                <a:pPr lvl="1"/>
                <a14:m>
                  <m:oMath xmlns:m="http://schemas.openxmlformats.org/officeDocument/2006/math">
                    <m:r>
                      <a:rPr lang="zh-CN" altLang="en-US" i="1"/>
                      <m:t>𝐶</m:t>
                    </m:r>
                  </m:oMath>
                </a14:m>
                <a:r>
                  <a:rPr lang="zh-CN" altLang="en-US" dirty="0"/>
                  <a:t>表示隐藏状态如何影响输出。</a:t>
                </a:r>
              </a:p>
              <a:p>
                <a:pPr marL="0" indent="0">
                  <a:buNone/>
                </a:pPr>
                <a:r>
                  <a:rPr lang="zh-CN" altLang="en-US" dirty="0"/>
                  <a:t>因此，如果某一列 </a:t>
                </a:r>
                <a14:m>
                  <m:oMath xmlns:m="http://schemas.openxmlformats.org/officeDocument/2006/math">
                    <m:sSub>
                      <m:sSubPr>
                        <m:ctrlPr>
                          <a:rPr lang="zh-CN" altLang="en-US"/>
                        </m:ctrlPr>
                      </m:sSubPr>
                      <m:e>
                        <m:r>
                          <a:rPr lang="zh-CN" altLang="en-US" i="1"/>
                          <m:t>𝐵</m:t>
                        </m:r>
                      </m:e>
                      <m:sub>
                        <m:r>
                          <a:rPr lang="zh-CN" altLang="en-US"/>
                          <m:t>⋅</m:t>
                        </m:r>
                        <m:r>
                          <a:rPr lang="zh-CN" altLang="en-US" i="1"/>
                          <m:t>𝑗</m:t>
                        </m:r>
                      </m:sub>
                    </m:sSub>
                  </m:oMath>
                </a14:m>
                <a:r>
                  <a:rPr lang="zh-CN" altLang="en-US" dirty="0"/>
                  <a:t>很大，说明第 </a:t>
                </a:r>
                <a14:m>
                  <m:oMath xmlns:m="http://schemas.openxmlformats.org/officeDocument/2006/math">
                    <m:r>
                      <a:rPr lang="zh-CN" altLang="en-US" i="1"/>
                      <m:t>𝑗</m:t>
                    </m:r>
                  </m:oMath>
                </a14:m>
                <a:r>
                  <a:rPr lang="zh-CN" altLang="en-US" dirty="0"/>
                  <a:t>个输入变量对隐藏状态影响较强。</a:t>
                </a:r>
                <a:br>
                  <a:rPr lang="zh-CN" altLang="en-US" dirty="0"/>
                </a:br>
                <a:r>
                  <a:rPr lang="zh-CN" altLang="en-US" dirty="0"/>
                  <a:t>如果 </a:t>
                </a:r>
                <a14:m>
                  <m:oMath xmlns:m="http://schemas.openxmlformats.org/officeDocument/2006/math">
                    <m:sSub>
                      <m:sSubPr>
                        <m:ctrlPr>
                          <a:rPr lang="zh-CN" altLang="en-US"/>
                        </m:ctrlPr>
                      </m:sSubPr>
                      <m:e>
                        <m:r>
                          <a:rPr lang="zh-CN" altLang="en-US" i="1"/>
                          <m:t>𝐴</m:t>
                        </m:r>
                      </m:e>
                      <m:sub>
                        <m:r>
                          <a:rPr lang="zh-CN" altLang="en-US" i="1"/>
                          <m:t>𝑖𝑗</m:t>
                        </m:r>
                      </m:sub>
                    </m:sSub>
                  </m:oMath>
                </a14:m>
                <a:r>
                  <a:rPr lang="zh-CN" altLang="en-US" dirty="0"/>
                  <a:t>很大，说明第 </a:t>
                </a:r>
                <a14:m>
                  <m:oMath xmlns:m="http://schemas.openxmlformats.org/officeDocument/2006/math">
                    <m:r>
                      <a:rPr lang="zh-CN" altLang="en-US" i="1"/>
                      <m:t>𝑗</m:t>
                    </m:r>
                  </m:oMath>
                </a14:m>
                <a:r>
                  <a:rPr lang="zh-CN" altLang="en-US" dirty="0"/>
                  <a:t>个隐藏特征对第 </a:t>
                </a:r>
                <a14:m>
                  <m:oMath xmlns:m="http://schemas.openxmlformats.org/officeDocument/2006/math">
                    <m:r>
                      <a:rPr lang="zh-CN" altLang="en-US" i="1"/>
                      <m:t>𝑖</m:t>
                    </m:r>
                  </m:oMath>
                </a14:m>
                <a:r>
                  <a:rPr lang="zh-CN" altLang="en-US" dirty="0"/>
                  <a:t>个隐藏特征影响较强。</a:t>
                </a:r>
                <a:br>
                  <a:rPr lang="zh-CN" altLang="en-US" dirty="0"/>
                </a:br>
                <a:r>
                  <a:rPr lang="zh-CN" altLang="en-US" dirty="0"/>
                  <a:t>如果 </a:t>
                </a:r>
                <a14:m>
                  <m:oMath xmlns:m="http://schemas.openxmlformats.org/officeDocument/2006/math">
                    <m:sSub>
                      <m:sSubPr>
                        <m:ctrlPr>
                          <a:rPr lang="zh-CN" altLang="en-US"/>
                        </m:ctrlPr>
                      </m:sSubPr>
                      <m:e>
                        <m:r>
                          <a:rPr lang="zh-CN" altLang="en-US" i="1"/>
                          <m:t>𝐶</m:t>
                        </m:r>
                      </m:e>
                      <m:sub>
                        <m:r>
                          <a:rPr lang="zh-CN" altLang="en-US" i="1"/>
                          <m:t>𝑘𝑖</m:t>
                        </m:r>
                      </m:sub>
                    </m:sSub>
                  </m:oMath>
                </a14:m>
                <a:r>
                  <a:rPr lang="zh-CN" altLang="en-US" dirty="0"/>
                  <a:t>很大，说明第 </a:t>
                </a:r>
                <a14:m>
                  <m:oMath xmlns:m="http://schemas.openxmlformats.org/officeDocument/2006/math">
                    <m:r>
                      <a:rPr lang="zh-CN" altLang="en-US" i="1"/>
                      <m:t>𝑖</m:t>
                    </m:r>
                  </m:oMath>
                </a14:m>
                <a:r>
                  <a:rPr lang="zh-CN" altLang="en-US" dirty="0"/>
                  <a:t>个隐藏特征对第 </a:t>
                </a:r>
                <a14:m>
                  <m:oMath xmlns:m="http://schemas.openxmlformats.org/officeDocument/2006/math">
                    <m:r>
                      <a:rPr lang="zh-CN" altLang="en-US" i="1"/>
                      <m:t>𝑘</m:t>
                    </m:r>
                  </m:oMath>
                </a14:m>
                <a:r>
                  <a:rPr lang="zh-CN" altLang="en-US" dirty="0"/>
                  <a:t>个输出影响较强。</a:t>
                </a:r>
              </a:p>
              <a:p>
                <a:pPr marL="0" indent="0">
                  <a:buNone/>
                </a:pPr>
                <a:r>
                  <a:rPr lang="zh-CN" altLang="en-US" dirty="0"/>
                  <a:t>所以，这个框架可以帮助我们从矩阵结构中读出：</a:t>
                </a:r>
                <a14:m>
                  <m:oMath xmlns:m="http://schemas.openxmlformats.org/officeDocument/2006/math">
                    <m:r>
                      <m:rPr>
                        <m:nor/>
                      </m:rPr>
                      <a:rPr lang="zh-CN" altLang="en-US" b="0" smtClean="0">
                        <a:solidFill>
                          <a:srgbClr val="C00000"/>
                        </a:solidFill>
                      </a:rPr>
                      <m:t>输入变量</m:t>
                    </m:r>
                    <m:r>
                      <a:rPr lang="zh-CN" altLang="en-US" i="0">
                        <a:solidFill>
                          <a:srgbClr val="C00000"/>
                        </a:solidFill>
                      </a:rPr>
                      <m:t>⟶</m:t>
                    </m:r>
                    <m:r>
                      <m:rPr>
                        <m:nor/>
                      </m:rPr>
                      <a:rPr lang="zh-CN" altLang="en-US">
                        <a:solidFill>
                          <a:srgbClr val="C00000"/>
                        </a:solidFill>
                      </a:rPr>
                      <m:t>隐藏特征</m:t>
                    </m:r>
                    <m:r>
                      <a:rPr lang="zh-CN" altLang="en-US" i="0">
                        <a:solidFill>
                          <a:srgbClr val="C00000"/>
                        </a:solidFill>
                      </a:rPr>
                      <m:t>⟶</m:t>
                    </m:r>
                    <m:r>
                      <m:rPr>
                        <m:nor/>
                      </m:rPr>
                      <a:rPr lang="zh-CN" altLang="en-US">
                        <a:solidFill>
                          <a:srgbClr val="C00000"/>
                        </a:solidFill>
                      </a:rPr>
                      <m:t>输出</m:t>
                    </m:r>
                  </m:oMath>
                </a14:m>
                <a:r>
                  <a:rPr lang="zh-CN" altLang="en-US" b="0" dirty="0">
                    <a:solidFill>
                      <a:srgbClr val="C00000"/>
                    </a:solidFill>
                  </a:rPr>
                  <a:t> </a:t>
                </a:r>
                <a:r>
                  <a:rPr lang="zh-CN" altLang="en-US" dirty="0"/>
                  <a:t>之间的依赖关系。</a:t>
                </a:r>
              </a:p>
              <a:p>
                <a:pPr marL="0" indent="0">
                  <a:buNone/>
                </a:pPr>
                <a:endParaRPr lang="en-US" altLang="zh-CN" dirty="0"/>
              </a:p>
              <a:p>
                <a:pPr marL="0" indent="0">
                  <a:buNone/>
                </a:pPr>
                <a:r>
                  <a:rPr lang="zh-CN" altLang="en-US" dirty="0"/>
                  <a:t>可解释性的关键在于：隐式模型把网络内部关系浓缩到一个平衡方程和若干矩阵中，因此可以通过分析矩阵结构理解变量之间的影响路径。</a:t>
                </a:r>
              </a:p>
            </p:txBody>
          </p:sp>
        </mc:Choice>
        <mc:Fallback>
          <p:sp>
            <p:nvSpPr>
              <p:cNvPr id="12" name="コンテンツ プレースホルダー 2">
                <a:extLst>
                  <a:ext uri="{FF2B5EF4-FFF2-40B4-BE49-F238E27FC236}">
                    <a16:creationId xmlns:a16="http://schemas.microsoft.com/office/drawing/2014/main" id="{9E38F0DE-0BBC-CB9F-8D2F-AE4A708F2208}"/>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2097489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639AA-D686-7BCF-A79A-CB46E6C1983D}"/>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CB3ACEA-E07B-769A-DC12-254F3BFA4A07}"/>
              </a:ext>
            </a:extLst>
          </p:cNvPr>
          <p:cNvSpPr>
            <a:spLocks noGrp="1" noChangeArrowheads="1"/>
          </p:cNvSpPr>
          <p:nvPr>
            <p:ph type="title"/>
          </p:nvPr>
        </p:nvSpPr>
        <p:spPr/>
        <p:txBody>
          <a:bodyPr/>
          <a:lstStyle/>
          <a:p>
            <a:r>
              <a:rPr lang="zh-CN" altLang="en-US" b="1" dirty="0"/>
              <a:t>场景四：</a:t>
            </a:r>
            <a:r>
              <a:rPr lang="en-US" altLang="zh-CN" b="1" dirty="0"/>
              <a:t>Implicit Deep Learning</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EF645FFC-8F34-81F0-1B8F-3E2144043804}"/>
                  </a:ext>
                </a:extLst>
              </p:cNvPr>
              <p:cNvSpPr>
                <a:spLocks noGrp="1"/>
              </p:cNvSpPr>
              <p:nvPr>
                <p:ph idx="1"/>
              </p:nvPr>
            </p:nvSpPr>
            <p:spPr>
              <a:xfrm>
                <a:off x="508000" y="1112520"/>
                <a:ext cx="11582400" cy="5440680"/>
              </a:xfrm>
            </p:spPr>
            <p:txBody>
              <a:bodyPr/>
              <a:lstStyle/>
              <a:p>
                <a:pPr marL="0" indent="0">
                  <a:buNone/>
                </a:pPr>
                <a:r>
                  <a:rPr lang="zh-CN" altLang="en-US" dirty="0"/>
                  <a:t>稀疏性指的是让模型中很多连接变成 </a:t>
                </a:r>
                <a:r>
                  <a:rPr lang="en-US" altLang="zh-CN" dirty="0"/>
                  <a:t>0</a:t>
                </a:r>
                <a:r>
                  <a:rPr lang="zh-CN" altLang="en-US" dirty="0"/>
                  <a:t>，从而得到更简单、更轻量、更容易解释的模型。</a:t>
                </a:r>
              </a:p>
              <a:p>
                <a:pPr marL="0" indent="0">
                  <a:buNone/>
                </a:pPr>
                <a:r>
                  <a:rPr lang="zh-CN" altLang="en-US" dirty="0"/>
                  <a:t>在 </a:t>
                </a:r>
                <a:r>
                  <a:rPr lang="en-US" altLang="zh-CN" dirty="0"/>
                  <a:t>implicit deep learning </a:t>
                </a:r>
                <a:r>
                  <a:rPr lang="zh-CN" altLang="en-US" dirty="0"/>
                  <a:t>中，稀疏性可以直接加在矩阵上：</a:t>
                </a:r>
                <a14:m>
                  <m:oMath xmlns:m="http://schemas.openxmlformats.org/officeDocument/2006/math">
                    <m:r>
                      <a:rPr lang="zh-CN" altLang="en-US" i="1"/>
                      <m:t>𝐴</m:t>
                    </m:r>
                    <m:r>
                      <a:rPr lang="en-US" altLang="zh-CN"/>
                      <m:t>,</m:t>
                    </m:r>
                    <m:r>
                      <a:rPr lang="zh-CN" altLang="en-US" i="1"/>
                      <m:t>𝐵</m:t>
                    </m:r>
                    <m:r>
                      <a:rPr lang="en-US" altLang="zh-CN"/>
                      <m:t>,</m:t>
                    </m:r>
                    <m:r>
                      <a:rPr lang="zh-CN" altLang="en-US" i="1"/>
                      <m:t>𝐶</m:t>
                    </m:r>
                    <m:r>
                      <a:rPr lang="en-US" altLang="zh-CN"/>
                      <m:t>,</m:t>
                    </m:r>
                    <m:r>
                      <a:rPr lang="zh-CN" altLang="en-US" i="1"/>
                      <m:t>𝐷</m:t>
                    </m:r>
                    <m:r>
                      <a:rPr lang="en-US" altLang="zh-CN"/>
                      <m:t>.</m:t>
                    </m:r>
                  </m:oMath>
                </a14:m>
                <a:endParaRPr lang="zh-CN" altLang="en-US" dirty="0"/>
              </a:p>
              <a:p>
                <a:r>
                  <a:rPr lang="zh-CN" altLang="en-US" dirty="0"/>
                  <a:t>例如：对 </a:t>
                </a:r>
                <a14:m>
                  <m:oMath xmlns:m="http://schemas.openxmlformats.org/officeDocument/2006/math">
                    <m:r>
                      <a:rPr lang="zh-CN" altLang="en-US" i="1"/>
                      <m:t>𝐴</m:t>
                    </m:r>
                  </m:oMath>
                </a14:m>
                <a:r>
                  <a:rPr lang="zh-CN" altLang="en-US" dirty="0"/>
                  <a:t>加稀疏约束，表示隐藏特征之间只有少数连接：</a:t>
                </a:r>
                <a14:m>
                  <m:oMath xmlns:m="http://schemas.openxmlformats.org/officeDocument/2006/math">
                    <m:sSub>
                      <m:sSubPr>
                        <m:ctrlPr>
                          <a:rPr lang="zh-CN" altLang="en-US"/>
                        </m:ctrlPr>
                      </m:sSubPr>
                      <m:e>
                        <m:r>
                          <a:rPr lang="zh-CN" altLang="en-US" i="1"/>
                          <m:t>𝐴</m:t>
                        </m:r>
                      </m:e>
                      <m:sub>
                        <m:r>
                          <a:rPr lang="zh-CN" altLang="en-US" i="1"/>
                          <m:t>𝑖𝑗</m:t>
                        </m:r>
                      </m:sub>
                    </m:sSub>
                    <m:r>
                      <a:rPr lang="en-US" altLang="zh-CN"/>
                      <m:t>=</m:t>
                    </m:r>
                    <m:r>
                      <a:rPr lang="en-US" altLang="zh-CN"/>
                      <m:t>0</m:t>
                    </m:r>
                  </m:oMath>
                </a14:m>
                <a:r>
                  <a:rPr lang="zh-CN" altLang="en-US" dirty="0"/>
                  <a:t> 。意味着第 </a:t>
                </a:r>
                <a14:m>
                  <m:oMath xmlns:m="http://schemas.openxmlformats.org/officeDocument/2006/math">
                    <m:r>
                      <a:rPr lang="zh-CN" altLang="en-US" i="1"/>
                      <m:t>𝑗</m:t>
                    </m:r>
                  </m:oMath>
                </a14:m>
                <a:r>
                  <a:rPr lang="zh-CN" altLang="en-US" dirty="0"/>
                  <a:t>个隐藏特征不直接影响第 </a:t>
                </a:r>
                <a14:m>
                  <m:oMath xmlns:m="http://schemas.openxmlformats.org/officeDocument/2006/math">
                    <m:r>
                      <a:rPr lang="zh-CN" altLang="en-US" i="1"/>
                      <m:t>𝑖</m:t>
                    </m:r>
                  </m:oMath>
                </a14:m>
                <a:r>
                  <a:rPr lang="zh-CN" altLang="en-US" dirty="0"/>
                  <a:t>个隐藏特征。</a:t>
                </a:r>
              </a:p>
              <a:p>
                <a:r>
                  <a:rPr lang="zh-CN" altLang="en-US" dirty="0"/>
                  <a:t>对 </a:t>
                </a:r>
                <a14:m>
                  <m:oMath xmlns:m="http://schemas.openxmlformats.org/officeDocument/2006/math">
                    <m:r>
                      <a:rPr lang="zh-CN" altLang="en-US" i="1"/>
                      <m:t>𝐵</m:t>
                    </m:r>
                  </m:oMath>
                </a14:m>
                <a:r>
                  <a:rPr lang="zh-CN" altLang="en-US" dirty="0"/>
                  <a:t>加列稀疏约束，表示只选择少数输入特征：</a:t>
                </a:r>
                <a14:m>
                  <m:oMath xmlns:m="http://schemas.openxmlformats.org/officeDocument/2006/math">
                    <m:sSub>
                      <m:sSubPr>
                        <m:ctrlPr>
                          <a:rPr lang="zh-CN" altLang="en-US"/>
                        </m:ctrlPr>
                      </m:sSubPr>
                      <m:e>
                        <m:r>
                          <a:rPr lang="zh-CN" altLang="en-US" i="1"/>
                          <m:t>𝐵</m:t>
                        </m:r>
                      </m:e>
                      <m:sub>
                        <m:r>
                          <a:rPr lang="zh-CN" altLang="en-US"/>
                          <m:t>⋅</m:t>
                        </m:r>
                        <m:r>
                          <a:rPr lang="zh-CN" altLang="en-US" i="1"/>
                          <m:t>𝑗</m:t>
                        </m:r>
                      </m:sub>
                    </m:sSub>
                    <m:r>
                      <a:rPr lang="en-US" altLang="zh-CN"/>
                      <m:t>=</m:t>
                    </m:r>
                    <m:r>
                      <a:rPr lang="en-US" altLang="zh-CN"/>
                      <m:t>0</m:t>
                    </m:r>
                  </m:oMath>
                </a14:m>
                <a:r>
                  <a:rPr lang="zh-CN" altLang="en-US" dirty="0"/>
                  <a:t>。意味着第 </a:t>
                </a:r>
                <a14:m>
                  <m:oMath xmlns:m="http://schemas.openxmlformats.org/officeDocument/2006/math">
                    <m:r>
                      <a:rPr lang="zh-CN" altLang="en-US" i="1"/>
                      <m:t>𝑗</m:t>
                    </m:r>
                  </m:oMath>
                </a14:m>
                <a:r>
                  <a:rPr lang="zh-CN" altLang="en-US" dirty="0"/>
                  <a:t>个输入变量对隐藏状态没有贡献。</a:t>
                </a:r>
              </a:p>
              <a:p>
                <a:r>
                  <a:rPr lang="zh-CN" altLang="en-US" dirty="0"/>
                  <a:t>对 </a:t>
                </a:r>
                <a14:m>
                  <m:oMath xmlns:m="http://schemas.openxmlformats.org/officeDocument/2006/math">
                    <m:r>
                      <a:rPr lang="zh-CN" altLang="en-US" i="1"/>
                      <m:t>𝐶</m:t>
                    </m:r>
                  </m:oMath>
                </a14:m>
                <a:r>
                  <a:rPr lang="zh-CN" altLang="en-US" dirty="0"/>
                  <a:t>加稀疏约束，表示输出只依赖少数隐藏特征。</a:t>
                </a:r>
                <a:endParaRPr lang="en-US" altLang="zh-CN" dirty="0"/>
              </a:p>
              <a:p>
                <a:endParaRPr lang="zh-CN" altLang="en-US" dirty="0"/>
              </a:p>
              <a:p>
                <a:pPr marL="0" indent="0">
                  <a:buNone/>
                </a:pPr>
                <a:r>
                  <a:rPr lang="zh-CN" altLang="en-US" dirty="0"/>
                  <a:t>因此，</a:t>
                </a:r>
                <a:r>
                  <a:rPr lang="en-US" altLang="zh-CN" dirty="0"/>
                  <a:t>implicit deep learning </a:t>
                </a:r>
                <a:r>
                  <a:rPr lang="zh-CN" altLang="en-US" dirty="0"/>
                  <a:t>可以自然用于：</a:t>
                </a:r>
              </a:p>
              <a:p>
                <a:pPr lvl="1"/>
                <a14:m>
                  <m:oMath xmlns:m="http://schemas.openxmlformats.org/officeDocument/2006/math">
                    <m:r>
                      <m:rPr>
                        <m:nor/>
                      </m:rPr>
                      <a:rPr lang="zh-CN" altLang="en-US" b="0"/>
                      <m:t>参数压缩</m:t>
                    </m:r>
                  </m:oMath>
                </a14:m>
                <a:endParaRPr lang="zh-CN" altLang="en-US" b="0" dirty="0"/>
              </a:p>
              <a:p>
                <a:pPr lvl="1"/>
                <a14:m>
                  <m:oMath xmlns:m="http://schemas.openxmlformats.org/officeDocument/2006/math">
                    <m:r>
                      <m:rPr>
                        <m:nor/>
                      </m:rPr>
                      <a:rPr lang="zh-CN" altLang="en-US" b="0"/>
                      <m:t>特征选择</m:t>
                    </m:r>
                  </m:oMath>
                </a14:m>
                <a:endParaRPr lang="zh-CN" altLang="en-US" b="0" dirty="0"/>
              </a:p>
              <a:p>
                <a:pPr lvl="1"/>
                <a14:m>
                  <m:oMath xmlns:m="http://schemas.openxmlformats.org/officeDocument/2006/math">
                    <m:r>
                      <m:rPr>
                        <m:nor/>
                      </m:rPr>
                      <a:rPr lang="zh-CN" altLang="en-US" b="0"/>
                      <m:t>连接剪枝</m:t>
                    </m:r>
                  </m:oMath>
                </a14:m>
                <a:endParaRPr lang="zh-CN" altLang="en-US" b="0" dirty="0"/>
              </a:p>
              <a:p>
                <a:pPr lvl="1"/>
                <a14:m>
                  <m:oMath xmlns:m="http://schemas.openxmlformats.org/officeDocument/2006/math">
                    <m:r>
                      <m:rPr>
                        <m:nor/>
                      </m:rPr>
                      <a:rPr lang="zh-CN" altLang="en-US" b="0"/>
                      <m:t>结构简化</m:t>
                    </m:r>
                  </m:oMath>
                </a14:m>
                <a:endParaRPr lang="zh-CN" altLang="en-US" b="0" dirty="0"/>
              </a:p>
              <a:p>
                <a:r>
                  <a:rPr lang="zh-CN" altLang="en-US" dirty="0"/>
                  <a:t>后续关于 </a:t>
                </a:r>
                <a:r>
                  <a:rPr lang="en-US" altLang="zh-CN" dirty="0"/>
                  <a:t>state-driven implicit modeling </a:t>
                </a:r>
                <a:r>
                  <a:rPr lang="zh-CN" altLang="en-US" dirty="0"/>
                  <a:t>的工作也把 </a:t>
                </a:r>
                <a:r>
                  <a:rPr lang="en-US" altLang="zh-CN" dirty="0"/>
                  <a:t>implicit models </a:t>
                </a:r>
                <a:r>
                  <a:rPr lang="zh-CN" altLang="en-US" dirty="0"/>
                  <a:t>描述为通过 </a:t>
                </a:r>
                <a:r>
                  <a:rPr lang="en-US" altLang="zh-CN" dirty="0"/>
                  <a:t>equilibrium equation </a:t>
                </a:r>
                <a:r>
                  <a:rPr lang="zh-CN" altLang="en-US" dirty="0"/>
                  <a:t>定义内部状态，并展示了这种思想可用于提高稀疏性和鲁棒性。</a:t>
                </a:r>
              </a:p>
            </p:txBody>
          </p:sp>
        </mc:Choice>
        <mc:Fallback>
          <p:sp>
            <p:nvSpPr>
              <p:cNvPr id="12" name="コンテンツ プレースホルダー 2">
                <a:extLst>
                  <a:ext uri="{FF2B5EF4-FFF2-40B4-BE49-F238E27FC236}">
                    <a16:creationId xmlns:a16="http://schemas.microsoft.com/office/drawing/2014/main" id="{EF645FFC-8F34-81F0-1B8F-3E2144043804}"/>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b="-112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717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581AB-6D46-48D3-7BE4-3E9DD5045852}"/>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BBF7EBC5-4770-963F-9CDC-F464FF11DB27}"/>
              </a:ext>
            </a:extLst>
          </p:cNvPr>
          <p:cNvSpPr>
            <a:spLocks noGrp="1" noChangeArrowheads="1"/>
          </p:cNvSpPr>
          <p:nvPr>
            <p:ph type="title"/>
          </p:nvPr>
        </p:nvSpPr>
        <p:spPr/>
        <p:txBody>
          <a:bodyPr/>
          <a:lstStyle/>
          <a:p>
            <a:r>
              <a:rPr lang="zh-CN" altLang="en-US" b="1" dirty="0"/>
              <a:t>场景四：</a:t>
            </a:r>
            <a:r>
              <a:rPr lang="en-US" altLang="zh-CN" b="1" dirty="0"/>
              <a:t>Implicit Deep Learning</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7FBADA72-3D9C-67BA-6A9D-5D48BECF9111}"/>
                  </a:ext>
                </a:extLst>
              </p:cNvPr>
              <p:cNvSpPr>
                <a:spLocks noGrp="1"/>
              </p:cNvSpPr>
              <p:nvPr>
                <p:ph idx="1"/>
              </p:nvPr>
            </p:nvSpPr>
            <p:spPr>
              <a:xfrm>
                <a:off x="508000" y="1112520"/>
                <a:ext cx="11582400" cy="5440680"/>
              </a:xfrm>
            </p:spPr>
            <p:txBody>
              <a:bodyPr/>
              <a:lstStyle/>
              <a:p>
                <a:pPr marL="0" indent="0">
                  <a:buNone/>
                </a:pPr>
                <a:r>
                  <a:rPr lang="zh-CN" altLang="en-US" dirty="0"/>
                  <a:t>普通神经网络中，架构通常需要人工决定：</a:t>
                </a:r>
                <a14:m>
                  <m:oMath xmlns:m="http://schemas.openxmlformats.org/officeDocument/2006/math">
                    <m:r>
                      <m:rPr>
                        <m:nor/>
                      </m:rPr>
                      <a:rPr lang="zh-CN" altLang="en-US" b="0"/>
                      <m:t>几层</m:t>
                    </m:r>
                    <m:r>
                      <m:rPr>
                        <m:nor/>
                      </m:rPr>
                      <a:rPr lang="zh-CN" altLang="en-US" b="0"/>
                      <m:t>？</m:t>
                    </m:r>
                    <m:r>
                      <m:rPr>
                        <m:nor/>
                      </m:rPr>
                      <a:rPr lang="zh-CN" altLang="en-US" b="0"/>
                      <m:t>每层多少神经元</m:t>
                    </m:r>
                    <m:r>
                      <m:rPr>
                        <m:nor/>
                      </m:rPr>
                      <a:rPr lang="zh-CN" altLang="en-US" b="0"/>
                      <m:t>？</m:t>
                    </m:r>
                    <m:r>
                      <m:rPr>
                        <m:nor/>
                      </m:rPr>
                      <a:rPr lang="zh-CN" altLang="en-US" b="0"/>
                      <m:t>哪些层连接</m:t>
                    </m:r>
                    <m:r>
                      <m:rPr>
                        <m:nor/>
                      </m:rPr>
                      <a:rPr lang="zh-CN" altLang="en-US" b="0"/>
                      <m:t>？</m:t>
                    </m:r>
                    <m:r>
                      <m:rPr>
                        <m:nor/>
                      </m:rPr>
                      <a:rPr lang="zh-CN" altLang="en-US" b="0"/>
                      <m:t>是否残差连接</m:t>
                    </m:r>
                    <m:r>
                      <m:rPr>
                        <m:nor/>
                      </m:rPr>
                      <a:rPr lang="zh-CN" altLang="en-US" b="0"/>
                      <m:t>？</m:t>
                    </m:r>
                  </m:oMath>
                </a14:m>
                <a:endParaRPr lang="zh-CN" altLang="en-US" b="0" dirty="0"/>
              </a:p>
              <a:p>
                <a:pPr marL="0" indent="0">
                  <a:buNone/>
                </a:pPr>
                <a:r>
                  <a:rPr lang="zh-CN" altLang="en-US" dirty="0"/>
                  <a:t>而在 </a:t>
                </a:r>
                <a:r>
                  <a:rPr lang="en-US" altLang="zh-CN" dirty="0"/>
                  <a:t>implicit deep learning </a:t>
                </a:r>
                <a:r>
                  <a:rPr lang="zh-CN" altLang="en-US" dirty="0"/>
                  <a:t>中，网络结构可以编码进矩阵 </a:t>
                </a:r>
                <a14:m>
                  <m:oMath xmlns:m="http://schemas.openxmlformats.org/officeDocument/2006/math">
                    <m:r>
                      <a:rPr lang="zh-CN" altLang="en-US" i="1"/>
                      <m:t>𝐴</m:t>
                    </m:r>
                  </m:oMath>
                </a14:m>
                <a:r>
                  <a:rPr lang="zh-CN" altLang="en-US" dirty="0"/>
                  <a:t>的模式中。</a:t>
                </a:r>
              </a:p>
              <a:p>
                <a:pPr marL="0" indent="0">
                  <a:buNone/>
                </a:pPr>
                <a:r>
                  <a:rPr lang="zh-CN" altLang="en-US" dirty="0"/>
                  <a:t>例如：</a:t>
                </a:r>
              </a:p>
              <a:p>
                <a:r>
                  <a:rPr lang="zh-CN" altLang="en-US" dirty="0"/>
                  <a:t>如果 </a:t>
                </a:r>
                <a14:m>
                  <m:oMath xmlns:m="http://schemas.openxmlformats.org/officeDocument/2006/math">
                    <m:r>
                      <a:rPr lang="zh-CN" altLang="en-US" i="1"/>
                      <m:t>𝐴</m:t>
                    </m:r>
                  </m:oMath>
                </a14:m>
                <a:r>
                  <a:rPr lang="zh-CN" altLang="en-US" dirty="0"/>
                  <a:t>是严格下三角块矩阵，那么模型类似普通前馈网络。</a:t>
                </a:r>
              </a:p>
              <a:p>
                <a:r>
                  <a:rPr lang="zh-CN" altLang="en-US" dirty="0"/>
                  <a:t>如果 </a:t>
                </a:r>
                <a14:m>
                  <m:oMath xmlns:m="http://schemas.openxmlformats.org/officeDocument/2006/math">
                    <m:r>
                      <a:rPr lang="zh-CN" altLang="en-US" i="1"/>
                      <m:t>𝐴</m:t>
                    </m:r>
                  </m:oMath>
                </a14:m>
                <a:r>
                  <a:rPr lang="zh-CN" altLang="en-US" dirty="0"/>
                  <a:t>有循环结构，那么模型类似反馈网络或递归网络。</a:t>
                </a:r>
              </a:p>
              <a:p>
                <a:r>
                  <a:rPr lang="zh-CN" altLang="en-US" dirty="0"/>
                  <a:t>如果 </a:t>
                </a:r>
                <a14:m>
                  <m:oMath xmlns:m="http://schemas.openxmlformats.org/officeDocument/2006/math">
                    <m:r>
                      <a:rPr lang="zh-CN" altLang="en-US" i="1"/>
                      <m:t>𝐴</m:t>
                    </m:r>
                  </m:oMath>
                </a14:m>
                <a:r>
                  <a:rPr lang="zh-CN" altLang="en-US" dirty="0"/>
                  <a:t>是图邻接矩阵形式，那么模型可以表达图结构上的特征传播。</a:t>
                </a:r>
              </a:p>
              <a:p>
                <a:r>
                  <a:rPr lang="zh-CN" altLang="en-US" dirty="0"/>
                  <a:t>如果 </a:t>
                </a:r>
                <a14:m>
                  <m:oMath xmlns:m="http://schemas.openxmlformats.org/officeDocument/2006/math">
                    <m:r>
                      <a:rPr lang="zh-CN" altLang="en-US" i="1"/>
                      <m:t>𝐴</m:t>
                    </m:r>
                  </m:oMath>
                </a14:m>
                <a:r>
                  <a:rPr lang="zh-CN" altLang="en-US" dirty="0"/>
                  <a:t>很稀疏，那么模型对应一个剪枝后的网络。</a:t>
                </a:r>
              </a:p>
              <a:p>
                <a:pPr marL="0" indent="0">
                  <a:buNone/>
                </a:pPr>
                <a:r>
                  <a:rPr lang="zh-CN" altLang="en-US" dirty="0"/>
                  <a:t>因此，优化网络结构可以转化为优化矩阵结构：</a:t>
                </a:r>
                <a14:m>
                  <m:oMath xmlns:m="http://schemas.openxmlformats.org/officeDocument/2006/math">
                    <m:limLow>
                      <m:limLowPr>
                        <m:ctrlPr>
                          <a:rPr lang="zh-CN" altLang="en-US"/>
                        </m:ctrlPr>
                      </m:limLowPr>
                      <m:e>
                        <m:func>
                          <m:funcPr>
                            <m:ctrlPr>
                              <a:rPr lang="zh-CN" altLang="en-US"/>
                            </m:ctrlPr>
                          </m:funcPr>
                          <m:fName>
                            <m:r>
                              <m:rPr>
                                <m:sty m:val="p"/>
                              </m:rPr>
                              <a:rPr lang="en-US" altLang="zh-CN"/>
                              <m:t>min</m:t>
                            </m:r>
                          </m:fName>
                          <m:e>
                            <m:r>
                              <m:rPr>
                                <m:nor/>
                              </m:rPr>
                              <a:rPr lang="en-US" altLang="zh-CN" i="1"/>
                              <m:t>loss</m:t>
                            </m:r>
                          </m:e>
                        </m:func>
                      </m:e>
                      <m:lim>
                        <m:r>
                          <a:rPr lang="zh-CN" altLang="en-US" i="1"/>
                          <m:t>𝐴</m:t>
                        </m:r>
                        <m:r>
                          <a:rPr lang="en-US" altLang="zh-CN"/>
                          <m:t>,</m:t>
                        </m:r>
                        <m:r>
                          <a:rPr lang="zh-CN" altLang="en-US" i="1"/>
                          <m:t>𝐵</m:t>
                        </m:r>
                        <m:r>
                          <a:rPr lang="en-US" altLang="zh-CN"/>
                          <m:t>,</m:t>
                        </m:r>
                        <m:r>
                          <a:rPr lang="zh-CN" altLang="en-US" i="1"/>
                          <m:t>𝐶</m:t>
                        </m:r>
                        <m:r>
                          <a:rPr lang="en-US" altLang="zh-CN"/>
                          <m:t>,</m:t>
                        </m:r>
                        <m:r>
                          <a:rPr lang="zh-CN" altLang="en-US" i="1"/>
                          <m:t>𝐷</m:t>
                        </m:r>
                      </m:lim>
                    </m:limLow>
                    <m:r>
                      <a:rPr lang="en-US" altLang="zh-CN"/>
                      <m:t>+</m:t>
                    </m:r>
                    <m:r>
                      <a:rPr lang="zh-CN" altLang="en-US" i="1"/>
                      <m:t>𝜆</m:t>
                    </m:r>
                    <m:r>
                      <a:rPr lang="zh-CN" altLang="en-US"/>
                      <m:t>⋅</m:t>
                    </m:r>
                    <m:r>
                      <m:rPr>
                        <m:nor/>
                      </m:rPr>
                      <a:rPr lang="en-US" altLang="zh-CN" i="1"/>
                      <m:t>structure</m:t>
                    </m:r>
                    <m:r>
                      <m:rPr>
                        <m:nor/>
                      </m:rPr>
                      <a:rPr lang="en-US" altLang="zh-CN" i="1"/>
                      <m:t> </m:t>
                    </m:r>
                    <m:r>
                      <m:rPr>
                        <m:nor/>
                      </m:rPr>
                      <a:rPr lang="en-US" altLang="zh-CN" i="1"/>
                      <m:t>penalty</m:t>
                    </m:r>
                    <m:r>
                      <a:rPr lang="en-US" altLang="zh-CN"/>
                      <m:t>.</m:t>
                    </m:r>
                  </m:oMath>
                </a14:m>
                <a:endParaRPr lang="zh-CN" altLang="en-US" b="0" dirty="0"/>
              </a:p>
              <a:p>
                <a:pPr marL="0" indent="0">
                  <a:buNone/>
                </a:pPr>
                <a:r>
                  <a:rPr lang="zh-CN" altLang="en-US" dirty="0"/>
                  <a:t>这里的 </a:t>
                </a:r>
                <a:r>
                  <a:rPr lang="en-US" altLang="zh-CN" dirty="0"/>
                  <a:t>structure penalty </a:t>
                </a:r>
                <a:r>
                  <a:rPr lang="zh-CN" altLang="en-US" dirty="0"/>
                  <a:t>可以鼓励：</a:t>
                </a:r>
              </a:p>
              <a:p>
                <a:pPr lvl="1"/>
                <a14:m>
                  <m:oMath xmlns:m="http://schemas.openxmlformats.org/officeDocument/2006/math">
                    <m:r>
                      <m:rPr>
                        <m:sty m:val="p"/>
                      </m:rPr>
                      <a:rPr lang="zh-CN" altLang="en-US" i="0"/>
                      <m:t>A</m:t>
                    </m:r>
                    <m:r>
                      <m:rPr>
                        <m:nor/>
                      </m:rPr>
                      <a:rPr lang="zh-CN" altLang="en-US"/>
                      <m:t> </m:t>
                    </m:r>
                    <m:r>
                      <m:rPr>
                        <m:nor/>
                      </m:rPr>
                      <a:rPr lang="zh-CN" altLang="en-US"/>
                      <m:t>稀疏</m:t>
                    </m:r>
                    <m:r>
                      <a:rPr lang="en-US" altLang="zh-CN" i="0"/>
                      <m:t>,</m:t>
                    </m:r>
                  </m:oMath>
                </a14:m>
                <a:endParaRPr lang="zh-CN" altLang="en-US" b="0" dirty="0"/>
              </a:p>
              <a:p>
                <a:pPr lvl="1"/>
                <a14:m>
                  <m:oMath xmlns:m="http://schemas.openxmlformats.org/officeDocument/2006/math">
                    <m:r>
                      <m:rPr>
                        <m:sty m:val="p"/>
                      </m:rPr>
                      <a:rPr lang="zh-CN" altLang="en-US" i="0"/>
                      <m:t>A</m:t>
                    </m:r>
                    <m:r>
                      <m:rPr>
                        <m:nor/>
                      </m:rPr>
                      <a:rPr lang="zh-CN" altLang="en-US"/>
                      <m:t> </m:t>
                    </m:r>
                    <m:r>
                      <m:rPr>
                        <m:nor/>
                      </m:rPr>
                      <a:rPr lang="zh-CN" altLang="en-US"/>
                      <m:t>分块</m:t>
                    </m:r>
                    <m:r>
                      <a:rPr lang="en-US" altLang="zh-CN" i="0"/>
                      <m:t>,</m:t>
                    </m:r>
                  </m:oMath>
                </a14:m>
                <a:endParaRPr lang="zh-CN" altLang="en-US" b="0" dirty="0"/>
              </a:p>
              <a:p>
                <a:pPr lvl="1"/>
                <a14:m>
                  <m:oMath xmlns:m="http://schemas.openxmlformats.org/officeDocument/2006/math">
                    <m:r>
                      <m:rPr>
                        <m:sty m:val="p"/>
                      </m:rPr>
                      <a:rPr lang="zh-CN" altLang="en-US" i="0"/>
                      <m:t>A</m:t>
                    </m:r>
                    <m:r>
                      <m:rPr>
                        <m:nor/>
                      </m:rPr>
                      <a:rPr lang="zh-CN" altLang="en-US"/>
                      <m:t> </m:t>
                    </m:r>
                    <m:r>
                      <m:rPr>
                        <m:nor/>
                      </m:rPr>
                      <a:rPr lang="zh-CN" altLang="en-US"/>
                      <m:t>稳定</m:t>
                    </m:r>
                    <m:r>
                      <a:rPr lang="en-US" altLang="zh-CN" i="0"/>
                      <m:t>,</m:t>
                    </m:r>
                  </m:oMath>
                </a14:m>
                <a:endParaRPr lang="zh-CN" altLang="en-US" b="0" dirty="0"/>
              </a:p>
              <a:p>
                <a:pPr lvl="1"/>
                <a14:m>
                  <m:oMath xmlns:m="http://schemas.openxmlformats.org/officeDocument/2006/math">
                    <m:r>
                      <m:rPr>
                        <m:sty m:val="p"/>
                      </m:rPr>
                      <a:rPr lang="zh-CN" altLang="en-US" i="0"/>
                      <m:t>A</m:t>
                    </m:r>
                    <m:r>
                      <m:rPr>
                        <m:nor/>
                      </m:rPr>
                      <a:rPr lang="zh-CN" altLang="en-US"/>
                      <m:t> </m:t>
                    </m:r>
                    <m:r>
                      <m:rPr>
                        <m:nor/>
                      </m:rPr>
                      <a:rPr lang="zh-CN" altLang="en-US"/>
                      <m:t>满足某种图结构</m:t>
                    </m:r>
                    <m:r>
                      <a:rPr lang="en-US" altLang="zh-CN" i="0"/>
                      <m:t>.</m:t>
                    </m:r>
                  </m:oMath>
                </a14:m>
                <a:endParaRPr lang="zh-CN" altLang="en-US" b="0" dirty="0"/>
              </a:p>
              <a:p>
                <a:pPr marL="0" indent="0">
                  <a:buNone/>
                </a:pPr>
                <a:r>
                  <a:rPr lang="zh-CN" altLang="en-US" dirty="0"/>
                  <a:t>所以 </a:t>
                </a:r>
                <a:r>
                  <a:rPr lang="en-US" altLang="zh-CN" dirty="0"/>
                  <a:t>implicit deep learning </a:t>
                </a:r>
                <a:r>
                  <a:rPr lang="zh-CN" altLang="en-US" dirty="0"/>
                  <a:t>的一个重要优势是：架构不再只是人工预设的层状图，而可以作为学习对象，通过约束和正则化自动优化。这就是为什么它可以用于 </a:t>
                </a:r>
                <a:r>
                  <a:rPr lang="en-US" altLang="zh-CN" dirty="0"/>
                  <a:t>network architecture optimization</a:t>
                </a:r>
                <a:r>
                  <a:rPr lang="zh-CN" altLang="en-US" dirty="0"/>
                  <a:t>。</a:t>
                </a:r>
              </a:p>
            </p:txBody>
          </p:sp>
        </mc:Choice>
        <mc:Fallback>
          <p:sp>
            <p:nvSpPr>
              <p:cNvPr id="12" name="コンテンツ プレースホルダー 2">
                <a:extLst>
                  <a:ext uri="{FF2B5EF4-FFF2-40B4-BE49-F238E27FC236}">
                    <a16:creationId xmlns:a16="http://schemas.microsoft.com/office/drawing/2014/main" id="{7FBADA72-3D9C-67BA-6A9D-5D48BECF9111}"/>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b="-49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49098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065ED-79D1-A4C6-F7BD-A19667069274}"/>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6427DB56-9FE5-2751-787F-9157BCBB5CF0}"/>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B6378948-233F-9093-C71A-06C1FA94C252}"/>
                  </a:ext>
                </a:extLst>
              </p:cNvPr>
              <p:cNvSpPr>
                <a:spLocks noGrp="1"/>
              </p:cNvSpPr>
              <p:nvPr>
                <p:ph idx="1"/>
              </p:nvPr>
            </p:nvSpPr>
            <p:spPr>
              <a:xfrm>
                <a:off x="152400" y="1112520"/>
                <a:ext cx="11938000" cy="5440680"/>
              </a:xfrm>
            </p:spPr>
            <p:txBody>
              <a:bodyPr/>
              <a:lstStyle/>
              <a:p>
                <a:pPr marL="0" indent="0">
                  <a:lnSpc>
                    <a:spcPct val="110000"/>
                  </a:lnSpc>
                  <a:buNone/>
                </a:pPr>
                <a:r>
                  <a:rPr lang="en-US" altLang="zh-CN" dirty="0"/>
                  <a:t>DEQ </a:t>
                </a:r>
                <a:r>
                  <a:rPr lang="zh-CN" altLang="en-US" dirty="0"/>
                  <a:t>的一个问题是：一般的非线性映射未必收敛，也未必有唯一平衡点。</a:t>
                </a:r>
                <a:r>
                  <a:rPr lang="en-US" altLang="zh-CN" dirty="0" err="1"/>
                  <a:t>MonDEQ</a:t>
                </a:r>
                <a:r>
                  <a:rPr lang="en-US" altLang="zh-CN" dirty="0"/>
                  <a:t> </a:t>
                </a:r>
                <a:r>
                  <a:rPr lang="zh-CN" altLang="en-US" dirty="0"/>
                  <a:t>正是为了解决这类问题而提出的。</a:t>
                </a:r>
                <a:r>
                  <a:rPr lang="en-US" altLang="zh-CN" dirty="0"/>
                  <a:t>Winston and Kolter </a:t>
                </a:r>
                <a:r>
                  <a:rPr lang="zh-CN" altLang="en-US" dirty="0"/>
                  <a:t>通过单调算子理论设计隐式深度模型，使得平衡点求解可以和单调算子分裂方法联系起来，并给出稳定收敛和唯一平衡点的保证。</a:t>
                </a:r>
              </a:p>
              <a:p>
                <a:pPr marL="0" indent="0">
                  <a:lnSpc>
                    <a:spcPct val="110000"/>
                  </a:lnSpc>
                  <a:buNone/>
                </a:pPr>
                <a:r>
                  <a:rPr lang="ja-JP" altLang="en-US" dirty="0"/>
                  <a:t>普通 </a:t>
                </a:r>
                <a:r>
                  <a:rPr lang="en-US" altLang="ja-JP" dirty="0"/>
                  <a:t>Deep Equilibrium Model </a:t>
                </a:r>
                <a:r>
                  <a:rPr lang="ja-JP" altLang="en-US" dirty="0"/>
                  <a:t>写成：</a:t>
                </a:r>
                <a14:m>
                  <m:oMath xmlns:m="http://schemas.openxmlformats.org/officeDocument/2006/math">
                    <m:sSup>
                      <m:sSupPr>
                        <m:ctrlPr>
                          <a:rPr lang="ar-AE" altLang="ja-JP"/>
                        </m:ctrlPr>
                      </m:sSupPr>
                      <m:e>
                        <m:r>
                          <a:rPr lang="ja-JP" altLang="ar-AE" i="1"/>
                          <m:t>𝑧</m:t>
                        </m:r>
                      </m:e>
                      <m:sup>
                        <m:r>
                          <a:rPr lang="ar-AE" altLang="ja-JP"/>
                          <m:t>∗</m:t>
                        </m:r>
                      </m:sup>
                    </m:sSup>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sSup>
                          <m:sSupPr>
                            <m:ctrlPr>
                              <a:rPr lang="ar-AE" altLang="ja-JP" i="1"/>
                            </m:ctrlPr>
                          </m:sSupPr>
                          <m:e>
                            <m:r>
                              <a:rPr lang="ja-JP" altLang="ar-AE" i="1"/>
                              <m:t>𝑧</m:t>
                            </m:r>
                          </m:e>
                          <m:sup>
                            <m:r>
                              <a:rPr lang="ar-AE" altLang="ja-JP"/>
                              <m:t>∗</m:t>
                            </m:r>
                          </m:sup>
                        </m:sSup>
                      </m:e>
                      <m:e>
                        <m:r>
                          <a:rPr lang="ja-JP" altLang="ar-AE" i="1"/>
                          <m:t>𝑥</m:t>
                        </m:r>
                      </m:e>
                    </m:d>
                    <m:r>
                      <a:rPr lang="ar-AE" altLang="ja-JP"/>
                      <m:t>.</m:t>
                    </m:r>
                  </m:oMath>
                </a14:m>
                <a:endParaRPr lang="ar-AE" altLang="ja-JP" dirty="0"/>
              </a:p>
              <a:p>
                <a:pPr marL="0" indent="0">
                  <a:lnSpc>
                    <a:spcPct val="110000"/>
                  </a:lnSpc>
                  <a:buNone/>
                </a:pPr>
                <a:r>
                  <a:rPr lang="ja-JP" altLang="en-US" dirty="0"/>
                  <a:t>其中 </a:t>
                </a:r>
                <a14:m>
                  <m:oMath xmlns:m="http://schemas.openxmlformats.org/officeDocument/2006/math">
                    <m:r>
                      <a:rPr lang="ja-JP" altLang="en-US" i="1"/>
                      <m:t>𝑥</m:t>
                    </m:r>
                  </m:oMath>
                </a14:m>
                <a:r>
                  <a:rPr lang="ja-JP" altLang="en-US" dirty="0"/>
                  <a:t>是输入，</a:t>
                </a:r>
                <a14:m>
                  <m:oMath xmlns:m="http://schemas.openxmlformats.org/officeDocument/2006/math">
                    <m:sSup>
                      <m:sSupPr>
                        <m:ctrlPr>
                          <a:rPr lang="ar-AE" altLang="ja-JP"/>
                        </m:ctrlPr>
                      </m:sSupPr>
                      <m:e>
                        <m:r>
                          <a:rPr lang="ja-JP" altLang="ar-AE" i="1"/>
                          <m:t>𝑧</m:t>
                        </m:r>
                      </m:e>
                      <m:sup>
                        <m:r>
                          <a:rPr lang="ar-AE" altLang="ja-JP"/>
                          <m:t>∗</m:t>
                        </m:r>
                      </m:sup>
                    </m:sSup>
                  </m:oMath>
                </a14:m>
                <a:r>
                  <a:rPr lang="ar-AE" altLang="ja-JP" dirty="0"/>
                  <a:t> </a:t>
                </a:r>
                <a:r>
                  <a:rPr lang="ja-JP" altLang="en-US" dirty="0"/>
                  <a:t>是隐藏状态的平衡点。它等价于求根问题：</a:t>
                </a:r>
                <a14:m>
                  <m:oMath xmlns:m="http://schemas.openxmlformats.org/officeDocument/2006/math">
                    <m:sSub>
                      <m:sSubPr>
                        <m:ctrlPr>
                          <a:rPr lang="ar-AE" altLang="ja-JP"/>
                        </m:ctrlPr>
                      </m:sSubPr>
                      <m:e>
                        <m:r>
                          <a:rPr lang="ja-JP" altLang="ar-AE" i="1"/>
                          <m:t>𝐹</m:t>
                        </m:r>
                      </m:e>
                      <m:sub>
                        <m:r>
                          <a:rPr lang="ja-JP" altLang="ar-AE" i="1"/>
                          <m:t>𝜃</m:t>
                        </m:r>
                      </m:sub>
                    </m:sSub>
                    <m:d>
                      <m:dPr>
                        <m:sepChr m:val=";"/>
                        <m:ctrlPr>
                          <a:rPr lang="ar-AE" altLang="ja-JP" i="1"/>
                        </m:ctrlPr>
                      </m:dPr>
                      <m:e>
                        <m:r>
                          <a:rPr lang="ja-JP" altLang="ar-AE" i="1"/>
                          <m:t>𝑧</m:t>
                        </m:r>
                      </m:e>
                      <m:e>
                        <m:r>
                          <a:rPr lang="ja-JP" altLang="ar-AE" i="1"/>
                          <m:t>𝑥</m:t>
                        </m:r>
                      </m:e>
                    </m:d>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r>
                          <a:rPr lang="ja-JP" altLang="ar-AE" i="1"/>
                          <m:t>𝑧</m:t>
                        </m:r>
                      </m:e>
                      <m:e>
                        <m:r>
                          <a:rPr lang="ja-JP" altLang="ar-AE" i="1"/>
                          <m:t>𝑥</m:t>
                        </m:r>
                      </m:e>
                    </m:d>
                    <m:r>
                      <a:rPr lang="ar-AE" altLang="ja-JP"/>
                      <m:t>−</m:t>
                    </m:r>
                    <m:r>
                      <a:rPr lang="ja-JP" altLang="ar-AE" i="1"/>
                      <m:t>𝑧</m:t>
                    </m:r>
                    <m:r>
                      <a:rPr lang="ar-AE" altLang="ja-JP"/>
                      <m:t>=</m:t>
                    </m:r>
                    <m:r>
                      <a:rPr lang="ar-AE" altLang="ja-JP"/>
                      <m:t>0</m:t>
                    </m:r>
                    <m:r>
                      <a:rPr lang="ar-AE" altLang="ja-JP"/>
                      <m:t>.</m:t>
                    </m:r>
                  </m:oMath>
                </a14:m>
                <a:endParaRPr lang="ar-AE" altLang="ja-JP" dirty="0"/>
              </a:p>
              <a:p>
                <a:pPr marL="0" indent="0">
                  <a:lnSpc>
                    <a:spcPct val="110000"/>
                  </a:lnSpc>
                  <a:buNone/>
                </a:pPr>
                <a:r>
                  <a:rPr lang="en-US" altLang="ja-JP" dirty="0"/>
                  <a:t>DEQ </a:t>
                </a:r>
                <a:r>
                  <a:rPr lang="ja-JP" altLang="en-US" dirty="0"/>
                  <a:t>的思想很自然：如果不断迭代</a:t>
                </a:r>
                <a14:m>
                  <m:oMath xmlns:m="http://schemas.openxmlformats.org/officeDocument/2006/math">
                    <m:sSub>
                      <m:sSubPr>
                        <m:ctrlPr>
                          <a:rPr lang="ar-AE" altLang="ja-JP"/>
                        </m:ctrlPr>
                      </m:sSubPr>
                      <m:e>
                        <m:r>
                          <a:rPr lang="ja-JP" altLang="ar-AE" i="1"/>
                          <m:t>𝑧</m:t>
                        </m:r>
                      </m:e>
                      <m:sub>
                        <m:r>
                          <a:rPr lang="ja-JP" altLang="ar-AE" i="1"/>
                          <m:t>𝑘</m:t>
                        </m:r>
                        <m:r>
                          <a:rPr lang="ar-AE" altLang="ja-JP"/>
                          <m:t>+</m:t>
                        </m:r>
                        <m:r>
                          <a:rPr lang="ar-AE" altLang="ja-JP"/>
                          <m:t>1</m:t>
                        </m:r>
                      </m:sub>
                    </m:sSub>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sSub>
                          <m:sSubPr>
                            <m:ctrlPr>
                              <a:rPr lang="ar-AE" altLang="ja-JP" i="1"/>
                            </m:ctrlPr>
                          </m:sSubPr>
                          <m:e>
                            <m:r>
                              <a:rPr lang="ja-JP" altLang="ar-AE" i="1"/>
                              <m:t>𝑧</m:t>
                            </m:r>
                          </m:e>
                          <m:sub>
                            <m:r>
                              <a:rPr lang="ja-JP" altLang="ar-AE" i="1"/>
                              <m:t>𝑘</m:t>
                            </m:r>
                          </m:sub>
                        </m:sSub>
                      </m:e>
                      <m:e>
                        <m:r>
                          <a:rPr lang="ja-JP" altLang="ar-AE" i="1"/>
                          <m:t>𝑥</m:t>
                        </m:r>
                      </m:e>
                    </m:d>
                    <m:r>
                      <a:rPr lang="ar-AE" altLang="ja-JP"/>
                      <m:t>,</m:t>
                    </m:r>
                  </m:oMath>
                </a14:m>
                <a:r>
                  <a:rPr lang="en-US" altLang="ja-JP" dirty="0"/>
                  <a:t> </a:t>
                </a:r>
                <a:r>
                  <a:rPr lang="ja-JP" altLang="en-US" dirty="0"/>
                  <a:t>最后收敛到某个稳定状态 </a:t>
                </a:r>
                <a14:m>
                  <m:oMath xmlns:m="http://schemas.openxmlformats.org/officeDocument/2006/math">
                    <m:sSup>
                      <m:sSupPr>
                        <m:ctrlPr>
                          <a:rPr lang="ar-AE" altLang="ja-JP"/>
                        </m:ctrlPr>
                      </m:sSupPr>
                      <m:e>
                        <m:r>
                          <a:rPr lang="ja-JP" altLang="ar-AE" i="1"/>
                          <m:t>𝑧</m:t>
                        </m:r>
                      </m:e>
                      <m:sup>
                        <m:r>
                          <a:rPr lang="ar-AE" altLang="ja-JP"/>
                          <m:t>∗</m:t>
                        </m:r>
                      </m:sup>
                    </m:sSup>
                  </m:oMath>
                </a14:m>
                <a:r>
                  <a:rPr lang="ja-JP" altLang="ar-AE" dirty="0"/>
                  <a:t>，</a:t>
                </a:r>
                <a:r>
                  <a:rPr lang="ja-JP" altLang="en-US" dirty="0"/>
                  <a:t>那么这个稳定状态就满足</a:t>
                </a:r>
                <a14:m>
                  <m:oMath xmlns:m="http://schemas.openxmlformats.org/officeDocument/2006/math">
                    <m:sSup>
                      <m:sSupPr>
                        <m:ctrlPr>
                          <a:rPr lang="ar-AE" altLang="ja-JP"/>
                        </m:ctrlPr>
                      </m:sSupPr>
                      <m:e>
                        <m:r>
                          <a:rPr lang="ja-JP" altLang="ar-AE" i="1"/>
                          <m:t>𝑧</m:t>
                        </m:r>
                      </m:e>
                      <m:sup>
                        <m:r>
                          <a:rPr lang="ar-AE" altLang="ja-JP"/>
                          <m:t>∗</m:t>
                        </m:r>
                      </m:sup>
                    </m:sSup>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sSup>
                          <m:sSupPr>
                            <m:ctrlPr>
                              <a:rPr lang="ar-AE" altLang="ja-JP" i="1"/>
                            </m:ctrlPr>
                          </m:sSupPr>
                          <m:e>
                            <m:r>
                              <a:rPr lang="ja-JP" altLang="ar-AE" i="1"/>
                              <m:t>𝑧</m:t>
                            </m:r>
                          </m:e>
                          <m:sup>
                            <m:r>
                              <a:rPr lang="ar-AE" altLang="ja-JP"/>
                              <m:t>∗</m:t>
                            </m:r>
                          </m:sup>
                        </m:sSup>
                      </m:e>
                      <m:e>
                        <m:r>
                          <a:rPr lang="ja-JP" altLang="ar-AE" i="1"/>
                          <m:t>𝑥</m:t>
                        </m:r>
                      </m:e>
                    </m:d>
                    <m:r>
                      <a:rPr lang="ar-AE" altLang="ja-JP"/>
                      <m:t>.</m:t>
                    </m:r>
                  </m:oMath>
                </a14:m>
                <a:endParaRPr lang="ar-AE" altLang="ja-JP" dirty="0"/>
              </a:p>
              <a:p>
                <a:pPr marL="0" indent="0">
                  <a:lnSpc>
                    <a:spcPct val="110000"/>
                  </a:lnSpc>
                  <a:buNone/>
                </a:pPr>
                <a:r>
                  <a:rPr lang="ja-JP" altLang="en-US" dirty="0"/>
                  <a:t>问题在于：</a:t>
                </a:r>
                <a:r>
                  <a:rPr lang="ja-JP" altLang="en-US" dirty="0">
                    <a:solidFill>
                      <a:srgbClr val="C00000"/>
                    </a:solidFill>
                  </a:rPr>
                  <a:t>一般神经网络 </a:t>
                </a:r>
                <a14:m>
                  <m:oMath xmlns:m="http://schemas.openxmlformats.org/officeDocument/2006/math">
                    <m:sSub>
                      <m:sSubPr>
                        <m:ctrlPr>
                          <a:rPr lang="ar-AE" altLang="ja-JP">
                            <a:solidFill>
                              <a:srgbClr val="C00000"/>
                            </a:solidFill>
                          </a:rPr>
                        </m:ctrlPr>
                      </m:sSubPr>
                      <m:e>
                        <m:r>
                          <a:rPr lang="ja-JP" altLang="ar-AE" i="1">
                            <a:solidFill>
                              <a:srgbClr val="C00000"/>
                            </a:solidFill>
                          </a:rPr>
                          <m:t>𝑓</m:t>
                        </m:r>
                      </m:e>
                      <m:sub>
                        <m:r>
                          <a:rPr lang="ja-JP" altLang="ar-AE" i="1">
                            <a:solidFill>
                              <a:srgbClr val="C00000"/>
                            </a:solidFill>
                          </a:rPr>
                          <m:t>𝜃</m:t>
                        </m:r>
                      </m:sub>
                    </m:sSub>
                  </m:oMath>
                </a14:m>
                <a:r>
                  <a:rPr lang="ja-JP" altLang="en-US" dirty="0">
                    <a:solidFill>
                      <a:srgbClr val="C00000"/>
                    </a:solidFill>
                  </a:rPr>
                  <a:t>是复杂的非线性映射，它不一定是压缩映射</a:t>
                </a:r>
                <a:r>
                  <a:rPr lang="ja-JP" altLang="en-US" dirty="0"/>
                  <a:t>。因此，</a:t>
                </a:r>
                <a:r>
                  <a:rPr lang="en-US" altLang="ja-JP" dirty="0"/>
                  <a:t>DEQ </a:t>
                </a:r>
                <a:r>
                  <a:rPr lang="ja-JP" altLang="en-US" dirty="0"/>
                  <a:t>可能出现三个困难</a:t>
                </a:r>
              </a:p>
              <a:p>
                <a:pPr lvl="1">
                  <a:lnSpc>
                    <a:spcPct val="110000"/>
                  </a:lnSpc>
                  <a:buFont typeface="Wingdings" panose="05000000000000000000" pitchFamily="2" charset="2"/>
                  <a:buChar char="Ø"/>
                </a:pPr>
                <a:r>
                  <a:rPr lang="ja-JP" altLang="en-US" b="1" dirty="0">
                    <a:solidFill>
                      <a:srgbClr val="7030A0"/>
                    </a:solidFill>
                  </a:rPr>
                  <a:t>第一，迭代不收敛</a:t>
                </a:r>
                <a:r>
                  <a:rPr lang="ja-JP" altLang="en-US" dirty="0"/>
                  <a:t>：</a:t>
                </a:r>
                <a14:m>
                  <m:oMath xmlns:m="http://schemas.openxmlformats.org/officeDocument/2006/math">
                    <m:sSub>
                      <m:sSubPr>
                        <m:ctrlPr>
                          <a:rPr lang="ar-AE" altLang="ja-JP"/>
                        </m:ctrlPr>
                      </m:sSubPr>
                      <m:e>
                        <m:r>
                          <a:rPr lang="ja-JP" altLang="ar-AE" i="1"/>
                          <m:t>𝑧</m:t>
                        </m:r>
                      </m:e>
                      <m:sub>
                        <m:r>
                          <a:rPr lang="ar-AE" altLang="ja-JP"/>
                          <m:t>0</m:t>
                        </m:r>
                      </m:sub>
                    </m:sSub>
                    <m:r>
                      <a:rPr lang="ar-AE" altLang="ja-JP"/>
                      <m:t>→</m:t>
                    </m:r>
                    <m:sSub>
                      <m:sSubPr>
                        <m:ctrlPr>
                          <a:rPr lang="ar-AE" altLang="ja-JP" i="1"/>
                        </m:ctrlPr>
                      </m:sSubPr>
                      <m:e>
                        <m:r>
                          <a:rPr lang="ja-JP" altLang="ar-AE" i="1"/>
                          <m:t>𝑧</m:t>
                        </m:r>
                      </m:e>
                      <m:sub>
                        <m:r>
                          <a:rPr lang="ar-AE" altLang="ja-JP"/>
                          <m:t>1</m:t>
                        </m:r>
                      </m:sub>
                    </m:sSub>
                    <m:r>
                      <a:rPr lang="ar-AE" altLang="ja-JP"/>
                      <m:t>→</m:t>
                    </m:r>
                    <m:sSub>
                      <m:sSubPr>
                        <m:ctrlPr>
                          <a:rPr lang="ar-AE" altLang="ja-JP" i="1"/>
                        </m:ctrlPr>
                      </m:sSubPr>
                      <m:e>
                        <m:r>
                          <a:rPr lang="ja-JP" altLang="ar-AE" i="1"/>
                          <m:t>𝑧</m:t>
                        </m:r>
                      </m:e>
                      <m:sub>
                        <m:r>
                          <a:rPr lang="ar-AE" altLang="ja-JP"/>
                          <m:t>2</m:t>
                        </m:r>
                      </m:sub>
                    </m:sSub>
                    <m:r>
                      <a:rPr lang="ar-AE" altLang="ja-JP"/>
                      <m:t>→⋯</m:t>
                    </m:r>
                  </m:oMath>
                </a14:m>
                <a:r>
                  <a:rPr lang="en-US" altLang="ja-JP" dirty="0"/>
                  <a:t> </a:t>
                </a:r>
                <a:r>
                  <a:rPr lang="ja-JP" altLang="en-US" dirty="0"/>
                  <a:t>可能震荡、发散，或者收敛很慢。</a:t>
                </a:r>
              </a:p>
              <a:p>
                <a:pPr lvl="1">
                  <a:lnSpc>
                    <a:spcPct val="110000"/>
                  </a:lnSpc>
                  <a:buFont typeface="Wingdings" panose="05000000000000000000" pitchFamily="2" charset="2"/>
                  <a:buChar char="Ø"/>
                </a:pPr>
                <a:r>
                  <a:rPr lang="ja-JP" altLang="en-US" b="1" dirty="0">
                    <a:solidFill>
                      <a:srgbClr val="7030A0"/>
                    </a:solidFill>
                  </a:rPr>
                  <a:t>第二，不动点可能不存在</a:t>
                </a:r>
                <a:r>
                  <a:rPr lang="ja-JP" altLang="en-US" dirty="0"/>
                  <a:t>。例如某些映射没有满足 </a:t>
                </a:r>
                <a14:m>
                  <m:oMath xmlns:m="http://schemas.openxmlformats.org/officeDocument/2006/math">
                    <m:r>
                      <a:rPr lang="ja-JP" altLang="en-US" i="1"/>
                      <m:t>𝑧</m:t>
                    </m:r>
                    <m:r>
                      <a:rPr lang="en-US" altLang="ja-JP"/>
                      <m:t>=</m:t>
                    </m:r>
                    <m:r>
                      <a:rPr lang="ja-JP" altLang="en-US" i="1"/>
                      <m:t>𝑓</m:t>
                    </m:r>
                    <m:d>
                      <m:dPr>
                        <m:ctrlPr>
                          <a:rPr lang="ar-AE" altLang="ja-JP" i="1"/>
                        </m:ctrlPr>
                      </m:dPr>
                      <m:e>
                        <m:r>
                          <a:rPr lang="ja-JP" altLang="ar-AE" i="1"/>
                          <m:t>𝑧</m:t>
                        </m:r>
                      </m:e>
                    </m:d>
                  </m:oMath>
                </a14:m>
                <a:r>
                  <a:rPr lang="ja-JP" altLang="en-US" dirty="0"/>
                  <a:t>的点。</a:t>
                </a:r>
              </a:p>
              <a:p>
                <a:pPr lvl="1">
                  <a:lnSpc>
                    <a:spcPct val="110000"/>
                  </a:lnSpc>
                  <a:buFont typeface="Wingdings" panose="05000000000000000000" pitchFamily="2" charset="2"/>
                  <a:buChar char="Ø"/>
                </a:pPr>
                <a:r>
                  <a:rPr lang="ja-JP" altLang="en-US" b="1" dirty="0">
                    <a:solidFill>
                      <a:srgbClr val="7030A0"/>
                    </a:solidFill>
                  </a:rPr>
                  <a:t>第三，不动点可能不唯一</a:t>
                </a:r>
                <a:r>
                  <a:rPr lang="ja-JP" altLang="en-US" dirty="0"/>
                  <a:t>。如果存在多个 </a:t>
                </a:r>
                <a14:m>
                  <m:oMath xmlns:m="http://schemas.openxmlformats.org/officeDocument/2006/math">
                    <m:sSup>
                      <m:sSupPr>
                        <m:ctrlPr>
                          <a:rPr lang="ar-AE" altLang="ja-JP"/>
                        </m:ctrlPr>
                      </m:sSupPr>
                      <m:e>
                        <m:r>
                          <a:rPr lang="ja-JP" altLang="ar-AE" i="1"/>
                          <m:t>𝑧</m:t>
                        </m:r>
                      </m:e>
                      <m:sup>
                        <m:r>
                          <a:rPr lang="ar-AE" altLang="ja-JP"/>
                          <m:t>∗</m:t>
                        </m:r>
                      </m:sup>
                    </m:sSup>
                  </m:oMath>
                </a14:m>
                <a:r>
                  <a:rPr lang="ja-JP" altLang="ar-AE" dirty="0"/>
                  <a:t>，</a:t>
                </a:r>
                <a:r>
                  <a:rPr lang="ja-JP" altLang="en-US" dirty="0"/>
                  <a:t>模型输出可能依赖初始值或求解器路径。</a:t>
                </a:r>
              </a:p>
              <a:p>
                <a:pPr marL="0" indent="0">
                  <a:lnSpc>
                    <a:spcPct val="110000"/>
                  </a:lnSpc>
                  <a:buNone/>
                </a:pPr>
                <a:r>
                  <a:rPr lang="en-US" altLang="ja-JP" dirty="0"/>
                  <a:t>Winston </a:t>
                </a:r>
                <a:r>
                  <a:rPr lang="ja-JP" altLang="en-US" dirty="0"/>
                  <a:t>和 </a:t>
                </a:r>
                <a:r>
                  <a:rPr lang="en-US" altLang="ja-JP" dirty="0"/>
                  <a:t>Kolter </a:t>
                </a:r>
                <a:r>
                  <a:rPr lang="ja-JP" altLang="en-US" dirty="0"/>
                  <a:t>在 </a:t>
                </a:r>
                <a:r>
                  <a:rPr lang="en-US" altLang="ja-JP" dirty="0" err="1"/>
                  <a:t>monDEQ</a:t>
                </a:r>
                <a:r>
                  <a:rPr lang="en-US" altLang="ja-JP" dirty="0"/>
                  <a:t> </a:t>
                </a:r>
                <a:r>
                  <a:rPr lang="ja-JP" altLang="en-US" dirty="0"/>
                  <a:t>论文中指出，</a:t>
                </a:r>
                <a:r>
                  <a:rPr lang="en-US" altLang="ja-JP" dirty="0"/>
                  <a:t>DEQ </a:t>
                </a:r>
                <a:r>
                  <a:rPr lang="ja-JP" altLang="en-US" dirty="0"/>
                  <a:t>这类 </a:t>
                </a:r>
                <a:r>
                  <a:rPr lang="en-US" altLang="ja-JP" dirty="0"/>
                  <a:t>implicit-depth models </a:t>
                </a:r>
                <a:r>
                  <a:rPr lang="ja-JP" altLang="en-US" dirty="0"/>
                  <a:t>虽然内存效率高、性能强，但会遭遇不稳定收敛，并且通常缺少解存在性的保证；他们提出 </a:t>
                </a:r>
                <a:r>
                  <a:rPr lang="en-US" altLang="ja-JP" dirty="0" err="1"/>
                  <a:t>monDEQ</a:t>
                </a:r>
                <a:r>
                  <a:rPr lang="en-US" altLang="ja-JP" dirty="0"/>
                  <a:t> </a:t>
                </a:r>
                <a:r>
                  <a:rPr lang="ja-JP" altLang="en-US" dirty="0"/>
                  <a:t>正是为了让隐式模型具有稳定收敛和唯一平衡点保证</a:t>
                </a:r>
              </a:p>
              <a:p>
                <a:pPr>
                  <a:lnSpc>
                    <a:spcPct val="110000"/>
                  </a:lnSpc>
                </a:pPr>
                <a:endParaRPr lang="en-US" altLang="zh-CN" dirty="0"/>
              </a:p>
            </p:txBody>
          </p:sp>
        </mc:Choice>
        <mc:Fallback>
          <p:sp>
            <p:nvSpPr>
              <p:cNvPr id="12" name="コンテンツ プレースホルダー 2">
                <a:extLst>
                  <a:ext uri="{FF2B5EF4-FFF2-40B4-BE49-F238E27FC236}">
                    <a16:creationId xmlns:a16="http://schemas.microsoft.com/office/drawing/2014/main" id="{B6378948-233F-9093-C71A-06C1FA94C252}"/>
                  </a:ext>
                </a:extLst>
              </p:cNvPr>
              <p:cNvSpPr>
                <a:spLocks noGrp="1" noRot="1" noChangeAspect="1" noMove="1" noResize="1" noEditPoints="1" noAdjustHandles="1" noChangeArrowheads="1" noChangeShapeType="1" noTextEdit="1"/>
              </p:cNvSpPr>
              <p:nvPr>
                <p:ph idx="1"/>
              </p:nvPr>
            </p:nvSpPr>
            <p:spPr>
              <a:xfrm>
                <a:off x="152400" y="1112520"/>
                <a:ext cx="11938000" cy="5440680"/>
              </a:xfrm>
              <a:blipFill>
                <a:blip r:embed="rId3"/>
                <a:stretch>
                  <a:fillRect l="-511" t="-897" r="-25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40959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30038-ED59-BF3F-CAAD-1DF4CA623CB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EC1BB34-DFBD-DD5B-C9C7-58AA9C414C54}"/>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0975843E-E22D-61B8-EA6B-2C91696A6967}"/>
                  </a:ext>
                </a:extLst>
              </p:cNvPr>
              <p:cNvSpPr>
                <a:spLocks noGrp="1"/>
              </p:cNvSpPr>
              <p:nvPr>
                <p:ph idx="1"/>
              </p:nvPr>
            </p:nvSpPr>
            <p:spPr>
              <a:xfrm>
                <a:off x="508000" y="1112520"/>
                <a:ext cx="11582400" cy="5440680"/>
              </a:xfrm>
            </p:spPr>
            <p:txBody>
              <a:bodyPr/>
              <a:lstStyle/>
              <a:p>
                <a:pPr marL="0" indent="0">
                  <a:buNone/>
                </a:pPr>
                <a:r>
                  <a:rPr lang="zh-CN" altLang="en-US" b="1" dirty="0"/>
                  <a:t>为什么普通非线性映射不一定可靠？</a:t>
                </a:r>
              </a:p>
              <a:p>
                <a:pPr marL="0" indent="0">
                  <a:buNone/>
                </a:pPr>
                <a:endParaRPr lang="en-US" altLang="zh-CN" dirty="0"/>
              </a:p>
              <a:p>
                <a:pPr marL="0" indent="0">
                  <a:buNone/>
                </a:pPr>
                <a:r>
                  <a:rPr lang="zh-CN" altLang="en-US" dirty="0"/>
                  <a:t>可以用一维例子说明。</a:t>
                </a:r>
              </a:p>
              <a:p>
                <a:pPr lvl="1">
                  <a:buFont typeface="Wingdings" panose="05000000000000000000" pitchFamily="2" charset="2"/>
                  <a:buChar char="Ø"/>
                </a:pPr>
                <a:r>
                  <a:rPr lang="zh-CN" altLang="en-US" dirty="0"/>
                  <a:t>假设 </a:t>
                </a:r>
                <a:r>
                  <a:rPr lang="en-US" altLang="zh-CN" dirty="0"/>
                  <a:t>DEQ </a:t>
                </a:r>
                <a:r>
                  <a:rPr lang="zh-CN" altLang="en-US" dirty="0"/>
                  <a:t>的隐式层是：</a:t>
                </a:r>
                <a14:m>
                  <m:oMath xmlns:m="http://schemas.openxmlformats.org/officeDocument/2006/math">
                    <m:r>
                      <a:rPr lang="zh-CN" altLang="en-US" i="1"/>
                      <m:t>𝑧</m:t>
                    </m:r>
                    <m:r>
                      <a:rPr lang="en-US" altLang="zh-CN"/>
                      <m:t>=</m:t>
                    </m:r>
                    <m:r>
                      <m:rPr>
                        <m:sty m:val="p"/>
                      </m:rPr>
                      <a:rPr lang="en-US" altLang="zh-CN"/>
                      <m:t>tanh</m:t>
                    </m:r>
                    <m:r>
                      <a:rPr lang="en-US" altLang="zh-CN"/>
                      <m:t>⁡</m:t>
                    </m:r>
                    <m:d>
                      <m:dPr>
                        <m:ctrlPr>
                          <a:rPr lang="zh-CN" altLang="en-US" i="1"/>
                        </m:ctrlPr>
                      </m:dPr>
                      <m:e>
                        <m:r>
                          <a:rPr lang="zh-CN" altLang="en-US" i="1"/>
                          <m:t>𝑎𝑧</m:t>
                        </m:r>
                        <m:r>
                          <a:rPr lang="en-US" altLang="zh-CN"/>
                          <m:t>+</m:t>
                        </m:r>
                        <m:r>
                          <a:rPr lang="zh-CN" altLang="en-US" i="1"/>
                          <m:t>𝑏</m:t>
                        </m:r>
                      </m:e>
                    </m:d>
                    <m:r>
                      <a:rPr lang="en-US" altLang="zh-CN"/>
                      <m:t>.</m:t>
                    </m:r>
                  </m:oMath>
                </a14:m>
                <a:endParaRPr lang="zh-CN" altLang="en-US" dirty="0"/>
              </a:p>
              <a:p>
                <a:pPr lvl="1">
                  <a:buFont typeface="Wingdings" panose="05000000000000000000" pitchFamily="2" charset="2"/>
                  <a:buChar char="Ø"/>
                </a:pPr>
                <a:r>
                  <a:rPr lang="zh-CN" altLang="en-US" dirty="0"/>
                  <a:t>当 </a:t>
                </a:r>
                <a14:m>
                  <m:oMath xmlns:m="http://schemas.openxmlformats.org/officeDocument/2006/math">
                    <m:r>
                      <a:rPr lang="zh-CN" altLang="en-US" i="1"/>
                      <m:t>𝑎</m:t>
                    </m:r>
                  </m:oMath>
                </a14:m>
                <a:r>
                  <a:rPr lang="zh-CN" altLang="en-US" dirty="0"/>
                  <a:t>比较小时，映射可能比较“温和”，迭代容易收敛。</a:t>
                </a:r>
              </a:p>
              <a:p>
                <a:pPr lvl="1">
                  <a:buFont typeface="Wingdings" panose="05000000000000000000" pitchFamily="2" charset="2"/>
                  <a:buChar char="Ø"/>
                </a:pPr>
                <a:r>
                  <a:rPr lang="zh-CN" altLang="en-US" dirty="0"/>
                  <a:t>但当 </a:t>
                </a:r>
                <a14:m>
                  <m:oMath xmlns:m="http://schemas.openxmlformats.org/officeDocument/2006/math">
                    <m:r>
                      <a:rPr lang="zh-CN" altLang="en-US" i="1"/>
                      <m:t>𝑎</m:t>
                    </m:r>
                  </m:oMath>
                </a14:m>
                <a:r>
                  <a:rPr lang="zh-CN" altLang="en-US" dirty="0"/>
                  <a:t>很大时，曲线</a:t>
                </a:r>
                <a14:m>
                  <m:oMath xmlns:m="http://schemas.openxmlformats.org/officeDocument/2006/math">
                    <m:r>
                      <a:rPr lang="zh-CN" altLang="en-US" i="1"/>
                      <m:t>𝑦</m:t>
                    </m:r>
                    <m:r>
                      <a:rPr lang="en-US" altLang="zh-CN"/>
                      <m:t>=</m:t>
                    </m:r>
                    <m:r>
                      <a:rPr lang="zh-CN" altLang="en-US" i="1"/>
                      <m:t>𝑧</m:t>
                    </m:r>
                  </m:oMath>
                </a14:m>
                <a:r>
                  <a:rPr lang="zh-CN" altLang="en-US" dirty="0"/>
                  <a:t>和</a:t>
                </a:r>
                <a14:m>
                  <m:oMath xmlns:m="http://schemas.openxmlformats.org/officeDocument/2006/math">
                    <m:r>
                      <a:rPr lang="zh-CN" altLang="en-US" i="1"/>
                      <m:t>𝑦</m:t>
                    </m:r>
                    <m:r>
                      <a:rPr lang="en-US" altLang="zh-CN"/>
                      <m:t>=</m:t>
                    </m:r>
                    <m:r>
                      <m:rPr>
                        <m:sty m:val="p"/>
                      </m:rPr>
                      <a:rPr lang="en-US" altLang="zh-CN"/>
                      <m:t>tanh</m:t>
                    </m:r>
                    <m:r>
                      <a:rPr lang="en-US" altLang="zh-CN"/>
                      <m:t>⁡</m:t>
                    </m:r>
                    <m:d>
                      <m:dPr>
                        <m:ctrlPr>
                          <a:rPr lang="zh-CN" altLang="en-US" i="1"/>
                        </m:ctrlPr>
                      </m:dPr>
                      <m:e>
                        <m:r>
                          <a:rPr lang="zh-CN" altLang="en-US" i="1"/>
                          <m:t>𝑎𝑧</m:t>
                        </m:r>
                        <m:r>
                          <a:rPr lang="en-US" altLang="zh-CN"/>
                          <m:t>+</m:t>
                        </m:r>
                        <m:r>
                          <a:rPr lang="zh-CN" altLang="en-US" i="1"/>
                          <m:t>𝑏</m:t>
                        </m:r>
                      </m:e>
                    </m:d>
                  </m:oMath>
                </a14:m>
                <a:r>
                  <a:rPr lang="zh-CN" altLang="en-US" dirty="0"/>
                  <a:t>可能有多个交点，也可能导致迭代震荡。</a:t>
                </a:r>
                <a:endParaRPr lang="en-US" altLang="zh-CN" dirty="0"/>
              </a:p>
              <a:p>
                <a:pPr lvl="1">
                  <a:buFont typeface="Wingdings" panose="05000000000000000000" pitchFamily="2" charset="2"/>
                  <a:buChar char="Ø"/>
                </a:pPr>
                <a:endParaRPr lang="zh-CN" altLang="en-US" dirty="0"/>
              </a:p>
              <a:p>
                <a:pPr marL="0" indent="0">
                  <a:buNone/>
                </a:pPr>
                <a:r>
                  <a:rPr lang="zh-CN" altLang="en-US" dirty="0"/>
                  <a:t>不动点不是单纯由方程形式保证的，而是由映射的性质保证的。</a:t>
                </a:r>
                <a:r>
                  <a:rPr lang="en-US" altLang="zh-CN" dirty="0"/>
                  <a:t>Banach </a:t>
                </a:r>
                <a:r>
                  <a:rPr lang="zh-CN" altLang="en-US" dirty="0"/>
                  <a:t>不动点定理要求映射是压缩映射：</a:t>
                </a:r>
                <a14:m>
                  <m:oMath xmlns:m="http://schemas.openxmlformats.org/officeDocument/2006/math">
                    <m:r>
                      <a:rPr lang="zh-CN" altLang="en-US"/>
                      <m:t>∥</m:t>
                    </m:r>
                    <m:r>
                      <a:rPr lang="zh-CN" altLang="en-US" i="1"/>
                      <m:t>𝑓</m:t>
                    </m:r>
                    <m:d>
                      <m:dPr>
                        <m:ctrlPr>
                          <a:rPr lang="zh-CN" altLang="en-US" i="1"/>
                        </m:ctrlPr>
                      </m:dPr>
                      <m:e>
                        <m:r>
                          <a:rPr lang="zh-CN" altLang="en-US" i="1"/>
                          <m:t>𝑧</m:t>
                        </m:r>
                      </m:e>
                    </m:d>
                    <m:r>
                      <a:rPr lang="zh-CN" altLang="en-US"/>
                      <m:t>−</m:t>
                    </m:r>
                    <m:r>
                      <a:rPr lang="zh-CN" altLang="en-US" i="1"/>
                      <m:t>𝑓</m:t>
                    </m:r>
                    <m:d>
                      <m:dPr>
                        <m:ctrlPr>
                          <a:rPr lang="zh-CN" altLang="en-US" i="1"/>
                        </m:ctrlPr>
                      </m:dPr>
                      <m:e>
                        <m:r>
                          <a:rPr lang="zh-CN" altLang="en-US" i="1"/>
                          <m:t>𝑦</m:t>
                        </m:r>
                      </m:e>
                    </m:d>
                    <m:r>
                      <a:rPr lang="zh-CN" altLang="en-US"/>
                      <m:t>∥≤</m:t>
                    </m:r>
                    <m:r>
                      <a:rPr lang="zh-CN" altLang="en-US" i="1"/>
                      <m:t>𝑞</m:t>
                    </m:r>
                    <m:r>
                      <a:rPr lang="zh-CN" altLang="en-US"/>
                      <m:t>∥</m:t>
                    </m:r>
                    <m:r>
                      <a:rPr lang="zh-CN" altLang="en-US" i="1"/>
                      <m:t>𝑧</m:t>
                    </m:r>
                    <m:r>
                      <a:rPr lang="zh-CN" altLang="en-US"/>
                      <m:t>−</m:t>
                    </m:r>
                    <m:r>
                      <a:rPr lang="zh-CN" altLang="en-US" i="1"/>
                      <m:t>𝑦</m:t>
                    </m:r>
                    <m:r>
                      <a:rPr lang="zh-CN" altLang="en-US"/>
                      <m:t>∥</m:t>
                    </m:r>
                    <m:r>
                      <a:rPr lang="en-US" altLang="zh-CN"/>
                      <m:t>, </m:t>
                    </m:r>
                    <m:r>
                      <a:rPr lang="zh-CN" altLang="en-US" i="1"/>
                      <m:t>𝑞</m:t>
                    </m:r>
                    <m:r>
                      <a:rPr lang="en-US" altLang="zh-CN"/>
                      <m:t>&lt;</m:t>
                    </m:r>
                    <m:r>
                      <a:rPr lang="en-US" altLang="zh-CN"/>
                      <m:t>1</m:t>
                    </m:r>
                    <m:r>
                      <a:rPr lang="en-US" altLang="zh-CN"/>
                      <m:t>.</m:t>
                    </m:r>
                  </m:oMath>
                </a14:m>
                <a:r>
                  <a:rPr lang="zh-CN" altLang="en-US" dirty="0"/>
                  <a:t> 但一般神经网络并不会自动满足这个条件。</a:t>
                </a:r>
              </a:p>
              <a:p>
                <a:pPr marL="0" indent="0">
                  <a:buNone/>
                </a:pPr>
                <a:endParaRPr lang="en-US" altLang="zh-CN" dirty="0"/>
              </a:p>
              <a:p>
                <a:pPr marL="0" indent="0">
                  <a:buNone/>
                </a:pPr>
                <a:r>
                  <a:rPr lang="zh-CN" altLang="en-US" dirty="0"/>
                  <a:t>所以普通 </a:t>
                </a:r>
                <a:r>
                  <a:rPr lang="en-US" altLang="zh-CN" dirty="0"/>
                  <a:t>DEQ </a:t>
                </a:r>
                <a:r>
                  <a:rPr lang="zh-CN" altLang="en-US" dirty="0"/>
                  <a:t>的困难是：方程写出来了，但数学上未必保证它有唯一解；即使有解，数值算法也未必稳定找到它。</a:t>
                </a:r>
              </a:p>
            </p:txBody>
          </p:sp>
        </mc:Choice>
        <mc:Fallback>
          <p:sp>
            <p:nvSpPr>
              <p:cNvPr id="12" name="コンテンツ プレースホルダー 2">
                <a:extLst>
                  <a:ext uri="{FF2B5EF4-FFF2-40B4-BE49-F238E27FC236}">
                    <a16:creationId xmlns:a16="http://schemas.microsoft.com/office/drawing/2014/main" id="{0975843E-E22D-61B8-EA6B-2C91696A6967}"/>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r="-57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380521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92ABD-762D-07A2-A5D2-9CE4646CCB0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26DBAAF-10B3-318B-29CA-E1E682E3BF06}"/>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F83651A9-750C-85C3-9731-D3299200F97B}"/>
                  </a:ext>
                </a:extLst>
              </p:cNvPr>
              <p:cNvSpPr>
                <a:spLocks noGrp="1"/>
              </p:cNvSpPr>
              <p:nvPr>
                <p:ph idx="1"/>
              </p:nvPr>
            </p:nvSpPr>
            <p:spPr>
              <a:xfrm>
                <a:off x="508000" y="1112520"/>
                <a:ext cx="11582400" cy="5440680"/>
              </a:xfrm>
            </p:spPr>
            <p:txBody>
              <a:bodyPr/>
              <a:lstStyle/>
              <a:p>
                <a:pPr marL="0" indent="0">
                  <a:buNone/>
                </a:pPr>
                <a:r>
                  <a:rPr lang="en-US" altLang="zh-CN" dirty="0" err="1"/>
                  <a:t>monDEQ</a:t>
                </a:r>
                <a:r>
                  <a:rPr lang="en-US" altLang="zh-CN" dirty="0"/>
                  <a:t> </a:t>
                </a:r>
                <a:r>
                  <a:rPr lang="zh-CN" altLang="en-US" dirty="0"/>
                  <a:t>不再把 </a:t>
                </a:r>
                <a14:m>
                  <m:oMath xmlns:m="http://schemas.openxmlformats.org/officeDocument/2006/math">
                    <m:sSub>
                      <m:sSubPr>
                        <m:ctrlPr>
                          <a:rPr lang="zh-CN" altLang="en-US"/>
                        </m:ctrlPr>
                      </m:sSubPr>
                      <m:e>
                        <m:r>
                          <a:rPr lang="zh-CN" altLang="en-US" i="1"/>
                          <m:t>𝑓</m:t>
                        </m:r>
                      </m:e>
                      <m:sub>
                        <m:r>
                          <a:rPr lang="zh-CN" altLang="en-US" i="1"/>
                          <m:t>𝜃</m:t>
                        </m:r>
                      </m:sub>
                    </m:sSub>
                  </m:oMath>
                </a14:m>
                <a:r>
                  <a:rPr lang="zh-CN" altLang="en-US" dirty="0"/>
                  <a:t>当成任意非线性映射，而是把隐式层设计成具有</a:t>
                </a:r>
                <a:r>
                  <a:rPr lang="zh-CN" altLang="en-US" b="1" dirty="0">
                    <a:solidFill>
                      <a:srgbClr val="7030A0"/>
                    </a:solidFill>
                  </a:rPr>
                  <a:t>单调算子结构</a:t>
                </a:r>
                <a:r>
                  <a:rPr lang="zh-CN" altLang="en-US" dirty="0"/>
                  <a:t>的方程。</a:t>
                </a:r>
              </a:p>
              <a:p>
                <a:pPr marL="0" indent="0">
                  <a:buNone/>
                </a:pPr>
                <a:r>
                  <a:rPr lang="zh-CN" altLang="en-US" dirty="0"/>
                  <a:t>典型形式可以写成：</a:t>
                </a:r>
              </a:p>
              <a:p>
                <a:pPr marL="0" indent="0">
                  <a:buNone/>
                </a:pPr>
                <a14:m>
                  <m:oMathPara xmlns:m="http://schemas.openxmlformats.org/officeDocument/2006/math">
                    <m:oMathParaPr>
                      <m:jc m:val="centerGroup"/>
                    </m:oMathParaPr>
                    <m:oMath xmlns:m="http://schemas.openxmlformats.org/officeDocument/2006/math">
                      <m:sSup>
                        <m:sSupPr>
                          <m:ctrlPr>
                            <a:rPr lang="zh-CN" altLang="en-US"/>
                          </m:ctrlPr>
                        </m:sSupPr>
                        <m:e>
                          <m:r>
                            <a:rPr lang="zh-CN" altLang="en-US" i="1"/>
                            <m:t>𝑧</m:t>
                          </m:r>
                        </m:e>
                        <m:sup>
                          <m:r>
                            <a:rPr lang="zh-CN" altLang="en-US"/>
                            <m:t>∗</m:t>
                          </m:r>
                        </m:sup>
                      </m:sSup>
                      <m:r>
                        <a:rPr lang="en-US" altLang="zh-CN"/>
                        <m:t>=</m:t>
                      </m:r>
                      <m:r>
                        <a:rPr lang="zh-CN" altLang="en-US" i="1"/>
                        <m:t>𝜎</m:t>
                      </m:r>
                      <m:d>
                        <m:dPr>
                          <m:ctrlPr>
                            <a:rPr lang="zh-CN" altLang="en-US" i="1"/>
                          </m:ctrlPr>
                        </m:dPr>
                        <m:e>
                          <m:r>
                            <a:rPr lang="zh-CN" altLang="en-US" i="1"/>
                            <m:t>𝑊</m:t>
                          </m:r>
                          <m:sSup>
                            <m:sSupPr>
                              <m:ctrlPr>
                                <a:rPr lang="zh-CN" altLang="en-US" i="1"/>
                              </m:ctrlPr>
                            </m:sSupPr>
                            <m:e>
                              <m:r>
                                <a:rPr lang="zh-CN" altLang="en-US" i="1"/>
                                <m:t>𝑧</m:t>
                              </m:r>
                            </m:e>
                            <m:sup>
                              <m:r>
                                <a:rPr lang="zh-CN" altLang="en-US"/>
                                <m:t>∗</m:t>
                              </m:r>
                            </m:sup>
                          </m:sSup>
                          <m:r>
                            <a:rPr lang="en-US" altLang="zh-CN"/>
                            <m:t>+</m:t>
                          </m:r>
                          <m:r>
                            <a:rPr lang="zh-CN" altLang="en-US" i="1"/>
                            <m:t>𝑈𝑥</m:t>
                          </m:r>
                          <m:r>
                            <a:rPr lang="en-US" altLang="zh-CN"/>
                            <m:t>+</m:t>
                          </m:r>
                          <m:r>
                            <a:rPr lang="zh-CN" altLang="en-US" i="1"/>
                            <m:t>𝑏</m:t>
                          </m:r>
                        </m:e>
                      </m:d>
                      <m:r>
                        <a:rPr lang="en-US" altLang="zh-CN"/>
                        <m:t>.</m:t>
                      </m:r>
                    </m:oMath>
                  </m:oMathPara>
                </a14:m>
                <a:endParaRPr lang="zh-CN" altLang="en-US" dirty="0"/>
              </a:p>
              <a:p>
                <a:pPr marL="0" indent="0">
                  <a:buNone/>
                </a:pPr>
                <a:endParaRPr lang="en-US" altLang="zh-CN" dirty="0"/>
              </a:p>
              <a:p>
                <a:pPr marL="0" indent="0">
                  <a:buNone/>
                </a:pPr>
                <a:r>
                  <a:rPr lang="zh-CN" altLang="en-US" dirty="0"/>
                  <a:t>其中：</a:t>
                </a:r>
              </a:p>
              <a:p>
                <a:pPr lvl="1">
                  <a:buClr>
                    <a:srgbClr val="C00000"/>
                  </a:buClr>
                  <a:buFont typeface="Wingdings" panose="05000000000000000000" pitchFamily="2" charset="2"/>
                  <a:buChar char="Ø"/>
                </a:pP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𝑧</m:t>
                        </m:r>
                      </m:e>
                      <m:sup>
                        <m:r>
                          <a:rPr lang="zh-CN" altLang="en-US">
                            <a:latin typeface="Cambria Math" panose="02040503050406030204" pitchFamily="18" charset="0"/>
                          </a:rPr>
                          <m:t>∗</m:t>
                        </m:r>
                      </m:sup>
                    </m:sSup>
                  </m:oMath>
                </a14:m>
                <a:r>
                  <a:rPr lang="zh-CN" altLang="en-US" dirty="0"/>
                  <a:t>是平衡隐藏状态； </a:t>
                </a:r>
              </a:p>
              <a:p>
                <a:pPr lvl="1">
                  <a:buClr>
                    <a:srgbClr val="C00000"/>
                  </a:buClr>
                  <a:buFont typeface="Wingdings" panose="05000000000000000000" pitchFamily="2" charset="2"/>
                  <a:buChar char="Ø"/>
                </a:pPr>
                <a14:m>
                  <m:oMath xmlns:m="http://schemas.openxmlformats.org/officeDocument/2006/math">
                    <m:r>
                      <a:rPr lang="zh-CN" altLang="en-US" i="1"/>
                      <m:t>𝑥</m:t>
                    </m:r>
                  </m:oMath>
                </a14:m>
                <a:r>
                  <a:rPr lang="zh-CN" altLang="en-US" dirty="0"/>
                  <a:t>是输入； </a:t>
                </a:r>
              </a:p>
              <a:p>
                <a:pPr lvl="1">
                  <a:buClr>
                    <a:srgbClr val="C00000"/>
                  </a:buClr>
                  <a:buFont typeface="Wingdings" panose="05000000000000000000" pitchFamily="2" charset="2"/>
                  <a:buChar char="Ø"/>
                </a:pPr>
                <a14:m>
                  <m:oMath xmlns:m="http://schemas.openxmlformats.org/officeDocument/2006/math">
                    <m:r>
                      <a:rPr lang="zh-CN" altLang="en-US" i="1"/>
                      <m:t>𝑊</m:t>
                    </m:r>
                  </m:oMath>
                </a14:m>
                <a:r>
                  <a:rPr lang="zh-CN" altLang="en-US" dirty="0"/>
                  <a:t>是隐藏状态之间的线性作用； </a:t>
                </a:r>
              </a:p>
              <a:p>
                <a:pPr lvl="1">
                  <a:buClr>
                    <a:srgbClr val="C00000"/>
                  </a:buClr>
                  <a:buFont typeface="Wingdings" panose="05000000000000000000" pitchFamily="2" charset="2"/>
                  <a:buChar char="Ø"/>
                </a:pPr>
                <a14:m>
                  <m:oMath xmlns:m="http://schemas.openxmlformats.org/officeDocument/2006/math">
                    <m:r>
                      <a:rPr lang="zh-CN" altLang="en-US" i="1"/>
                      <m:t>𝑈</m:t>
                    </m:r>
                  </m:oMath>
                </a14:m>
                <a:r>
                  <a:rPr lang="zh-CN" altLang="en-US" dirty="0"/>
                  <a:t>是输入注入矩阵； </a:t>
                </a:r>
              </a:p>
              <a:p>
                <a:pPr lvl="1">
                  <a:buClr>
                    <a:srgbClr val="C00000"/>
                  </a:buClr>
                  <a:buFont typeface="Wingdings" panose="05000000000000000000" pitchFamily="2" charset="2"/>
                  <a:buChar char="Ø"/>
                </a:pPr>
                <a14:m>
                  <m:oMath xmlns:m="http://schemas.openxmlformats.org/officeDocument/2006/math">
                    <m:r>
                      <a:rPr lang="zh-CN" altLang="en-US" i="1"/>
                      <m:t>𝑏</m:t>
                    </m:r>
                  </m:oMath>
                </a14:m>
                <a:r>
                  <a:rPr lang="zh-CN" altLang="en-US" dirty="0"/>
                  <a:t>是偏置； </a:t>
                </a:r>
              </a:p>
              <a:p>
                <a:pPr lvl="1">
                  <a:buClr>
                    <a:srgbClr val="C00000"/>
                  </a:buClr>
                  <a:buFont typeface="Wingdings" panose="05000000000000000000" pitchFamily="2" charset="2"/>
                  <a:buChar char="Ø"/>
                </a:pPr>
                <a14:m>
                  <m:oMath xmlns:m="http://schemas.openxmlformats.org/officeDocument/2006/math">
                    <m:r>
                      <a:rPr lang="zh-CN" altLang="en-US" i="1"/>
                      <m:t>𝜎</m:t>
                    </m:r>
                  </m:oMath>
                </a14:m>
                <a:r>
                  <a:rPr lang="zh-CN" altLang="en-US" dirty="0"/>
                  <a:t>是非线性激活函数。 </a:t>
                </a:r>
                <a:endParaRPr lang="en-US" altLang="zh-CN" dirty="0"/>
              </a:p>
              <a:p>
                <a:pPr>
                  <a:buFont typeface="Wingdings" panose="05000000000000000000" pitchFamily="2" charset="2"/>
                  <a:buChar char="Ø"/>
                </a:pPr>
                <a:endParaRPr lang="zh-CN" altLang="en-US" dirty="0"/>
              </a:p>
              <a:p>
                <a:pPr marL="0" indent="0">
                  <a:buNone/>
                </a:pPr>
                <a:r>
                  <a:rPr lang="zh-CN" altLang="en-US" dirty="0"/>
                  <a:t>普通 </a:t>
                </a:r>
                <a:r>
                  <a:rPr lang="en-US" altLang="zh-CN" dirty="0"/>
                  <a:t>DEQ </a:t>
                </a:r>
                <a:r>
                  <a:rPr lang="zh-CN" altLang="en-US" dirty="0"/>
                  <a:t>也可以有类似形式，但 </a:t>
                </a:r>
                <a:r>
                  <a:rPr lang="en-US" altLang="zh-CN" dirty="0" err="1"/>
                  <a:t>monDEQ</a:t>
                </a:r>
                <a:r>
                  <a:rPr lang="en-US" altLang="zh-CN" dirty="0"/>
                  <a:t> </a:t>
                </a:r>
                <a:r>
                  <a:rPr lang="zh-CN" altLang="en-US" dirty="0"/>
                  <a:t>的关键在于：它对 </a:t>
                </a:r>
                <a14:m>
                  <m:oMath xmlns:m="http://schemas.openxmlformats.org/officeDocument/2006/math">
                    <m:r>
                      <a:rPr lang="zh-CN" altLang="en-US" i="1"/>
                      <m:t>𝑊</m:t>
                    </m:r>
                  </m:oMath>
                </a14:m>
                <a:r>
                  <a:rPr lang="zh-CN" altLang="en-US" dirty="0"/>
                  <a:t>和 </a:t>
                </a:r>
                <a14:m>
                  <m:oMath xmlns:m="http://schemas.openxmlformats.org/officeDocument/2006/math">
                    <m:r>
                      <a:rPr lang="zh-CN" altLang="en-US" i="1"/>
                      <m:t>𝜎</m:t>
                    </m:r>
                  </m:oMath>
                </a14:m>
                <a:r>
                  <a:rPr lang="zh-CN" altLang="en-US" dirty="0"/>
                  <a:t>施加特殊结构，使这个方程可以转化为一个</a:t>
                </a:r>
                <a:r>
                  <a:rPr lang="zh-CN" altLang="en-US" b="1" dirty="0">
                    <a:solidFill>
                      <a:srgbClr val="7030A0"/>
                    </a:solidFill>
                  </a:rPr>
                  <a:t>单调算子零点问题</a:t>
                </a:r>
                <a:r>
                  <a:rPr lang="zh-CN" altLang="en-US" dirty="0"/>
                  <a:t>。</a:t>
                </a:r>
              </a:p>
            </p:txBody>
          </p:sp>
        </mc:Choice>
        <mc:Fallback>
          <p:sp>
            <p:nvSpPr>
              <p:cNvPr id="12" name="コンテンツ プレースホルダー 2">
                <a:extLst>
                  <a:ext uri="{FF2B5EF4-FFF2-40B4-BE49-F238E27FC236}">
                    <a16:creationId xmlns:a16="http://schemas.microsoft.com/office/drawing/2014/main" id="{F83651A9-750C-85C3-9731-D3299200F97B}"/>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r="-26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55725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667C8-2EC5-96D4-4989-7875E686329F}"/>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CD0E44CA-3C3B-6392-BDED-69DFF572E02F}"/>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0AC0402-FA6A-D11B-D83B-F468920B335C}"/>
                  </a:ext>
                </a:extLst>
              </p:cNvPr>
              <p:cNvSpPr>
                <a:spLocks noGrp="1"/>
              </p:cNvSpPr>
              <p:nvPr>
                <p:ph idx="1"/>
              </p:nvPr>
            </p:nvSpPr>
            <p:spPr>
              <a:xfrm>
                <a:off x="508000" y="1112520"/>
                <a:ext cx="11582400" cy="5440680"/>
              </a:xfrm>
            </p:spPr>
            <p:txBody>
              <a:bodyPr/>
              <a:lstStyle/>
              <a:p>
                <a:pPr marL="0" indent="0">
                  <a:buNone/>
                </a:pPr>
                <a:r>
                  <a:rPr lang="zh-CN" altLang="en-US" dirty="0"/>
                  <a:t>单调算子：</a:t>
                </a:r>
                <a:endParaRPr lang="en-US" altLang="zh-CN" dirty="0"/>
              </a:p>
              <a:p>
                <a:pPr marL="0" indent="0">
                  <a:buNone/>
                </a:pPr>
                <a:endParaRPr lang="en-US" altLang="zh-CN" dirty="0"/>
              </a:p>
              <a:p>
                <a:pPr marL="0" indent="0">
                  <a:buNone/>
                </a:pPr>
                <a:r>
                  <a:rPr lang="zh-CN" altLang="en-US" dirty="0"/>
                  <a:t>在一维中，单调函数大致表示：</a:t>
                </a:r>
                <a14:m>
                  <m:oMath xmlns:m="http://schemas.openxmlformats.org/officeDocument/2006/math">
                    <m:r>
                      <a:rPr lang="zh-CN" altLang="en-US" i="1"/>
                      <m:t>𝑥</m:t>
                    </m:r>
                    <m:r>
                      <a:rPr lang="en-US" altLang="zh-CN"/>
                      <m:t>&lt;</m:t>
                    </m:r>
                    <m:r>
                      <a:rPr lang="zh-CN" altLang="en-US" i="1"/>
                      <m:t>𝑦</m:t>
                    </m:r>
                    <m:r>
                      <a:rPr lang="zh-CN" altLang="en-US"/>
                      <m:t>⇒</m:t>
                    </m:r>
                    <m:r>
                      <a:rPr lang="zh-CN" altLang="en-US" i="1"/>
                      <m:t>𝑓</m:t>
                    </m:r>
                    <m:d>
                      <m:dPr>
                        <m:ctrlPr>
                          <a:rPr lang="zh-CN" altLang="en-US" i="1"/>
                        </m:ctrlPr>
                      </m:dPr>
                      <m:e>
                        <m:r>
                          <a:rPr lang="zh-CN" altLang="en-US" i="1"/>
                          <m:t>𝑥</m:t>
                        </m:r>
                      </m:e>
                    </m:d>
                    <m:r>
                      <a:rPr lang="zh-CN" altLang="en-US"/>
                      <m:t>≤</m:t>
                    </m:r>
                    <m:r>
                      <a:rPr lang="zh-CN" altLang="en-US" i="1"/>
                      <m:t>𝑓</m:t>
                    </m:r>
                    <m:d>
                      <m:dPr>
                        <m:ctrlPr>
                          <a:rPr lang="zh-CN" altLang="en-US" i="1"/>
                        </m:ctrlPr>
                      </m:dPr>
                      <m:e>
                        <m:r>
                          <a:rPr lang="zh-CN" altLang="en-US" i="1"/>
                          <m:t>𝑦</m:t>
                        </m:r>
                      </m:e>
                    </m:d>
                    <m:r>
                      <a:rPr lang="en-US" altLang="zh-CN"/>
                      <m:t>.</m:t>
                    </m:r>
                  </m:oMath>
                </a14:m>
                <a:endParaRPr lang="zh-CN" altLang="en-US" dirty="0"/>
              </a:p>
              <a:p>
                <a:pPr marL="0" indent="0">
                  <a:buNone/>
                </a:pPr>
                <a:endParaRPr lang="en-US" altLang="zh-CN" dirty="0"/>
              </a:p>
              <a:p>
                <a:pPr marL="0" indent="0">
                  <a:buNone/>
                </a:pPr>
                <a:r>
                  <a:rPr lang="zh-CN" altLang="en-US" dirty="0"/>
                  <a:t>在高维空间中，算子 </a:t>
                </a:r>
                <a14:m>
                  <m:oMath xmlns:m="http://schemas.openxmlformats.org/officeDocument/2006/math">
                    <m:r>
                      <a:rPr lang="zh-CN" altLang="en-US" i="1"/>
                      <m:t>𝐴</m:t>
                    </m:r>
                  </m:oMath>
                </a14:m>
                <a:r>
                  <a:rPr lang="zh-CN" altLang="en-US" dirty="0"/>
                  <a:t>的单调性定义为：</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𝐴</m:t>
                          </m:r>
                          <m:d>
                            <m:dPr>
                              <m:ctrlPr>
                                <a:rPr lang="zh-CN" altLang="en-US" i="1">
                                  <a:latin typeface="Cambria Math" panose="02040503050406030204" pitchFamily="18" charset="0"/>
                                </a:rPr>
                              </m:ctrlPr>
                            </m:dPr>
                            <m:e>
                              <m:r>
                                <a:rPr lang="zh-CN" altLang="en-US" i="1">
                                  <a:latin typeface="Cambria Math" panose="02040503050406030204" pitchFamily="18" charset="0"/>
                                </a:rPr>
                                <m:t>𝑧</m:t>
                              </m:r>
                            </m:e>
                          </m:d>
                          <m:r>
                            <a:rPr lang="en-US" altLang="zh-CN" i="1">
                              <a:latin typeface="Cambria Math" panose="02040503050406030204" pitchFamily="18" charset="0"/>
                            </a:rPr>
                            <m:t>−</m:t>
                          </m:r>
                          <m:r>
                            <a:rPr lang="zh-CN" altLang="en-US" i="1">
                              <a:latin typeface="Cambria Math" panose="02040503050406030204" pitchFamily="18" charset="0"/>
                            </a:rPr>
                            <m:t>𝐴</m:t>
                          </m:r>
                          <m:d>
                            <m:dPr>
                              <m:ctrlPr>
                                <a:rPr lang="zh-CN" altLang="en-US" i="1">
                                  <a:latin typeface="Cambria Math" panose="02040503050406030204" pitchFamily="18" charset="0"/>
                                </a:rPr>
                              </m:ctrlPr>
                            </m:dPr>
                            <m:e>
                              <m:r>
                                <a:rPr lang="zh-CN" altLang="en-US" i="1">
                                  <a:latin typeface="Cambria Math" panose="02040503050406030204" pitchFamily="18" charset="0"/>
                                </a:rPr>
                                <m:t>𝑦</m:t>
                              </m:r>
                            </m:e>
                          </m:d>
                          <m:r>
                            <a:rPr lang="en-US" altLang="zh-CN" i="1">
                              <a:latin typeface="Cambria Math" panose="02040503050406030204" pitchFamily="18" charset="0"/>
                            </a:rPr>
                            <m:t>,</m:t>
                          </m:r>
                          <m:r>
                            <a:rPr lang="zh-CN" altLang="en-US" i="1">
                              <a:latin typeface="Cambria Math" panose="02040503050406030204" pitchFamily="18" charset="0"/>
                            </a:rPr>
                            <m:t>𝑧</m:t>
                          </m:r>
                          <m:r>
                            <a:rPr lang="zh-CN" altLang="en-US">
                              <a:latin typeface="Cambria Math" panose="02040503050406030204" pitchFamily="18" charset="0"/>
                            </a:rPr>
                            <m:t>−</m:t>
                          </m:r>
                          <m:r>
                            <a:rPr lang="zh-CN" altLang="en-US" i="1">
                              <a:latin typeface="Cambria Math" panose="02040503050406030204" pitchFamily="18" charset="0"/>
                            </a:rPr>
                            <m:t>𝑦</m:t>
                          </m:r>
                        </m:e>
                      </m:d>
                      <m:r>
                        <a:rPr lang="zh-CN" altLang="en-US"/>
                        <m:t>≥</m:t>
                      </m:r>
                      <m:r>
                        <a:rPr lang="en-US" altLang="zh-CN"/>
                        <m:t>0</m:t>
                      </m:r>
                      <m:r>
                        <a:rPr lang="en-US" altLang="zh-CN"/>
                        <m:t>.</m:t>
                      </m:r>
                    </m:oMath>
                  </m:oMathPara>
                </a14:m>
                <a:endParaRPr lang="en-US" altLang="zh-CN" dirty="0"/>
              </a:p>
              <a:p>
                <a:pPr marL="0" indent="0">
                  <a:buNone/>
                </a:pPr>
                <a:endParaRPr lang="zh-CN" altLang="en-US" dirty="0"/>
              </a:p>
              <a:p>
                <a:r>
                  <a:rPr lang="zh-CN" altLang="en-US" dirty="0"/>
                  <a:t>如果存在 </a:t>
                </a:r>
                <a14:m>
                  <m:oMath xmlns:m="http://schemas.openxmlformats.org/officeDocument/2006/math">
                    <m:r>
                      <a:rPr lang="zh-CN" altLang="en-US" i="1"/>
                      <m:t>𝑚</m:t>
                    </m:r>
                    <m:r>
                      <a:rPr lang="en-US" altLang="zh-CN"/>
                      <m:t>&gt;</m:t>
                    </m:r>
                    <m:r>
                      <a:rPr lang="en-US" altLang="zh-CN"/>
                      <m:t>0</m:t>
                    </m:r>
                  </m:oMath>
                </a14:m>
                <a:r>
                  <a:rPr lang="zh-CN" altLang="en-US" dirty="0"/>
                  <a:t>，使得</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rPr>
                          </m:ctrlPr>
                        </m:dPr>
                        <m:e>
                          <m:r>
                            <a:rPr lang="zh-CN" altLang="en-US" i="1">
                              <a:latin typeface="Cambria Math" panose="02040503050406030204" pitchFamily="18" charset="0"/>
                            </a:rPr>
                            <m:t>𝐴</m:t>
                          </m:r>
                          <m:d>
                            <m:dPr>
                              <m:ctrlPr>
                                <a:rPr lang="zh-CN" altLang="en-US" i="1">
                                  <a:latin typeface="Cambria Math" panose="02040503050406030204" pitchFamily="18" charset="0"/>
                                </a:rPr>
                              </m:ctrlPr>
                            </m:dPr>
                            <m:e>
                              <m:r>
                                <a:rPr lang="zh-CN" altLang="en-US" i="1">
                                  <a:latin typeface="Cambria Math" panose="02040503050406030204" pitchFamily="18" charset="0"/>
                                </a:rPr>
                                <m:t>𝑧</m:t>
                              </m:r>
                            </m:e>
                          </m:d>
                          <m:r>
                            <a:rPr lang="en-US" altLang="zh-CN" i="1">
                              <a:latin typeface="Cambria Math" panose="02040503050406030204" pitchFamily="18" charset="0"/>
                            </a:rPr>
                            <m:t>−</m:t>
                          </m:r>
                          <m:r>
                            <a:rPr lang="zh-CN" altLang="en-US" i="1">
                              <a:latin typeface="Cambria Math" panose="02040503050406030204" pitchFamily="18" charset="0"/>
                            </a:rPr>
                            <m:t>𝐴</m:t>
                          </m:r>
                          <m:d>
                            <m:dPr>
                              <m:ctrlPr>
                                <a:rPr lang="zh-CN" altLang="en-US" i="1">
                                  <a:latin typeface="Cambria Math" panose="02040503050406030204" pitchFamily="18" charset="0"/>
                                </a:rPr>
                              </m:ctrlPr>
                            </m:dPr>
                            <m:e>
                              <m:r>
                                <a:rPr lang="zh-CN" altLang="en-US" i="1">
                                  <a:latin typeface="Cambria Math" panose="02040503050406030204" pitchFamily="18" charset="0"/>
                                </a:rPr>
                                <m:t>𝑦</m:t>
                              </m:r>
                            </m:e>
                          </m:d>
                          <m:r>
                            <a:rPr lang="en-US" altLang="zh-CN" i="1">
                              <a:latin typeface="Cambria Math" panose="02040503050406030204" pitchFamily="18" charset="0"/>
                            </a:rPr>
                            <m:t>,</m:t>
                          </m:r>
                          <m:r>
                            <a:rPr lang="zh-CN" altLang="en-US" i="1">
                              <a:latin typeface="Cambria Math" panose="02040503050406030204" pitchFamily="18" charset="0"/>
                            </a:rPr>
                            <m:t>𝑧</m:t>
                          </m:r>
                          <m:r>
                            <a:rPr lang="zh-CN" altLang="en-US">
                              <a:latin typeface="Cambria Math" panose="02040503050406030204" pitchFamily="18" charset="0"/>
                            </a:rPr>
                            <m:t>−</m:t>
                          </m:r>
                          <m:r>
                            <a:rPr lang="zh-CN" altLang="en-US" i="1">
                              <a:latin typeface="Cambria Math" panose="02040503050406030204" pitchFamily="18" charset="0"/>
                            </a:rPr>
                            <m:t>𝑦</m:t>
                          </m:r>
                        </m:e>
                      </m:d>
                      <m:r>
                        <a:rPr lang="zh-CN" altLang="en-US">
                          <a:latin typeface="Cambria Math" panose="02040503050406030204" pitchFamily="18" charset="0"/>
                        </a:rPr>
                        <m:t>≥</m:t>
                      </m:r>
                      <m:r>
                        <a:rPr lang="zh-CN" altLang="en-US" i="1"/>
                        <m:t>𝑚</m:t>
                      </m:r>
                      <m:r>
                        <a:rPr lang="zh-CN" altLang="en-US"/>
                        <m:t>∥</m:t>
                      </m:r>
                      <m:r>
                        <a:rPr lang="zh-CN" altLang="en-US" i="1"/>
                        <m:t>𝑧</m:t>
                      </m:r>
                      <m:r>
                        <a:rPr lang="zh-CN" altLang="en-US"/>
                        <m:t>−</m:t>
                      </m:r>
                      <m:r>
                        <a:rPr lang="zh-CN" altLang="en-US" i="1"/>
                        <m:t>𝑦</m:t>
                      </m:r>
                      <m:sSup>
                        <m:sSupPr>
                          <m:ctrlPr>
                            <a:rPr lang="zh-CN" altLang="en-US" i="1"/>
                          </m:ctrlPr>
                        </m:sSupPr>
                        <m:e>
                          <m:r>
                            <a:rPr lang="zh-CN" altLang="en-US"/>
                            <m:t>∥</m:t>
                          </m:r>
                        </m:e>
                        <m:sup>
                          <m:r>
                            <a:rPr lang="en-US" altLang="zh-CN"/>
                            <m:t>2</m:t>
                          </m:r>
                        </m:sup>
                      </m:sSup>
                      <m:r>
                        <a:rPr lang="en-US" altLang="zh-CN"/>
                        <m:t>,</m:t>
                      </m:r>
                    </m:oMath>
                  </m:oMathPara>
                </a14:m>
                <a:endParaRPr lang="zh-CN" altLang="en-US" dirty="0"/>
              </a:p>
              <a:p>
                <a:pPr marL="0" indent="0">
                  <a:buNone/>
                </a:pPr>
                <a:r>
                  <a:rPr lang="zh-CN" altLang="en-US" dirty="0"/>
                  <a:t>则称 </a:t>
                </a:r>
                <a14:m>
                  <m:oMath xmlns:m="http://schemas.openxmlformats.org/officeDocument/2006/math">
                    <m:r>
                      <a:rPr lang="zh-CN" altLang="en-US" i="1"/>
                      <m:t>𝐴</m:t>
                    </m:r>
                  </m:oMath>
                </a14:m>
                <a:r>
                  <a:rPr lang="zh-CN" altLang="en-US" dirty="0"/>
                  <a:t>是</a:t>
                </a:r>
                <a:r>
                  <a:rPr lang="zh-CN" altLang="en-US" b="1" dirty="0"/>
                  <a:t>强单调算子</a:t>
                </a:r>
                <a:r>
                  <a:rPr lang="zh-CN" altLang="en-US" dirty="0"/>
                  <a:t>。</a:t>
                </a:r>
              </a:p>
              <a:p>
                <a:pPr marL="0" indent="0">
                  <a:buNone/>
                </a:pPr>
                <a:endParaRPr lang="en-US" altLang="zh-CN" dirty="0"/>
              </a:p>
              <a:p>
                <a:pPr marL="0" indent="0">
                  <a:buNone/>
                </a:pPr>
                <a:r>
                  <a:rPr lang="zh-CN" altLang="en-US" dirty="0"/>
                  <a:t>强单调性非常重要，因为它意味着算子具有一种“不会折回来”的稳定方向。直观上说：</a:t>
                </a:r>
              </a:p>
              <a:p>
                <a:pPr marL="0" indent="0">
                  <a:buNone/>
                </a:pPr>
                <a:r>
                  <a:rPr lang="zh-CN" altLang="en-US" dirty="0"/>
                  <a:t>单调算子不会把两个点的相对方向反转；强单调算子还会提供额外的稳定裕度。</a:t>
                </a:r>
              </a:p>
              <a:p>
                <a:r>
                  <a:rPr lang="zh-CN" altLang="en-US" dirty="0"/>
                  <a:t>这种结构可以防止多个不稳定平衡点随意出现。</a:t>
                </a:r>
              </a:p>
              <a:p>
                <a:pPr marL="0" indent="0">
                  <a:buNone/>
                </a:pPr>
                <a:endParaRPr lang="zh-CN" altLang="en-US" dirty="0"/>
              </a:p>
            </p:txBody>
          </p:sp>
        </mc:Choice>
        <mc:Fallback>
          <p:sp>
            <p:nvSpPr>
              <p:cNvPr id="12" name="コンテンツ プレースホルダー 2">
                <a:extLst>
                  <a:ext uri="{FF2B5EF4-FFF2-40B4-BE49-F238E27FC236}">
                    <a16:creationId xmlns:a16="http://schemas.microsoft.com/office/drawing/2014/main" id="{90AC0402-FA6A-D11B-D83B-F468920B335C}"/>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100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9B9A9F2E-8EF8-D95D-E83D-BF717C23982C}"/>
                  </a:ext>
                </a:extLst>
              </p:cNvPr>
              <p:cNvSpPr txBox="1"/>
              <p:nvPr/>
            </p:nvSpPr>
            <p:spPr>
              <a:xfrm>
                <a:off x="7167880" y="1294428"/>
                <a:ext cx="4729480" cy="923330"/>
              </a:xfrm>
              <a:prstGeom prst="rect">
                <a:avLst/>
              </a:prstGeom>
              <a:noFill/>
            </p:spPr>
            <p:txBody>
              <a:bodyPr wrap="square">
                <a:spAutoFit/>
              </a:bodyPr>
              <a:lstStyle/>
              <a:p>
                <a:pPr>
                  <a:buNone/>
                </a:pPr>
                <a:r>
                  <a:rPr lang="en-US" altLang="zh-CN" sz="1800" dirty="0">
                    <a:solidFill>
                      <a:srgbClr val="7030A0"/>
                    </a:solidFill>
                  </a:rPr>
                  <a:t>z−y </a:t>
                </a:r>
                <a:r>
                  <a:rPr lang="zh-CN" altLang="en-US" sz="1800" dirty="0">
                    <a:solidFill>
                      <a:srgbClr val="7030A0"/>
                    </a:solidFill>
                  </a:rPr>
                  <a:t>表示两个输入点之间的方向；</a:t>
                </a:r>
                <a14:m>
                  <m:oMath xmlns:m="http://schemas.openxmlformats.org/officeDocument/2006/math">
                    <m:r>
                      <a:rPr lang="zh-CN" altLang="en-US" sz="1800" i="1">
                        <a:solidFill>
                          <a:srgbClr val="7030A0"/>
                        </a:solidFill>
                        <a:latin typeface="Cambria Math" panose="02040503050406030204" pitchFamily="18" charset="0"/>
                      </a:rPr>
                      <m:t>𝐴</m:t>
                    </m:r>
                    <m:d>
                      <m:dPr>
                        <m:ctrlPr>
                          <a:rPr lang="zh-CN" altLang="en-US" sz="1800" i="1">
                            <a:solidFill>
                              <a:srgbClr val="7030A0"/>
                            </a:solidFill>
                            <a:latin typeface="Cambria Math" panose="02040503050406030204" pitchFamily="18" charset="0"/>
                          </a:rPr>
                        </m:ctrlPr>
                      </m:dPr>
                      <m:e>
                        <m:r>
                          <a:rPr lang="zh-CN" altLang="en-US" sz="1800" i="1">
                            <a:solidFill>
                              <a:srgbClr val="7030A0"/>
                            </a:solidFill>
                            <a:latin typeface="Cambria Math" panose="02040503050406030204" pitchFamily="18" charset="0"/>
                          </a:rPr>
                          <m:t>𝑧</m:t>
                        </m:r>
                      </m:e>
                    </m:d>
                    <m:r>
                      <a:rPr lang="zh-CN" altLang="en-US" sz="1800" i="0">
                        <a:solidFill>
                          <a:srgbClr val="7030A0"/>
                        </a:solidFill>
                        <a:latin typeface="Cambria Math" panose="02040503050406030204" pitchFamily="18" charset="0"/>
                      </a:rPr>
                      <m:t>−</m:t>
                    </m:r>
                    <m:r>
                      <a:rPr lang="zh-CN" altLang="en-US" sz="1800" i="1">
                        <a:solidFill>
                          <a:srgbClr val="7030A0"/>
                        </a:solidFill>
                        <a:latin typeface="Cambria Math" panose="02040503050406030204" pitchFamily="18" charset="0"/>
                      </a:rPr>
                      <m:t>𝐴</m:t>
                    </m:r>
                    <m:d>
                      <m:dPr>
                        <m:ctrlPr>
                          <a:rPr lang="zh-CN" altLang="en-US" sz="1800" i="1">
                            <a:solidFill>
                              <a:srgbClr val="7030A0"/>
                            </a:solidFill>
                            <a:latin typeface="Cambria Math" panose="02040503050406030204" pitchFamily="18" charset="0"/>
                          </a:rPr>
                        </m:ctrlPr>
                      </m:dPr>
                      <m:e>
                        <m:r>
                          <a:rPr lang="zh-CN" altLang="en-US" sz="1800" i="1">
                            <a:solidFill>
                              <a:srgbClr val="7030A0"/>
                            </a:solidFill>
                            <a:latin typeface="Cambria Math" panose="02040503050406030204" pitchFamily="18" charset="0"/>
                          </a:rPr>
                          <m:t>𝑦</m:t>
                        </m:r>
                      </m:e>
                    </m:d>
                  </m:oMath>
                </a14:m>
                <a:r>
                  <a:rPr lang="zh-CN" altLang="en-US" sz="1800" dirty="0">
                    <a:solidFill>
                      <a:srgbClr val="7030A0"/>
                    </a:solidFill>
                  </a:rPr>
                  <a:t>表示经过算子 </a:t>
                </a:r>
                <a14:m>
                  <m:oMath xmlns:m="http://schemas.openxmlformats.org/officeDocument/2006/math">
                    <m:r>
                      <a:rPr lang="zh-CN" altLang="en-US" sz="1800" i="1">
                        <a:solidFill>
                          <a:srgbClr val="7030A0"/>
                        </a:solidFill>
                        <a:latin typeface="Cambria Math" panose="02040503050406030204" pitchFamily="18" charset="0"/>
                      </a:rPr>
                      <m:t>𝐴</m:t>
                    </m:r>
                  </m:oMath>
                </a14:m>
                <a:r>
                  <a:rPr lang="zh-CN" altLang="en-US" sz="1800" dirty="0">
                    <a:solidFill>
                      <a:srgbClr val="7030A0"/>
                    </a:solidFill>
                  </a:rPr>
                  <a:t>作用后，输出之间的方向；</a:t>
                </a:r>
              </a:p>
              <a:p>
                <a:pPr>
                  <a:buNone/>
                </a:pPr>
                <a14:m>
                  <m:oMath xmlns:m="http://schemas.openxmlformats.org/officeDocument/2006/math">
                    <m:d>
                      <m:dPr>
                        <m:begChr m:val="⟨"/>
                        <m:endChr m:val="⟩"/>
                        <m:ctrlPr>
                          <a:rPr lang="en-US" altLang="zh-CN" sz="1800" i="1">
                            <a:solidFill>
                              <a:srgbClr val="7030A0"/>
                            </a:solidFill>
                            <a:latin typeface="Cambria Math" panose="02040503050406030204" pitchFamily="18" charset="0"/>
                          </a:rPr>
                        </m:ctrlPr>
                      </m:dPr>
                      <m:e>
                        <m:r>
                          <a:rPr lang="zh-CN" altLang="en-US" sz="1800" i="1">
                            <a:solidFill>
                              <a:srgbClr val="7030A0"/>
                            </a:solidFill>
                            <a:latin typeface="Cambria Math" panose="02040503050406030204" pitchFamily="18" charset="0"/>
                          </a:rPr>
                          <m:t>𝐴</m:t>
                        </m:r>
                        <m:d>
                          <m:dPr>
                            <m:ctrlPr>
                              <a:rPr lang="zh-CN" altLang="en-US" sz="1800" i="1">
                                <a:solidFill>
                                  <a:srgbClr val="7030A0"/>
                                </a:solidFill>
                                <a:latin typeface="Cambria Math" panose="02040503050406030204" pitchFamily="18" charset="0"/>
                              </a:rPr>
                            </m:ctrlPr>
                          </m:dPr>
                          <m:e>
                            <m:r>
                              <a:rPr lang="zh-CN" altLang="en-US" sz="1800" i="1">
                                <a:solidFill>
                                  <a:srgbClr val="7030A0"/>
                                </a:solidFill>
                                <a:latin typeface="Cambria Math" panose="02040503050406030204" pitchFamily="18" charset="0"/>
                              </a:rPr>
                              <m:t>𝑧</m:t>
                            </m:r>
                          </m:e>
                        </m:d>
                        <m:r>
                          <a:rPr lang="en-US" altLang="zh-CN" sz="1800" i="1">
                            <a:solidFill>
                              <a:srgbClr val="7030A0"/>
                            </a:solidFill>
                            <a:latin typeface="Cambria Math" panose="02040503050406030204" pitchFamily="18" charset="0"/>
                          </a:rPr>
                          <m:t>−</m:t>
                        </m:r>
                        <m:r>
                          <a:rPr lang="zh-CN" altLang="en-US" sz="1800" i="1">
                            <a:solidFill>
                              <a:srgbClr val="7030A0"/>
                            </a:solidFill>
                            <a:latin typeface="Cambria Math" panose="02040503050406030204" pitchFamily="18" charset="0"/>
                          </a:rPr>
                          <m:t>𝐴</m:t>
                        </m:r>
                        <m:d>
                          <m:dPr>
                            <m:ctrlPr>
                              <a:rPr lang="zh-CN" altLang="en-US" sz="1800" i="1">
                                <a:solidFill>
                                  <a:srgbClr val="7030A0"/>
                                </a:solidFill>
                                <a:latin typeface="Cambria Math" panose="02040503050406030204" pitchFamily="18" charset="0"/>
                              </a:rPr>
                            </m:ctrlPr>
                          </m:dPr>
                          <m:e>
                            <m:r>
                              <a:rPr lang="zh-CN" altLang="en-US" sz="1800" i="1">
                                <a:solidFill>
                                  <a:srgbClr val="7030A0"/>
                                </a:solidFill>
                                <a:latin typeface="Cambria Math" panose="02040503050406030204" pitchFamily="18" charset="0"/>
                              </a:rPr>
                              <m:t>𝑦</m:t>
                            </m:r>
                          </m:e>
                        </m:d>
                        <m:r>
                          <a:rPr lang="en-US" altLang="zh-CN" sz="1800" i="1">
                            <a:solidFill>
                              <a:srgbClr val="7030A0"/>
                            </a:solidFill>
                            <a:latin typeface="Cambria Math" panose="02040503050406030204" pitchFamily="18" charset="0"/>
                          </a:rPr>
                          <m:t>,</m:t>
                        </m:r>
                        <m:r>
                          <a:rPr lang="zh-CN" altLang="en-US" sz="1800" i="1">
                            <a:solidFill>
                              <a:srgbClr val="7030A0"/>
                            </a:solidFill>
                            <a:latin typeface="Cambria Math" panose="02040503050406030204" pitchFamily="18" charset="0"/>
                          </a:rPr>
                          <m:t>𝑧</m:t>
                        </m:r>
                        <m:r>
                          <a:rPr lang="zh-CN" altLang="en-US" sz="1800">
                            <a:solidFill>
                              <a:srgbClr val="7030A0"/>
                            </a:solidFill>
                            <a:latin typeface="Cambria Math" panose="02040503050406030204" pitchFamily="18" charset="0"/>
                          </a:rPr>
                          <m:t>−</m:t>
                        </m:r>
                        <m:r>
                          <a:rPr lang="zh-CN" altLang="en-US" sz="1800" i="1">
                            <a:solidFill>
                              <a:srgbClr val="7030A0"/>
                            </a:solidFill>
                            <a:latin typeface="Cambria Math" panose="02040503050406030204" pitchFamily="18" charset="0"/>
                          </a:rPr>
                          <m:t>𝑦</m:t>
                        </m:r>
                      </m:e>
                    </m:d>
                  </m:oMath>
                </a14:m>
                <a:r>
                  <a:rPr lang="zh-CN" altLang="en-US" sz="1800" dirty="0">
                    <a:solidFill>
                      <a:srgbClr val="7030A0"/>
                    </a:solidFill>
                  </a:rPr>
                  <a:t>表示这两个方向的内积。</a:t>
                </a:r>
              </a:p>
            </p:txBody>
          </p:sp>
        </mc:Choice>
        <mc:Fallback>
          <p:sp>
            <p:nvSpPr>
              <p:cNvPr id="3" name="テキスト ボックス 2">
                <a:extLst>
                  <a:ext uri="{FF2B5EF4-FFF2-40B4-BE49-F238E27FC236}">
                    <a16:creationId xmlns:a16="http://schemas.microsoft.com/office/drawing/2014/main" id="{9B9A9F2E-8EF8-D95D-E83D-BF717C23982C}"/>
                  </a:ext>
                </a:extLst>
              </p:cNvPr>
              <p:cNvSpPr txBox="1">
                <a:spLocks noRot="1" noChangeAspect="1" noMove="1" noResize="1" noEditPoints="1" noAdjustHandles="1" noChangeArrowheads="1" noChangeShapeType="1" noTextEdit="1"/>
              </p:cNvSpPr>
              <p:nvPr/>
            </p:nvSpPr>
            <p:spPr>
              <a:xfrm>
                <a:off x="7167880" y="1294428"/>
                <a:ext cx="4729480" cy="923330"/>
              </a:xfrm>
              <a:prstGeom prst="rect">
                <a:avLst/>
              </a:prstGeom>
              <a:blipFill>
                <a:blip r:embed="rId4"/>
                <a:stretch>
                  <a:fillRect l="-1160" t="-5263" b="-9211"/>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D26761C8-6A44-9ED3-6CB8-8B55112B4FF9}"/>
              </a:ext>
            </a:extLst>
          </p:cNvPr>
          <p:cNvSpPr txBox="1"/>
          <p:nvPr/>
        </p:nvSpPr>
        <p:spPr>
          <a:xfrm>
            <a:off x="5679440" y="4323249"/>
            <a:ext cx="5679440" cy="584775"/>
          </a:xfrm>
          <a:prstGeom prst="rect">
            <a:avLst/>
          </a:prstGeom>
          <a:noFill/>
        </p:spPr>
        <p:txBody>
          <a:bodyPr wrap="square">
            <a:spAutoFit/>
          </a:bodyPr>
          <a:lstStyle/>
          <a:p>
            <a:pPr>
              <a:buNone/>
            </a:pPr>
            <a:r>
              <a:rPr lang="zh-CN" altLang="en-US" sz="1600" dirty="0">
                <a:solidFill>
                  <a:srgbClr val="7030A0"/>
                </a:solidFill>
                <a:latin typeface="+mj-ea"/>
                <a:ea typeface="+mj-ea"/>
              </a:rPr>
              <a:t>要求不反向，还要求有一个</a:t>
            </a:r>
            <a:r>
              <a:rPr lang="zh-CN" altLang="en-US" sz="1600" b="1" dirty="0">
                <a:solidFill>
                  <a:srgbClr val="7030A0"/>
                </a:solidFill>
                <a:latin typeface="+mj-ea"/>
                <a:ea typeface="+mj-ea"/>
              </a:rPr>
              <a:t>正的下界</a:t>
            </a:r>
            <a:r>
              <a:rPr lang="zh-CN" altLang="en-US" sz="1600" dirty="0">
                <a:solidFill>
                  <a:srgbClr val="7030A0"/>
                </a:solidFill>
                <a:latin typeface="+mj-ea"/>
                <a:ea typeface="+mj-ea"/>
              </a:rPr>
              <a:t>。也就是说，两个点相距越远，算子输出的差异在原方向上的投影至少要有一定大小</a:t>
            </a:r>
          </a:p>
        </p:txBody>
      </p:sp>
    </p:spTree>
    <p:extLst>
      <p:ext uri="{BB962C8B-B14F-4D97-AF65-F5344CB8AC3E}">
        <p14:creationId xmlns:p14="http://schemas.microsoft.com/office/powerpoint/2010/main" val="1672017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D0505-D4F1-0579-0489-CEAD9A26543F}"/>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EB9BE65-A4A7-F09B-D845-97CCE2C8B874}"/>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3A462026-26B2-3FE2-CA55-0EE37593D918}"/>
                  </a:ext>
                </a:extLst>
              </p:cNvPr>
              <p:cNvSpPr>
                <a:spLocks noGrp="1"/>
              </p:cNvSpPr>
              <p:nvPr>
                <p:ph idx="1"/>
              </p:nvPr>
            </p:nvSpPr>
            <p:spPr>
              <a:xfrm>
                <a:off x="508000" y="1112520"/>
                <a:ext cx="11582400" cy="5440680"/>
              </a:xfrm>
            </p:spPr>
            <p:txBody>
              <a:bodyPr/>
              <a:lstStyle/>
              <a:p>
                <a:pPr marL="0" indent="0">
                  <a:lnSpc>
                    <a:spcPct val="120000"/>
                  </a:lnSpc>
                  <a:buNone/>
                </a:pPr>
                <a:r>
                  <a:rPr lang="en-US" altLang="ja-JP" dirty="0" err="1"/>
                  <a:t>monDEQ</a:t>
                </a:r>
                <a:r>
                  <a:rPr lang="en-US" altLang="ja-JP" dirty="0"/>
                  <a:t> </a:t>
                </a:r>
                <a:r>
                  <a:rPr lang="ja-JP" altLang="en-US" dirty="0"/>
                  <a:t>里的不动点方程是：</a:t>
                </a:r>
                <a14:m>
                  <m:oMath xmlns:m="http://schemas.openxmlformats.org/officeDocument/2006/math">
                    <m:sSup>
                      <m:sSupPr>
                        <m:ctrlPr>
                          <a:rPr lang="ar-AE" altLang="ja-JP"/>
                        </m:ctrlPr>
                      </m:sSupPr>
                      <m:e>
                        <m:r>
                          <a:rPr lang="ja-JP" altLang="ar-AE" i="1"/>
                          <m:t>𝑧</m:t>
                        </m:r>
                      </m:e>
                      <m:sup>
                        <m:r>
                          <a:rPr lang="ar-AE" altLang="ja-JP"/>
                          <m:t>∗</m:t>
                        </m:r>
                      </m:sup>
                    </m:sSup>
                    <m:r>
                      <a:rPr lang="ar-AE" altLang="ja-JP"/>
                      <m:t>=</m:t>
                    </m:r>
                    <m:r>
                      <a:rPr lang="ja-JP" altLang="ar-AE" i="1"/>
                      <m:t>𝜎</m:t>
                    </m:r>
                    <m:d>
                      <m:dPr>
                        <m:ctrlPr>
                          <a:rPr lang="ar-AE" altLang="ja-JP" i="1"/>
                        </m:ctrlPr>
                      </m:dPr>
                      <m:e>
                        <m:r>
                          <a:rPr lang="ja-JP" altLang="ar-AE" i="1"/>
                          <m:t>𝑊</m:t>
                        </m:r>
                        <m:sSup>
                          <m:sSupPr>
                            <m:ctrlPr>
                              <a:rPr lang="ar-AE" altLang="ja-JP" i="1"/>
                            </m:ctrlPr>
                          </m:sSupPr>
                          <m:e>
                            <m:r>
                              <a:rPr lang="ja-JP" altLang="ar-AE" i="1"/>
                              <m:t>𝑧</m:t>
                            </m:r>
                          </m:e>
                          <m:sup>
                            <m:r>
                              <a:rPr lang="ar-AE" altLang="ja-JP"/>
                              <m:t>∗</m:t>
                            </m:r>
                          </m:sup>
                        </m:sSup>
                        <m:r>
                          <a:rPr lang="ar-AE" altLang="ja-JP"/>
                          <m:t>+</m:t>
                        </m:r>
                        <m:r>
                          <a:rPr lang="ja-JP" altLang="ar-AE" i="1"/>
                          <m:t>𝑈𝑥</m:t>
                        </m:r>
                        <m:r>
                          <a:rPr lang="ar-AE" altLang="ja-JP"/>
                          <m:t>+</m:t>
                        </m:r>
                        <m:r>
                          <a:rPr lang="ja-JP" altLang="ar-AE" i="1"/>
                          <m:t>𝑏</m:t>
                        </m:r>
                      </m:e>
                    </m:d>
                    <m:r>
                      <a:rPr lang="ar-AE" altLang="ja-JP"/>
                      <m:t>.</m:t>
                    </m:r>
                  </m:oMath>
                </a14:m>
                <a:endParaRPr lang="en-US" altLang="ja-JP" dirty="0"/>
              </a:p>
              <a:p>
                <a:pPr marL="0" indent="0">
                  <a:lnSpc>
                    <a:spcPct val="120000"/>
                  </a:lnSpc>
                  <a:buNone/>
                </a:pPr>
                <a:endParaRPr lang="ar-AE" altLang="ja-JP" dirty="0"/>
              </a:p>
              <a:p>
                <a:pPr>
                  <a:lnSpc>
                    <a:spcPct val="120000"/>
                  </a:lnSpc>
                </a:pPr>
                <a:r>
                  <a:rPr lang="ja-JP" altLang="en-US" dirty="0"/>
                  <a:t>论文中考虑把非线性 </a:t>
                </a:r>
                <a14:m>
                  <m:oMath xmlns:m="http://schemas.openxmlformats.org/officeDocument/2006/math">
                    <m:r>
                      <a:rPr lang="ja-JP" altLang="en-US" i="1"/>
                      <m:t>𝜎</m:t>
                    </m:r>
                  </m:oMath>
                </a14:m>
                <a:r>
                  <a:rPr lang="ja-JP" altLang="en-US" dirty="0"/>
                  <a:t>写成某个凸函数 </a:t>
                </a:r>
                <a14:m>
                  <m:oMath xmlns:m="http://schemas.openxmlformats.org/officeDocument/2006/math">
                    <m:r>
                      <a:rPr lang="ja-JP" altLang="en-US" i="1"/>
                      <m:t>𝑓</m:t>
                    </m:r>
                  </m:oMath>
                </a14:m>
                <a:r>
                  <a:rPr lang="ja-JP" altLang="en-US" dirty="0"/>
                  <a:t>的 </a:t>
                </a:r>
                <a:r>
                  <a:rPr lang="en-US" altLang="ja-JP" dirty="0"/>
                  <a:t>proximal operator</a:t>
                </a:r>
                <a:r>
                  <a:rPr lang="ja-JP" altLang="en-US" dirty="0"/>
                  <a:t>：</a:t>
                </a:r>
                <a14:m>
                  <m:oMath xmlns:m="http://schemas.openxmlformats.org/officeDocument/2006/math">
                    <m:r>
                      <a:rPr lang="ja-JP" altLang="en-US" i="1"/>
                      <m:t>𝜎</m:t>
                    </m:r>
                    <m:r>
                      <a:rPr lang="en-US" altLang="ja-JP"/>
                      <m:t>=</m:t>
                    </m:r>
                    <m:sSub>
                      <m:sSubPr>
                        <m:ctrlPr>
                          <a:rPr lang="ar-AE" altLang="ja-JP" i="1"/>
                        </m:ctrlPr>
                      </m:sSubPr>
                      <m:e>
                        <m:r>
                          <m:rPr>
                            <m:sty m:val="p"/>
                          </m:rPr>
                          <a:rPr lang="en-US" altLang="ja-JP"/>
                          <m:t>prox</m:t>
                        </m:r>
                      </m:e>
                      <m:sub>
                        <m:r>
                          <a:rPr lang="ja-JP" altLang="ar-AE" i="1"/>
                          <m:t>𝑓</m:t>
                        </m:r>
                      </m:sub>
                    </m:sSub>
                    <m:r>
                      <a:rPr lang="ar-AE" altLang="ja-JP"/>
                      <m:t>.</m:t>
                    </m:r>
                  </m:oMath>
                </a14:m>
                <a:endParaRPr lang="ar-AE" altLang="ja-JP" dirty="0"/>
              </a:p>
              <a:p>
                <a:pPr marL="0" indent="0">
                  <a:lnSpc>
                    <a:spcPct val="120000"/>
                  </a:lnSpc>
                  <a:buNone/>
                </a:pPr>
                <a:r>
                  <a:rPr lang="ja-JP" altLang="en-US" dirty="0"/>
                  <a:t>许多常见非线性可以和 </a:t>
                </a:r>
                <a:r>
                  <a:rPr lang="en-US" altLang="ja-JP" dirty="0"/>
                  <a:t>proximal operator </a:t>
                </a:r>
                <a:r>
                  <a:rPr lang="ja-JP" altLang="en-US" dirty="0"/>
                  <a:t>联系起来。例如论文中提到 </a:t>
                </a:r>
                <a:r>
                  <a:rPr lang="en-US" altLang="ja-JP" dirty="0" err="1"/>
                  <a:t>ReLU</a:t>
                </a:r>
                <a:r>
                  <a:rPr lang="en-US" altLang="ja-JP" dirty="0"/>
                  <a:t> </a:t>
                </a:r>
                <a:r>
                  <a:rPr lang="ja-JP" altLang="en-US" dirty="0"/>
                  <a:t>可以看成正交区域指标函数的 </a:t>
                </a:r>
                <a:r>
                  <a:rPr lang="en-US" altLang="ja-JP" dirty="0"/>
                  <a:t>proximal operator</a:t>
                </a:r>
                <a:r>
                  <a:rPr lang="ja-JP" altLang="en-US" dirty="0"/>
                  <a:t>，</a:t>
                </a:r>
                <a:r>
                  <a:rPr lang="en-US" altLang="ja-JP" dirty="0"/>
                  <a:t>tanh</a:t>
                </a:r>
                <a:r>
                  <a:rPr lang="ja-JP" altLang="en-US" dirty="0"/>
                  <a:t>、</a:t>
                </a:r>
                <a:r>
                  <a:rPr lang="en-US" altLang="ja-JP" dirty="0"/>
                  <a:t>sigmoid</a:t>
                </a:r>
                <a:r>
                  <a:rPr lang="ja-JP" altLang="en-US" dirty="0"/>
                  <a:t>、</a:t>
                </a:r>
                <a:r>
                  <a:rPr lang="en-US" altLang="ja-JP" dirty="0" err="1"/>
                  <a:t>softplus</a:t>
                </a:r>
                <a:r>
                  <a:rPr lang="en-US" altLang="ja-JP" dirty="0"/>
                  <a:t> </a:t>
                </a:r>
                <a:r>
                  <a:rPr lang="ja-JP" altLang="en-US" dirty="0"/>
                  <a:t>也和简单表达式的 </a:t>
                </a:r>
                <a:r>
                  <a:rPr lang="en-US" altLang="ja-JP" dirty="0"/>
                  <a:t>proximal operator </a:t>
                </a:r>
                <a:r>
                  <a:rPr lang="ja-JP" altLang="en-US" dirty="0"/>
                  <a:t>有密切关系。</a:t>
                </a:r>
              </a:p>
              <a:p>
                <a:pPr marL="0" indent="0">
                  <a:lnSpc>
                    <a:spcPct val="120000"/>
                  </a:lnSpc>
                  <a:buNone/>
                </a:pPr>
                <a:r>
                  <a:rPr lang="ja-JP" altLang="en-US" dirty="0"/>
                  <a:t>于是：</a:t>
                </a:r>
                <a14:m>
                  <m:oMath xmlns:m="http://schemas.openxmlformats.org/officeDocument/2006/math">
                    <m:sSup>
                      <m:sSupPr>
                        <m:ctrlPr>
                          <a:rPr lang="ar-AE" altLang="ja-JP"/>
                        </m:ctrlPr>
                      </m:sSupPr>
                      <m:e>
                        <m:r>
                          <a:rPr lang="ja-JP" altLang="ar-AE" i="1"/>
                          <m:t>𝑧</m:t>
                        </m:r>
                      </m:e>
                      <m:sup>
                        <m:r>
                          <a:rPr lang="ar-AE" altLang="ja-JP"/>
                          <m:t>∗</m:t>
                        </m:r>
                      </m:sup>
                    </m:sSup>
                    <m:r>
                      <a:rPr lang="ar-AE" altLang="ja-JP"/>
                      <m:t>=</m:t>
                    </m:r>
                    <m:sSub>
                      <m:sSubPr>
                        <m:ctrlPr>
                          <a:rPr lang="ar-AE" altLang="ja-JP" i="1"/>
                        </m:ctrlPr>
                      </m:sSubPr>
                      <m:e>
                        <m:r>
                          <m:rPr>
                            <m:sty m:val="p"/>
                          </m:rPr>
                          <a:rPr lang="en-US" altLang="ja-JP"/>
                          <m:t>prox</m:t>
                        </m:r>
                      </m:e>
                      <m:sub>
                        <m:r>
                          <a:rPr lang="ja-JP" altLang="ar-AE" i="1"/>
                          <m:t>𝑓</m:t>
                        </m:r>
                      </m:sub>
                    </m:sSub>
                    <m:d>
                      <m:dPr>
                        <m:ctrlPr>
                          <a:rPr lang="ar-AE" altLang="ja-JP" i="1"/>
                        </m:ctrlPr>
                      </m:dPr>
                      <m:e>
                        <m:r>
                          <a:rPr lang="ja-JP" altLang="ar-AE" i="1"/>
                          <m:t>𝑊</m:t>
                        </m:r>
                        <m:sSup>
                          <m:sSupPr>
                            <m:ctrlPr>
                              <a:rPr lang="ar-AE" altLang="ja-JP" i="1"/>
                            </m:ctrlPr>
                          </m:sSupPr>
                          <m:e>
                            <m:r>
                              <a:rPr lang="ja-JP" altLang="ar-AE" i="1"/>
                              <m:t>𝑧</m:t>
                            </m:r>
                          </m:e>
                          <m:sup>
                            <m:r>
                              <a:rPr lang="ar-AE" altLang="ja-JP"/>
                              <m:t>∗</m:t>
                            </m:r>
                          </m:sup>
                        </m:sSup>
                        <m:r>
                          <a:rPr lang="ar-AE" altLang="ja-JP"/>
                          <m:t>+</m:t>
                        </m:r>
                        <m:r>
                          <a:rPr lang="ja-JP" altLang="ar-AE" i="1"/>
                          <m:t>𝑈𝑥</m:t>
                        </m:r>
                        <m:r>
                          <a:rPr lang="ar-AE" altLang="ja-JP"/>
                          <m:t>+</m:t>
                        </m:r>
                        <m:r>
                          <a:rPr lang="ja-JP" altLang="ar-AE" i="1"/>
                          <m:t>𝑏</m:t>
                        </m:r>
                      </m:e>
                    </m:d>
                    <m:r>
                      <a:rPr lang="ar-AE" altLang="ja-JP"/>
                      <m:t>.</m:t>
                    </m:r>
                  </m:oMath>
                </a14:m>
                <a:endParaRPr lang="ar-AE" altLang="ja-JP" dirty="0"/>
              </a:p>
              <a:p>
                <a:pPr marL="0" indent="0">
                  <a:lnSpc>
                    <a:spcPct val="120000"/>
                  </a:lnSpc>
                  <a:buNone/>
                </a:pPr>
                <a:r>
                  <a:rPr lang="ja-JP" altLang="en-US" dirty="0"/>
                  <a:t>根据 </a:t>
                </a:r>
                <a:r>
                  <a:rPr lang="en-US" altLang="ja-JP" dirty="0"/>
                  <a:t>proximal operator </a:t>
                </a:r>
                <a:r>
                  <a:rPr lang="ja-JP" altLang="en-US" dirty="0"/>
                  <a:t>的性质，这可以等价写成：</a:t>
                </a:r>
                <a14:m>
                  <m:oMath xmlns:m="http://schemas.openxmlformats.org/officeDocument/2006/math">
                    <m:r>
                      <a:rPr lang="en-US" altLang="ja-JP"/>
                      <m:t>0</m:t>
                    </m:r>
                    <m:r>
                      <a:rPr lang="ja-JP" altLang="en-US"/>
                      <m:t>∈</m:t>
                    </m:r>
                    <m:d>
                      <m:dPr>
                        <m:ctrlPr>
                          <a:rPr lang="ar-AE" altLang="ja-JP" i="1"/>
                        </m:ctrlPr>
                      </m:dPr>
                      <m:e>
                        <m:r>
                          <a:rPr lang="ja-JP" altLang="ar-AE" i="1"/>
                          <m:t>𝐼</m:t>
                        </m:r>
                        <m:r>
                          <a:rPr lang="ar-AE" altLang="ja-JP"/>
                          <m:t>−</m:t>
                        </m:r>
                        <m:r>
                          <a:rPr lang="ja-JP" altLang="ar-AE" i="1"/>
                          <m:t>𝑊</m:t>
                        </m:r>
                      </m:e>
                    </m:d>
                    <m:sSup>
                      <m:sSupPr>
                        <m:ctrlPr>
                          <a:rPr lang="ar-AE" altLang="ja-JP" i="1"/>
                        </m:ctrlPr>
                      </m:sSupPr>
                      <m:e>
                        <m:r>
                          <a:rPr lang="ja-JP" altLang="ar-AE" i="1"/>
                          <m:t>𝑧</m:t>
                        </m:r>
                      </m:e>
                      <m:sup>
                        <m:r>
                          <a:rPr lang="ar-AE" altLang="ja-JP"/>
                          <m:t>∗</m:t>
                        </m:r>
                      </m:sup>
                    </m:sSup>
                    <m:r>
                      <a:rPr lang="ar-AE" altLang="ja-JP"/>
                      <m:t>−</m:t>
                    </m:r>
                    <m:d>
                      <m:dPr>
                        <m:ctrlPr>
                          <a:rPr lang="ar-AE" altLang="ja-JP" i="1"/>
                        </m:ctrlPr>
                      </m:dPr>
                      <m:e>
                        <m:r>
                          <a:rPr lang="ja-JP" altLang="ar-AE" i="1"/>
                          <m:t>𝑈𝑥</m:t>
                        </m:r>
                        <m:r>
                          <a:rPr lang="ar-AE" altLang="ja-JP"/>
                          <m:t>+</m:t>
                        </m:r>
                        <m:r>
                          <a:rPr lang="ja-JP" altLang="ar-AE" i="1"/>
                          <m:t>𝑏</m:t>
                        </m:r>
                      </m:e>
                    </m:d>
                    <m:r>
                      <a:rPr lang="ar-AE" altLang="ja-JP"/>
                      <m:t>+∂</m:t>
                    </m:r>
                    <m:r>
                      <a:rPr lang="ja-JP" altLang="ar-AE" i="1"/>
                      <m:t>𝑓</m:t>
                    </m:r>
                    <m:d>
                      <m:dPr>
                        <m:ctrlPr>
                          <a:rPr lang="ar-AE" altLang="ja-JP" i="1"/>
                        </m:ctrlPr>
                      </m:dPr>
                      <m:e>
                        <m:sSup>
                          <m:sSupPr>
                            <m:ctrlPr>
                              <a:rPr lang="ar-AE" altLang="ja-JP" i="1"/>
                            </m:ctrlPr>
                          </m:sSupPr>
                          <m:e>
                            <m:r>
                              <a:rPr lang="ja-JP" altLang="ar-AE" i="1"/>
                              <m:t>𝑧</m:t>
                            </m:r>
                          </m:e>
                          <m:sup>
                            <m:r>
                              <a:rPr lang="ar-AE" altLang="ja-JP"/>
                              <m:t>∗</m:t>
                            </m:r>
                          </m:sup>
                        </m:sSup>
                      </m:e>
                    </m:d>
                    <m:r>
                      <a:rPr lang="ar-AE" altLang="ja-JP"/>
                      <m:t>.</m:t>
                    </m:r>
                  </m:oMath>
                </a14:m>
                <a:r>
                  <a:rPr lang="zh-CN" altLang="en-US" dirty="0"/>
                  <a:t>（一阶最优性条件）</a:t>
                </a:r>
                <a:r>
                  <a:rPr lang="ja-JP" altLang="en-US" dirty="0"/>
                  <a:t>也就是说，求不动点变成了求解：</a:t>
                </a:r>
                <a14:m>
                  <m:oMath xmlns:m="http://schemas.openxmlformats.org/officeDocument/2006/math">
                    <m:r>
                      <a:rPr lang="en-US" altLang="ja-JP"/>
                      <m:t>0</m:t>
                    </m:r>
                    <m:r>
                      <a:rPr lang="ja-JP" altLang="en-US"/>
                      <m:t>∈</m:t>
                    </m:r>
                    <m:r>
                      <a:rPr lang="ja-JP" altLang="en-US" i="1"/>
                      <m:t>𝐹</m:t>
                    </m:r>
                    <m:d>
                      <m:dPr>
                        <m:ctrlPr>
                          <a:rPr lang="ar-AE" altLang="ja-JP" i="1"/>
                        </m:ctrlPr>
                      </m:dPr>
                      <m:e>
                        <m:sSup>
                          <m:sSupPr>
                            <m:ctrlPr>
                              <a:rPr lang="ar-AE" altLang="ja-JP" i="1"/>
                            </m:ctrlPr>
                          </m:sSupPr>
                          <m:e>
                            <m:r>
                              <a:rPr lang="ja-JP" altLang="ar-AE" i="1"/>
                              <m:t>𝑧</m:t>
                            </m:r>
                          </m:e>
                          <m:sup>
                            <m:r>
                              <a:rPr lang="ar-AE" altLang="ja-JP"/>
                              <m:t>∗</m:t>
                            </m:r>
                          </m:sup>
                        </m:sSup>
                      </m:e>
                    </m:d>
                    <m:r>
                      <a:rPr lang="ar-AE" altLang="ja-JP"/>
                      <m:t>+</m:t>
                    </m:r>
                    <m:r>
                      <a:rPr lang="ja-JP" altLang="ar-AE" i="1"/>
                      <m:t>𝐺</m:t>
                    </m:r>
                    <m:d>
                      <m:dPr>
                        <m:ctrlPr>
                          <a:rPr lang="ar-AE" altLang="ja-JP" i="1"/>
                        </m:ctrlPr>
                      </m:dPr>
                      <m:e>
                        <m:sSup>
                          <m:sSupPr>
                            <m:ctrlPr>
                              <a:rPr lang="ar-AE" altLang="ja-JP" i="1"/>
                            </m:ctrlPr>
                          </m:sSupPr>
                          <m:e>
                            <m:r>
                              <a:rPr lang="ja-JP" altLang="ar-AE" i="1"/>
                              <m:t>𝑧</m:t>
                            </m:r>
                          </m:e>
                          <m:sup>
                            <m:r>
                              <a:rPr lang="ar-AE" altLang="ja-JP"/>
                              <m:t>∗</m:t>
                            </m:r>
                          </m:sup>
                        </m:sSup>
                      </m:e>
                    </m:d>
                    <m:r>
                      <a:rPr lang="ar-AE" altLang="ja-JP"/>
                      <m:t>,</m:t>
                    </m:r>
                  </m:oMath>
                </a14:m>
                <a:endParaRPr lang="en-US" altLang="ja-JP" dirty="0"/>
              </a:p>
              <a:p>
                <a:pPr marL="400050" lvl="1" indent="0">
                  <a:lnSpc>
                    <a:spcPct val="120000"/>
                  </a:lnSpc>
                  <a:buNone/>
                </a:pPr>
                <a:r>
                  <a:rPr lang="ja-JP" altLang="en-US" dirty="0"/>
                  <a:t>其中：</a:t>
                </a:r>
                <a14:m>
                  <m:oMath xmlns:m="http://schemas.openxmlformats.org/officeDocument/2006/math">
                    <m:r>
                      <a:rPr lang="ja-JP" altLang="en-US" i="1"/>
                      <m:t>𝐹</m:t>
                    </m:r>
                    <m:d>
                      <m:dPr>
                        <m:ctrlPr>
                          <a:rPr lang="ar-AE" altLang="ja-JP" i="1"/>
                        </m:ctrlPr>
                      </m:dPr>
                      <m:e>
                        <m:r>
                          <a:rPr lang="ja-JP" altLang="ar-AE" i="1"/>
                          <m:t>𝑧</m:t>
                        </m:r>
                      </m:e>
                    </m:d>
                    <m:r>
                      <a:rPr lang="ar-AE" altLang="ja-JP"/>
                      <m:t>=</m:t>
                    </m:r>
                    <m:d>
                      <m:dPr>
                        <m:ctrlPr>
                          <a:rPr lang="ar-AE" altLang="ja-JP" i="1"/>
                        </m:ctrlPr>
                      </m:dPr>
                      <m:e>
                        <m:r>
                          <a:rPr lang="ja-JP" altLang="ar-AE" i="1"/>
                          <m:t>𝐼</m:t>
                        </m:r>
                        <m:r>
                          <a:rPr lang="ar-AE" altLang="ja-JP"/>
                          <m:t>−</m:t>
                        </m:r>
                        <m:r>
                          <a:rPr lang="ja-JP" altLang="ar-AE" i="1"/>
                          <m:t>𝑊</m:t>
                        </m:r>
                      </m:e>
                    </m:d>
                    <m:r>
                      <a:rPr lang="ja-JP" altLang="ar-AE" i="1"/>
                      <m:t>𝑧</m:t>
                    </m:r>
                    <m:r>
                      <a:rPr lang="ar-AE" altLang="ja-JP"/>
                      <m:t>−</m:t>
                    </m:r>
                    <m:d>
                      <m:dPr>
                        <m:ctrlPr>
                          <a:rPr lang="ar-AE" altLang="ja-JP" i="1"/>
                        </m:ctrlPr>
                      </m:dPr>
                      <m:e>
                        <m:r>
                          <a:rPr lang="ja-JP" altLang="ar-AE" i="1"/>
                          <m:t>𝑈𝑥</m:t>
                        </m:r>
                        <m:r>
                          <a:rPr lang="ar-AE" altLang="ja-JP"/>
                          <m:t>+</m:t>
                        </m:r>
                        <m:r>
                          <a:rPr lang="ja-JP" altLang="ar-AE" i="1"/>
                          <m:t>𝑏</m:t>
                        </m:r>
                      </m:e>
                    </m:d>
                    <m:r>
                      <a:rPr lang="ar-AE" altLang="ja-JP"/>
                      <m:t>,</m:t>
                    </m:r>
                  </m:oMath>
                </a14:m>
                <a:r>
                  <a:rPr lang="en-US" altLang="ja-JP" dirty="0"/>
                  <a:t> </a:t>
                </a:r>
                <a14:m>
                  <m:oMath xmlns:m="http://schemas.openxmlformats.org/officeDocument/2006/math">
                    <m:r>
                      <a:rPr lang="ja-JP" altLang="ar-AE" i="1"/>
                      <m:t>𝐺</m:t>
                    </m:r>
                    <m:d>
                      <m:dPr>
                        <m:ctrlPr>
                          <a:rPr lang="ar-AE" altLang="ja-JP" i="1"/>
                        </m:ctrlPr>
                      </m:dPr>
                      <m:e>
                        <m:r>
                          <a:rPr lang="ja-JP" altLang="ar-AE" i="1"/>
                          <m:t>𝑧</m:t>
                        </m:r>
                      </m:e>
                    </m:d>
                    <m:r>
                      <a:rPr lang="ar-AE" altLang="ja-JP"/>
                      <m:t>=∂</m:t>
                    </m:r>
                    <m:r>
                      <a:rPr lang="ja-JP" altLang="ar-AE" i="1"/>
                      <m:t>𝑓</m:t>
                    </m:r>
                    <m:d>
                      <m:dPr>
                        <m:ctrlPr>
                          <a:rPr lang="ar-AE" altLang="ja-JP" i="1"/>
                        </m:ctrlPr>
                      </m:dPr>
                      <m:e>
                        <m:r>
                          <a:rPr lang="ja-JP" altLang="ar-AE" i="1"/>
                          <m:t>𝑧</m:t>
                        </m:r>
                      </m:e>
                    </m:d>
                    <m:r>
                      <a:rPr lang="ar-AE" altLang="ja-JP"/>
                      <m:t>.</m:t>
                    </m:r>
                  </m:oMath>
                </a14:m>
                <a:r>
                  <a:rPr lang="en-US" altLang="ja-JP" dirty="0"/>
                  <a:t> </a:t>
                </a:r>
                <a:r>
                  <a:rPr lang="ja-JP" altLang="en-US" dirty="0"/>
                  <a:t>这就是</a:t>
                </a:r>
                <a:r>
                  <a:rPr lang="ja-JP" altLang="en-US" b="1" dirty="0"/>
                  <a:t>单调算子分裂问题</a:t>
                </a:r>
                <a:r>
                  <a:rPr lang="ja-JP" altLang="en-US" dirty="0"/>
                  <a:t>。</a:t>
                </a:r>
              </a:p>
              <a:p>
                <a:pPr marL="0" indent="0">
                  <a:lnSpc>
                    <a:spcPct val="120000"/>
                  </a:lnSpc>
                  <a:buNone/>
                </a:pPr>
                <a:endParaRPr lang="en-US" altLang="ja-JP" dirty="0"/>
              </a:p>
              <a:p>
                <a:pPr marL="0" indent="0">
                  <a:lnSpc>
                    <a:spcPct val="120000"/>
                  </a:lnSpc>
                  <a:buNone/>
                </a:pPr>
                <a:r>
                  <a:rPr lang="en-US" altLang="ja-JP" dirty="0"/>
                  <a:t>Winston </a:t>
                </a:r>
                <a:r>
                  <a:rPr lang="ja-JP" altLang="en-US" dirty="0"/>
                  <a:t>和 </a:t>
                </a:r>
                <a:r>
                  <a:rPr lang="en-US" altLang="ja-JP" dirty="0"/>
                  <a:t>Kolter </a:t>
                </a:r>
                <a:r>
                  <a:rPr lang="ja-JP" altLang="en-US" dirty="0"/>
                  <a:t>的论文明确指出，寻找固定点可以等价刻画为求解一个 </a:t>
                </a:r>
                <a:r>
                  <a:rPr lang="en-US" altLang="ja-JP" dirty="0"/>
                  <a:t>operator splitting problem</a:t>
                </a:r>
                <a:r>
                  <a:rPr lang="ja-JP" altLang="en-US" dirty="0"/>
                  <a:t>，其中 </a:t>
                </a:r>
                <a14:m>
                  <m:oMath xmlns:m="http://schemas.openxmlformats.org/officeDocument/2006/math">
                    <m:r>
                      <a:rPr lang="ja-JP" altLang="en-US" i="1"/>
                      <m:t>𝐹</m:t>
                    </m:r>
                    <m:d>
                      <m:dPr>
                        <m:ctrlPr>
                          <a:rPr lang="ar-AE" altLang="ja-JP" i="1"/>
                        </m:ctrlPr>
                      </m:dPr>
                      <m:e>
                        <m:r>
                          <a:rPr lang="ja-JP" altLang="ar-AE" i="1"/>
                          <m:t>𝑧</m:t>
                        </m:r>
                      </m:e>
                    </m:d>
                    <m:r>
                      <a:rPr lang="ar-AE" altLang="ja-JP"/>
                      <m:t>=</m:t>
                    </m:r>
                    <m:d>
                      <m:dPr>
                        <m:ctrlPr>
                          <a:rPr lang="ar-AE" altLang="ja-JP" i="1"/>
                        </m:ctrlPr>
                      </m:dPr>
                      <m:e>
                        <m:r>
                          <a:rPr lang="ja-JP" altLang="ar-AE" i="1"/>
                          <m:t>𝐼</m:t>
                        </m:r>
                        <m:r>
                          <a:rPr lang="ar-AE" altLang="ja-JP"/>
                          <m:t>−</m:t>
                        </m:r>
                        <m:r>
                          <a:rPr lang="ja-JP" altLang="ar-AE" i="1"/>
                          <m:t>𝑊</m:t>
                        </m:r>
                      </m:e>
                    </m:d>
                    <m:r>
                      <a:rPr lang="ja-JP" altLang="ar-AE" i="1"/>
                      <m:t>𝑧</m:t>
                    </m:r>
                    <m:r>
                      <a:rPr lang="ar-AE" altLang="ja-JP"/>
                      <m:t>−</m:t>
                    </m:r>
                    <m:d>
                      <m:dPr>
                        <m:ctrlPr>
                          <a:rPr lang="ar-AE" altLang="ja-JP" i="1"/>
                        </m:ctrlPr>
                      </m:dPr>
                      <m:e>
                        <m:r>
                          <a:rPr lang="ja-JP" altLang="ar-AE" i="1"/>
                          <m:t>𝑈𝑥</m:t>
                        </m:r>
                        <m:r>
                          <a:rPr lang="ar-AE" altLang="ja-JP"/>
                          <m:t>+</m:t>
                        </m:r>
                        <m:r>
                          <a:rPr lang="ja-JP" altLang="ar-AE" i="1"/>
                          <m:t>𝑏</m:t>
                        </m:r>
                      </m:e>
                    </m:d>
                  </m:oMath>
                </a14:m>
                <a:r>
                  <a:rPr lang="ja-JP" altLang="ar-AE" dirty="0"/>
                  <a:t>，</a:t>
                </a:r>
                <a14:m>
                  <m:oMath xmlns:m="http://schemas.openxmlformats.org/officeDocument/2006/math">
                    <m:r>
                      <a:rPr lang="ja-JP" altLang="ar-AE" i="1"/>
                      <m:t>𝐺</m:t>
                    </m:r>
                    <m:r>
                      <a:rPr lang="ar-AE" altLang="ja-JP"/>
                      <m:t>=∂</m:t>
                    </m:r>
                    <m:r>
                      <a:rPr lang="ja-JP" altLang="ar-AE" i="1"/>
                      <m:t>𝑓</m:t>
                    </m:r>
                  </m:oMath>
                </a14:m>
                <a:r>
                  <a:rPr lang="ja-JP" altLang="ar-AE" dirty="0"/>
                  <a:t>。</a:t>
                </a:r>
              </a:p>
            </p:txBody>
          </p:sp>
        </mc:Choice>
        <mc:Fallback>
          <p:sp>
            <p:nvSpPr>
              <p:cNvPr id="12" name="コンテンツ プレースホルダー 2">
                <a:extLst>
                  <a:ext uri="{FF2B5EF4-FFF2-40B4-BE49-F238E27FC236}">
                    <a16:creationId xmlns:a16="http://schemas.microsoft.com/office/drawing/2014/main" id="{3A462026-26B2-3FE2-CA55-0EE37593D918}"/>
                  </a:ext>
                </a:extLst>
              </p:cNvPr>
              <p:cNvSpPr>
                <a:spLocks noGrp="1" noRot="1" noChangeAspect="1" noMove="1" noResize="1" noEditPoints="1" noAdjustHandles="1" noChangeArrowheads="1" noChangeShapeType="1" noTextEdit="1"/>
              </p:cNvSpPr>
              <p:nvPr>
                <p:ph idx="1"/>
              </p:nvPr>
            </p:nvSpPr>
            <p:spPr>
              <a:xfrm>
                <a:off x="508000" y="1112520"/>
                <a:ext cx="11582400" cy="5440680"/>
              </a:xfrm>
              <a:blipFill>
                <a:blip r:embed="rId3"/>
                <a:stretch>
                  <a:fillRect l="-526" t="-448" b="-67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13CD12A5-B2E4-8D3C-599D-466D383ECC21}"/>
                  </a:ext>
                </a:extLst>
              </p:cNvPr>
              <p:cNvSpPr txBox="1"/>
              <p:nvPr/>
            </p:nvSpPr>
            <p:spPr>
              <a:xfrm>
                <a:off x="5603240" y="1511012"/>
                <a:ext cx="5816600" cy="584775"/>
              </a:xfrm>
              <a:prstGeom prst="rect">
                <a:avLst/>
              </a:prstGeom>
              <a:noFill/>
            </p:spPr>
            <p:txBody>
              <a:bodyPr wrap="square">
                <a:spAutoFit/>
              </a:bodyPr>
              <a:lstStyle/>
              <a:p>
                <a:r>
                  <a:rPr lang="zh-CN" altLang="en-US" sz="1600" dirty="0">
                    <a:solidFill>
                      <a:srgbClr val="7030A0"/>
                    </a:solidFill>
                    <a:latin typeface="+mj-ea"/>
                    <a:ea typeface="+mj-ea"/>
                  </a:rPr>
                  <a:t>给定一个点 </a:t>
                </a:r>
                <a14:m>
                  <m:oMath xmlns:m="http://schemas.openxmlformats.org/officeDocument/2006/math">
                    <m:r>
                      <a:rPr lang="zh-CN" altLang="en-US" sz="1600" i="1">
                        <a:solidFill>
                          <a:srgbClr val="7030A0"/>
                        </a:solidFill>
                        <a:latin typeface="+mj-ea"/>
                        <a:ea typeface="+mj-ea"/>
                      </a:rPr>
                      <m:t>𝑣</m:t>
                    </m:r>
                  </m:oMath>
                </a14:m>
                <a:r>
                  <a:rPr lang="zh-CN" altLang="en-US" sz="1600" dirty="0">
                    <a:solidFill>
                      <a:srgbClr val="7030A0"/>
                    </a:solidFill>
                    <a:latin typeface="+mj-ea"/>
                    <a:ea typeface="+mj-ea"/>
                  </a:rPr>
                  <a:t>，</a:t>
                </a:r>
                <a:r>
                  <a:rPr lang="en-US" altLang="zh-CN" sz="1600" dirty="0">
                    <a:solidFill>
                      <a:srgbClr val="7030A0"/>
                    </a:solidFill>
                    <a:latin typeface="+mj-ea"/>
                    <a:ea typeface="+mj-ea"/>
                  </a:rPr>
                  <a:t>proximal operator </a:t>
                </a:r>
                <a:r>
                  <a:rPr lang="zh-CN" altLang="en-US" sz="1600" dirty="0">
                    <a:solidFill>
                      <a:srgbClr val="7030A0"/>
                    </a:solidFill>
                    <a:latin typeface="+mj-ea"/>
                    <a:ea typeface="+mj-ea"/>
                  </a:rPr>
                  <a:t>会找一个新点 </a:t>
                </a:r>
                <a14:m>
                  <m:oMath xmlns:m="http://schemas.openxmlformats.org/officeDocument/2006/math">
                    <m:r>
                      <a:rPr lang="zh-CN" altLang="en-US" sz="1600" i="1">
                        <a:solidFill>
                          <a:srgbClr val="7030A0"/>
                        </a:solidFill>
                        <a:latin typeface="+mj-ea"/>
                        <a:ea typeface="+mj-ea"/>
                      </a:rPr>
                      <m:t>𝑧</m:t>
                    </m:r>
                  </m:oMath>
                </a14:m>
                <a:r>
                  <a:rPr lang="zh-CN" altLang="en-US" sz="1600" dirty="0">
                    <a:solidFill>
                      <a:srgbClr val="7030A0"/>
                    </a:solidFill>
                    <a:latin typeface="+mj-ea"/>
                    <a:ea typeface="+mj-ea"/>
                  </a:rPr>
                  <a:t>，使得 </a:t>
                </a:r>
                <a14:m>
                  <m:oMath xmlns:m="http://schemas.openxmlformats.org/officeDocument/2006/math">
                    <m:r>
                      <a:rPr lang="zh-CN" altLang="en-US" sz="1600" i="1">
                        <a:solidFill>
                          <a:srgbClr val="7030A0"/>
                        </a:solidFill>
                        <a:latin typeface="+mj-ea"/>
                        <a:ea typeface="+mj-ea"/>
                      </a:rPr>
                      <m:t>𝑧</m:t>
                    </m:r>
                  </m:oMath>
                </a14:m>
                <a:r>
                  <a:rPr lang="zh-CN" altLang="en-US" sz="1600" dirty="0">
                    <a:solidFill>
                      <a:srgbClr val="7030A0"/>
                    </a:solidFill>
                    <a:latin typeface="+mj-ea"/>
                    <a:ea typeface="+mj-ea"/>
                  </a:rPr>
                  <a:t>一方面靠近 </a:t>
                </a:r>
                <a14:m>
                  <m:oMath xmlns:m="http://schemas.openxmlformats.org/officeDocument/2006/math">
                    <m:r>
                      <a:rPr lang="zh-CN" altLang="en-US" sz="1600" i="1">
                        <a:solidFill>
                          <a:srgbClr val="7030A0"/>
                        </a:solidFill>
                        <a:latin typeface="+mj-ea"/>
                        <a:ea typeface="+mj-ea"/>
                      </a:rPr>
                      <m:t>𝑣</m:t>
                    </m:r>
                  </m:oMath>
                </a14:m>
                <a:r>
                  <a:rPr lang="zh-CN" altLang="en-US" sz="1600" dirty="0">
                    <a:solidFill>
                      <a:srgbClr val="7030A0"/>
                    </a:solidFill>
                    <a:latin typeface="+mj-ea"/>
                    <a:ea typeface="+mj-ea"/>
                  </a:rPr>
                  <a:t>，另一方面又让某个函数 </a:t>
                </a:r>
                <a14:m>
                  <m:oMath xmlns:m="http://schemas.openxmlformats.org/officeDocument/2006/math">
                    <m:r>
                      <a:rPr lang="zh-CN" altLang="en-US" sz="1600" i="1">
                        <a:solidFill>
                          <a:srgbClr val="7030A0"/>
                        </a:solidFill>
                        <a:latin typeface="+mj-ea"/>
                        <a:ea typeface="+mj-ea"/>
                      </a:rPr>
                      <m:t>𝑓</m:t>
                    </m:r>
                    <m:d>
                      <m:dPr>
                        <m:ctrlPr>
                          <a:rPr lang="zh-CN" altLang="en-US" sz="1600" i="1">
                            <a:solidFill>
                              <a:srgbClr val="7030A0"/>
                            </a:solidFill>
                            <a:latin typeface="+mj-ea"/>
                            <a:ea typeface="+mj-ea"/>
                          </a:rPr>
                        </m:ctrlPr>
                      </m:dPr>
                      <m:e>
                        <m:r>
                          <a:rPr lang="zh-CN" altLang="en-US" sz="1600" i="1">
                            <a:solidFill>
                              <a:srgbClr val="7030A0"/>
                            </a:solidFill>
                            <a:latin typeface="+mj-ea"/>
                            <a:ea typeface="+mj-ea"/>
                          </a:rPr>
                          <m:t>𝑧</m:t>
                        </m:r>
                      </m:e>
                    </m:d>
                  </m:oMath>
                </a14:m>
                <a:r>
                  <a:rPr lang="zh-CN" altLang="en-US" sz="1600" dirty="0">
                    <a:solidFill>
                      <a:srgbClr val="7030A0"/>
                    </a:solidFill>
                    <a:latin typeface="+mj-ea"/>
                    <a:ea typeface="+mj-ea"/>
                  </a:rPr>
                  <a:t>尽量小。</a:t>
                </a:r>
                <a:endParaRPr lang="ja-JP" altLang="en-US" sz="1600" dirty="0">
                  <a:solidFill>
                    <a:srgbClr val="7030A0"/>
                  </a:solidFill>
                  <a:latin typeface="+mj-ea"/>
                  <a:ea typeface="+mj-ea"/>
                </a:endParaRPr>
              </a:p>
            </p:txBody>
          </p:sp>
        </mc:Choice>
        <mc:Fallback>
          <p:sp>
            <p:nvSpPr>
              <p:cNvPr id="3" name="テキスト ボックス 2">
                <a:extLst>
                  <a:ext uri="{FF2B5EF4-FFF2-40B4-BE49-F238E27FC236}">
                    <a16:creationId xmlns:a16="http://schemas.microsoft.com/office/drawing/2014/main" id="{13CD12A5-B2E4-8D3C-599D-466D383ECC21}"/>
                  </a:ext>
                </a:extLst>
              </p:cNvPr>
              <p:cNvSpPr txBox="1">
                <a:spLocks noRot="1" noChangeAspect="1" noMove="1" noResize="1" noEditPoints="1" noAdjustHandles="1" noChangeArrowheads="1" noChangeShapeType="1" noTextEdit="1"/>
              </p:cNvSpPr>
              <p:nvPr/>
            </p:nvSpPr>
            <p:spPr>
              <a:xfrm>
                <a:off x="5603240" y="1511012"/>
                <a:ext cx="5816600" cy="584775"/>
              </a:xfrm>
              <a:prstGeom prst="rect">
                <a:avLst/>
              </a:prstGeom>
              <a:blipFill>
                <a:blip r:embed="rId4"/>
                <a:stretch>
                  <a:fillRect l="-524" t="-4167" b="-11458"/>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57AE4BB7-0E2D-770C-9BF0-9757F909C524}"/>
              </a:ext>
            </a:extLst>
          </p:cNvPr>
          <p:cNvPicPr>
            <a:picLocks noChangeAspect="1"/>
          </p:cNvPicPr>
          <p:nvPr/>
        </p:nvPicPr>
        <p:blipFill>
          <a:blip r:embed="rId5"/>
          <a:stretch>
            <a:fillRect/>
          </a:stretch>
        </p:blipFill>
        <p:spPr>
          <a:xfrm>
            <a:off x="6258560" y="3304972"/>
            <a:ext cx="1270811" cy="193648"/>
          </a:xfrm>
          <a:prstGeom prst="rect">
            <a:avLst/>
          </a:prstGeom>
        </p:spPr>
      </p:pic>
      <p:pic>
        <p:nvPicPr>
          <p:cNvPr id="9" name="図 8">
            <a:extLst>
              <a:ext uri="{FF2B5EF4-FFF2-40B4-BE49-F238E27FC236}">
                <a16:creationId xmlns:a16="http://schemas.microsoft.com/office/drawing/2014/main" id="{E7549AF0-D1E3-0BD2-91B1-01B779DC34FC}"/>
              </a:ext>
            </a:extLst>
          </p:cNvPr>
          <p:cNvPicPr>
            <a:picLocks noChangeAspect="1"/>
          </p:cNvPicPr>
          <p:nvPr/>
        </p:nvPicPr>
        <p:blipFill>
          <a:blip r:embed="rId6"/>
          <a:stretch>
            <a:fillRect/>
          </a:stretch>
        </p:blipFill>
        <p:spPr>
          <a:xfrm>
            <a:off x="7752080" y="3238932"/>
            <a:ext cx="1270811" cy="353896"/>
          </a:xfrm>
          <a:prstGeom prst="rect">
            <a:avLst/>
          </a:prstGeom>
        </p:spPr>
      </p:pic>
      <p:pic>
        <p:nvPicPr>
          <p:cNvPr id="11" name="図 10">
            <a:extLst>
              <a:ext uri="{FF2B5EF4-FFF2-40B4-BE49-F238E27FC236}">
                <a16:creationId xmlns:a16="http://schemas.microsoft.com/office/drawing/2014/main" id="{17B5C01D-91C2-9288-C654-01F2CD4DA879}"/>
              </a:ext>
            </a:extLst>
          </p:cNvPr>
          <p:cNvPicPr>
            <a:picLocks noChangeAspect="1"/>
          </p:cNvPicPr>
          <p:nvPr/>
        </p:nvPicPr>
        <p:blipFill>
          <a:blip r:embed="rId7"/>
          <a:stretch>
            <a:fillRect/>
          </a:stretch>
        </p:blipFill>
        <p:spPr>
          <a:xfrm>
            <a:off x="6299200" y="3696502"/>
            <a:ext cx="2873935" cy="418661"/>
          </a:xfrm>
          <a:prstGeom prst="rect">
            <a:avLst/>
          </a:prstGeom>
        </p:spPr>
      </p:pic>
      <p:pic>
        <p:nvPicPr>
          <p:cNvPr id="14" name="図 13">
            <a:extLst>
              <a:ext uri="{FF2B5EF4-FFF2-40B4-BE49-F238E27FC236}">
                <a16:creationId xmlns:a16="http://schemas.microsoft.com/office/drawing/2014/main" id="{3D5F5140-B84B-2ADB-89F1-DCB15362CE78}"/>
              </a:ext>
            </a:extLst>
          </p:cNvPr>
          <p:cNvPicPr>
            <a:picLocks noChangeAspect="1"/>
          </p:cNvPicPr>
          <p:nvPr/>
        </p:nvPicPr>
        <p:blipFill>
          <a:blip r:embed="rId8"/>
          <a:stretch>
            <a:fillRect/>
          </a:stretch>
        </p:blipFill>
        <p:spPr>
          <a:xfrm>
            <a:off x="9952037" y="3696502"/>
            <a:ext cx="1630363" cy="418661"/>
          </a:xfrm>
          <a:prstGeom prst="rect">
            <a:avLst/>
          </a:prstGeom>
        </p:spPr>
      </p:pic>
      <mc:AlternateContent xmlns:mc="http://schemas.openxmlformats.org/markup-compatibility/2006">
        <mc:Choice xmlns:a14="http://schemas.microsoft.com/office/drawing/2010/main" Requires="a14">
          <p:sp>
            <p:nvSpPr>
              <p:cNvPr id="16" name="テキスト ボックス 15">
                <a:extLst>
                  <a:ext uri="{FF2B5EF4-FFF2-40B4-BE49-F238E27FC236}">
                    <a16:creationId xmlns:a16="http://schemas.microsoft.com/office/drawing/2014/main" id="{52D3A70B-A74A-CB60-0DF2-525899C35500}"/>
                  </a:ext>
                </a:extLst>
              </p:cNvPr>
              <p:cNvSpPr txBox="1"/>
              <p:nvPr/>
            </p:nvSpPr>
            <p:spPr>
              <a:xfrm>
                <a:off x="9245600" y="3298565"/>
                <a:ext cx="2946400" cy="323165"/>
              </a:xfrm>
              <a:prstGeom prst="rect">
                <a:avLst/>
              </a:prstGeom>
              <a:noFill/>
            </p:spPr>
            <p:txBody>
              <a:bodyPr wrap="square">
                <a:spAutoFit/>
              </a:bodyPr>
              <a:lstStyle/>
              <a:p>
                <a14:m>
                  <m:oMath xmlns:m="http://schemas.openxmlformats.org/officeDocument/2006/math">
                    <m:sSup>
                      <m:sSupPr>
                        <m:ctrlPr>
                          <a:rPr lang="zh-CN" altLang="en-US" sz="1500" i="1" smtClean="0">
                            <a:latin typeface="Cambria Math" panose="02040503050406030204" pitchFamily="18" charset="0"/>
                          </a:rPr>
                        </m:ctrlPr>
                      </m:sSupPr>
                      <m:e>
                        <m:r>
                          <a:rPr lang="zh-CN" altLang="en-US" sz="1500" i="1">
                            <a:latin typeface="Cambria Math" panose="02040503050406030204" pitchFamily="18" charset="0"/>
                          </a:rPr>
                          <m:t>𝑧</m:t>
                        </m:r>
                      </m:e>
                      <m:sup>
                        <m:r>
                          <a:rPr lang="zh-CN" altLang="en-US" sz="1500" i="0">
                            <a:latin typeface="Cambria Math" panose="02040503050406030204" pitchFamily="18" charset="0"/>
                          </a:rPr>
                          <m:t>∗</m:t>
                        </m:r>
                      </m:sup>
                    </m:sSup>
                  </m:oMath>
                </a14:m>
                <a:r>
                  <a:rPr lang="zh-CN" altLang="en-US" sz="1500" dirty="0"/>
                  <a:t>是下面这个优化问题的最小点</a:t>
                </a:r>
                <a:endParaRPr lang="ja-JP" altLang="en-US" sz="1500" dirty="0"/>
              </a:p>
            </p:txBody>
          </p:sp>
        </mc:Choice>
        <mc:Fallback>
          <p:sp>
            <p:nvSpPr>
              <p:cNvPr id="16" name="テキスト ボックス 15">
                <a:extLst>
                  <a:ext uri="{FF2B5EF4-FFF2-40B4-BE49-F238E27FC236}">
                    <a16:creationId xmlns:a16="http://schemas.microsoft.com/office/drawing/2014/main" id="{52D3A70B-A74A-CB60-0DF2-525899C35500}"/>
                  </a:ext>
                </a:extLst>
              </p:cNvPr>
              <p:cNvSpPr txBox="1">
                <a:spLocks noRot="1" noChangeAspect="1" noMove="1" noResize="1" noEditPoints="1" noAdjustHandles="1" noChangeArrowheads="1" noChangeShapeType="1" noTextEdit="1"/>
              </p:cNvSpPr>
              <p:nvPr/>
            </p:nvSpPr>
            <p:spPr>
              <a:xfrm>
                <a:off x="9245600" y="3298565"/>
                <a:ext cx="2946400" cy="323165"/>
              </a:xfrm>
              <a:prstGeom prst="rect">
                <a:avLst/>
              </a:prstGeom>
              <a:blipFill>
                <a:blip r:embed="rId9"/>
                <a:stretch>
                  <a:fillRect t="-7547" b="-2075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050685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DF3EE-276C-C6C3-ABAF-7AA07AA668A0}"/>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E7992F9B-490C-7DB3-D42D-DA347B12A69F}"/>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D08F40CF-F5A7-B720-5166-17F1C1A6E6F2}"/>
                  </a:ext>
                </a:extLst>
              </p:cNvPr>
              <p:cNvSpPr>
                <a:spLocks noGrp="1"/>
              </p:cNvSpPr>
              <p:nvPr>
                <p:ph idx="1"/>
              </p:nvPr>
            </p:nvSpPr>
            <p:spPr>
              <a:xfrm>
                <a:off x="116958" y="1112520"/>
                <a:ext cx="11973442" cy="5440680"/>
              </a:xfrm>
            </p:spPr>
            <p:txBody>
              <a:bodyPr/>
              <a:lstStyle/>
              <a:p>
                <a:pPr marL="0" indent="0">
                  <a:buNone/>
                </a:pPr>
                <a:r>
                  <a:rPr lang="zh-CN" altLang="en-US" dirty="0"/>
                  <a:t>为什么这样能保证唯一平衡点？</a:t>
                </a:r>
                <a:endParaRPr lang="en-US" altLang="zh-CN" dirty="0"/>
              </a:p>
              <a:p>
                <a:pPr marL="0" indent="0">
                  <a:buNone/>
                </a:pPr>
                <a:endParaRPr lang="en-US" altLang="ja-JP" dirty="0"/>
              </a:p>
              <a:p>
                <a:pPr marL="0" indent="0">
                  <a:buNone/>
                </a:pPr>
                <a:r>
                  <a:rPr lang="ja-JP" altLang="en-US" dirty="0"/>
                  <a:t>关键是让</a:t>
                </a:r>
                <a14:m>
                  <m:oMath xmlns:m="http://schemas.openxmlformats.org/officeDocument/2006/math">
                    <m:r>
                      <a:rPr lang="ja-JP" altLang="en-US" i="1"/>
                      <m:t>𝐼</m:t>
                    </m:r>
                    <m:r>
                      <a:rPr lang="ja-JP" altLang="en-US"/>
                      <m:t>−</m:t>
                    </m:r>
                    <m:r>
                      <a:rPr lang="ja-JP" altLang="en-US" i="1"/>
                      <m:t>𝑊</m:t>
                    </m:r>
                  </m:oMath>
                </a14:m>
                <a:r>
                  <a:rPr lang="ja-JP" altLang="en-US" dirty="0"/>
                  <a:t>成为强单调算子。如果</a:t>
                </a:r>
                <a14:m>
                  <m:oMath xmlns:m="http://schemas.openxmlformats.org/officeDocument/2006/math">
                    <m:r>
                      <a:rPr lang="ja-JP" altLang="en-US" i="1" smtClean="0">
                        <a:solidFill>
                          <a:srgbClr val="7030A0"/>
                        </a:solidFill>
                      </a:rPr>
                      <m:t>𝐼</m:t>
                    </m:r>
                    <m:r>
                      <a:rPr lang="ja-JP" altLang="en-US">
                        <a:solidFill>
                          <a:srgbClr val="7030A0"/>
                        </a:solidFill>
                      </a:rPr>
                      <m:t>−</m:t>
                    </m:r>
                    <m:r>
                      <a:rPr lang="ja-JP" altLang="en-US" i="1">
                        <a:solidFill>
                          <a:srgbClr val="7030A0"/>
                        </a:solidFill>
                      </a:rPr>
                      <m:t>𝑊</m:t>
                    </m:r>
                    <m:r>
                      <a:rPr lang="ja-JP" altLang="en-US">
                        <a:solidFill>
                          <a:srgbClr val="7030A0"/>
                        </a:solidFill>
                      </a:rPr>
                      <m:t>⪰</m:t>
                    </m:r>
                    <m:r>
                      <a:rPr lang="ja-JP" altLang="en-US" i="1">
                        <a:solidFill>
                          <a:srgbClr val="7030A0"/>
                        </a:solidFill>
                      </a:rPr>
                      <m:t>𝑚𝐼</m:t>
                    </m:r>
                    <m:r>
                      <a:rPr lang="en-US" altLang="ja-JP">
                        <a:solidFill>
                          <a:srgbClr val="7030A0"/>
                        </a:solidFill>
                      </a:rPr>
                      <m:t>, </m:t>
                    </m:r>
                    <m:r>
                      <a:rPr lang="ja-JP" altLang="en-US" i="1">
                        <a:solidFill>
                          <a:srgbClr val="7030A0"/>
                        </a:solidFill>
                      </a:rPr>
                      <m:t>𝑚</m:t>
                    </m:r>
                    <m:r>
                      <a:rPr lang="en-US" altLang="ja-JP">
                        <a:solidFill>
                          <a:srgbClr val="7030A0"/>
                        </a:solidFill>
                      </a:rPr>
                      <m:t>&gt;</m:t>
                    </m:r>
                    <m:r>
                      <a:rPr lang="en-US" altLang="ja-JP">
                        <a:solidFill>
                          <a:srgbClr val="7030A0"/>
                        </a:solidFill>
                      </a:rPr>
                      <m:t>0</m:t>
                    </m:r>
                    <m:r>
                      <a:rPr lang="en-US" altLang="ja-JP"/>
                      <m:t>,</m:t>
                    </m:r>
                  </m:oMath>
                </a14:m>
                <a:r>
                  <a:rPr lang="ja-JP" altLang="en-US" dirty="0"/>
                  <a:t> 那么 </a:t>
                </a:r>
                <a14:m>
                  <m:oMath xmlns:m="http://schemas.openxmlformats.org/officeDocument/2006/math">
                    <m:r>
                      <a:rPr lang="ja-JP" altLang="en-US" i="1" smtClean="0">
                        <a:solidFill>
                          <a:srgbClr val="C00000"/>
                        </a:solidFill>
                      </a:rPr>
                      <m:t>𝐹</m:t>
                    </m:r>
                    <m:d>
                      <m:dPr>
                        <m:ctrlPr>
                          <a:rPr lang="ar-AE" altLang="ja-JP" i="1">
                            <a:solidFill>
                              <a:srgbClr val="C00000"/>
                            </a:solidFill>
                          </a:rPr>
                        </m:ctrlPr>
                      </m:dPr>
                      <m:e>
                        <m:r>
                          <a:rPr lang="ja-JP" altLang="ar-AE" i="1">
                            <a:solidFill>
                              <a:srgbClr val="C00000"/>
                            </a:solidFill>
                          </a:rPr>
                          <m:t>𝑧</m:t>
                        </m:r>
                      </m:e>
                    </m:d>
                    <m:r>
                      <a:rPr lang="ar-AE" altLang="ja-JP">
                        <a:solidFill>
                          <a:srgbClr val="C00000"/>
                        </a:solidFill>
                      </a:rPr>
                      <m:t>=</m:t>
                    </m:r>
                    <m:d>
                      <m:dPr>
                        <m:ctrlPr>
                          <a:rPr lang="ar-AE" altLang="ja-JP" i="1">
                            <a:solidFill>
                              <a:srgbClr val="C00000"/>
                            </a:solidFill>
                          </a:rPr>
                        </m:ctrlPr>
                      </m:dPr>
                      <m:e>
                        <m:r>
                          <a:rPr lang="ja-JP" altLang="ar-AE" i="1">
                            <a:solidFill>
                              <a:srgbClr val="C00000"/>
                            </a:solidFill>
                          </a:rPr>
                          <m:t>𝐼</m:t>
                        </m:r>
                        <m:r>
                          <a:rPr lang="ar-AE" altLang="ja-JP">
                            <a:solidFill>
                              <a:srgbClr val="C00000"/>
                            </a:solidFill>
                          </a:rPr>
                          <m:t>−</m:t>
                        </m:r>
                        <m:r>
                          <a:rPr lang="ja-JP" altLang="ar-AE" i="1">
                            <a:solidFill>
                              <a:srgbClr val="C00000"/>
                            </a:solidFill>
                          </a:rPr>
                          <m:t>𝑊</m:t>
                        </m:r>
                      </m:e>
                    </m:d>
                    <m:r>
                      <a:rPr lang="ja-JP" altLang="ar-AE" i="1">
                        <a:solidFill>
                          <a:srgbClr val="C00000"/>
                        </a:solidFill>
                      </a:rPr>
                      <m:t>𝑧</m:t>
                    </m:r>
                    <m:r>
                      <a:rPr lang="ar-AE" altLang="ja-JP">
                        <a:solidFill>
                          <a:srgbClr val="C00000"/>
                        </a:solidFill>
                      </a:rPr>
                      <m:t>−</m:t>
                    </m:r>
                    <m:d>
                      <m:dPr>
                        <m:ctrlPr>
                          <a:rPr lang="ar-AE" altLang="ja-JP" i="1">
                            <a:solidFill>
                              <a:srgbClr val="C00000"/>
                            </a:solidFill>
                          </a:rPr>
                        </m:ctrlPr>
                      </m:dPr>
                      <m:e>
                        <m:r>
                          <a:rPr lang="ja-JP" altLang="ar-AE" i="1">
                            <a:solidFill>
                              <a:srgbClr val="C00000"/>
                            </a:solidFill>
                          </a:rPr>
                          <m:t>𝑈𝑥</m:t>
                        </m:r>
                        <m:r>
                          <a:rPr lang="ar-AE" altLang="ja-JP">
                            <a:solidFill>
                              <a:srgbClr val="C00000"/>
                            </a:solidFill>
                          </a:rPr>
                          <m:t>+</m:t>
                        </m:r>
                        <m:r>
                          <a:rPr lang="ja-JP" altLang="ar-AE" i="1">
                            <a:solidFill>
                              <a:srgbClr val="C00000"/>
                            </a:solidFill>
                          </a:rPr>
                          <m:t>𝑏</m:t>
                        </m:r>
                      </m:e>
                    </m:d>
                  </m:oMath>
                </a14:m>
                <a:r>
                  <a:rPr lang="ja-JP" altLang="en-US" dirty="0">
                    <a:solidFill>
                      <a:srgbClr val="C00000"/>
                    </a:solidFill>
                  </a:rPr>
                  <a:t>是强单调的</a:t>
                </a:r>
                <a:r>
                  <a:rPr lang="ja-JP" altLang="en-US" dirty="0"/>
                  <a:t>。</a:t>
                </a:r>
              </a:p>
              <a:p>
                <a:pPr marL="0" indent="0">
                  <a:buNone/>
                </a:pPr>
                <a:r>
                  <a:rPr lang="ja-JP" altLang="en-US" dirty="0"/>
                  <a:t>另一方面，</a:t>
                </a:r>
                <a14:m>
                  <m:oMath xmlns:m="http://schemas.openxmlformats.org/officeDocument/2006/math">
                    <m:r>
                      <a:rPr lang="ja-JP" altLang="en-US"/>
                      <m:t>∂</m:t>
                    </m:r>
                    <m:r>
                      <a:rPr lang="ja-JP" altLang="en-US" i="1"/>
                      <m:t>𝑓</m:t>
                    </m:r>
                  </m:oMath>
                </a14:m>
                <a:r>
                  <a:rPr lang="ja-JP" altLang="en-US" dirty="0"/>
                  <a:t> 是凸函数的次微分，在凸分析中是单调算子。于是</a:t>
                </a:r>
                <a14:m>
                  <m:oMath xmlns:m="http://schemas.openxmlformats.org/officeDocument/2006/math">
                    <m:r>
                      <a:rPr lang="ja-JP" altLang="en-US" i="1" smtClean="0">
                        <a:solidFill>
                          <a:srgbClr val="C00000"/>
                        </a:solidFill>
                      </a:rPr>
                      <m:t>𝐹</m:t>
                    </m:r>
                    <m:r>
                      <a:rPr lang="en-US" altLang="ja-JP">
                        <a:solidFill>
                          <a:srgbClr val="C00000"/>
                        </a:solidFill>
                      </a:rPr>
                      <m:t>+</m:t>
                    </m:r>
                    <m:r>
                      <a:rPr lang="ja-JP" altLang="en-US" i="1">
                        <a:solidFill>
                          <a:srgbClr val="C00000"/>
                        </a:solidFill>
                      </a:rPr>
                      <m:t>𝐺</m:t>
                    </m:r>
                  </m:oMath>
                </a14:m>
                <a:r>
                  <a:rPr lang="ja-JP" altLang="en-US" dirty="0">
                    <a:solidFill>
                      <a:srgbClr val="C00000"/>
                    </a:solidFill>
                  </a:rPr>
                  <a:t>整体具有强单调结构</a:t>
                </a:r>
                <a:r>
                  <a:rPr lang="ja-JP" altLang="en-US" dirty="0"/>
                  <a:t>。</a:t>
                </a:r>
              </a:p>
              <a:p>
                <a:pPr marL="0" indent="0">
                  <a:buNone/>
                </a:pPr>
                <a:r>
                  <a:rPr lang="ja-JP" altLang="en-US" dirty="0"/>
                  <a:t>如果 </a:t>
                </a:r>
                <a14:m>
                  <m:oMath xmlns:m="http://schemas.openxmlformats.org/officeDocument/2006/math">
                    <m:sSub>
                      <m:sSubPr>
                        <m:ctrlPr>
                          <a:rPr lang="ar-AE" altLang="ja-JP"/>
                        </m:ctrlPr>
                      </m:sSubPr>
                      <m:e>
                        <m:r>
                          <a:rPr lang="ja-JP" altLang="ar-AE" i="1"/>
                          <m:t>𝑧</m:t>
                        </m:r>
                      </m:e>
                      <m:sub>
                        <m:r>
                          <a:rPr lang="ar-AE" altLang="ja-JP"/>
                          <m:t>1</m:t>
                        </m:r>
                      </m:sub>
                    </m:sSub>
                    <m:r>
                      <a:rPr lang="ar-AE" altLang="ja-JP"/>
                      <m:t>,</m:t>
                    </m:r>
                    <m:sSub>
                      <m:sSubPr>
                        <m:ctrlPr>
                          <a:rPr lang="ar-AE" altLang="ja-JP" i="1"/>
                        </m:ctrlPr>
                      </m:sSubPr>
                      <m:e>
                        <m:r>
                          <a:rPr lang="ja-JP" altLang="ar-AE" i="1"/>
                          <m:t>𝑧</m:t>
                        </m:r>
                      </m:e>
                      <m:sub>
                        <m:r>
                          <a:rPr lang="ar-AE" altLang="ja-JP"/>
                          <m:t>2</m:t>
                        </m:r>
                      </m:sub>
                    </m:sSub>
                  </m:oMath>
                </a14:m>
                <a:r>
                  <a:rPr lang="ja-JP" altLang="en-US" dirty="0"/>
                  <a:t>都是零点，那么：</a:t>
                </a:r>
              </a:p>
              <a:p>
                <a:pPr marL="0" indent="0">
                  <a:buNone/>
                </a:pPr>
                <a14:m>
                  <m:oMathPara xmlns:m="http://schemas.openxmlformats.org/officeDocument/2006/math">
                    <m:oMathParaPr>
                      <m:jc m:val="centerGroup"/>
                    </m:oMathParaPr>
                    <m:oMath xmlns:m="http://schemas.openxmlformats.org/officeDocument/2006/math">
                      <m:r>
                        <a:rPr lang="en-US" altLang="ja-JP"/>
                        <m:t>0</m:t>
                      </m:r>
                      <m:r>
                        <a:rPr lang="ja-JP" altLang="en-US"/>
                        <m:t>∈</m:t>
                      </m:r>
                      <m:r>
                        <a:rPr lang="ja-JP" altLang="en-US" i="1"/>
                        <m:t>𝐹</m:t>
                      </m:r>
                      <m:d>
                        <m:dPr>
                          <m:ctrlPr>
                            <a:rPr lang="ar-AE" altLang="ja-JP" i="1"/>
                          </m:ctrlPr>
                        </m:dPr>
                        <m:e>
                          <m:sSub>
                            <m:sSubPr>
                              <m:ctrlPr>
                                <a:rPr lang="ar-AE" altLang="ja-JP" i="1"/>
                              </m:ctrlPr>
                            </m:sSubPr>
                            <m:e>
                              <m:r>
                                <a:rPr lang="ja-JP" altLang="ar-AE" i="1"/>
                                <m:t>𝑧</m:t>
                              </m:r>
                            </m:e>
                            <m:sub>
                              <m:r>
                                <a:rPr lang="ar-AE" altLang="ja-JP"/>
                                <m:t>1</m:t>
                              </m:r>
                            </m:sub>
                          </m:sSub>
                        </m:e>
                      </m:d>
                      <m:r>
                        <a:rPr lang="ar-AE" altLang="ja-JP"/>
                        <m:t>+</m:t>
                      </m:r>
                      <m:r>
                        <a:rPr lang="ja-JP" altLang="ar-AE" i="1"/>
                        <m:t>𝐺</m:t>
                      </m:r>
                      <m:d>
                        <m:dPr>
                          <m:ctrlPr>
                            <a:rPr lang="ar-AE" altLang="ja-JP" i="1"/>
                          </m:ctrlPr>
                        </m:dPr>
                        <m:e>
                          <m:sSub>
                            <m:sSubPr>
                              <m:ctrlPr>
                                <a:rPr lang="ar-AE" altLang="ja-JP" i="1"/>
                              </m:ctrlPr>
                            </m:sSubPr>
                            <m:e>
                              <m:r>
                                <a:rPr lang="ja-JP" altLang="ar-AE" i="1"/>
                                <m:t>𝑧</m:t>
                              </m:r>
                            </m:e>
                            <m:sub>
                              <m:r>
                                <a:rPr lang="ar-AE" altLang="ja-JP"/>
                                <m:t>1</m:t>
                              </m:r>
                            </m:sub>
                          </m:sSub>
                        </m:e>
                      </m:d>
                      <m:r>
                        <a:rPr lang="ar-AE" altLang="ja-JP"/>
                        <m:t>,</m:t>
                      </m:r>
                    </m:oMath>
                  </m:oMathPara>
                </a14:m>
                <a:endParaRPr lang="ar-AE" altLang="ja-JP" dirty="0"/>
              </a:p>
              <a:p>
                <a:pPr marL="0" indent="0">
                  <a:buNone/>
                </a:pPr>
                <a14:m>
                  <m:oMathPara xmlns:m="http://schemas.openxmlformats.org/officeDocument/2006/math">
                    <m:oMathParaPr>
                      <m:jc m:val="centerGroup"/>
                    </m:oMathParaPr>
                    <m:oMath xmlns:m="http://schemas.openxmlformats.org/officeDocument/2006/math">
                      <m:r>
                        <a:rPr lang="ar-AE" altLang="ja-JP"/>
                        <m:t>0</m:t>
                      </m:r>
                      <m:r>
                        <a:rPr lang="ar-AE" altLang="ja-JP"/>
                        <m:t>∈</m:t>
                      </m:r>
                      <m:r>
                        <a:rPr lang="ja-JP" altLang="ar-AE" i="1"/>
                        <m:t>𝐹</m:t>
                      </m:r>
                      <m:d>
                        <m:dPr>
                          <m:ctrlPr>
                            <a:rPr lang="ar-AE" altLang="ja-JP" i="1"/>
                          </m:ctrlPr>
                        </m:dPr>
                        <m:e>
                          <m:sSub>
                            <m:sSubPr>
                              <m:ctrlPr>
                                <a:rPr lang="ar-AE" altLang="ja-JP" i="1"/>
                              </m:ctrlPr>
                            </m:sSubPr>
                            <m:e>
                              <m:r>
                                <a:rPr lang="ja-JP" altLang="ar-AE" i="1"/>
                                <m:t>𝑧</m:t>
                              </m:r>
                            </m:e>
                            <m:sub>
                              <m:r>
                                <a:rPr lang="ar-AE" altLang="ja-JP"/>
                                <m:t>2</m:t>
                              </m:r>
                            </m:sub>
                          </m:sSub>
                        </m:e>
                      </m:d>
                      <m:r>
                        <a:rPr lang="ar-AE" altLang="ja-JP"/>
                        <m:t>+</m:t>
                      </m:r>
                      <m:r>
                        <a:rPr lang="ja-JP" altLang="ar-AE" i="1"/>
                        <m:t>𝐺</m:t>
                      </m:r>
                      <m:d>
                        <m:dPr>
                          <m:ctrlPr>
                            <a:rPr lang="ar-AE" altLang="ja-JP" i="1"/>
                          </m:ctrlPr>
                        </m:dPr>
                        <m:e>
                          <m:sSub>
                            <m:sSubPr>
                              <m:ctrlPr>
                                <a:rPr lang="ar-AE" altLang="ja-JP" i="1"/>
                              </m:ctrlPr>
                            </m:sSubPr>
                            <m:e>
                              <m:r>
                                <a:rPr lang="ja-JP" altLang="ar-AE" i="1"/>
                                <m:t>𝑧</m:t>
                              </m:r>
                            </m:e>
                            <m:sub>
                              <m:r>
                                <a:rPr lang="ar-AE" altLang="ja-JP"/>
                                <m:t>2</m:t>
                              </m:r>
                            </m:sub>
                          </m:sSub>
                        </m:e>
                      </m:d>
                      <m:r>
                        <a:rPr lang="ar-AE" altLang="ja-JP"/>
                        <m:t>.</m:t>
                      </m:r>
                    </m:oMath>
                  </m:oMathPara>
                </a14:m>
                <a:endParaRPr lang="ar-AE" altLang="ja-JP" dirty="0"/>
              </a:p>
              <a:p>
                <a:pPr marL="0" indent="0">
                  <a:buNone/>
                </a:pPr>
                <a:r>
                  <a:rPr lang="ja-JP" altLang="en-US" dirty="0"/>
                  <a:t>强单调性会推出：</a:t>
                </a:r>
                <a14:m>
                  <m:oMath xmlns:m="http://schemas.openxmlformats.org/officeDocument/2006/math">
                    <m:r>
                      <a:rPr lang="ja-JP" altLang="en-US" i="1"/>
                      <m:t>𝑚</m:t>
                    </m:r>
                    <m:r>
                      <a:rPr lang="ja-JP" altLang="en-US"/>
                      <m:t>∥</m:t>
                    </m:r>
                    <m:sSub>
                      <m:sSubPr>
                        <m:ctrlPr>
                          <a:rPr lang="ar-AE" altLang="ja-JP" i="1"/>
                        </m:ctrlPr>
                      </m:sSubPr>
                      <m:e>
                        <m:r>
                          <a:rPr lang="ja-JP" altLang="ar-AE" i="1"/>
                          <m:t>𝑧</m:t>
                        </m:r>
                      </m:e>
                      <m:sub>
                        <m:r>
                          <a:rPr lang="ar-AE" altLang="ja-JP"/>
                          <m:t>1</m:t>
                        </m:r>
                      </m:sub>
                    </m:sSub>
                    <m:r>
                      <a:rPr lang="ar-AE" altLang="ja-JP"/>
                      <m:t>−</m:t>
                    </m:r>
                    <m:sSub>
                      <m:sSubPr>
                        <m:ctrlPr>
                          <a:rPr lang="ar-AE" altLang="ja-JP" i="1"/>
                        </m:ctrlPr>
                      </m:sSubPr>
                      <m:e>
                        <m:r>
                          <a:rPr lang="ja-JP" altLang="ar-AE" i="1"/>
                          <m:t>𝑧</m:t>
                        </m:r>
                      </m:e>
                      <m:sub>
                        <m:r>
                          <a:rPr lang="ar-AE" altLang="ja-JP"/>
                          <m:t>2</m:t>
                        </m:r>
                      </m:sub>
                    </m:sSub>
                    <m:sSup>
                      <m:sSupPr>
                        <m:ctrlPr>
                          <a:rPr lang="ar-AE" altLang="ja-JP" i="1"/>
                        </m:ctrlPr>
                      </m:sSupPr>
                      <m:e>
                        <m:r>
                          <a:rPr lang="ar-AE" altLang="ja-JP"/>
                          <m:t>∥</m:t>
                        </m:r>
                      </m:e>
                      <m:sup>
                        <m:r>
                          <a:rPr lang="ar-AE" altLang="ja-JP"/>
                          <m:t>2</m:t>
                        </m:r>
                      </m:sup>
                    </m:sSup>
                    <m:r>
                      <a:rPr lang="ar-AE" altLang="ja-JP"/>
                      <m:t>≤</m:t>
                    </m:r>
                    <m:r>
                      <a:rPr lang="ar-AE" altLang="ja-JP"/>
                      <m:t>0</m:t>
                    </m:r>
                    <m:r>
                      <a:rPr lang="ar-AE" altLang="ja-JP"/>
                      <m:t>.</m:t>
                    </m:r>
                  </m:oMath>
                </a14:m>
                <a:endParaRPr lang="ar-AE" altLang="ja-JP" dirty="0"/>
              </a:p>
              <a:p>
                <a:pPr marL="0" indent="0">
                  <a:buNone/>
                </a:pPr>
                <a:r>
                  <a:rPr lang="ja-JP" altLang="en-US" dirty="0"/>
                  <a:t>因此：</a:t>
                </a:r>
                <a14:m>
                  <m:oMath xmlns:m="http://schemas.openxmlformats.org/officeDocument/2006/math">
                    <m:sSub>
                      <m:sSubPr>
                        <m:ctrlPr>
                          <a:rPr lang="ar-AE" altLang="ja-JP"/>
                        </m:ctrlPr>
                      </m:sSubPr>
                      <m:e>
                        <m:r>
                          <a:rPr lang="ja-JP" altLang="ar-AE" i="1"/>
                          <m:t>𝑧</m:t>
                        </m:r>
                      </m:e>
                      <m:sub>
                        <m:r>
                          <a:rPr lang="ar-AE" altLang="ja-JP"/>
                          <m:t>1</m:t>
                        </m:r>
                      </m:sub>
                    </m:sSub>
                    <m:r>
                      <a:rPr lang="ar-AE" altLang="ja-JP"/>
                      <m:t>=</m:t>
                    </m:r>
                    <m:sSub>
                      <m:sSubPr>
                        <m:ctrlPr>
                          <a:rPr lang="ar-AE" altLang="ja-JP" i="1"/>
                        </m:ctrlPr>
                      </m:sSubPr>
                      <m:e>
                        <m:r>
                          <a:rPr lang="ja-JP" altLang="ar-AE" i="1"/>
                          <m:t>𝑧</m:t>
                        </m:r>
                      </m:e>
                      <m:sub>
                        <m:r>
                          <a:rPr lang="ar-AE" altLang="ja-JP"/>
                          <m:t>2</m:t>
                        </m:r>
                      </m:sub>
                    </m:sSub>
                    <m:r>
                      <a:rPr lang="ar-AE" altLang="ja-JP"/>
                      <m:t>.</m:t>
                    </m:r>
                  </m:oMath>
                </a14:m>
                <a:endParaRPr lang="ar-AE" altLang="ja-JP" dirty="0"/>
              </a:p>
              <a:p>
                <a:pPr marL="0" indent="0">
                  <a:buNone/>
                </a:pPr>
                <a:r>
                  <a:rPr lang="ja-JP" altLang="en-US" dirty="0"/>
                  <a:t>所以</a:t>
                </a:r>
                <a:r>
                  <a:rPr lang="ja-JP" altLang="en-US" dirty="0">
                    <a:solidFill>
                      <a:srgbClr val="C00000"/>
                    </a:solidFill>
                  </a:rPr>
                  <a:t>零点唯一</a:t>
                </a:r>
                <a:r>
                  <a:rPr lang="ja-JP" altLang="en-US" dirty="0"/>
                  <a:t>，也就是平衡点唯一。</a:t>
                </a:r>
              </a:p>
              <a:p>
                <a:pPr marL="0" indent="0">
                  <a:buNone/>
                </a:pPr>
                <a:endParaRPr lang="en-US" altLang="ja-JP" dirty="0"/>
              </a:p>
              <a:p>
                <a:pPr marL="0" indent="0">
                  <a:buNone/>
                </a:pPr>
                <a:r>
                  <a:rPr lang="ja-JP" altLang="en-US" dirty="0"/>
                  <a:t>这就是 </a:t>
                </a:r>
                <a:r>
                  <a:rPr lang="en-US" altLang="ja-JP" dirty="0" err="1"/>
                  <a:t>monDEQ</a:t>
                </a:r>
                <a:r>
                  <a:rPr lang="en-US" altLang="ja-JP" dirty="0"/>
                  <a:t> </a:t>
                </a:r>
                <a:r>
                  <a:rPr lang="ja-JP" altLang="en-US" dirty="0"/>
                  <a:t>的核心数学保证：</a:t>
                </a:r>
              </a:p>
              <a:p>
                <a:r>
                  <a:rPr lang="ja-JP" altLang="en-US" dirty="0"/>
                  <a:t>不是让任意神经网络自由形成平衡点，而是通过强单调结构保证平衡点唯一。论文中给出的充分条件是 </a:t>
                </a:r>
                <a14:m>
                  <m:oMath xmlns:m="http://schemas.openxmlformats.org/officeDocument/2006/math">
                    <m:r>
                      <a:rPr lang="ja-JP" altLang="en-US" i="1"/>
                      <m:t>𝐼</m:t>
                    </m:r>
                    <m:r>
                      <a:rPr lang="ja-JP" altLang="en-US"/>
                      <m:t>−</m:t>
                    </m:r>
                    <m:r>
                      <a:rPr lang="ja-JP" altLang="en-US" i="1"/>
                      <m:t>𝑊</m:t>
                    </m:r>
                  </m:oMath>
                </a14:m>
                <a:r>
                  <a:rPr lang="ja-JP" altLang="en-US" dirty="0"/>
                  <a:t>强单调，并进一步提出一种参数化方式：</a:t>
                </a:r>
                <a14:m>
                  <m:oMath xmlns:m="http://schemas.openxmlformats.org/officeDocument/2006/math">
                    <m:r>
                      <a:rPr lang="ja-JP" altLang="en-US" i="1"/>
                      <m:t>𝑊</m:t>
                    </m:r>
                    <m:r>
                      <a:rPr lang="en-US" altLang="ja-JP"/>
                      <m:t>=</m:t>
                    </m:r>
                    <m:d>
                      <m:dPr>
                        <m:ctrlPr>
                          <a:rPr lang="ar-AE" altLang="ja-JP" i="1"/>
                        </m:ctrlPr>
                      </m:dPr>
                      <m:e>
                        <m:r>
                          <a:rPr lang="ar-AE" altLang="ja-JP"/>
                          <m:t>1</m:t>
                        </m:r>
                        <m:r>
                          <a:rPr lang="ar-AE" altLang="ja-JP"/>
                          <m:t>−</m:t>
                        </m:r>
                        <m:r>
                          <a:rPr lang="ja-JP" altLang="ar-AE" i="1"/>
                          <m:t>𝑚</m:t>
                        </m:r>
                      </m:e>
                    </m:d>
                    <m:r>
                      <a:rPr lang="ja-JP" altLang="ar-AE" i="1"/>
                      <m:t>𝐼</m:t>
                    </m:r>
                    <m:r>
                      <a:rPr lang="ar-AE" altLang="ja-JP"/>
                      <m:t>−</m:t>
                    </m:r>
                    <m:sSup>
                      <m:sSupPr>
                        <m:ctrlPr>
                          <a:rPr lang="ar-AE" altLang="ja-JP" i="1"/>
                        </m:ctrlPr>
                      </m:sSupPr>
                      <m:e>
                        <m:r>
                          <a:rPr lang="ja-JP" altLang="ar-AE" i="1"/>
                          <m:t>𝐴</m:t>
                        </m:r>
                      </m:e>
                      <m:sup>
                        <m:r>
                          <a:rPr lang="ar-AE" altLang="ja-JP"/>
                          <m:t>⊤</m:t>
                        </m:r>
                      </m:sup>
                    </m:sSup>
                    <m:r>
                      <a:rPr lang="ja-JP" altLang="ar-AE" i="1"/>
                      <m:t>𝐴</m:t>
                    </m:r>
                    <m:r>
                      <a:rPr lang="ar-AE" altLang="ja-JP"/>
                      <m:t>+</m:t>
                    </m:r>
                    <m:r>
                      <a:rPr lang="ja-JP" altLang="ar-AE" i="1"/>
                      <m:t>𝐵</m:t>
                    </m:r>
                    <m:r>
                      <a:rPr lang="ar-AE" altLang="ja-JP"/>
                      <m:t>−</m:t>
                    </m:r>
                    <m:sSup>
                      <m:sSupPr>
                        <m:ctrlPr>
                          <a:rPr lang="ar-AE" altLang="ja-JP" i="1"/>
                        </m:ctrlPr>
                      </m:sSupPr>
                      <m:e>
                        <m:r>
                          <a:rPr lang="ja-JP" altLang="ar-AE" i="1"/>
                          <m:t>𝐵</m:t>
                        </m:r>
                      </m:e>
                      <m:sup>
                        <m:r>
                          <a:rPr lang="ar-AE" altLang="ja-JP"/>
                          <m:t>⊤</m:t>
                        </m:r>
                      </m:sup>
                    </m:sSup>
                    <m:r>
                      <a:rPr lang="ar-AE" altLang="ja-JP"/>
                      <m:t>,</m:t>
                    </m:r>
                  </m:oMath>
                </a14:m>
                <a:r>
                  <a:rPr lang="en-US" altLang="ja-JP" dirty="0"/>
                  <a:t> </a:t>
                </a:r>
                <a:r>
                  <a:rPr lang="ja-JP" altLang="en-US" dirty="0"/>
                  <a:t>从而保证 </a:t>
                </a:r>
                <a14:m>
                  <m:oMath xmlns:m="http://schemas.openxmlformats.org/officeDocument/2006/math">
                    <m:r>
                      <a:rPr lang="ja-JP" altLang="en-US" i="1"/>
                      <m:t>𝐼</m:t>
                    </m:r>
                    <m:r>
                      <a:rPr lang="ja-JP" altLang="en-US"/>
                      <m:t>−</m:t>
                    </m:r>
                    <m:r>
                      <a:rPr lang="ja-JP" altLang="en-US" i="1"/>
                      <m:t>𝑊</m:t>
                    </m:r>
                    <m:r>
                      <a:rPr lang="ja-JP" altLang="en-US"/>
                      <m:t>⪰</m:t>
                    </m:r>
                    <m:r>
                      <a:rPr lang="ja-JP" altLang="en-US" i="1"/>
                      <m:t>𝑚𝐼</m:t>
                    </m:r>
                  </m:oMath>
                </a14:m>
                <a:r>
                  <a:rPr lang="ja-JP" altLang="en-US" dirty="0"/>
                  <a:t>。</a:t>
                </a:r>
              </a:p>
              <a:p>
                <a:pPr marL="0" indent="0">
                  <a:buNone/>
                </a:pPr>
                <a:endParaRPr lang="ja-JP" altLang="ar-AE" dirty="0"/>
              </a:p>
            </p:txBody>
          </p:sp>
        </mc:Choice>
        <mc:Fallback>
          <p:sp>
            <p:nvSpPr>
              <p:cNvPr id="12" name="コンテンツ プレースホルダー 2">
                <a:extLst>
                  <a:ext uri="{FF2B5EF4-FFF2-40B4-BE49-F238E27FC236}">
                    <a16:creationId xmlns:a16="http://schemas.microsoft.com/office/drawing/2014/main" id="{D08F40CF-F5A7-B720-5166-17F1C1A6E6F2}"/>
                  </a:ext>
                </a:extLst>
              </p:cNvPr>
              <p:cNvSpPr>
                <a:spLocks noGrp="1" noRot="1" noChangeAspect="1" noMove="1" noResize="1" noEditPoints="1" noAdjustHandles="1" noChangeArrowheads="1" noChangeShapeType="1" noTextEdit="1"/>
              </p:cNvSpPr>
              <p:nvPr>
                <p:ph idx="1"/>
              </p:nvPr>
            </p:nvSpPr>
            <p:spPr>
              <a:xfrm>
                <a:off x="116958" y="1112520"/>
                <a:ext cx="11973442" cy="5440680"/>
              </a:xfrm>
              <a:blipFill>
                <a:blip r:embed="rId3"/>
                <a:stretch>
                  <a:fillRect l="-509" t="-1009" r="-5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84107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E9A27-4839-7E22-512C-DF893FEE36F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62F5D2EF-20F9-2ADB-9C09-0161194A9BB9}"/>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160CE32C-BB0F-D958-BB8E-6D91F72D29D4}"/>
                  </a:ext>
                </a:extLst>
              </p:cNvPr>
              <p:cNvSpPr>
                <a:spLocks noGrp="1"/>
              </p:cNvSpPr>
              <p:nvPr>
                <p:ph idx="1"/>
              </p:nvPr>
            </p:nvSpPr>
            <p:spPr>
              <a:xfrm>
                <a:off x="116958" y="1112520"/>
                <a:ext cx="11973442" cy="5440680"/>
              </a:xfrm>
            </p:spPr>
            <p:txBody>
              <a:bodyPr/>
              <a:lstStyle/>
              <a:p>
                <a:pPr marL="0" indent="0">
                  <a:buNone/>
                </a:pPr>
                <a:r>
                  <a:rPr lang="ja-JP" altLang="en-US" dirty="0"/>
                  <a:t>普通 </a:t>
                </a:r>
                <a:r>
                  <a:rPr lang="en-US" altLang="ja-JP" dirty="0"/>
                  <a:t>DEQ </a:t>
                </a:r>
                <a:r>
                  <a:rPr lang="ja-JP" altLang="en-US" dirty="0"/>
                  <a:t>常用 </a:t>
                </a:r>
                <a:r>
                  <a:rPr lang="en-US" altLang="ja-JP" dirty="0"/>
                  <a:t>root-finding</a:t>
                </a:r>
                <a:r>
                  <a:rPr lang="ja-JP" altLang="en-US" dirty="0"/>
                  <a:t>，比如 </a:t>
                </a:r>
                <a:r>
                  <a:rPr lang="en-US" altLang="ja-JP" dirty="0"/>
                  <a:t>fixed-point iteration</a:t>
                </a:r>
                <a:r>
                  <a:rPr lang="ja-JP" altLang="en-US" dirty="0"/>
                  <a:t>、</a:t>
                </a:r>
                <a:r>
                  <a:rPr lang="en-US" altLang="ja-JP" dirty="0" err="1"/>
                  <a:t>Broyden</a:t>
                </a:r>
                <a:r>
                  <a:rPr lang="en-US" altLang="ja-JP" dirty="0"/>
                  <a:t> method</a:t>
                </a:r>
                <a:r>
                  <a:rPr lang="ja-JP" altLang="en-US" dirty="0"/>
                  <a:t>：</a:t>
                </a:r>
              </a:p>
              <a:p>
                <a:pPr marL="0" indent="0">
                  <a:buNone/>
                </a:pPr>
                <a14:m>
                  <m:oMathPara xmlns:m="http://schemas.openxmlformats.org/officeDocument/2006/math">
                    <m:oMathParaPr>
                      <m:jc m:val="centerGroup"/>
                    </m:oMathParaPr>
                    <m:oMath xmlns:m="http://schemas.openxmlformats.org/officeDocument/2006/math">
                      <m:sSub>
                        <m:sSubPr>
                          <m:ctrlPr>
                            <a:rPr lang="ar-AE" altLang="ja-JP"/>
                          </m:ctrlPr>
                        </m:sSubPr>
                        <m:e>
                          <m:r>
                            <a:rPr lang="ja-JP" altLang="ar-AE" i="1"/>
                            <m:t>𝑧</m:t>
                          </m:r>
                        </m:e>
                        <m:sub>
                          <m:r>
                            <a:rPr lang="ja-JP" altLang="ar-AE" i="1"/>
                            <m:t>𝑘</m:t>
                          </m:r>
                          <m:r>
                            <a:rPr lang="ar-AE" altLang="ja-JP"/>
                            <m:t>+</m:t>
                          </m:r>
                          <m:r>
                            <a:rPr lang="ar-AE" altLang="ja-JP"/>
                            <m:t>1</m:t>
                          </m:r>
                        </m:sub>
                      </m:sSub>
                      <m:r>
                        <a:rPr lang="ar-AE" altLang="ja-JP"/>
                        <m:t>=</m:t>
                      </m:r>
                      <m:sSub>
                        <m:sSubPr>
                          <m:ctrlPr>
                            <a:rPr lang="ar-AE" altLang="ja-JP" i="1"/>
                          </m:ctrlPr>
                        </m:sSubPr>
                        <m:e>
                          <m:r>
                            <a:rPr lang="ja-JP" altLang="ar-AE" i="1"/>
                            <m:t>𝑓</m:t>
                          </m:r>
                        </m:e>
                        <m:sub>
                          <m:r>
                            <a:rPr lang="ja-JP" altLang="ar-AE" i="1"/>
                            <m:t>𝜃</m:t>
                          </m:r>
                        </m:sub>
                      </m:sSub>
                      <m:d>
                        <m:dPr>
                          <m:sepChr m:val=","/>
                          <m:ctrlPr>
                            <a:rPr lang="ar-AE" altLang="ja-JP" i="1"/>
                          </m:ctrlPr>
                        </m:dPr>
                        <m:e>
                          <m:sSub>
                            <m:sSubPr>
                              <m:ctrlPr>
                                <a:rPr lang="ar-AE" altLang="ja-JP" i="1"/>
                              </m:ctrlPr>
                            </m:sSubPr>
                            <m:e>
                              <m:r>
                                <a:rPr lang="ja-JP" altLang="ar-AE" i="1"/>
                                <m:t>𝑧</m:t>
                              </m:r>
                            </m:e>
                            <m:sub>
                              <m:r>
                                <a:rPr lang="ja-JP" altLang="ar-AE" i="1"/>
                                <m:t>𝑘</m:t>
                              </m:r>
                            </m:sub>
                          </m:sSub>
                        </m:e>
                        <m:e>
                          <m:r>
                            <a:rPr lang="ja-JP" altLang="ar-AE" i="1"/>
                            <m:t>𝑥</m:t>
                          </m:r>
                        </m:e>
                      </m:d>
                      <m:r>
                        <a:rPr lang="ar-AE" altLang="ja-JP"/>
                        <m:t>.</m:t>
                      </m:r>
                    </m:oMath>
                  </m:oMathPara>
                </a14:m>
                <a:endParaRPr lang="ar-AE" altLang="ja-JP" dirty="0"/>
              </a:p>
              <a:p>
                <a:pPr marL="0" indent="0">
                  <a:buNone/>
                </a:pPr>
                <a:r>
                  <a:rPr lang="ja-JP" altLang="en-US" dirty="0"/>
                  <a:t>但这些方法本身不一定有全局稳定收敛保证。</a:t>
                </a:r>
              </a:p>
              <a:p>
                <a:pPr marL="0" indent="0">
                  <a:buNone/>
                </a:pPr>
                <a:r>
                  <a:rPr lang="en-US" altLang="ja-JP" dirty="0" err="1"/>
                  <a:t>monDEQ</a:t>
                </a:r>
                <a:r>
                  <a:rPr lang="en-US" altLang="ja-JP" dirty="0"/>
                  <a:t> </a:t>
                </a:r>
                <a:r>
                  <a:rPr lang="ja-JP" altLang="en-US" dirty="0"/>
                  <a:t>的策略不同。它不直接依赖普通的固定点迭代，而是把问题写成：</a:t>
                </a:r>
              </a:p>
              <a:p>
                <a:pPr marL="0" indent="0">
                  <a:buNone/>
                </a:pPr>
                <a14:m>
                  <m:oMathPara xmlns:m="http://schemas.openxmlformats.org/officeDocument/2006/math">
                    <m:oMathParaPr>
                      <m:jc m:val="centerGroup"/>
                    </m:oMathParaPr>
                    <m:oMath xmlns:m="http://schemas.openxmlformats.org/officeDocument/2006/math">
                      <m:r>
                        <a:rPr lang="en-US" altLang="ja-JP"/>
                        <m:t>0</m:t>
                      </m:r>
                      <m:r>
                        <a:rPr lang="ja-JP" altLang="en-US"/>
                        <m:t>∈</m:t>
                      </m:r>
                      <m:r>
                        <a:rPr lang="ja-JP" altLang="en-US" i="1"/>
                        <m:t>𝐹</m:t>
                      </m:r>
                      <m:d>
                        <m:dPr>
                          <m:ctrlPr>
                            <a:rPr lang="ar-AE" altLang="ja-JP" i="1"/>
                          </m:ctrlPr>
                        </m:dPr>
                        <m:e>
                          <m:r>
                            <a:rPr lang="ja-JP" altLang="ar-AE" i="1"/>
                            <m:t>𝑧</m:t>
                          </m:r>
                        </m:e>
                      </m:d>
                      <m:r>
                        <a:rPr lang="ar-AE" altLang="ja-JP"/>
                        <m:t>+</m:t>
                      </m:r>
                      <m:r>
                        <a:rPr lang="ja-JP" altLang="ar-AE" i="1"/>
                        <m:t>𝐺</m:t>
                      </m:r>
                      <m:d>
                        <m:dPr>
                          <m:ctrlPr>
                            <a:rPr lang="ar-AE" altLang="ja-JP" i="1"/>
                          </m:ctrlPr>
                        </m:dPr>
                        <m:e>
                          <m:r>
                            <a:rPr lang="ja-JP" altLang="ar-AE" i="1"/>
                            <m:t>𝑧</m:t>
                          </m:r>
                        </m:e>
                      </m:d>
                      <m:r>
                        <a:rPr lang="ar-AE" altLang="ja-JP"/>
                        <m:t>,</m:t>
                      </m:r>
                    </m:oMath>
                  </m:oMathPara>
                </a14:m>
                <a:endParaRPr lang="ar-AE" altLang="ja-JP" dirty="0"/>
              </a:p>
              <a:p>
                <a:pPr marL="0" indent="0">
                  <a:buNone/>
                </a:pPr>
                <a:r>
                  <a:rPr lang="ja-JP" altLang="en-US" dirty="0"/>
                  <a:t>然后使用</a:t>
                </a:r>
                <a:r>
                  <a:rPr lang="ja-JP" altLang="en-US" b="1" dirty="0"/>
                  <a:t>单调算子分裂方法</a:t>
                </a:r>
                <a:r>
                  <a:rPr lang="ja-JP" altLang="en-US" dirty="0"/>
                  <a:t>求解。</a:t>
                </a:r>
              </a:p>
              <a:p>
                <a:pPr marL="0" indent="0">
                  <a:buNone/>
                </a:pPr>
                <a:endParaRPr lang="en-US" altLang="ja-JP" dirty="0"/>
              </a:p>
              <a:p>
                <a:pPr marL="0" indent="0">
                  <a:buNone/>
                </a:pPr>
                <a:r>
                  <a:rPr lang="ja-JP" altLang="en-US" dirty="0"/>
                  <a:t>常见方法包括：</a:t>
                </a:r>
              </a:p>
              <a:p>
                <a:pPr lvl="1"/>
                <a:r>
                  <a:rPr lang="en-US" altLang="ja-JP" dirty="0"/>
                  <a:t>Forward-Backward Splitting</a:t>
                </a:r>
                <a:r>
                  <a:rPr lang="ja-JP" altLang="en-US" dirty="0"/>
                  <a:t>； </a:t>
                </a:r>
              </a:p>
              <a:p>
                <a:pPr lvl="1"/>
                <a:r>
                  <a:rPr lang="en-US" altLang="ja-JP" dirty="0" err="1"/>
                  <a:t>Peaceman</a:t>
                </a:r>
                <a:r>
                  <a:rPr lang="en-US" altLang="ja-JP" dirty="0"/>
                  <a:t>-Rachford Splitting</a:t>
                </a:r>
                <a:r>
                  <a:rPr lang="ja-JP" altLang="en-US" dirty="0"/>
                  <a:t>； </a:t>
                </a:r>
              </a:p>
              <a:p>
                <a:pPr lvl="1"/>
                <a:r>
                  <a:rPr lang="ja-JP" altLang="en-US" dirty="0"/>
                  <a:t>其他 </a:t>
                </a:r>
                <a:r>
                  <a:rPr lang="en-US" altLang="ja-JP" dirty="0"/>
                  <a:t>resolvent/proximal </a:t>
                </a:r>
                <a:r>
                  <a:rPr lang="ja-JP" altLang="en-US" dirty="0"/>
                  <a:t>类型方法。 </a:t>
                </a:r>
              </a:p>
              <a:p>
                <a:pPr marL="0" indent="0">
                  <a:buNone/>
                </a:pPr>
                <a:endParaRPr lang="en-US" altLang="ja-JP" dirty="0"/>
              </a:p>
              <a:p>
                <a:pPr marL="0" indent="0">
                  <a:buNone/>
                </a:pPr>
                <a:r>
                  <a:rPr lang="ja-JP" altLang="en-US" dirty="0"/>
                  <a:t>论文指出，</a:t>
                </a:r>
                <a:r>
                  <a:rPr lang="en-US" altLang="ja-JP" dirty="0" err="1"/>
                  <a:t>monDEQ</a:t>
                </a:r>
                <a:r>
                  <a:rPr lang="en-US" altLang="ja-JP" dirty="0"/>
                  <a:t> </a:t>
                </a:r>
                <a:r>
                  <a:rPr lang="ja-JP" altLang="en-US" dirty="0"/>
                  <a:t>将网络平衡点求解和 </a:t>
                </a:r>
                <a:r>
                  <a:rPr lang="en-US" altLang="ja-JP" dirty="0"/>
                  <a:t>monotone operator splitting </a:t>
                </a:r>
                <a:r>
                  <a:rPr lang="ja-JP" altLang="en-US" dirty="0"/>
                  <a:t>联系起来，并由此获得具有稳定收敛保证的高效求解器。</a:t>
                </a:r>
              </a:p>
            </p:txBody>
          </p:sp>
        </mc:Choice>
        <mc:Fallback>
          <p:sp>
            <p:nvSpPr>
              <p:cNvPr id="12" name="コンテンツ プレースホルダー 2">
                <a:extLst>
                  <a:ext uri="{FF2B5EF4-FFF2-40B4-BE49-F238E27FC236}">
                    <a16:creationId xmlns:a16="http://schemas.microsoft.com/office/drawing/2014/main" id="{160CE32C-BB0F-D958-BB8E-6D91F72D29D4}"/>
                  </a:ext>
                </a:extLst>
              </p:cNvPr>
              <p:cNvSpPr>
                <a:spLocks noGrp="1" noRot="1" noChangeAspect="1" noMove="1" noResize="1" noEditPoints="1" noAdjustHandles="1" noChangeArrowheads="1" noChangeShapeType="1" noTextEdit="1"/>
              </p:cNvSpPr>
              <p:nvPr>
                <p:ph idx="1"/>
              </p:nvPr>
            </p:nvSpPr>
            <p:spPr>
              <a:xfrm>
                <a:off x="116958" y="1112520"/>
                <a:ext cx="11973442" cy="5440680"/>
              </a:xfrm>
              <a:blipFill>
                <a:blip r:embed="rId3"/>
                <a:stretch>
                  <a:fillRect l="-509" t="-10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536183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66715-9C6F-BD78-2074-C232ECA46EB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E863F8E-9FEE-8425-CFEA-0F0CA1CF014E}"/>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42BA11D-2D02-7AFC-7133-27CBCE909C8A}"/>
                  </a:ext>
                </a:extLst>
              </p:cNvPr>
              <p:cNvSpPr>
                <a:spLocks noGrp="1"/>
              </p:cNvSpPr>
              <p:nvPr>
                <p:ph idx="1"/>
              </p:nvPr>
            </p:nvSpPr>
            <p:spPr>
              <a:xfrm>
                <a:off x="116958" y="1112520"/>
                <a:ext cx="11973442" cy="5440680"/>
              </a:xfrm>
            </p:spPr>
            <p:txBody>
              <a:bodyPr/>
              <a:lstStyle/>
              <a:p>
                <a:pPr marL="0" indent="0">
                  <a:buNone/>
                </a:pPr>
                <a:r>
                  <a:rPr lang="ja-JP" altLang="en-US" sz="1800" dirty="0"/>
                  <a:t>对于问题：</a:t>
                </a:r>
                <a14:m>
                  <m:oMath xmlns:m="http://schemas.openxmlformats.org/officeDocument/2006/math">
                    <m:r>
                      <a:rPr lang="en-US" altLang="ja-JP" sz="1800"/>
                      <m:t>0</m:t>
                    </m:r>
                    <m:r>
                      <a:rPr lang="ja-JP" altLang="en-US" sz="1800"/>
                      <m:t>∈</m:t>
                    </m:r>
                    <m:r>
                      <a:rPr lang="ja-JP" altLang="en-US" sz="1800" i="1"/>
                      <m:t>𝐹</m:t>
                    </m:r>
                    <m:d>
                      <m:dPr>
                        <m:ctrlPr>
                          <a:rPr lang="ar-AE" altLang="ja-JP" sz="1800" i="1"/>
                        </m:ctrlPr>
                      </m:dPr>
                      <m:e>
                        <m:r>
                          <a:rPr lang="ja-JP" altLang="ar-AE" sz="1800" i="1"/>
                          <m:t>𝑧</m:t>
                        </m:r>
                      </m:e>
                    </m:d>
                    <m:r>
                      <a:rPr lang="ar-AE" altLang="ja-JP" sz="1800"/>
                      <m:t>+</m:t>
                    </m:r>
                    <m:r>
                      <a:rPr lang="ja-JP" altLang="ar-AE" sz="1800" i="1"/>
                      <m:t>𝐺</m:t>
                    </m:r>
                    <m:d>
                      <m:dPr>
                        <m:ctrlPr>
                          <a:rPr lang="ar-AE" altLang="ja-JP" sz="1800" i="1"/>
                        </m:ctrlPr>
                      </m:dPr>
                      <m:e>
                        <m:r>
                          <a:rPr lang="ja-JP" altLang="ar-AE" sz="1800" i="1"/>
                          <m:t>𝑧</m:t>
                        </m:r>
                      </m:e>
                    </m:d>
                    <m:r>
                      <a:rPr lang="ar-AE" altLang="ja-JP" sz="1800"/>
                      <m:t>,</m:t>
                    </m:r>
                  </m:oMath>
                </a14:m>
                <a:endParaRPr lang="ar-AE" altLang="ja-JP" sz="1800" dirty="0"/>
              </a:p>
              <a:p>
                <a:pPr marL="0" indent="0">
                  <a:buNone/>
                </a:pPr>
                <a:r>
                  <a:rPr lang="ja-JP" altLang="en-US" sz="1800" dirty="0"/>
                  <a:t>如果 </a:t>
                </a:r>
                <a14:m>
                  <m:oMath xmlns:m="http://schemas.openxmlformats.org/officeDocument/2006/math">
                    <m:r>
                      <a:rPr lang="ja-JP" altLang="en-US" sz="1800" i="1"/>
                      <m:t>𝐹</m:t>
                    </m:r>
                  </m:oMath>
                </a14:m>
                <a:r>
                  <a:rPr lang="ja-JP" altLang="en-US" sz="1800" dirty="0"/>
                  <a:t>是比较容易计算的单调算子，</a:t>
                </a:r>
                <a14:m>
                  <m:oMath xmlns:m="http://schemas.openxmlformats.org/officeDocument/2006/math">
                    <m:r>
                      <a:rPr lang="ja-JP" altLang="en-US" sz="1800" i="1"/>
                      <m:t>𝐺</m:t>
                    </m:r>
                  </m:oMath>
                </a14:m>
                <a:r>
                  <a:rPr lang="ja-JP" altLang="en-US" sz="1800" dirty="0"/>
                  <a:t> 的 </a:t>
                </a:r>
                <a:r>
                  <a:rPr lang="en-US" altLang="ja-JP" sz="1800" dirty="0"/>
                  <a:t>proximal operator </a:t>
                </a:r>
                <a:r>
                  <a:rPr lang="ja-JP" altLang="en-US" sz="1800" dirty="0"/>
                  <a:t>容易计算，就可以使用 </a:t>
                </a:r>
                <a:r>
                  <a:rPr lang="en-US" altLang="ja-JP" sz="1800" dirty="0">
                    <a:solidFill>
                      <a:srgbClr val="C00000"/>
                    </a:solidFill>
                  </a:rPr>
                  <a:t>forward-backward splitting</a:t>
                </a:r>
                <a:r>
                  <a:rPr lang="ja-JP" altLang="en-US" sz="1800" dirty="0"/>
                  <a:t>。在 </a:t>
                </a:r>
                <a:r>
                  <a:rPr lang="en-US" altLang="ja-JP" sz="1800" dirty="0" err="1"/>
                  <a:t>monDEQ</a:t>
                </a:r>
                <a:r>
                  <a:rPr lang="en-US" altLang="ja-JP" sz="1800" dirty="0"/>
                  <a:t> </a:t>
                </a:r>
                <a:r>
                  <a:rPr lang="ja-JP" altLang="en-US" sz="1800" dirty="0"/>
                  <a:t>中，更新形式可以写成：</a:t>
                </a:r>
              </a:p>
              <a:p>
                <a:pPr marL="0" indent="0">
                  <a:buNone/>
                </a:pPr>
                <a14:m>
                  <m:oMathPara xmlns:m="http://schemas.openxmlformats.org/officeDocument/2006/math">
                    <m:oMathParaPr>
                      <m:jc m:val="centerGroup"/>
                    </m:oMathParaPr>
                    <m:oMath xmlns:m="http://schemas.openxmlformats.org/officeDocument/2006/math">
                      <m:sSub>
                        <m:sSubPr>
                          <m:ctrlPr>
                            <a:rPr lang="ar-AE" altLang="ja-JP" sz="1800"/>
                          </m:ctrlPr>
                        </m:sSubPr>
                        <m:e>
                          <m:r>
                            <a:rPr lang="ja-JP" altLang="ar-AE" sz="1800" i="1"/>
                            <m:t>𝑧</m:t>
                          </m:r>
                        </m:e>
                        <m:sub>
                          <m:r>
                            <a:rPr lang="ja-JP" altLang="ar-AE" sz="1800" i="1"/>
                            <m:t>𝑘</m:t>
                          </m:r>
                          <m:r>
                            <a:rPr lang="ar-AE" altLang="ja-JP" sz="1800"/>
                            <m:t>+</m:t>
                          </m:r>
                          <m:r>
                            <a:rPr lang="ar-AE" altLang="ja-JP" sz="1800"/>
                            <m:t>1</m:t>
                          </m:r>
                        </m:sub>
                      </m:sSub>
                      <m:r>
                        <a:rPr lang="ar-AE" altLang="ja-JP" sz="1800"/>
                        <m:t>=</m:t>
                      </m:r>
                      <m:sSub>
                        <m:sSubPr>
                          <m:ctrlPr>
                            <a:rPr lang="ar-AE" altLang="ja-JP" sz="1800" i="1"/>
                          </m:ctrlPr>
                        </m:sSubPr>
                        <m:e>
                          <m:r>
                            <m:rPr>
                              <m:sty m:val="p"/>
                            </m:rPr>
                            <a:rPr lang="en-US" altLang="ja-JP" sz="1800"/>
                            <m:t>prox</m:t>
                          </m:r>
                        </m:e>
                        <m:sub>
                          <m:r>
                            <a:rPr lang="ja-JP" altLang="ar-AE" sz="1800" i="1"/>
                            <m:t>𝛼</m:t>
                          </m:r>
                          <m:r>
                            <a:rPr lang="ja-JP" altLang="ar-AE" sz="1800" i="1"/>
                            <m:t>𝑓</m:t>
                          </m:r>
                        </m:sub>
                      </m:sSub>
                      <m:d>
                        <m:dPr>
                          <m:ctrlPr>
                            <a:rPr lang="ar-AE" altLang="ja-JP" sz="1800" i="1"/>
                          </m:ctrlPr>
                        </m:dPr>
                        <m:e>
                          <m:sSub>
                            <m:sSubPr>
                              <m:ctrlPr>
                                <a:rPr lang="ar-AE" altLang="ja-JP" sz="1800" i="1"/>
                              </m:ctrlPr>
                            </m:sSubPr>
                            <m:e>
                              <m:r>
                                <a:rPr lang="ja-JP" altLang="ar-AE" sz="1800" i="1"/>
                                <m:t>𝑧</m:t>
                              </m:r>
                            </m:e>
                            <m:sub>
                              <m:r>
                                <a:rPr lang="ja-JP" altLang="ar-AE" sz="1800" i="1"/>
                                <m:t>𝑘</m:t>
                              </m:r>
                            </m:sub>
                          </m:sSub>
                          <m:r>
                            <a:rPr lang="ar-AE" altLang="ja-JP" sz="1800"/>
                            <m:t>−</m:t>
                          </m:r>
                          <m:r>
                            <a:rPr lang="ja-JP" altLang="ar-AE" sz="1800" i="1"/>
                            <m:t>𝛼</m:t>
                          </m:r>
                          <m:r>
                            <a:rPr lang="ar-AE" altLang="ja-JP" sz="1800"/>
                            <m:t>(</m:t>
                          </m:r>
                          <m:d>
                            <m:dPr>
                              <m:ctrlPr>
                                <a:rPr lang="ar-AE" altLang="ja-JP" sz="1800" i="1"/>
                              </m:ctrlPr>
                            </m:dPr>
                            <m:e>
                              <m:r>
                                <a:rPr lang="ja-JP" altLang="ar-AE" sz="1800" i="1"/>
                                <m:t>𝐼</m:t>
                              </m:r>
                              <m:r>
                                <a:rPr lang="ar-AE" altLang="ja-JP" sz="1800"/>
                                <m:t>−</m:t>
                              </m:r>
                              <m:r>
                                <a:rPr lang="ja-JP" altLang="ar-AE" sz="1800" i="1"/>
                                <m:t>𝑊</m:t>
                              </m:r>
                            </m:e>
                          </m:d>
                          <m:sSub>
                            <m:sSubPr>
                              <m:ctrlPr>
                                <a:rPr lang="ar-AE" altLang="ja-JP" sz="1800" i="1"/>
                              </m:ctrlPr>
                            </m:sSubPr>
                            <m:e>
                              <m:r>
                                <a:rPr lang="ja-JP" altLang="ar-AE" sz="1800" i="1"/>
                                <m:t>𝑧</m:t>
                              </m:r>
                            </m:e>
                            <m:sub>
                              <m:r>
                                <a:rPr lang="ja-JP" altLang="ar-AE" sz="1800" i="1"/>
                                <m:t>𝑘</m:t>
                              </m:r>
                            </m:sub>
                          </m:sSub>
                          <m:r>
                            <a:rPr lang="ar-AE" altLang="ja-JP" sz="1800"/>
                            <m:t>−</m:t>
                          </m:r>
                          <m:d>
                            <m:dPr>
                              <m:ctrlPr>
                                <a:rPr lang="ar-AE" altLang="ja-JP" sz="1800" i="1"/>
                              </m:ctrlPr>
                            </m:dPr>
                            <m:e>
                              <m:r>
                                <a:rPr lang="ja-JP" altLang="ar-AE" sz="1800" i="1"/>
                                <m:t>𝑈𝑥</m:t>
                              </m:r>
                              <m:r>
                                <a:rPr lang="ar-AE" altLang="ja-JP" sz="1800"/>
                                <m:t>+</m:t>
                              </m:r>
                              <m:r>
                                <a:rPr lang="ja-JP" altLang="ar-AE" sz="1800" i="1"/>
                                <m:t>𝑏</m:t>
                              </m:r>
                            </m:e>
                          </m:d>
                          <m:r>
                            <a:rPr lang="ar-AE" altLang="ja-JP" sz="1800"/>
                            <m:t>)</m:t>
                          </m:r>
                        </m:e>
                      </m:d>
                      <m:r>
                        <a:rPr lang="ar-AE" altLang="ja-JP" sz="1800"/>
                        <m:t>.</m:t>
                      </m:r>
                    </m:oMath>
                  </m:oMathPara>
                </a14:m>
                <a:endParaRPr lang="ar-AE" altLang="ja-JP" sz="1800" dirty="0"/>
              </a:p>
              <a:p>
                <a:pPr marL="0" indent="0">
                  <a:buNone/>
                </a:pPr>
                <a:r>
                  <a:rPr lang="ja-JP" altLang="en-US" sz="1800" dirty="0"/>
                  <a:t>等价地：</a:t>
                </a:r>
              </a:p>
              <a:p>
                <a:pPr marL="0" indent="0">
                  <a:buNone/>
                </a:pPr>
                <a14:m>
                  <m:oMathPara xmlns:m="http://schemas.openxmlformats.org/officeDocument/2006/math">
                    <m:oMathParaPr>
                      <m:jc m:val="centerGroup"/>
                    </m:oMathParaPr>
                    <m:oMath xmlns:m="http://schemas.openxmlformats.org/officeDocument/2006/math">
                      <m:sSub>
                        <m:sSubPr>
                          <m:ctrlPr>
                            <a:rPr lang="ar-AE" altLang="ja-JP" sz="1800"/>
                          </m:ctrlPr>
                        </m:sSubPr>
                        <m:e>
                          <m:r>
                            <a:rPr lang="ja-JP" altLang="ar-AE" sz="1800" i="1"/>
                            <m:t>𝑧</m:t>
                          </m:r>
                        </m:e>
                        <m:sub>
                          <m:r>
                            <a:rPr lang="ja-JP" altLang="ar-AE" sz="1800" i="1"/>
                            <m:t>𝑘</m:t>
                          </m:r>
                          <m:r>
                            <a:rPr lang="ar-AE" altLang="ja-JP" sz="1800"/>
                            <m:t>+</m:t>
                          </m:r>
                          <m:r>
                            <a:rPr lang="ar-AE" altLang="ja-JP" sz="1800"/>
                            <m:t>1</m:t>
                          </m:r>
                        </m:sub>
                      </m:sSub>
                      <m:r>
                        <a:rPr lang="ar-AE" altLang="ja-JP" sz="1800"/>
                        <m:t>=</m:t>
                      </m:r>
                      <m:sSub>
                        <m:sSubPr>
                          <m:ctrlPr>
                            <a:rPr lang="ar-AE" altLang="ja-JP" sz="1800" i="1"/>
                          </m:ctrlPr>
                        </m:sSubPr>
                        <m:e>
                          <m:r>
                            <m:rPr>
                              <m:sty m:val="p"/>
                            </m:rPr>
                            <a:rPr lang="en-US" altLang="ja-JP" sz="1800"/>
                            <m:t>prox</m:t>
                          </m:r>
                        </m:e>
                        <m:sub>
                          <m:r>
                            <a:rPr lang="ja-JP" altLang="ar-AE" sz="1800" i="1"/>
                            <m:t>𝛼</m:t>
                          </m:r>
                          <m:r>
                            <a:rPr lang="ja-JP" altLang="ar-AE" sz="1800" i="1"/>
                            <m:t>𝑓</m:t>
                          </m:r>
                        </m:sub>
                      </m:sSub>
                      <m:d>
                        <m:dPr>
                          <m:ctrlPr>
                            <a:rPr lang="ar-AE" altLang="ja-JP" sz="1800" i="1"/>
                          </m:ctrlPr>
                        </m:dPr>
                        <m:e>
                          <m:d>
                            <m:dPr>
                              <m:ctrlPr>
                                <a:rPr lang="ar-AE" altLang="ja-JP" sz="1800" i="1"/>
                              </m:ctrlPr>
                            </m:dPr>
                            <m:e>
                              <m:r>
                                <a:rPr lang="ar-AE" altLang="ja-JP" sz="1800"/>
                                <m:t>1</m:t>
                              </m:r>
                              <m:r>
                                <a:rPr lang="ar-AE" altLang="ja-JP" sz="1800"/>
                                <m:t>−</m:t>
                              </m:r>
                              <m:r>
                                <a:rPr lang="ja-JP" altLang="ar-AE" sz="1800" i="1"/>
                                <m:t>𝛼</m:t>
                              </m:r>
                            </m:e>
                          </m:d>
                          <m:sSub>
                            <m:sSubPr>
                              <m:ctrlPr>
                                <a:rPr lang="ar-AE" altLang="ja-JP" sz="1800" i="1"/>
                              </m:ctrlPr>
                            </m:sSubPr>
                            <m:e>
                              <m:r>
                                <a:rPr lang="ja-JP" altLang="ar-AE" sz="1800" i="1"/>
                                <m:t>𝑧</m:t>
                              </m:r>
                            </m:e>
                            <m:sub>
                              <m:r>
                                <a:rPr lang="ja-JP" altLang="ar-AE" sz="1800" i="1"/>
                                <m:t>𝑘</m:t>
                              </m:r>
                            </m:sub>
                          </m:sSub>
                          <m:r>
                            <a:rPr lang="ar-AE" altLang="ja-JP" sz="1800"/>
                            <m:t>+</m:t>
                          </m:r>
                          <m:r>
                            <a:rPr lang="ja-JP" altLang="ar-AE" sz="1800" i="1"/>
                            <m:t>𝛼</m:t>
                          </m:r>
                          <m:d>
                            <m:dPr>
                              <m:ctrlPr>
                                <a:rPr lang="ar-AE" altLang="ja-JP" sz="1800" i="1"/>
                              </m:ctrlPr>
                            </m:dPr>
                            <m:e>
                              <m:r>
                                <a:rPr lang="ja-JP" altLang="ar-AE" sz="1800" i="1"/>
                                <m:t>𝑊</m:t>
                              </m:r>
                              <m:sSub>
                                <m:sSubPr>
                                  <m:ctrlPr>
                                    <a:rPr lang="ar-AE" altLang="ja-JP" sz="1800" i="1"/>
                                  </m:ctrlPr>
                                </m:sSubPr>
                                <m:e>
                                  <m:r>
                                    <a:rPr lang="ja-JP" altLang="ar-AE" sz="1800" i="1"/>
                                    <m:t>𝑧</m:t>
                                  </m:r>
                                </m:e>
                                <m:sub>
                                  <m:r>
                                    <a:rPr lang="ja-JP" altLang="ar-AE" sz="1800" i="1"/>
                                    <m:t>𝑘</m:t>
                                  </m:r>
                                </m:sub>
                              </m:sSub>
                              <m:r>
                                <a:rPr lang="ar-AE" altLang="ja-JP" sz="1800"/>
                                <m:t>+</m:t>
                              </m:r>
                              <m:r>
                                <a:rPr lang="ja-JP" altLang="ar-AE" sz="1800" i="1"/>
                                <m:t>𝑈𝑥</m:t>
                              </m:r>
                              <m:r>
                                <a:rPr lang="ar-AE" altLang="ja-JP" sz="1800"/>
                                <m:t>+</m:t>
                              </m:r>
                              <m:r>
                                <a:rPr lang="ja-JP" altLang="ar-AE" sz="1800" i="1"/>
                                <m:t>𝑏</m:t>
                              </m:r>
                            </m:e>
                          </m:d>
                        </m:e>
                      </m:d>
                      <m:r>
                        <a:rPr lang="ar-AE" altLang="ja-JP" sz="1800"/>
                        <m:t>.</m:t>
                      </m:r>
                    </m:oMath>
                  </m:oMathPara>
                </a14:m>
                <a:endParaRPr lang="ar-AE" altLang="ja-JP" sz="1800" dirty="0"/>
              </a:p>
              <a:p>
                <a:r>
                  <a:rPr lang="ja-JP" altLang="en-US" sz="1800" dirty="0"/>
                  <a:t>这可以理解为一种“阻尼版”的固定点迭代。</a:t>
                </a:r>
              </a:p>
              <a:p>
                <a:pPr marL="0" indent="0">
                  <a:buNone/>
                </a:pPr>
                <a:r>
                  <a:rPr lang="ja-JP" altLang="en-US" sz="1800" dirty="0"/>
                  <a:t>普通 </a:t>
                </a:r>
                <a:r>
                  <a:rPr lang="en-US" altLang="ja-JP" sz="1800" dirty="0"/>
                  <a:t>DEQ </a:t>
                </a:r>
                <a:r>
                  <a:rPr lang="ja-JP" altLang="en-US" sz="1800" dirty="0"/>
                  <a:t>可能直接做：</a:t>
                </a:r>
                <a14:m>
                  <m:oMath xmlns:m="http://schemas.openxmlformats.org/officeDocument/2006/math">
                    <m:sSub>
                      <m:sSubPr>
                        <m:ctrlPr>
                          <a:rPr lang="ar-AE" altLang="ja-JP" sz="1800"/>
                        </m:ctrlPr>
                      </m:sSubPr>
                      <m:e>
                        <m:r>
                          <a:rPr lang="ja-JP" altLang="ar-AE" sz="1800" i="1"/>
                          <m:t>𝑧</m:t>
                        </m:r>
                      </m:e>
                      <m:sub>
                        <m:r>
                          <a:rPr lang="ja-JP" altLang="ar-AE" sz="1800" i="1"/>
                          <m:t>𝑘</m:t>
                        </m:r>
                        <m:r>
                          <a:rPr lang="ar-AE" altLang="ja-JP" sz="1800"/>
                          <m:t>+</m:t>
                        </m:r>
                        <m:r>
                          <a:rPr lang="ar-AE" altLang="ja-JP" sz="1800"/>
                          <m:t>1</m:t>
                        </m:r>
                      </m:sub>
                    </m:sSub>
                    <m:r>
                      <a:rPr lang="ar-AE" altLang="ja-JP" sz="1800"/>
                      <m:t>=</m:t>
                    </m:r>
                    <m:r>
                      <a:rPr lang="ja-JP" altLang="ar-AE" sz="1800" i="1"/>
                      <m:t>𝜎</m:t>
                    </m:r>
                    <m:d>
                      <m:dPr>
                        <m:ctrlPr>
                          <a:rPr lang="ar-AE" altLang="ja-JP" sz="1800" i="1"/>
                        </m:ctrlPr>
                      </m:dPr>
                      <m:e>
                        <m:r>
                          <a:rPr lang="ja-JP" altLang="ar-AE" sz="1800" i="1"/>
                          <m:t>𝑊</m:t>
                        </m:r>
                        <m:sSub>
                          <m:sSubPr>
                            <m:ctrlPr>
                              <a:rPr lang="ar-AE" altLang="ja-JP" sz="1800" i="1"/>
                            </m:ctrlPr>
                          </m:sSubPr>
                          <m:e>
                            <m:r>
                              <a:rPr lang="ja-JP" altLang="ar-AE" sz="1800" i="1"/>
                              <m:t>𝑧</m:t>
                            </m:r>
                          </m:e>
                          <m:sub>
                            <m:r>
                              <a:rPr lang="ja-JP" altLang="ar-AE" sz="1800" i="1"/>
                              <m:t>𝑘</m:t>
                            </m:r>
                          </m:sub>
                        </m:sSub>
                        <m:r>
                          <a:rPr lang="ar-AE" altLang="ja-JP" sz="1800"/>
                          <m:t>+</m:t>
                        </m:r>
                        <m:r>
                          <a:rPr lang="ja-JP" altLang="ar-AE" sz="1800" i="1"/>
                          <m:t>𝑈𝑥</m:t>
                        </m:r>
                        <m:r>
                          <a:rPr lang="ar-AE" altLang="ja-JP" sz="1800"/>
                          <m:t>+</m:t>
                        </m:r>
                        <m:r>
                          <a:rPr lang="ja-JP" altLang="ar-AE" sz="1800" i="1"/>
                          <m:t>𝑏</m:t>
                        </m:r>
                      </m:e>
                    </m:d>
                    <m:r>
                      <a:rPr lang="ar-AE" altLang="ja-JP" sz="1800"/>
                      <m:t>.</m:t>
                    </m:r>
                  </m:oMath>
                </a14:m>
                <a:endParaRPr lang="ar-AE" altLang="ja-JP" sz="1800" dirty="0"/>
              </a:p>
              <a:p>
                <a:pPr marL="0" indent="0">
                  <a:buNone/>
                </a:pPr>
                <a:r>
                  <a:rPr lang="en-US" altLang="ja-JP" sz="1800" dirty="0" err="1"/>
                  <a:t>monDEQ</a:t>
                </a:r>
                <a:r>
                  <a:rPr lang="en-US" altLang="ja-JP" sz="1800" dirty="0"/>
                  <a:t> </a:t>
                </a:r>
                <a:r>
                  <a:rPr lang="ja-JP" altLang="en-US" sz="1800" dirty="0"/>
                  <a:t>的 </a:t>
                </a:r>
                <a:r>
                  <a:rPr lang="en-US" altLang="ja-JP" sz="1800" dirty="0"/>
                  <a:t>forward-backward </a:t>
                </a:r>
                <a:r>
                  <a:rPr lang="ja-JP" altLang="en-US" sz="1800" dirty="0"/>
                  <a:t>版本则加入了步长 </a:t>
                </a:r>
                <a14:m>
                  <m:oMath xmlns:m="http://schemas.openxmlformats.org/officeDocument/2006/math">
                    <m:r>
                      <a:rPr lang="ja-JP" altLang="en-US" sz="1800" i="1"/>
                      <m:t>𝛼</m:t>
                    </m:r>
                  </m:oMath>
                </a14:m>
                <a:r>
                  <a:rPr lang="ja-JP" altLang="en-US" sz="1800" dirty="0"/>
                  <a:t>和 </a:t>
                </a:r>
                <a:r>
                  <a:rPr lang="en-US" altLang="ja-JP" sz="1800" dirty="0"/>
                  <a:t>proximal </a:t>
                </a:r>
                <a:r>
                  <a:rPr lang="ja-JP" altLang="en-US" sz="1800" dirty="0"/>
                  <a:t>结构，使迭代更稳定。论文中说明，</a:t>
                </a:r>
                <a:r>
                  <a:rPr lang="ja-JP" altLang="en-US" sz="1800" dirty="0">
                    <a:solidFill>
                      <a:srgbClr val="C00000"/>
                    </a:solidFill>
                  </a:rPr>
                  <a:t>当 </a:t>
                </a:r>
                <a14:m>
                  <m:oMath xmlns:m="http://schemas.openxmlformats.org/officeDocument/2006/math">
                    <m:r>
                      <a:rPr lang="ja-JP" altLang="en-US" sz="1800" i="1">
                        <a:solidFill>
                          <a:srgbClr val="C00000"/>
                        </a:solidFill>
                      </a:rPr>
                      <m:t>𝐼</m:t>
                    </m:r>
                    <m:r>
                      <a:rPr lang="ja-JP" altLang="en-US" sz="1800">
                        <a:solidFill>
                          <a:srgbClr val="C00000"/>
                        </a:solidFill>
                      </a:rPr>
                      <m:t>−</m:t>
                    </m:r>
                    <m:r>
                      <a:rPr lang="ja-JP" altLang="en-US" sz="1800" i="1">
                        <a:solidFill>
                          <a:srgbClr val="C00000"/>
                        </a:solidFill>
                      </a:rPr>
                      <m:t>𝑊</m:t>
                    </m:r>
                  </m:oMath>
                </a14:m>
                <a:r>
                  <a:rPr lang="ja-JP" altLang="en-US" sz="1800" dirty="0">
                    <a:solidFill>
                      <a:srgbClr val="C00000"/>
                    </a:solidFill>
                  </a:rPr>
                  <a:t>是 </a:t>
                </a:r>
                <a:r>
                  <a:rPr lang="en-US" altLang="ja-JP" sz="1800" dirty="0">
                    <a:solidFill>
                      <a:srgbClr val="C00000"/>
                    </a:solidFill>
                  </a:rPr>
                  <a:t>Lipschitz </a:t>
                </a:r>
                <a:r>
                  <a:rPr lang="ja-JP" altLang="en-US" sz="1800" dirty="0">
                    <a:solidFill>
                      <a:srgbClr val="C00000"/>
                    </a:solidFill>
                  </a:rPr>
                  <a:t>且强单调时，</a:t>
                </a:r>
                <a:r>
                  <a:rPr lang="en-US" altLang="ja-JP" sz="1800" dirty="0">
                    <a:solidFill>
                      <a:srgbClr val="C00000"/>
                    </a:solidFill>
                  </a:rPr>
                  <a:t>forward-backward iteration </a:t>
                </a:r>
                <a:r>
                  <a:rPr lang="ja-JP" altLang="en-US" sz="1800" dirty="0">
                    <a:solidFill>
                      <a:srgbClr val="C00000"/>
                    </a:solidFill>
                  </a:rPr>
                  <a:t>在合适步长条件下可以线性收敛到固定点</a:t>
                </a:r>
                <a:r>
                  <a:rPr lang="ja-JP" altLang="en-US" sz="1800" dirty="0"/>
                  <a:t>。</a:t>
                </a:r>
                <a:endParaRPr lang="en-US" altLang="ja-JP" sz="1800" dirty="0"/>
              </a:p>
              <a:p>
                <a:pPr marL="0" indent="0">
                  <a:buNone/>
                </a:pPr>
                <a:endParaRPr lang="en-US" altLang="ja-JP" sz="1800" dirty="0"/>
              </a:p>
              <a:p>
                <a:pPr marL="0" indent="0">
                  <a:buNone/>
                </a:pPr>
                <a:r>
                  <a:rPr lang="en-US" altLang="ja-JP" sz="1800" dirty="0"/>
                  <a:t>Forward-backward splitting </a:t>
                </a:r>
                <a:r>
                  <a:rPr lang="ja-JP" altLang="en-US" sz="1800" dirty="0"/>
                  <a:t>比普通迭代更有理论保证，但可能收敛不够快。</a:t>
                </a:r>
              </a:p>
              <a:p>
                <a:pPr marL="0" indent="0">
                  <a:buNone/>
                </a:pPr>
                <a:r>
                  <a:rPr lang="en-US" altLang="ja-JP" sz="1800" dirty="0" err="1"/>
                  <a:t>monDEQ</a:t>
                </a:r>
                <a:r>
                  <a:rPr lang="en-US" altLang="ja-JP" sz="1800" dirty="0"/>
                  <a:t> </a:t>
                </a:r>
                <a:r>
                  <a:rPr lang="ja-JP" altLang="en-US" sz="1800" dirty="0"/>
                  <a:t>还使用 </a:t>
                </a:r>
                <a:r>
                  <a:rPr lang="en-US" altLang="ja-JP" sz="1800" dirty="0" err="1">
                    <a:solidFill>
                      <a:schemeClr val="accent1">
                        <a:lumMod val="50000"/>
                      </a:schemeClr>
                    </a:solidFill>
                  </a:rPr>
                  <a:t>Peaceman</a:t>
                </a:r>
                <a:r>
                  <a:rPr lang="en-US" altLang="ja-JP" sz="1800" dirty="0">
                    <a:solidFill>
                      <a:schemeClr val="accent1">
                        <a:lumMod val="50000"/>
                      </a:schemeClr>
                    </a:solidFill>
                  </a:rPr>
                  <a:t>-Rachford splitting</a:t>
                </a:r>
                <a:r>
                  <a:rPr lang="ja-JP" altLang="en-US" sz="1800" dirty="0"/>
                  <a:t>。这类方法利用两个算子的 </a:t>
                </a:r>
                <a:r>
                  <a:rPr lang="en-US" altLang="ja-JP" sz="1800" dirty="0"/>
                  <a:t>resolvent</a:t>
                </a:r>
                <a:r>
                  <a:rPr lang="ja-JP" altLang="en-US" sz="1800" dirty="0"/>
                  <a:t>，即类似：</a:t>
                </a:r>
              </a:p>
              <a:p>
                <a:pPr marL="0" indent="0">
                  <a:buNone/>
                </a:pPr>
                <a14:m>
                  <m:oMathPara xmlns:m="http://schemas.openxmlformats.org/officeDocument/2006/math">
                    <m:oMathParaPr>
                      <m:jc m:val="centerGroup"/>
                    </m:oMathParaPr>
                    <m:oMath xmlns:m="http://schemas.openxmlformats.org/officeDocument/2006/math">
                      <m:sSup>
                        <m:sSupPr>
                          <m:ctrlPr>
                            <a:rPr lang="ar-AE" altLang="ja-JP" sz="1800" smtClean="0">
                              <a:solidFill>
                                <a:schemeClr val="accent1">
                                  <a:lumMod val="50000"/>
                                </a:schemeClr>
                              </a:solidFill>
                            </a:rPr>
                          </m:ctrlPr>
                        </m:sSupPr>
                        <m:e>
                          <m:d>
                            <m:dPr>
                              <m:ctrlPr>
                                <a:rPr lang="ar-AE" altLang="ja-JP" sz="1800">
                                  <a:solidFill>
                                    <a:schemeClr val="accent1">
                                      <a:lumMod val="50000"/>
                                    </a:schemeClr>
                                  </a:solidFill>
                                </a:rPr>
                              </m:ctrlPr>
                            </m:dPr>
                            <m:e>
                              <m:r>
                                <a:rPr lang="ja-JP" altLang="ar-AE" sz="1800" i="1">
                                  <a:solidFill>
                                    <a:schemeClr val="accent1">
                                      <a:lumMod val="50000"/>
                                    </a:schemeClr>
                                  </a:solidFill>
                                </a:rPr>
                                <m:t>𝐼</m:t>
                              </m:r>
                              <m:r>
                                <a:rPr lang="ar-AE" altLang="ja-JP" sz="1800">
                                  <a:solidFill>
                                    <a:schemeClr val="accent1">
                                      <a:lumMod val="50000"/>
                                    </a:schemeClr>
                                  </a:solidFill>
                                </a:rPr>
                                <m:t>+</m:t>
                              </m:r>
                              <m:r>
                                <a:rPr lang="ja-JP" altLang="ar-AE" sz="1800" i="1">
                                  <a:solidFill>
                                    <a:schemeClr val="accent1">
                                      <a:lumMod val="50000"/>
                                    </a:schemeClr>
                                  </a:solidFill>
                                </a:rPr>
                                <m:t>𝛼</m:t>
                              </m:r>
                              <m:r>
                                <a:rPr lang="ja-JP" altLang="ar-AE" sz="1800" i="1">
                                  <a:solidFill>
                                    <a:schemeClr val="accent1">
                                      <a:lumMod val="50000"/>
                                    </a:schemeClr>
                                  </a:solidFill>
                                </a:rPr>
                                <m:t>𝐹</m:t>
                              </m:r>
                            </m:e>
                          </m:d>
                        </m:e>
                        <m:sup>
                          <m:r>
                            <a:rPr lang="ar-AE" altLang="ja-JP" sz="1800">
                              <a:solidFill>
                                <a:schemeClr val="accent1">
                                  <a:lumMod val="50000"/>
                                </a:schemeClr>
                              </a:solidFill>
                            </a:rPr>
                            <m:t>−</m:t>
                          </m:r>
                          <m:r>
                            <a:rPr lang="ar-AE" altLang="ja-JP" sz="1800">
                              <a:solidFill>
                                <a:schemeClr val="accent1">
                                  <a:lumMod val="50000"/>
                                </a:schemeClr>
                              </a:solidFill>
                            </a:rPr>
                            <m:t>1</m:t>
                          </m:r>
                        </m:sup>
                      </m:sSup>
                      <m:r>
                        <a:rPr lang="ar-AE" altLang="ja-JP" sz="1800">
                          <a:solidFill>
                            <a:schemeClr val="accent1">
                              <a:lumMod val="50000"/>
                            </a:schemeClr>
                          </a:solidFill>
                        </a:rPr>
                        <m:t>,</m:t>
                      </m:r>
                      <m:r>
                        <a:rPr lang="en-US" altLang="ja-JP" sz="1800" b="0" i="0" smtClean="0">
                          <a:solidFill>
                            <a:schemeClr val="accent1">
                              <a:lumMod val="50000"/>
                            </a:schemeClr>
                          </a:solidFill>
                          <a:latin typeface="Cambria Math" panose="02040503050406030204" pitchFamily="18" charset="0"/>
                        </a:rPr>
                        <m:t> </m:t>
                      </m:r>
                      <m:sSup>
                        <m:sSupPr>
                          <m:ctrlPr>
                            <a:rPr lang="ar-AE" altLang="ja-JP" sz="1800">
                              <a:solidFill>
                                <a:schemeClr val="accent1">
                                  <a:lumMod val="50000"/>
                                </a:schemeClr>
                              </a:solidFill>
                            </a:rPr>
                          </m:ctrlPr>
                        </m:sSupPr>
                        <m:e>
                          <m:d>
                            <m:dPr>
                              <m:ctrlPr>
                                <a:rPr lang="ar-AE" altLang="ja-JP" sz="1800">
                                  <a:solidFill>
                                    <a:schemeClr val="accent1">
                                      <a:lumMod val="50000"/>
                                    </a:schemeClr>
                                  </a:solidFill>
                                </a:rPr>
                              </m:ctrlPr>
                            </m:dPr>
                            <m:e>
                              <m:r>
                                <a:rPr lang="ja-JP" altLang="ar-AE" sz="1800" i="1">
                                  <a:solidFill>
                                    <a:schemeClr val="accent1">
                                      <a:lumMod val="50000"/>
                                    </a:schemeClr>
                                  </a:solidFill>
                                </a:rPr>
                                <m:t>𝐼</m:t>
                              </m:r>
                              <m:r>
                                <a:rPr lang="ar-AE" altLang="ja-JP" sz="1800">
                                  <a:solidFill>
                                    <a:schemeClr val="accent1">
                                      <a:lumMod val="50000"/>
                                    </a:schemeClr>
                                  </a:solidFill>
                                </a:rPr>
                                <m:t>+</m:t>
                              </m:r>
                              <m:r>
                                <a:rPr lang="ja-JP" altLang="ar-AE" sz="1800" i="1">
                                  <a:solidFill>
                                    <a:schemeClr val="accent1">
                                      <a:lumMod val="50000"/>
                                    </a:schemeClr>
                                  </a:solidFill>
                                </a:rPr>
                                <m:t>𝛼</m:t>
                              </m:r>
                              <m:r>
                                <a:rPr lang="ja-JP" altLang="ar-AE" sz="1800" i="1">
                                  <a:solidFill>
                                    <a:schemeClr val="accent1">
                                      <a:lumMod val="50000"/>
                                    </a:schemeClr>
                                  </a:solidFill>
                                </a:rPr>
                                <m:t>𝐺</m:t>
                              </m:r>
                            </m:e>
                          </m:d>
                        </m:e>
                        <m:sup>
                          <m:r>
                            <a:rPr lang="ar-AE" altLang="ja-JP" sz="1800">
                              <a:solidFill>
                                <a:schemeClr val="accent1">
                                  <a:lumMod val="50000"/>
                                </a:schemeClr>
                              </a:solidFill>
                            </a:rPr>
                            <m:t>−</m:t>
                          </m:r>
                          <m:r>
                            <a:rPr lang="ar-AE" altLang="ja-JP" sz="1800">
                              <a:solidFill>
                                <a:schemeClr val="accent1">
                                  <a:lumMod val="50000"/>
                                </a:schemeClr>
                              </a:solidFill>
                            </a:rPr>
                            <m:t>1</m:t>
                          </m:r>
                        </m:sup>
                      </m:sSup>
                      <m:r>
                        <a:rPr lang="ar-AE" altLang="ja-JP" sz="1800"/>
                        <m:t>.</m:t>
                      </m:r>
                    </m:oMath>
                  </m:oMathPara>
                </a14:m>
                <a:endParaRPr lang="ar-AE" altLang="ja-JP" sz="1800" dirty="0"/>
              </a:p>
              <a:p>
                <a:r>
                  <a:rPr lang="ja-JP" altLang="en-US" sz="1800" dirty="0"/>
                  <a:t>直观地说，它不是简单地向前走一步，而是在两个算子之间交替进行“校正”，因此常常比 </a:t>
                </a:r>
                <a:r>
                  <a:rPr lang="en-US" altLang="ja-JP" sz="1800" dirty="0"/>
                  <a:t>forward-backward </a:t>
                </a:r>
                <a:r>
                  <a:rPr lang="ja-JP" altLang="en-US" sz="1800" dirty="0"/>
                  <a:t>更快。论文指出，</a:t>
                </a:r>
                <a:r>
                  <a:rPr lang="en-US" altLang="ja-JP" sz="1800" dirty="0" err="1"/>
                  <a:t>Peaceman</a:t>
                </a:r>
                <a:r>
                  <a:rPr lang="en-US" altLang="ja-JP" sz="1800" dirty="0"/>
                  <a:t>-Rachford splitting </a:t>
                </a:r>
                <a:r>
                  <a:rPr lang="ja-JP" altLang="en-US" sz="1800" dirty="0"/>
                  <a:t>在他们的 </a:t>
                </a:r>
                <a:r>
                  <a:rPr lang="en-US" altLang="ja-JP" sz="1800" dirty="0" err="1"/>
                  <a:t>monDEQ</a:t>
                </a:r>
                <a:r>
                  <a:rPr lang="en-US" altLang="ja-JP" sz="1800" dirty="0"/>
                  <a:t> </a:t>
                </a:r>
                <a:r>
                  <a:rPr lang="ja-JP" altLang="en-US" sz="1800" dirty="0"/>
                  <a:t>设定下可以作为更快的平衡点求解方法；其代价是需要求涉及 </a:t>
                </a:r>
                <a14:m>
                  <m:oMath xmlns:m="http://schemas.openxmlformats.org/officeDocument/2006/math">
                    <m:r>
                      <a:rPr lang="ja-JP" altLang="en-US" sz="1800" i="1"/>
                      <m:t>𝑊</m:t>
                    </m:r>
                  </m:oMath>
                </a14:m>
                <a:r>
                  <a:rPr lang="ja-JP" altLang="en-US" sz="1800" dirty="0"/>
                  <a:t>的逆算子，例如 </a:t>
                </a:r>
                <a14:m>
                  <m:oMath xmlns:m="http://schemas.openxmlformats.org/officeDocument/2006/math">
                    <m:sSup>
                      <m:sSupPr>
                        <m:ctrlPr>
                          <a:rPr lang="ar-AE" altLang="ja-JP" sz="1800"/>
                        </m:ctrlPr>
                      </m:sSupPr>
                      <m:e>
                        <m:d>
                          <m:dPr>
                            <m:ctrlPr>
                              <a:rPr lang="ar-AE" altLang="ja-JP" sz="1800"/>
                            </m:ctrlPr>
                          </m:dPr>
                          <m:e>
                            <m:r>
                              <a:rPr lang="ja-JP" altLang="ar-AE" sz="1800" i="1"/>
                              <m:t>𝐼</m:t>
                            </m:r>
                            <m:r>
                              <a:rPr lang="ar-AE" altLang="ja-JP" sz="1800"/>
                              <m:t>+</m:t>
                            </m:r>
                            <m:r>
                              <a:rPr lang="ja-JP" altLang="ar-AE" sz="1800" i="1"/>
                              <m:t>𝛼</m:t>
                            </m:r>
                            <m:d>
                              <m:dPr>
                                <m:ctrlPr>
                                  <a:rPr lang="ar-AE" altLang="ja-JP" sz="1800" i="1"/>
                                </m:ctrlPr>
                              </m:dPr>
                              <m:e>
                                <m:r>
                                  <a:rPr lang="ja-JP" altLang="ar-AE" sz="1800" i="1"/>
                                  <m:t>𝐼</m:t>
                                </m:r>
                                <m:r>
                                  <a:rPr lang="ar-AE" altLang="ja-JP" sz="1800"/>
                                  <m:t>−</m:t>
                                </m:r>
                                <m:r>
                                  <a:rPr lang="ja-JP" altLang="ar-AE" sz="1800" i="1"/>
                                  <m:t>𝑊</m:t>
                                </m:r>
                              </m:e>
                            </m:d>
                          </m:e>
                        </m:d>
                      </m:e>
                      <m:sup>
                        <m:r>
                          <a:rPr lang="ar-AE" altLang="ja-JP" sz="1800"/>
                          <m:t>−</m:t>
                        </m:r>
                        <m:r>
                          <a:rPr lang="ar-AE" altLang="ja-JP" sz="1800"/>
                          <m:t>1</m:t>
                        </m:r>
                      </m:sup>
                    </m:sSup>
                  </m:oMath>
                </a14:m>
                <a:r>
                  <a:rPr lang="ja-JP" altLang="ar-AE" sz="1800" dirty="0"/>
                  <a:t>。</a:t>
                </a:r>
              </a:p>
              <a:p>
                <a:endParaRPr lang="ja-JP" altLang="en-US" sz="1800" dirty="0"/>
              </a:p>
            </p:txBody>
          </p:sp>
        </mc:Choice>
        <mc:Fallback>
          <p:sp>
            <p:nvSpPr>
              <p:cNvPr id="12" name="コンテンツ プレースホルダー 2">
                <a:extLst>
                  <a:ext uri="{FF2B5EF4-FFF2-40B4-BE49-F238E27FC236}">
                    <a16:creationId xmlns:a16="http://schemas.microsoft.com/office/drawing/2014/main" id="{942BA11D-2D02-7AFC-7133-27CBCE909C8A}"/>
                  </a:ext>
                </a:extLst>
              </p:cNvPr>
              <p:cNvSpPr>
                <a:spLocks noGrp="1" noRot="1" noChangeAspect="1" noMove="1" noResize="1" noEditPoints="1" noAdjustHandles="1" noChangeArrowheads="1" noChangeShapeType="1" noTextEdit="1"/>
              </p:cNvSpPr>
              <p:nvPr>
                <p:ph idx="1"/>
              </p:nvPr>
            </p:nvSpPr>
            <p:spPr>
              <a:xfrm>
                <a:off x="116958" y="1112520"/>
                <a:ext cx="11973442" cy="5440680"/>
              </a:xfrm>
              <a:blipFill>
                <a:blip r:embed="rId3"/>
                <a:stretch>
                  <a:fillRect l="-407" t="-897" b="-561"/>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11B00E14-9891-BAA4-4272-68CB1C7F860E}"/>
                  </a:ext>
                </a:extLst>
              </p:cNvPr>
              <p:cNvSpPr txBox="1"/>
              <p:nvPr/>
            </p:nvSpPr>
            <p:spPr>
              <a:xfrm>
                <a:off x="635000" y="5250785"/>
                <a:ext cx="6106160" cy="338554"/>
              </a:xfrm>
              <a:prstGeom prst="rect">
                <a:avLst/>
              </a:prstGeom>
              <a:noFill/>
            </p:spPr>
            <p:txBody>
              <a:bodyPr wrap="square">
                <a:spAutoFit/>
              </a:bodyPr>
              <a:lstStyle/>
              <a:p>
                <a:r>
                  <a:rPr lang="ja-JP" altLang="en-US" sz="1600" dirty="0">
                    <a:solidFill>
                      <a:schemeClr val="accent1">
                        <a:lumMod val="50000"/>
                      </a:schemeClr>
                    </a:solidFill>
                    <a:latin typeface="+mj-ea"/>
                    <a:ea typeface="+mj-ea"/>
                  </a:rPr>
                  <a:t>要找一个 </a:t>
                </a:r>
                <a14:m>
                  <m:oMath xmlns:m="http://schemas.openxmlformats.org/officeDocument/2006/math">
                    <m:sSup>
                      <m:sSupPr>
                        <m:ctrlPr>
                          <a:rPr lang="ar-AE" altLang="ja-JP" sz="1600" i="1">
                            <a:solidFill>
                              <a:schemeClr val="accent1">
                                <a:lumMod val="50000"/>
                              </a:schemeClr>
                            </a:solidFill>
                            <a:latin typeface="+mj-ea"/>
                            <a:ea typeface="+mj-ea"/>
                          </a:rPr>
                        </m:ctrlPr>
                      </m:sSupPr>
                      <m:e>
                        <m:r>
                          <a:rPr lang="ja-JP" altLang="ar-AE" sz="1600" i="1">
                            <a:solidFill>
                              <a:schemeClr val="accent1">
                                <a:lumMod val="50000"/>
                              </a:schemeClr>
                            </a:solidFill>
                            <a:latin typeface="+mj-ea"/>
                            <a:ea typeface="+mj-ea"/>
                          </a:rPr>
                          <m:t>𝑧</m:t>
                        </m:r>
                      </m:e>
                      <m:sup>
                        <m:r>
                          <a:rPr lang="ar-AE" altLang="ja-JP" sz="1600" i="0">
                            <a:solidFill>
                              <a:schemeClr val="accent1">
                                <a:lumMod val="50000"/>
                              </a:schemeClr>
                            </a:solidFill>
                            <a:latin typeface="+mj-ea"/>
                            <a:ea typeface="+mj-ea"/>
                          </a:rPr>
                          <m:t>∗</m:t>
                        </m:r>
                      </m:sup>
                    </m:sSup>
                  </m:oMath>
                </a14:m>
                <a:r>
                  <a:rPr lang="ja-JP" altLang="ar-AE" sz="1600" dirty="0">
                    <a:solidFill>
                      <a:schemeClr val="accent1">
                        <a:lumMod val="50000"/>
                      </a:schemeClr>
                    </a:solidFill>
                    <a:latin typeface="+mj-ea"/>
                    <a:ea typeface="+mj-ea"/>
                  </a:rPr>
                  <a:t>，</a:t>
                </a:r>
                <a:r>
                  <a:rPr lang="ja-JP" altLang="en-US" sz="1600" dirty="0">
                    <a:solidFill>
                      <a:schemeClr val="accent1">
                        <a:lumMod val="50000"/>
                      </a:schemeClr>
                    </a:solidFill>
                    <a:latin typeface="+mj-ea"/>
                    <a:ea typeface="+mj-ea"/>
                  </a:rPr>
                  <a:t>使得两个算子的作用相互平衡</a:t>
                </a:r>
              </a:p>
            </p:txBody>
          </p:sp>
        </mc:Choice>
        <mc:Fallback>
          <p:sp>
            <p:nvSpPr>
              <p:cNvPr id="3" name="テキスト ボックス 2">
                <a:extLst>
                  <a:ext uri="{FF2B5EF4-FFF2-40B4-BE49-F238E27FC236}">
                    <a16:creationId xmlns:a16="http://schemas.microsoft.com/office/drawing/2014/main" id="{11B00E14-9891-BAA4-4272-68CB1C7F860E}"/>
                  </a:ext>
                </a:extLst>
              </p:cNvPr>
              <p:cNvSpPr txBox="1">
                <a:spLocks noRot="1" noChangeAspect="1" noMove="1" noResize="1" noEditPoints="1" noAdjustHandles="1" noChangeArrowheads="1" noChangeShapeType="1" noTextEdit="1"/>
              </p:cNvSpPr>
              <p:nvPr/>
            </p:nvSpPr>
            <p:spPr>
              <a:xfrm>
                <a:off x="635000" y="5250785"/>
                <a:ext cx="6106160" cy="338554"/>
              </a:xfrm>
              <a:prstGeom prst="rect">
                <a:avLst/>
              </a:prstGeom>
              <a:blipFill>
                <a:blip r:embed="rId4"/>
                <a:stretch>
                  <a:fillRect l="-499" t="-7143" b="-19643"/>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5246591A-5845-5685-F7F3-613C5B494A7B}"/>
              </a:ext>
            </a:extLst>
          </p:cNvPr>
          <p:cNvPicPr>
            <a:picLocks noChangeAspect="1"/>
          </p:cNvPicPr>
          <p:nvPr/>
        </p:nvPicPr>
        <p:blipFill>
          <a:blip r:embed="rId5"/>
          <a:stretch>
            <a:fillRect/>
          </a:stretch>
        </p:blipFill>
        <p:spPr>
          <a:xfrm>
            <a:off x="8852106" y="4550594"/>
            <a:ext cx="1728408" cy="338554"/>
          </a:xfrm>
          <a:prstGeom prst="rect">
            <a:avLst/>
          </a:prstGeom>
        </p:spPr>
      </p:pic>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9C58FD80-8308-289F-1C8E-DA556AAAFBB6}"/>
                  </a:ext>
                </a:extLst>
              </p:cNvPr>
              <p:cNvSpPr txBox="1"/>
              <p:nvPr/>
            </p:nvSpPr>
            <p:spPr>
              <a:xfrm>
                <a:off x="8763000" y="2186091"/>
                <a:ext cx="2819400" cy="43031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en-US" altLang="ja-JP" i="1" dirty="0" smtClean="0">
                              <a:solidFill>
                                <a:srgbClr val="C00000"/>
                              </a:solidFill>
                              <a:latin typeface="Cambria Math" panose="02040503050406030204" pitchFamily="18" charset="0"/>
                            </a:rPr>
                          </m:ctrlPr>
                        </m:sSupPr>
                        <m:e>
                          <m:r>
                            <a:rPr lang="en-US" altLang="ja-JP" i="1" dirty="0">
                              <a:solidFill>
                                <a:srgbClr val="C00000"/>
                              </a:solidFill>
                              <a:latin typeface="Cambria Math" panose="02040503050406030204" pitchFamily="18" charset="0"/>
                            </a:rPr>
                            <m:t>(</m:t>
                          </m:r>
                          <m:r>
                            <a:rPr lang="en-US" altLang="ja-JP" i="1" dirty="0">
                              <a:solidFill>
                                <a:srgbClr val="C00000"/>
                              </a:solidFill>
                              <a:latin typeface="Cambria Math" panose="02040503050406030204" pitchFamily="18" charset="0"/>
                            </a:rPr>
                            <m:t>𝐼</m:t>
                          </m:r>
                          <m:r>
                            <a:rPr lang="en-US" altLang="ja-JP" i="1" dirty="0">
                              <a:solidFill>
                                <a:srgbClr val="C00000"/>
                              </a:solidFill>
                              <a:latin typeface="Cambria Math" panose="02040503050406030204" pitchFamily="18" charset="0"/>
                            </a:rPr>
                            <m:t>+</m:t>
                          </m:r>
                          <m:r>
                            <a:rPr lang="el-GR" altLang="ja-JP" i="1" dirty="0">
                              <a:solidFill>
                                <a:srgbClr val="C00000"/>
                              </a:solidFill>
                              <a:latin typeface="Cambria Math" panose="02040503050406030204" pitchFamily="18" charset="0"/>
                            </a:rPr>
                            <m:t>𝛼𝜕</m:t>
                          </m:r>
                          <m:r>
                            <a:rPr lang="en-US" altLang="ja-JP" i="1" dirty="0">
                              <a:solidFill>
                                <a:srgbClr val="C00000"/>
                              </a:solidFill>
                              <a:latin typeface="Cambria Math" panose="02040503050406030204" pitchFamily="18" charset="0"/>
                            </a:rPr>
                            <m:t>𝑓</m:t>
                          </m:r>
                          <m:r>
                            <a:rPr lang="en-US" altLang="ja-JP" i="1" dirty="0">
                              <a:solidFill>
                                <a:srgbClr val="C00000"/>
                              </a:solidFill>
                              <a:latin typeface="Cambria Math" panose="02040503050406030204" pitchFamily="18" charset="0"/>
                            </a:rPr>
                            <m:t>)</m:t>
                          </m:r>
                        </m:e>
                        <m:sup>
                          <m:r>
                            <a:rPr lang="en-US" altLang="ja-JP" i="1" dirty="0">
                              <a:solidFill>
                                <a:srgbClr val="C00000"/>
                              </a:solidFill>
                              <a:latin typeface="Cambria Math" panose="02040503050406030204" pitchFamily="18" charset="0"/>
                            </a:rPr>
                            <m:t>−</m:t>
                          </m:r>
                          <m:r>
                            <a:rPr lang="en-US" altLang="ja-JP" i="1" dirty="0">
                              <a:solidFill>
                                <a:srgbClr val="C00000"/>
                              </a:solidFill>
                              <a:latin typeface="Cambria Math" panose="02040503050406030204" pitchFamily="18" charset="0"/>
                            </a:rPr>
                            <m:t>1</m:t>
                          </m:r>
                        </m:sup>
                      </m:sSup>
                      <m:r>
                        <a:rPr lang="en-US" altLang="ja-JP" i="1" dirty="0">
                          <a:solidFill>
                            <a:srgbClr val="C00000"/>
                          </a:solidFill>
                          <a:latin typeface="Cambria Math" panose="02040503050406030204" pitchFamily="18" charset="0"/>
                        </a:rPr>
                        <m:t>=</m:t>
                      </m:r>
                      <m:sSub>
                        <m:sSubPr>
                          <m:ctrlPr>
                            <a:rPr lang="en-US" altLang="ja-JP" i="1" dirty="0" smtClean="0">
                              <a:solidFill>
                                <a:srgbClr val="C00000"/>
                              </a:solidFill>
                              <a:latin typeface="Cambria Math" panose="02040503050406030204" pitchFamily="18" charset="0"/>
                            </a:rPr>
                          </m:ctrlPr>
                        </m:sSubPr>
                        <m:e>
                          <m:r>
                            <a:rPr lang="en-US" altLang="ja-JP" i="1" dirty="0">
                              <a:solidFill>
                                <a:srgbClr val="C00000"/>
                              </a:solidFill>
                              <a:latin typeface="Cambria Math" panose="02040503050406030204" pitchFamily="18" charset="0"/>
                            </a:rPr>
                            <m:t>𝑝𝑟𝑜𝑥</m:t>
                          </m:r>
                        </m:e>
                        <m:sub>
                          <m:r>
                            <a:rPr lang="el-GR" altLang="ja-JP" i="1" dirty="0">
                              <a:solidFill>
                                <a:srgbClr val="C00000"/>
                              </a:solidFill>
                              <a:latin typeface="Cambria Math" panose="02040503050406030204" pitchFamily="18" charset="0"/>
                            </a:rPr>
                            <m:t>𝛼</m:t>
                          </m:r>
                          <m:r>
                            <a:rPr lang="en-US" altLang="ja-JP" i="1" dirty="0">
                              <a:solidFill>
                                <a:srgbClr val="C00000"/>
                              </a:solidFill>
                              <a:latin typeface="Cambria Math" panose="02040503050406030204" pitchFamily="18" charset="0"/>
                            </a:rPr>
                            <m:t>𝑓</m:t>
                          </m:r>
                        </m:sub>
                      </m:sSub>
                      <m:r>
                        <a:rPr lang="en-US" altLang="ja-JP" i="1" dirty="0">
                          <a:solidFill>
                            <a:srgbClr val="C00000"/>
                          </a:solidFill>
                          <a:latin typeface="Cambria Math" panose="02040503050406030204" pitchFamily="18" charset="0"/>
                        </a:rPr>
                        <m:t>​</m:t>
                      </m:r>
                    </m:oMath>
                  </m:oMathPara>
                </a14:m>
              </a:p>
            </p:txBody>
          </p:sp>
        </mc:Choice>
        <mc:Fallback>
          <p:sp>
            <p:nvSpPr>
              <p:cNvPr id="6" name="テキスト ボックス 5">
                <a:extLst>
                  <a:ext uri="{FF2B5EF4-FFF2-40B4-BE49-F238E27FC236}">
                    <a16:creationId xmlns:a16="http://schemas.microsoft.com/office/drawing/2014/main" id="{9C58FD80-8308-289F-1C8E-DA556AAAFBB6}"/>
                  </a:ext>
                </a:extLst>
              </p:cNvPr>
              <p:cNvSpPr txBox="1">
                <a:spLocks noRot="1" noChangeAspect="1" noMove="1" noResize="1" noEditPoints="1" noAdjustHandles="1" noChangeArrowheads="1" noChangeShapeType="1" noTextEdit="1"/>
              </p:cNvSpPr>
              <p:nvPr/>
            </p:nvSpPr>
            <p:spPr>
              <a:xfrm>
                <a:off x="8763000" y="2186091"/>
                <a:ext cx="2819400" cy="430311"/>
              </a:xfrm>
              <a:prstGeom prst="rect">
                <a:avLst/>
              </a:prstGeom>
              <a:blipFill>
                <a:blip r:embed="rId6"/>
                <a:stretch>
                  <a:fillRect t="-8571" b="-1857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13060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72C33-2F13-128F-48F3-857CDA606C2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46F1FF6B-5EED-53F5-9E87-6DE4D2FE5671}"/>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graphicFrame>
            <p:nvGraphicFramePr>
              <p:cNvPr id="3" name="表 2">
                <a:extLst>
                  <a:ext uri="{FF2B5EF4-FFF2-40B4-BE49-F238E27FC236}">
                    <a16:creationId xmlns:a16="http://schemas.microsoft.com/office/drawing/2014/main" id="{DCEB796F-98AF-6050-2501-07DA4BE013C8}"/>
                  </a:ext>
                </a:extLst>
              </p:cNvPr>
              <p:cNvGraphicFramePr>
                <a:graphicFrameLocks noGrp="1"/>
              </p:cNvGraphicFramePr>
              <p:nvPr>
                <p:extLst>
                  <p:ext uri="{D42A27DB-BD31-4B8C-83A1-F6EECF244321}">
                    <p14:modId xmlns:p14="http://schemas.microsoft.com/office/powerpoint/2010/main" val="605678989"/>
                  </p:ext>
                </p:extLst>
              </p:nvPr>
            </p:nvGraphicFramePr>
            <p:xfrm>
              <a:off x="508000" y="2103120"/>
              <a:ext cx="11074401" cy="3108960"/>
            </p:xfrm>
            <a:graphic>
              <a:graphicData uri="http://schemas.openxmlformats.org/drawingml/2006/table">
                <a:tbl>
                  <a:tblPr/>
                  <a:tblGrid>
                    <a:gridCol w="2298995">
                      <a:extLst>
                        <a:ext uri="{9D8B030D-6E8A-4147-A177-3AD203B41FA5}">
                          <a16:colId xmlns:a16="http://schemas.microsoft.com/office/drawing/2014/main" val="3172317193"/>
                        </a:ext>
                      </a:extLst>
                    </a:gridCol>
                    <a:gridCol w="4189228">
                      <a:extLst>
                        <a:ext uri="{9D8B030D-6E8A-4147-A177-3AD203B41FA5}">
                          <a16:colId xmlns:a16="http://schemas.microsoft.com/office/drawing/2014/main" val="4248022270"/>
                        </a:ext>
                      </a:extLst>
                    </a:gridCol>
                    <a:gridCol w="4586178">
                      <a:extLst>
                        <a:ext uri="{9D8B030D-6E8A-4147-A177-3AD203B41FA5}">
                          <a16:colId xmlns:a16="http://schemas.microsoft.com/office/drawing/2014/main" val="4145531277"/>
                        </a:ext>
                      </a:extLst>
                    </a:gridCol>
                  </a:tblGrid>
                  <a:tr h="365760">
                    <a:tc>
                      <a:txBody>
                        <a:bodyPr/>
                        <a:lstStyle/>
                        <a:p>
                          <a:pPr>
                            <a:buNone/>
                          </a:pPr>
                          <a:r>
                            <a:rPr lang="ja-JP" altLang="en-US" sz="1800"/>
                            <a:t>项目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800"/>
                            <a:t>普通 </a:t>
                          </a:r>
                          <a:r>
                            <a:rPr lang="en-US" sz="1800"/>
                            <a:t>DEQ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monDEQ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9716886"/>
                      </a:ext>
                    </a:extLst>
                  </a:tr>
                  <a:tr h="640080">
                    <a:tc>
                      <a:txBody>
                        <a:bodyPr/>
                        <a:lstStyle/>
                        <a:p>
                          <a:pPr>
                            <a:buNone/>
                          </a:pPr>
                          <a:r>
                            <a:rPr lang="ja-JP" altLang="en-US" sz="1800" dirty="0"/>
                            <a:t>隐式方程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d>
                                  <m:dPr>
                                    <m:ctrlPr>
                                      <a:rPr lang="pl-PL" sz="1800" i="1" dirty="0" smtClean="0">
                                        <a:latin typeface="Cambria Math" panose="02040503050406030204" pitchFamily="18" charset="0"/>
                                      </a:rPr>
                                    </m:ctrlPr>
                                  </m:dPr>
                                  <m:e>
                                    <m:sSup>
                                      <m:sSupPr>
                                        <m:ctrlPr>
                                          <a:rPr lang="pl-PL" sz="1800" i="1" dirty="0" smtClean="0">
                                            <a:latin typeface="Cambria Math" panose="02040503050406030204" pitchFamily="18" charset="0"/>
                                          </a:rPr>
                                        </m:ctrlPr>
                                      </m:sSupPr>
                                      <m:e>
                                        <m:r>
                                          <a:rPr lang="pl-PL" sz="1800" i="1" dirty="0" smtClean="0">
                                            <a:latin typeface="Cambria Math" panose="02040503050406030204" pitchFamily="18" charset="0"/>
                                          </a:rPr>
                                          <m:t>𝑧</m:t>
                                        </m:r>
                                      </m:e>
                                      <m:sup>
                                        <m:r>
                                          <a:rPr lang="pl-PL" sz="1800" i="1" dirty="0" smtClean="0">
                                            <a:latin typeface="Cambria Math" panose="02040503050406030204" pitchFamily="18" charset="0"/>
                                          </a:rPr>
                                          <m:t>∗</m:t>
                                        </m:r>
                                      </m:sup>
                                    </m:sSup>
                                    <m:r>
                                      <a:rPr lang="pl-PL" sz="1800" i="1" dirty="0" smtClean="0">
                                        <a:latin typeface="Cambria Math" panose="02040503050406030204" pitchFamily="18" charset="0"/>
                                      </a:rPr>
                                      <m:t>=</m:t>
                                    </m:r>
                                    <m:sSub>
                                      <m:sSubPr>
                                        <m:ctrlPr>
                                          <a:rPr lang="pl-PL" sz="1800" i="1" dirty="0" smtClean="0">
                                            <a:latin typeface="Cambria Math" panose="02040503050406030204" pitchFamily="18" charset="0"/>
                                          </a:rPr>
                                        </m:ctrlPr>
                                      </m:sSubPr>
                                      <m:e>
                                        <m:r>
                                          <a:rPr lang="pl-PL" sz="1800" i="1" dirty="0" smtClean="0">
                                            <a:latin typeface="Cambria Math" panose="02040503050406030204" pitchFamily="18" charset="0"/>
                                          </a:rPr>
                                          <m:t>𝑓</m:t>
                                        </m:r>
                                      </m:e>
                                      <m:sub>
                                        <m:r>
                                          <a:rPr lang="pl-PL" sz="1800" i="1" dirty="0" smtClean="0">
                                            <a:latin typeface="Cambria Math" panose="02040503050406030204" pitchFamily="18" charset="0"/>
                                          </a:rPr>
                                          <m:t>𝜃</m:t>
                                        </m:r>
                                      </m:sub>
                                    </m:sSub>
                                    <m:d>
                                      <m:dPr>
                                        <m:ctrlPr>
                                          <a:rPr lang="pl-PL" sz="1800" i="1" dirty="0" smtClean="0">
                                            <a:latin typeface="Cambria Math" panose="02040503050406030204" pitchFamily="18" charset="0"/>
                                          </a:rPr>
                                        </m:ctrlPr>
                                      </m:dPr>
                                      <m:e>
                                        <m:sSup>
                                          <m:sSupPr>
                                            <m:ctrlPr>
                                              <a:rPr lang="pl-PL" sz="1800" i="1" dirty="0" smtClean="0">
                                                <a:latin typeface="Cambria Math" panose="02040503050406030204" pitchFamily="18" charset="0"/>
                                              </a:rPr>
                                            </m:ctrlPr>
                                          </m:sSupPr>
                                          <m:e>
                                            <m:r>
                                              <a:rPr lang="pl-PL" sz="1800" i="1" dirty="0" smtClean="0">
                                                <a:latin typeface="Cambria Math" panose="02040503050406030204" pitchFamily="18" charset="0"/>
                                              </a:rPr>
                                              <m:t>𝑧</m:t>
                                            </m:r>
                                          </m:e>
                                          <m:sup>
                                            <m:r>
                                              <a:rPr lang="pl-PL" sz="1800" i="1" dirty="0" smtClean="0">
                                                <a:latin typeface="Cambria Math" panose="02040503050406030204" pitchFamily="18" charset="0"/>
                                              </a:rPr>
                                              <m:t>∗</m:t>
                                            </m:r>
                                          </m:sup>
                                        </m:sSup>
                                        <m:r>
                                          <a:rPr lang="pl-PL" sz="1800" i="1" dirty="0" smtClean="0">
                                            <a:latin typeface="Cambria Math" panose="02040503050406030204" pitchFamily="18" charset="0"/>
                                          </a:rPr>
                                          <m:t>,</m:t>
                                        </m:r>
                                        <m:r>
                                          <a:rPr lang="pl-PL" sz="1800" i="1" dirty="0" smtClean="0">
                                            <a:latin typeface="Cambria Math" panose="02040503050406030204" pitchFamily="18" charset="0"/>
                                          </a:rPr>
                                          <m:t>𝑥</m:t>
                                        </m:r>
                                      </m:e>
                                    </m:d>
                                  </m:e>
                                </m:d>
                              </m:oMath>
                            </m:oMathPara>
                          </a14:m>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d>
                                  <m:dPr>
                                    <m:ctrlPr>
                                      <a:rPr lang="en-US" sz="1800" i="1" dirty="0" smtClean="0">
                                        <a:latin typeface="Cambria Math" panose="02040503050406030204" pitchFamily="18" charset="0"/>
                                      </a:rPr>
                                    </m:ctrlPr>
                                  </m:dPr>
                                  <m:e>
                                    <m:sSup>
                                      <m:sSupPr>
                                        <m:ctrlPr>
                                          <a:rPr lang="en-US" sz="1800" i="1" dirty="0" smtClean="0">
                                            <a:latin typeface="Cambria Math" panose="02040503050406030204" pitchFamily="18" charset="0"/>
                                          </a:rPr>
                                        </m:ctrlPr>
                                      </m:sSupPr>
                                      <m:e>
                                        <m:r>
                                          <a:rPr lang="en-US" sz="1800" i="1" dirty="0" smtClean="0">
                                            <a:latin typeface="Cambria Math" panose="02040503050406030204" pitchFamily="18" charset="0"/>
                                          </a:rPr>
                                          <m:t>𝑧</m:t>
                                        </m:r>
                                      </m:e>
                                      <m:sup>
                                        <m:r>
                                          <a:rPr lang="en-US" sz="1800" i="1" dirty="0" smtClean="0">
                                            <a:latin typeface="Cambria Math" panose="02040503050406030204" pitchFamily="18" charset="0"/>
                                          </a:rPr>
                                          <m:t>∗</m:t>
                                        </m:r>
                                      </m:sup>
                                    </m:sSup>
                                    <m:r>
                                      <a:rPr lang="en-US" sz="1800" i="1" dirty="0">
                                        <a:latin typeface="Cambria Math" panose="02040503050406030204" pitchFamily="18" charset="0"/>
                                      </a:rPr>
                                      <m:t>=</m:t>
                                    </m:r>
                                    <m:r>
                                      <m:rPr>
                                        <m:nor/>
                                      </m:rPr>
                                      <a:rPr lang="en-US" sz="1800" i="0" dirty="0" err="1">
                                        <a:latin typeface="Cambria Math" panose="02040503050406030204" pitchFamily="18" charset="0"/>
                                      </a:rPr>
                                      <m:t>pro</m:t>
                                    </m:r>
                                    <m:sSub>
                                      <m:sSubPr>
                                        <m:ctrlPr>
                                          <a:rPr lang="en-US" sz="1800" i="0" dirty="0">
                                            <a:latin typeface="Cambria Math" panose="02040503050406030204" pitchFamily="18" charset="0"/>
                                          </a:rPr>
                                        </m:ctrlPr>
                                      </m:sSubPr>
                                      <m:e>
                                        <m:r>
                                          <m:rPr>
                                            <m:nor/>
                                          </m:rPr>
                                          <a:rPr lang="en-US" sz="1800" i="0" dirty="0" err="1">
                                            <a:latin typeface="Cambria Math" panose="02040503050406030204" pitchFamily="18" charset="0"/>
                                          </a:rPr>
                                          <m:t>x</m:t>
                                        </m:r>
                                      </m:e>
                                      <m:sub>
                                        <m:r>
                                          <m:rPr>
                                            <m:nor/>
                                          </m:rPr>
                                          <a:rPr lang="en-US" sz="1800" i="0" dirty="0">
                                            <a:latin typeface="Cambria Math" panose="02040503050406030204" pitchFamily="18" charset="0"/>
                                          </a:rPr>
                                          <m:t>f</m:t>
                                        </m:r>
                                      </m:sub>
                                    </m:sSub>
                                    <m:d>
                                      <m:dPr>
                                        <m:ctrlPr>
                                          <a:rPr lang="en-US" sz="1800" i="1" dirty="0">
                                            <a:latin typeface="Cambria Math" panose="02040503050406030204" pitchFamily="18" charset="0"/>
                                          </a:rPr>
                                        </m:ctrlPr>
                                      </m:dPr>
                                      <m:e>
                                        <m:r>
                                          <a:rPr lang="en-US" sz="1800" i="1" dirty="0" err="1">
                                            <a:latin typeface="Cambria Math" panose="02040503050406030204" pitchFamily="18" charset="0"/>
                                          </a:rPr>
                                          <m:t>𝑊</m:t>
                                        </m:r>
                                        <m:sSup>
                                          <m:sSupPr>
                                            <m:ctrlPr>
                                              <a:rPr lang="en-US" sz="1800" i="1" dirty="0">
                                                <a:latin typeface="Cambria Math" panose="02040503050406030204" pitchFamily="18" charset="0"/>
                                              </a:rPr>
                                            </m:ctrlPr>
                                          </m:sSupPr>
                                          <m:e>
                                            <m:r>
                                              <a:rPr lang="en-US" sz="1800" i="1" dirty="0" err="1">
                                                <a:latin typeface="Cambria Math" panose="02040503050406030204" pitchFamily="18" charset="0"/>
                                              </a:rPr>
                                              <m:t>𝑧</m:t>
                                            </m:r>
                                          </m:e>
                                          <m:sup>
                                            <m:r>
                                              <a:rPr lang="en-US" sz="1800" i="1" dirty="0">
                                                <a:latin typeface="Cambria Math" panose="02040503050406030204" pitchFamily="18" charset="0"/>
                                              </a:rPr>
                                              <m:t>∗</m:t>
                                            </m:r>
                                          </m:sup>
                                        </m:sSup>
                                        <m:r>
                                          <a:rPr lang="en-US" sz="1800" i="1" dirty="0" err="1">
                                            <a:latin typeface="Cambria Math" panose="02040503050406030204" pitchFamily="18" charset="0"/>
                                          </a:rPr>
                                          <m:t>+</m:t>
                                        </m:r>
                                        <m:r>
                                          <a:rPr lang="en-US" sz="1800" i="1" dirty="0" err="1">
                                            <a:latin typeface="Cambria Math" panose="02040503050406030204" pitchFamily="18" charset="0"/>
                                          </a:rPr>
                                          <m:t>𝑈𝑥</m:t>
                                        </m:r>
                                        <m:r>
                                          <a:rPr lang="en-US" sz="1800" i="1" dirty="0" err="1">
                                            <a:latin typeface="Cambria Math" panose="02040503050406030204" pitchFamily="18" charset="0"/>
                                          </a:rPr>
                                          <m:t>+</m:t>
                                        </m:r>
                                        <m:r>
                                          <a:rPr lang="en-US" sz="1800" i="1" dirty="0" err="1">
                                            <a:latin typeface="Cambria Math" panose="02040503050406030204" pitchFamily="18" charset="0"/>
                                          </a:rPr>
                                          <m:t>𝑏</m:t>
                                        </m:r>
                                      </m:e>
                                    </m:d>
                                  </m:e>
                                </m:d>
                              </m:oMath>
                            </m:oMathPara>
                          </a14:m>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7512878"/>
                      </a:ext>
                    </a:extLst>
                  </a:tr>
                  <a:tr h="365760">
                    <a:tc>
                      <a:txBody>
                        <a:bodyPr/>
                        <a:lstStyle/>
                        <a:p>
                          <a:pPr>
                            <a:buNone/>
                          </a:pPr>
                          <a:r>
                            <a:rPr lang="ja-JP" altLang="en-US" sz="1800" dirty="0"/>
                            <a:t>映射性质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一般非线性映射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由单调算子结构约束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6594978"/>
                      </a:ext>
                    </a:extLst>
                  </a:tr>
                  <a:tr h="365760">
                    <a:tc>
                      <a:txBody>
                        <a:bodyPr/>
                        <a:lstStyle/>
                        <a:p>
                          <a:pPr>
                            <a:buNone/>
                          </a:pPr>
                          <a:r>
                            <a:rPr lang="zh-CN" altLang="en-US" sz="1800"/>
                            <a:t>是否保证唯一解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800"/>
                            <a:t>一般不保证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通过强单调性保证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0702102"/>
                      </a:ext>
                    </a:extLst>
                  </a:tr>
                  <a:tr h="640080">
                    <a:tc>
                      <a:txBody>
                        <a:bodyPr/>
                        <a:lstStyle/>
                        <a:p>
                          <a:pPr>
                            <a:buNone/>
                          </a:pPr>
                          <a:r>
                            <a:rPr lang="ja-JP" altLang="en-US" sz="1800"/>
                            <a:t>求解方式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Broyden、fixed-point </a:t>
                          </a:r>
                          <a:r>
                            <a:rPr lang="ja-JP" altLang="en-US" sz="1800"/>
                            <a:t>等 </a:t>
                          </a:r>
                          <a:r>
                            <a:rPr lang="en-US" sz="1800"/>
                            <a:t>root-finding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单调算子分裂方法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863143"/>
                      </a:ext>
                    </a:extLst>
                  </a:tr>
                  <a:tr h="365760">
                    <a:tc>
                      <a:txBody>
                        <a:bodyPr/>
                        <a:lstStyle/>
                        <a:p>
                          <a:pPr>
                            <a:buNone/>
                          </a:pPr>
                          <a:r>
                            <a:rPr lang="ja-JP" altLang="en-US" sz="1800"/>
                            <a:t>收敛保证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通常依赖经验与调参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有稳定收敛理论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588387"/>
                      </a:ext>
                    </a:extLst>
                  </a:tr>
                  <a:tr h="365760">
                    <a:tc>
                      <a:txBody>
                        <a:bodyPr/>
                        <a:lstStyle/>
                        <a:p>
                          <a:pPr>
                            <a:buNone/>
                          </a:pPr>
                          <a:r>
                            <a:rPr lang="ja-JP" altLang="en-US" sz="1800"/>
                            <a:t>设计重点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表达能力和内存效率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dirty="0"/>
                            <a:t>表达能力 </a:t>
                          </a:r>
                          <a:r>
                            <a:rPr lang="en-US" altLang="zh-CN" sz="1800" dirty="0"/>
                            <a:t>+ </a:t>
                          </a:r>
                          <a:r>
                            <a:rPr lang="zh-CN" altLang="en-US" sz="1800" dirty="0"/>
                            <a:t>良定性 </a:t>
                          </a:r>
                          <a:r>
                            <a:rPr lang="en-US" altLang="zh-CN" sz="1800" dirty="0"/>
                            <a:t>+ </a:t>
                          </a:r>
                          <a:r>
                            <a:rPr lang="zh-CN" altLang="en-US" sz="1800" dirty="0"/>
                            <a:t>稳定求解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0242181"/>
                      </a:ext>
                    </a:extLst>
                  </a:tr>
                </a:tbl>
              </a:graphicData>
            </a:graphic>
          </p:graphicFrame>
        </mc:Choice>
        <mc:Fallback>
          <p:graphicFrame>
            <p:nvGraphicFramePr>
              <p:cNvPr id="3" name="表 2">
                <a:extLst>
                  <a:ext uri="{FF2B5EF4-FFF2-40B4-BE49-F238E27FC236}">
                    <a16:creationId xmlns:a16="http://schemas.microsoft.com/office/drawing/2014/main" id="{DCEB796F-98AF-6050-2501-07DA4BE013C8}"/>
                  </a:ext>
                </a:extLst>
              </p:cNvPr>
              <p:cNvGraphicFramePr>
                <a:graphicFrameLocks noGrp="1"/>
              </p:cNvGraphicFramePr>
              <p:nvPr>
                <p:extLst>
                  <p:ext uri="{D42A27DB-BD31-4B8C-83A1-F6EECF244321}">
                    <p14:modId xmlns:p14="http://schemas.microsoft.com/office/powerpoint/2010/main" val="605678989"/>
                  </p:ext>
                </p:extLst>
              </p:nvPr>
            </p:nvGraphicFramePr>
            <p:xfrm>
              <a:off x="508000" y="2103120"/>
              <a:ext cx="11074401" cy="3108960"/>
            </p:xfrm>
            <a:graphic>
              <a:graphicData uri="http://schemas.openxmlformats.org/drawingml/2006/table">
                <a:tbl>
                  <a:tblPr/>
                  <a:tblGrid>
                    <a:gridCol w="2298995">
                      <a:extLst>
                        <a:ext uri="{9D8B030D-6E8A-4147-A177-3AD203B41FA5}">
                          <a16:colId xmlns:a16="http://schemas.microsoft.com/office/drawing/2014/main" val="3172317193"/>
                        </a:ext>
                      </a:extLst>
                    </a:gridCol>
                    <a:gridCol w="4189228">
                      <a:extLst>
                        <a:ext uri="{9D8B030D-6E8A-4147-A177-3AD203B41FA5}">
                          <a16:colId xmlns:a16="http://schemas.microsoft.com/office/drawing/2014/main" val="4248022270"/>
                        </a:ext>
                      </a:extLst>
                    </a:gridCol>
                    <a:gridCol w="4586178">
                      <a:extLst>
                        <a:ext uri="{9D8B030D-6E8A-4147-A177-3AD203B41FA5}">
                          <a16:colId xmlns:a16="http://schemas.microsoft.com/office/drawing/2014/main" val="4145531277"/>
                        </a:ext>
                      </a:extLst>
                    </a:gridCol>
                  </a:tblGrid>
                  <a:tr h="365760">
                    <a:tc>
                      <a:txBody>
                        <a:bodyPr/>
                        <a:lstStyle/>
                        <a:p>
                          <a:pPr>
                            <a:buNone/>
                          </a:pPr>
                          <a:r>
                            <a:rPr lang="ja-JP" altLang="en-US" sz="1800"/>
                            <a:t>项目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800"/>
                            <a:t>普通 </a:t>
                          </a:r>
                          <a:r>
                            <a:rPr lang="en-US" sz="1800"/>
                            <a:t>DEQ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monDEQ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9716886"/>
                      </a:ext>
                    </a:extLst>
                  </a:tr>
                  <a:tr h="640080">
                    <a:tc>
                      <a:txBody>
                        <a:bodyPr/>
                        <a:lstStyle/>
                        <a:p>
                          <a:pPr>
                            <a:buNone/>
                          </a:pPr>
                          <a:r>
                            <a:rPr lang="ja-JP" altLang="en-US" sz="1800" dirty="0"/>
                            <a:t>隐式方程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4942" t="-64762" r="-109738" b="-344762"/>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41567" t="-64762" r="-266" b="-344762"/>
                          </a:stretch>
                        </a:blipFill>
                      </a:tcPr>
                    </a:tc>
                    <a:extLst>
                      <a:ext uri="{0D108BD9-81ED-4DB2-BD59-A6C34878D82A}">
                        <a16:rowId xmlns:a16="http://schemas.microsoft.com/office/drawing/2014/main" val="3647512878"/>
                      </a:ext>
                    </a:extLst>
                  </a:tr>
                  <a:tr h="365760">
                    <a:tc>
                      <a:txBody>
                        <a:bodyPr/>
                        <a:lstStyle/>
                        <a:p>
                          <a:pPr>
                            <a:buNone/>
                          </a:pPr>
                          <a:r>
                            <a:rPr lang="ja-JP" altLang="en-US" sz="1800" dirty="0"/>
                            <a:t>映射性质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一般非线性映射</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由单调算子结构约束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6594978"/>
                      </a:ext>
                    </a:extLst>
                  </a:tr>
                  <a:tr h="365760">
                    <a:tc>
                      <a:txBody>
                        <a:bodyPr/>
                        <a:lstStyle/>
                        <a:p>
                          <a:pPr>
                            <a:buNone/>
                          </a:pPr>
                          <a:r>
                            <a:rPr lang="zh-CN" altLang="en-US" sz="1800"/>
                            <a:t>是否保证唯一解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800"/>
                            <a:t>一般不保证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通过强单调性保证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0702102"/>
                      </a:ext>
                    </a:extLst>
                  </a:tr>
                  <a:tr h="640080">
                    <a:tc>
                      <a:txBody>
                        <a:bodyPr/>
                        <a:lstStyle/>
                        <a:p>
                          <a:pPr>
                            <a:buNone/>
                          </a:pPr>
                          <a:r>
                            <a:rPr lang="ja-JP" altLang="en-US" sz="1800"/>
                            <a:t>求解方式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Broyden、fixed-point </a:t>
                          </a:r>
                          <a:r>
                            <a:rPr lang="ja-JP" altLang="en-US" sz="1800"/>
                            <a:t>等 </a:t>
                          </a:r>
                          <a:r>
                            <a:rPr lang="en-US" sz="1800"/>
                            <a:t>root-finding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单调算子分裂方法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9863143"/>
                      </a:ext>
                    </a:extLst>
                  </a:tr>
                  <a:tr h="365760">
                    <a:tc>
                      <a:txBody>
                        <a:bodyPr/>
                        <a:lstStyle/>
                        <a:p>
                          <a:pPr>
                            <a:buNone/>
                          </a:pPr>
                          <a:r>
                            <a:rPr lang="ja-JP" altLang="en-US" sz="1800"/>
                            <a:t>收敛保证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通常依赖经验与调参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有稳定收敛理论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588387"/>
                      </a:ext>
                    </a:extLst>
                  </a:tr>
                  <a:tr h="365760">
                    <a:tc>
                      <a:txBody>
                        <a:bodyPr/>
                        <a:lstStyle/>
                        <a:p>
                          <a:pPr>
                            <a:buNone/>
                          </a:pPr>
                          <a:r>
                            <a:rPr lang="ja-JP" altLang="en-US" sz="1800"/>
                            <a:t>设计重点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表达能力和内存效率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dirty="0"/>
                            <a:t>表达能力 </a:t>
                          </a:r>
                          <a:r>
                            <a:rPr lang="en-US" altLang="zh-CN" sz="1800" dirty="0"/>
                            <a:t>+ </a:t>
                          </a:r>
                          <a:r>
                            <a:rPr lang="zh-CN" altLang="en-US" sz="1800" dirty="0"/>
                            <a:t>良定性 </a:t>
                          </a:r>
                          <a:r>
                            <a:rPr lang="en-US" altLang="zh-CN" sz="1800" dirty="0"/>
                            <a:t>+ </a:t>
                          </a:r>
                          <a:r>
                            <a:rPr lang="zh-CN" altLang="en-US" sz="1800" dirty="0"/>
                            <a:t>稳定求解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0242181"/>
                      </a:ext>
                    </a:extLst>
                  </a:tr>
                </a:tbl>
              </a:graphicData>
            </a:graphic>
          </p:graphicFrame>
        </mc:Fallback>
      </mc:AlternateContent>
      <p:sp>
        <p:nvSpPr>
          <p:cNvPr id="5" name="テキスト ボックス 4">
            <a:extLst>
              <a:ext uri="{FF2B5EF4-FFF2-40B4-BE49-F238E27FC236}">
                <a16:creationId xmlns:a16="http://schemas.microsoft.com/office/drawing/2014/main" id="{9FE376C7-6245-F70F-F1FB-3FB6616207E0}"/>
              </a:ext>
            </a:extLst>
          </p:cNvPr>
          <p:cNvSpPr txBox="1"/>
          <p:nvPr/>
        </p:nvSpPr>
        <p:spPr>
          <a:xfrm>
            <a:off x="659218" y="1314922"/>
            <a:ext cx="6103088" cy="400110"/>
          </a:xfrm>
          <a:prstGeom prst="rect">
            <a:avLst/>
          </a:prstGeom>
          <a:noFill/>
        </p:spPr>
        <p:txBody>
          <a:bodyPr wrap="square">
            <a:spAutoFit/>
          </a:bodyPr>
          <a:lstStyle/>
          <a:p>
            <a:r>
              <a:rPr lang="en-US" altLang="ja-JP" dirty="0" err="1"/>
              <a:t>monDEQ</a:t>
            </a:r>
            <a:r>
              <a:rPr lang="en-US" altLang="ja-JP" dirty="0"/>
              <a:t> </a:t>
            </a:r>
            <a:r>
              <a:rPr lang="ja-JP" altLang="en-US" dirty="0"/>
              <a:t>和普通 </a:t>
            </a:r>
            <a:r>
              <a:rPr lang="en-US" altLang="ja-JP" dirty="0"/>
              <a:t>DEQ </a:t>
            </a:r>
            <a:r>
              <a:rPr lang="ja-JP" altLang="en-US" dirty="0"/>
              <a:t>的本质区别</a:t>
            </a:r>
          </a:p>
        </p:txBody>
      </p:sp>
    </p:spTree>
    <p:extLst>
      <p:ext uri="{BB962C8B-B14F-4D97-AF65-F5344CB8AC3E}">
        <p14:creationId xmlns:p14="http://schemas.microsoft.com/office/powerpoint/2010/main" val="2423970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AE469-C2AB-A880-1B13-027DEEA81974}"/>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C985F4AB-A56D-46A3-D772-DEE3528EC45C}"/>
              </a:ext>
            </a:extLst>
          </p:cNvPr>
          <p:cNvSpPr>
            <a:spLocks noGrp="1" noChangeArrowheads="1"/>
          </p:cNvSpPr>
          <p:nvPr>
            <p:ph type="title"/>
          </p:nvPr>
        </p:nvSpPr>
        <p:spPr/>
        <p:txBody>
          <a:bodyPr/>
          <a:lstStyle/>
          <a:p>
            <a:r>
              <a:rPr lang="zh-CN" altLang="en-US" b="1" dirty="0"/>
              <a:t>场景五：</a:t>
            </a:r>
            <a:r>
              <a:rPr lang="en-US" altLang="zh-CN" b="1" dirty="0"/>
              <a:t>Monotone Operator Equilibrium Networks</a:t>
            </a:r>
            <a:endParaRPr lang="zh-CN" altLang="en-US" b="1" dirty="0"/>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D1FB4AE-2221-845A-31B5-B94F852FA154}"/>
                  </a:ext>
                </a:extLst>
              </p:cNvPr>
              <p:cNvSpPr>
                <a:spLocks noGrp="1"/>
              </p:cNvSpPr>
              <p:nvPr>
                <p:ph idx="1"/>
              </p:nvPr>
            </p:nvSpPr>
            <p:spPr>
              <a:xfrm>
                <a:off x="116958" y="1112520"/>
                <a:ext cx="11973442" cy="5440680"/>
              </a:xfrm>
            </p:spPr>
            <p:txBody>
              <a:bodyPr/>
              <a:lstStyle/>
              <a:p>
                <a:pPr marL="0" indent="0">
                  <a:buNone/>
                </a:pPr>
                <a:r>
                  <a:rPr lang="en-US" altLang="zh-CN" dirty="0"/>
                  <a:t>Banach </a:t>
                </a:r>
                <a:r>
                  <a:rPr lang="zh-CN" altLang="en-US" dirty="0"/>
                  <a:t>不动点定理要求映射本身是压缩映射：</a:t>
                </a:r>
              </a:p>
              <a:p>
                <a:pPr marL="0" indent="0">
                  <a:buNone/>
                </a:pPr>
                <a14:m>
                  <m:oMathPara xmlns:m="http://schemas.openxmlformats.org/officeDocument/2006/math">
                    <m:oMathParaPr>
                      <m:jc m:val="centerGroup"/>
                    </m:oMathParaPr>
                    <m:oMath xmlns:m="http://schemas.openxmlformats.org/officeDocument/2006/math">
                      <m:r>
                        <a:rPr lang="zh-CN" altLang="en-US"/>
                        <m:t>∥</m:t>
                      </m:r>
                      <m:r>
                        <a:rPr lang="zh-CN" altLang="en-US" i="1"/>
                        <m:t>𝑇</m:t>
                      </m:r>
                      <m:d>
                        <m:dPr>
                          <m:ctrlPr>
                            <a:rPr lang="zh-CN" altLang="en-US" i="1"/>
                          </m:ctrlPr>
                        </m:dPr>
                        <m:e>
                          <m:r>
                            <a:rPr lang="zh-CN" altLang="en-US" i="1"/>
                            <m:t>𝑧</m:t>
                          </m:r>
                        </m:e>
                      </m:d>
                      <m:r>
                        <a:rPr lang="zh-CN" altLang="en-US"/>
                        <m:t>−</m:t>
                      </m:r>
                      <m:r>
                        <a:rPr lang="zh-CN" altLang="en-US" i="1"/>
                        <m:t>𝑇</m:t>
                      </m:r>
                      <m:d>
                        <m:dPr>
                          <m:ctrlPr>
                            <a:rPr lang="zh-CN" altLang="en-US" i="1"/>
                          </m:ctrlPr>
                        </m:dPr>
                        <m:e>
                          <m:r>
                            <a:rPr lang="zh-CN" altLang="en-US" i="1"/>
                            <m:t>𝑦</m:t>
                          </m:r>
                        </m:e>
                      </m:d>
                      <m:r>
                        <a:rPr lang="zh-CN" altLang="en-US"/>
                        <m:t>∥≤</m:t>
                      </m:r>
                      <m:r>
                        <a:rPr lang="zh-CN" altLang="en-US" i="1"/>
                        <m:t>𝑞</m:t>
                      </m:r>
                      <m:r>
                        <a:rPr lang="zh-CN" altLang="en-US"/>
                        <m:t>∥</m:t>
                      </m:r>
                      <m:r>
                        <a:rPr lang="zh-CN" altLang="en-US" i="1"/>
                        <m:t>𝑧</m:t>
                      </m:r>
                      <m:r>
                        <a:rPr lang="zh-CN" altLang="en-US"/>
                        <m:t>−</m:t>
                      </m:r>
                      <m:r>
                        <a:rPr lang="zh-CN" altLang="en-US" i="1"/>
                        <m:t>𝑦</m:t>
                      </m:r>
                      <m:r>
                        <a:rPr lang="zh-CN" altLang="en-US"/>
                        <m:t>∥</m:t>
                      </m:r>
                      <m:r>
                        <a:rPr lang="en-US" altLang="zh-CN"/>
                        <m:t>, </m:t>
                      </m:r>
                      <m:r>
                        <a:rPr lang="zh-CN" altLang="en-US" i="1"/>
                        <m:t>𝑞</m:t>
                      </m:r>
                      <m:r>
                        <a:rPr lang="en-US" altLang="zh-CN"/>
                        <m:t>&lt;</m:t>
                      </m:r>
                      <m:r>
                        <a:rPr lang="en-US" altLang="zh-CN"/>
                        <m:t>1</m:t>
                      </m:r>
                      <m:r>
                        <a:rPr lang="en-US" altLang="zh-CN"/>
                        <m:t>.</m:t>
                      </m:r>
                    </m:oMath>
                  </m:oMathPara>
                </a14:m>
                <a:endParaRPr lang="zh-CN" altLang="en-US" dirty="0"/>
              </a:p>
              <a:p>
                <a:pPr marL="0" indent="0">
                  <a:buNone/>
                </a:pPr>
                <a:r>
                  <a:rPr lang="zh-CN" altLang="en-US" dirty="0"/>
                  <a:t>如果满足这个条件，固定点迭代</a:t>
                </a:r>
                <a14:m>
                  <m:oMath xmlns:m="http://schemas.openxmlformats.org/officeDocument/2006/math">
                    <m:sSub>
                      <m:sSubPr>
                        <m:ctrlPr>
                          <a:rPr lang="zh-CN" altLang="en-US"/>
                        </m:ctrlPr>
                      </m:sSubPr>
                      <m:e>
                        <m:r>
                          <a:rPr lang="zh-CN" altLang="en-US" i="1"/>
                          <m:t>𝑧</m:t>
                        </m:r>
                      </m:e>
                      <m:sub>
                        <m:r>
                          <a:rPr lang="zh-CN" altLang="en-US" i="1"/>
                          <m:t>𝑘</m:t>
                        </m:r>
                        <m:r>
                          <a:rPr lang="en-US" altLang="zh-CN"/>
                          <m:t>+</m:t>
                        </m:r>
                        <m:r>
                          <a:rPr lang="en-US" altLang="zh-CN"/>
                          <m:t>1</m:t>
                        </m:r>
                      </m:sub>
                    </m:sSub>
                    <m:r>
                      <a:rPr lang="en-US" altLang="zh-CN"/>
                      <m:t>=</m:t>
                    </m:r>
                    <m:r>
                      <a:rPr lang="zh-CN" altLang="en-US" i="1"/>
                      <m:t>𝑇</m:t>
                    </m:r>
                    <m:d>
                      <m:dPr>
                        <m:ctrlPr>
                          <a:rPr lang="zh-CN" altLang="en-US" i="1"/>
                        </m:ctrlPr>
                      </m:dPr>
                      <m:e>
                        <m:sSub>
                          <m:sSubPr>
                            <m:ctrlPr>
                              <a:rPr lang="zh-CN" altLang="en-US" i="1"/>
                            </m:ctrlPr>
                          </m:sSubPr>
                          <m:e>
                            <m:r>
                              <a:rPr lang="zh-CN" altLang="en-US" i="1"/>
                              <m:t>𝑧</m:t>
                            </m:r>
                          </m:e>
                          <m:sub>
                            <m:r>
                              <a:rPr lang="zh-CN" altLang="en-US" i="1"/>
                              <m:t>𝑘</m:t>
                            </m:r>
                          </m:sub>
                        </m:sSub>
                      </m:e>
                    </m:d>
                  </m:oMath>
                </a14:m>
                <a:r>
                  <a:rPr lang="zh-CN" altLang="en-US" dirty="0"/>
                  <a:t>会收敛到唯一不动点。</a:t>
                </a:r>
                <a:endParaRPr lang="en-US" altLang="zh-CN" dirty="0"/>
              </a:p>
              <a:p>
                <a:pPr marL="0" indent="0">
                  <a:buNone/>
                </a:pPr>
                <a:r>
                  <a:rPr lang="en-US" altLang="zh-CN" dirty="0" err="1"/>
                  <a:t>monDEQ</a:t>
                </a:r>
                <a:r>
                  <a:rPr lang="en-US" altLang="zh-CN" dirty="0"/>
                  <a:t> </a:t>
                </a:r>
                <a:r>
                  <a:rPr lang="zh-CN" altLang="en-US" dirty="0"/>
                  <a:t>的思路不同。它不一定要求原始迭代</a:t>
                </a:r>
              </a:p>
              <a:p>
                <a:pPr marL="0" indent="0">
                  <a:buNone/>
                </a:pPr>
                <a14:m>
                  <m:oMathPara xmlns:m="http://schemas.openxmlformats.org/officeDocument/2006/math">
                    <m:oMathParaPr>
                      <m:jc m:val="centerGroup"/>
                    </m:oMathParaPr>
                    <m:oMath xmlns:m="http://schemas.openxmlformats.org/officeDocument/2006/math">
                      <m:sSub>
                        <m:sSubPr>
                          <m:ctrlPr>
                            <a:rPr lang="zh-CN" altLang="en-US"/>
                          </m:ctrlPr>
                        </m:sSubPr>
                        <m:e>
                          <m:r>
                            <a:rPr lang="zh-CN" altLang="en-US" i="1"/>
                            <m:t>𝑧</m:t>
                          </m:r>
                        </m:e>
                        <m:sub>
                          <m:r>
                            <a:rPr lang="zh-CN" altLang="en-US" i="1"/>
                            <m:t>𝑘</m:t>
                          </m:r>
                          <m:r>
                            <a:rPr lang="en-US" altLang="zh-CN"/>
                            <m:t>+</m:t>
                          </m:r>
                          <m:r>
                            <a:rPr lang="en-US" altLang="zh-CN"/>
                            <m:t>1</m:t>
                          </m:r>
                        </m:sub>
                      </m:sSub>
                      <m:r>
                        <a:rPr lang="en-US" altLang="zh-CN"/>
                        <m:t>=</m:t>
                      </m:r>
                      <m:r>
                        <a:rPr lang="zh-CN" altLang="en-US" i="1"/>
                        <m:t>𝜎</m:t>
                      </m:r>
                      <m:d>
                        <m:dPr>
                          <m:ctrlPr>
                            <a:rPr lang="zh-CN" altLang="en-US" i="1"/>
                          </m:ctrlPr>
                        </m:dPr>
                        <m:e>
                          <m:r>
                            <a:rPr lang="zh-CN" altLang="en-US" i="1"/>
                            <m:t>𝑊</m:t>
                          </m:r>
                          <m:sSub>
                            <m:sSubPr>
                              <m:ctrlPr>
                                <a:rPr lang="zh-CN" altLang="en-US" i="1"/>
                              </m:ctrlPr>
                            </m:sSubPr>
                            <m:e>
                              <m:r>
                                <a:rPr lang="zh-CN" altLang="en-US" i="1"/>
                                <m:t>𝑧</m:t>
                              </m:r>
                            </m:e>
                            <m:sub>
                              <m:r>
                                <a:rPr lang="zh-CN" altLang="en-US" i="1"/>
                                <m:t>𝑘</m:t>
                              </m:r>
                            </m:sub>
                          </m:sSub>
                          <m:r>
                            <a:rPr lang="en-US" altLang="zh-CN"/>
                            <m:t>+</m:t>
                          </m:r>
                          <m:r>
                            <a:rPr lang="zh-CN" altLang="en-US" i="1"/>
                            <m:t>𝑈𝑥</m:t>
                          </m:r>
                          <m:r>
                            <a:rPr lang="en-US" altLang="zh-CN"/>
                            <m:t>+</m:t>
                          </m:r>
                          <m:r>
                            <a:rPr lang="zh-CN" altLang="en-US" i="1"/>
                            <m:t>𝑏</m:t>
                          </m:r>
                        </m:e>
                      </m:d>
                    </m:oMath>
                  </m:oMathPara>
                </a14:m>
                <a:endParaRPr lang="en-US" altLang="zh-CN" dirty="0"/>
              </a:p>
              <a:p>
                <a:pPr marL="0" indent="0">
                  <a:buNone/>
                </a:pPr>
                <a:r>
                  <a:rPr lang="zh-CN" altLang="en-US" dirty="0"/>
                  <a:t>本身是压缩映射。论文也明确指出，</a:t>
                </a:r>
                <a:r>
                  <a:rPr lang="en-US" altLang="zh-CN" dirty="0"/>
                  <a:t>naive forward iteration </a:t>
                </a:r>
                <a:r>
                  <a:rPr lang="zh-CN" altLang="en-US" dirty="0"/>
                  <a:t>不一定稳定，因此使用 </a:t>
                </a:r>
                <a:r>
                  <a:rPr lang="en-US" altLang="zh-CN" dirty="0"/>
                  <a:t>operator splitting </a:t>
                </a:r>
                <a:r>
                  <a:rPr lang="zh-CN" altLang="en-US" dirty="0"/>
                  <a:t>方法来获得可证明收敛的求解方法。</a:t>
                </a:r>
              </a:p>
              <a:p>
                <a:pPr marL="0" indent="0">
                  <a:buNone/>
                </a:pPr>
                <a:r>
                  <a:rPr lang="zh-CN" altLang="en-US" dirty="0"/>
                  <a:t>所以可以这样区分：</a:t>
                </a:r>
              </a:p>
              <a:p>
                <a:r>
                  <a:rPr lang="en-US" altLang="zh-CN" b="1" dirty="0"/>
                  <a:t>Banach </a:t>
                </a:r>
                <a:r>
                  <a:rPr lang="zh-CN" altLang="en-US" b="1" dirty="0"/>
                  <a:t>路线</a:t>
                </a:r>
                <a:r>
                  <a:rPr lang="zh-CN" altLang="en-US" dirty="0"/>
                  <a:t>：让更新映射本身成为压缩映射； </a:t>
                </a:r>
              </a:p>
              <a:p>
                <a:r>
                  <a:rPr lang="en-US" altLang="zh-CN" b="1" dirty="0" err="1"/>
                  <a:t>monDEQ</a:t>
                </a:r>
                <a:r>
                  <a:rPr lang="en-US" altLang="zh-CN" b="1" dirty="0"/>
                  <a:t> </a:t>
                </a:r>
                <a:r>
                  <a:rPr lang="zh-CN" altLang="en-US" b="1" dirty="0"/>
                  <a:t>路线</a:t>
                </a:r>
                <a:r>
                  <a:rPr lang="zh-CN" altLang="en-US" dirty="0"/>
                  <a:t>：把平衡点方程改写成强单调算子零点问题，再用分裂算法稳定求解。 这使 </a:t>
                </a:r>
                <a:r>
                  <a:rPr lang="en-US" altLang="zh-CN" dirty="0" err="1"/>
                  <a:t>monDEQ</a:t>
                </a:r>
                <a:r>
                  <a:rPr lang="en-US" altLang="zh-CN" dirty="0"/>
                  <a:t> </a:t>
                </a:r>
                <a:r>
                  <a:rPr lang="zh-CN" altLang="en-US" dirty="0"/>
                  <a:t>比单纯要求压缩映射更灵活。</a:t>
                </a:r>
                <a:endParaRPr lang="en-US" altLang="zh-CN" dirty="0"/>
              </a:p>
              <a:p>
                <a:pPr marL="0" indent="0">
                  <a:buNone/>
                </a:pPr>
                <a:r>
                  <a:rPr lang="en-US" altLang="zh-CN" dirty="0" err="1"/>
                  <a:t>monDEQ</a:t>
                </a:r>
                <a:r>
                  <a:rPr lang="en-US" altLang="zh-CN" dirty="0"/>
                  <a:t> </a:t>
                </a:r>
                <a:r>
                  <a:rPr lang="zh-CN" altLang="en-US" dirty="0"/>
                  <a:t>不仅关心前向求平衡点，还关心反向传播。</a:t>
                </a:r>
              </a:p>
              <a:p>
                <a:pPr marL="0" indent="0">
                  <a:buNone/>
                </a:pPr>
                <a:r>
                  <a:rPr lang="zh-CN" altLang="en-US" dirty="0"/>
                  <a:t>普通 </a:t>
                </a:r>
                <a:r>
                  <a:rPr lang="en-US" altLang="zh-CN" dirty="0"/>
                  <a:t>DEQ </a:t>
                </a:r>
                <a:r>
                  <a:rPr lang="zh-CN" altLang="en-US" dirty="0"/>
                  <a:t>的反向传播需要通过隐式微分解线性系统：</a:t>
                </a:r>
                <a14:m>
                  <m:oMath xmlns:m="http://schemas.openxmlformats.org/officeDocument/2006/math">
                    <m:sSup>
                      <m:sSupPr>
                        <m:ctrlPr>
                          <a:rPr lang="zh-CN" altLang="en-US" i="1">
                            <a:latin typeface="Cambria Math" panose="02040503050406030204" pitchFamily="18" charset="0"/>
                          </a:rPr>
                        </m:ctrlPr>
                      </m:sSupPr>
                      <m:e>
                        <m:d>
                          <m:dPr>
                            <m:ctrlPr>
                              <a:rPr lang="zh-CN" altLang="en-US" i="1">
                                <a:latin typeface="Cambria Math" panose="02040503050406030204" pitchFamily="18" charset="0"/>
                              </a:rPr>
                            </m:ctrlPr>
                          </m:dPr>
                          <m:e>
                            <m:r>
                              <a:rPr lang="zh-CN" altLang="en-US" i="1">
                                <a:latin typeface="Cambria Math" panose="02040503050406030204" pitchFamily="18" charset="0"/>
                              </a:rPr>
                              <m:t>𝐼</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𝐽</m:t>
                                </m:r>
                              </m:e>
                              <m:sub>
                                <m:r>
                                  <a:rPr lang="zh-CN" altLang="en-US" i="1">
                                    <a:latin typeface="Cambria Math" panose="02040503050406030204" pitchFamily="18" charset="0"/>
                                  </a:rPr>
                                  <m:t>𝑓</m:t>
                                </m:r>
                              </m:sub>
                            </m:sSub>
                          </m:e>
                        </m:d>
                      </m:e>
                      <m:sup>
                        <m:r>
                          <a:rPr lang="zh-CN" altLang="en-US">
                            <a:latin typeface="Cambria Math" panose="02040503050406030204" pitchFamily="18" charset="0"/>
                          </a:rPr>
                          <m:t>⊤</m:t>
                        </m:r>
                      </m:sup>
                    </m:sSup>
                    <m:r>
                      <a:rPr lang="zh-CN" altLang="en-US" i="1">
                        <a:latin typeface="Cambria Math" panose="02040503050406030204" pitchFamily="18" charset="0"/>
                      </a:rPr>
                      <m:t>𝑣</m:t>
                    </m:r>
                    <m:r>
                      <a:rPr lang="en-US" altLang="zh-CN">
                        <a:latin typeface="Cambria Math" panose="02040503050406030204" pitchFamily="18" charset="0"/>
                      </a:rPr>
                      <m:t>=</m:t>
                    </m:r>
                    <m:f>
                      <m:fPr>
                        <m:ctrlPr>
                          <a:rPr lang="zh-CN" altLang="en-US" i="1">
                            <a:latin typeface="Cambria Math" panose="02040503050406030204" pitchFamily="18" charset="0"/>
                          </a:rPr>
                        </m:ctrlPr>
                      </m:fPr>
                      <m:num>
                        <m:r>
                          <a:rPr lang="zh-CN" altLang="en-US">
                            <a:latin typeface="Cambria Math" panose="02040503050406030204" pitchFamily="18" charset="0"/>
                          </a:rPr>
                          <m:t>𝜕</m:t>
                        </m:r>
                        <m:r>
                          <a:rPr lang="en-US" altLang="zh-CN">
                            <a:latin typeface="Cambria Math" panose="02040503050406030204" pitchFamily="18" charset="0"/>
                          </a:rPr>
                          <m:t>ℒ</m:t>
                        </m:r>
                      </m:num>
                      <m:den>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𝑧</m:t>
                            </m:r>
                          </m:e>
                          <m:sup>
                            <m:r>
                              <a:rPr lang="zh-CN" altLang="en-US">
                                <a:latin typeface="Cambria Math" panose="02040503050406030204" pitchFamily="18" charset="0"/>
                              </a:rPr>
                              <m:t>∗</m:t>
                            </m:r>
                          </m:sup>
                        </m:sSup>
                      </m:den>
                    </m:f>
                    <m:r>
                      <a:rPr lang="en-US" altLang="zh-CN">
                        <a:latin typeface="Cambria Math" panose="02040503050406030204" pitchFamily="18" charset="0"/>
                      </a:rPr>
                      <m:t>.</m:t>
                    </m:r>
                  </m:oMath>
                </a14:m>
                <a:r>
                  <a:rPr lang="zh-CN" altLang="en-US" dirty="0"/>
                  <a:t>如果这个系统病态，训练会不稳定</a:t>
                </a:r>
              </a:p>
              <a:p>
                <a:pPr marL="0" indent="0">
                  <a:buNone/>
                </a:pPr>
                <a:r>
                  <a:rPr lang="en-US" altLang="zh-CN" dirty="0" err="1"/>
                  <a:t>monDEQ</a:t>
                </a:r>
                <a:r>
                  <a:rPr lang="en-US" altLang="zh-CN" dirty="0"/>
                  <a:t> </a:t>
                </a:r>
                <a:r>
                  <a:rPr lang="zh-CN" altLang="en-US" dirty="0"/>
                  <a:t>进一步把反向传播也写成一个线性的单调算子分裂问题，并说明在他们的结构下反向传播所需的解也具有唯一性。意味着 </a:t>
                </a:r>
                <a:r>
                  <a:rPr lang="en-US" altLang="zh-CN" dirty="0" err="1"/>
                  <a:t>monDEQ</a:t>
                </a:r>
                <a:r>
                  <a:rPr lang="en-US" altLang="zh-CN" dirty="0"/>
                  <a:t> </a:t>
                </a:r>
                <a:r>
                  <a:rPr lang="zh-CN" altLang="en-US" dirty="0"/>
                  <a:t>不只是前向解更稳定，反向训练过程也能从单调算子结构中受益。</a:t>
                </a:r>
              </a:p>
              <a:p>
                <a:endParaRPr lang="zh-CN" altLang="en-US" dirty="0"/>
              </a:p>
            </p:txBody>
          </p:sp>
        </mc:Choice>
        <mc:Fallback>
          <p:sp>
            <p:nvSpPr>
              <p:cNvPr id="12" name="コンテンツ プレースホルダー 2">
                <a:extLst>
                  <a:ext uri="{FF2B5EF4-FFF2-40B4-BE49-F238E27FC236}">
                    <a16:creationId xmlns:a16="http://schemas.microsoft.com/office/drawing/2014/main" id="{9D1FB4AE-2221-845A-31B5-B94F852FA154}"/>
                  </a:ext>
                </a:extLst>
              </p:cNvPr>
              <p:cNvSpPr>
                <a:spLocks noGrp="1" noRot="1" noChangeAspect="1" noMove="1" noResize="1" noEditPoints="1" noAdjustHandles="1" noChangeArrowheads="1" noChangeShapeType="1" noTextEdit="1"/>
              </p:cNvSpPr>
              <p:nvPr>
                <p:ph idx="1"/>
              </p:nvPr>
            </p:nvSpPr>
            <p:spPr>
              <a:xfrm>
                <a:off x="116958" y="1112520"/>
                <a:ext cx="11973442" cy="5440680"/>
              </a:xfrm>
              <a:blipFill>
                <a:blip r:embed="rId3"/>
                <a:stretch>
                  <a:fillRect l="-509" t="-1009" r="-560" b="-100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49752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4862880-0955-872B-6BD2-7E23ACF55E01}"/>
              </a:ext>
            </a:extLst>
          </p:cNvPr>
          <p:cNvSpPr>
            <a:spLocks noGrp="1"/>
          </p:cNvSpPr>
          <p:nvPr>
            <p:ph type="body" idx="1"/>
          </p:nvPr>
        </p:nvSpPr>
        <p:spPr>
          <a:xfrm>
            <a:off x="963084" y="2678906"/>
            <a:ext cx="10363200" cy="1500187"/>
          </a:xfrm>
        </p:spPr>
        <p:txBody>
          <a:bodyPr/>
          <a:lstStyle/>
          <a:p>
            <a:pPr algn="ctr"/>
            <a:r>
              <a:rPr kumimoji="1" lang="en-US" altLang="ja-JP" sz="5000" dirty="0"/>
              <a:t>Thank you for listening!</a:t>
            </a:r>
            <a:endParaRPr kumimoji="1" lang="ja-JP" altLang="en-US" sz="5000" dirty="0"/>
          </a:p>
        </p:txBody>
      </p:sp>
    </p:spTree>
    <p:extLst>
      <p:ext uri="{BB962C8B-B14F-4D97-AF65-F5344CB8AC3E}">
        <p14:creationId xmlns:p14="http://schemas.microsoft.com/office/powerpoint/2010/main" val="3395547263"/>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ユーザー定義 1">
      <a:majorFont>
        <a:latin typeface="Arial"/>
        <a:ea typeface="FangSong"/>
        <a:cs typeface=""/>
      </a:majorFont>
      <a:minorFont>
        <a:latin typeface="Comic Sans MS"/>
        <a:ea typeface="FangSong"/>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a:ln>
              <a:noFill/>
            </a:ln>
            <a:solidFill>
              <a:schemeClr val="tx1"/>
            </a:solidFill>
            <a:effectLst/>
            <a:latin typeface="Comic Sans M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a:ln>
              <a:noFill/>
            </a:ln>
            <a:solidFill>
              <a:schemeClr val="tx1"/>
            </a:solidFill>
            <a:effectLst/>
            <a:latin typeface="Comic Sans MS"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90224</TotalTime>
  <Words>5356</Words>
  <Application>Microsoft Office PowerPoint</Application>
  <PresentationFormat>ワイド画面</PresentationFormat>
  <Paragraphs>541</Paragraphs>
  <Slides>46</Slides>
  <Notes>43</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46</vt:i4>
      </vt:variant>
    </vt:vector>
  </HeadingPairs>
  <TitlesOfParts>
    <vt:vector size="54" baseType="lpstr">
      <vt:lpstr>FangSong</vt:lpstr>
      <vt:lpstr>ＭＳ ゴシック</vt:lpstr>
      <vt:lpstr>Arial</vt:lpstr>
      <vt:lpstr>Cambria Math</vt:lpstr>
      <vt:lpstr>Comic Sans MS</vt:lpstr>
      <vt:lpstr>Times New Roman</vt:lpstr>
      <vt:lpstr>Wingdings</vt:lpstr>
      <vt:lpstr>Blank Presentation</vt:lpstr>
      <vt:lpstr>PowerPoint プレゼンテーション</vt:lpstr>
      <vt:lpstr>Banach不动点定理</vt:lpstr>
      <vt:lpstr>场景驱动：常微分方程存在唯一性</vt:lpstr>
      <vt:lpstr>为什么要讨论“存在唯一性”</vt:lpstr>
      <vt:lpstr>从 ODE 到积分方程：不动点自然出现</vt:lpstr>
      <vt:lpstr>Picard–Lindelöf 定理</vt:lpstr>
      <vt:lpstr>不动点的直观说明</vt:lpstr>
      <vt:lpstr>Picard 迭代：从“猜一条曲线”到“逼近真正解”</vt:lpstr>
      <vt:lpstr>为什么会收敛？压缩映射的作用</vt:lpstr>
      <vt:lpstr>一个简单例子：指数增长方程</vt:lpstr>
      <vt:lpstr>ODE中的不动点</vt:lpstr>
      <vt:lpstr>相关方法和论文介绍</vt:lpstr>
      <vt:lpstr>机器学习相关论文</vt:lpstr>
      <vt:lpstr>机器学习中的对应场景一：Neural ODE</vt:lpstr>
      <vt:lpstr>机器学习中的对应场景一：Neural ODE</vt:lpstr>
      <vt:lpstr>机器学习中的对应场景一：Neural ODE</vt:lpstr>
      <vt:lpstr>机器学习中的对应场景一：Neural ODE</vt:lpstr>
      <vt:lpstr>机器学习中的对应场景一：Neural ODE</vt:lpstr>
      <vt:lpstr>场景二：Neural CDE 与不规则时间序列</vt:lpstr>
      <vt:lpstr>场景二：Neural CDE 与不规则时间序列</vt:lpstr>
      <vt:lpstr>场景二：Neural CDE 与不规则时间序列</vt:lpstr>
      <vt:lpstr>场景二：Neural CDE 与不规则时间序列</vt:lpstr>
      <vt:lpstr>场景二：Neural CDE 与不规则时间序列</vt:lpstr>
      <vt:lpstr>场景三：Deep Equilibrium Models，直接求不动点</vt:lpstr>
      <vt:lpstr>场景三：Deep Equilibrium Models，直接求不动点</vt:lpstr>
      <vt:lpstr>场景三：Deep Equilibrium Models，直接求不动点</vt:lpstr>
      <vt:lpstr>场景三：Deep Equilibrium Models，直接求不动点</vt:lpstr>
      <vt:lpstr>场景三：Deep Equilibrium Models，直接求不动点</vt:lpstr>
      <vt:lpstr>场景三：Deep Equilibrium Models，直接求不动点</vt:lpstr>
      <vt:lpstr>场景四：Implicit Deep Learning</vt:lpstr>
      <vt:lpstr>场景四：Implicit Deep Learning</vt:lpstr>
      <vt:lpstr>场景四：Implicit Deep Learning</vt:lpstr>
      <vt:lpstr>场景四：Implicit Deep Learning</vt:lpstr>
      <vt:lpstr>场景四：Implicit Deep Learning</vt:lpstr>
      <vt:lpstr>场景四：Implicit Deep Learning</vt:lpstr>
      <vt:lpstr>场景五：Monotone Operator Equilibrium Networks</vt:lpstr>
      <vt:lpstr>场景五：Monotone Operator Equilibrium Networks</vt:lpstr>
      <vt:lpstr>场景五：Monotone Operator Equilibrium Networks</vt:lpstr>
      <vt:lpstr>场景五：Monotone Operator Equilibrium Networks</vt:lpstr>
      <vt:lpstr>场景五：Monotone Operator Equilibrium Networks</vt:lpstr>
      <vt:lpstr>场景五：Monotone Operator Equilibrium Networks</vt:lpstr>
      <vt:lpstr>场景五：Monotone Operator Equilibrium Networks</vt:lpstr>
      <vt:lpstr>场景五：Monotone Operator Equilibrium Networks</vt:lpstr>
      <vt:lpstr>场景五：Monotone Operator Equilibrium Networks</vt:lpstr>
      <vt:lpstr>场景五：Monotone Operator Equilibrium Networks</vt:lpstr>
      <vt:lpstr>PowerPoint プレゼンテーション</vt:lpstr>
    </vt:vector>
  </TitlesOfParts>
  <Company>qub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2_csc321</dc:title>
  <dc:creator>sscott</dc:creator>
  <cp:lastModifiedBy>Yiyang Jia</cp:lastModifiedBy>
  <cp:revision>4673</cp:revision>
  <dcterms:created xsi:type="dcterms:W3CDTF">2001-07-30T09:48:22Z</dcterms:created>
  <dcterms:modified xsi:type="dcterms:W3CDTF">2026-05-17T09:56:38Z</dcterms:modified>
</cp:coreProperties>
</file>