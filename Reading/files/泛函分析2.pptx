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7" r:id="rId2"/>
    <p:sldId id="318" r:id="rId3"/>
    <p:sldId id="505" r:id="rId4"/>
    <p:sldId id="544" r:id="rId5"/>
    <p:sldId id="545" r:id="rId6"/>
    <p:sldId id="504" r:id="rId7"/>
    <p:sldId id="542" r:id="rId8"/>
    <p:sldId id="319" r:id="rId9"/>
    <p:sldId id="546" r:id="rId10"/>
    <p:sldId id="541" r:id="rId11"/>
    <p:sldId id="559" r:id="rId12"/>
    <p:sldId id="560" r:id="rId13"/>
    <p:sldId id="548" r:id="rId14"/>
    <p:sldId id="549" r:id="rId15"/>
    <p:sldId id="550" r:id="rId16"/>
    <p:sldId id="551" r:id="rId17"/>
    <p:sldId id="547" r:id="rId18"/>
    <p:sldId id="552" r:id="rId19"/>
    <p:sldId id="553" r:id="rId20"/>
    <p:sldId id="554" r:id="rId21"/>
    <p:sldId id="555" r:id="rId22"/>
    <p:sldId id="556" r:id="rId23"/>
    <p:sldId id="557" r:id="rId24"/>
    <p:sldId id="558" r:id="rId25"/>
    <p:sldId id="503" r:id="rId26"/>
  </p:sldIdLst>
  <p:sldSz cx="12192000" cy="6858000"/>
  <p:notesSz cx="6669088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Comic Sans MS" panose="030F0902030302020204" pitchFamily="66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6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9EAEF"/>
    <a:srgbClr val="1E35A8"/>
    <a:srgbClr val="EDFFED"/>
    <a:srgbClr val="FFFDF0"/>
    <a:srgbClr val="F5F2DF"/>
    <a:srgbClr val="F7F7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D083AE6-46FA-4A59-8FB0-9F97EB10719F}" styleName="淡色スタイル 3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3447" autoAdjust="0"/>
  </p:normalViewPr>
  <p:slideViewPr>
    <p:cSldViewPr snapToGrid="0">
      <p:cViewPr>
        <p:scale>
          <a:sx n="62" d="100"/>
          <a:sy n="62" d="100"/>
        </p:scale>
        <p:origin x="828" y="28"/>
      </p:cViewPr>
      <p:guideLst>
        <p:guide orient="horz" pos="2160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52C18442-6CBB-9D4C-BAEA-A8F1BBD3577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653F2BA6-0CAA-5945-ACBD-4F338120D7D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14557265-7C63-8C48-84E3-2EBF33E8718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omic Sans M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7" name="Rectangle 5">
            <a:extLst>
              <a:ext uri="{FF2B5EF4-FFF2-40B4-BE49-F238E27FC236}">
                <a16:creationId xmlns:a16="http://schemas.microsoft.com/office/drawing/2014/main" id="{708EC389-215B-BB4B-AF04-0D16A0A5620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omic Sans MS" charset="0"/>
                <a:ea typeface="ＭＳ Ｐゴシック" charset="-128"/>
              </a:defRPr>
            </a:lvl1pPr>
          </a:lstStyle>
          <a:p>
            <a:pPr>
              <a:defRPr/>
            </a:pPr>
            <a:fld id="{A331DE67-792D-4F41-8BD2-183E50FC1F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921D813-D54F-5A42-8D81-6FD883C1EB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F4F132-3A51-C24F-AD22-A48CD14B1D3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9658DE86-5E13-E64C-84C2-46CB62CE691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9D372DE-C786-8D4D-9F53-214241F844F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743ADF9-18C0-4240-9800-30D3D32CF58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429AE395-53F8-BF43-BD63-E86F29A94A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/>
            <a:ext uri="{909E8E84-426E-40dd-AFC4-6F175D3DCCD1}"/>
            <a:ext uri="{91240B29-F687-4f45-9708-019B960494DF}"/>
            <a:ext uri="{AF507438-7753-43e0-B8FC-AC1667EBCBE1}"/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fld id="{AB31E2A7-604B-AC4A-93FF-7D752141A2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9876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705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4E965-1545-5E46-2558-EACBC9D80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7CE4B95-6A43-0491-6348-6A49EF619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D7A98E1-872B-A9FA-B608-69964F36A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538598-2681-69B2-E428-B1EB1F09E4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21374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3F657-2A57-F0FC-2088-22D71A2D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20C3BCD-DD0F-277D-9EA4-7B8D05F24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1AE99A2-46C5-C627-81F8-D8A56AF151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F78C1A-BCFA-F9B4-FD7A-BF6CB9C0B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37016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D5D11-84C1-D9FF-EB15-E406D2D00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B887305-B892-05E2-EE1D-FF8F76CBD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6B5CBD-9E93-E5BE-C003-9C3E60157D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417137-AC31-F33E-4D7C-812BBDB426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535761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17FA7-C3FF-3629-FAF6-7C9E8B24C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A11FC4E-50E2-FCE3-2316-89E07805E9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8F38FC4-CAB5-E774-79E5-BC5A3D065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46C540F-2175-1BE2-6FF0-806A2C9E5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41234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ABEBD-5701-3461-0A04-B3046D6C7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2125776-7444-B310-5719-25BFE0104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C911B74-74E8-E667-6257-A6EFCFA37E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878C98-1F9B-10A5-5EE3-67E1EDC8E2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40283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4162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EF418-E904-21E1-0125-DCDBBF3E2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8FBB64C-C72D-4B5E-7E64-AA18C5486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28B7C1B-CDB6-E044-5832-1859F6402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749483-E179-16F6-9C67-3AC3F10A64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4894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7393D-A936-FE4B-51EC-480B7265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09E97BD-51A0-7AF8-8E9E-C680BE5FC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F759591-CE03-45EA-A1BD-0B85A22AE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08983D9-5545-714F-96F7-BE629352EA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5909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7FEA6-874B-1CA5-38A3-A3BB0AF72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F28BA7C-BF96-3991-883F-A120C83B6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A5CBC7-F62C-F8EA-9B7C-0BCB2554B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AAF1B15-3DF6-E1CF-61DB-18C8A7911C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145309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07B9C-7280-2D3E-246A-903DAC15E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7D5734-21C7-820D-A8A2-EDE9AB251E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7259C8-56FD-EF2C-F1B5-056E00A7B1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65CAFF-F5B9-FCEA-EBA6-554C8F77D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651632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5AE65-E760-922D-B4D3-BCE9ABF0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2923BA2-5610-A511-C5FB-5A7373C17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929A6C6-4005-C2A3-C9A2-2540E1892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88CD0C-F7E3-3634-C08D-552C2FB6E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98355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43E9-59F0-266A-D7CF-E5C0B7393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1FFB53A-121B-23E7-A0ED-0A6FD0BEE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70D7182-B324-BB77-486B-B3BF53D62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BD71E3-BFD2-E9FB-0C01-114B8956F5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2437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F0D9-45EB-268C-141E-30FEA0DE7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FE677AE-B86D-20FA-1346-D99482C3A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784CA6D-78AD-555C-BAB4-6B76A1095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299BA4-FD0A-4CB3-0DEE-98A452C8B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524181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4860A-4382-4E9B-34BE-A798EAEE3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A7F14F5-1738-0E09-379F-6A4739D378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6C8E77-0CEC-BDC3-4241-C5D837D53C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6B3F26D-05A2-FB53-B90A-C6DE76264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6513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D0D9A-3BB8-A503-899F-5C59E3C67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E65D039-60ED-53E6-23F4-F93F36172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18B738-B28E-249B-DD30-3DAC65361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58884E-C261-0204-2B29-458043C94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2303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0D3D3-89D4-0F76-147E-66C586985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3A9556F-0A54-B3D8-E6DD-657F072E8A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895B769-B667-18DC-CB11-1C296F536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4C71C97-89CA-EA0B-84DE-C337D877D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993224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A1117-9D89-0D0A-6CF2-75858664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2F8B75D-3D2A-6859-6B9C-1D78B27DE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A198226-664A-2796-F2B1-E1020A0945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0734D08-63BC-BE76-D1B8-1B8CE5AD6A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91548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79DE3-4E69-834B-FB15-8A960E42D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1847566-6359-F61F-7AE7-09C527C29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B578F41-19D1-11CF-1D42-A229E6E46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78BC9C-8521-BB91-4454-95677DBE16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7343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29B7E-B5DE-BD10-9305-750119A7E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CE11692-24B7-A405-83B3-1CF245B46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C6B52EE-DD3A-5A7C-62A5-524F6FB79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0702A02-F2E3-BAFA-3514-54FA58DA65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65730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7228E-C58B-717D-18E6-BC2D7BFFC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C875C84-68F6-ED66-BCA0-A3A5A0ABC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E4F2385-BB0C-21A9-A5B1-BACE2B397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75FEAD-CD82-8A9F-9941-E23563CE0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603887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ACB1C-2CAD-15EB-B5D9-AE3942BC4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B29179A-E116-4F99-0F33-526FBCC28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3B23324-3B4A-06FD-A48D-10743B303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25A3F5-5859-46BE-0C7D-D7718AB00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613056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1BA4F-8CDF-E8F1-805E-63127FB27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2EA280F-53DA-118F-BB4C-C8E676DCDD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6988" y="744538"/>
            <a:ext cx="6615112" cy="3722687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BBE66C0-83B8-6BB4-1BDA-3C004B0DD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kern="1200" dirty="0">
              <a:solidFill>
                <a:schemeClr val="tx1"/>
              </a:solidFill>
              <a:effectLst/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D41256-259A-FC87-A16A-02AF6FED7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B31E2A7-604B-AC4A-93FF-7D752141A213}" type="slidenum">
              <a:rPr lang="en-US" altLang="en-US" smtClean="0"/>
              <a:pPr>
                <a:defRPr/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8754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4">
            <a:extLst>
              <a:ext uri="{FF2B5EF4-FFF2-40B4-BE49-F238E27FC236}">
                <a16:creationId xmlns:a16="http://schemas.microsoft.com/office/drawing/2014/main" id="{2CCC2082-249C-0241-A66B-561CCF4228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" y="10668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228600"/>
            <a:ext cx="111760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Section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27200" y="1676400"/>
            <a:ext cx="8331200" cy="914400"/>
          </a:xfrm>
        </p:spPr>
        <p:txBody>
          <a:bodyPr/>
          <a:lstStyle>
            <a:lvl1pPr marL="0" indent="0" algn="ctr">
              <a:buFont typeface="Wingdings" charset="0"/>
              <a:buNone/>
              <a:defRPr sz="3200" b="1">
                <a:solidFill>
                  <a:schemeClr val="accent2"/>
                </a:solidFill>
                <a:latin typeface="Arial" charset="0"/>
              </a:defRPr>
            </a:lvl1pPr>
          </a:lstStyle>
          <a:p>
            <a:pPr lvl="0"/>
            <a:r>
              <a:rPr lang="en-US" noProof="0"/>
              <a:t>Concurrent Programming Abstraction &amp; Java Threads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9" name="フッター プレースホルダー 1">
            <a:extLst>
              <a:ext uri="{FF2B5EF4-FFF2-40B4-BE49-F238E27FC236}">
                <a16:creationId xmlns:a16="http://schemas.microsoft.com/office/drawing/2014/main" id="{A1380731-16D9-4669-945F-14AC8AF75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47A380E1-661C-4C30-8B01-8930768AE3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035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FangSong" panose="02010609060101010101" pitchFamily="49" charset="-122"/>
              </a:defRPr>
            </a:lvl1pPr>
            <a:lvl2pPr>
              <a:defRPr baseline="0">
                <a:ea typeface="FangSong" panose="02010609060101010101" pitchFamily="49" charset="-122"/>
              </a:defRPr>
            </a:lvl2pPr>
            <a:lvl3pPr>
              <a:defRPr baseline="0">
                <a:ea typeface="FangSong" panose="02010609060101010101" pitchFamily="49" charset="-122"/>
              </a:defRPr>
            </a:lvl3pPr>
            <a:lvl4pPr>
              <a:defRPr baseline="0">
                <a:ea typeface="FangSong" panose="02010609060101010101" pitchFamily="49" charset="-122"/>
              </a:defRPr>
            </a:lvl4pPr>
            <a:lvl5pPr>
              <a:defRPr baseline="0">
                <a:ea typeface="FangSong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656708E0-780A-42EA-AEC7-D80580D6D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0287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フッター プレースホルダー 1">
            <a:extLst>
              <a:ext uri="{FF2B5EF4-FFF2-40B4-BE49-F238E27FC236}">
                <a16:creationId xmlns:a16="http://schemas.microsoft.com/office/drawing/2014/main" id="{B6DEF749-4806-4EB1-9520-49569C4FCA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34990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295400"/>
            <a:ext cx="54356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フッター プレースホルダー 1">
            <a:extLst>
              <a:ext uri="{FF2B5EF4-FFF2-40B4-BE49-F238E27FC236}">
                <a16:creationId xmlns:a16="http://schemas.microsoft.com/office/drawing/2014/main" id="{071E30C6-AED6-406C-B2B3-B9C14F192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388294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フッター プレースホルダー 1">
            <a:extLst>
              <a:ext uri="{FF2B5EF4-FFF2-40B4-BE49-F238E27FC236}">
                <a16:creationId xmlns:a16="http://schemas.microsoft.com/office/drawing/2014/main" id="{D6B50CE3-CD95-4A1F-9A83-500B9C5478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2091609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フッター プレースホルダー 1">
            <a:extLst>
              <a:ext uri="{FF2B5EF4-FFF2-40B4-BE49-F238E27FC236}">
                <a16:creationId xmlns:a16="http://schemas.microsoft.com/office/drawing/2014/main" id="{802880ED-3A6D-4854-B3C1-12A8BF68C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1941040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19B66A68-EB2C-448A-9C31-2285F6D4E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  <p:extLst>
      <p:ext uri="{BB962C8B-B14F-4D97-AF65-F5344CB8AC3E}">
        <p14:creationId xmlns:p14="http://schemas.microsoft.com/office/powerpoint/2010/main" val="56837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968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311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080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3800" y="304800"/>
            <a:ext cx="27686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304800"/>
            <a:ext cx="81026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0605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44D7B4F-816E-594A-A348-113D4DEB79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08000" y="304800"/>
            <a:ext cx="11074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altLang="en-US" dirty="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984F332-65D3-8E41-9D42-8A248FC50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  <a:endParaRPr lang="en-US" altLang="en-US"/>
          </a:p>
        </p:txBody>
      </p:sp>
      <p:sp>
        <p:nvSpPr>
          <p:cNvPr id="1028" name="Line 7">
            <a:extLst>
              <a:ext uri="{FF2B5EF4-FFF2-40B4-BE49-F238E27FC236}">
                <a16:creationId xmlns:a16="http://schemas.microsoft.com/office/drawing/2014/main" id="{00A13E26-8A0C-4A42-ACC2-0EA997F81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" y="990600"/>
            <a:ext cx="11108267" cy="0"/>
          </a:xfrm>
          <a:prstGeom prst="line">
            <a:avLst/>
          </a:prstGeom>
          <a:noFill/>
          <a:ln w="508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000"/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7F320112-8054-5C45-9ABE-1300A4072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69600" y="6553199"/>
            <a:ext cx="142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>
            <a:spAutoFit/>
          </a:bodyPr>
          <a:lstStyle>
            <a:lvl1pPr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1pPr>
            <a:lvl2pPr marL="742950" indent="-28575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2pPr>
            <a:lvl3pPr marL="11430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3pPr>
            <a:lvl4pPr marL="16002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4pPr>
            <a:lvl5pPr marL="2057400" indent="-228600" defTabSz="762000"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-128"/>
              </a:defRPr>
            </a:lvl9pPr>
          </a:lstStyle>
          <a:p>
            <a:pPr algn="r">
              <a:spcBef>
                <a:spcPct val="50000"/>
              </a:spcBef>
              <a:defRPr/>
            </a:pPr>
            <a:fld id="{B30D727B-AF9F-1344-87F2-06A074BC649A}" type="slidenum">
              <a:rPr lang="en-GB" altLang="en-US" sz="1400" smtClean="0">
                <a:solidFill>
                  <a:schemeClr val="accent2"/>
                </a:solidFill>
                <a:latin typeface="Times New Roman" charset="0"/>
              </a:rPr>
              <a:pPr algn="r">
                <a:spcBef>
                  <a:spcPct val="50000"/>
                </a:spcBef>
                <a:defRPr/>
              </a:pPr>
              <a:t>‹#›</a:t>
            </a:fld>
            <a:endParaRPr lang="en-GB" altLang="en-US" sz="1400" dirty="0">
              <a:solidFill>
                <a:schemeClr val="accent2"/>
              </a:solidFill>
              <a:latin typeface="Times New Roman" charset="0"/>
            </a:endParaRPr>
          </a:p>
          <a:p>
            <a:pPr algn="r">
              <a:spcBef>
                <a:spcPct val="50000"/>
              </a:spcBef>
              <a:defRPr/>
            </a:pPr>
            <a:endParaRPr lang="en-GB" altLang="en-US" sz="1000" dirty="0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699C07AA-4BE4-49A0-B276-13F3D202B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8000" y="637063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r>
              <a:rPr lang="en-US" dirty="0" err="1"/>
              <a:t>Yiyang</a:t>
            </a:r>
            <a:r>
              <a:rPr lang="en-US" dirty="0"/>
              <a:t> Jia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25" r:id="rId2"/>
    <p:sldLayoutId id="2147483926" r:id="rId3"/>
    <p:sldLayoutId id="2147483927" r:id="rId4"/>
    <p:sldLayoutId id="2147483928" r:id="rId5"/>
    <p:sldLayoutId id="2147483929" r:id="rId6"/>
    <p:sldLayoutId id="2147483930" r:id="rId7"/>
    <p:sldLayoutId id="2147483931" r:id="rId8"/>
    <p:sldLayoutId id="2147483932" r:id="rId9"/>
    <p:sldLayoutId id="2147483933" r:id="rId10"/>
    <p:sldLayoutId id="214748393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+mj-lt"/>
          <a:ea typeface="+mj-ea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accent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u"/>
        <a:defRPr sz="20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itchFamily="2" charset="2"/>
        <a:buChar char="u"/>
        <a:defRPr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charset="0"/>
        <a:buChar char="u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0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90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4" Type="http://schemas.openxmlformats.org/officeDocument/2006/relationships/image" Target="../media/image39.png"/><Relationship Id="rId9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28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C9D3ED6E-29C5-344B-AD25-059465987D1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4754" y="2400701"/>
            <a:ext cx="11762071" cy="914400"/>
          </a:xfrm>
          <a:extLst>
            <a:ext uri="{909E8E84-426E-40dd-AFC4-6F175D3DCCD1}"/>
            <a:ext uri="{91240B29-F687-4f45-9708-019B960494DF}"/>
            <a:ext uri="{AF507438-7753-43e0-B8FC-AC1667EBCBE1}"/>
          </a:extLst>
        </p:spPr>
        <p:txBody>
          <a:bodyPr/>
          <a:lstStyle/>
          <a:p>
            <a:pPr>
              <a:defRPr/>
            </a:pPr>
            <a:r>
              <a:rPr lang="zh-CN" altLang="en-US" sz="4800" dirty="0"/>
              <a:t>第二讲  函数空间作为向量空间</a:t>
            </a:r>
            <a:endParaRPr lang="en-US" altLang="zh-CN" sz="4800" b="0" dirty="0">
              <a:solidFill>
                <a:srgbClr val="00B050"/>
              </a:solidFill>
              <a:latin typeface="ＭＳ ゴシック" panose="020B0609070205080204" pitchFamily="49" charset="-128"/>
              <a:ea typeface="ＭＳ ゴシック" panose="020B0609070205080204" pitchFamily="49" charset="-128"/>
              <a:cs typeface="+mn-cs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557E3E-7542-E03D-E83D-95659A1FF452}"/>
              </a:ext>
            </a:extLst>
          </p:cNvPr>
          <p:cNvSpPr txBox="1"/>
          <p:nvPr/>
        </p:nvSpPr>
        <p:spPr>
          <a:xfrm>
            <a:off x="2058126" y="3959721"/>
            <a:ext cx="80757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面向应用的泛函分析：空间、算子与结构</a:t>
            </a:r>
            <a:r>
              <a:rPr lang="en-US" altLang="ja-JP" sz="3000" dirty="0">
                <a:latin typeface="+mj-ea"/>
                <a:ea typeface="+mj-ea"/>
              </a:rPr>
              <a:t>(2)</a:t>
            </a:r>
            <a:endParaRPr lang="ja-JP" altLang="en-US" sz="3000" dirty="0">
              <a:latin typeface="+mj-ea"/>
              <a:ea typeface="+mj-ea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9873AE4-8092-C0CF-6CC8-939EF51604B4}"/>
              </a:ext>
            </a:extLst>
          </p:cNvPr>
          <p:cNvSpPr txBox="1"/>
          <p:nvPr/>
        </p:nvSpPr>
        <p:spPr>
          <a:xfrm>
            <a:off x="4439920" y="5158339"/>
            <a:ext cx="33121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000" dirty="0">
                <a:latin typeface="+mj-ea"/>
                <a:ea typeface="+mj-ea"/>
              </a:rPr>
              <a:t>讲师：贾伊阳</a:t>
            </a:r>
            <a:endParaRPr lang="ja-JP" altLang="en-US" sz="3000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DB85F4-098D-4349-9D2A-FB16A97F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主要内容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1BCF6EC3-40D2-4CE3-A814-5AC4C90F6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320" y="1066800"/>
            <a:ext cx="11287760" cy="4724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上一讲我们讨论了：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为什么要研究“函数” 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为什么不同问题需要不同类型的函数 </a:t>
            </a:r>
          </a:p>
          <a:p>
            <a:pPr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zh-CN" altLang="en-US" dirty="0"/>
              <a:t>泛函分析关心：函数的空间、收敛、距离、极限 </a:t>
            </a:r>
            <a:endParaRPr lang="en-US" altLang="zh-CN" dirty="0"/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这一讲进一步回答：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函数为什么能成为向量空间的元素？</a:t>
            </a:r>
            <a:r>
              <a:rPr lang="zh-CN" alt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函数空间与普通向量空间的关系是什么？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03473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1E021-D03D-C10D-5607-0F6CA36BD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F154426-1E03-0CBF-EBCC-A902DABACC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应用场景：为什么要把函数当作“向量”？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E8E409F-C0B6-6918-5DF3-E0A3CEB6E1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287760" cy="4724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1800" b="1" dirty="0"/>
                  <a:t>场景 </a:t>
                </a:r>
                <a:r>
                  <a:rPr lang="en-US" altLang="zh-CN" sz="1800" b="1" dirty="0"/>
                  <a:t>1</a:t>
                </a:r>
                <a:r>
                  <a:rPr lang="zh-CN" altLang="en-US" sz="1800" b="1" dirty="0"/>
                  <a:t>：信号处理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在信号处理中，一个声音信号通常可以表示为</a:t>
                </a:r>
                <a:r>
                  <a:rPr lang="zh-CN" altLang="en-US" sz="1800" b="1" dirty="0"/>
                  <a:t>关于时间的函数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800" dirty="0"/>
                  <a:t>。这里，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1800" dirty="0"/>
                  <a:t> 表示时间，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800" dirty="0"/>
                  <a:t> 表示在时刻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1800" dirty="0"/>
                  <a:t>的信号强度，例如声压、电压或振幅。</a:t>
                </a:r>
              </a:p>
              <a:p>
                <a:pPr marL="0" indent="0">
                  <a:buNone/>
                </a:pPr>
                <a:r>
                  <a:rPr lang="zh-CN" altLang="en-US" sz="1800" dirty="0"/>
                  <a:t>例如：人说话的声音可以看作一个函数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zh-CN" altLang="en-US" sz="1800" dirty="0"/>
                  <a:t>；背景音乐可以看作另一个函数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1800" dirty="0"/>
              </a:p>
              <a:p>
                <a:pPr marL="0" indent="0">
                  <a:buNone/>
                </a:pPr>
                <a:r>
                  <a:rPr lang="zh-CN" altLang="en-US" sz="1800" dirty="0"/>
                  <a:t>考虑：</a:t>
                </a:r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zh-CN" sz="1800" b="1" dirty="0"/>
                  <a:t>1. </a:t>
                </a:r>
                <a:r>
                  <a:rPr lang="zh-CN" altLang="en-US" sz="1800" b="1" dirty="0"/>
                  <a:t>两个声音的叠加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sz="1800" dirty="0"/>
                  <a:t>如果两段声音同时播放，我们听到的总信号就是它们的和：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18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sz="1800" dirty="0"/>
                  <a:t>这表示：在每一个时刻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1800" dirty="0"/>
                  <a:t>，总声音强度等于两个声音强度之和。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sz="1800" dirty="0"/>
                  <a:t>这和向量的加法非常类似：不是把“整个函数”一下子相加，而是</a:t>
                </a:r>
                <a:r>
                  <a:rPr lang="zh-CN" altLang="en-US" sz="1800" b="1" dirty="0"/>
                  <a:t>逐时刻相加</a:t>
                </a:r>
                <a:r>
                  <a:rPr lang="zh-CN" altLang="en-US" sz="1800" dirty="0"/>
                  <a:t>。</a:t>
                </a:r>
              </a:p>
              <a:p>
                <a:pPr marL="0" indent="0">
                  <a:buNone/>
                </a:pPr>
                <a:r>
                  <a:rPr lang="en-US" altLang="zh-CN" sz="1800" b="1" dirty="0"/>
                  <a:t>2. </a:t>
                </a:r>
                <a:r>
                  <a:rPr lang="zh-CN" altLang="en-US" sz="1800" b="1" dirty="0"/>
                  <a:t>音量调节</a:t>
                </a:r>
              </a:p>
              <a:p>
                <a:pPr lvl="1">
                  <a:buFont typeface="Wingdings" panose="05000000000000000000" pitchFamily="2" charset="2"/>
                  <a:buChar char="n"/>
                </a:pPr>
                <a:r>
                  <a:rPr lang="zh-CN" altLang="en-US" sz="1800" dirty="0"/>
                  <a:t>如果只想把一个声音放大或减弱，可以乘一个常数 </a:t>
                </a:r>
                <a14:m>
                  <m:oMath xmlns:m="http://schemas.openxmlformats.org/officeDocument/2006/math"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sz="1800" dirty="0"/>
                  <a:t>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CN" altLang="en-US" sz="1800" dirty="0"/>
              </a:p>
              <a:p>
                <a:pPr lvl="1">
                  <a:buFont typeface="Wingdings" panose="05000000000000000000" pitchFamily="2" charset="2"/>
                  <a:buChar char="n"/>
                </a:pPr>
                <a:r>
                  <a:rPr lang="zh-CN" altLang="en-US" sz="1800" dirty="0"/>
                  <a:t>其中：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时，声音被放大 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时，声音被减弱 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时，声音被静音 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当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时，在数学上表示信号翻转相位 </a:t>
                </a:r>
              </a:p>
              <a:p>
                <a:pPr lvl="1">
                  <a:buFont typeface="Wingdings" panose="05000000000000000000" pitchFamily="2" charset="2"/>
                  <a:buChar char="n"/>
                </a:pPr>
                <a:r>
                  <a:rPr lang="zh-CN" altLang="en-US" sz="1800" dirty="0"/>
                  <a:t>这就对应了向量空间中的</a:t>
                </a:r>
                <a:r>
                  <a:rPr lang="zh-CN" altLang="en-US" sz="1800" b="1" dirty="0"/>
                  <a:t>数乘</a:t>
                </a:r>
                <a:r>
                  <a:rPr lang="zh-CN" altLang="en-US" sz="1800" dirty="0"/>
                  <a:t>。</a:t>
                </a:r>
              </a:p>
              <a:p>
                <a:endParaRPr lang="zh-CN" altLang="en-US" sz="1800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3E8E409F-C0B6-6918-5DF3-E0A3CEB6E1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287760" cy="4724400"/>
              </a:xfrm>
              <a:blipFill>
                <a:blip r:embed="rId3"/>
                <a:stretch>
                  <a:fillRect l="-486" t="-1032" r="-270" b="-197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吹き出し: 角を丸めた四角形 7">
            <a:extLst>
              <a:ext uri="{FF2B5EF4-FFF2-40B4-BE49-F238E27FC236}">
                <a16:creationId xmlns:a16="http://schemas.microsoft.com/office/drawing/2014/main" id="{D5F1E187-3562-69B4-7B28-353F54AF276B}"/>
              </a:ext>
            </a:extLst>
          </p:cNvPr>
          <p:cNvSpPr/>
          <p:nvPr/>
        </p:nvSpPr>
        <p:spPr bwMode="auto">
          <a:xfrm>
            <a:off x="8064137" y="4997884"/>
            <a:ext cx="3518263" cy="1150367"/>
          </a:xfrm>
          <a:prstGeom prst="wedgeRoundRectCallout">
            <a:avLst>
              <a:gd name="adj1" fmla="val -65635"/>
              <a:gd name="adj2" fmla="val -37500"/>
              <a:gd name="adj3" fmla="val 16667"/>
            </a:avLst>
          </a:prstGeom>
          <a:solidFill>
            <a:srgbClr val="F9EA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FangSong"/>
                <a:ea typeface="FangSong"/>
                <a:cs typeface="+mn-cs"/>
              </a:rPr>
              <a:t>混音 = 加法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FangSong"/>
                <a:ea typeface="FangSong"/>
                <a:cs typeface="+mn-cs"/>
              </a:rPr>
              <a:t>调音量 = 数乘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ja-JP" sz="20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FangSong"/>
                <a:ea typeface="FangSong"/>
                <a:cs typeface="+mn-cs"/>
              </a:rPr>
              <a:t>信号集合 = 函数空间</a:t>
            </a:r>
          </a:p>
        </p:txBody>
      </p:sp>
    </p:spTree>
    <p:extLst>
      <p:ext uri="{BB962C8B-B14F-4D97-AF65-F5344CB8AC3E}">
        <p14:creationId xmlns:p14="http://schemas.microsoft.com/office/powerpoint/2010/main" val="47067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207E-B739-1E12-9CA1-6F9C9EB42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E8181EC-2FBB-FE63-AA5D-FC93CBFA3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应用场景：为什么要把函数当作“向量”？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8E1463F-D0F2-095E-917E-9FE2F9985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49382"/>
                <a:ext cx="11712303" cy="472440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b="1" dirty="0"/>
                  <a:t>场景 </a:t>
                </a:r>
                <a:r>
                  <a:rPr lang="en-US" altLang="zh-CN" sz="1800" b="1" dirty="0"/>
                  <a:t>2</a:t>
                </a:r>
                <a:r>
                  <a:rPr lang="zh-CN" altLang="en-US" sz="1800" b="1" dirty="0"/>
                  <a:t>：物理建模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700" dirty="0"/>
                  <a:t>在物理学和工程中，许多研究对象都不是一个固定的数，而是</a:t>
                </a:r>
                <a:r>
                  <a:rPr lang="zh-CN" altLang="en-US" sz="1700" b="1" dirty="0"/>
                  <a:t>随着位置、时间不断变化的量</a:t>
                </a:r>
                <a:r>
                  <a:rPr lang="zh-CN" altLang="en-US" sz="1700" dirty="0"/>
                  <a:t>，因此通常表示为函数</a:t>
                </a:r>
              </a:p>
              <a:p>
                <a:pPr>
                  <a:lnSpc>
                    <a:spcPct val="110000"/>
                  </a:lnSpc>
                  <a:buFont typeface="+mj-ea"/>
                  <a:buAutoNum type="circleNumDbPlain"/>
                </a:pPr>
                <a:r>
                  <a:rPr lang="zh-CN" altLang="en-US" sz="1700" b="1" dirty="0"/>
                  <a:t>温度分布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700" dirty="0"/>
                  <a:t>例如，一根金属棒上不同位置的温度通常不同。如果只看某一时刻的温度，那么温度可以写成位置的函数：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700" dirty="0"/>
                  <a:t>。这里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700" dirty="0"/>
                  <a:t>表示空间位置 ，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700" dirty="0"/>
                  <a:t>表示位置 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700" dirty="0"/>
                  <a:t>处的温度。</a:t>
                </a:r>
                <a:endParaRPr lang="en-US" altLang="zh-CN" sz="17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700" dirty="0"/>
                  <a:t>如果温度还随时间变化，就要写成：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7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700" dirty="0"/>
                  <a:t>，表示在时刻 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zh-CN" altLang="en-US" sz="1700" dirty="0"/>
                  <a:t>、位置 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700" dirty="0"/>
                  <a:t>处的温度。</a:t>
                </a:r>
                <a:endParaRPr lang="en-US" altLang="ja-JP" sz="17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sz="1700" dirty="0"/>
                  <a:t>设一根棒子上的温度分布是 </a:t>
                </a:r>
                <a14:m>
                  <m:oMath xmlns:m="http://schemas.openxmlformats.org/officeDocument/2006/math">
                    <m:r>
                      <a:rPr lang="ja-JP" altLang="en-US" sz="17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ar-AE" sz="1700" dirty="0"/>
                  <a:t>，</a:t>
                </a:r>
                <a:r>
                  <a:rPr lang="ja-JP" altLang="en-US" sz="1700" dirty="0"/>
                  <a:t>另一种分布是 </a:t>
                </a:r>
                <a14:m>
                  <m:oMath xmlns:m="http://schemas.openxmlformats.org/officeDocument/2006/math">
                    <m:r>
                      <a:rPr lang="ja-JP" altLang="en-US" sz="17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ar-AE" sz="1700" dirty="0"/>
                  <a:t>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sz="1700" dirty="0"/>
                  <a:t>那么：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 altLang="ja-JP" sz="17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sz="17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sz="1700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ar-AE" sz="1700" i="1"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sz="1700" dirty="0"/>
                  <a:t>仍然是一个关于位置 </a:t>
                </a:r>
                <a14:m>
                  <m:oMath xmlns:m="http://schemas.openxmlformats.org/officeDocument/2006/math">
                    <m:r>
                      <a:rPr lang="ja-JP" altLang="en-US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1700" dirty="0"/>
                  <a:t>的函数，仍然描述某种分布。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sz="17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ar-AE" sz="1700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sz="1700" dirty="0"/>
                  <a:t>也仍然是一个温度分布函数。所以，这类对象在加法和数乘下是封闭的。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800" dirty="0"/>
              </a:p>
              <a:p>
                <a:pPr>
                  <a:lnSpc>
                    <a:spcPct val="110000"/>
                  </a:lnSpc>
                  <a:buFont typeface="+mj-ea"/>
                  <a:buAutoNum type="circleNumDbPlain" startAt="2"/>
                </a:pPr>
                <a:r>
                  <a:rPr lang="zh-CN" altLang="en-US" sz="1700" b="1" dirty="0"/>
                  <a:t>位移场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700" dirty="0"/>
                  <a:t>在弹性力学、振动、波动问题中，常常关心物体各点的位移。例如，一根弦在振动时，每个位置点都会上下运动。它的位移可以表示为：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1700" dirty="0"/>
                  <a:t>，</a:t>
                </a:r>
                <a:r>
                  <a:rPr lang="ja-JP" altLang="en-US" sz="1700" dirty="0"/>
                  <a:t>它表示：在时刻 </a:t>
                </a:r>
                <a14:m>
                  <m:oMath xmlns:m="http://schemas.openxmlformats.org/officeDocument/2006/math">
                    <m:r>
                      <a:rPr lang="ja-JP" altLang="en-US" sz="17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1700" dirty="0"/>
                  <a:t>、位置 </a:t>
                </a:r>
                <a14:m>
                  <m:oMath xmlns:m="http://schemas.openxmlformats.org/officeDocument/2006/math">
                    <m:r>
                      <a:rPr lang="ja-JP" altLang="en-US" sz="17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sz="1700" dirty="0"/>
                  <a:t>处，物体点的位移是多少。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sz="1700" dirty="0"/>
                  <a:t>如果</a:t>
                </a:r>
                <a14:m>
                  <m:oMath xmlns:m="http://schemas.openxmlformats.org/officeDocument/2006/math"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170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17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1700" dirty="0"/>
                  <a:t>是两个位移函数，</a:t>
                </a:r>
                <a:endParaRPr lang="en-US" altLang="ja-JP" sz="17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sz="1700" dirty="0"/>
                  <a:t>那么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ar-AE" altLang="ja-JP" sz="17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sz="1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 sz="17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1700" dirty="0"/>
                  <a:t>仍然是一个位移函数；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ar-AE" altLang="ja-JP" sz="17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ja-JP" altLang="ar-AE" sz="17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 sz="1700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sz="17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ja-JP" altLang="ar-AE" sz="1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1700" dirty="0"/>
                  <a:t>也仍然是一个位移函数。所以这一类函数也天然能组成线性空间。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ja-JP" altLang="en-US" sz="1700" dirty="0"/>
                  <a:t>如果是三维弹性体中的位移，</a:t>
                </a:r>
                <a14:m>
                  <m:oMath xmlns:m="http://schemas.openxmlformats.org/officeDocument/2006/math">
                    <m:r>
                      <a:rPr lang="ja-JP" altLang="en-US" sz="17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700" b="1" i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7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sz="1700" dirty="0"/>
                  <a:t>（</a:t>
                </a:r>
                <a:r>
                  <a:rPr lang="ja-JP" altLang="en-US" sz="1700" dirty="0"/>
                  <a:t>本身是一个</a:t>
                </a:r>
                <a:r>
                  <a:rPr lang="ja-JP" altLang="en-US" sz="1700" b="1" dirty="0"/>
                  <a:t>向量值函数</a:t>
                </a:r>
                <a:r>
                  <a:rPr lang="zh-CN" altLang="en-US" sz="1700" dirty="0"/>
                  <a:t>）</a:t>
                </a:r>
                <a:r>
                  <a:rPr lang="ja-JP" altLang="en-US" sz="1700" dirty="0"/>
                  <a:t>。</a:t>
                </a:r>
                <a:br>
                  <a:rPr lang="ja-JP" altLang="en-US" sz="1700" dirty="0"/>
                </a:br>
                <a:r>
                  <a:rPr lang="zh-CN" altLang="en-US" sz="1700" dirty="0"/>
                  <a:t>同样</a:t>
                </a:r>
                <a:r>
                  <a:rPr lang="ja-JP" altLang="en-US" sz="1700" dirty="0"/>
                  <a:t>可以加法、数乘，所以仍然可以看成更大空间中的向量。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sz="1800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98E1463F-D0F2-095E-917E-9FE2F9985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49382"/>
                <a:ext cx="11712303" cy="4724400"/>
              </a:xfrm>
              <a:blipFill>
                <a:blip r:embed="rId3"/>
                <a:stretch>
                  <a:fillRect l="-469" t="-903" b="-234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360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05543-0076-838C-CC49-660EDAF0C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E69D891-5733-3D56-572F-4AB9A4291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应用场景：为什么要把函数当作“向量”？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98C6DBA-CC1F-5C53-AEDB-BBBA8BE890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137920"/>
                <a:ext cx="11287760" cy="472440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场景 </a:t>
                </a:r>
                <a:r>
                  <a:rPr lang="en-US" altLang="zh-CN" b="1" dirty="0"/>
                  <a:t>3</a:t>
                </a:r>
                <a:r>
                  <a:rPr lang="zh-CN" altLang="en-US" b="1" dirty="0"/>
                  <a:t>：机器学习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直观的例子：线性回归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假设要用一条直线拟合数据：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。所有这样的函数构成一个二维函数空间：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训练过程就是在这个空间里找到最适合数据的那个函数。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线性回归不是单纯“求两个参数”，而是在函数空间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span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dirty="0"/>
                  <a:t>中寻找最佳逼近。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这时把函数看成向量，就变得非常自然：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和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像基向量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像坐标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dirty="0"/>
                  <a:t>像向量展开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最小二乘像投影</a:t>
                </a:r>
                <a:endParaRPr lang="ja-JP" altLang="ja-JP" sz="1800" dirty="0">
                  <a:latin typeface="Arial" panose="020B0604020202020204" pitchFamily="34" charset="0"/>
                </a:endParaRPr>
              </a:p>
              <a:p>
                <a:pPr marL="800100" lvl="2" indent="0">
                  <a:spcBef>
                    <a:spcPct val="0"/>
                  </a:spcBef>
                  <a:buClrTx/>
                  <a:buNone/>
                </a:pPr>
                <a:r>
                  <a:rPr lang="ja-JP" altLang="ja-JP" sz="1600" dirty="0">
                    <a:latin typeface="Arial" panose="020B0604020202020204" pitchFamily="34" charset="0"/>
                  </a:rPr>
                  <a:t>真实数据向量 y往往不一定正好在 span{1,x} 里面 </a:t>
                </a:r>
              </a:p>
              <a:p>
                <a:pPr marL="800100" lvl="2" indent="0">
                  <a:spcBef>
                    <a:spcPct val="0"/>
                  </a:spcBef>
                  <a:buClrTx/>
                  <a:buNone/>
                </a:pPr>
                <a:r>
                  <a:rPr lang="ja-JP" altLang="ja-JP" sz="1600" dirty="0">
                    <a:latin typeface="Arial" panose="020B0604020202020204" pitchFamily="34" charset="0"/>
                  </a:rPr>
                  <a:t>所以不可能完全用某条直线精确表示 </a:t>
                </a:r>
              </a:p>
              <a:p>
                <a:pPr marL="800100" lvl="2" indent="0">
                  <a:spcBef>
                    <a:spcPct val="0"/>
                  </a:spcBef>
                  <a:buClrTx/>
                  <a:buNone/>
                </a:pPr>
                <a:r>
                  <a:rPr lang="ja-JP" altLang="ja-JP" sz="1600" dirty="0">
                    <a:latin typeface="Arial" panose="020B0604020202020204" pitchFamily="34" charset="0"/>
                  </a:rPr>
                  <a:t>只能找一个最近的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ja-JP" altLang="ja-JP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ja-JP" altLang="ja-JP" sz="16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ja-JP" altLang="ja-JP" sz="1600" dirty="0">
                  <a:latin typeface="Arial" panose="020B0604020202020204" pitchFamily="34" charset="0"/>
                </a:endParaRPr>
              </a:p>
              <a:p>
                <a:pPr marL="800100" lvl="2" indent="0">
                  <a:spcBef>
                    <a:spcPct val="0"/>
                  </a:spcBef>
                  <a:buClrTx/>
                  <a:buNone/>
                </a:pPr>
                <a:r>
                  <a:rPr lang="ja-JP" altLang="ja-JP" sz="1600" dirty="0">
                    <a:latin typeface="Arial" panose="020B0604020202020204" pitchFamily="34" charset="0"/>
                  </a:rPr>
                  <a:t>这个最近点就是投影点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:endParaRPr lang="zh-CN" altLang="en-US" dirty="0"/>
              </a:p>
            </p:txBody>
          </p:sp>
        </mc:Choice>
        <mc:Fallback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98C6DBA-CC1F-5C53-AEDB-BBBA8BE890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137920"/>
                <a:ext cx="11287760" cy="4724400"/>
              </a:xfrm>
              <a:blipFill>
                <a:blip r:embed="rId3"/>
                <a:stretch>
                  <a:fillRect l="-594" t="-1032" b="-1509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8726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D20AC-578F-F607-28BD-D8FC37BA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A1FFEE8-5B30-9E78-8E8A-8A91CCB6D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常用的函数空间：连续函数空间</a:t>
            </a:r>
            <a:endParaRPr lang="en-US" b="1" dirty="0">
              <a:latin typeface="ＭＳ ゴシック" panose="020B0609070205080204" pitchFamily="49" charset="-128"/>
              <a:ea typeface="ＭＳ ゴシック" panose="020B0609070205080204" pitchFamily="49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925318F-095C-8124-485C-8AA05870AD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1320" y="1066800"/>
                <a:ext cx="11790680" cy="4724400"/>
              </a:xfrm>
            </p:spPr>
            <p:txBody>
              <a:bodyPr/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b="1" dirty="0"/>
                  <a:t>连续函数构成向量空间</a:t>
                </a:r>
                <a:endParaRPr lang="zh-CN" alt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定义：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zh-CN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:[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zh-CN" altLang="en-US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ℝ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∣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nor/>
                          </m:rPr>
                          <a:rPr lang="zh-CN" altLang="en-US" i="1"/>
                          <m:t> </m:t>
                        </m:r>
                        <m:r>
                          <m:rPr>
                            <m:nor/>
                          </m:rPr>
                          <a:rPr lang="zh-CN" altLang="en-US"/>
                          <m:t>连续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b="1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zh-CN" altLang="en-US" dirty="0"/>
                  <a:t>，则：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zh-CN" altLang="en-US" dirty="0"/>
                  <a:t>仍连续 </a:t>
                </a:r>
              </a:p>
              <a:p>
                <a:pPr lvl="1">
                  <a:lnSpc>
                    <a:spcPct val="11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仍连续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所以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zh-CN" altLang="en-US" dirty="0"/>
                  <a:t>对加法和数乘封闭，因此是一个向量空间。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altLang="zh-CN" sz="5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dirty="0"/>
                  <a:t>在机器学习中，</a:t>
                </a: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连续函数空间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zh-CN" altLang="en-US" dirty="0"/>
                  <a:t>是一个很大的 </a:t>
                </a:r>
                <a:r>
                  <a:rPr lang="en-US" altLang="zh-CN" dirty="0"/>
                  <a:t>Banach </a:t>
                </a:r>
                <a:r>
                  <a:rPr lang="zh-CN" altLang="en-US" dirty="0"/>
                  <a:t>空间（向量空间</a:t>
                </a:r>
                <a:r>
                  <a:rPr lang="en-US" altLang="zh-CN" dirty="0"/>
                  <a:t>, </a:t>
                </a:r>
                <a:r>
                  <a:rPr lang="zh-CN" altLang="en-US" dirty="0"/>
                  <a:t>向量都有长度</a:t>
                </a:r>
                <a:r>
                  <a:rPr lang="en-US" altLang="zh-CN" dirty="0"/>
                  <a:t>, Cauchy </a:t>
                </a:r>
                <a:r>
                  <a:rPr lang="zh-CN" altLang="en-US" dirty="0"/>
                  <a:t>列都收敛）； </a:t>
                </a:r>
              </a:p>
              <a:p>
                <a:pPr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RKHS</a:t>
                </a:r>
                <a:r>
                  <a:rPr lang="zh-CN" altLang="en-US" dirty="0"/>
                  <a:t>（后面介绍）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往往是其中一个更小、更规整、带内积结构的函数空间； </a:t>
                </a: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marL="400050" lvl="1" indent="0">
                  <a:lnSpc>
                    <a:spcPct val="110000"/>
                  </a:lnSpc>
                  <a:buNone/>
                </a:pPr>
                <a:endParaRPr lang="zh-CN" altLang="en-US" dirty="0"/>
              </a:p>
              <a:p>
                <a:pPr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endParaRPr lang="en-US" altLang="zh-CN" dirty="0"/>
              </a:p>
              <a:p>
                <a:pPr lvl="1" indent="-34290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机器学习中常用 </a:t>
                </a:r>
                <a:r>
                  <a:rPr lang="en-US" altLang="zh-CN" dirty="0"/>
                  <a:t>RKHS</a:t>
                </a:r>
                <a:r>
                  <a:rPr lang="zh-CN" altLang="en-US" dirty="0"/>
                  <a:t>，是因为它既保留了“函数”的观点，又让优化和泛化分析更好做。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6925318F-095C-8124-485C-8AA05870AD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1320" y="1066800"/>
                <a:ext cx="11790680" cy="4724400"/>
              </a:xfrm>
              <a:blipFill>
                <a:blip r:embed="rId3"/>
                <a:stretch>
                  <a:fillRect l="-569" t="-903" b="-2206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1CA69CF2-4BBB-49F5-987C-35820998D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673" y="4728467"/>
            <a:ext cx="5107054" cy="155944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B372CE4-493F-B236-AF5C-02F489F1678E}"/>
                  </a:ext>
                </a:extLst>
              </p:cNvPr>
              <p:cNvSpPr txBox="1"/>
              <p:nvPr/>
            </p:nvSpPr>
            <p:spPr>
              <a:xfrm>
                <a:off x="6475346" y="5498812"/>
                <a:ext cx="510705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sz="1600" dirty="0">
                    <a:solidFill>
                      <a:srgbClr val="7030A0"/>
                    </a:solidFill>
                    <a:latin typeface="+mj-ea"/>
                    <a:ea typeface="+mj-ea"/>
                  </a:rPr>
                  <a:t>想知道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j-ea"/>
                      </a:rPr>
                      <m:t>𝑓</m:t>
                    </m:r>
                  </m:oMath>
                </a14:m>
                <a:r>
                  <a:rPr lang="zh-CN" altLang="en-US" sz="1600" dirty="0">
                    <a:solidFill>
                      <a:srgbClr val="7030A0"/>
                    </a:solidFill>
                    <a:latin typeface="+mj-ea"/>
                    <a:ea typeface="+mj-ea"/>
                  </a:rPr>
                  <a:t>在某一点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zh-CN" altLang="en-US" sz="1600" dirty="0">
                    <a:solidFill>
                      <a:srgbClr val="7030A0"/>
                    </a:solidFill>
                    <a:latin typeface="+mj-ea"/>
                    <a:ea typeface="+mj-ea"/>
                  </a:rPr>
                  <a:t>的值时，不必真的把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j-ea"/>
                      </a:rPr>
                      <m:t>𝑓</m:t>
                    </m:r>
                    <m:d>
                      <m:dPr>
                        <m:ctrlP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zh-CN" altLang="en-US" sz="16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rgbClr val="7030A0"/>
                    </a:solidFill>
                    <a:latin typeface="+mj-ea"/>
                    <a:ea typeface="+mj-ea"/>
                  </a:rPr>
                  <a:t>单独拿出来算，只需要和一个特殊函数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j-ea"/>
                      </a:rPr>
                      <m:t>𝐾</m:t>
                    </m:r>
                    <m:r>
                      <a:rPr lang="en-US" altLang="zh-CN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zh-CN" altLang="en-US" sz="16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600" b="0" i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sz="1600" dirty="0">
                    <a:solidFill>
                      <a:srgbClr val="7030A0"/>
                    </a:solidFill>
                    <a:latin typeface="+mj-ea"/>
                    <a:ea typeface="+mj-ea"/>
                  </a:rPr>
                  <a:t>做内积即可</a:t>
                </a:r>
                <a:endParaRPr lang="ja-JP" altLang="en-US" sz="1600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EB372CE4-493F-B236-AF5C-02F489F16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5346" y="5498812"/>
                <a:ext cx="5107054" cy="584775"/>
              </a:xfrm>
              <a:prstGeom prst="rect">
                <a:avLst/>
              </a:prstGeom>
              <a:blipFill>
                <a:blip r:embed="rId5"/>
                <a:stretch>
                  <a:fillRect l="-597" t="-4167" b="-114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8227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37EB-8E2D-7974-457A-9607FE102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85F3D74-95AE-9C27-A27D-AB36EE44E4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/>
              <a:t>哪些函数集合是向量空间？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56DBF73-D8D6-B36A-B347-3FD21081AE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5827" y="1108159"/>
                <a:ext cx="4267773" cy="4724400"/>
              </a:xfrm>
            </p:spPr>
            <p:txBody>
              <a:bodyPr/>
              <a:lstStyle/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  <a:latin typeface="Arial" panose="020B0604020202020204" pitchFamily="34" charset="0"/>
                  </a:rPr>
                  <a:t>是向量空间</a:t>
                </a:r>
                <a:endParaRPr lang="en-US" altLang="ja-JP" dirty="0">
                  <a:solidFill>
                    <a:schemeClr val="accent1">
                      <a:lumMod val="50000"/>
                    </a:schemeClr>
                  </a:solidFill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endParaRPr lang="en-US" altLang="ja-JP" sz="1000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ja-JP" dirty="0">
                    <a:latin typeface="Arial" panose="020B0604020202020204" pitchFamily="34" charset="0"/>
                  </a:rPr>
                  <a:t> </a:t>
                </a:r>
                <a:r>
                  <a:rPr lang="ja-JP" altLang="ja-JP" dirty="0">
                    <a:latin typeface="Arial" panose="020B0604020202020204" pitchFamily="34" charset="0"/>
                  </a:rPr>
                  <a:t>：连续函数 </a:t>
                </a:r>
              </a:p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ja-JP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ja-JP" altLang="ja-JP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​</a:t>
                </a:r>
                <a:r>
                  <a:rPr lang="en-US" altLang="ja-JP" dirty="0">
                    <a:latin typeface="Arial" panose="020B0604020202020204" pitchFamily="34" charset="0"/>
                  </a:rPr>
                  <a:t> </a:t>
                </a:r>
                <a:r>
                  <a:rPr lang="ja-JP" altLang="ja-JP" dirty="0">
                    <a:latin typeface="Arial" panose="020B0604020202020204" pitchFamily="34" charset="0"/>
                  </a:rPr>
                  <a:t>：次数不超过 </a:t>
                </a: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 的多项式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r>
                  <a:rPr lang="ja-JP" altLang="en-US" dirty="0"/>
                  <a:t>基：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,…,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 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dirty="0" smtClean="0">
                          <a:latin typeface="Cambria Math" panose="02040503050406030204" pitchFamily="18" charset="0"/>
                        </a:rPr>
                        <m:t>𝑑𝑖𝑚</m:t>
                      </m:r>
                      <m:sSub>
                        <m:sSubPr>
                          <m:ctrlPr>
                            <a:rPr lang="ja-JP" altLang="ja-JP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ja-JP" altLang="ja-JP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ja-JP" altLang="ja-JP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nor/>
                      </m:rPr>
                      <a:rPr lang="en-US" altLang="ja-JP" b="0" i="0" dirty="0" smtClean="0">
                        <a:latin typeface="Cambria Math" panose="02040503050406030204" pitchFamily="18" charset="0"/>
                      </a:rPr>
                      <m:t>:= </m:t>
                    </m:r>
                    <m:nary>
                      <m:naryPr>
                        <m:chr m:val="⋃"/>
                        <m:ctrl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  <m:r>
                          <m:rPr>
                            <m:nor/>
                          </m:rPr>
                          <a:rPr lang="ja-JP" altLang="ja-JP" dirty="0">
                            <a:latin typeface="Arial" panose="020B0604020202020204" pitchFamily="34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altLang="ja-JP"/>
                          <m:t>​</m:t>
                        </m:r>
                      </m:sup>
                      <m:e>
                        <m:sSub>
                          <m:sSubPr>
                            <m:ctrlPr>
                              <a:rPr lang="ja-JP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ja-JP" i="1" dirty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ja-JP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m:rPr>
                        <m:nor/>
                      </m:rPr>
                      <a:rPr lang="en-US" altLang="ja-JP"/>
                      <m:t>​</m:t>
                    </m:r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：所有多项式 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r>
                  <a:rPr lang="ja-JP" altLang="en-US" dirty="0"/>
                  <a:t>基：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altLang="ja-JP" dirty="0"/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𝑑𝑖𝑚</m:t>
                      </m:r>
                      <m:r>
                        <a:rPr lang="ja-JP" altLang="ja-JP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en-US" altLang="ja-JP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</m:t>
                      </m:r>
                    </m:oMath>
                  </m:oMathPara>
                </a14:m>
                <a:endParaRPr lang="ja-JP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ja-JP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 ：平方可积函数 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/>
                  <a:t>通常用</a:t>
                </a:r>
                <a:r>
                  <a:rPr lang="ja-JP" altLang="en-US" dirty="0"/>
                  <a:t>正交基</a:t>
                </a:r>
                <a:endParaRPr lang="en-US" altLang="zh-CN" dirty="0"/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𝑑𝑖𝑚</m:t>
                    </m:r>
                    <m:sSup>
                      <m:sSupPr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ja-JP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ja-JP" dirty="0">
                    <a:latin typeface="Arial" panose="020B0604020202020204" pitchFamily="34" charset="0"/>
                  </a:rPr>
                  <a:t> </a:t>
                </a:r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r>
                  <a:rPr lang="zh-CN" altLang="en-US" dirty="0"/>
                  <a:t>包含许多自然的线性无关函数，例如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ja-JP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ja-JP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 ：一阶连续可导函数 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r>
                  <a:rPr lang="ja-JP" altLang="en-US" dirty="0"/>
                  <a:t>没有</a:t>
                </a:r>
                <a:r>
                  <a:rPr lang="zh-CN" altLang="en-US" dirty="0"/>
                  <a:t>容易写出的基</a:t>
                </a:r>
                <a:endParaRPr lang="en-US" altLang="zh-CN" dirty="0"/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𝑑𝑖𝑚</m:t>
                    </m:r>
                    <m:sSup>
                      <m:sSupPr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​=</m:t>
                    </m:r>
                    <m:r>
                      <a:rPr lang="en-US" altLang="ja-JP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ja-JP" dirty="0">
                    <a:latin typeface="Arial" panose="020B0604020202020204" pitchFamily="34" charset="0"/>
                  </a:rPr>
                  <a:t> </a:t>
                </a:r>
              </a:p>
              <a:p>
                <a:pPr marL="800100" lvl="2" indent="0">
                  <a:lnSpc>
                    <a:spcPct val="120000"/>
                  </a:lnSpc>
                  <a:spcBef>
                    <a:spcPct val="0"/>
                  </a:spcBef>
                  <a:buClrTx/>
                  <a:buNone/>
                </a:pPr>
                <a:endParaRPr lang="ja-JP" altLang="ja-JP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E56DBF73-D8D6-B36A-B347-3FD21081AE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827" y="1108159"/>
                <a:ext cx="4267773" cy="4724400"/>
              </a:xfrm>
              <a:blipFill>
                <a:blip r:embed="rId3"/>
                <a:stretch>
                  <a:fillRect l="-1571" t="-516" b="-210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F7DF6A2-3287-B4EC-D6E5-D9BE2499092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030720" y="1118319"/>
                <a:ext cx="4755455" cy="47244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itchFamily="2" charset="2"/>
                  <a:buChar char="u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  <a:cs typeface="ＭＳ Ｐゴシック" charset="0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Font typeface="Wingdings" pitchFamily="2" charset="2"/>
                  <a:buChar char="l"/>
                  <a:defRPr sz="2000"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pitchFamily="2" charset="2"/>
                  <a:buChar char="u"/>
                  <a:defRPr baseline="0">
                    <a:solidFill>
                      <a:schemeClr val="tx1"/>
                    </a:solidFill>
                    <a:latin typeface="+mn-lt"/>
                    <a:ea typeface="FangSong" panose="02010609060101010101" pitchFamily="49" charset="-122"/>
                  </a:defRPr>
                </a:lvl5pPr>
                <a:lvl6pPr marL="25146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3300"/>
                  </a:buClr>
                  <a:buFont typeface="Wingdings" charset="0"/>
                  <a:buChar char="u"/>
                  <a:defRPr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indent="0">
                  <a:lnSpc>
                    <a:spcPct val="120000"/>
                  </a:lnSpc>
                  <a:spcBef>
                    <a:spcPct val="0"/>
                  </a:spcBef>
                  <a:buClrTx/>
                  <a:buFont typeface="Wingdings" pitchFamily="2" charset="2"/>
                  <a:buNone/>
                </a:pPr>
                <a:r>
                  <a:rPr lang="zh-CN" altLang="en-US" kern="0" dirty="0">
                    <a:solidFill>
                      <a:srgbClr val="FF0000"/>
                    </a:solidFill>
                    <a:latin typeface="Arial" panose="020B0604020202020204" pitchFamily="34" charset="0"/>
                  </a:rPr>
                  <a:t>不是向量空间</a:t>
                </a:r>
                <a:endParaRPr lang="en-US" altLang="ja-JP" kern="0" dirty="0">
                  <a:solidFill>
                    <a:srgbClr val="FF0000"/>
                  </a:solidFill>
                  <a:latin typeface="Arial" panose="020B0604020202020204" pitchFamily="34" charset="0"/>
                </a:endParaRP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endParaRPr lang="ja-JP" altLang="ja-JP" sz="1000" dirty="0">
                  <a:latin typeface="Arial" panose="020B0604020202020204" pitchFamily="34" charset="0"/>
                </a:endParaRP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r>
                  <a:rPr lang="ja-JP" altLang="ja-JP" dirty="0">
                    <a:latin typeface="Arial" panose="020B0604020202020204" pitchFamily="34" charset="0"/>
                  </a:rPr>
                  <a:t>所有正函数 </a:t>
                </a: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)&gt;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br>
                  <a:rPr lang="ja-JP" altLang="ja-JP" dirty="0">
                    <a:latin typeface="Arial" panose="020B0604020202020204" pitchFamily="34" charset="0"/>
                  </a:rPr>
                </a:br>
                <a:r>
                  <a:rPr lang="ja-JP" altLang="ja-JP" dirty="0">
                    <a:latin typeface="Arial" panose="020B0604020202020204" pitchFamily="34" charset="0"/>
                  </a:rPr>
                  <a:t>（不对数乘封闭） 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endParaRPr lang="ja-JP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r>
                  <a:rPr lang="ja-JP" altLang="ja-JP" dirty="0">
                    <a:latin typeface="Arial" panose="020B0604020202020204" pitchFamily="34" charset="0"/>
                  </a:rPr>
                  <a:t>所有满足 </a:t>
                </a: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 的函数</a:t>
                </a:r>
                <a:br>
                  <a:rPr lang="ja-JP" altLang="ja-JP" dirty="0">
                    <a:latin typeface="Arial" panose="020B0604020202020204" pitchFamily="34" charset="0"/>
                  </a:rPr>
                </a:br>
                <a:r>
                  <a:rPr lang="ja-JP" altLang="ja-JP" dirty="0">
                    <a:latin typeface="Arial" panose="020B0604020202020204" pitchFamily="34" charset="0"/>
                  </a:rPr>
                  <a:t>（不对加法封闭，零函数不在其中）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r>
                  <a:rPr lang="ja-JP" altLang="ja-JP" dirty="0">
                    <a:latin typeface="Arial" panose="020B0604020202020204" pitchFamily="34" charset="0"/>
                  </a:rPr>
                  <a:t> </a:t>
                </a: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r>
                  <a:rPr lang="ja-JP" altLang="ja-JP" dirty="0">
                    <a:latin typeface="Arial" panose="020B0604020202020204" pitchFamily="34" charset="0"/>
                  </a:rPr>
                  <a:t>所有有界且</a:t>
                </a:r>
                <a14:m>
                  <m:oMath xmlns:m="http://schemas.openxmlformats.org/officeDocument/2006/math"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ja-JP" altLang="ja-JP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ja-JP" altLang="en-US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ja-JP" altLang="ja-JP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的函数</a:t>
                </a:r>
                <a:br>
                  <a:rPr lang="ja-JP" altLang="ja-JP" dirty="0">
                    <a:latin typeface="Arial" panose="020B0604020202020204" pitchFamily="34" charset="0"/>
                  </a:rPr>
                </a:br>
                <a:r>
                  <a:rPr lang="ja-JP" altLang="ja-JP" dirty="0">
                    <a:latin typeface="Arial" panose="020B0604020202020204" pitchFamily="34" charset="0"/>
                  </a:rPr>
                  <a:t>（不对数乘封闭） 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F7DF6A2-3287-B4EC-D6E5-D9BE24990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0720" y="1118319"/>
                <a:ext cx="4755455" cy="4724400"/>
              </a:xfrm>
              <a:prstGeom prst="rect">
                <a:avLst/>
              </a:prstGeom>
              <a:blipFill>
                <a:blip r:embed="rId4"/>
                <a:stretch>
                  <a:fillRect l="-1282" t="-38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A94050D2-762C-FE72-A0AB-6CB8AD364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538" y="4402624"/>
            <a:ext cx="2998823" cy="66429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DCB5D411-03CE-3F86-845D-2321E58BB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4959" y="6302972"/>
            <a:ext cx="2722342" cy="34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86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7DB85F4-098D-4349-9D2A-FB16A97F12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</a:rPr>
              <a:t>补充：关于</a:t>
            </a:r>
            <a:r>
              <a:rPr lang="fr-FR" altLang="ja-JP" b="1" dirty="0">
                <a:latin typeface="+mj-ea"/>
              </a:rPr>
              <a:t>Fourier</a:t>
            </a:r>
            <a:r>
              <a:rPr lang="ja-JP" altLang="fr-FR" b="1" dirty="0">
                <a:latin typeface="+mj-ea"/>
              </a:rPr>
              <a:t>正交基（</a:t>
            </a:r>
            <a:r>
              <a:rPr lang="en-US" altLang="ja-JP" b="1" dirty="0">
                <a:latin typeface="+mj-ea"/>
              </a:rPr>
              <a:t>1</a:t>
            </a:r>
            <a:r>
              <a:rPr lang="ja-JP" altLang="fr-FR" b="1" dirty="0">
                <a:latin typeface="+mj-ea"/>
              </a:rPr>
              <a:t>）</a:t>
            </a:r>
            <a:endParaRPr lang="en-US" b="1" dirty="0">
              <a:latin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3360" y="1112520"/>
                <a:ext cx="1212088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dirty="0"/>
                  <a:t>这样的函数空间里，要讨论“正交”，首先需要定义内积。</a:t>
                </a:r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[−</m:t>
                    </m:r>
                    <m:r>
                      <a:rPr lang="ja-JP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dirty="0"/>
                  <a:t>中，内积</a:t>
                </a:r>
                <a:r>
                  <a:rPr lang="zh-CN" altLang="en-US" dirty="0"/>
                  <a:t>（向量内积）</a:t>
                </a:r>
                <a:r>
                  <a:rPr lang="ja-JP" altLang="en-US" dirty="0"/>
                  <a:t>定义为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dirty="0"/>
                      <m:t>实值</m:t>
                    </m:r>
                    <m:r>
                      <a:rPr lang="en-US" altLang="ja-JP" i="1" dirty="0" smtClean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⟩=</m:t>
                    </m:r>
                    <m:nary>
                      <m:nary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altLang="ja-JP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l-GR" altLang="ja-JP" i="1" dirty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l-GR" altLang="ja-JP" i="1" dirty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ja-JP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或复值 </a:t>
                </a:r>
                <a14:m>
                  <m:oMath xmlns:m="http://schemas.openxmlformats.org/officeDocument/2006/math"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⟩=</m:t>
                    </m:r>
                    <m:nary>
                      <m:naryPr>
                        <m:ctrlPr>
                          <a:rPr lang="en-US" altLang="ja-JP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l-GR" altLang="ja-JP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el-GR" altLang="ja-JP" i="1" dirty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l-GR" altLang="ja-JP" i="1" dirty="0"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acc>
                          <m:accPr>
                            <m:chr m:val="̅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ja-JP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范数</a:t>
                </a:r>
                <a:r>
                  <a:rPr lang="zh-CN" altLang="en-US" dirty="0"/>
                  <a:t>（向量长度）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∥</m:t>
                        </m:r>
                      </m:e>
                      <m:sub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​=</m:t>
                    </m:r>
                    <m:sSup>
                      <m:sSupPr>
                        <m:ctrlPr>
                          <a:rPr lang="en-US" altLang="ja-JP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nary>
                          <m:nary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l-GR" altLang="ja-JP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  <m:sup>
                            <m:r>
                              <a:rPr lang="el-GR" altLang="ja-JP" i="1" dirty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l-GR" altLang="ja-JP" i="1" dirty="0"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)|</m:t>
                                </m:r>
                              </m:e>
                              <m:sup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ctrlPr>
                              <a:rPr lang="en-US" altLang="ja-JP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altLang="ja-JP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5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ja-JP" dirty="0">
                    <a:solidFill>
                      <a:schemeClr val="accent5">
                        <a:lumMod val="50000"/>
                      </a:schemeClr>
                    </a:solidFill>
                  </a:rPr>
                  <a:t>Fourier </a:t>
                </a:r>
                <a:r>
                  <a:rPr lang="ja-JP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三角函数系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在区间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[−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dirty="0"/>
                  <a:t>上，最经典的一组函数是 </a:t>
                </a:r>
                <a14:m>
                  <m:oMath xmlns:m="http://schemas.openxmlformats.org/officeDocument/2006/math">
                    <m:r>
                      <a:rPr lang="en-US" altLang="ja-JP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ja-JP" altLang="en-US" i="1"/>
                      <m:t> </m:t>
                    </m:r>
                    <m:func>
                      <m:func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ja-JP" i="1"/>
                      <m:t> </m:t>
                    </m:r>
                    <m:func>
                      <m:func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ja-JP" i="1"/>
                      <m:t> </m:t>
                    </m:r>
                    <m:func>
                      <m:func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ja-JP" i="1"/>
                      <m:t> </m:t>
                    </m:r>
                    <m:func>
                      <m:func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ar-AE" altLang="ja-JP" i="1"/>
                      <m:t> 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zh-CN" altLang="en-US" b="0" dirty="0"/>
                  <a:t>，即</a:t>
                </a:r>
                <a:endParaRPr lang="en-US" altLang="ja-JP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altLang="ja-JP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co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), 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𝑛𝑥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):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,...}</m:t>
                    </m:r>
                    <m:r>
                      <a:rPr lang="ar-AE" altLang="ja-JP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，称为 </a:t>
                </a:r>
                <a:r>
                  <a:rPr lang="en-US" altLang="ja-JP" dirty="0">
                    <a:solidFill>
                      <a:schemeClr val="accent5">
                        <a:lumMod val="50000"/>
                      </a:schemeClr>
                    </a:solidFill>
                  </a:rPr>
                  <a:t>Fourier </a:t>
                </a:r>
                <a:r>
                  <a:rPr lang="ja-JP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三角函数系</a:t>
                </a:r>
                <a:endParaRPr lang="ar-AE" altLang="ja-JP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ja-JP" sz="5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这组函数满足如下正交关系：</a:t>
                </a:r>
              </a:p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ja-JP" altLang="en-US" b="1" dirty="0"/>
                  <a:t>常数函数与正弦、余弦正交</a:t>
                </a:r>
                <a:r>
                  <a:rPr lang="zh-CN" altLang="en-US" b="1" dirty="0"/>
                  <a:t>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ar-AE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, </m:t>
                    </m:r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ar-AE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altLang="ja-JP" b="1" dirty="0"/>
              </a:p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ja-JP" altLang="en-US" b="1" dirty="0"/>
                  <a:t>不同频率的余弦彼此正交</a:t>
                </a:r>
                <a:r>
                  <a:rPr lang="zh-CN" altLang="en-US" b="1" dirty="0"/>
                  <a:t>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r>
                      <a:rPr lang="ar-AE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𝑚𝑥</m:t>
                        </m:r>
                      </m:e>
                    </m:d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ar-AE" altLang="ja-JP" b="1" dirty="0"/>
                  <a:t> </a:t>
                </a:r>
                <a:endParaRPr lang="en-US" altLang="ja-JP" b="1" dirty="0"/>
              </a:p>
              <a:p>
                <a:pPr marL="400050" lvl="1" indent="0">
                  <a:lnSpc>
                    <a:spcPct val="120000"/>
                  </a:lnSpc>
                  <a:buNone/>
                </a:pPr>
                <a:r>
                  <a:rPr lang="ja-JP" altLang="en-US" b="1" dirty="0"/>
                  <a:t>不同频率的正弦彼此正交</a:t>
                </a:r>
                <a:r>
                  <a:rPr lang="zh-CN" altLang="en-US" b="1" dirty="0"/>
                  <a:t>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ar-AE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𝑚𝑥</m:t>
                        </m:r>
                      </m:e>
                    </m:d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marL="457200" indent="-457200">
                  <a:lnSpc>
                    <a:spcPct val="120000"/>
                  </a:lnSpc>
                  <a:buAutoNum type="arabicPeriod"/>
                </a:pPr>
                <a:r>
                  <a:rPr lang="ja-JP" altLang="en-US" b="1" dirty="0"/>
                  <a:t>正弦与余弦彼此正交</a:t>
                </a:r>
                <a:r>
                  <a:rPr lang="zh-CN" altLang="en-US" b="1" dirty="0"/>
                  <a:t>：</a:t>
                </a:r>
                <a14:m>
                  <m:oMath xmlns:m="http://schemas.openxmlformats.org/officeDocument/2006/math">
                    <m:nary>
                      <m:naryPr>
                        <m:grow m:val="on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ar-AE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𝑚𝑥</m:t>
                        </m:r>
                      </m:e>
                    </m:d>
                    <m:r>
                      <m:rPr>
                        <m:sty m:val="p"/>
                      </m:rPr>
                      <a:rPr lang="en-US" altLang="ja-JP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⁡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𝑛𝑥</m:t>
                        </m:r>
                      </m:e>
                    </m:d>
                    <m:r>
                      <m:rPr>
                        <m:nor/>
                      </m:rPr>
                      <a:rPr lang="ar-AE" altLang="ja-JP" i="1"/>
                      <m:t> 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ar-AE" altLang="ja-JP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ja-JP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1BCF6EC3-40D2-4CE3-A814-5AC4C90F65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360" y="1112520"/>
                <a:ext cx="12120880" cy="5440680"/>
              </a:xfrm>
              <a:blipFill>
                <a:blip r:embed="rId3"/>
                <a:stretch>
                  <a:fillRect l="-704" t="-1794" b="-215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9E6F87A-8A7F-6E38-B4C7-5277B8E89278}"/>
              </a:ext>
            </a:extLst>
          </p:cNvPr>
          <p:cNvSpPr txBox="1"/>
          <p:nvPr/>
        </p:nvSpPr>
        <p:spPr>
          <a:xfrm>
            <a:off x="10825481" y="5094514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7030A0"/>
                </a:solidFill>
              </a:rPr>
              <a:t>正则归一化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B8E198F-53BB-04A6-541D-A9B2776852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040" y="6200682"/>
            <a:ext cx="4064000" cy="550334"/>
          </a:xfrm>
          <a:prstGeom prst="rect">
            <a:avLst/>
          </a:prstGeom>
          <a:ln w="28575">
            <a:solidFill>
              <a:srgbClr val="7030A0"/>
            </a:solidFill>
          </a:ln>
        </p:spPr>
      </p:pic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E0C5B162-70B9-3AED-190D-810460138D81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9763884" y="4195356"/>
            <a:ext cx="2123195" cy="1798316"/>
          </a:xfrm>
          <a:prstGeom prst="bentConnector3">
            <a:avLst>
              <a:gd name="adj1" fmla="val -245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811466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B67B8-4C8B-F7DD-85C3-8E719023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EF2E810-2B89-24BB-4D65-9B5DE9AF6A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b="1" dirty="0">
                <a:latin typeface="+mj-ea"/>
              </a:rPr>
              <a:t>补充：关于</a:t>
            </a:r>
            <a:r>
              <a:rPr lang="fr-FR" altLang="ja-JP" b="1" dirty="0">
                <a:latin typeface="+mj-ea"/>
              </a:rPr>
              <a:t>Fourier</a:t>
            </a:r>
            <a:r>
              <a:rPr lang="ja-JP" altLang="fr-FR" b="1" dirty="0">
                <a:latin typeface="+mj-ea"/>
              </a:rPr>
              <a:t>正交基（</a:t>
            </a:r>
            <a:r>
              <a:rPr lang="en-US" altLang="ja-JP" b="1" dirty="0">
                <a:latin typeface="+mj-ea"/>
              </a:rPr>
              <a:t>2</a:t>
            </a:r>
            <a:r>
              <a:rPr lang="ja-JP" altLang="fr-FR" b="1" dirty="0">
                <a:latin typeface="+mj-ea"/>
              </a:rPr>
              <a:t>）</a:t>
            </a:r>
            <a:endParaRPr lang="en-US" b="1" dirty="0">
              <a:latin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D57CF50-AD02-5FBB-8977-7D9053730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3360" y="1112520"/>
                <a:ext cx="12120880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b="1" dirty="0">
                    <a:solidFill>
                      <a:srgbClr val="0070C0"/>
                    </a:solidFill>
                  </a:rPr>
                  <a:t>什么叫“完备”？     </a:t>
                </a:r>
                <a:r>
                  <a:rPr lang="zh-CN" altLang="en-US" dirty="0">
                    <a:solidFill>
                      <a:srgbClr val="0070C0"/>
                    </a:solidFill>
                  </a:rPr>
                  <a:t>希望这组标准正交函数“足够多”，能够生成整个空间。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[−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中，如果一 个函数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zh-CN" altLang="en-US" dirty="0"/>
                  <a:t>与这组函数中每一个都正交：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e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zh-CN" altLang="en-US"/>
                      <m:t>对所有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，</a:t>
                </a:r>
                <a:r>
                  <a:rPr lang="zh-CN" altLang="en-US" dirty="0"/>
                  <a:t>能推出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在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意义下</m:t>
                        </m:r>
                      </m:e>
                    </m:d>
                  </m:oMath>
                </a14:m>
                <a:r>
                  <a:rPr lang="zh-CN" altLang="en-US" dirty="0"/>
                  <a:t>，那么这组函数就是</a:t>
                </a:r>
                <a:r>
                  <a:rPr lang="zh-CN" altLang="en-US" b="1" dirty="0"/>
                  <a:t>完备的</a:t>
                </a:r>
                <a:r>
                  <a:rPr lang="zh-CN" altLang="en-US" dirty="0"/>
                  <a:t>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归一化后的 </a:t>
                </a:r>
                <a:r>
                  <a:rPr lang="en-US" altLang="zh-CN" dirty="0"/>
                  <a:t>Fourier </a:t>
                </a:r>
                <a:r>
                  <a:rPr lang="zh-CN" altLang="en-US" dirty="0"/>
                  <a:t>系统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正交且完备，所以它构成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[−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的一个</a:t>
                </a:r>
                <a:r>
                  <a:rPr lang="zh-CN" altLang="en-US" b="1" dirty="0"/>
                  <a:t>完备正交基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ja-JP" altLang="en-US" dirty="0"/>
                  <a:t>任意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</a:rPr>
                      <m:t>[−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dirty="0"/>
                  <a:t>都可以在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dirty="0"/>
                  <a:t>意义下展开为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D57CF50-AD02-5FBB-8977-7D9053730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3360" y="1112520"/>
                <a:ext cx="12120880" cy="5440680"/>
              </a:xfrm>
              <a:blipFill>
                <a:blip r:embed="rId3"/>
                <a:stretch>
                  <a:fillRect l="-503" t="-4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図 1">
            <a:extLst>
              <a:ext uri="{FF2B5EF4-FFF2-40B4-BE49-F238E27FC236}">
                <a16:creationId xmlns:a16="http://schemas.microsoft.com/office/drawing/2014/main" id="{EBCDC8C8-3881-A6E9-734B-5164A121D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8126" y="3057242"/>
            <a:ext cx="4064000" cy="550334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CF7CB0EC-963F-5EB2-4AD5-6A9682EB1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000" y="4761211"/>
            <a:ext cx="4776536" cy="78106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C44BAF5-E5A1-706B-28F9-3633A270E8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7466" y="4398681"/>
            <a:ext cx="4348582" cy="22764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61A9E97-B5CA-5733-A240-AA1BCEF60EFB}"/>
              </a:ext>
            </a:extLst>
          </p:cNvPr>
          <p:cNvSpPr txBox="1"/>
          <p:nvPr/>
        </p:nvSpPr>
        <p:spPr>
          <a:xfrm>
            <a:off x="8564880" y="3998571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7030A0"/>
                </a:solidFill>
              </a:rPr>
              <a:t>傅里叶系数</a:t>
            </a:r>
            <a:endParaRPr kumimoji="1" lang="ja-JP" altLang="en-US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6D5EF5E-C69C-2A3A-3573-844A978BA7EF}"/>
                  </a:ext>
                </a:extLst>
              </p:cNvPr>
              <p:cNvSpPr txBox="1"/>
              <p:nvPr/>
            </p:nvSpPr>
            <p:spPr>
              <a:xfrm>
                <a:off x="2098040" y="5657671"/>
                <a:ext cx="525780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ja-JP" altLang="en-US" sz="1800" dirty="0">
                    <a:solidFill>
                      <a:srgbClr val="7030A0"/>
                    </a:solidFill>
                  </a:rPr>
                  <a:t>在标准正交基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AE" altLang="ja-JP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ja-JP" altLang="ar-AE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ja-JP" altLang="en-US" sz="1800" dirty="0">
                    <a:solidFill>
                      <a:srgbClr val="7030A0"/>
                    </a:solidFill>
                  </a:rPr>
                  <a:t>下，展开系数就是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ja-JP" altLang="ar-AE" sz="1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ar-AE" altLang="ja-JP" sz="1800" i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"/>
                        <m:ctrlPr>
                          <a:rPr lang="ar-AE" altLang="ja-JP" sz="1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8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zh-CN" altLang="en-US" sz="1800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，</m:t>
                    </m:r>
                    <m:d>
                      <m:dPr>
                        <m:begChr m:val=""/>
                        <m:endChr m:val="⟩"/>
                        <m:ctrlPr>
                          <a:rPr lang="zh-CN" altLang="en-US" sz="18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altLang="ja-JP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ja-JP" altLang="ar-AE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ja-JP" altLang="ar-AE" sz="18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ar-AE" altLang="ja-JP" sz="1800" dirty="0">
                  <a:solidFill>
                    <a:srgbClr val="7030A0"/>
                  </a:solidFill>
                </a:endParaRPr>
              </a:p>
              <a:p>
                <a:pPr>
                  <a:buNone/>
                </a:pPr>
                <a:r>
                  <a:rPr lang="en-US" altLang="ja-JP" sz="1800" dirty="0">
                    <a:solidFill>
                      <a:srgbClr val="7030A0"/>
                    </a:solidFill>
                  </a:rPr>
                  <a:t>Fourier </a:t>
                </a:r>
                <a:r>
                  <a:rPr lang="ja-JP" altLang="en-US" sz="1800" dirty="0">
                    <a:solidFill>
                      <a:srgbClr val="7030A0"/>
                    </a:solidFill>
                  </a:rPr>
                  <a:t>系数本质上是：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ja-JP" altLang="en-US" sz="1800" dirty="0">
                    <a:solidFill>
                      <a:srgbClr val="7030A0"/>
                    </a:solidFill>
                  </a:rPr>
                  <a:t>函数在各个“正交方向”上的投影 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ja-JP" altLang="en-US" sz="1800" dirty="0">
                    <a:solidFill>
                      <a:srgbClr val="7030A0"/>
                    </a:solidFill>
                  </a:rPr>
                  <a:t>无限维函数空间中的“坐标”</a:t>
                </a: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16D5EF5E-C69C-2A3A-3573-844A978BA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040" y="5657671"/>
                <a:ext cx="5257800" cy="1200329"/>
              </a:xfrm>
              <a:prstGeom prst="rect">
                <a:avLst/>
              </a:prstGeom>
              <a:blipFill>
                <a:blip r:embed="rId7"/>
                <a:stretch>
                  <a:fillRect l="-927" t="-36548" r="-6025" b="-71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図 18">
            <a:extLst>
              <a:ext uri="{FF2B5EF4-FFF2-40B4-BE49-F238E27FC236}">
                <a16:creationId xmlns:a16="http://schemas.microsoft.com/office/drawing/2014/main" id="{CFD532D5-42D1-A155-4033-A8BAACEED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3703" y="3072483"/>
            <a:ext cx="3110243" cy="595888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03DCA14-37C0-A286-CB06-8EAC69C7063A}"/>
              </a:ext>
            </a:extLst>
          </p:cNvPr>
          <p:cNvSpPr txBox="1"/>
          <p:nvPr/>
        </p:nvSpPr>
        <p:spPr>
          <a:xfrm>
            <a:off x="7315200" y="3141413"/>
            <a:ext cx="2326640" cy="412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dirty="0">
                <a:latin typeface="+mj-ea"/>
                <a:ea typeface="+mj-ea"/>
              </a:rPr>
              <a:t>或复指数形式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E091BA53-2F43-41EF-1030-BAC6ACDEFD3C}"/>
              </a:ext>
            </a:extLst>
          </p:cNvPr>
          <p:cNvSpPr/>
          <p:nvPr/>
        </p:nvSpPr>
        <p:spPr bwMode="auto">
          <a:xfrm>
            <a:off x="9212217" y="1435145"/>
            <a:ext cx="2492103" cy="408907"/>
          </a:xfrm>
          <a:prstGeom prst="wedgeRoundRectCallout">
            <a:avLst>
              <a:gd name="adj1" fmla="val -65635"/>
              <a:gd name="adj2" fmla="val -37500"/>
              <a:gd name="adj3" fmla="val 16667"/>
            </a:avLst>
          </a:prstGeom>
          <a:solidFill>
            <a:srgbClr val="F9EAE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FangSong"/>
                <a:ea typeface="FangSong"/>
                <a:cs typeface="+mn-cs"/>
              </a:rPr>
              <a:t>以后会讲到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FangSong"/>
                <a:ea typeface="FangSong"/>
                <a:cs typeface="+mn-cs"/>
              </a:rPr>
              <a:t>Hilbert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FangSong"/>
                <a:ea typeface="FangSong"/>
                <a:cs typeface="+mn-cs"/>
              </a:rPr>
              <a:t>空间</a:t>
            </a:r>
            <a:endParaRPr kumimoji="0" lang="ja-JP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FangSong"/>
              <a:ea typeface="FangSong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6659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3AA51-59E3-865F-A825-57235EDEB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E7395D01-D6DB-6875-5BBE-CFF90CC7A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总结：</a:t>
            </a:r>
            <a:r>
              <a:rPr lang="fr-FR" altLang="ja-JP" b="1" dirty="0">
                <a:latin typeface="+mj-ea"/>
              </a:rPr>
              <a:t> Fourier</a:t>
            </a:r>
            <a:r>
              <a:rPr lang="zh-CN" altLang="en-US" b="1" dirty="0">
                <a:latin typeface="+mj-ea"/>
              </a:rPr>
              <a:t>基</a:t>
            </a:r>
            <a:r>
              <a:rPr lang="zh-CN" altLang="en-US" b="1" dirty="0"/>
              <a:t>的启发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08DC367-E255-201C-2F19-6098EAD365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1083" y="1068452"/>
                <a:ext cx="11637527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/>
                  <a:t>Fourier </a:t>
                </a:r>
                <a:r>
                  <a:rPr lang="zh-CN" altLang="en-US" dirty="0"/>
                  <a:t>正交基使我们能够把一个函数像向量一样展开。</a:t>
                </a:r>
                <a:br>
                  <a:rPr lang="zh-CN" altLang="en-US" dirty="0"/>
                </a:br>
                <a:r>
                  <a:rPr lang="en-US" altLang="zh-CN" dirty="0"/>
                  <a:t>Fourier </a:t>
                </a:r>
                <a:r>
                  <a:rPr lang="zh-CN" altLang="en-US" dirty="0"/>
                  <a:t>系数就是函数在这些正交方向上的“坐标”，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500" dirty="0"/>
              </a:p>
              <a:p>
                <a:pPr marL="0" lvl="0" indent="0">
                  <a:lnSpc>
                    <a:spcPct val="110000"/>
                  </a:lnSpc>
                  <a:spcBef>
                    <a:spcPct val="0"/>
                  </a:spcBef>
                  <a:buClrTx/>
                  <a:buNone/>
                </a:pPr>
                <a:endParaRPr lang="ja-JP" altLang="ja-JP" dirty="0">
                  <a:latin typeface="Arial" panose="020B0604020202020204" pitchFamily="34" charset="0"/>
                </a:endParaRPr>
              </a:p>
              <a:p>
                <a:pPr lvl="1" indent="-342900"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向量可按基展开 </a:t>
                </a:r>
              </a:p>
              <a:p>
                <a:pPr lvl="1" indent="-342900"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ja-JP" altLang="ja-JP" dirty="0">
                    <a:latin typeface="Arial" panose="020B0604020202020204" pitchFamily="34" charset="0"/>
                  </a:rPr>
                  <a:t>函数也常按基函数展开</a:t>
                </a:r>
                <a:endParaRPr lang="en-US" altLang="ja-JP" dirty="0">
                  <a:latin typeface="Arial" panose="020B0604020202020204" pitchFamily="34" charset="0"/>
                </a:endParaRPr>
              </a:p>
              <a:p>
                <a:pPr lvl="1" indent="-342900">
                  <a:lnSpc>
                    <a:spcPct val="110000"/>
                  </a:lnSpc>
                  <a:spcBef>
                    <a:spcPct val="0"/>
                  </a:spcBef>
                  <a:buClrTx/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latin typeface="Arial" panose="020B0604020202020204" pitchFamily="34" charset="0"/>
                  </a:rPr>
                  <a:t>函数的展开涉及到无穷和收敛</a:t>
                </a:r>
                <a:r>
                  <a:rPr lang="ja-JP" altLang="ja-JP" dirty="0">
                    <a:latin typeface="Arial" panose="020B0604020202020204" pitchFamily="34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br>
                  <a:rPr lang="zh-CN" altLang="en-US" dirty="0"/>
                </a:br>
                <a:r>
                  <a:rPr lang="zh-CN" altLang="en-US" dirty="0"/>
                  <a:t>而 </a:t>
                </a:r>
                <a:r>
                  <a:rPr lang="en-US" altLang="zh-CN" dirty="0"/>
                  <a:t>Fourier </a:t>
                </a:r>
                <a:r>
                  <a:rPr lang="zh-CN" altLang="en-US" dirty="0"/>
                  <a:t>级数则给出了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/>
                  <a:t>意义下对函数的逼近。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信号处理中，设一个周期函数或周期信号写成</a:t>
                </a:r>
                <a:endParaRPr lang="en-US" altLang="zh-CN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那么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zh-CN" altLang="en-US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就是在 </a:t>
                </a:r>
                <a:r>
                  <a:rPr lang="en-US" altLang="zh-CN" dirty="0">
                    <a:solidFill>
                      <a:schemeClr val="accent1">
                        <a:lumMod val="50000"/>
                      </a:schemeClr>
                    </a:solidFill>
                  </a:rPr>
                  <a:t>Fourier </a:t>
                </a: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基方向上的“坐标”。这些坐标说明：这个信号低频多还是高频多，哪些频率最重要（</a:t>
                </a:r>
                <a:r>
                  <a:rPr lang="ja-JP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频谱分析</a:t>
                </a: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）。</a:t>
                </a:r>
                <a:endParaRPr lang="en-US" altLang="zh-CN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信号处理里做的很多事，本质上就是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先换基到 </a:t>
                </a:r>
                <a:r>
                  <a:rPr lang="en-US" altLang="zh-CN" b="1" dirty="0">
                    <a:solidFill>
                      <a:srgbClr val="C00000"/>
                    </a:solidFill>
                  </a:rPr>
                  <a:t>Fourier </a:t>
                </a:r>
                <a:r>
                  <a:rPr lang="zh-CN" altLang="en-US" b="1" dirty="0">
                    <a:solidFill>
                      <a:srgbClr val="C00000"/>
                    </a:solidFill>
                  </a:rPr>
                  <a:t>基，再在这个坐标系里处理问题</a:t>
                </a:r>
                <a:r>
                  <a:rPr lang="zh-CN" altLang="en-US" dirty="0">
                    <a:solidFill>
                      <a:schemeClr val="accent1">
                        <a:lumMod val="50000"/>
                      </a:schemeClr>
                    </a:solidFill>
                  </a:rPr>
                  <a:t>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08DC367-E255-201C-2F19-6098EAD365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083" y="1068452"/>
                <a:ext cx="11637527" cy="5440680"/>
              </a:xfrm>
              <a:blipFill>
                <a:blip r:embed="rId3"/>
                <a:stretch>
                  <a:fillRect l="-524" t="-336" r="-157" b="-369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F6CA1C1A-74B6-62DF-33D5-86F94CB73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20" y="2335417"/>
            <a:ext cx="5113592" cy="89007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393AD664-2B2A-FD92-5041-6FAA3D7E4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1840" y="4492460"/>
            <a:ext cx="5322091" cy="95321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F243CDE-CDE7-CCA9-B081-B9FA857EFE9F}"/>
                  </a:ext>
                </a:extLst>
              </p:cNvPr>
              <p:cNvSpPr txBox="1"/>
              <p:nvPr/>
            </p:nvSpPr>
            <p:spPr>
              <a:xfrm>
                <a:off x="7549196" y="3907685"/>
                <a:ext cx="464280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sz="1600" i="1" dirty="0" smtClean="0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lang="ja-JP" altLang="ja-JP" sz="1600" i="1" dirty="0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𝜔</m:t>
                        </m:r>
                      </m:e>
                      <m:sub>
                        <m:r>
                          <a:rPr lang="ja-JP" altLang="ja-JP" sz="1600" i="1" dirty="0">
                            <a:solidFill>
                              <a:srgbClr val="7030A0"/>
                            </a:solidFill>
                            <a:latin typeface="+mj-ea"/>
                            <a:ea typeface="+mj-ea"/>
                          </a:rPr>
                          <m:t>0</m:t>
                        </m:r>
                      </m:sub>
                    </m:sSub>
                    <m:r>
                      <a:rPr lang="ja-JP" altLang="ja-JP" sz="1600" i="1" dirty="0">
                        <a:solidFill>
                          <a:srgbClr val="7030A0"/>
                        </a:solidFill>
                        <a:latin typeface="+mj-ea"/>
                        <a:ea typeface="+mj-ea"/>
                      </a:rPr>
                      <m:t> </m:t>
                    </m:r>
                  </m:oMath>
                </a14:m>
                <a:r>
                  <a:rPr kumimoji="0" lang="ja-JP" altLang="ja-JP" sz="16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​ 表示“最基本的那一个频率”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 xmlns:m="http://schemas.openxmlformats.org/officeDocument/2006/math">
                    <m:r>
                      <a:rPr kumimoji="0" lang="ja-JP" altLang="ja-JP" sz="16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+mj-ea"/>
                        <a:ea typeface="+mj-ea"/>
                      </a:rPr>
                      <m:t>𝑛</m:t>
                    </m:r>
                    <m:sSub>
                      <m:sSubPr>
                        <m:ctrlPr>
                          <a:rPr kumimoji="0" lang="ja-JP" altLang="ja-JP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+mj-ea"/>
                            <a:ea typeface="+mj-ea"/>
                          </a:rPr>
                        </m:ctrlPr>
                      </m:sSubPr>
                      <m:e>
                        <m:r>
                          <a:rPr kumimoji="0" lang="ja-JP" altLang="ja-JP" sz="1600" b="0" i="1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+mj-ea"/>
                            <a:ea typeface="+mj-ea"/>
                          </a:rPr>
                          <m:t>𝜔</m:t>
                        </m:r>
                      </m:e>
                      <m:sub>
                        <m:r>
                          <a:rPr kumimoji="0" lang="ja-JP" altLang="ja-JP" sz="16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+mj-ea"/>
                            <a:ea typeface="+mj-ea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ja-JP" altLang="ja-JP" sz="16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 表示它的第 n 个整数倍频率，也就是谐波 </a:t>
                </a: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CF243CDE-CDE7-CCA9-B081-B9FA857EFE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196" y="3907685"/>
                <a:ext cx="4642804" cy="584775"/>
              </a:xfrm>
              <a:prstGeom prst="rect">
                <a:avLst/>
              </a:prstGeom>
              <a:blipFill>
                <a:blip r:embed="rId6"/>
                <a:stretch>
                  <a:fillRect t="-4167" b="-114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138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44876-E37D-4C4F-5998-C12E239E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9E28B8C-0180-442E-C851-8ACE93F90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补充：关于核方法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5B6F367-7035-5AB4-6F87-3E5B92F1F1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1083" y="1068452"/>
                <a:ext cx="12073797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</a:rPr>
                  <a:t>核方法</a:t>
                </a:r>
                <a:r>
                  <a:rPr lang="zh-CN" altLang="en-US" dirty="0"/>
                  <a:t>：把非线性学习问题放进函数空间里处理</a:t>
                </a:r>
                <a:endParaRPr lang="en-US" altLang="zh-CN" dirty="0">
                  <a:solidFill>
                    <a:srgbClr val="7030A0"/>
                  </a:solidFill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一类把数据映射到某个函数空间或高维特征空间中，再在那个空间里做线性学习的方法；</a:t>
                </a:r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“核函数”使人们不必显式写出这个映射。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zh-CN" altLang="en-US" sz="1400" dirty="0"/>
                  <a:t>经典例子：支持向量机、核岭回归、</a:t>
                </a:r>
                <a:r>
                  <a:rPr lang="en-US" altLang="zh-CN" sz="1400" dirty="0"/>
                  <a:t>Gaussian process </a:t>
                </a:r>
                <a:r>
                  <a:rPr lang="zh-CN" altLang="en-US" sz="1400" dirty="0"/>
                  <a:t>的协方差核视角、</a:t>
                </a:r>
                <a:r>
                  <a:rPr lang="en-US" altLang="zh-CN" sz="1400" dirty="0"/>
                  <a:t>kernel PCA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zh-CN" altLang="en-US" sz="500" dirty="0"/>
              </a:p>
              <a:p>
                <a:pPr marL="0" indent="0">
                  <a:buNone/>
                </a:pPr>
                <a:r>
                  <a:rPr lang="ja-JP" altLang="en-US" dirty="0"/>
                  <a:t>输入是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ja-JP" altLang="ar-AE" dirty="0"/>
                  <a:t>，</a:t>
                </a:r>
                <a:r>
                  <a:rPr lang="ja-JP" altLang="en-US" dirty="0"/>
                  <a:t>想学一个分类函数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ar-AE" dirty="0"/>
                  <a:t>。</a:t>
                </a:r>
                <a:r>
                  <a:rPr lang="ja-JP" altLang="en-US" dirty="0"/>
                  <a:t>只在线性形式里找表达能力有限，很多弯曲边界无法拟合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解决方法</a:t>
                </a:r>
                <a:r>
                  <a:rPr lang="ja-JP" altLang="en-US" dirty="0"/>
                  <a:t>：把输入先变换成更丰富的特征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ja-JP" altLang="en-US" dirty="0"/>
                  <a:t> 然后在新空间中做线性学习：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ar-AE" altLang="ja-JP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+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altLang="ja-JP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ja-JP" altLang="en-US" dirty="0"/>
                  <a:t>对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dirty="0"/>
                  <a:t>是线性的，对原始输入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 是非线性的。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问题：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ja-JP" altLang="en-US" dirty="0"/>
                  <a:t>可能非常高维</a:t>
                </a:r>
                <a:r>
                  <a:rPr lang="zh-CN" altLang="en-US" dirty="0"/>
                  <a:t>，</a:t>
                </a:r>
                <a:r>
                  <a:rPr lang="ja-JP" altLang="en-US" dirty="0"/>
                  <a:t>显式构造和计算代价很大 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核方法：算法只通过内积来使用特征，直接定义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‘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𝜙</m:t>
                        </m:r>
                        <m:d>
                          <m:dPr>
                            <m:ctrlPr>
                              <a:rPr lang="ar-AE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‘</m:t>
                            </m:r>
                          </m:e>
                        </m:d>
                      </m:e>
                    </m:d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ja-JP" altLang="en-US" dirty="0"/>
                  <a:t>而不需要真的写出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ja-JP" altLang="en-US" dirty="0"/>
                  <a:t>。</a:t>
                </a:r>
              </a:p>
              <a:p>
                <a:pPr lvl="1" indent="-342900"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r>
                  <a:rPr lang="zh-CN" altLang="en-US" dirty="0"/>
                  <a:t>普通线性方法：</a:t>
                </a:r>
                <a:endParaRPr lang="en-US" altLang="zh-CN" dirty="0"/>
              </a:p>
              <a:p>
                <a:pPr lvl="1" indent="-342900"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r>
                  <a:rPr lang="ja-JP" altLang="en-US" dirty="0"/>
                  <a:t>多项式核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 indent="-342900"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r>
                  <a:rPr lang="ja-JP" altLang="en-US" dirty="0"/>
                  <a:t>高斯核 </a:t>
                </a:r>
                <a:r>
                  <a:rPr lang="en-US" altLang="ja-JP" dirty="0"/>
                  <a:t>/ RBF </a:t>
                </a:r>
                <a:r>
                  <a:rPr lang="ja-JP" altLang="en-US" dirty="0"/>
                  <a:t>核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lvl="1" indent="-342900"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endParaRPr lang="en-US" altLang="zh-CN" dirty="0"/>
              </a:p>
              <a:p>
                <a:pPr lvl="1" indent="-342900">
                  <a:lnSpc>
                    <a:spcPct val="120000"/>
                  </a:lnSpc>
                  <a:buFont typeface="Wingdings" panose="05000000000000000000" pitchFamily="2" charset="2"/>
                  <a:buChar char="p"/>
                </a:pPr>
                <a:r>
                  <a:rPr lang="en-US" altLang="ja-JP" dirty="0"/>
                  <a:t>Laplace </a:t>
                </a:r>
                <a:r>
                  <a:rPr lang="ja-JP" altLang="en-US" dirty="0"/>
                  <a:t>核</a:t>
                </a:r>
                <a:r>
                  <a:rPr lang="zh-CN" altLang="en-US" dirty="0"/>
                  <a:t>：</a:t>
                </a:r>
                <a:endParaRPr lang="zh-CN" alt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5B6F367-7035-5AB4-6F87-3E5B92F1F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083" y="1068452"/>
                <a:ext cx="12073797" cy="5440680"/>
              </a:xfrm>
              <a:blipFill>
                <a:blip r:embed="rId3"/>
                <a:stretch>
                  <a:fillRect l="-505" t="-336" b="-25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図 3">
            <a:extLst>
              <a:ext uri="{FF2B5EF4-FFF2-40B4-BE49-F238E27FC236}">
                <a16:creationId xmlns:a16="http://schemas.microsoft.com/office/drawing/2014/main" id="{EA4EA8CB-7FE4-533B-AC6D-0F2B2A5C6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8032" y="4516302"/>
            <a:ext cx="1635760" cy="30240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6766110-526F-E632-72C9-798C62C75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392" y="4929957"/>
            <a:ext cx="2296160" cy="34373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4BAFF66-6B35-8603-F5CD-CBC0CEEEF6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4625" y="5224745"/>
            <a:ext cx="3238095" cy="666667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40E3BEF1-D447-A644-B316-E3E4017C3D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3772" y="6169316"/>
            <a:ext cx="2987040" cy="300133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F0156BA-8411-BC79-D485-C976722CCBC8}"/>
              </a:ext>
            </a:extLst>
          </p:cNvPr>
          <p:cNvSpPr txBox="1"/>
          <p:nvPr/>
        </p:nvSpPr>
        <p:spPr>
          <a:xfrm>
            <a:off x="8290560" y="4688410"/>
            <a:ext cx="3901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7030A0"/>
                </a:solidFill>
              </a:rPr>
              <a:t>很多核方法都可写成</a:t>
            </a:r>
            <a:endParaRPr lang="ja-JP" altLang="en-US" dirty="0">
              <a:solidFill>
                <a:srgbClr val="7030A0"/>
              </a:solidFill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683211AC-AE95-C939-93CF-C2BD955D91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2434" y="5071148"/>
            <a:ext cx="1992731" cy="6422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0706F3A7-3D74-50C6-8868-5AA90EA869C7}"/>
                  </a:ext>
                </a:extLst>
              </p:cNvPr>
              <p:cNvSpPr txBox="1"/>
              <p:nvPr/>
            </p:nvSpPr>
            <p:spPr>
              <a:xfrm>
                <a:off x="7467113" y="5682696"/>
                <a:ext cx="4507323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学习对象是一个</a:t>
                </a:r>
                <a:r>
                  <a:rPr kumimoji="0" lang="ja-JP" altLang="ja-JP" sz="1500" b="1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函数</a:t>
                </a: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训练过程是在某个</a:t>
                </a:r>
                <a:r>
                  <a:rPr kumimoji="0" lang="ja-JP" altLang="ja-JP" sz="1500" b="1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函数空间</a:t>
                </a: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里优化 </a:t>
                </a:r>
              </a:p>
              <a:p>
                <a:pPr lvl="0">
                  <a:buFontTx/>
                  <a:buChar char="•"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数据点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1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kumimoji="0" lang="en-US" altLang="ja-JP" sz="1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kumimoji="0" lang="en-US" altLang="ja-JP" sz="1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通过核函数诱导出基本函数 </a:t>
                </a:r>
                <a:r>
                  <a:rPr kumimoji="0" lang="ja-JP" altLang="ja-JP" sz="1500" b="0" i="1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k</a:t>
                </a: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5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15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ja-JP" sz="15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,⋅)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最终解落在这些基本函数张成的有限维子空间里 </a:t>
                </a: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0706F3A7-3D74-50C6-8868-5AA90EA869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113" y="5682696"/>
                <a:ext cx="4507323" cy="1015663"/>
              </a:xfrm>
              <a:prstGeom prst="rect">
                <a:avLst/>
              </a:prstGeom>
              <a:blipFill>
                <a:blip r:embed="rId9"/>
                <a:stretch>
                  <a:fillRect l="-406" t="-1198" b="-77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0B471B-5AA0-7997-BA14-D2AFC4F2BCB1}"/>
                  </a:ext>
                </a:extLst>
              </p:cNvPr>
              <p:cNvSpPr txBox="1"/>
              <p:nvPr/>
            </p:nvSpPr>
            <p:spPr>
              <a:xfrm>
                <a:off x="381024" y="5753822"/>
                <a:ext cx="7086089" cy="3245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zh-CN" altLang="en-US" sz="1400" dirty="0">
                    <a:solidFill>
                      <a:schemeClr val="accent1">
                        <a:lumMod val="50000"/>
                      </a:schemeClr>
                    </a:solidFill>
                    <a:latin typeface="+mj-ea"/>
                    <a:ea typeface="+mj-ea"/>
                  </a:rPr>
                  <a:t>以</a:t>
                </a:r>
                <a14:m>
                  <m:oMath xmlns:m="http://schemas.openxmlformats.org/officeDocument/2006/math">
                    <m:r>
                      <a:rPr lang="zh-CN" altLang="en-US" sz="140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zh-CN" altLang="en-US" sz="1400" dirty="0">
                    <a:solidFill>
                      <a:schemeClr val="accent1">
                        <a:lumMod val="50000"/>
                      </a:schemeClr>
                    </a:solidFill>
                    <a:latin typeface="+mj-ea"/>
                    <a:ea typeface="+mj-ea"/>
                  </a:rPr>
                  <a:t>为中心，对点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14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zh-CN" altLang="en-US" sz="14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p>
                        <m:r>
                          <a:rPr lang="en-US" altLang="zh-CN" sz="1400" i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1400" dirty="0">
                    <a:solidFill>
                      <a:schemeClr val="accent1">
                        <a:lumMod val="50000"/>
                      </a:schemeClr>
                    </a:solidFill>
                    <a:latin typeface="+mj-ea"/>
                    <a:ea typeface="+mj-ea"/>
                  </a:rPr>
                  <a:t>赋予一个高斯型权重。也就是把“邻近程度”写成一个钟形衰减</a:t>
                </a:r>
              </a:p>
            </p:txBody>
          </p:sp>
        </mc:Choice>
        <mc:Fallback xmlns=""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0B471B-5AA0-7997-BA14-D2AFC4F2BC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24" y="5753822"/>
                <a:ext cx="7086089" cy="324576"/>
              </a:xfrm>
              <a:prstGeom prst="rect">
                <a:avLst/>
              </a:prstGeom>
              <a:blipFill>
                <a:blip r:embed="rId10"/>
                <a:stretch>
                  <a:fillRect l="-258" t="-1887" b="-150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3D37440-005D-F5FB-370F-B89FD792D2CE}"/>
              </a:ext>
            </a:extLst>
          </p:cNvPr>
          <p:cNvSpPr txBox="1"/>
          <p:nvPr/>
        </p:nvSpPr>
        <p:spPr>
          <a:xfrm>
            <a:off x="2608143" y="6469449"/>
            <a:ext cx="61853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以指数方式随距离衰减的邻近权重</a:t>
            </a:r>
            <a:endParaRPr lang="ja-JP" altLang="en-US" sz="1400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B3D3062-2751-0C75-62FB-5644AB6F5B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115996"/>
            <a:ext cx="5958354" cy="78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61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8856A-044A-E5A9-2175-0E86D3F9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3D0451B-CB7C-098C-B09E-4B8208E4C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补充：关于</a:t>
            </a:r>
            <a:r>
              <a:rPr lang="en-US" altLang="zh-CN" b="1" dirty="0">
                <a:latin typeface="+mj-ea"/>
              </a:rPr>
              <a:t>RKHS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D01331A-3182-16EC-2507-FC14C19CC0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1083" y="1068452"/>
                <a:ext cx="11890917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  <a:latin typeface="+mj-ea"/>
                    <a:ea typeface="+mj-ea"/>
                  </a:rPr>
                  <a:t>核方法最核心的空间叫做再生核希尔伯特空间</a:t>
                </a:r>
                <a:r>
                  <a:rPr lang="en-US" altLang="zh-CN" dirty="0">
                    <a:solidFill>
                      <a:srgbClr val="7030A0"/>
                    </a:solidFill>
                    <a:latin typeface="+mj-ea"/>
                    <a:ea typeface="+mj-ea"/>
                  </a:rPr>
                  <a:t>(Reproducing Kernel Hilbert Space, RKHS)</a:t>
                </a:r>
                <a:r>
                  <a:rPr lang="zh-CN" altLang="en-US" dirty="0">
                    <a:solidFill>
                      <a:srgbClr val="7030A0"/>
                    </a:solidFill>
                    <a:latin typeface="+mj-ea"/>
                    <a:ea typeface="+mj-ea"/>
                  </a:rPr>
                  <a:t>。</a:t>
                </a:r>
                <a:endParaRPr lang="en-US" altLang="zh-CN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latin typeface="+mj-ea"/>
                    <a:ea typeface="+mj-ea"/>
                  </a:rPr>
                  <a:t>一个 </a:t>
                </a:r>
                <a:r>
                  <a:rPr lang="en-US" altLang="zh-CN" dirty="0">
                    <a:latin typeface="+mj-ea"/>
                    <a:ea typeface="+mj-ea"/>
                  </a:rPr>
                  <a:t>Hilbert </a:t>
                </a:r>
                <a:r>
                  <a:rPr lang="zh-CN" altLang="en-US" dirty="0">
                    <a:latin typeface="+mj-ea"/>
                    <a:ea typeface="+mj-ea"/>
                  </a:rPr>
                  <a:t>空间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+mj-ea"/>
                      </a:rPr>
                      <m:t>ℋ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，其中的元素是定义在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+mj-ea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上的函数，并满足两个关键性质</a:t>
                </a:r>
                <a:endParaRPr lang="en-US" altLang="zh-CN" dirty="0">
                  <a:latin typeface="+mj-ea"/>
                  <a:ea typeface="+mj-ea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sz="500" dirty="0">
                  <a:latin typeface="+mj-ea"/>
                  <a:ea typeface="+mj-ea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dirty="0">
                    <a:latin typeface="+mj-ea"/>
                    <a:ea typeface="+mj-ea"/>
                  </a:rPr>
                  <a:t>对每个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  <a:ea typeface="+mj-ea"/>
                      </a:rPr>
                      <m:t>∈</m:t>
                    </m:r>
                    <m:r>
                      <a:rPr lang="ja-JP" altLang="en-US" i="1">
                        <a:latin typeface="Cambria Math" panose="02040503050406030204" pitchFamily="18" charset="0"/>
                        <a:ea typeface="+mj-ea"/>
                      </a:rPr>
                      <m:t>𝑋</m:t>
                    </m:r>
                  </m:oMath>
                </a14:m>
                <a:r>
                  <a:rPr lang="ja-JP" altLang="en-US" dirty="0">
                    <a:latin typeface="+mj-ea"/>
                    <a:ea typeface="+mj-ea"/>
                  </a:rPr>
                  <a:t>，函数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  <a:ea typeface="+mj-ea"/>
                      </a:rPr>
                      <m:t>𝑘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+mj-ea"/>
                      </a:rPr>
                      <m:t>,−</m:t>
                    </m:r>
                    <m:r>
                      <a:rPr lang="en-US" altLang="ja-JP" b="0" i="0" smtClean="0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  <m:r>
                      <a:rPr lang="ar-AE" altLang="ja-JP">
                        <a:latin typeface="Cambria Math" panose="02040503050406030204" pitchFamily="18" charset="0"/>
                        <a:ea typeface="+mj-ea"/>
                      </a:rPr>
                      <m:t>∈</m:t>
                    </m:r>
                    <m:r>
                      <a:rPr lang="ar-AE" altLang="ja-JP">
                        <a:latin typeface="Cambria Math" panose="02040503050406030204" pitchFamily="18" charset="0"/>
                        <a:ea typeface="+mj-ea"/>
                      </a:rPr>
                      <m:t>ℋ</m:t>
                    </m:r>
                  </m:oMath>
                </a14:m>
                <a:endParaRPr lang="en-US" altLang="ja-JP" dirty="0">
                  <a:latin typeface="+mj-ea"/>
                  <a:ea typeface="+mj-ea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ja-JP" altLang="en-US" dirty="0">
                    <a:latin typeface="+mj-ea"/>
                    <a:ea typeface="+mj-ea"/>
                  </a:rPr>
                  <a:t>再生性质</a:t>
                </a:r>
                <a:r>
                  <a:rPr lang="zh-CN" altLang="en-US" dirty="0">
                    <a:latin typeface="+mj-ea"/>
                    <a:ea typeface="+mj-ea"/>
                  </a:rPr>
                  <a:t>：</a:t>
                </a:r>
                <a:r>
                  <a:rPr lang="ja-JP" altLang="en-US" dirty="0">
                    <a:latin typeface="+mj-ea"/>
                    <a:ea typeface="+mj-ea"/>
                  </a:rPr>
                  <a:t>对任意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  <a:ea typeface="+mj-ea"/>
                      </a:rPr>
                      <m:t>𝑓</m:t>
                    </m:r>
                    <m:r>
                      <a:rPr lang="ja-JP" altLang="en-US">
                        <a:latin typeface="Cambria Math" panose="02040503050406030204" pitchFamily="18" charset="0"/>
                        <a:ea typeface="+mj-ea"/>
                      </a:rPr>
                      <m:t>∈</m:t>
                    </m:r>
                    <m:r>
                      <a:rPr lang="en-US" altLang="ja-JP">
                        <a:latin typeface="Cambria Math" panose="02040503050406030204" pitchFamily="18" charset="0"/>
                        <a:ea typeface="+mj-ea"/>
                      </a:rPr>
                      <m:t>ℋ</m:t>
                    </m:r>
                  </m:oMath>
                </a14:m>
                <a:r>
                  <a:rPr lang="ja-JP" altLang="en-US" dirty="0">
                    <a:latin typeface="+mj-ea"/>
                    <a:ea typeface="+mj-ea"/>
                  </a:rPr>
                  <a:t>，有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  <a:ea typeface="+mj-ea"/>
                      </a:rPr>
                      <m:t>𝑓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  <a:ea typeface="+mj-ea"/>
                      </a:rPr>
                      <m:t>=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ar-AE" altLang="ja-JP" i="1" smtClean="0">
                                <a:latin typeface="Cambria Math" panose="02040503050406030204" pitchFamily="18" charset="0"/>
                                <a:ea typeface="+mj-ea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𝑓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+mj-ea"/>
                              </a:rPr>
                              <m:t>,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  <a:ea typeface="+mj-ea"/>
                              </a:rPr>
                              <m:t>𝑘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  <a:ea typeface="+mj-ea"/>
                              </a:rPr>
                              <m:t>(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+mj-ea"/>
                              </a:rPr>
                              <m:t>𝑥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  <a:ea typeface="+mj-ea"/>
                              </a:rPr>
                              <m:t>,−</m:t>
                            </m:r>
                            <m:r>
                              <a:rPr lang="en-US" altLang="ja-JP">
                                <a:latin typeface="Cambria Math" panose="02040503050406030204" pitchFamily="18" charset="0"/>
                                <a:ea typeface="+mj-ea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ar-AE" altLang="ja-JP">
                            <a:latin typeface="Cambria Math" panose="02040503050406030204" pitchFamily="18" charset="0"/>
                            <a:ea typeface="+mj-ea"/>
                          </a:rPr>
                          <m:t>ℋ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  <a:ea typeface="+mj-ea"/>
                      </a:rPr>
                      <m:t>.</m:t>
                    </m:r>
                  </m:oMath>
                </a14:m>
                <a:endParaRPr lang="en-US" altLang="ja-JP" dirty="0">
                  <a:latin typeface="+mj-ea"/>
                  <a:ea typeface="+mj-ea"/>
                </a:endParaRPr>
              </a:p>
              <a:p>
                <a:pPr marL="800100" lvl="2" indent="0">
                  <a:buNone/>
                </a:pPr>
                <a:r>
                  <a:rPr lang="zh-CN" altLang="en-US" dirty="0">
                    <a:latin typeface="+mj-ea"/>
                    <a:ea typeface="+mj-ea"/>
                  </a:rPr>
                  <a:t>点值泛函： “函数在点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的取值” 这个操作，可以表示为对某个特殊元素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  <a:ea typeface="+mj-ea"/>
                      </a:rPr>
                      <m:t>𝑘</m:t>
                    </m:r>
                    <m:r>
                      <a:rPr lang="en-US" altLang="ja-JP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+mj-ea"/>
                      </a:rPr>
                      <m:t>,−</m:t>
                    </m:r>
                    <m:r>
                      <a:rPr lang="en-US" altLang="ja-JP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的内积。</a:t>
                </a:r>
                <a:endParaRPr lang="ar-AE" altLang="ja-JP" dirty="0">
                  <a:latin typeface="+mj-ea"/>
                  <a:ea typeface="+mj-ea"/>
                </a:endParaRPr>
              </a:p>
              <a:p>
                <a:pPr marL="800100" lvl="2" indent="0">
                  <a:buNone/>
                </a:pPr>
                <a:r>
                  <a:rPr lang="en-US" altLang="ja-JP" dirty="0">
                    <a:latin typeface="+mj-ea"/>
                    <a:ea typeface="+mj-ea"/>
                  </a:rPr>
                  <a:t>RKHS</a:t>
                </a:r>
                <a:r>
                  <a:rPr lang="zh-CN" altLang="en-US" dirty="0">
                    <a:latin typeface="+mj-ea"/>
                    <a:ea typeface="+mj-ea"/>
                  </a:rPr>
                  <a:t>中，每个点值泛函都是连续线性泛函（确保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  <a:ea typeface="+mj-ea"/>
                      </a:rPr>
                      <m:t>𝑘</m:t>
                    </m:r>
                    <m:r>
                      <a:rPr lang="en-US" altLang="ja-JP">
                        <a:latin typeface="Cambria Math" panose="02040503050406030204" pitchFamily="18" charset="0"/>
                        <a:ea typeface="+mj-ea"/>
                      </a:rPr>
                      <m:t>(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+mj-ea"/>
                      </a:rPr>
                      <m:t>,−</m:t>
                    </m:r>
                    <m:r>
                      <a:rPr lang="en-US" altLang="ja-JP">
                        <a:latin typeface="Cambria Math" panose="02040503050406030204" pitchFamily="18" charset="0"/>
                        <a:ea typeface="+mj-ea"/>
                      </a:rPr>
                      <m:t>)</m:t>
                    </m:r>
                    <m:r>
                      <a:rPr lang="en-US" altLang="ja-JP" i="1">
                        <a:latin typeface="Cambria Math" panose="02040503050406030204" pitchFamily="18" charset="0"/>
                        <a:ea typeface="+mj-ea"/>
                      </a:rPr>
                      <m:t> 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+mj-ea"/>
                      </a:rPr>
                      <m:t>的</m:t>
                    </m:r>
                  </m:oMath>
                </a14:m>
                <a:r>
                  <a:rPr lang="zh-CN" altLang="en-US" dirty="0">
                    <a:latin typeface="+mj-ea"/>
                    <a:ea typeface="+mj-ea"/>
                  </a:rPr>
                  <a:t>唯一性）</a:t>
                </a:r>
                <a:endParaRPr lang="en-US" altLang="zh-CN" dirty="0">
                  <a:latin typeface="+mj-ea"/>
                  <a:ea typeface="+mj-ea"/>
                </a:endParaRPr>
              </a:p>
              <a:p>
                <a:pPr marL="800100" lvl="2" indent="0">
                  <a:buNone/>
                </a:pPr>
                <a:endParaRPr lang="en-US" altLang="ja-JP" dirty="0">
                  <a:latin typeface="+mj-ea"/>
                  <a:ea typeface="+mj-ea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+mj-ea"/>
                    <a:ea typeface="+mj-ea"/>
                  </a:rPr>
                  <a:t>RKHS </a:t>
                </a:r>
                <a:r>
                  <a:rPr lang="zh-CN" altLang="en-US" dirty="0">
                    <a:latin typeface="+mj-ea"/>
                    <a:ea typeface="+mj-ea"/>
                  </a:rPr>
                  <a:t>让一个无限维函数优化问题，由“点值泛函 </a:t>
                </a:r>
                <a:r>
                  <a:rPr lang="en-US" altLang="zh-CN" dirty="0">
                    <a:latin typeface="+mj-ea"/>
                    <a:ea typeface="+mj-ea"/>
                  </a:rPr>
                  <a:t>+ Hilbert </a:t>
                </a:r>
                <a:r>
                  <a:rPr lang="zh-CN" altLang="en-US" dirty="0">
                    <a:latin typeface="+mj-ea"/>
                    <a:ea typeface="+mj-ea"/>
                  </a:rPr>
                  <a:t>正交分解”的结构，坍缩成有限维线性代数问题。对于很多正则化经验风险最小化问题，最优解虽然是在无限维 </a:t>
                </a:r>
                <a:r>
                  <a:rPr lang="en-US" altLang="zh-CN" dirty="0">
                    <a:latin typeface="+mj-ea"/>
                    <a:ea typeface="+mj-ea"/>
                  </a:rPr>
                  <a:t>RKHS </a:t>
                </a:r>
                <a:r>
                  <a:rPr lang="zh-CN" altLang="en-US" dirty="0">
                    <a:latin typeface="+mj-ea"/>
                    <a:ea typeface="+mj-ea"/>
                  </a:rPr>
                  <a:t>中找，但最终一定具有形式</a:t>
                </a:r>
                <a:endParaRPr lang="zh-CN" altLang="en-US" dirty="0">
                  <a:solidFill>
                    <a:schemeClr val="accent1">
                      <a:lumMod val="50000"/>
                    </a:schemeClr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D01331A-3182-16EC-2507-FC14C19CC0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083" y="1068452"/>
                <a:ext cx="11890917" cy="5440680"/>
              </a:xfrm>
              <a:blipFill>
                <a:blip r:embed="rId3"/>
                <a:stretch>
                  <a:fillRect l="-513" t="-336" r="-35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図 19">
            <a:extLst>
              <a:ext uri="{FF2B5EF4-FFF2-40B4-BE49-F238E27FC236}">
                <a16:creationId xmlns:a16="http://schemas.microsoft.com/office/drawing/2014/main" id="{65BC0714-F0E4-547E-6514-8C8365AC6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3269" y="4564962"/>
            <a:ext cx="2639212" cy="8506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7C9294D-B5A5-7D19-B045-4A8E6A9AB294}"/>
                  </a:ext>
                </a:extLst>
              </p:cNvPr>
              <p:cNvSpPr txBox="1"/>
              <p:nvPr/>
            </p:nvSpPr>
            <p:spPr>
              <a:xfrm>
                <a:off x="798154" y="5493469"/>
                <a:ext cx="4507323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学习对象是一个</a:t>
                </a:r>
                <a:r>
                  <a:rPr kumimoji="0" lang="ja-JP" altLang="ja-JP" sz="1500" b="1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函数</a:t>
                </a: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训练过程是在某个</a:t>
                </a:r>
                <a:r>
                  <a:rPr kumimoji="0" lang="ja-JP" altLang="ja-JP" sz="1500" b="1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函数空间</a:t>
                </a: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里优化 </a:t>
                </a:r>
              </a:p>
              <a:p>
                <a:pPr lvl="0">
                  <a:buFontTx/>
                  <a:buChar char="•"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数据点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1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kumimoji="0" lang="en-US" altLang="ja-JP" sz="1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kumimoji="0" lang="en-US" altLang="ja-JP" sz="15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7030A0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通过核函数诱导出基本函数 </a:t>
                </a:r>
                <a:r>
                  <a:rPr kumimoji="0" lang="ja-JP" altLang="ja-JP" sz="1500" b="0" i="1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k</a:t>
                </a: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15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en-US" altLang="ja-JP" sz="15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en-US" altLang="ja-JP" sz="1500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,⋅)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ja-JP" altLang="ja-JP" sz="1500" b="0" i="0" u="none" strike="noStrike" cap="none" normalizeH="0" baseline="0" dirty="0">
                    <a:ln>
                      <a:noFill/>
                    </a:ln>
                    <a:solidFill>
                      <a:srgbClr val="7030A0"/>
                    </a:solidFill>
                    <a:effectLst/>
                    <a:latin typeface="+mj-ea"/>
                    <a:ea typeface="+mj-ea"/>
                  </a:rPr>
                  <a:t>最终解落在这些基本函数张成的有限维子空间里 </a:t>
                </a:r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A7C9294D-B5A5-7D19-B045-4A8E6A9AB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54" y="5493469"/>
                <a:ext cx="4507323" cy="1015663"/>
              </a:xfrm>
              <a:prstGeom prst="rect">
                <a:avLst/>
              </a:prstGeom>
              <a:blipFill>
                <a:blip r:embed="rId5"/>
                <a:stretch>
                  <a:fillRect l="-406" t="-1198" b="-778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3B619686-E2FE-EF34-16BA-EB8BF6533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026" y="3209075"/>
            <a:ext cx="2357139" cy="27142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B2B0D99-1AA2-FCAC-423A-1A63A47391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66595" y="4718861"/>
            <a:ext cx="1611558" cy="2714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CE7D73F-A5BC-7500-A0CF-096607DF85DB}"/>
                  </a:ext>
                </a:extLst>
              </p:cNvPr>
              <p:cNvSpPr txBox="1"/>
              <p:nvPr/>
            </p:nvSpPr>
            <p:spPr>
              <a:xfrm>
                <a:off x="7020879" y="5203949"/>
                <a:ext cx="251200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+mj-ea"/>
                    <a:ea typeface="+mj-ea"/>
                  </a:rPr>
                  <a:t>对每个训练点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  <a:ea typeface="+mj-ea"/>
                          </a:rPr>
                          <m:t>𝑥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  <a:ea typeface="+mj-ea"/>
                          </a:rPr>
                          <m:t>𝑖</m:t>
                        </m:r>
                      </m:sub>
                    </m:sSub>
                  </m:oMath>
                </a14:m>
                <a:endParaRPr lang="ja-JP" altLang="en-US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CE7D73F-A5BC-7500-A0CF-096607DF85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879" y="5203949"/>
                <a:ext cx="2512004" cy="400110"/>
              </a:xfrm>
              <a:prstGeom prst="rect">
                <a:avLst/>
              </a:prstGeom>
              <a:blipFill>
                <a:blip r:embed="rId8"/>
                <a:stretch>
                  <a:fillRect l="-2670" t="-12308" b="-24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図 15">
            <a:extLst>
              <a:ext uri="{FF2B5EF4-FFF2-40B4-BE49-F238E27FC236}">
                <a16:creationId xmlns:a16="http://schemas.microsoft.com/office/drawing/2014/main" id="{CC152FE1-F5AB-154E-0BC0-F9E686BBEB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81902" y="5243765"/>
            <a:ext cx="2975864" cy="320478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A8A6FFE-C95C-C26F-6E0D-0AF3873CB681}"/>
              </a:ext>
            </a:extLst>
          </p:cNvPr>
          <p:cNvSpPr txBox="1"/>
          <p:nvPr/>
        </p:nvSpPr>
        <p:spPr>
          <a:xfrm>
            <a:off x="7812214" y="5627826"/>
            <a:ext cx="14293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>
                <a:latin typeface="+mj-ea"/>
                <a:ea typeface="+mj-ea"/>
              </a:rPr>
              <a:t>范数满足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A9A815F8-0807-9964-025D-7A7A1CD484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1902" y="5655814"/>
            <a:ext cx="2371428" cy="3238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74851A5-B5D3-AF7E-8F5F-A03A91212BD4}"/>
                  </a:ext>
                </a:extLst>
              </p:cNvPr>
              <p:cNvSpPr txBox="1"/>
              <p:nvPr/>
            </p:nvSpPr>
            <p:spPr>
              <a:xfrm>
                <a:off x="6213375" y="6001300"/>
                <a:ext cx="7155783" cy="406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 smtClean="0">
                            <a:latin typeface="Cambria Math" panose="02040503050406030204" pitchFamily="18" charset="0"/>
                            <a:ea typeface="+mj-ea"/>
                          </a:rPr>
                        </m:ctrlPr>
                      </m:sSubPr>
                      <m:e>
                        <m:r>
                          <a:rPr lang="ja-JP" altLang="ar-AE" i="1">
                            <a:latin typeface="Cambria Math" panose="02040503050406030204" pitchFamily="18" charset="0"/>
                            <a:ea typeface="+mj-ea"/>
                          </a:rPr>
                          <m:t>𝑓</m:t>
                        </m:r>
                      </m:e>
                      <m:sub>
                        <m:r>
                          <a:rPr lang="ar-AE" altLang="ja-JP" i="0">
                            <a:latin typeface="Cambria Math" panose="02040503050406030204" pitchFamily="18" charset="0"/>
                            <a:ea typeface="+mj-ea"/>
                          </a:rPr>
                          <m:t>∥</m:t>
                        </m:r>
                      </m:sub>
                    </m:sSub>
                  </m:oMath>
                </a14:m>
                <a:r>
                  <a:rPr lang="ja-JP" altLang="en-US" dirty="0">
                    <a:latin typeface="+mj-ea"/>
                    <a:ea typeface="+mj-ea"/>
                  </a:rPr>
                  <a:t>在有限维                          子空间里</a:t>
                </a:r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74851A5-B5D3-AF7E-8F5F-A03A91212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375" y="6001300"/>
                <a:ext cx="7155783" cy="406586"/>
              </a:xfrm>
              <a:prstGeom prst="rect">
                <a:avLst/>
              </a:prstGeom>
              <a:blipFill>
                <a:blip r:embed="rId11"/>
                <a:stretch>
                  <a:fillRect l="-341" t="-11940" b="-194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図 26">
            <a:extLst>
              <a:ext uri="{FF2B5EF4-FFF2-40B4-BE49-F238E27FC236}">
                <a16:creationId xmlns:a16="http://schemas.microsoft.com/office/drawing/2014/main" id="{71920207-05C6-B376-61E6-422DE192FA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37656" y="6041116"/>
            <a:ext cx="3116258" cy="355186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EDF340E0-8BD1-4DA8-F8A4-B79B6492E1FE}"/>
              </a:ext>
            </a:extLst>
          </p:cNvPr>
          <p:cNvSpPr txBox="1"/>
          <p:nvPr/>
        </p:nvSpPr>
        <p:spPr>
          <a:xfrm>
            <a:off x="6391055" y="6431738"/>
            <a:ext cx="61628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训练是在函数空间中最小化“损失 </a:t>
            </a:r>
            <a:r>
              <a:rPr lang="en-US" altLang="zh-CN" dirty="0">
                <a:latin typeface="+mj-ea"/>
                <a:ea typeface="+mj-ea"/>
              </a:rPr>
              <a:t>+ </a:t>
            </a:r>
            <a:r>
              <a:rPr lang="zh-CN" altLang="en-US" dirty="0">
                <a:latin typeface="+mj-ea"/>
                <a:ea typeface="+mj-ea"/>
              </a:rPr>
              <a:t>范数惩罚”</a:t>
            </a:r>
            <a:endParaRPr lang="ja-JP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14592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18801-003A-A9F8-6B10-5F638E6E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DA2CB8D-B782-0C2F-890B-820E1EC12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机器学习中的 </a:t>
            </a:r>
            <a:r>
              <a:rPr lang="fr-FR" altLang="ja-JP" b="1" dirty="0">
                <a:latin typeface="+mj-ea"/>
              </a:rPr>
              <a:t>Fourier</a:t>
            </a:r>
            <a:r>
              <a:rPr lang="zh-CN" altLang="en-US" b="1" dirty="0"/>
              <a:t>正交基 </a:t>
            </a:r>
            <a:r>
              <a:rPr lang="en-US" altLang="zh-CN" b="1" dirty="0"/>
              <a:t>(1)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7C23514-3129-22F2-C2BB-A5615DB490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1083" y="1068452"/>
                <a:ext cx="11637527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7030A0"/>
                    </a:solidFill>
                  </a:rPr>
                  <a:t>随机 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Fourier 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特征（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Random Fourier Features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）</a:t>
                </a:r>
                <a:r>
                  <a:rPr lang="zh-CN" altLang="en-US" dirty="0"/>
                  <a:t>：把输入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dirty="0"/>
                  <a:t>映射到由随机正弦函数组成的低维特征空间，再用快速线性方法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近似</a:t>
                </a:r>
                <a:r>
                  <a:rPr lang="zh-CN" altLang="en-US" dirty="0"/>
                  <a:t>原本昂贵的核方法（</a:t>
                </a:r>
                <a:r>
                  <a:rPr lang="en-US" altLang="zh-CN" dirty="0"/>
                  <a:t> Rahimi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Recht 2007 </a:t>
                </a:r>
                <a:r>
                  <a:rPr lang="zh-CN" altLang="en-US" dirty="0"/>
                  <a:t>）。目标是让变换后特征的内积近似用户指定的平移不变核；文中给出了典型映射</a:t>
                </a:r>
                <a:endParaRPr lang="zh-CN" alt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D7C23514-3129-22F2-C2BB-A5615DB490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083" y="1068452"/>
                <a:ext cx="11637527" cy="5440680"/>
              </a:xfrm>
              <a:blipFill>
                <a:blip r:embed="rId3"/>
                <a:stretch>
                  <a:fillRect l="-524" t="-3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FF018CAE-F922-9E9A-FCE9-9845F62A39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691615"/>
            <a:ext cx="3395622" cy="4074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000B471-9B4F-316D-7219-BF1D4F299D70}"/>
                  </a:ext>
                </a:extLst>
              </p:cNvPr>
              <p:cNvSpPr txBox="1"/>
              <p:nvPr/>
            </p:nvSpPr>
            <p:spPr>
              <a:xfrm>
                <a:off x="784860" y="3217579"/>
                <a:ext cx="10012680" cy="732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zh-CN" altLang="en-US" dirty="0">
                    <a:solidFill>
                      <a:srgbClr val="7030A0"/>
                    </a:solidFill>
                    <a:latin typeface="FangSong"/>
                    <a:ea typeface="FangSong"/>
                  </a:rPr>
                  <a:t>可以看成一个“基函数”或“特征函数”</a:t>
                </a:r>
                <a:r>
                  <a:rPr lang="en-US" altLang="zh-CN" dirty="0">
                    <a:solidFill>
                      <a:srgbClr val="7030A0"/>
                    </a:solidFill>
                    <a:latin typeface="FangSong"/>
                    <a:ea typeface="FangSong"/>
                  </a:rPr>
                  <a:t>,</a:t>
                </a:r>
                <a:r>
                  <a:rPr lang="zh-CN" altLang="en-US" dirty="0">
                    <a:solidFill>
                      <a:srgbClr val="7030A0"/>
                    </a:solidFill>
                    <a:latin typeface="+mj-ea"/>
                    <a:ea typeface="+mj-ea"/>
                  </a:rPr>
                  <a:t>把原来的输入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zh-CN" altLang="en-US" dirty="0">
                    <a:solidFill>
                      <a:srgbClr val="7030A0"/>
                    </a:solidFill>
                    <a:latin typeface="+mj-ea"/>
                    <a:ea typeface="+mj-ea"/>
                  </a:rPr>
                  <a:t>变成一个“傅里叶特征”</a:t>
                </a:r>
                <a:endParaRPr lang="en-US" altLang="zh-CN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ja-JP" altLang="en-US" dirty="0">
                    <a:solidFill>
                      <a:srgbClr val="7030A0"/>
                    </a:solidFill>
                    <a:latin typeface="+mj-ea"/>
                    <a:ea typeface="+mj-ea"/>
                  </a:rPr>
                  <a:t>⇒　</a:t>
                </a:r>
                <a:r>
                  <a:rPr lang="zh-CN" altLang="en-US" dirty="0">
                    <a:solidFill>
                      <a:srgbClr val="7030A0"/>
                    </a:solidFill>
                    <a:latin typeface="+mj-ea"/>
                    <a:ea typeface="+mj-ea"/>
                  </a:rPr>
                  <a:t>近似某个核函数，或者让模型更容易表示高频变化</a:t>
                </a:r>
                <a:endParaRPr lang="ja-JP" altLang="en-US" dirty="0">
                  <a:solidFill>
                    <a:srgbClr val="7030A0"/>
                  </a:solidFill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000B471-9B4F-316D-7219-BF1D4F299D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860" y="3217579"/>
                <a:ext cx="10012680" cy="732765"/>
              </a:xfrm>
              <a:prstGeom prst="rect">
                <a:avLst/>
              </a:prstGeom>
              <a:blipFill>
                <a:blip r:embed="rId5"/>
                <a:stretch>
                  <a:fillRect l="-670" t="-6667" b="-141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E1B8C59-4E54-7DF0-B902-7E063A42B903}"/>
                  </a:ext>
                </a:extLst>
              </p:cNvPr>
              <p:cNvSpPr txBox="1"/>
              <p:nvPr/>
            </p:nvSpPr>
            <p:spPr>
              <a:xfrm>
                <a:off x="6180313" y="2151122"/>
                <a:ext cx="6184407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14:m>
                  <m:oMath xmlns:m="http://schemas.openxmlformats.org/officeDocument/2006/math">
                    <m:r>
                      <a:rPr kumimoji="0" lang="ja-JP" altLang="ja-JP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j-ea"/>
                      </a:rPr>
                      <m:t>𝜔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+mj-ea"/>
                      </a:rPr>
                      <m:t>：</m:t>
                    </m:r>
                  </m:oMath>
                </a14:m>
                <a:r>
                  <a:rPr kumimoji="0" lang="ja-JP" altLang="ja-JP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一个频率向量</a:t>
                </a:r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：</a:t>
                </a:r>
                <a14:m>
                  <m:oMath xmlns:m="http://schemas.openxmlformats.org/officeDocument/2006/math"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kumimoji="0" lang="ja-JP" altLang="ja-JP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随机相位 </a:t>
                </a:r>
              </a:p>
              <a:p>
                <a:pPr lvl="0"/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ja-JP" sz="2000" b="0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+mj-ea"/>
                          </a:rPr>
                        </m:ctrlPr>
                      </m:sSup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kumimoji="0" lang="ja-JP" altLang="ja-JP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  <m:r>
                      <a:rPr kumimoji="0" lang="ja-JP" altLang="ja-JP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j-ea"/>
                      </a:rPr>
                      <m:t>+</m:t>
                    </m:r>
                    <m:r>
                      <a:rPr kumimoji="0" lang="ja-JP" altLang="ja-JP" sz="20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+mj-ea"/>
                      </a:rPr>
                      <m:t>𝑏</m:t>
                    </m:r>
                    <m:r>
                      <a:rPr lang="zh-CN" altLang="en-US" i="1" dirty="0">
                        <a:latin typeface="Cambria Math" panose="02040503050406030204" pitchFamily="18" charset="0"/>
                        <a:ea typeface="+mj-ea"/>
                      </a:rPr>
                      <m:t>：</m:t>
                    </m:r>
                  </m:oMath>
                </a14:m>
                <a:r>
                  <a:rPr kumimoji="0" lang="ja-JP" altLang="ja-JP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把输入</a:t>
                </a:r>
                <a14:m>
                  <m:oMath xmlns:m="http://schemas.openxmlformats.org/officeDocument/2006/math"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0" lang="ja-JP" altLang="ja-JP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投到某个方向后，加一个相位偏移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ja-JP" altLang="ja-JP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取cos⁡</a:t>
                </a:r>
                <a:r>
                  <a:rPr kumimoji="0" lang="zh-CN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：</a:t>
                </a:r>
                <a:r>
                  <a:rPr kumimoji="0" lang="ja-JP" altLang="ja-JP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+mj-ea"/>
                    <a:ea typeface="+mj-ea"/>
                  </a:rPr>
                  <a:t>得到一个振荡特征 </a:t>
                </a:r>
                <a:endParaRPr kumimoji="0" lang="en-US" altLang="ja-JP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5E1B8C59-4E54-7DF0-B902-7E063A42B9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313" y="2151122"/>
                <a:ext cx="6184407" cy="1015663"/>
              </a:xfrm>
              <a:prstGeom prst="rect">
                <a:avLst/>
              </a:prstGeom>
              <a:blipFill>
                <a:blip r:embed="rId6"/>
                <a:stretch>
                  <a:fillRect l="-1085" t="-4819" b="-90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図 12">
            <a:extLst>
              <a:ext uri="{FF2B5EF4-FFF2-40B4-BE49-F238E27FC236}">
                <a16:creationId xmlns:a16="http://schemas.microsoft.com/office/drawing/2014/main" id="{83F7C17E-2CBF-182D-8590-77A2784A5B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7040" y="356395"/>
            <a:ext cx="2601570" cy="535972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C51BB53-0217-73D8-F8E4-2504B635C5D1}"/>
              </a:ext>
            </a:extLst>
          </p:cNvPr>
          <p:cNvSpPr txBox="1"/>
          <p:nvPr/>
        </p:nvSpPr>
        <p:spPr>
          <a:xfrm>
            <a:off x="172720" y="4096347"/>
            <a:ext cx="11236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latin typeface="+mj-ea"/>
                <a:ea typeface="+mj-ea"/>
              </a:rPr>
              <a:t>为什么使用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</a:rPr>
              <a:t>随机 </a:t>
            </a:r>
            <a:r>
              <a:rPr lang="en-US" altLang="zh-CN" dirty="0">
                <a:solidFill>
                  <a:srgbClr val="7030A0"/>
                </a:solidFill>
                <a:latin typeface="+mj-ea"/>
                <a:ea typeface="+mj-ea"/>
              </a:rPr>
              <a:t>Fourier </a:t>
            </a:r>
            <a:r>
              <a:rPr lang="zh-CN" altLang="en-US" dirty="0">
                <a:solidFill>
                  <a:srgbClr val="7030A0"/>
                </a:solidFill>
                <a:latin typeface="+mj-ea"/>
                <a:ea typeface="+mj-ea"/>
              </a:rPr>
              <a:t>特征</a:t>
            </a:r>
            <a:r>
              <a:rPr lang="zh-CN" altLang="en-US" dirty="0">
                <a:latin typeface="+mj-ea"/>
                <a:ea typeface="+mj-ea"/>
              </a:rPr>
              <a:t>？</a:t>
            </a:r>
            <a:endParaRPr lang="en-US" altLang="zh-CN" dirty="0">
              <a:latin typeface="+mj-ea"/>
              <a:ea typeface="+mj-ea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0F08693-C491-507E-4FDE-7D6AE992BAD1}"/>
              </a:ext>
            </a:extLst>
          </p:cNvPr>
          <p:cNvSpPr txBox="1"/>
          <p:nvPr/>
        </p:nvSpPr>
        <p:spPr>
          <a:xfrm>
            <a:off x="410972" y="5871372"/>
            <a:ext cx="32514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多个一起用时，通常写成</a:t>
            </a:r>
            <a:endParaRPr lang="ja-JP" altLang="en-US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21" name="図 20">
            <a:extLst>
              <a:ext uri="{FF2B5EF4-FFF2-40B4-BE49-F238E27FC236}">
                <a16:creationId xmlns:a16="http://schemas.microsoft.com/office/drawing/2014/main" id="{2E8F5D31-9859-6430-BDF0-5536ED0A33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8561" y="5731112"/>
            <a:ext cx="4857143" cy="628571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195B37F-AF34-7362-7A95-C99A15BD84BB}"/>
              </a:ext>
            </a:extLst>
          </p:cNvPr>
          <p:cNvSpPr txBox="1"/>
          <p:nvPr/>
        </p:nvSpPr>
        <p:spPr>
          <a:xfrm>
            <a:off x="3464052" y="6448527"/>
            <a:ext cx="77525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在这个新特征空间里做线性回归、分类，或者送进神经网络。</a:t>
            </a:r>
            <a:endParaRPr lang="ja-JP" altLang="en-US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5A2B053-20BA-6DE6-589A-76696247936A}"/>
              </a:ext>
            </a:extLst>
          </p:cNvPr>
          <p:cNvSpPr txBox="1"/>
          <p:nvPr/>
        </p:nvSpPr>
        <p:spPr>
          <a:xfrm>
            <a:off x="1920240" y="4557231"/>
            <a:ext cx="1044448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latin typeface="+mj-ea"/>
                <a:ea typeface="+mj-ea"/>
              </a:rPr>
              <a:t>很多复杂函数，不适合直接在原始坐标里学；</a:t>
            </a:r>
            <a:br>
              <a:rPr lang="zh-CN" altLang="en-US" dirty="0">
                <a:latin typeface="+mj-ea"/>
                <a:ea typeface="+mj-ea"/>
              </a:rPr>
            </a:br>
            <a:r>
              <a:rPr lang="zh-CN" altLang="en-US" dirty="0">
                <a:latin typeface="+mj-ea"/>
                <a:ea typeface="+mj-ea"/>
              </a:rPr>
              <a:t>但如果先把输入映射到一组正弦</a:t>
            </a:r>
            <a:r>
              <a:rPr lang="en-US" altLang="zh-CN" dirty="0">
                <a:latin typeface="+mj-ea"/>
                <a:ea typeface="+mj-ea"/>
              </a:rPr>
              <a:t>/</a:t>
            </a:r>
            <a:r>
              <a:rPr lang="zh-CN" altLang="en-US" dirty="0">
                <a:latin typeface="+mj-ea"/>
                <a:ea typeface="+mj-ea"/>
              </a:rPr>
              <a:t>余弦特征中，再做线性组合，表达能力会强很多</a:t>
            </a:r>
            <a:endParaRPr lang="en-US" altLang="zh-CN" dirty="0">
              <a:latin typeface="+mj-ea"/>
              <a:ea typeface="+mj-ea"/>
            </a:endParaRPr>
          </a:p>
          <a:p>
            <a:pPr lvl="0"/>
            <a:r>
              <a:rPr lang="zh-CN" altLang="en-US" dirty="0">
                <a:latin typeface="+mj-ea"/>
                <a:ea typeface="+mj-ea"/>
              </a:rPr>
              <a:t>希望用很多这样的振荡基函数去拼出复杂函数</a:t>
            </a:r>
            <a:endParaRPr kumimoji="0" lang="ja-JP" altLang="ja-JP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ea"/>
              <a:ea typeface="+mj-ea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172AC3A-E320-03DE-0B7C-2F6A5D3577A2}"/>
              </a:ext>
            </a:extLst>
          </p:cNvPr>
          <p:cNvSpPr txBox="1"/>
          <p:nvPr/>
        </p:nvSpPr>
        <p:spPr>
          <a:xfrm>
            <a:off x="5400040" y="274043"/>
            <a:ext cx="3896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随机 </a:t>
            </a:r>
            <a:r>
              <a:rPr lang="en-US" altLang="zh-CN" sz="1600" dirty="0">
                <a:latin typeface="+mj-ea"/>
                <a:ea typeface="+mj-ea"/>
              </a:rPr>
              <a:t>Fourier </a:t>
            </a:r>
            <a:r>
              <a:rPr lang="zh-CN" altLang="en-US" sz="1600" dirty="0">
                <a:latin typeface="+mj-ea"/>
                <a:ea typeface="+mj-ea"/>
              </a:rPr>
              <a:t>特征把平移不变核近似成显式正弦特征，让大规模核学习变得可行</a:t>
            </a:r>
            <a:endParaRPr lang="ja-JP" altLang="en-US" sz="1600" dirty="0">
              <a:latin typeface="+mj-ea"/>
              <a:ea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D58F3F85-EB4B-34DA-B408-4245937F51F3}"/>
                  </a:ext>
                </a:extLst>
              </p:cNvPr>
              <p:cNvSpPr txBox="1"/>
              <p:nvPr/>
            </p:nvSpPr>
            <p:spPr>
              <a:xfrm>
                <a:off x="2552700" y="2330067"/>
                <a:ext cx="618236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dirty="0"/>
                  <a:t>一个“频率为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dirty="0"/>
                  <a:t>”的振荡基函数</a:t>
                </a:r>
                <a:endParaRPr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D58F3F85-EB4B-34DA-B408-4245937F5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2700" y="2330067"/>
                <a:ext cx="6182360" cy="400110"/>
              </a:xfrm>
              <a:prstGeom prst="rect">
                <a:avLst/>
              </a:prstGeom>
              <a:blipFill>
                <a:blip r:embed="rId9"/>
                <a:stretch>
                  <a:fillRect l="-1085" t="-12121" b="-257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054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6A92D-B783-48A1-A1AA-8496F5B76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D60EBC4-D9C7-AD8E-9110-B30CD0E8B2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机器学习中的 </a:t>
            </a:r>
            <a:r>
              <a:rPr lang="fr-FR" altLang="ja-JP" b="1" dirty="0">
                <a:latin typeface="+mj-ea"/>
              </a:rPr>
              <a:t>Fourier</a:t>
            </a:r>
            <a:r>
              <a:rPr lang="zh-CN" altLang="en-US" b="1" dirty="0"/>
              <a:t>正交基 </a:t>
            </a:r>
            <a:r>
              <a:rPr lang="en-US" altLang="zh-CN" b="1" dirty="0"/>
              <a:t>(2)</a:t>
            </a:r>
            <a:endParaRPr lang="ja-JP" altLang="en-US" b="1" dirty="0">
              <a:latin typeface="+mj-ea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27AE7863-A7DE-0992-C26D-EAD3AB40F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083" y="1068452"/>
            <a:ext cx="11890917" cy="544068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7030A0"/>
                </a:solidFill>
              </a:rPr>
              <a:t>Fourier features / positional encoding</a:t>
            </a:r>
            <a:r>
              <a:rPr lang="zh-CN" altLang="en-US" dirty="0">
                <a:solidFill>
                  <a:srgbClr val="7030A0"/>
                </a:solidFill>
              </a:rPr>
              <a:t>，用来克服神经网络的 </a:t>
            </a:r>
            <a:r>
              <a:rPr lang="en-US" altLang="zh-CN" dirty="0">
                <a:solidFill>
                  <a:srgbClr val="7030A0"/>
                </a:solidFill>
              </a:rPr>
              <a:t>spectral bias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dirty="0"/>
              <a:t>标准 </a:t>
            </a:r>
            <a:r>
              <a:rPr lang="en-US" altLang="ja-JP" dirty="0"/>
              <a:t>MLP</a:t>
            </a:r>
            <a:r>
              <a:rPr lang="zh-CN" altLang="en-US" dirty="0"/>
              <a:t>（全连接神经网络）</a:t>
            </a:r>
            <a:r>
              <a:rPr lang="en-US" altLang="ja-JP" dirty="0"/>
              <a:t> </a:t>
            </a:r>
            <a:r>
              <a:rPr lang="ja-JP" altLang="en-US" dirty="0"/>
              <a:t>在低维坐标回归任务上学习高频函数很慢，而把输入先做一个 </a:t>
            </a:r>
            <a:r>
              <a:rPr lang="en-US" altLang="ja-JP" dirty="0"/>
              <a:t>Fourier feature mapping </a:t>
            </a:r>
            <a:r>
              <a:rPr lang="ja-JP" altLang="en-US" dirty="0"/>
              <a:t>后，</a:t>
            </a:r>
            <a:r>
              <a:rPr lang="en-US" altLang="ja-JP" dirty="0"/>
              <a:t>MLP </a:t>
            </a:r>
            <a:r>
              <a:rPr lang="ja-JP" altLang="en-US" dirty="0"/>
              <a:t>就更容易学到高频细节</a:t>
            </a:r>
            <a:r>
              <a:rPr lang="zh-CN" altLang="en-US" dirty="0"/>
              <a:t>（</a:t>
            </a:r>
            <a:r>
              <a:rPr lang="en-US" altLang="ja-JP" dirty="0" err="1"/>
              <a:t>Tancik</a:t>
            </a:r>
            <a:r>
              <a:rPr lang="en-US" altLang="ja-JP" dirty="0"/>
              <a:t> 2020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标准 </a:t>
            </a:r>
            <a:r>
              <a:rPr lang="en-US" altLang="zh-CN" dirty="0"/>
              <a:t>MLP </a:t>
            </a:r>
            <a:r>
              <a:rPr lang="zh-CN" altLang="en-US" dirty="0"/>
              <a:t>对高频成分存在明显的 </a:t>
            </a:r>
            <a:r>
              <a:rPr lang="en-US" altLang="zh-CN" dirty="0"/>
              <a:t>spectral bias</a:t>
            </a:r>
            <a:r>
              <a:rPr lang="zh-CN" altLang="en-US" dirty="0"/>
              <a:t>；而 </a:t>
            </a:r>
            <a:r>
              <a:rPr lang="en-US" altLang="zh-CN" dirty="0"/>
              <a:t>Fourier </a:t>
            </a:r>
            <a:r>
              <a:rPr lang="zh-CN" altLang="en-US" dirty="0"/>
              <a:t>特征映射能把有效 </a:t>
            </a:r>
            <a:r>
              <a:rPr lang="en-US" altLang="zh-CN" dirty="0"/>
              <a:t>NTK </a:t>
            </a:r>
            <a:r>
              <a:rPr lang="zh-CN" altLang="en-US" dirty="0"/>
              <a:t>变成带可调带宽的 </a:t>
            </a:r>
            <a:r>
              <a:rPr lang="en-US" altLang="zh-CN" dirty="0"/>
              <a:t>stationary kernel</a:t>
            </a:r>
            <a:r>
              <a:rPr lang="zh-CN" altLang="en-US" dirty="0"/>
              <a:t>，并显著改善低维回归任务的表现。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zh-CN" altLang="en-US" dirty="0"/>
              <a:t>该方法在图像回归、</a:t>
            </a:r>
            <a:r>
              <a:rPr lang="en-US" altLang="zh-CN" dirty="0"/>
              <a:t>3D </a:t>
            </a:r>
            <a:r>
              <a:rPr lang="zh-CN" altLang="en-US" dirty="0"/>
              <a:t>形状回归、</a:t>
            </a:r>
            <a:r>
              <a:rPr lang="en-US" altLang="zh-CN" dirty="0"/>
              <a:t>MRI </a:t>
            </a:r>
            <a:r>
              <a:rPr lang="zh-CN" altLang="en-US" dirty="0"/>
              <a:t>重建、逆渲染等任务上的效果</a:t>
            </a: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339C4BAA-EECF-B6D0-FD92-DE4E4EBB5F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083" y="3640252"/>
            <a:ext cx="6071908" cy="32177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7EF4CFF-EFD4-4606-C4C9-0B4952C6C1FA}"/>
                  </a:ext>
                </a:extLst>
              </p:cNvPr>
              <p:cNvSpPr txBox="1"/>
              <p:nvPr/>
            </p:nvSpPr>
            <p:spPr>
              <a:xfrm>
                <a:off x="6246541" y="3879185"/>
                <a:ext cx="5945459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1600" dirty="0">
                    <a:latin typeface="+mj-ea"/>
                    <a:ea typeface="+mj-ea"/>
                  </a:rPr>
                  <a:t>加上 </a:t>
                </a:r>
                <a:r>
                  <a:rPr lang="en-US" altLang="ja-JP" sz="1600" dirty="0">
                    <a:latin typeface="+mj-ea"/>
                    <a:ea typeface="+mj-ea"/>
                  </a:rPr>
                  <a:t>Fourier </a:t>
                </a:r>
                <a:r>
                  <a:rPr lang="ja-JP" altLang="en-US" sz="1600" dirty="0">
                    <a:latin typeface="+mj-ea"/>
                    <a:ea typeface="+mj-ea"/>
                  </a:rPr>
                  <a:t>特征后，输入不再是原始坐标 </a:t>
                </a:r>
                <a14:m>
                  <m:oMath xmlns:m="http://schemas.openxmlformats.org/officeDocument/2006/math">
                    <m:r>
                      <a:rPr lang="ja-JP" altLang="en-US" sz="1600" i="1">
                        <a:latin typeface="Cambria Math" panose="02040503050406030204" pitchFamily="18" charset="0"/>
                        <a:ea typeface="+mj-ea"/>
                      </a:rPr>
                      <m:t>𝑥</m:t>
                    </m:r>
                  </m:oMath>
                </a14:m>
                <a:r>
                  <a:rPr lang="ja-JP" altLang="en-US" sz="1600" dirty="0">
                    <a:latin typeface="+mj-ea"/>
                    <a:ea typeface="+mj-ea"/>
                  </a:rPr>
                  <a:t>，而是</a:t>
                </a:r>
                <a:endParaRPr lang="en-US" altLang="ja-JP" sz="1600" dirty="0">
                  <a:latin typeface="+mj-ea"/>
                  <a:ea typeface="+mj-ea"/>
                </a:endParaRPr>
              </a:p>
              <a:p>
                <a:endParaRPr lang="en-US" altLang="ja-JP" sz="1600" dirty="0">
                  <a:latin typeface="+mj-ea"/>
                  <a:ea typeface="+mj-ea"/>
                </a:endParaRPr>
              </a:p>
              <a:p>
                <a:endParaRPr lang="en-US" altLang="ja-JP" sz="1600" dirty="0">
                  <a:latin typeface="+mj-ea"/>
                  <a:ea typeface="+mj-ea"/>
                </a:endParaRPr>
              </a:p>
              <a:p>
                <a:endParaRPr lang="en-US" altLang="ja-JP" sz="1600" dirty="0">
                  <a:latin typeface="+mj-ea"/>
                  <a:ea typeface="+mj-ea"/>
                </a:endParaRPr>
              </a:p>
              <a:p>
                <a:endParaRPr lang="en-US" altLang="ja-JP" sz="1600" dirty="0">
                  <a:latin typeface="+mj-ea"/>
                  <a:ea typeface="+mj-ea"/>
                </a:endParaRPr>
              </a:p>
              <a:p>
                <a:r>
                  <a:rPr lang="zh-CN" altLang="en-US" sz="1600" dirty="0">
                    <a:latin typeface="+mj-ea"/>
                    <a:ea typeface="+mj-ea"/>
                  </a:rPr>
                  <a:t>网络相当于先把函数投到一组多频率正弦基上，再组合这些基去表示目标函数。</a:t>
                </a:r>
                <a:endParaRPr lang="en-US" altLang="zh-CN" sz="1600" dirty="0">
                  <a:latin typeface="+mj-ea"/>
                  <a:ea typeface="+mj-ea"/>
                </a:endParaRPr>
              </a:p>
              <a:p>
                <a:r>
                  <a:rPr lang="zh-CN" altLang="en-US" sz="1600" dirty="0">
                    <a:latin typeface="+mj-ea"/>
                    <a:ea typeface="+mj-ea"/>
                  </a:rPr>
                  <a:t>论文中指出，这能让网络学习更高频的函数，改善图像、场景、体密度等低维连续信号建模。</a:t>
                </a:r>
                <a:endParaRPr lang="en-US" altLang="ja-JP" sz="1600" dirty="0">
                  <a:latin typeface="+mj-ea"/>
                  <a:ea typeface="+mj-ea"/>
                </a:endParaRPr>
              </a:p>
              <a:p>
                <a:endParaRPr lang="ja-JP" altLang="en-US" sz="1600" dirty="0">
                  <a:latin typeface="+mj-ea"/>
                  <a:ea typeface="+mj-ea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7EF4CFF-EFD4-4606-C4C9-0B4952C6C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6541" y="3879185"/>
                <a:ext cx="5945459" cy="2554545"/>
              </a:xfrm>
              <a:prstGeom prst="rect">
                <a:avLst/>
              </a:prstGeom>
              <a:blipFill>
                <a:blip r:embed="rId4"/>
                <a:stretch>
                  <a:fillRect l="-615" t="-9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図 8">
            <a:extLst>
              <a:ext uri="{FF2B5EF4-FFF2-40B4-BE49-F238E27FC236}">
                <a16:creationId xmlns:a16="http://schemas.microsoft.com/office/drawing/2014/main" id="{BEA3D637-9F7F-8877-A48C-9CA5EFE2A6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991" y="4457802"/>
            <a:ext cx="5724780" cy="361185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343F792-19D8-A334-765D-57EE2B552F67}"/>
              </a:ext>
            </a:extLst>
          </p:cNvPr>
          <p:cNvSpPr txBox="1"/>
          <p:nvPr/>
        </p:nvSpPr>
        <p:spPr>
          <a:xfrm>
            <a:off x="5703476" y="117988"/>
            <a:ext cx="664092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补高频表达能力。</a:t>
            </a:r>
            <a:endParaRPr lang="en-US" altLang="zh-CN" sz="1600" dirty="0">
              <a:latin typeface="+mj-ea"/>
              <a:ea typeface="+mj-ea"/>
            </a:endParaRPr>
          </a:p>
          <a:p>
            <a:r>
              <a:rPr lang="en-US" altLang="zh-CN" sz="1600" dirty="0">
                <a:latin typeface="+mj-ea"/>
                <a:ea typeface="+mj-ea"/>
              </a:rPr>
              <a:t>Fourier features</a:t>
            </a:r>
            <a:r>
              <a:rPr lang="zh-CN" altLang="en-US" sz="1600" dirty="0">
                <a:latin typeface="+mj-ea"/>
                <a:ea typeface="+mj-ea"/>
              </a:rPr>
              <a:t>解决坐标型</a:t>
            </a:r>
            <a:r>
              <a:rPr lang="en-US" altLang="zh-CN" sz="1600" dirty="0">
                <a:latin typeface="+mj-ea"/>
                <a:ea typeface="+mj-ea"/>
              </a:rPr>
              <a:t>MLP</a:t>
            </a:r>
            <a:r>
              <a:rPr lang="zh-CN" altLang="en-US" sz="1600" dirty="0">
                <a:latin typeface="+mj-ea"/>
                <a:ea typeface="+mj-ea"/>
              </a:rPr>
              <a:t>难学高频细节的问题，对隐式表示、</a:t>
            </a:r>
            <a:r>
              <a:rPr lang="en-US" altLang="zh-CN" sz="1600" dirty="0" err="1">
                <a:latin typeface="+mj-ea"/>
                <a:ea typeface="+mj-ea"/>
              </a:rPr>
              <a:t>NeRF</a:t>
            </a:r>
            <a:r>
              <a:rPr lang="en-US" altLang="zh-CN" sz="1600" dirty="0">
                <a:latin typeface="+mj-ea"/>
                <a:ea typeface="+mj-ea"/>
              </a:rPr>
              <a:t> </a:t>
            </a:r>
            <a:r>
              <a:rPr lang="zh-CN" altLang="en-US" sz="1600" dirty="0">
                <a:latin typeface="+mj-ea"/>
                <a:ea typeface="+mj-ea"/>
              </a:rPr>
              <a:t>一类方法尤其重要</a:t>
            </a:r>
            <a:endParaRPr lang="ja-JP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04575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DC561-E7E0-68FC-50CF-1228C1134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264C810-7F3D-A9E6-366F-485409546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机器学习中的 </a:t>
            </a:r>
            <a:r>
              <a:rPr lang="fr-FR" altLang="ja-JP" b="1" dirty="0">
                <a:latin typeface="+mj-ea"/>
              </a:rPr>
              <a:t>Fourier</a:t>
            </a:r>
            <a:r>
              <a:rPr lang="zh-CN" altLang="en-US" b="1" dirty="0"/>
              <a:t>正交基 </a:t>
            </a:r>
            <a:r>
              <a:rPr lang="en-US" altLang="zh-CN" b="1" dirty="0"/>
              <a:t>(3)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CA8ED24-C0DC-077D-AD55-386AEE9D29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1083" y="1068452"/>
                <a:ext cx="11890917" cy="5440680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solidFill>
                      <a:srgbClr val="7030A0"/>
                    </a:solidFill>
                  </a:rPr>
                  <a:t>Fourier Neural Operator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（</a:t>
                </a:r>
                <a:r>
                  <a:rPr lang="en-US" altLang="zh-CN" dirty="0">
                    <a:solidFill>
                      <a:srgbClr val="7030A0"/>
                    </a:solidFill>
                  </a:rPr>
                  <a:t>FNO</a:t>
                </a:r>
                <a:r>
                  <a:rPr lang="zh-CN" altLang="en-US" dirty="0">
                    <a:solidFill>
                      <a:srgbClr val="7030A0"/>
                    </a:solidFill>
                  </a:rPr>
                  <a:t>）</a:t>
                </a:r>
                <a:r>
                  <a:rPr lang="zh-CN" altLang="en-US" dirty="0"/>
                  <a:t>：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用 </a:t>
                </a:r>
                <a:r>
                  <a:rPr lang="en-US" altLang="zh-CN" dirty="0"/>
                  <a:t>Fourier </a:t>
                </a:r>
                <a:r>
                  <a:rPr lang="zh-CN" altLang="en-US" dirty="0"/>
                  <a:t>空间参数化积分核，直接学习“函数到函数”的映射，目标是求解参数化 </a:t>
                </a:r>
                <a:r>
                  <a:rPr lang="en-US" altLang="zh-CN" dirty="0"/>
                  <a:t>PDE </a:t>
                </a:r>
                <a:r>
                  <a:rPr lang="zh-CN" altLang="en-US" dirty="0"/>
                  <a:t>家族。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将神经网络从有限维欧氏空间的映射推广到函数空间的映射；</a:t>
                </a: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在 </a:t>
                </a:r>
                <a:r>
                  <a:rPr lang="en-US" altLang="zh-CN" dirty="0"/>
                  <a:t>PDE </a:t>
                </a:r>
                <a:r>
                  <a:rPr lang="zh-CN" altLang="en-US" dirty="0"/>
                  <a:t>任务上，</a:t>
                </a:r>
                <a:r>
                  <a:rPr lang="en-US" altLang="zh-CN" dirty="0"/>
                  <a:t>FNO </a:t>
                </a:r>
                <a:r>
                  <a:rPr lang="zh-CN" altLang="en-US" dirty="0"/>
                  <a:t>直接学习从函数型输入到解函数的算子。（</a:t>
                </a:r>
                <a:r>
                  <a:rPr lang="en-US" altLang="zh-CN" dirty="0"/>
                  <a:t>Liu 2021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传统监督学习是学</a:t>
                </a:r>
                <a14:m>
                  <m:oMath xmlns:m="http://schemas.openxmlformats.org/officeDocument/2006/math">
                    <m:r>
                      <a:rPr lang="zh-CN" altLang="en-US" sz="1800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1800" b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zh-CN" altLang="en-US" sz="1800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1800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而 </a:t>
                </a:r>
                <a:r>
                  <a:rPr lang="en-US" altLang="zh-CN" sz="1800" dirty="0">
                    <a:solidFill>
                      <a:schemeClr val="accent1">
                        <a:lumMod val="50000"/>
                      </a:schemeClr>
                    </a:solidFill>
                  </a:rPr>
                  <a:t>FNO </a:t>
                </a: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学的是</a:t>
                </a:r>
                <a14:m>
                  <m:oMath xmlns:m="http://schemas.openxmlformats.org/officeDocument/2006/math">
                    <m:r>
                      <a:rPr lang="zh-CN" altLang="en-US" sz="1800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b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zh-CN" altLang="en-US" sz="1800" b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zh-CN" altLang="en-US" sz="1800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𝒢</m:t>
                    </m:r>
                    <m:d>
                      <m:dPr>
                        <m:ctrlPr>
                          <a:rPr lang="zh-CN" altLang="en-US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b="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d>
                      <m:dPr>
                        <m:ctrlPr>
                          <a:rPr lang="zh-CN" altLang="en-US" sz="1800" i="1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1800" b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  <m:r>
                      <a:rPr lang="zh-CN" altLang="en-US" sz="1800" b="0" i="1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也就是函数到函数的映射。</a:t>
                </a:r>
                <a:endParaRPr lang="en-US" altLang="zh-CN" sz="18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之所以要去 </a:t>
                </a:r>
                <a:r>
                  <a:rPr lang="en-US" altLang="zh-CN" sz="1800" dirty="0">
                    <a:solidFill>
                      <a:schemeClr val="accent1">
                        <a:lumMod val="50000"/>
                      </a:schemeClr>
                    </a:solidFill>
                  </a:rPr>
                  <a:t>Fourier </a:t>
                </a: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域，是因为很多 </a:t>
                </a:r>
                <a:r>
                  <a:rPr lang="en-US" altLang="zh-CN" sz="1800" dirty="0">
                    <a:solidFill>
                      <a:schemeClr val="accent1">
                        <a:lumMod val="50000"/>
                      </a:schemeClr>
                    </a:solidFill>
                  </a:rPr>
                  <a:t>PDE </a:t>
                </a: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的关键结构在频域里更稀疏、更容易截断、更容易做全局混合</a:t>
                </a:r>
                <a:r>
                  <a:rPr lang="en-US" altLang="zh-CN" sz="1800" dirty="0">
                    <a:solidFill>
                      <a:schemeClr val="accent1">
                        <a:lumMod val="50000"/>
                      </a:schemeClr>
                    </a:solidFill>
                  </a:rPr>
                  <a:t>FNO </a:t>
                </a: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不是把 </a:t>
                </a:r>
                <a:r>
                  <a:rPr lang="en-US" altLang="zh-CN" sz="1800" dirty="0">
                    <a:solidFill>
                      <a:schemeClr val="accent1">
                        <a:lumMod val="50000"/>
                      </a:schemeClr>
                    </a:solidFill>
                  </a:rPr>
                  <a:t>Fourier </a:t>
                </a: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级数当装饰，而是把 </a:t>
                </a:r>
                <a:r>
                  <a:rPr lang="en-US" altLang="zh-CN" sz="1800" dirty="0">
                    <a:solidFill>
                      <a:schemeClr val="accent1">
                        <a:lumMod val="50000"/>
                      </a:schemeClr>
                    </a:solidFill>
                  </a:rPr>
                  <a:t>Fourier </a:t>
                </a:r>
                <a:r>
                  <a:rPr lang="zh-CN" altLang="en-US" sz="1800" dirty="0">
                    <a:solidFill>
                      <a:schemeClr val="accent1">
                        <a:lumMod val="50000"/>
                      </a:schemeClr>
                    </a:solidFill>
                  </a:rPr>
                  <a:t>模式当成算子学习里的工作坐标系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论文在 </a:t>
                </a:r>
                <a:r>
                  <a:rPr lang="en-US" altLang="zh-CN" dirty="0"/>
                  <a:t>Burgers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Darcy</a:t>
                </a:r>
                <a:r>
                  <a:rPr lang="zh-CN" altLang="en-US" dirty="0"/>
                  <a:t>、</a:t>
                </a:r>
                <a:r>
                  <a:rPr lang="en-US" altLang="zh-CN" dirty="0"/>
                  <a:t>Navier–Stokes </a:t>
                </a:r>
                <a:r>
                  <a:rPr lang="zh-CN" altLang="en-US" dirty="0"/>
                  <a:t>上实验，报告了固定分辨率下优于先前学习型求解器的精度，以及相对传统 </a:t>
                </a:r>
                <a:r>
                  <a:rPr lang="en-US" altLang="zh-CN" dirty="0"/>
                  <a:t>PDE </a:t>
                </a:r>
                <a:r>
                  <a:rPr lang="zh-CN" altLang="en-US" dirty="0"/>
                  <a:t>求解器最高可达三个数量级的速度优势，实现了湍流的 </a:t>
                </a:r>
                <a:r>
                  <a:rPr lang="en-US" altLang="zh-CN" dirty="0"/>
                  <a:t>zero-shot super-resolution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zh-CN" altLang="en-US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5CA8ED24-C0DC-077D-AD55-386AEE9D29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1083" y="1068452"/>
                <a:ext cx="11890917" cy="5440680"/>
              </a:xfrm>
              <a:blipFill>
                <a:blip r:embed="rId3"/>
                <a:stretch>
                  <a:fillRect l="-513" t="-336" r="-1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7099B829-857A-F9EA-D9AB-84D2CCA03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723503"/>
            <a:ext cx="5098015" cy="213208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3299246-DD7F-E621-34B5-238531E407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061" y="4558861"/>
            <a:ext cx="4626663" cy="229913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7DB8B9-D7E8-F72D-E5DB-C9ED197E75E2}"/>
              </a:ext>
            </a:extLst>
          </p:cNvPr>
          <p:cNvSpPr txBox="1"/>
          <p:nvPr/>
        </p:nvSpPr>
        <p:spPr>
          <a:xfrm>
            <a:off x="5339080" y="304800"/>
            <a:ext cx="6852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+mj-ea"/>
                <a:ea typeface="+mj-ea"/>
              </a:rPr>
              <a:t>做函数空间上的算子学习。</a:t>
            </a:r>
            <a:br>
              <a:rPr lang="zh-CN" altLang="en-US" sz="1600" dirty="0">
                <a:latin typeface="+mj-ea"/>
                <a:ea typeface="+mj-ea"/>
              </a:rPr>
            </a:br>
            <a:r>
              <a:rPr lang="en-US" altLang="zh-CN" sz="1600" dirty="0">
                <a:latin typeface="+mj-ea"/>
                <a:ea typeface="+mj-ea"/>
              </a:rPr>
              <a:t>FNO </a:t>
            </a:r>
            <a:r>
              <a:rPr lang="zh-CN" altLang="en-US" sz="1600" dirty="0">
                <a:latin typeface="+mj-ea"/>
                <a:ea typeface="+mj-ea"/>
              </a:rPr>
              <a:t>直接学习 </a:t>
            </a:r>
            <a:r>
              <a:rPr lang="en-US" altLang="zh-CN" sz="1600" dirty="0">
                <a:latin typeface="+mj-ea"/>
                <a:ea typeface="+mj-ea"/>
              </a:rPr>
              <a:t>PDE </a:t>
            </a:r>
            <a:r>
              <a:rPr lang="zh-CN" altLang="en-US" sz="1600" dirty="0">
                <a:latin typeface="+mj-ea"/>
                <a:ea typeface="+mj-ea"/>
              </a:rPr>
              <a:t>解算子，</a:t>
            </a:r>
            <a:r>
              <a:rPr lang="en-US" altLang="zh-CN" sz="1600" dirty="0">
                <a:latin typeface="+mj-ea"/>
                <a:ea typeface="+mj-ea"/>
              </a:rPr>
              <a:t>Fourier </a:t>
            </a:r>
            <a:r>
              <a:rPr lang="zh-CN" altLang="en-US" sz="1600" dirty="0">
                <a:latin typeface="+mj-ea"/>
                <a:ea typeface="+mj-ea"/>
              </a:rPr>
              <a:t>域让全局耦合与频率截断都更自然</a:t>
            </a:r>
            <a:endParaRPr lang="ja-JP" altLang="en-US" sz="16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815298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B288C-4EB6-8AD5-F6CB-C5E06206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9B8955C4-D531-32B3-C5E1-DBAC54F70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机器学习中的 </a:t>
            </a:r>
            <a:r>
              <a:rPr lang="fr-FR" altLang="ja-JP" b="1" dirty="0">
                <a:latin typeface="+mj-ea"/>
              </a:rPr>
              <a:t>Fourier</a:t>
            </a:r>
            <a:r>
              <a:rPr lang="zh-CN" altLang="en-US" b="1" dirty="0"/>
              <a:t>正交基 </a:t>
            </a:r>
            <a:r>
              <a:rPr lang="en-US" altLang="zh-CN" b="1" dirty="0"/>
              <a:t>(4)</a:t>
            </a:r>
            <a:endParaRPr lang="ja-JP" altLang="en-US" b="1" dirty="0">
              <a:latin typeface="+mj-ea"/>
            </a:endParaRP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E704FD6A-8BE2-B2DD-C607-C67A560DE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083" y="1068452"/>
            <a:ext cx="7593237" cy="5440680"/>
          </a:xfrm>
        </p:spPr>
        <p:txBody>
          <a:bodyPr/>
          <a:lstStyle/>
          <a:p>
            <a:pPr marL="0" indent="0">
              <a:lnSpc>
                <a:spcPct val="120000"/>
              </a:lnSpc>
              <a:buNone/>
            </a:pPr>
            <a:r>
              <a:rPr lang="ja-JP" altLang="en-US" dirty="0">
                <a:solidFill>
                  <a:srgbClr val="7030A0"/>
                </a:solidFill>
              </a:rPr>
              <a:t>用 </a:t>
            </a:r>
            <a:r>
              <a:rPr lang="en-US" altLang="zh-CN" dirty="0">
                <a:solidFill>
                  <a:srgbClr val="7030A0"/>
                </a:solidFill>
              </a:rPr>
              <a:t>Fourier </a:t>
            </a:r>
            <a:r>
              <a:rPr lang="ja-JP" altLang="en-US" dirty="0">
                <a:solidFill>
                  <a:srgbClr val="7030A0"/>
                </a:solidFill>
              </a:rPr>
              <a:t>变换替代或弱化注意力机制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dirty="0"/>
              <a:t>在 </a:t>
            </a:r>
            <a:r>
              <a:rPr lang="en-US" altLang="ja-JP" dirty="0"/>
              <a:t>Transformer encoder </a:t>
            </a:r>
            <a:r>
              <a:rPr lang="ja-JP" altLang="en-US" dirty="0"/>
              <a:t>中，用无参数的 </a:t>
            </a:r>
            <a:r>
              <a:rPr lang="en-US" altLang="ja-JP" dirty="0"/>
              <a:t>Fourier Transform </a:t>
            </a:r>
            <a:r>
              <a:rPr lang="ja-JP" altLang="en-US" dirty="0"/>
              <a:t>代替 </a:t>
            </a:r>
            <a:r>
              <a:rPr lang="en-US" altLang="ja-JP" dirty="0"/>
              <a:t>self-attention </a:t>
            </a:r>
            <a:r>
              <a:rPr lang="ja-JP" altLang="en-US" dirty="0"/>
              <a:t>的 </a:t>
            </a:r>
            <a:r>
              <a:rPr lang="en-US" altLang="ja-JP" dirty="0"/>
              <a:t>token mixing</a:t>
            </a:r>
            <a:r>
              <a:rPr lang="ja-JP" altLang="en-US" dirty="0"/>
              <a:t>。</a:t>
            </a:r>
            <a:endParaRPr lang="en-US" altLang="ja-JP" dirty="0"/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dirty="0"/>
              <a:t>这种替换在 </a:t>
            </a:r>
            <a:r>
              <a:rPr lang="en-US" altLang="ja-JP" dirty="0"/>
              <a:t>GLUE </a:t>
            </a:r>
            <a:r>
              <a:rPr lang="ja-JP" altLang="en-US" dirty="0"/>
              <a:t>上达到 </a:t>
            </a:r>
            <a:r>
              <a:rPr lang="en-US" altLang="ja-JP" dirty="0"/>
              <a:t>BERT </a:t>
            </a:r>
            <a:r>
              <a:rPr lang="ja-JP" altLang="en-US" dirty="0"/>
              <a:t>对应模型约 </a:t>
            </a:r>
            <a:r>
              <a:rPr lang="en-US" altLang="ja-JP" dirty="0"/>
              <a:t>92–97% </a:t>
            </a:r>
            <a:r>
              <a:rPr lang="ja-JP" altLang="en-US" dirty="0"/>
              <a:t>的准确率，同时在标准 </a:t>
            </a:r>
            <a:r>
              <a:rPr lang="en-US" altLang="ja-JP" dirty="0"/>
              <a:t>512 </a:t>
            </a:r>
            <a:r>
              <a:rPr lang="ja-JP" altLang="en-US" dirty="0"/>
              <a:t>长度下 </a:t>
            </a:r>
            <a:r>
              <a:rPr lang="en-US" altLang="ja-JP" dirty="0"/>
              <a:t>GPU </a:t>
            </a:r>
            <a:r>
              <a:rPr lang="ja-JP" altLang="en-US" dirty="0"/>
              <a:t>训练快约 </a:t>
            </a:r>
            <a:r>
              <a:rPr lang="en-US" altLang="ja-JP" dirty="0"/>
              <a:t>80%</a:t>
            </a:r>
            <a:r>
              <a:rPr lang="ja-JP" altLang="en-US" dirty="0"/>
              <a:t>，</a:t>
            </a:r>
            <a:r>
              <a:rPr lang="en-US" altLang="ja-JP" dirty="0"/>
              <a:t>TPU </a:t>
            </a:r>
            <a:r>
              <a:rPr lang="ja-JP" altLang="en-US" dirty="0"/>
              <a:t>快约 </a:t>
            </a:r>
            <a:r>
              <a:rPr lang="en-US" altLang="ja-JP" dirty="0"/>
              <a:t>70%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ja-JP" altLang="en-US" dirty="0"/>
              <a:t>保留少量 </a:t>
            </a:r>
            <a:r>
              <a:rPr lang="en-US" altLang="ja-JP" dirty="0"/>
              <a:t>attention </a:t>
            </a:r>
            <a:r>
              <a:rPr lang="ja-JP" altLang="en-US" dirty="0"/>
              <a:t>层的 </a:t>
            </a:r>
            <a:r>
              <a:rPr lang="en-US" altLang="ja-JP" dirty="0"/>
              <a:t>hybrid </a:t>
            </a:r>
            <a:r>
              <a:rPr lang="ja-JP" altLang="en-US" dirty="0"/>
              <a:t>版本可达到 </a:t>
            </a:r>
            <a:r>
              <a:rPr lang="en-US" altLang="ja-JP" dirty="0"/>
              <a:t>BERT </a:t>
            </a:r>
            <a:r>
              <a:rPr lang="ja-JP" altLang="en-US" dirty="0"/>
              <a:t>约 </a:t>
            </a:r>
            <a:r>
              <a:rPr lang="en-US" altLang="ja-JP" dirty="0"/>
              <a:t>97–99% </a:t>
            </a:r>
            <a:r>
              <a:rPr lang="ja-JP" altLang="en-US" dirty="0"/>
              <a:t>的准确率，仍更快</a:t>
            </a:r>
            <a:r>
              <a:rPr lang="zh-CN" altLang="en-US" dirty="0"/>
              <a:t>（</a:t>
            </a:r>
            <a:r>
              <a:rPr lang="nl-NL" altLang="ja-JP" dirty="0"/>
              <a:t>Lee-Thorp 2022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lnSpc>
                <a:spcPct val="110000"/>
              </a:lnSpc>
              <a:buNone/>
            </a:pPr>
            <a:endParaRPr lang="en-US" altLang="zh-CN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序列中的 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</a:rPr>
              <a:t>token 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先做频域混合，再交给后续 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</a:rPr>
              <a:t>MLP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。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不再显式学习所有 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</a:rPr>
              <a:t>token 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两两交互，而是借助 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</a:rPr>
              <a:t>Fourier 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变换一次性做全局线性混合。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可以这样理解：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</a:rPr>
              <a:t>attention 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是在原始序列坐标系里建模长程关系，</a:t>
            </a:r>
            <a:r>
              <a:rPr lang="en-US" altLang="zh-CN" sz="1800" dirty="0">
                <a:solidFill>
                  <a:schemeClr val="accent1">
                    <a:lumMod val="50000"/>
                  </a:schemeClr>
                </a:solidFill>
              </a:rPr>
              <a:t>FNet </a:t>
            </a:r>
            <a:r>
              <a:rPr lang="zh-CN" altLang="en-US" sz="1800" dirty="0">
                <a:solidFill>
                  <a:schemeClr val="accent1">
                    <a:lumMod val="50000"/>
                  </a:schemeClr>
                </a:solidFill>
              </a:rPr>
              <a:t>则改在频率坐标系里做全局混合。</a:t>
            </a:r>
            <a:endParaRPr lang="en-US" altLang="zh-CN" sz="18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endParaRPr lang="zh-CN" alt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113C404-24FD-22ED-4CEC-6FD54A073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340" y="1528748"/>
            <a:ext cx="3942857" cy="485714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CEA30C7-B6FC-3CEE-4E5C-667A43BA5D84}"/>
              </a:ext>
            </a:extLst>
          </p:cNvPr>
          <p:cNvSpPr txBox="1"/>
          <p:nvPr/>
        </p:nvSpPr>
        <p:spPr>
          <a:xfrm>
            <a:off x="5308599" y="159603"/>
            <a:ext cx="69646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latin typeface="+mj-ea"/>
                <a:ea typeface="+mj-ea"/>
              </a:rPr>
              <a:t>做高效的全局 </a:t>
            </a:r>
            <a:r>
              <a:rPr lang="en-US" altLang="ja-JP" sz="1600" dirty="0">
                <a:latin typeface="+mj-ea"/>
                <a:ea typeface="+mj-ea"/>
              </a:rPr>
              <a:t>token mixing</a:t>
            </a:r>
            <a:r>
              <a:rPr lang="ja-JP" altLang="en-US" sz="1600" dirty="0">
                <a:latin typeface="+mj-ea"/>
                <a:ea typeface="+mj-ea"/>
              </a:rPr>
              <a:t>。</a:t>
            </a:r>
            <a:br>
              <a:rPr lang="en-US" altLang="ja-JP" sz="1600" dirty="0">
                <a:latin typeface="+mj-ea"/>
                <a:ea typeface="+mj-ea"/>
              </a:rPr>
            </a:br>
            <a:r>
              <a:rPr lang="en-US" altLang="ja-JP" sz="1600" dirty="0">
                <a:latin typeface="+mj-ea"/>
                <a:ea typeface="+mj-ea"/>
              </a:rPr>
              <a:t>FNet</a:t>
            </a:r>
            <a:r>
              <a:rPr lang="ja-JP" altLang="en-US" sz="1600" dirty="0">
                <a:latin typeface="+mj-ea"/>
                <a:ea typeface="+mj-ea"/>
              </a:rPr>
              <a:t>说明在某些 </a:t>
            </a:r>
            <a:r>
              <a:rPr lang="en-US" altLang="ja-JP" sz="1600" dirty="0">
                <a:latin typeface="+mj-ea"/>
                <a:ea typeface="+mj-ea"/>
              </a:rPr>
              <a:t>NLP </a:t>
            </a:r>
            <a:r>
              <a:rPr lang="ja-JP" altLang="en-US" sz="1600" dirty="0">
                <a:latin typeface="+mj-ea"/>
                <a:ea typeface="+mj-ea"/>
              </a:rPr>
              <a:t>任务里，</a:t>
            </a:r>
            <a:r>
              <a:rPr lang="en-US" altLang="ja-JP" sz="1600" dirty="0">
                <a:latin typeface="+mj-ea"/>
                <a:ea typeface="+mj-ea"/>
              </a:rPr>
              <a:t>Fourier mixing </a:t>
            </a:r>
            <a:r>
              <a:rPr lang="ja-JP" altLang="en-US" sz="1600" dirty="0">
                <a:latin typeface="+mj-ea"/>
                <a:ea typeface="+mj-ea"/>
              </a:rPr>
              <a:t>可以部分替代</a:t>
            </a:r>
            <a:r>
              <a:rPr lang="en-US" altLang="ja-JP" sz="1600" dirty="0">
                <a:latin typeface="+mj-ea"/>
                <a:ea typeface="+mj-ea"/>
              </a:rPr>
              <a:t>attention</a:t>
            </a:r>
            <a:r>
              <a:rPr lang="ja-JP" altLang="en-US" sz="1600" dirty="0">
                <a:latin typeface="+mj-ea"/>
                <a:ea typeface="+mj-ea"/>
              </a:rPr>
              <a:t>，带来明显速度优势</a:t>
            </a:r>
          </a:p>
        </p:txBody>
      </p:sp>
    </p:spTree>
    <p:extLst>
      <p:ext uri="{BB962C8B-B14F-4D97-AF65-F5344CB8AC3E}">
        <p14:creationId xmlns:p14="http://schemas.microsoft.com/office/powerpoint/2010/main" val="37381812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569B2-96BF-BDBE-DBBE-C3F180571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5E09A041-F102-1820-5E8F-8EE30A0E67B1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>
                    <a:latin typeface="+mj-ea"/>
                  </a:rPr>
                  <a:t>机器学习中的</a:t>
                </a:r>
                <a14:m>
                  <m:oMath xmlns:m="http://schemas.openxmlformats.org/officeDocument/2006/math"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b="1" dirty="0">
                    <a:latin typeface="+mj-ea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ja-JP" altLang="ja-JP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ja-JP" altLang="ja-JP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ja-JP" altLang="ja-JP" dirty="0">
                    <a:latin typeface="Arial" panose="020B0604020202020204" pitchFamily="34" charset="0"/>
                  </a:rPr>
                  <a:t>​</a:t>
                </a:r>
                <a:r>
                  <a:rPr lang="en-US" altLang="ja-JP" dirty="0">
                    <a:latin typeface="Arial" panose="020B0604020202020204" pitchFamily="34" charset="0"/>
                  </a:rPr>
                  <a:t> </a:t>
                </a:r>
                <a:endParaRPr lang="ja-JP" altLang="en-US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5E09A041-F102-1820-5E8F-8EE30A0E67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442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C28A12-88F1-E9D4-7897-8BF58506E9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997332"/>
                <a:ext cx="12348117" cy="544068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ja-JP" altLang="ja-JP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表示连续函数空间 ，常作为目标函数或假设函数的自然背景空间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sz="1800" dirty="0"/>
                  <a:t>例：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一维回归：房价随面积变化的函数 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时间序列中的平滑趋势函数 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传感器读数随时间变化的标定函数 </a:t>
                </a:r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温度、浓度、速度等物理量的预测函数</a:t>
                </a: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r>
                  <a:rPr lang="zh-CN" altLang="en-US" dirty="0"/>
                  <a:t>讨论神经网络、核方法、算子学习对连续函数的逼近 （</a:t>
                </a:r>
                <a:r>
                  <a:rPr lang="ja-JP" altLang="ja-JP" sz="1800" dirty="0">
                    <a:latin typeface="Arial" panose="020B0604020202020204" pitchFamily="34" charset="0"/>
                  </a:rPr>
                  <a:t>多项式逼近 </a:t>
                </a:r>
                <a:r>
                  <a:rPr lang="zh-CN" altLang="en-US" sz="1800" dirty="0">
                    <a:latin typeface="Arial" panose="020B0604020202020204" pitchFamily="34" charset="0"/>
                  </a:rPr>
                  <a:t>，</a:t>
                </a:r>
                <a:r>
                  <a:rPr lang="ja-JP" altLang="ja-JP" sz="1800" dirty="0">
                    <a:latin typeface="Arial" panose="020B0604020202020204" pitchFamily="34" charset="0"/>
                  </a:rPr>
                  <a:t>神经网络逼近</a:t>
                </a:r>
                <a:r>
                  <a:rPr lang="zh-CN" altLang="en-US" sz="1800" dirty="0">
                    <a:latin typeface="Arial" panose="020B0604020202020204" pitchFamily="34" charset="0"/>
                  </a:rPr>
                  <a:t>，</a:t>
                </a:r>
                <a:r>
                  <a:rPr lang="ja-JP" altLang="ja-JP" sz="1800" dirty="0">
                    <a:latin typeface="Arial" panose="020B0604020202020204" pitchFamily="34" charset="0"/>
                  </a:rPr>
                  <a:t>样条逼近</a:t>
                </a:r>
                <a:r>
                  <a:rPr lang="zh-CN" altLang="en-US" sz="1800" dirty="0">
                    <a:latin typeface="Arial" panose="020B0604020202020204" pitchFamily="34" charset="0"/>
                  </a:rPr>
                  <a:t>，</a:t>
                </a:r>
                <a:r>
                  <a:rPr lang="ja-JP" altLang="ja-JP" sz="1800" dirty="0">
                    <a:latin typeface="Arial" panose="020B0604020202020204" pitchFamily="34" charset="0"/>
                  </a:rPr>
                  <a:t>Fourier 逼近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PDE surrogate</a:t>
                </a:r>
                <a:r>
                  <a:rPr lang="zh-CN" altLang="en-US" dirty="0"/>
                  <a:t>、神经算子、物理系统学习里，常出现：输入：系数函数、边界条件函数；输出：解函数</a:t>
                </a:r>
              </a:p>
              <a:p>
                <a:pPr marL="0" lvl="0" indent="0">
                  <a:spcBef>
                    <a:spcPct val="0"/>
                  </a:spcBef>
                  <a:buClrTx/>
                  <a:buNone/>
                </a:pPr>
                <a:endParaRPr lang="zh-CN" altLang="en-US" dirty="0"/>
              </a:p>
              <a:p>
                <a:pPr marL="0" indent="0">
                  <a:buNone/>
                </a:pPr>
                <a:endParaRPr lang="en-US" altLang="zh-CN" sz="1000" b="1" dirty="0"/>
              </a:p>
              <a:p>
                <a:pPr marL="0" indent="0">
                  <a:buNone/>
                </a:pPr>
                <a:r>
                  <a:rPr lang="zh-CN" altLang="en-US" b="1" dirty="0"/>
                  <a:t>多项式空间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​⊂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i="1" dirty="0" err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ja-JP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dirty="0"/>
                  <a:t>是一个有限维函数空间 ，常用于多项式回归、多项式特征、多项式核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适合作为实际可计算的模型空间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机器学习中常见的思路是：在大的函数空间中提出问题，在较小的有限维函数空间中进行近似学习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多项式回归本质上就是：在有限维函数空间里做最小二乘拟合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许多经典机器学习方法里，会把输入扩展成多项式特征，再做线性回归、逻辑回归、</a:t>
                </a:r>
                <a:r>
                  <a:rPr lang="en-US" altLang="zh-CN" dirty="0"/>
                  <a:t>SVM </a:t>
                </a:r>
                <a:r>
                  <a:rPr lang="zh-CN" altLang="en-US" dirty="0"/>
                  <a:t>等</a:t>
                </a:r>
                <a:endParaRPr lang="en-US" altLang="zh-CN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局部上可以用低阶多项式近似（二阶优化近似 ；局部回归 ；</a:t>
                </a:r>
                <a:r>
                  <a:rPr lang="en-US" altLang="zh-CN" dirty="0"/>
                  <a:t>surrogate model </a:t>
                </a:r>
                <a:r>
                  <a:rPr lang="zh-CN" altLang="en-US" dirty="0"/>
                  <a:t>；</a:t>
                </a:r>
                <a:r>
                  <a:rPr lang="en-US" altLang="zh-CN" dirty="0"/>
                  <a:t>response surface method </a:t>
                </a:r>
                <a:r>
                  <a:rPr lang="zh-CN" altLang="en-US" dirty="0"/>
                  <a:t>；一些元模型、代理模型 ）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BC28A12-88F1-E9D4-7897-8BF58506E9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997332"/>
                <a:ext cx="12348117" cy="5440680"/>
              </a:xfrm>
              <a:blipFill>
                <a:blip r:embed="rId4"/>
                <a:stretch>
                  <a:fillRect l="-494" t="-1009" b="-68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934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A7375-0DD6-DF07-C078-EBA73866F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81588AC-64A7-BC2C-AC31-041E6EF2A4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补充：范畴论视角下的有限维、无限维与基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496FC01-7A4D-C2B9-FC89-110EC4840B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1198880"/>
                <a:ext cx="12348117" cy="52391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线性代数中的说法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在线性代数里：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有限维</a:t>
                </a:r>
                <a:r>
                  <a:rPr lang="zh-CN" altLang="en-US" dirty="0"/>
                  <a:t>：存在有限个基向量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无限维</a:t>
                </a:r>
                <a:r>
                  <a:rPr lang="zh-CN" altLang="en-US" dirty="0"/>
                  <a:t>：任何基都必须有无穷多个元素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b="1" dirty="0"/>
                  <a:t>基</a:t>
                </a:r>
                <a:r>
                  <a:rPr lang="zh-CN" altLang="en-US" dirty="0"/>
                  <a:t>：每个向量都能唯一写成有限线性组合。例如：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表示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是一个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维向量空间；</a:t>
                </a:r>
                <a:endParaRPr lang="en-US" altLang="zh-CN" dirty="0"/>
              </a:p>
              <a:p>
                <a:pPr marL="457200" lvl="1" indent="0">
                  <a:buNone/>
                </a:pPr>
                <a:br>
                  <a:rPr lang="zh-CN" altLang="en-US" dirty="0"/>
                </a:br>
                <a:r>
                  <a:rPr lang="zh-CN" altLang="en-US" dirty="0"/>
                  <a:t>选定一组基以后，线性映射就可以写成矩阵。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对象是自然数、态射是矩阵的范畴，与有限维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zh-CN" altLang="en-US" dirty="0"/>
                  <a:t>向量空间范畴等价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zh-CN" altLang="en-US" dirty="0"/>
                  <a:t>原因：每个有限维向量空间 </a:t>
                </a:r>
                <a:r>
                  <a:rPr lang="en-US" altLang="zh-CN" dirty="0"/>
                  <a:t>admits a basis</a:t>
                </a:r>
                <a:r>
                  <a:rPr lang="zh-CN" altLang="en-US" dirty="0"/>
                  <a:t>，因此同构于某个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496FC01-7A4D-C2B9-FC89-110EC4840B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1198880"/>
                <a:ext cx="12348117" cy="5239132"/>
              </a:xfrm>
              <a:blipFill>
                <a:blip r:embed="rId3"/>
                <a:stretch>
                  <a:fillRect l="-494" t="-1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93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CBFC-DAF5-F5FF-3E56-E4F8A2E04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242D12B6-C7A0-9E51-0858-B1B6FFDD36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补充：范畴论视角下的有限维、无限维与基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806A414-7CAA-9DD0-AEC2-B6049E6A5B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1198880"/>
                <a:ext cx="12348117" cy="52391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solidFill>
                      <a:srgbClr val="FF0000"/>
                    </a:solidFill>
                  </a:rPr>
                  <a:t>范畴论不把“选了一组基”当作对象本身的一部分。</a:t>
                </a:r>
                <a:br>
                  <a:rPr lang="zh-CN" altLang="en-US" dirty="0"/>
                </a:b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它更关心：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这个对象在范畴里如何与别的对象、态射发生关系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哪些性质是不依赖基的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哪些结构是自然的，哪些只是额外选择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在范畴论里：</a:t>
                </a:r>
              </a:p>
              <a:p>
                <a:pPr lvl="1"/>
                <a:r>
                  <a:rPr lang="zh-CN" altLang="en-US" b="1" dirty="0"/>
                  <a:t>基不是对象的内在数据，而是一种把对象“坐标化”的额外选择。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换句话说，基更像是一个同构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其中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是单位对象，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zh-CN" altLang="en-US" dirty="0"/>
                  <a:t> 是某个指标集。</a:t>
                </a:r>
                <a:endParaRPr lang="en-US" altLang="zh-CN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有限维时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zh-CN" altLang="en-US" dirty="0"/>
                  <a:t>有限；无限维时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zh-CN" altLang="en-US" dirty="0"/>
                  <a:t>无限。</a:t>
                </a:r>
                <a:endParaRPr lang="en-US" altLang="zh-CN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等同于：向量空间是自由对象。选基，就是把它识别成若干个单位对象拷贝的直和。</a:t>
                </a:r>
                <a:endParaRPr lang="en-US" altLang="zh-CN" dirty="0"/>
              </a:p>
              <a:p>
                <a:pPr lvl="2">
                  <a:buFont typeface="Arial" panose="020B0604020202020204" pitchFamily="34" charset="0"/>
                  <a:buChar char="•"/>
                </a:pPr>
                <a:r>
                  <a:rPr lang="en-US" altLang="zh-CN" dirty="0"/>
                  <a:t>basis </a:t>
                </a:r>
                <a:r>
                  <a:rPr lang="zh-CN" altLang="en-US" dirty="0"/>
                  <a:t>的核心定义仍然是“每个向量是</a:t>
                </a:r>
                <a:r>
                  <a:rPr lang="zh-CN" altLang="en-US" b="1" dirty="0"/>
                  <a:t>有限个</a:t>
                </a:r>
                <a:r>
                  <a:rPr lang="zh-CN" altLang="en-US" dirty="0"/>
                  <a:t>基元素的唯一线性组合”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F806A414-7CAA-9DD0-AEC2-B6049E6A5B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1198880"/>
                <a:ext cx="12348117" cy="5239132"/>
              </a:xfrm>
              <a:blipFill>
                <a:blip r:embed="rId3"/>
                <a:stretch>
                  <a:fillRect l="-494" t="-1048" b="-33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49DCD30A-1177-332F-D631-8CC9C44F43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4784825"/>
            <a:ext cx="1270000" cy="45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62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A1F48-C9E6-E95C-C4B4-86FF2F67D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77EABC7F-F907-2937-0F39-BF7A3F03F1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补充：范畴论视角下的有限维、无限维与基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9E31828-EFC8-4EF4-1863-11F8671B28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在对称幺半范畴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𝑉𝑒𝑐𝑡</m:t>
                        </m:r>
                      </m:e>
                      <m:sub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中，有限维最自然的范畴论刻画不是“有几个基”，而是：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对象可对偶（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dualizable</a:t>
                </a:r>
                <a:r>
                  <a:rPr lang="zh-CN" altLang="en-US" dirty="0">
                    <a:solidFill>
                      <a:srgbClr val="C00000"/>
                    </a:solidFill>
                  </a:rPr>
                  <a:t>）</a:t>
                </a:r>
              </a:p>
              <a:p>
                <a:pPr>
                  <a:lnSpc>
                    <a:spcPct val="120000"/>
                  </a:lnSpc>
                </a:pPr>
                <a:endParaRPr lang="en-US" altLang="zh-CN" dirty="0"/>
              </a:p>
              <a:p>
                <a:pPr lvl="1">
                  <a:lnSpc>
                    <a:spcPct val="120000"/>
                  </a:lnSpc>
                </a:pPr>
                <a:r>
                  <a:rPr lang="zh-CN" altLang="en-US" dirty="0"/>
                  <a:t>对于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b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𝑉𝑒𝑐𝑡</m:t>
                        </m:r>
                      </m:e>
                      <m:sub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 左</a:t>
                </a:r>
                <a:r>
                  <a:rPr lang="en-US" altLang="zh-CN" dirty="0"/>
                  <a:t>/</a:t>
                </a:r>
                <a:r>
                  <a:rPr lang="zh-CN" altLang="en-US" dirty="0"/>
                  <a:t>右可对偶当且仅当 </a:t>
                </a:r>
                <a14:m>
                  <m:oMath xmlns:m="http://schemas.openxmlformats.org/officeDocument/2006/math">
                    <m:r>
                      <a:rPr lang="zh-CN" altLang="en-US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是有限维向量空间。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另一种说法：有限维对象恰好能配上（一个</a:t>
                </a:r>
                <a:r>
                  <a:rPr lang="en-US" altLang="zh-CN" dirty="0"/>
                  <a:t> dual object / duality datum </a:t>
                </a:r>
                <a:r>
                  <a:rPr lang="zh-CN" altLang="en-US" dirty="0"/>
                  <a:t>）</a:t>
                </a:r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评价映射 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𝑒𝑣</m:t>
                    </m:r>
                    <m:r>
                      <a:rPr lang="en-US" altLang="zh-CN" sz="2000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sz="2000" b="0">
                        <a:latin typeface="Cambria Math" panose="02040503050406030204" pitchFamily="18" charset="0"/>
                      </a:rPr>
                      <m:t>⊗</m:t>
                    </m:r>
                    <m:sSup>
                      <m:sSup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zh-CN" altLang="en-US" sz="2000" b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000" b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zh-CN" altLang="en-US" sz="2000" dirty="0"/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共评价映射 </a:t>
                </a:r>
                <a14:m>
                  <m:oMath xmlns:m="http://schemas.openxmlformats.org/officeDocument/2006/math"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𝑐𝑜𝑒𝑣</m:t>
                    </m:r>
                    <m:r>
                      <a:rPr lang="en-US" altLang="zh-CN" sz="2000" b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zh-CN" altLang="en-US" sz="2000" b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zh-CN" altLang="en-US" sz="2000" b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zh-CN" altLang="en-US" sz="2000" b="0">
                        <a:latin typeface="Cambria Math" panose="02040503050406030204" pitchFamily="18" charset="0"/>
                      </a:rPr>
                      <m:t>⊗</m:t>
                    </m:r>
                    <m:r>
                      <a:rPr lang="zh-CN" altLang="en-US" sz="2000" b="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zh-CN" altLang="en-US" sz="2000" dirty="0"/>
              </a:p>
              <a:p>
                <a:pPr lvl="2">
                  <a:lnSpc>
                    <a:spcPct val="120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2000" dirty="0"/>
                  <a:t>满足三角恒等式。</a:t>
                </a:r>
                <a:endParaRPr lang="en-US" altLang="zh-CN" sz="20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dirty="0"/>
                  <a:t>对比来看，在线性代数里，“有限维”常被理解为“有有限基”。在范畴论里，它更内在地表现为：</a:t>
                </a:r>
                <a:endParaRPr lang="en-US" altLang="zh-CN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en-US" dirty="0">
                    <a:solidFill>
                      <a:srgbClr val="C00000"/>
                    </a:solidFill>
                  </a:rPr>
                  <a:t>这个对象可以被真正地取对偶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89E31828-EFC8-4EF4-1863-11F8671B2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  <a:blipFill>
                <a:blip r:embed="rId3"/>
                <a:stretch>
                  <a:fillRect l="-531" t="-46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312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7FF0-6CAA-A3B2-06A2-E0ABA71C0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C46FD6F-6596-A749-4DA9-CC6A05B86E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补充：范畴论视角下的有限维、无限维与基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7AF9495-8F3F-D94E-569C-08AEB93D5C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无限维对象仍然属于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𝑉𝑒𝑐𝑡</m:t>
                        </m:r>
                      </m:e>
                      <m:sub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，也仍然有线性对偶空间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zh-CN" altLang="en-US" b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𝐻𝑜𝑚</m:t>
                        </m:r>
                      </m:e>
                      <m:sub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sepChr m:val=","/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zh-CN" alt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但通常不再是范畴论意义上的可对偶对象。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𝑉𝑒𝑐𝑡</m:t>
                        </m:r>
                      </m:e>
                      <m:sub>
                        <m:r>
                          <a:rPr lang="zh-CN" altLang="en-US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中，真正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dualizable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的对象正是有限维向量空间；无限维对象虽然有线性对偶，但不满足有限维情形那种完整的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duality datum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。</a:t>
                </a: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zh-CN" altLang="en-US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因此，范畴论里“无限维”的关键不是简单地说“维数很多”，而是说：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不能再像有限维那样由有限个单位对象拷贝控制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通常失去真正的对偶性 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许多有限维里良好的张量范畴性质不再自动成立 </a:t>
                </a:r>
              </a:p>
              <a:p>
                <a:pPr marL="0" indent="0">
                  <a:buNone/>
                </a:pPr>
                <a:endParaRPr lang="en-US" altLang="zh-CN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zh-CN" altLang="en-US" dirty="0">
                    <a:solidFill>
                      <a:schemeClr val="tx1"/>
                    </a:solidFill>
                  </a:rPr>
                  <a:t>从范畴论看：无限维意味着对象仍在范畴中，但已经超出了 </a:t>
                </a:r>
                <a:r>
                  <a:rPr lang="en-US" altLang="zh-CN" dirty="0">
                    <a:solidFill>
                      <a:schemeClr val="tx1"/>
                    </a:solidFill>
                  </a:rPr>
                  <a:t>rigid / dualizable </a:t>
                </a:r>
                <a:r>
                  <a:rPr lang="zh-CN" altLang="en-US" dirty="0">
                    <a:solidFill>
                      <a:schemeClr val="tx1"/>
                    </a:solidFill>
                  </a:rPr>
                  <a:t>的有限世界。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47AF9495-8F3F-D94E-569C-08AEB93D5C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  <a:blipFill>
                <a:blip r:embed="rId3"/>
                <a:stretch>
                  <a:fillRect l="-531" t="-1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2046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30FE3-0C51-BF94-62F7-F2E8F82E4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ED17F4A-DB40-EF04-CF01-6E3974852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+mj-ea"/>
              </a:rPr>
              <a:t>补充：范畴论视角下的有限维、无限维与基</a:t>
            </a:r>
            <a:endParaRPr lang="ja-JP" altLang="en-US" b="1" dirty="0">
              <a:latin typeface="+mj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8BE3197-23E2-685C-9199-EFEBA6D217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在线性代数里，基让我们把向量写成坐标：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zh-CN" alt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b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在范畴论里，基的作用可以理解成：</a:t>
                </a:r>
              </a:p>
              <a:p>
                <a:pPr marL="0" indent="0" algn="ctr">
                  <a:buNone/>
                </a:pPr>
                <a:r>
                  <a:rPr lang="zh-CN" altLang="en-US" dirty="0"/>
                  <a:t>把一个抽象对象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zh-CN" altLang="en-US" dirty="0"/>
                  <a:t>识别为若干个单位对象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的直和，从而进入矩阵世界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一旦选定基，就得到一个同构</a:t>
                </a:r>
                <a:r>
                  <a:rPr lang="ja-JP" altLang="en-US" dirty="0"/>
                  <a:t>　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≅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zh-CN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/>
                          <m:t>有限维</m:t>
                        </m:r>
                      </m:e>
                    </m:d>
                  </m:oMath>
                </a14:m>
                <a:r>
                  <a:rPr lang="zh-CN" altLang="en-US" dirty="0"/>
                  <a:t>，线性映射</a:t>
                </a:r>
                <a:r>
                  <a:rPr lang="ja-JP" altLang="en-US" dirty="0"/>
                  <a:t>　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b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ja-JP" altLang="en-US" dirty="0"/>
                  <a:t>　</a:t>
                </a:r>
                <a:r>
                  <a:rPr lang="zh-CN" altLang="en-US" dirty="0"/>
                  <a:t>就变成矩阵。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对象为自然数、态射为矩阵的范畴，与有限维向量空间范畴等价。这个等价本身就说明：</a:t>
                </a:r>
              </a:p>
              <a:p>
                <a:pPr lvl="1" indent="-342900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矩阵不是对象本身，而是“带基之后”的坐标表达。 </a:t>
                </a:r>
              </a:p>
              <a:p>
                <a:pPr lvl="1" indent="-342900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范畴论会把“基”看成一种非自然、但非常有用的坐标化选择。</a:t>
                </a:r>
                <a:endParaRPr lang="en-US" altLang="zh-CN" dirty="0"/>
              </a:p>
              <a:p>
                <a:pPr lvl="2" indent="-342900">
                  <a:buFont typeface="Wingdings" panose="05000000000000000000" pitchFamily="2" charset="2"/>
                  <a:buChar char="p"/>
                </a:pPr>
                <a:r>
                  <a:rPr lang="zh-CN" altLang="en-US" sz="2000" dirty="0"/>
                  <a:t>对象本身只是一 个抽象向量空间；</a:t>
                </a:r>
                <a:endParaRPr lang="en-US" altLang="zh-CN" sz="2000" dirty="0"/>
              </a:p>
              <a:p>
                <a:pPr lvl="2" indent="-342900">
                  <a:buFont typeface="Wingdings" panose="05000000000000000000" pitchFamily="2" charset="2"/>
                  <a:buChar char="p"/>
                </a:pPr>
                <a:r>
                  <a:rPr lang="zh-CN" altLang="en-US" sz="2000" dirty="0"/>
                  <a:t>选基以后，才把它变成“像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zh-CN" alt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000" dirty="0"/>
                  <a:t>一样”的具体模型。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78BE3197-23E2-685C-9199-EFEBA6D217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  <a:blipFill>
                <a:blip r:embed="rId3"/>
                <a:stretch>
                  <a:fillRect l="-531" t="-1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43616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5A8E8-7B63-7C05-CA67-B86838446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60D5B6BC-FFB0-DBD8-7F69-B6DF912D6AAF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>
                    <a:latin typeface="+mj-ea"/>
                  </a:rPr>
                  <a:t>补充：</a:t>
                </a:r>
                <a:r>
                  <a:rPr lang="zh-CN" altLang="en-US" b="1" dirty="0"/>
                  <a:t>对象为自然数、态射为矩阵的范畴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Mat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ja-JP" altLang="en-US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60D5B6BC-FFB0-DBD8-7F69-B6DF912D6A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61412F7-46DE-FE4C-6554-6AF0E15328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范畴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Mat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：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对象</a:t>
                </a:r>
                <a:r>
                  <a:rPr lang="zh-CN" altLang="en-US" dirty="0"/>
                  <a:t>：自然数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r>
                  <a:rPr lang="zh-CN" altLang="en-US" b="1" dirty="0"/>
                  <a:t>从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1" dirty="0"/>
                  <a:t>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b="1" dirty="0"/>
                  <a:t>的态射</a:t>
                </a:r>
                <a:r>
                  <a:rPr lang="zh-CN" altLang="en-US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Hom</m:t>
                        </m:r>
                      </m:e>
                      <m:sub>
                        <m:sSub>
                          <m:sSub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Mat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sepChr m:val=",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nor/>
                          </m:rPr>
                          <a:rPr lang="zh-CN" altLang="en-US" i="1"/>
                          <m:t> </m:t>
                        </m:r>
                        <m:r>
                          <m:rPr>
                            <m:nor/>
                          </m:rPr>
                          <a:rPr lang="zh-CN" altLang="en-US"/>
                          <m:t>的</m:t>
                        </m:r>
                        <m:r>
                          <m:rPr>
                            <m:nor/>
                          </m:rPr>
                          <a:rPr lang="zh-CN" altLang="en-US" i="1"/>
                          <m:t> 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nor/>
                          </m:rPr>
                          <a:rPr lang="zh-CN" altLang="en-US" i="1"/>
                          <m:t>−</m:t>
                        </m:r>
                        <m:r>
                          <m:rPr>
                            <m:nor/>
                          </m:rPr>
                          <a:rPr lang="zh-CN" altLang="en-US"/>
                          <m:t>矩阵</m:t>
                        </m:r>
                      </m:e>
                    </m:d>
                  </m:oMath>
                </a14:m>
                <a:endParaRPr lang="zh-CN" altLang="en-US" b="0" dirty="0"/>
              </a:p>
              <a:p>
                <a:pPr marL="0" indent="0">
                  <a:buNone/>
                </a:pPr>
                <a:endParaRPr lang="en-US" altLang="zh-CN" b="1" dirty="0"/>
              </a:p>
              <a:p>
                <a:pPr marL="0" indent="0">
                  <a:buNone/>
                </a:pPr>
                <a:r>
                  <a:rPr lang="zh-CN" altLang="en-US" b="1" dirty="0"/>
                  <a:t>复合</a:t>
                </a:r>
                <a:r>
                  <a:rPr lang="zh-CN" altLang="en-US" dirty="0"/>
                  <a:t>：矩阵乘法 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恒等态射</a:t>
                </a:r>
                <a:r>
                  <a:rPr lang="zh-CN" altLang="en-US" dirty="0"/>
                  <a:t>：单位矩阵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zh-CN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在这个范畴里：</a:t>
                </a:r>
              </a:p>
              <a:p>
                <a:r>
                  <a:rPr lang="zh-CN" altLang="en-US" dirty="0"/>
                  <a:t>对象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可以理解成“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 个坐标” </a:t>
                </a:r>
              </a:p>
              <a:p>
                <a:r>
                  <a:rPr lang="zh-CN" altLang="en-US" dirty="0"/>
                  <a:t>态射就是“把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dirty="0"/>
                  <a:t>维列向量送到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zh-CN" altLang="en-US" dirty="0"/>
                  <a:t>维列向量的矩阵”</a:t>
                </a:r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261412F7-46DE-FE4C-6554-6AF0E15328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1198880"/>
                <a:ext cx="11484517" cy="5239132"/>
              </a:xfrm>
              <a:blipFill>
                <a:blip r:embed="rId4"/>
                <a:stretch>
                  <a:fillRect l="-531" t="-10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602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3D866-78A6-B025-F4CC-093C4BBAC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F35A1B4-6C5E-1830-DD92-443DF8179671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b="1" dirty="0">
                    <a:latin typeface="+mj-ea"/>
                  </a:rPr>
                  <a:t>补充：</a:t>
                </a:r>
                <a:r>
                  <a:rPr lang="ja-JP" altLang="en-US" b="1" dirty="0"/>
                  <a:t>有限维向量空间范畴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1">
                            <a:latin typeface="Cambria Math" panose="02040503050406030204" pitchFamily="18" charset="0"/>
                          </a:rPr>
                          <m:t>𝐅𝐢𝐧𝐕𝐞𝐜𝐭</m:t>
                        </m:r>
                      </m:e>
                      <m:sub>
                        <m:r>
                          <a:rPr lang="ja-JP" altLang="ar-AE" b="1" i="1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endParaRPr lang="ja-JP" altLang="en-US" b="1" dirty="0">
                  <a:latin typeface="+mj-ea"/>
                </a:endParaRPr>
              </a:p>
            </p:txBody>
          </p:sp>
        </mc:Choice>
        <mc:Fallback xmlns="">
          <p:sp>
            <p:nvSpPr>
              <p:cNvPr id="26626" name="Rectangle 2">
                <a:extLst>
                  <a:ext uri="{FF2B5EF4-FFF2-40B4-BE49-F238E27FC236}">
                    <a16:creationId xmlns:a16="http://schemas.microsoft.com/office/drawing/2014/main" id="{4F35A1B4-6C5E-1830-DD92-443DF81796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26" b="-8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886ECB9-272D-831A-4664-EBD094E298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0603" y="1198880"/>
                <a:ext cx="11921397" cy="52391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1" dirty="0"/>
                  <a:t>对象</a:t>
                </a:r>
                <a:r>
                  <a:rPr lang="zh-CN" altLang="en-US" dirty="0"/>
                  <a:t>：所有有限维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dirty="0"/>
                  <a:t>-</a:t>
                </a:r>
                <a:r>
                  <a:rPr lang="zh-CN" altLang="en-US" dirty="0"/>
                  <a:t>向量空间 </a:t>
                </a:r>
              </a:p>
              <a:p>
                <a:pPr marL="0" indent="0">
                  <a:buNone/>
                </a:pPr>
                <a:r>
                  <a:rPr lang="zh-CN" altLang="en-US" b="1" dirty="0"/>
                  <a:t>态射</a:t>
                </a:r>
                <a:r>
                  <a:rPr lang="zh-CN" altLang="en-US" dirty="0"/>
                  <a:t>：线性映射 </a:t>
                </a:r>
              </a:p>
              <a:p>
                <a:pPr marL="0" indent="0">
                  <a:buNone/>
                </a:pPr>
                <a:endParaRPr lang="en-US" altLang="zh-CN" sz="500" dirty="0"/>
              </a:p>
              <a:p>
                <a:pPr marL="0" indent="0">
                  <a:buNone/>
                </a:pPr>
                <a:r>
                  <a:rPr lang="zh-CN" altLang="en-US" dirty="0"/>
                  <a:t>例如：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对象有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zh-CN" altLang="en-US" dirty="0"/>
                  <a:t>，也有任意与它们同构但未选基的抽象空间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zh-CN" altLang="en-US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态射是所有线性映射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altLang="zh-CN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构造函子：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ja-JP" altLang="en-US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ja-JP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Mat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ar-AE" altLang="ja-JP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ar-AE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ja-JP">
                              <a:latin typeface="Cambria Math" panose="02040503050406030204" pitchFamily="18" charset="0"/>
                            </a:rPr>
                            <m:t>FinVect</m:t>
                          </m:r>
                        </m:e>
                        <m:sub>
                          <m:r>
                            <a:rPr lang="ja-JP" altLang="ar-AE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b="1" dirty="0"/>
                  <a:t>对对象</a:t>
                </a:r>
                <a:r>
                  <a:rPr lang="zh-CN" altLang="en-US" b="1" dirty="0"/>
                  <a:t>：</a:t>
                </a:r>
                <a:r>
                  <a:rPr lang="ja-JP" altLang="en-US" dirty="0"/>
                  <a:t>把自然数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送到标准向量空间 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例如：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ja-JP" altLang="ar-AE" dirty="0"/>
                  <a:t>（</a:t>
                </a:r>
                <a:r>
                  <a:rPr lang="ja-JP" altLang="en-US" dirty="0"/>
                  <a:t>零空间） </a:t>
                </a:r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r>
                      <a:rPr lang="ja-JP" altLang="ar-AE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dirty="0"/>
                  <a:t>，</a:t>
                </a:r>
                <a14:m>
                  <m:oMath xmlns:m="http://schemas.openxmlformats.org/officeDocument/2006/math">
                    <m:r>
                      <a:rPr lang="ja-JP" altLang="ar-AE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ar-AE" altLang="ja-JP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ar-AE" altLang="ja-JP" dirty="0"/>
              </a:p>
              <a:p>
                <a:pPr marL="0" indent="0">
                  <a:buNone/>
                </a:pPr>
                <a:r>
                  <a:rPr lang="ja-JP" altLang="en-US" b="1" dirty="0"/>
                  <a:t>对态射</a:t>
                </a:r>
                <a:r>
                  <a:rPr lang="zh-CN" altLang="en-US" b="1" dirty="0"/>
                  <a:t>：</a:t>
                </a:r>
                <a:endParaRPr lang="en-US" altLang="zh-CN" b="1" dirty="0"/>
              </a:p>
              <a:p>
                <a:pPr marL="0" indent="0">
                  <a:buNone/>
                </a:pPr>
                <a:r>
                  <a:rPr lang="ja-JP" altLang="en-US" dirty="0"/>
                  <a:t>如果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: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dirty="0"/>
                  <a:t> 是一个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ja-JP">
                        <a:latin typeface="Cambria Math" panose="02040503050406030204" pitchFamily="18" charset="0"/>
                      </a:rPr>
                      <m:t>×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矩阵，那么定义</a:t>
                </a:r>
                <a14:m>
                  <m:oMath xmlns:m="http://schemas.openxmlformats.org/officeDocument/2006/math"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 altLang="ja-JP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ar-AE" altLang="ja-JP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ja-JP" altLang="en-US" dirty="0"/>
                  <a:t> 为“左乘矩阵 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ja-JP" altLang="en-US" dirty="0"/>
                  <a:t>”对应的线性映射：</a:t>
                </a:r>
                <a14:m>
                  <m:oMath xmlns:m="http://schemas.openxmlformats.org/officeDocument/2006/math">
                    <m:r>
                      <a:rPr lang="ja-JP" alt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ja-JP" altLang="en-US">
                        <a:latin typeface="Cambria Math" panose="02040503050406030204" pitchFamily="18" charset="0"/>
                      </a:rPr>
                      <m:t>↦</m:t>
                    </m:r>
                    <m:r>
                      <a:rPr lang="ja-JP" altLang="en-US" i="1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ja-JP" altLang="en-US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可以证明</a:t>
                </a:r>
                <a:r>
                  <a:rPr lang="en-US" altLang="ja-JP" dirty="0"/>
                  <a:t>F</a:t>
                </a:r>
                <a:r>
                  <a:rPr lang="ja-JP" altLang="en-US" dirty="0"/>
                  <a:t>：</a:t>
                </a:r>
                <a:r>
                  <a:rPr lang="en-US" altLang="ja-JP" dirty="0"/>
                  <a:t>full </a:t>
                </a:r>
                <a:r>
                  <a:rPr lang="zh-CN" altLang="en-US" dirty="0"/>
                  <a:t>；</a:t>
                </a:r>
                <a:r>
                  <a:rPr lang="en-US" altLang="ja-JP" dirty="0"/>
                  <a:t>faithful </a:t>
                </a:r>
                <a:r>
                  <a:rPr lang="zh-CN" altLang="en-US" dirty="0"/>
                  <a:t>；</a:t>
                </a:r>
                <a:r>
                  <a:rPr lang="en-US" altLang="ja-JP" dirty="0"/>
                  <a:t>essentially surjective </a:t>
                </a:r>
                <a:r>
                  <a:rPr lang="ja-JP" altLang="en-US" dirty="0"/>
                  <a:t>　⇒　</a:t>
                </a:r>
                <a:r>
                  <a:rPr lang="zh-CN" altLang="en-US" dirty="0"/>
                  <a:t>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Mat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ar-AE" altLang="ja-JP">
                        <a:latin typeface="Cambria Math" panose="02040503050406030204" pitchFamily="18" charset="0"/>
                      </a:rPr>
                      <m:t>≃</m:t>
                    </m:r>
                    <m:sSub>
                      <m:sSubPr>
                        <m:ctrlPr>
                          <a:rPr lang="ar-AE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FinVect</m:t>
                        </m:r>
                      </m:e>
                      <m:sub>
                        <m:r>
                          <a:rPr lang="ja-JP" altLang="ar-AE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zh-CN" altLang="en-US" dirty="0"/>
                  <a:t>，</a:t>
                </a:r>
                <a:r>
                  <a:rPr lang="ja-JP" altLang="en-US" dirty="0"/>
                  <a:t>这两个范畴</a:t>
                </a:r>
                <a:r>
                  <a:rPr lang="ja-JP" altLang="en-US" b="1" dirty="0"/>
                  <a:t>等价</a:t>
                </a:r>
                <a:endParaRPr lang="ja-JP" altLang="en-US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12" name="コンテンツ プレースホルダー 2">
                <a:extLst>
                  <a:ext uri="{FF2B5EF4-FFF2-40B4-BE49-F238E27FC236}">
                    <a16:creationId xmlns:a16="http://schemas.microsoft.com/office/drawing/2014/main" id="{C886ECB9-272D-831A-4664-EBD094E298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0603" y="1198880"/>
                <a:ext cx="11921397" cy="5239132"/>
              </a:xfrm>
              <a:blipFill>
                <a:blip r:embed="rId4"/>
                <a:stretch>
                  <a:fillRect l="-511" t="-1048" b="-128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3711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62880-0955-872B-6BD2-7E23ACF55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3084" y="2678906"/>
            <a:ext cx="10363200" cy="1500187"/>
          </a:xfrm>
        </p:spPr>
        <p:txBody>
          <a:bodyPr/>
          <a:lstStyle/>
          <a:p>
            <a:pPr algn="ctr"/>
            <a:r>
              <a:rPr kumimoji="1" lang="en-US" altLang="ja-JP" sz="5000" dirty="0"/>
              <a:t>Thank you for listening!</a:t>
            </a:r>
            <a:endParaRPr kumimoji="1" lang="ja-JP" altLang="en-US" sz="5000" dirty="0"/>
          </a:p>
        </p:txBody>
      </p:sp>
    </p:spTree>
    <p:extLst>
      <p:ext uri="{BB962C8B-B14F-4D97-AF65-F5344CB8AC3E}">
        <p14:creationId xmlns:p14="http://schemas.microsoft.com/office/powerpoint/2010/main" val="3395547263"/>
      </p:ext>
    </p:extLst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ユーザー定義 1">
      <a:majorFont>
        <a:latin typeface="Arial"/>
        <a:ea typeface="FangSong"/>
        <a:cs typeface=""/>
      </a:majorFont>
      <a:minorFont>
        <a:latin typeface="Comic Sans MS"/>
        <a:ea typeface="FangSong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Comic Sans MS" charset="0"/>
            <a:ea typeface="ＭＳ Ｐゴシック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Office\Templates\Blank Presentation.pot</Template>
  <TotalTime>85270</TotalTime>
  <Words>3074</Words>
  <Application>Microsoft Office PowerPoint</Application>
  <PresentationFormat>ワイド画面</PresentationFormat>
  <Paragraphs>371</Paragraphs>
  <Slides>25</Slides>
  <Notes>24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3" baseType="lpstr">
      <vt:lpstr>FangSong</vt:lpstr>
      <vt:lpstr>ＭＳ ゴシック</vt:lpstr>
      <vt:lpstr>Arial</vt:lpstr>
      <vt:lpstr>Cambria Math</vt:lpstr>
      <vt:lpstr>Comic Sans MS</vt:lpstr>
      <vt:lpstr>Times New Roman</vt:lpstr>
      <vt:lpstr>Wingdings</vt:lpstr>
      <vt:lpstr>Blank Presentation</vt:lpstr>
      <vt:lpstr>PowerPoint プレゼンテーション</vt:lpstr>
      <vt:lpstr>主要内容</vt:lpstr>
      <vt:lpstr>应用场景：为什么要把函数当作“向量”？</vt:lpstr>
      <vt:lpstr>应用场景：为什么要把函数当作“向量”？</vt:lpstr>
      <vt:lpstr>应用场景：为什么要把函数当作“向量”？</vt:lpstr>
      <vt:lpstr>常用的函数空间：连续函数空间</vt:lpstr>
      <vt:lpstr>哪些函数集合是向量空间？</vt:lpstr>
      <vt:lpstr>补充：关于Fourier正交基（1）</vt:lpstr>
      <vt:lpstr>补充：关于Fourier正交基（2）</vt:lpstr>
      <vt:lpstr>总结： Fourier基的启发</vt:lpstr>
      <vt:lpstr>补充：关于核方法</vt:lpstr>
      <vt:lpstr>补充：关于RKHS</vt:lpstr>
      <vt:lpstr>机器学习中的 Fourier正交基 (1)</vt:lpstr>
      <vt:lpstr>机器学习中的 Fourier正交基 (2)</vt:lpstr>
      <vt:lpstr>机器学习中的 Fourier正交基 (3)</vt:lpstr>
      <vt:lpstr>机器学习中的 Fourier正交基 (4)</vt:lpstr>
      <vt:lpstr>机器学习中的C[a,b]与P_n​ </vt:lpstr>
      <vt:lpstr>补充：范畴论视角下的有限维、无限维与基</vt:lpstr>
      <vt:lpstr>补充：范畴论视角下的有限维、无限维与基</vt:lpstr>
      <vt:lpstr>补充：范畴论视角下的有限维、无限维与基</vt:lpstr>
      <vt:lpstr>补充：范畴论视角下的有限维、无限维与基</vt:lpstr>
      <vt:lpstr>补充：范畴论视角下的有限维、无限维与基</vt:lpstr>
      <vt:lpstr>补充：对象为自然数、态射为矩阵的范畴 Mat_k</vt:lpstr>
      <vt:lpstr>补充：有限维向量空间范畴 〖FinVect〗_k</vt:lpstr>
      <vt:lpstr>PowerPoint プレゼンテーション</vt:lpstr>
    </vt:vector>
  </TitlesOfParts>
  <Company>qub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2_csc321</dc:title>
  <dc:creator>sscott</dc:creator>
  <cp:lastModifiedBy>Yiyang Jia</cp:lastModifiedBy>
  <cp:revision>4303</cp:revision>
  <dcterms:created xsi:type="dcterms:W3CDTF">2001-07-30T09:48:22Z</dcterms:created>
  <dcterms:modified xsi:type="dcterms:W3CDTF">2026-04-12T10:54:58Z</dcterms:modified>
</cp:coreProperties>
</file>