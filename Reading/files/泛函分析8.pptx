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7" r:id="rId2"/>
    <p:sldId id="527" r:id="rId3"/>
    <p:sldId id="529" r:id="rId4"/>
    <p:sldId id="530" r:id="rId5"/>
    <p:sldId id="538" r:id="rId6"/>
    <p:sldId id="540" r:id="rId7"/>
    <p:sldId id="539" r:id="rId8"/>
    <p:sldId id="541" r:id="rId9"/>
    <p:sldId id="542" r:id="rId10"/>
    <p:sldId id="543" r:id="rId11"/>
    <p:sldId id="531" r:id="rId12"/>
    <p:sldId id="533" r:id="rId13"/>
    <p:sldId id="544" r:id="rId14"/>
    <p:sldId id="545" r:id="rId15"/>
    <p:sldId id="546" r:id="rId16"/>
    <p:sldId id="547" r:id="rId17"/>
    <p:sldId id="534" r:id="rId18"/>
    <p:sldId id="535" r:id="rId19"/>
    <p:sldId id="555" r:id="rId20"/>
    <p:sldId id="557" r:id="rId21"/>
    <p:sldId id="558" r:id="rId22"/>
    <p:sldId id="556" r:id="rId23"/>
    <p:sldId id="532" r:id="rId24"/>
    <p:sldId id="512" r:id="rId25"/>
    <p:sldId id="526" r:id="rId26"/>
    <p:sldId id="549" r:id="rId27"/>
    <p:sldId id="550" r:id="rId28"/>
    <p:sldId id="551" r:id="rId29"/>
    <p:sldId id="513" r:id="rId30"/>
    <p:sldId id="515" r:id="rId31"/>
    <p:sldId id="514" r:id="rId32"/>
    <p:sldId id="517" r:id="rId33"/>
    <p:sldId id="518" r:id="rId34"/>
    <p:sldId id="552" r:id="rId35"/>
    <p:sldId id="553" r:id="rId36"/>
    <p:sldId id="519" r:id="rId37"/>
    <p:sldId id="520" r:id="rId38"/>
    <p:sldId id="521" r:id="rId39"/>
    <p:sldId id="522" r:id="rId40"/>
    <p:sldId id="536" r:id="rId41"/>
    <p:sldId id="537" r:id="rId42"/>
    <p:sldId id="524" r:id="rId43"/>
    <p:sldId id="554" r:id="rId44"/>
    <p:sldId id="503" r:id="rId45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3447" autoAdjust="0"/>
  </p:normalViewPr>
  <p:slideViewPr>
    <p:cSldViewPr snapToGrid="0">
      <p:cViewPr>
        <p:scale>
          <a:sx n="67" d="100"/>
          <a:sy n="67" d="100"/>
        </p:scale>
        <p:origin x="640" y="-200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24C2-31BC-692F-4F81-B47619E7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5E30A1-BE98-FDD7-950E-831AEAB2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6D225F-2979-EC8B-6050-6ADB4F213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C660D8-6649-C72D-0C3D-A5D545C99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9081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3965-42F0-6D40-576E-8F0E90B1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C92EB2-CBCB-FB58-2599-B2473E3EE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3D7E0A-AA5B-C6C8-B6E5-D2060C1AE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497DF6-F091-9C49-82BA-446FA147B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35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252F-EF3E-7D6D-3701-33E1DA7E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1A8D78-66BD-A05A-30CF-3DC0E2997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07F9BF-5EAD-A90C-C081-40BF02479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171318-5C82-429D-2FFB-C651CFD63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7577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BC959-B891-FB6B-9A2C-E0D4618F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BF8D60-563D-2076-C977-EEE4B3060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84049A4-C10D-A0DF-7A42-C75B87161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539B5E-5DE7-3C6B-5B6C-062F97EB5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2367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180B-5893-E471-28D0-8988FC9E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939F28-3E6F-5DA2-C64E-93204B402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B6CCEE5-5906-9D3B-A812-6D85B59F1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68A75C-E561-F2F5-8D78-5C230DFA9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2106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8E85-D87A-5C95-CFC4-3D783D99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E7E29A-239F-BDA1-C5C4-1834D7F66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21BB66A-F149-A3E7-01D5-4C01B3F1C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32439E-7C6F-C1A8-F98A-A22B8261F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241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979BA-82A6-3917-18FB-13A4258EE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AA1690-EF59-15E7-4E74-C7C240334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CC0D466-34D5-83EC-AEF3-4BCB7A6A7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E34BCA-4AF8-955F-2564-870A47FDC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6827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39EE-0898-7F08-6654-99CDDB25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2B9AEC3-9BA4-0F34-F4D4-D4E631C50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017F979-03FB-3F84-435B-A280BBB84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01FB91-131D-ACCC-71BA-6A89019E2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8347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C29F-E15A-F251-FA03-B497B258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2F9EBF-C497-30D0-2DAB-0B5057E6E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EC878D6-AF76-4100-2965-CF9EE310F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553B0D-1AF2-DB7D-2146-3AE4E2274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48023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B1AA-2542-0CE6-83A3-4F86C58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84389D-E756-015D-78B2-F3F4E212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18EA792-B8A9-F443-FAC6-1AF6F019F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246E86-443B-AC9B-FDC7-58FABCAEC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718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E0E5-8D1D-727D-219E-6A76E274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059651-4954-D9B9-B5B0-54E296DBB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F73E3D-E04D-9F94-8D27-4C666F187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778E7-10B2-63DB-DB77-3E5F8D8D4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845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D79E-14D0-EDB2-5514-9F0CF5CA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4663DD-A2DF-F7DA-F891-1B647E5A0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B8B2372-9BE4-A5AB-ACE7-A230E37F2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5B2B77-6887-D1AA-BDAC-1DD2151F7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8768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F129-E6C1-F6A4-C6A6-B0B282BB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1256CA-6370-EB1E-7EA4-CB01EF18C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E94D54-EE26-498F-7244-837E9EF31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8281EA-1AB7-0D56-03D1-D2A6214F2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2787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E761-25BF-85E7-4E7B-E2831D20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F385DE-E928-648A-3B2C-12C05CE63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A7C809-AB20-353E-DA47-FD36F33F6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4BBE52-4F9B-F0FE-1B39-2184461F8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06879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182E9-AD6A-C284-1ECD-737B3C3AD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DE37BB2-88DE-7C8D-9DBB-B61E460A3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30C3E6-C808-6773-9C20-31CDE3FEC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4D47B0-CDC4-7CB4-72EB-A839204C9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9025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8D32-8FD0-0507-4C77-C0B6BF18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DC2657-CB07-58CA-CDB6-BEA663E6E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3BC77D7-3A73-54D8-901A-8E30CF29B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84ADE3-3B38-3C7E-85D3-376A43142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511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2977-DF10-3CFB-C5A2-38274839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175B195-E65A-9385-8895-DA7BFB874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078F34-5503-48A3-FAEC-A05DD6CDE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BAAC5-6040-74A4-1ECE-22D51E56D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68258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F716D-C01D-20A9-97FD-1DAA58B8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6B7934-B901-05D2-770F-6A666688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195E9E-87A0-D8EC-241C-5FCEB5915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80DE46-7991-8E7A-9CF5-F5E1FD78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6387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996E-6802-3D2B-B795-883969CD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CC01906-CFA0-5CDD-BAD1-A324F9C4A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1468ECD-08E6-5E08-491A-A49FE60E2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7714E6-7923-84CE-F1D1-097DEA934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288522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AEFA-EAE7-75C5-0615-DFB5B863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9FC02F9-E459-6C96-7C86-BB39E484B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5D06F1B-D35A-2C24-EA69-1B3D28291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51BCEB-E9BC-66D1-7C17-B87508F7F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4012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66BE-9DAE-3D4C-DC8F-D08B7309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0ADFBD-3DB3-790C-B05B-3A2A75F26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E1BAB2-EC91-234E-E539-1539756F9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16C7D0-866D-507C-11A8-A928E3221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0364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9D24-F943-8EEE-C053-ED919198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B1F744-D542-6AB4-3782-93A5DC80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38BD68-45DE-80E2-2F0A-729C91B8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6E165B-0A50-3D5C-7287-B82CD006B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582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9DE6-ACE1-2EBB-A8F9-572507BA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E047D49-4562-32EC-A62A-3794978E2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9B0515-0D30-E5D6-CDD2-58DAA4773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EF03E0-D9BE-1256-CE67-6176AB2AF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71113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7D64A-F747-3673-7184-1338742A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2497958-D8A9-3E6A-5AF0-EFDDB0102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44510E-E5B5-F8E4-A87A-703C3A775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C916E5-0802-974E-C8D8-BA600E650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4583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30EF-766E-994A-6118-C0FC76FA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4D31374-E081-725E-C0BD-DCB337D08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FC12A7B-21C7-890F-7338-F8180C585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5245FC-231C-3C61-652A-2C8148F0C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93582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1FAE-F0D9-75AE-267F-A318E72B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FE5139-5BF9-B6A8-A1C9-A03AFEA88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B052EE-60E4-50CD-53E1-167E26C82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02654F-E973-E7CA-4740-F790AAF0A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0017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7C1F-DA23-0227-F189-62A9C3A3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A25E30-CC84-6609-5B5D-19C32369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8C31A7-320B-1095-97E1-139991E14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C5C5BD-8F87-7DFD-5551-CD0582EF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794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E1FC-793A-2FB4-37D4-28813383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E73FBA7-D98A-8BA2-DF14-43F482FCD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789EBD1-2FF1-A502-8F0D-483371F37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81E829-4B6B-06FF-CAB7-BCC9AE32F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79250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05A1-56DE-2BBE-0591-2DA039AE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BB11B0-3828-FCF2-59C8-B3E53D0D9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8268BD-A08A-0B8E-E383-AD489FE8F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1BEB88-57BB-C4D6-D6F1-23924A2D9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01367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21EA-D899-426B-1A80-62ED8E7A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507E41B-381A-136E-57E4-DAB036E92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F6F324-8000-8A40-9DBC-D1B61F5A4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AE56B5-E7D8-2389-0392-1B0490106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75052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9122-5A68-D134-1C86-2FAAFF6E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4D29FE2-11C5-797E-99ED-492908118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7DC5CF-15E0-043C-F134-859A264A8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997461-961C-D408-CB43-387CBBDAC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22010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EAB5-959E-EF11-559C-54682271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3E9272-1A6C-B237-18CF-F2EFEDEE5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4A13D9F-27E0-8CBF-E52C-3E9E1817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D9486F-5677-2DC3-E1F0-83113BDC5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941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FBA3-BBEA-5848-B1B8-E8703270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85B471-4F66-4EF4-CCA7-E97CD9B59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B40BB99-5A6B-25BC-6399-B8BC90E6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023F1D-9D73-852B-4CD1-79398A69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21850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5C80-DA9E-FCE6-35EB-F13140E1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66CA15-07CA-38AC-9C13-0D412453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32DA18B-5B0A-4913-133C-BC6C9B9A0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7EEF0-403C-9BAA-3DA2-656CE76B7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15744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6EEA-4660-C48A-EE70-646DD15E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E78B26-B216-D4FC-A05F-DB4A30FD9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BFBDDF-8E98-B89E-EA04-02A48146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E1E615-CE28-344B-6463-8AB6E6577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08079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68C98-FA98-349B-F308-EA37F3A0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A9662D-8AEA-DD85-6C9F-A87D109AB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45C1CF-6714-DD45-2546-736286E6B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AD9B82-2AB6-C2E9-231E-0ECE66188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78261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F57B-3AF1-D72A-0236-243156A5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FAEBD1-ED17-D018-1FE7-752E9D541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CC20AE-C228-DE23-D54A-8D8A3346F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93FA77-6B16-9278-A83F-7E584177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90151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4B2B-9742-CEB2-86CA-9B911C11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1033C84-815D-4BFA-C33B-2173DB194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031115-F9BC-F757-BEF6-E8690D25F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6158B8-4B31-F0E6-D334-E0E3D473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745881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F81A-91BE-D7D9-F0B1-A79D6CEE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BCC1AE-1520-490D-8CC2-96E30E137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5DBF226-96B4-573C-6923-E85B0CF85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FCA3D5-A5DD-407F-0FD4-0A903E963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67095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1141-F964-7F2D-1E18-2B2FEE21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D9E0B4-6FC1-4088-7063-6B863AD94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7B2C14-07E1-A6B0-516D-8E4AC6881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98DE71-CC8C-F306-EF31-5A090C7F3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99327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348A-EE32-288C-0AC1-49FD4946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AACEF6-A3D6-CAF4-AED3-A9CF14E19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0A7CE0-97D4-9BD3-029B-D82EF9B38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50FE91-6243-F2DC-6158-5C46D088F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891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第八讲  正交与投影：最小化问题的核心</a:t>
            </a: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(8)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9A04-971B-959E-D445-356FB674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441F8D9-4FF5-76DF-8787-7DACD7AF6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有限维谱理论：矩阵的特征值与特征向量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0FDB0C9-588B-5FE1-228A-1C3CA812E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在线性代数中，我们熟悉：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其中：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：矩阵； 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dirty="0"/>
                  <a:t>：特征向量； 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ja-JP" dirty="0"/>
                  <a:t>：特征值。 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如果矩阵可以对角化，则：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是实对称矩阵或复 Hermitian 矩阵，则可以写成：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是共轭转置。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0FDB0C9-588B-5FE1-228A-1C3CA812E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99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1A5B-03DA-4404-C6B0-1CCAB867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21A6298-2F9E-2D83-360F-6447721CF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Hilbert </a:t>
            </a:r>
            <a:r>
              <a:rPr lang="zh-CN" altLang="en-US" b="1" dirty="0">
                <a:latin typeface="+mj-ea"/>
              </a:rPr>
              <a:t>空间中的线性算子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1EF6651-EF16-56B0-F7AC-94FCAF72A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在有限维中，矩阵作用在向量上：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 Hilbert 空间中，我们考虑：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可以是：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ja-JP" dirty="0"/>
                  <a:t>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ja-JP" dirty="0"/>
                  <a:t>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ja-JP" altLang="ja-JP" dirty="0"/>
                  <a:t>； RKHS； 量子力学中的态空间。 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是有界线性算子，则存在常数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ja-JP" altLang="ja-JP" dirty="0"/>
                  <a:t>，使得：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𝐴𝑢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有界性意味着：输入的小变化不会被算子无限放大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1EF6651-EF16-56B0-F7AC-94FCAF72A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5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15C7-5FFB-B82C-2AF2-3F11D48A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29108B-12FB-9213-B512-D19C64A86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47292C5-1E77-D5B8-8496-463004102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lang="ja-JP" altLang="ja-JP" dirty="0"/>
                  <a:t>设模型最简单地写成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  <m:r>
                      <a:rPr lang="en-US" altLang="ja-JP"/>
                      <m:t>, 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𝐾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是输入或参数空间，</a:t>
                </a:r>
                <a14:m>
                  <m:oMath xmlns:m="http://schemas.openxmlformats.org/officeDocument/2006/math">
                    <m:r>
                      <a:rPr lang="ja-JP" altLang="en-US" i="1"/>
                      <m:t>𝐾</m:t>
                    </m:r>
                  </m:oMath>
                </a14:m>
                <a:r>
                  <a:rPr lang="ja-JP" altLang="ja-JP" dirty="0"/>
                  <a:t> 是输出/观测空间。给定真实观测 </a:t>
                </a:r>
                <a14:m>
                  <m:oMath xmlns:m="http://schemas.openxmlformats.org/officeDocument/2006/math">
                    <m:r>
                      <a:rPr lang="ja-JP" altLang="en-US" i="1"/>
                      <m:t>𝑧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𝐾</m:t>
                    </m:r>
                  </m:oMath>
                </a14:m>
                <a:r>
                  <a:rPr lang="ja-JP" altLang="ja-JP" dirty="0"/>
                  <a:t>，平方损失为</a:t>
                </a:r>
                <a14:m>
                  <m:oMath xmlns:m="http://schemas.openxmlformats.org/officeDocument/2006/math">
                    <m:r>
                      <a:rPr lang="ja-JP" altLang="en-US" i="1"/>
                      <m:t>𝐿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𝑢</m:t>
                        </m:r>
                      </m:e>
                    </m:d>
                    <m:r>
                      <a:rPr lang="en-US" altLang="ja-JP"/>
                      <m:t>=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r>
                          <a:rPr lang="en-US" altLang="ja-JP"/>
                          <m:t>2</m:t>
                        </m:r>
                      </m:den>
                    </m:f>
                    <m:r>
                      <a:rPr lang="ja-JP" altLang="en-US"/>
                      <m:t>∥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𝑧</m:t>
                    </m:r>
                    <m:sSubSup>
                      <m:sSubSupPr>
                        <m:ctrlPr>
                          <a:rPr lang="ja-JP" altLang="en-US" i="1"/>
                        </m:ctrlPr>
                      </m:sSubSup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𝐾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令输出误差为</a:t>
                </a:r>
                <a14:m>
                  <m:oMath xmlns:m="http://schemas.openxmlformats.org/officeDocument/2006/math">
                    <m:r>
                      <a:rPr lang="ja-JP" altLang="en-US" i="1"/>
                      <m:t>𝑟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𝑧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400050" lvl="1" indent="0">
                  <a:buNone/>
                </a:pP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𝑑𝐿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𝑢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 i="1"/>
                          <m:t>h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𝐴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ja-JP" altLang="en-US" i="1"/>
                              <m:t>𝐴</m:t>
                            </m:r>
                            <m:r>
                              <a:rPr lang="en-US" altLang="ja-JP" i="1"/>
                              <m:t>h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𝐾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400050" lvl="1" indent="0">
                  <a:buNone/>
                </a:pPr>
                <a:r>
                  <a:rPr lang="zh-CN" altLang="en-US" dirty="0"/>
                  <a:t>（</a:t>
                </a:r>
                <a:r>
                  <a:rPr lang="ja-JP" altLang="ja-JP" dirty="0"/>
                  <a:t>当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沿着方向 </a:t>
                </a:r>
                <a14:m>
                  <m:oMath xmlns:m="http://schemas.openxmlformats.org/officeDocument/2006/math">
                    <m:r>
                      <a:rPr lang="en-US" altLang="ja-JP" i="1"/>
                      <m:t>h</m:t>
                    </m:r>
                  </m:oMath>
                </a14:m>
                <a:r>
                  <a:rPr lang="ja-JP" altLang="ja-JP" dirty="0"/>
                  <a:t>发生一个很小变化时，损失函数 </a:t>
                </a:r>
                <a14:m>
                  <m:oMath xmlns:m="http://schemas.openxmlformats.org/officeDocument/2006/math">
                    <m:r>
                      <a:rPr lang="ja-JP" altLang="en-US" i="1"/>
                      <m:t>𝐿</m:t>
                    </m:r>
                  </m:oMath>
                </a14:m>
                <a:r>
                  <a:rPr lang="ja-JP" altLang="ja-JP" dirty="0"/>
                  <a:t>的一阶变化量是多少</a:t>
                </a:r>
                <a:r>
                  <a:rPr lang="zh-CN" altLang="en-US" dirty="0"/>
                  <a:t>）</a:t>
                </a:r>
                <a:endParaRPr lang="en-US" altLang="ja-JP" dirty="0"/>
              </a:p>
              <a:p>
                <a:pPr marL="400050" lvl="1" indent="0">
                  <a:buNone/>
                </a:pPr>
                <a:r>
                  <a:rPr lang="ja-JP" altLang="ja-JP" dirty="0"/>
                  <a:t>根据伴随算子的定义，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r>
                              <a:rPr lang="ja-JP" altLang="en-US" i="1"/>
                              <m:t>𝑟</m:t>
                            </m:r>
                          </m:e>
                          <m:e>
                            <m:r>
                              <a:rPr lang="ja-JP" altLang="en-US" i="1"/>
                              <m:t>𝐴</m:t>
                            </m:r>
                            <m:r>
                              <a:rPr lang="en-US" altLang="ja-JP" i="1"/>
                              <m:t>h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𝐾</m:t>
                        </m:r>
                      </m:sub>
                    </m:sSub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ja-JP" altLang="en-US" i="1"/>
                                </m:ctrlPr>
                              </m:sSupPr>
                              <m:e>
                                <m:r>
                                  <a:rPr lang="ja-JP" altLang="en-US" i="1"/>
                                  <m:t>𝐴</m:t>
                                </m:r>
                              </m:e>
                              <m:sup>
                                <m:r>
                                  <a:rPr lang="ja-JP" altLang="en-US"/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 lang="ja-JP" altLang="en-US" i="1"/>
                              <m:t>𝑟</m:t>
                            </m:r>
                            <m:r>
                              <a:rPr lang="en-US" altLang="ja-JP" i="1"/>
                              <m:t>h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400050" lvl="1" indent="0">
                  <a:buNone/>
                </a:pPr>
                <a:r>
                  <a:rPr lang="ja-JP" altLang="ja-JP" dirty="0"/>
                  <a:t>所以梯度就是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ja-JP" altLang="en-US"/>
                          <m:t>∇</m:t>
                        </m:r>
                      </m:e>
                      <m:sub>
                        <m:r>
                          <a:rPr lang="ja-JP" altLang="en-US" i="1"/>
                          <m:t>𝑢</m:t>
                        </m:r>
                      </m:sub>
                    </m:sSub>
                    <m:r>
                      <a:rPr lang="ja-JP" altLang="en-US" i="1"/>
                      <m:t>𝐿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  <m:r>
                          <a:rPr lang="ja-JP" altLang="en-US"/>
                          <m:t>−</m:t>
                        </m:r>
                        <m:r>
                          <a:rPr lang="ja-JP" altLang="en-US" i="1"/>
                          <m:t>𝑧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b="0" dirty="0"/>
                  <a:t>输出空间的误差 </a:t>
                </a:r>
                <a:r>
                  <a:rPr lang="en-US" altLang="zh-CN" b="0" dirty="0"/>
                  <a:t> </a:t>
                </a:r>
                <a:r>
                  <a:rPr lang="zh-CN" altLang="en-US" b="0" dirty="0"/>
                  <a:t>𝑟</a:t>
                </a:r>
                <a:r>
                  <a:rPr lang="en-US" altLang="zh-CN" b="0" dirty="0"/>
                  <a:t> </a:t>
                </a:r>
                <a:r>
                  <a:rPr lang="zh-CN" altLang="en-US" b="0" dirty="0"/>
                  <a:t>通过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被拉回输入</a:t>
                </a:r>
                <a:r>
                  <a:rPr lang="en-US" altLang="zh-CN" b="0" dirty="0"/>
                  <a:t>/</a:t>
                </a:r>
                <a:r>
                  <a:rPr lang="zh-CN" altLang="en-US" b="0" dirty="0"/>
                  <a:t>参数空间。</a:t>
                </a:r>
                <a:endParaRPr lang="ja-JP" altLang="en-US" b="0" dirty="0"/>
              </a:p>
              <a:p>
                <a:r>
                  <a:rPr lang="ja-JP" altLang="ja-JP" dirty="0"/>
                  <a:t>因此，机器学习中的反向传播本质上就是反复使用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局部线性化的伴随算子</m:t>
                    </m:r>
                  </m:oMath>
                </a14:m>
                <a:r>
                  <a:rPr lang="ja-JP" altLang="ja-JP" dirty="0"/>
                  <a:t>把误差信号从后往前传。</a:t>
                </a:r>
                <a:br>
                  <a:rPr lang="ja-JP" altLang="ja-JP" dirty="0"/>
                </a:b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47292C5-1E77-D5B8-8496-463004102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47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5140-02D3-D036-114B-29B80B4E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7625A93-2659-6984-2DCE-D3870F78F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040" y="-109220"/>
            <a:ext cx="11074400" cy="685800"/>
          </a:xfrm>
        </p:spPr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4EE59B1-47EB-802A-B826-D3661373EE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259588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在复 Hilbert 空间中，内积通常写成：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groupChr>
                      <m:groupChrPr>
                        <m:chr m:val="‾"/>
                        <m:pos m:val="top"/>
                        <m:vertJc m:val="bot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groupCh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因此矩阵的伴随不是普通转置，而是共轭转置：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m:rPr>
                            <m:nor/>
                          </m:rPr>
                          <a:rPr lang="ja-JP" altLang="en-US" i="1"/>
                          <m:t> 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，则称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为自伴算子。有限维中，自伴矩阵就是 Hermitian 矩阵。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4EE59B1-47EB-802A-B826-D3661373E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2595880" cy="5440680"/>
              </a:xfrm>
              <a:blipFill>
                <a:blip r:embed="rId3"/>
                <a:stretch>
                  <a:fillRect l="-2582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90B299F0-125A-367B-839D-2EE015AB6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760" y="382347"/>
            <a:ext cx="9194800" cy="647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3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E042-696D-1172-F63D-F1FCC97B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5218E61-92CD-CEC3-F368-10DFD7726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721B3CA-E2BB-DE11-EF2E-C740189723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在复 Hilbert 空间中，伴随算子对应共轭转置：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b="1" dirty="0"/>
                  <a:t> CNN 中：转置卷积就是卷积算子的伴随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卷积层可以看成一个线性算子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𝑥</m:t>
                    </m:r>
                    <m:r>
                      <a:rPr lang="ja-JP" altLang="en-US"/>
                      <m:t>↦</m:t>
                    </m:r>
                    <m:r>
                      <a:rPr lang="ja-JP" altLang="en-US" i="1"/>
                      <m:t>𝑘</m:t>
                    </m:r>
                    <m:r>
                      <a:rPr lang="ja-JP" altLang="en-US"/>
                      <m:t>∗</m:t>
                    </m:r>
                    <m:r>
                      <a:rPr lang="ja-JP" altLang="en-US" i="1"/>
                      <m:t>𝑥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反向传播时，要把 feature map 上的误差传回输入图像空间，于是需要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这就是为什么 CNN 中会出现所谓的 </a:t>
                </a:r>
                <a:r>
                  <a:rPr lang="ja-JP" altLang="ja-JP" b="1" dirty="0"/>
                  <a:t>transposed convolution</a:t>
                </a:r>
                <a:r>
                  <a:rPr lang="ja-JP" altLang="ja-JP" dirty="0"/>
                  <a:t>。它常被称为 “deconvolution”，但严格来说它通常不是卷积的逆算子，而是卷积算子的伴随或转置形式。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Dumoulin and Visin 的 </a:t>
                </a:r>
                <a:r>
                  <a:rPr lang="ja-JP" altLang="ja-JP" i="1" dirty="0"/>
                  <a:t>A guide to convolution arithmetic for deep learning</a:t>
                </a:r>
                <a:r>
                  <a:rPr lang="ja-JP" altLang="ja-JP" dirty="0"/>
                  <a:t> 专门解释了 convolution 和 transposed convolution 的关系。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 Zeiler and Fergus 的 CNN 可视化工作也使用 deconvnet 把中间层激活投影回输入图像空间，从直觉上就是“把特征空间的信息拉回像素空间”。</a:t>
                </a:r>
              </a:p>
              <a:p>
                <a:pPr lvl="4"/>
                <a:r>
                  <a:rPr lang="ja-JP" altLang="ja-JP" dirty="0"/>
                  <a:t>简单理解：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卷积：图像 </m:t>
                    </m:r>
                    <m:r>
                      <a:rPr lang="ja-JP" altLang="en-US" i="0"/>
                      <m:t>→</m:t>
                    </m:r>
                    <m:r>
                      <m:rPr>
                        <m:nor/>
                      </m:rPr>
                      <a:rPr lang="ja-JP" altLang="en-US"/>
                      <m:t>特征</m:t>
                    </m:r>
                  </m:oMath>
                </a14:m>
                <a:endParaRPr lang="ja-JP" alt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ja-JP" altLang="en-US" b="0"/>
                        <m:t>转置卷积</m:t>
                      </m:r>
                      <m:r>
                        <m:rPr>
                          <m:nor/>
                        </m:rPr>
                        <a:rPr lang="en-US" altLang="ja-JP" b="0"/>
                        <m:t>/</m:t>
                      </m:r>
                      <m:r>
                        <m:rPr>
                          <m:nor/>
                        </m:rPr>
                        <a:rPr lang="ja-JP" altLang="en-US" b="0"/>
                        <m:t>伴随卷积：特征误差 </m:t>
                      </m:r>
                      <m:r>
                        <a:rPr lang="ja-JP" altLang="en-US" i="0"/>
                        <m:t>→</m:t>
                      </m:r>
                      <m:r>
                        <m:rPr>
                          <m:nor/>
                        </m:rPr>
                        <a:rPr lang="ja-JP" altLang="en-US"/>
                        <m:t>图像方向的误差</m:t>
                      </m:r>
                    </m:oMath>
                  </m:oMathPara>
                </a14:m>
                <a:endParaRPr lang="ja-JP" altLang="en-US" b="0" dirty="0"/>
              </a:p>
              <a:p>
                <a:endParaRPr lang="ja-JP" altLang="ja-JP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721B3CA-E2BB-DE11-EF2E-C740189723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r="-1001" b="-29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01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0F19-F8AD-D01F-7EAF-724C057F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2A20F06-4A2F-6B8D-CE41-2DD36FA14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21FD97A-E912-B986-0D0C-14E4A2FF5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在复 Hilbert 空间中，伴随算子对应共轭转置：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b="1" dirty="0"/>
                  <a:t>inverse problems / 医学图像重建中：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b="1" dirty="0"/>
                  <a:t> 是 backprojection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很多成像问题写成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𝐴𝑥</m:t>
                    </m:r>
                    <m:r>
                      <a:rPr lang="en-US" altLang="ja-JP"/>
                      <m:t>+</m:t>
                    </m:r>
                    <m:r>
                      <a:rPr lang="ja-JP" altLang="en-US" i="1"/>
                      <m:t>𝜀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</m:oMath>
                </a14:m>
                <a:r>
                  <a:rPr lang="ja-JP" altLang="ja-JP" dirty="0"/>
                  <a:t>是真实图像，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 是观测数据，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 是物理测量算子。例如：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b="0" smtClean="0"/>
                        <m:t>CT</m:t>
                      </m:r>
                      <m:r>
                        <m:rPr>
                          <m:nor/>
                        </m:rPr>
                        <a:rPr lang="ja-JP" altLang="en-US" b="0" i="1" smtClean="0"/>
                        <m:t> 图像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ja-JP" altLang="en-US" i="1"/>
                          </m:ctrlPr>
                        </m:groupChrPr>
                        <m:e>
                          <m:box>
                            <m:boxPr>
                              <m:ctrlPr>
                                <a:rPr lang="ja-JP" altLang="en-US" i="1"/>
                              </m:ctrlPr>
                            </m:boxPr>
                            <m:e>
                              <m:r>
                                <a:rPr lang="ja-JP" altLang="en-US" b="0" i="1"/>
                                <m:t>𝐴</m:t>
                              </m:r>
                            </m:e>
                          </m:box>
                        </m:e>
                      </m:groupChr>
                      <m:r>
                        <m:rPr>
                          <m:nor/>
                        </m:rPr>
                        <a:rPr lang="ja-JP" altLang="en-US" i="1"/>
                        <m:t>投影数据</m:t>
                      </m:r>
                      <m:r>
                        <a:rPr lang="en-US" altLang="ja-JP"/>
                        <m:t>,</m:t>
                      </m:r>
                      <m:r>
                        <m:rPr>
                          <m:nor/>
                        </m:rPr>
                        <a:rPr lang="en-US" altLang="ja-JP" b="0" i="0" smtClean="0"/>
                        <m:t>  </m:t>
                      </m:r>
                      <m:r>
                        <m:rPr>
                          <m:nor/>
                        </m:rPr>
                        <a:rPr lang="en-US" altLang="ja-JP" b="0"/>
                        <m:t>MRI</m:t>
                      </m:r>
                      <m:r>
                        <m:rPr>
                          <m:nor/>
                        </m:rPr>
                        <a:rPr lang="ja-JP" altLang="en-US" b="0" i="1"/>
                        <m:t> 图像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ja-JP" altLang="en-US" i="1"/>
                          </m:ctrlPr>
                        </m:groupChrPr>
                        <m:e>
                          <m:box>
                            <m:boxPr>
                              <m:ctrlPr>
                                <a:rPr lang="ja-JP" altLang="en-US" i="1"/>
                              </m:ctrlPr>
                            </m:boxPr>
                            <m:e>
                              <m:r>
                                <a:rPr lang="ja-JP" altLang="en-US" b="0" i="1"/>
                                <m:t>𝐴</m:t>
                              </m:r>
                            </m:e>
                          </m:box>
                        </m:e>
                      </m:groupChr>
                      <m:r>
                        <m:rPr>
                          <m:nor/>
                        </m:rPr>
                        <a:rPr lang="en-US" altLang="ja-JP" i="1"/>
                        <m:t>k</m:t>
                      </m:r>
                      <m:r>
                        <m:rPr>
                          <m:nor/>
                        </m:rPr>
                        <a:rPr lang="en-US" altLang="ja-JP" i="1"/>
                        <m:t>−</m:t>
                      </m:r>
                      <m:r>
                        <m:rPr>
                          <m:nor/>
                        </m:rPr>
                        <a:rPr lang="en-US" altLang="ja-JP" i="1"/>
                        <m:t>space</m:t>
                      </m:r>
                      <m:r>
                        <m:rPr>
                          <m:nor/>
                        </m:rPr>
                        <a:rPr lang="en-US" altLang="ja-JP" i="1"/>
                        <m:t> </m:t>
                      </m:r>
                      <m:r>
                        <m:rPr>
                          <m:nor/>
                        </m:rPr>
                        <a:rPr lang="ja-JP" altLang="en-US" i="1"/>
                        <m:t>观测</m:t>
                      </m:r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平方误差项为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r>
                          <a:rPr lang="en-US" altLang="ja-JP"/>
                          <m:t>2</m:t>
                        </m:r>
                      </m:den>
                    </m:f>
                    <m:r>
                      <a:rPr lang="ja-JP" altLang="en-US"/>
                      <m:t>∥</m:t>
                    </m:r>
                    <m:r>
                      <a:rPr lang="ja-JP" altLang="en-US" i="1"/>
                      <m:t>𝐴𝑥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梯度是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𝐴𝑥</m:t>
                        </m:r>
                        <m:r>
                          <a:rPr lang="ja-JP" altLang="en-US"/>
                          <m:t>−</m:t>
                        </m:r>
                        <m:r>
                          <a:rPr lang="ja-JP" altLang="en-US" i="1"/>
                          <m:t>𝑦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 CT 中，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 常对应 </a:t>
                </a:r>
                <a:r>
                  <a:rPr lang="ja-JP" altLang="ja-JP" b="1" dirty="0"/>
                  <a:t>backprojection</a:t>
                </a:r>
                <a:r>
                  <a:rPr lang="ja-JP" altLang="ja-JP" dirty="0"/>
                  <a:t>；在 MRI 中，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 常包含 </a:t>
                </a:r>
                <a:r>
                  <a:rPr lang="ja-JP" altLang="ja-JP" b="1" dirty="0"/>
                  <a:t>逆 Fourier 变换、coil sensitivity 的共轭乘法</a:t>
                </a:r>
                <a:r>
                  <a:rPr lang="ja-JP" altLang="ja-JP" dirty="0"/>
                  <a:t> 等。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Adler and Öktem 的 </a:t>
                </a:r>
                <a:r>
                  <a:rPr lang="ja-JP" altLang="ja-JP" i="1" dirty="0"/>
                  <a:t>Learned Primal-Dual Reconstruction</a:t>
                </a:r>
                <a:r>
                  <a:rPr lang="ja-JP" altLang="ja-JP" dirty="0"/>
                  <a:t> 把传统 primal-dual 优化展开成神经网络，其中显式使用 forward operator 和对应的 back-projection/adjoint 结构。 Hammernik et al. 的 MRI variational network 也把压缩感知 MRI 的变分模型展开成可学习网络，本质上依赖 forward measurement operator 及其伴随来构造数据一致性更新。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这里的理解是：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:</m:t>
                    </m:r>
                    <m:r>
                      <m:rPr>
                        <m:nor/>
                      </m:rPr>
                      <a:rPr lang="ja-JP" altLang="en-US" i="1"/>
                      <m:t>图像空间</m:t>
                    </m:r>
                    <m:r>
                      <a:rPr lang="ja-JP" altLang="en-US"/>
                      <m:t>→</m:t>
                    </m:r>
                    <m:r>
                      <m:rPr>
                        <m:nor/>
                      </m:rPr>
                      <a:rPr lang="ja-JP" altLang="en-US" i="1"/>
                      <m:t>观测空间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b="0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:</m:t>
                    </m:r>
                    <m:r>
                      <m:rPr>
                        <m:nor/>
                      </m:rPr>
                      <a:rPr lang="ja-JP" altLang="en-US" i="1"/>
                      <m:t>观测误差</m:t>
                    </m:r>
                    <m:r>
                      <a:rPr lang="ja-JP" altLang="en-US"/>
                      <m:t>→</m:t>
                    </m:r>
                    <m:r>
                      <m:rPr>
                        <m:nor/>
                      </m:rPr>
                      <a:rPr lang="ja-JP" altLang="en-US" i="1"/>
                      <m:t>图像空间中的修正方向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21FD97A-E912-B986-0D0C-14E4A2FF5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b="-38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08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E2DD-2125-446D-E764-6D34E22E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0E9D590-8223-5919-2F70-3BD13096A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D12DBF2-A952-8C5E-CAFB-EC1E32E5E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在复 Hilbert 空间中，伴随算子对应共轭转置：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b="1" dirty="0"/>
                  <a:t>Neural ODE / differentiable physics 中：adjoint method 是核心训练方法</a:t>
                </a:r>
              </a:p>
              <a:p>
                <a:r>
                  <a:rPr lang="ja-JP" altLang="ja-JP" dirty="0"/>
                  <a:t>Neural ODE 把神经网络写成连续深度系统：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ja-JP" altLang="en-US" i="1"/>
                          <m:t>𝑑𝑧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𝑡</m:t>
                            </m:r>
                          </m:e>
                        </m:d>
                      </m:num>
                      <m:den>
                        <m:r>
                          <a:rPr lang="ja-JP" altLang="en-US" i="1"/>
                          <m:t>𝑑𝑡</m:t>
                        </m:r>
                      </m:den>
                    </m:f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𝑓</m:t>
                        </m:r>
                      </m:e>
                      <m:sub>
                        <m:r>
                          <a:rPr lang="ja-JP" altLang="en-US" i="1"/>
                          <m:t>𝜃</m:t>
                        </m:r>
                      </m:sub>
                    </m:sSub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𝑧</m:t>
                        </m:r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r>
                          <a:rPr lang="ja-JP" altLang="en-US" i="1"/>
                          <m:t>𝑡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训练时不能简单存储所有中间层，所以 Chen et al. 提出用 </a:t>
                </a:r>
                <a:r>
                  <a:rPr lang="ja-JP" altLang="ja-JP" b="1" dirty="0"/>
                  <a:t>adjoint sensitivity method</a:t>
                </a:r>
                <a:r>
                  <a:rPr lang="ja-JP" altLang="ja-JP" dirty="0"/>
                  <a:t> 反向计算梯度。论文明确说他们把 ODE solver 当作黑盒，并用 adjoint sensitivity method 来计算梯度。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这里的 “adjoint” 的含义仍然是：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ja-JP" altLang="en-US" b="0"/>
                        <m:t>终点误差</m:t>
                      </m:r>
                      <m:r>
                        <a:rPr lang="ja-JP" altLang="en-US"/>
                        <m:t>→</m:t>
                      </m:r>
                      <m:r>
                        <m:rPr>
                          <m:nor/>
                        </m:rPr>
                        <a:rPr lang="ja-JP" altLang="en-US" i="1"/>
                        <m:t>沿时间反向传播</m:t>
                      </m:r>
                      <m:r>
                        <a:rPr lang="ja-JP" altLang="en-US"/>
                        <m:t>→</m:t>
                      </m:r>
                      <m:r>
                        <m:rPr>
                          <m:nor/>
                        </m:rPr>
                        <a:rPr lang="ja-JP" altLang="en-US" i="1"/>
                        <m:t>参数梯度</m:t>
                      </m:r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也就是说，Neural ODE 的反向传播是连续时间版本的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𝐽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𝑟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D12DBF2-A952-8C5E-CAFB-EC1E32E5E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10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5AF1-2C5F-3E57-4CCD-FB586A0E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7D71E22-9E26-5C11-0F2B-65040A491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6635460-F20C-CC48-AE36-0CFF5D18D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在复 Hilbert 空间中，伴随算子对应共轭转置：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b="1" dirty="0"/>
                  <a:t>FNO / Neural Operator 中：复 Hilbert 空间和共轭转置尤其重要</a:t>
                </a:r>
              </a:p>
              <a:p>
                <a:r>
                  <a:rPr lang="ja-JP" altLang="ja-JP" dirty="0"/>
                  <a:t>Fourier Neural Operator 中，一层大致包含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/>
                      <m:t>𝑣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ℱ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𝑣</m:t>
                        </m:r>
                      </m:e>
                    </m:d>
                    <m:r>
                      <a:rPr lang="ja-JP" altLang="en-US"/>
                      <m:t>→</m:t>
                    </m:r>
                    <m:r>
                      <a:rPr lang="ja-JP" altLang="en-US" i="1"/>
                      <m:t>𝑅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  <m:r>
                      <a:rPr lang="en-US" altLang="ja-JP"/>
                      <m:t>ℱ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𝑣</m:t>
                        </m:r>
                      </m:e>
                    </m:d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  <m:r>
                      <a:rPr lang="ja-JP" altLang="en-US"/>
                      <m:t>→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ℱ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/>
                          <m:t>⋅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由于 Fourier 系数是复数，谱空间里的线性变换自然处在复 Hilbert 空间中。FNO 论文的核心思想就是在 Fourier 空间中参数化积分核，并学习函数空间之间的算子；实验包括 Burgers 方程、Darcy flow 和 Navier–Stokes 方程。</a:t>
                </a:r>
              </a:p>
              <a:p>
                <a:r>
                  <a:rPr lang="ja-JP" altLang="ja-JP" dirty="0"/>
                  <a:t>因此，如果做 FNO 的反向传播，谱乘法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ja-JP" altLang="en-US"/>
                        </m:ctrlPr>
                      </m:accPr>
                      <m:e>
                        <m:r>
                          <a:rPr lang="ja-JP" altLang="en-US" i="1"/>
                          <m:t>𝑧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𝑅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𝑣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的反向传播不是普通转置，而是</a:t>
                </a:r>
                <a:endParaRPr lang="en-US" altLang="ja-JP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/>
                        <m:t>𝑅</m:t>
                      </m:r>
                      <m:sSup>
                        <m:sSupPr>
                          <m:ctrlPr>
                            <a:rPr lang="ja-JP" altLang="en-US" i="1"/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/>
                              </m:ctrlPr>
                            </m:dPr>
                            <m:e>
                              <m:r>
                                <a:rPr lang="ja-JP" altLang="en-US" i="1"/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ja-JP" altLang="en-US" i="1"/>
                            <m:t>𝐻</m:t>
                          </m:r>
                        </m:sup>
                      </m:sSup>
                      <m:r>
                        <a:rPr lang="en-US" altLang="ja-JP"/>
                        <m:t>=</m:t>
                      </m:r>
                      <m:sSup>
                        <m:sSupPr>
                          <m:ctrlPr>
                            <a:rPr lang="ja-JP" altLang="en-US" i="1"/>
                          </m:ctrlPr>
                        </m:s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ja-JP" altLang="en-US" i="1"/>
                              </m:ctrlPr>
                            </m:groupChrPr>
                            <m:e>
                              <m:r>
                                <a:rPr lang="ja-JP" altLang="en-US" i="1"/>
                                <m:t>𝑅</m:t>
                              </m:r>
                              <m:d>
                                <m:dPr>
                                  <m:ctrlPr>
                                    <a:rPr lang="ja-JP" altLang="en-US" i="1"/>
                                  </m:ctrlPr>
                                </m:dPr>
                                <m:e>
                                  <m:r>
                                    <a:rPr lang="ja-JP" altLang="en-US" i="1"/>
                                    <m:t>𝑘</m:t>
                                  </m:r>
                                </m:e>
                              </m:d>
                            </m:e>
                          </m:groupChr>
                        </m:e>
                        <m:sup>
                          <m:r>
                            <a:rPr lang="ja-JP" altLang="en-US" i="1"/>
                            <m:t>𝑇</m:t>
                          </m:r>
                        </m:sup>
                      </m:sSup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ja-JP" dirty="0"/>
                  <a:t>也就是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/>
                            </m:ctrlPr>
                          </m:groupChr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这点在复值神经网络中也很重要。Trabelsi et al. 的 </a:t>
                </a:r>
                <a:r>
                  <a:rPr lang="ja-JP" altLang="ja-JP" i="1" dirty="0"/>
                  <a:t>Deep Complex Networks</a:t>
                </a:r>
                <a:r>
                  <a:rPr lang="ja-JP" altLang="ja-JP" dirty="0"/>
                  <a:t> 提供了复值深度神经网络所需的基本组件，包括复卷积、复 batch normalization 等；这些模型训练时必须处理复数权重与复数梯度，因此共轭转置是自然出现的。</a:t>
                </a:r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6635460-F20C-CC48-AE36-0CFF5D18D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b="-13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38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F19E-76C4-586E-D32B-A42DBD20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38EED36-0B9D-60C3-6449-28948CD2D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伴随算子把误差拉回参数空间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5439608-084C-94E5-899E-DE04A6434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伴随算子是：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它满足：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在实矩阵中，伴随算子对应转置：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在复 Hilbert 空间中，伴随算子对应共轭转置：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groupChr>
                          <m:groupChrPr>
                            <m:chr m:val="‾"/>
                            <m:pos m:val="top"/>
                            <m:vertJc m:val="bot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groupCh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b="1" dirty="0"/>
                  <a:t>核方法 / RKHS 中：自伴算子、协方差算子非常常见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称为自伴算子。有限维复空间中，自伴矩阵就是 Hermitian 矩阵。</a:t>
                </a:r>
              </a:p>
              <a:p>
                <a:r>
                  <a:rPr lang="ja-JP" altLang="ja-JP" dirty="0"/>
                  <a:t>机器学习里很多重要对象都是自伴或半正定的：</a:t>
                </a:r>
                <a14:m>
                  <m:oMath xmlns:m="http://schemas.openxmlformats.org/officeDocument/2006/math">
                    <m:r>
                      <a:rPr lang="ja-JP" altLang="en-US" i="1"/>
                      <m:t>𝐾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𝐾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endParaRPr lang="ja-JP" altLang="en-US" dirty="0"/>
              </a:p>
              <a:p>
                <a:r>
                  <a:rPr lang="ja-JP" altLang="ja-JP" dirty="0"/>
                  <a:t>例如：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b="0"/>
                      <m:t>Gram</m:t>
                    </m:r>
                    <m:r>
                      <m:rPr>
                        <m:nor/>
                      </m:rPr>
                      <a:rPr lang="ja-JP" altLang="en-US" b="0" i="1"/>
                      <m:t> </m:t>
                    </m:r>
                    <m:r>
                      <m:rPr>
                        <m:nor/>
                      </m:rPr>
                      <a:rPr lang="en-US" altLang="ja-JP" b="0" i="1"/>
                      <m:t>matrix</m:t>
                    </m:r>
                    <m:r>
                      <a:rPr lang="en-US" altLang="ja-JP"/>
                      <m:t>, </m:t>
                    </m:r>
                    <m:r>
                      <m:rPr>
                        <m:nor/>
                      </m:rPr>
                      <a:rPr lang="en-US" altLang="ja-JP" i="1"/>
                      <m:t>kernel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matrix</m:t>
                    </m:r>
                    <m:r>
                      <a:rPr lang="en-US" altLang="ja-JP"/>
                      <m:t>, </m:t>
                    </m:r>
                    <m:r>
                      <m:rPr>
                        <m:nor/>
                      </m:rPr>
                      <a:rPr lang="en-US" altLang="ja-JP" i="1"/>
                      <m:t>covariance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operator</m:t>
                    </m:r>
                    <m:r>
                      <a:rPr lang="en-US" altLang="ja-JP"/>
                      <m:t>, </m:t>
                    </m:r>
                    <m:r>
                      <m:rPr>
                        <m:nor/>
                      </m:rPr>
                      <a:rPr lang="en-US" altLang="ja-JP" i="1"/>
                      <m:t>graph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Laplacian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r>
                  <a:rPr lang="ja-JP" altLang="ja-JP" dirty="0"/>
                  <a:t>在 RKHS 中，核方法把数据映射到 Hilbert 空间。Muandet et al. 的 kernel mean embedding 综述说明，分布可以嵌入到 RKHS 中，从而把核方法扩展到概率测度。 Gretton et al. 的 HSIC 独立性检验则直接基于 RKHS 中的 covariance operator，并使用 Hilbert-Schmidt norm 来衡量统计依赖。</a:t>
                </a:r>
              </a:p>
              <a:p>
                <a:r>
                  <a:rPr lang="ja-JP" altLang="ja-JP" dirty="0"/>
                  <a:t>直觉是：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自伴算子</m:t>
                    </m:r>
                    <m:r>
                      <a:rPr lang="en-US" altLang="ja-JP"/>
                      <m:t>=</m:t>
                    </m:r>
                    <m:r>
                      <m:rPr>
                        <m:nor/>
                      </m:rPr>
                      <a:rPr lang="ja-JP" altLang="en-US"/>
                      <m:t>能量、相关性、协方差、平滑、扩散结构</m:t>
                    </m:r>
                  </m:oMath>
                </a14:m>
                <a:endParaRPr lang="ja-JP" altLang="en-US" b="0" dirty="0"/>
              </a:p>
              <a:p>
                <a:r>
                  <a:rPr lang="ja-JP" altLang="ja-JP" dirty="0"/>
                  <a:t>所以它经常出现在 PCA、kernel PCA、Gaussian process、graph learning、spectral clustering、diffusion models 的理论背景中。</a:t>
                </a:r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5439608-084C-94E5-899E-DE04A6434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r="-527" b="-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93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DC52-659D-74D1-905D-04E00996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482F3-58B9-04FF-E704-60EC973AF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从最小二乘到正规方程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0F60C01-A8A6-0617-AD24-E30090811E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考虑目标函数：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zh-CN" altLang="en-US" dirty="0"/>
                  <a:t>（</a:t>
                </a:r>
                <a:r>
                  <a:rPr lang="ja-JP" altLang="ja-JP" dirty="0"/>
                  <a:t> Au−y 就是预测误差，也叫 residual</a:t>
                </a:r>
                <a:r>
                  <a:rPr lang="zh-CN" altLang="en-US" dirty="0"/>
                  <a:t>）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是极小点，则任意方向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上</a:t>
                </a:r>
                <a:r>
                  <a:rPr lang="zh-CN" altLang="en-US" dirty="0"/>
                  <a:t>（</a:t>
                </a: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𝑢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附近往任何方向动一点，目标函数都不能继续下降</a:t>
                </a:r>
                <a:r>
                  <a:rPr lang="zh-CN" altLang="en-US" dirty="0"/>
                  <a:t>）</a:t>
                </a:r>
                <a:r>
                  <a:rPr lang="ja-JP" altLang="ja-JP" dirty="0"/>
                  <a:t>：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𝑡𝐴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+2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/>
                  <a:t> </a:t>
                </a:r>
                <a:r>
                  <a:rPr lang="zh-CN" altLang="en-US" dirty="0"/>
                  <a:t>（由</a:t>
                </a:r>
                <a:r>
                  <a:rPr lang="ja-JP" altLang="ja-JP" dirty="0"/>
                  <a:t>展开平方范数</a:t>
                </a:r>
                <a:r>
                  <a:rPr lang="zh-CN" altLang="en-US" dirty="0"/>
                  <a:t>得到）</a:t>
                </a: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/>
                          </m:ctrlPr>
                        </m:sSubPr>
                        <m:e>
                          <m:d>
                            <m:dPr>
                              <m:begChr m:val=""/>
                              <m:endChr m:val="∣"/>
                              <m:ctrlPr>
                                <a:rPr lang="ja-JP" altLang="en-US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ja-JP" altLang="en-US"/>
                                  </m:ctrlPr>
                                </m:fPr>
                                <m:num>
                                  <m:r>
                                    <a:rPr lang="ja-JP" altLang="en-US" i="1"/>
                                    <m:t>𝑑</m:t>
                                  </m:r>
                                </m:num>
                                <m:den>
                                  <m:r>
                                    <a:rPr lang="ja-JP" altLang="en-US" i="1"/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ja-JP" altLang="en-US" i="1"/>
                            <m:t>𝑡</m:t>
                          </m:r>
                          <m:r>
                            <a:rPr lang="en-US" altLang="ja-JP"/>
                            <m:t>=0</m:t>
                          </m:r>
                        </m:sub>
                      </m:sSub>
                      <m:r>
                        <a:rPr lang="ja-JP" altLang="en-US"/>
                        <m:t>∥</m:t>
                      </m:r>
                      <m:r>
                        <a:rPr lang="ja-JP" altLang="en-US" i="1"/>
                        <m:t>𝑟</m:t>
                      </m:r>
                      <m:r>
                        <a:rPr lang="en-US" altLang="ja-JP"/>
                        <m:t>+</m:t>
                      </m:r>
                      <m:r>
                        <a:rPr lang="ja-JP" altLang="en-US" i="1"/>
                        <m:t>𝑡𝐴</m:t>
                      </m:r>
                      <m:r>
                        <a:rPr lang="en-US" altLang="ja-JP" i="1"/>
                        <m:t>h</m:t>
                      </m:r>
                      <m:sSup>
                        <m:sSupPr>
                          <m:ctrlPr>
                            <a:rPr lang="ja-JP" altLang="en-US" i="1"/>
                          </m:ctrlPr>
                        </m:sSupPr>
                        <m:e>
                          <m:r>
                            <a:rPr lang="ja-JP" altLang="en-US"/>
                            <m:t>∥</m:t>
                          </m:r>
                        </m:e>
                        <m:sup>
                          <m:r>
                            <a:rPr lang="en-US" altLang="ja-JP"/>
                            <m:t>2</m:t>
                          </m:r>
                        </m:sup>
                      </m:sSup>
                      <m:r>
                        <a:rPr lang="en-US" altLang="ja-JP"/>
                        <m:t>=2</m:t>
                      </m:r>
                      <m:r>
                        <m:rPr>
                          <m:sty m:val="p"/>
                        </m:rPr>
                        <a:rPr lang="en-US" altLang="ja-JP"/>
                        <m:t>Re</m:t>
                      </m:r>
                      <m:r>
                        <a:rPr lang="en-US" altLang="ja-JP"/>
                        <m:t>⁡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/>
                          </m:ctrlPr>
                        </m:dPr>
                        <m:e>
                          <m:r>
                            <a:rPr lang="ja-JP" altLang="en-US" i="1"/>
                            <m:t>𝑟</m:t>
                          </m:r>
                        </m:e>
                        <m:e>
                          <m:r>
                            <a:rPr lang="ja-JP" altLang="en-US" i="1"/>
                            <m:t>𝐴</m:t>
                          </m:r>
                          <m:r>
                            <a:rPr lang="en-US" altLang="ja-JP" i="1"/>
                            <m:t>h</m:t>
                          </m:r>
                        </m:e>
                      </m:d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=0, ∀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利用伴随算子：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因此：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即：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这就是 Hilbert 空间中的正规方程。如果我们在参数空间中沿 </a:t>
                </a:r>
                <a14:m>
                  <m:oMath xmlns:m="http://schemas.openxmlformats.org/officeDocument/2006/math">
                    <m:r>
                      <a:rPr lang="en-US" altLang="ja-JP" i="1"/>
                      <m:t>h</m:t>
                    </m:r>
                  </m:oMath>
                </a14:m>
                <a:r>
                  <a:rPr lang="ja-JP" altLang="ja-JP" dirty="0"/>
                  <a:t>方向改变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，那么输出空间中的变化方向就是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 i="1"/>
                      <m:t>h</m:t>
                    </m:r>
                  </m:oMath>
                </a14:m>
                <a:r>
                  <a:rPr lang="ja-JP" altLang="ja-JP" dirty="0"/>
                  <a:t>。</a:t>
                </a:r>
                <a:r>
                  <a:rPr lang="zh-CN" altLang="en-US" dirty="0"/>
                  <a:t>最优误差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与所有可能的输出变化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dirty="0"/>
                  <a:t>都正交。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也就是说。</a:t>
                </a:r>
                <a:r>
                  <a:rPr lang="ja-JP" altLang="ja-JP" dirty="0"/>
                  <a:t>要求</a:t>
                </a:r>
                <a14:m>
                  <m:oMath xmlns:m="http://schemas.openxmlformats.org/officeDocument/2006/math">
                    <m:r>
                      <a:rPr lang="ja-JP" altLang="en-US" i="1"/>
                      <m:t>𝐽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𝑢</m:t>
                        </m:r>
                      </m:e>
                    </m:d>
                    <m:r>
                      <a:rPr lang="en-US" altLang="ja-JP"/>
                      <m:t>=∥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最小，不是直接解</a:t>
                </a:r>
                <a14:m>
                  <m:oMath xmlns:m="http://schemas.openxmlformats.org/officeDocument/2006/math"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𝑦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而是解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𝑦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0F60C01-A8A6-0617-AD24-E30090811E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b="-12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94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B078-8B92-1404-3214-D2988D29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05B79B8-BAC9-F73B-6075-513EC5968ABD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ja-JP" b="1" dirty="0"/>
                  <a:t>为什么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ja-JP" b="1" dirty="0"/>
                  <a:t>特别重要</a:t>
                </a:r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05B79B8-BAC9-F73B-6075-513EC5968A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A3D0AA7-6A24-1BAA-9A1F-B3A158D4D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对于任意有界线性算子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，算子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是自伴且非负的，因为：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𝐴𝑢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𝐴𝑢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𝐴𝑢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𝐴𝑢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最小二乘的正规方程正是：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ja-JP" dirty="0"/>
                  <a:t>因此，理解最小二乘的稳定性，本质上要理解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的谱。</a:t>
                </a:r>
                <a:endParaRPr lang="en-US" altLang="ja-JP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例子：</a:t>
                </a:r>
                <a:endParaRPr lang="en-US" altLang="zh-CN" dirty="0"/>
              </a:p>
              <a:p>
                <a:r>
                  <a:rPr lang="ja-JP" altLang="ja-JP" dirty="0"/>
                  <a:t>在有限维中，谱就是矩阵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的特征值</a:t>
                </a:r>
                <a:r>
                  <a:rPr lang="zh-CN" altLang="en-US" dirty="0"/>
                  <a:t>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的谱一定是非负的</a:t>
                </a:r>
                <a:r>
                  <a:rPr lang="zh-CN" altLang="en-US" dirty="0"/>
                  <a:t>，而且</a:t>
                </a: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的奇异值是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en-US" altLang="ja-JP"/>
                      <m:t>,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,…,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𝑟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的非零谱就是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/>
                        </m:ctrlPr>
                      </m:sSubSup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,</m:t>
                    </m:r>
                    <m:sSubSup>
                      <m:sSubSupPr>
                        <m:ctrlPr>
                          <a:rPr lang="ja-JP" altLang="en-US" i="1"/>
                        </m:ctrlPr>
                      </m:sSubSup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,…,</m:t>
                    </m:r>
                    <m:sSubSup>
                      <m:sSubSupPr>
                        <m:ctrlPr>
                          <a:rPr lang="ja-JP" altLang="en-US" i="1"/>
                        </m:ctrlPr>
                      </m:sSubSup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𝑟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2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因为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</m:oMath>
                </a14:m>
                <a:r>
                  <a:rPr lang="ja-JP" altLang="ja-JP" dirty="0"/>
                  <a:t>，所以</a:t>
                </a:r>
                <a:r>
                  <a:rPr lang="en-US" altLang="ja-JP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4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ja-JP" altLang="ja-JP" dirty="0"/>
                  <a:t>因此谱是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ja-JP" altLang="en-US"/>
                        </m:ctrlPr>
                      </m:dPr>
                      <m:e>
                        <m:r>
                          <a:rPr lang="en-US" altLang="ja-JP"/>
                          <m:t>4</m:t>
                        </m:r>
                      </m:e>
                      <m:e>
                        <m:r>
                          <a:rPr lang="en-US" altLang="ja-JP"/>
                          <m:t>9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在第一个方向上，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 把长度放大 2 倍，所以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对应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en-US" altLang="ja-JP"/>
                          <m:t>2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=4</m:t>
                    </m:r>
                  </m:oMath>
                </a14:m>
                <a:r>
                  <a:rPr lang="ja-JP" altLang="ja-JP" dirty="0"/>
                  <a:t>；在第二个方向上，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 把长度放大 3 倍，所以对应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en-US" altLang="ja-JP"/>
                          <m:t>3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=9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A3D0AA7-6A24-1BAA-9A1F-B3A158D4D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123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8A15-3834-D305-EDEB-5CF7FF89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917B439-D8E4-CCA1-C8DD-5A9B12267C3E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关于</a:t>
                </a:r>
                <a:r>
                  <a:rPr lang="ja-JP" altLang="ja-JP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917B439-D8E4-CCA1-C8DD-5A9B12267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C48CDE9-08C9-C5D3-F7B2-C543F6855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b="1" dirty="0"/>
                  <a:t>例子 2：线性回归中的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</m:oMath>
                </a14:m>
                <a:endParaRPr lang="ja-JP" altLang="ja-JP" b="1" dirty="0"/>
              </a:p>
              <a:p>
                <a:pPr marL="0" indent="0">
                  <a:buNone/>
                </a:pPr>
                <a:r>
                  <a:rPr lang="ja-JP" altLang="ja-JP" dirty="0"/>
                  <a:t>在线性回归中，常写：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𝑋</m:t>
                    </m:r>
                    <m:r>
                      <a:rPr lang="ja-JP" altLang="en-US" i="1"/>
                      <m:t>𝛽</m:t>
                    </m:r>
                    <m:r>
                      <a:rPr lang="en-US" altLang="ja-JP"/>
                      <m:t>+</m:t>
                    </m:r>
                    <m:r>
                      <a:rPr lang="ja-JP" altLang="en-US" i="1"/>
                      <m:t>𝜀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最小二乘目标是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𝑋</m:t>
                    </m:r>
                    <m:r>
                      <a:rPr lang="ja-JP" altLang="en-US" i="1"/>
                      <m:t>𝛽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对应的正则方程是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  <m:r>
                      <a:rPr lang="ja-JP" altLang="en-US" i="1"/>
                      <m:t>𝛽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𝑦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𝑋</m:t>
                    </m:r>
                    <m:r>
                      <a:rPr lang="en-US" altLang="ja-JP"/>
                      <m:t>, 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𝑋𝑣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𝑣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 </a:t>
                </a:r>
                <a14:m>
                  <m:oMath xmlns:m="http://schemas.openxmlformats.org/officeDocument/2006/math">
                    <m:r>
                      <a:rPr lang="ja-JP" altLang="en-US" i="1"/>
                      <m:t>𝑣</m:t>
                    </m:r>
                  </m:oMath>
                </a14:m>
                <a:r>
                  <a:rPr lang="ja-JP" altLang="ja-JP" dirty="0"/>
                  <a:t>是参数空间中的某个方向，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</m:oMath>
                </a14:m>
                <a:r>
                  <a:rPr lang="ja-JP" altLang="ja-JP" dirty="0"/>
                  <a:t> 表示数据矩阵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对这个方向的“可观测程度”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</m:oMath>
                </a14:m>
                <a:r>
                  <a:rPr lang="ja-JP" altLang="ja-JP" dirty="0"/>
                  <a:t>很大，说明这个方向在数据中很明显，估计比较稳定。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</m:oMath>
                </a14:m>
                <a:r>
                  <a:rPr lang="ja-JP" altLang="ja-JP" dirty="0"/>
                  <a:t>很小，说明这个方向几乎看不出来，估计会非常不稳定。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en-US" altLang="ja-JP"/>
                      <m:t>=0</m:t>
                    </m:r>
                  </m:oMath>
                </a14:m>
                <a:r>
                  <a:rPr lang="ja-JP" altLang="ja-JP" dirty="0"/>
                  <a:t>，说明存在某个非零方向 </a:t>
                </a:r>
                <a14:m>
                  <m:oMath xmlns:m="http://schemas.openxmlformats.org/officeDocument/2006/math">
                    <m:r>
                      <a:rPr lang="ja-JP" altLang="en-US" i="1"/>
                      <m:t>𝑣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 i="1"/>
                      <m:t>𝑋𝑣</m:t>
                    </m:r>
                    <m:r>
                      <a:rPr lang="en-US" altLang="ja-JP"/>
                      <m:t>=0.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也就是说，沿着这个参数方向改变 </a:t>
                </a:r>
                <a14:m>
                  <m:oMath xmlns:m="http://schemas.openxmlformats.org/officeDocument/2006/math">
                    <m:r>
                      <a:rPr lang="ja-JP" altLang="en-US" i="1"/>
                      <m:t>𝛽</m:t>
                    </m:r>
                  </m:oMath>
                </a14:m>
                <a:r>
                  <a:rPr lang="ja-JP" altLang="ja-JP" dirty="0"/>
                  <a:t>，模型预测完全不变。因此这个方向无法由数据识别。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这就是多重共线性、病态最小二乘、ridge regression 背后的谱解释。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b="1" dirty="0"/>
                  <a:t>例子 3：PCA 中的协方差矩阵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设数据矩阵为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ja-JP" altLang="en-US" i="1"/>
                          <m:t>𝑛</m:t>
                        </m:r>
                        <m:r>
                          <a:rPr lang="en-US" altLang="ja-JP"/>
                          <m:t>×</m:t>
                        </m:r>
                        <m:r>
                          <a:rPr lang="ja-JP" altLang="en-US" i="1"/>
                          <m:t>𝑑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经验协方差矩阵常写为</a:t>
                </a:r>
                <a14:m>
                  <m:oMath xmlns:m="http://schemas.openxmlformats.org/officeDocument/2006/math">
                    <m:r>
                      <a:rPr lang="ja-JP" altLang="en-US" i="1"/>
                      <m:t>𝐶</m:t>
                    </m:r>
                    <m:r>
                      <a:rPr lang="en-US" altLang="ja-JP"/>
                      <m:t>=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r>
                          <a:rPr lang="ja-JP" altLang="en-US" i="1"/>
                          <m:t>𝑛</m:t>
                        </m:r>
                      </m:den>
                    </m:f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这就是一个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型的算子，只差一个常数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r>
                          <a:rPr lang="ja-JP" altLang="en-US" i="1"/>
                          <m:t>𝑛</m:t>
                        </m:r>
                      </m:den>
                    </m:f>
                  </m:oMath>
                </a14:m>
                <a:endParaRPr lang="ja-JP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它的谱</a:t>
                </a:r>
                <a14:m>
                  <m:oMath xmlns:m="http://schemas.openxmlformats.org/officeDocument/2006/math">
                    <m:r>
                      <a:rPr lang="ja-JP" altLang="en-US" i="1"/>
                      <m:t>𝐶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给出 PCA 的主成分方向和方差大小。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是第 </a:t>
                </a:r>
                <a14:m>
                  <m:oMath xmlns:m="http://schemas.openxmlformats.org/officeDocument/2006/math">
                    <m:r>
                      <a:rPr lang="ja-JP" altLang="en-US" i="1"/>
                      <m:t>𝑖</m:t>
                    </m:r>
                  </m:oMath>
                </a14:m>
                <a:r>
                  <a:rPr lang="ja-JP" altLang="ja-JP" dirty="0"/>
                  <a:t>个主方向；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是数据在这个方向上的方差。</a:t>
                </a:r>
                <a:r>
                  <a:rPr lang="en-US" altLang="ja-JP" dirty="0"/>
                  <a:t>   </a:t>
                </a:r>
                <a:r>
                  <a:rPr lang="ja-JP" altLang="ja-JP" dirty="0"/>
                  <a:t>所以 PCA 本质上就是研究一个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型算子的谱。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C48CDE9-08C9-C5D3-F7B2-C543F6855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580" t="-784" b="-45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831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5897-2ACF-694E-1F31-7B65C7F2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7F3D4DE-D6DF-52E6-96E1-AD81A91082B2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关于</a:t>
                </a:r>
                <a:r>
                  <a:rPr lang="ja-JP" altLang="ja-JP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7F3D4DE-D6DF-52E6-96E1-AD81A9108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351B14D-65CF-DB1F-F8FC-E2DC1D6A8A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b="1" dirty="0"/>
                  <a:t>例子 4：卷积算子中的谱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假设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是卷积算子：</a:t>
                </a:r>
                <a14:m>
                  <m:oMath xmlns:m="http://schemas.openxmlformats.org/officeDocument/2006/math"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𝑘</m:t>
                    </m:r>
                    <m:r>
                      <a:rPr lang="ja-JP" altLang="en-US"/>
                      <m:t>∗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在 Fourier 空间中，卷积会变成乘法：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ja-JP" altLang="en-US"/>
                        </m:ctrlPr>
                      </m:accPr>
                      <m:e>
                        <m:r>
                          <a:rPr lang="ja-JP" altLang="en-US" i="1"/>
                          <m:t>𝐴𝑢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r>
                      <a:rPr lang="en-US" altLang="ja-JP"/>
                      <m:t>=</m:t>
                    </m:r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𝑘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𝑢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那么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在 Fourier 空间中就是：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ja-JP" altLang="en-US"/>
                        </m:ctrlPr>
                      </m:accPr>
                      <m:e>
                        <m:sSup>
                          <m:sSupPr>
                            <m:ctrlPr>
                              <a:rPr lang="ja-JP" altLang="en-US"/>
                            </m:ctrlPr>
                          </m:sSup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  <m:r>
                          <a:rPr lang="ja-JP" altLang="en-US" i="1"/>
                          <m:t>𝐴𝑢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r>
                      <a:rPr lang="en-US" altLang="ja-JP"/>
                      <m:t>=∣</m:t>
                    </m:r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𝑘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∣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𝑢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所以它的谱可以理解为：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∣</m:t>
                    </m:r>
                    <m:acc>
                      <m:accPr>
                        <m:chr m:val="̂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ja-JP" altLang="ja-JP" dirty="0"/>
              </a:p>
              <a:p>
                <a:r>
                  <a:rPr lang="ja-JP" altLang="ja-JP" dirty="0"/>
                  <a:t>例如，如果 </a:t>
                </a:r>
                <a14:m>
                  <m:oMath xmlns:m="http://schemas.openxmlformats.org/officeDocument/2006/math">
                    <m:r>
                      <a:rPr lang="ja-JP" altLang="en-US" i="1"/>
                      <m:t>𝑘</m:t>
                    </m:r>
                  </m:oMath>
                </a14:m>
                <a:r>
                  <a:rPr lang="ja-JP" altLang="ja-JP" dirty="0"/>
                  <a:t>是一个平滑核，那么高频部分的 </a:t>
                </a:r>
                <a14:m>
                  <m:oMath xmlns:m="http://schemas.openxmlformats.org/officeDocument/2006/math">
                    <m:r>
                      <a:rPr lang="ja-JP" altLang="en-US"/>
                      <m:t>∣</m:t>
                    </m:r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𝑘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r>
                      <a:rPr lang="ja-JP" altLang="en-US"/>
                      <m:t>∣</m:t>
                    </m:r>
                  </m:oMath>
                </a14:m>
                <a:r>
                  <a:rPr lang="ja-JP" altLang="ja-JP" dirty="0"/>
                  <a:t>很小。于是</a:t>
                </a:r>
                <a14:m>
                  <m:oMath xmlns:m="http://schemas.openxmlformats.org/officeDocument/2006/math">
                    <m:r>
                      <a:rPr lang="ja-JP" altLang="en-US"/>
                      <m:t>∣</m:t>
                    </m:r>
                    <m:acc>
                      <m:accPr>
                        <m:chr m:val="̂"/>
                        <m:ctrlPr>
                          <a:rPr lang="ja-JP" altLang="en-US" i="1"/>
                        </m:ctrlPr>
                      </m:accPr>
                      <m:e>
                        <m:r>
                          <a:rPr lang="ja-JP" altLang="en-US" i="1"/>
                          <m:t>𝑘</m:t>
                        </m:r>
                      </m:e>
                    </m:acc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𝜉</m:t>
                        </m:r>
                      </m:e>
                    </m:d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∣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在高频处也很小。这说明高频信息被严重压缩，反问题会变得不稳定。这就是为什么去模糊、超分辨率、图像重建问题通常是病态问题。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ja-JP" b="1" dirty="0"/>
                  <a:t>例子 5：积分算子和反问题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考虑积分算子：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ja-JP" altLang="en-US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</m:e>
                    </m:d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𝑠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ja-JP" altLang="en-US" i="1"/>
                        </m:ctrlPr>
                      </m:naryPr>
                      <m:sub/>
                      <m:sup/>
                      <m:e>
                        <m:r>
                          <a:rPr lang="ja-JP" altLang="en-US" i="1"/>
                          <m:t>𝐾</m:t>
                        </m:r>
                      </m:e>
                    </m:nary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𝑠</m:t>
                        </m:r>
                      </m:e>
                      <m:e>
                        <m:r>
                          <a:rPr lang="ja-JP" altLang="en-US" i="1"/>
                          <m:t>𝑡</m:t>
                        </m:r>
                      </m:e>
                    </m:d>
                    <m:r>
                      <a:rPr lang="ja-JP" altLang="en-US" i="1"/>
                      <m:t>𝑢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𝑑𝑡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b="0" dirty="0"/>
                  <a:t> </a:t>
                </a:r>
                <a:r>
                  <a:rPr lang="ja-JP" altLang="ja-JP" dirty="0"/>
                  <a:t>这类算子常出现在 inverse problems、成像、物理观测模型中。它的伴随通常是：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ja-JP" altLang="en-US"/>
                        </m:ctrlPr>
                      </m:dPr>
                      <m:e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  <m:r>
                          <a:rPr lang="ja-JP" altLang="en-US" i="1"/>
                          <m:t>𝑣</m:t>
                        </m:r>
                      </m:e>
                    </m:d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𝑡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ja-JP" altLang="en-US" i="1"/>
                        </m:ctrlPr>
                      </m:naryPr>
                      <m:sub/>
                      <m:sup/>
                      <m:e>
                        <m:acc>
                          <m:accPr>
                            <m:chr m:val="̅"/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sepChr m:val=",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acc>
                      </m:e>
                    </m:nary>
                    <m:r>
                      <a:rPr lang="ja-JP" altLang="en-US" i="1"/>
                      <m:t>𝑣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𝑠</m:t>
                        </m:r>
                      </m:e>
                    </m:d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𝑑𝑠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b="0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仍然是一个积分算子：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ja-JP" altLang="en-US"/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/>
                              </m:ctrlPr>
                            </m:sSupPr>
                            <m:e>
                              <m:r>
                                <a:rPr lang="ja-JP" altLang="en-US" i="1"/>
                                <m:t>𝐴</m:t>
                              </m:r>
                            </m:e>
                            <m:sup>
                              <m:r>
                                <a:rPr lang="ja-JP" altLang="en-US"/>
                                <m:t>∗</m:t>
                              </m:r>
                            </m:sup>
                          </m:sSup>
                          <m:r>
                            <a:rPr lang="ja-JP" altLang="en-US" i="1"/>
                            <m:t>𝐴𝑢</m:t>
                          </m:r>
                        </m:e>
                      </m:d>
                      <m:d>
                        <m:dPr>
                          <m:ctrlPr>
                            <a:rPr lang="ja-JP" altLang="en-US" i="1"/>
                          </m:ctrlPr>
                        </m:dPr>
                        <m:e>
                          <m:r>
                            <a:rPr lang="ja-JP" altLang="en-US" i="1"/>
                            <m:t>𝑡</m:t>
                          </m:r>
                        </m:e>
                      </m:d>
                      <m:r>
                        <a:rPr lang="en-US" altLang="ja-JP"/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ja-JP" altLang="en-US" i="1"/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ja-JP" altLang="en-US" i="1"/>
                              </m:ctrlPr>
                            </m:dPr>
                            <m:e>
                              <m:nary>
                                <m:naryPr>
                                  <m:grow m:val="on"/>
                                  <m:subHide m:val="on"/>
                                  <m:supHide m:val="on"/>
                                  <m:ctrlPr>
                                    <a:rPr lang="ja-JP" altLang="en-US" i="1"/>
                                  </m:ctrlPr>
                                </m:naryPr>
                                <m:sub/>
                                <m:sup/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d>
                                        <m:dPr>
                                          <m:sepChr m:val=","/>
                                          <m:ctrlPr>
                                            <a:rPr lang="ja-JP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ja-JP" alt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e>
                                          <m:r>
                                            <a:rPr lang="ja-JP" alt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acc>
                                </m:e>
                              </m:nary>
                              <m:r>
                                <a:rPr lang="ja-JP" altLang="en-US" i="1"/>
                                <m:t>𝐾</m:t>
                              </m:r>
                              <m:d>
                                <m:dPr>
                                  <m:sepChr m:val=","/>
                                  <m:ctrlPr>
                                    <a:rPr lang="ja-JP" altLang="en-US" i="1"/>
                                  </m:ctrlPr>
                                </m:dPr>
                                <m:e>
                                  <m:r>
                                    <a:rPr lang="ja-JP" altLang="en-US" i="1"/>
                                    <m:t>𝑠</m:t>
                                  </m:r>
                                </m:e>
                                <m:e>
                                  <m:r>
                                    <a:rPr lang="ja-JP" altLang="en-US" i="1"/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ja-JP" altLang="en-US" i="1"/>
                                <m:t> </m:t>
                              </m:r>
                              <m:r>
                                <a:rPr lang="ja-JP" altLang="en-US" i="1"/>
                                <m:t>𝑑𝑠</m:t>
                              </m:r>
                            </m:e>
                          </m:d>
                        </m:e>
                      </m:nary>
                      <m:r>
                        <a:rPr lang="ja-JP" altLang="en-US" i="1"/>
                        <m:t>𝑢</m:t>
                      </m:r>
                      <m:d>
                        <m:dPr>
                          <m:ctrlPr>
                            <a:rPr lang="ja-JP" altLang="en-US" i="1"/>
                          </m:ctrlPr>
                        </m:dPr>
                        <m:e>
                          <m:r>
                            <a:rPr lang="ja-JP" altLang="en-US" i="1"/>
                            <m:t>𝑟</m:t>
                          </m:r>
                        </m:e>
                      </m:d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/>
                        <m:t>𝑑𝑟</m:t>
                      </m:r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它的谱通常会衰减到 0：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ja-JP" altLang="en-US"/>
                      <m:t>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ja-JP" altLang="en-US"/>
                      <m:t>≥⋯→</m:t>
                    </m:r>
                    <m:r>
                      <a:rPr lang="en-US" altLang="ja-JP"/>
                      <m:t>0.</m:t>
                    </m:r>
                  </m:oMath>
                </a14:m>
                <a:r>
                  <a:rPr lang="en-US" altLang="ja-JP" dirty="0"/>
                  <a:t>    </a:t>
                </a:r>
                <a:r>
                  <a:rPr lang="ja-JP" altLang="ja-JP" dirty="0"/>
                  <a:t>这表示有些方向被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压得非常小。求解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时，如果要除以很小的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，噪声就会被放大。所以在反问题中，谱衰减越快，问题越不稳定。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351B14D-65CF-DB1F-F8FC-E2DC1D6A8A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580" t="-896" r="-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917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937D-3D4D-5BE7-DE44-6A1F7B1E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3AE6FF3-0C63-4AC0-C617-2DDED7109C5D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关于</a:t>
                </a:r>
                <a:r>
                  <a:rPr lang="ja-JP" altLang="ja-JP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3AE6FF3-0C63-4AC0-C617-2DDED7109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A0D7D70-B003-5F66-3CD2-7EC196B795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b="1" dirty="0"/>
                  <a:t>例子 6：微分算子与 Laplacian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ja-JP" altLang="en-US" i="1"/>
                          <m:t>𝑑</m:t>
                        </m:r>
                      </m:num>
                      <m:den>
                        <m:r>
                          <a:rPr lang="ja-JP" altLang="en-US" i="1"/>
                          <m:t>𝑑𝑥</m:t>
                        </m:r>
                      </m:den>
                    </m:f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在适当边界条件下，伴随大致是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=−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ja-JP" altLang="en-US" i="1"/>
                          <m:t>𝑑</m:t>
                        </m:r>
                      </m:num>
                      <m:den>
                        <m:r>
                          <a:rPr lang="ja-JP" altLang="en-US" i="1"/>
                          <m:t>𝑑𝑥</m:t>
                        </m:r>
                      </m:den>
                    </m:f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ja-JP" altLang="ja-JP" dirty="0"/>
                  <a:t>于是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  <m:r>
                      <a:rPr lang="en-US" altLang="ja-JP"/>
                      <m:t>=−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𝑑</m:t>
                            </m:r>
                          </m:e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ja-JP" altLang="en-US" i="1"/>
                          <m:t>𝑑</m:t>
                        </m:r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这就是一维 Laplacian。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如果在区间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/>
                        </m:ctrlPr>
                      </m:dPr>
                      <m:e>
                        <m:r>
                          <a:rPr lang="en-US" altLang="ja-JP"/>
                          <m:t>0</m:t>
                        </m:r>
                      </m:e>
                      <m:e>
                        <m:r>
                          <a:rPr lang="en-US" altLang="ja-JP"/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上取零边界条件，那么特征函数是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sin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𝑛</m:t>
                        </m:r>
                        <m:r>
                          <a:rPr lang="ja-JP" altLang="en-US" i="1"/>
                          <m:t>𝜋</m:t>
                        </m:r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对应特征值是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𝑛</m:t>
                        </m:r>
                      </m:sub>
                    </m:sSub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𝑛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所以这里的谱是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,4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,9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,…</m:t>
                    </m:r>
                  </m:oMath>
                </a14:m>
                <a:endParaRPr lang="en-US" altLang="ja-JP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经常把问题转化成某种 Laplacian 型算子。在 PDE、图像正则化、Sobolev 空间、物理信息机器学习中都很常见。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b="1" dirty="0"/>
                  <a:t>例子 7：图上的 incidence matrix 与 graph Laplacian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在图论和图机器学习中，设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是图的 incidence matrix。它描述边和点之间的关系。那么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𝐵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就是图 Laplacian：</a:t>
                </a:r>
                <a14:m>
                  <m:oMath xmlns:m="http://schemas.openxmlformats.org/officeDocument/2006/math">
                    <m:r>
                      <a:rPr lang="ja-JP" altLang="en-US" i="1"/>
                      <m:t>𝐿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𝐵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𝐵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所以图 Laplacian 也是一个典型的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型算子。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它的谱：</a:t>
                </a:r>
                <a14:m>
                  <m:oMath xmlns:m="http://schemas.openxmlformats.org/officeDocument/2006/math">
                    <m:r>
                      <a:rPr lang="en-US" altLang="ja-JP"/>
                      <m:t>0=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ja-JP" altLang="en-US"/>
                      <m:t>≤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ja-JP" altLang="en-US"/>
                      <m:t>≤⋯≤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𝑛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其中：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en-US" altLang="ja-JP"/>
                      <m:t>=0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对应常数函数；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叫 algebraic connectivity，可以衡量图的连通性；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大的特征值对应图上的高频变化。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在 spectral clustering、graph neural networks、diffusion on graphs 中都会用到这个谱。</a:t>
                </a:r>
              </a:p>
              <a:p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A0D7D70-B003-5F66-3CD2-7EC196B795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580" t="-896" b="-45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40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E2F2-5D8B-C8C1-063D-C8EC8262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49E44EF-FC1A-4498-8D75-16458B4CF15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关于</a:t>
                </a:r>
                <a:r>
                  <a:rPr lang="ja-JP" altLang="ja-JP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49E44EF-FC1A-4498-8D75-16458B4CF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E825B27-DC31-7A16-86D3-68BB9A8F87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b="1" dirty="0"/>
                  <a:t>例子 8：Fourier Neural Operator 中的谱乘法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在 FNO 中，一层常写成：</a:t>
                </a:r>
                <a14:m>
                  <m:oMath xmlns:m="http://schemas.openxmlformats.org/officeDocument/2006/math">
                    <m:r>
                      <a:rPr lang="ja-JP" altLang="en-US" i="1"/>
                      <m:t>𝑣</m:t>
                    </m:r>
                    <m:r>
                      <a:rPr lang="ja-JP" altLang="en-US"/>
                      <m:t>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ℱ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𝑅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𝑘</m:t>
                            </m:r>
                          </m:e>
                        </m:d>
                        <m:r>
                          <a:rPr lang="en-US" altLang="ja-JP"/>
                          <m:t>ℱ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𝑣</m:t>
                            </m:r>
                          </m:e>
                        </m:d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𝑘</m:t>
                            </m:r>
                          </m:e>
                        </m:d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这里 </a:t>
                </a:r>
                <a14:m>
                  <m:oMath xmlns:m="http://schemas.openxmlformats.org/officeDocument/2006/math">
                    <m:r>
                      <a:rPr lang="ja-JP" altLang="en-US" i="1"/>
                      <m:t>𝑅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</m:oMath>
                </a14:m>
                <a:r>
                  <a:rPr lang="ja-JP" altLang="ja-JP" dirty="0"/>
                  <a:t>是 Fourier 模式 </a:t>
                </a:r>
                <a14:m>
                  <m:oMath xmlns:m="http://schemas.openxmlformats.org/officeDocument/2006/math">
                    <m:r>
                      <a:rPr lang="ja-JP" altLang="en-US" i="1"/>
                      <m:t>𝑘</m:t>
                    </m:r>
                  </m:oMath>
                </a14:m>
                <a:r>
                  <a:rPr lang="ja-JP" altLang="ja-JP" dirty="0"/>
                  <a:t>上的复矩阵。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如果把这部分看成算子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，那么在每个频率 </a:t>
                </a:r>
                <a14:m>
                  <m:oMath xmlns:m="http://schemas.openxmlformats.org/officeDocument/2006/math">
                    <m:r>
                      <a:rPr lang="ja-JP" altLang="en-US" i="1"/>
                      <m:t>𝑘</m:t>
                    </m:r>
                  </m:oMath>
                </a14:m>
                <a:r>
                  <a:rPr lang="ja-JP" altLang="ja-JP" dirty="0"/>
                  <a:t>上，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对应的是</a:t>
                </a:r>
                <a14:m>
                  <m:oMath xmlns:m="http://schemas.openxmlformats.org/officeDocument/2006/math">
                    <m:r>
                      <a:rPr lang="ja-JP" altLang="en-US" i="1"/>
                      <m:t>𝑅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𝑘</m:t>
                            </m:r>
                          </m:e>
                        </m:d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𝑅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它的谱就是</a:t>
                </a:r>
                <a14:m>
                  <m:oMath xmlns:m="http://schemas.openxmlformats.org/officeDocument/2006/math">
                    <m:r>
                      <a:rPr lang="ja-JP" altLang="en-US" i="1"/>
                      <m:t>𝑅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𝑘</m:t>
                            </m:r>
                          </m:e>
                        </m:d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𝑅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𝑘</m:t>
                        </m:r>
                      </m:e>
                    </m:d>
                  </m:oMath>
                </a14:m>
                <a:r>
                  <a:rPr lang="ja-JP" altLang="ja-JP" dirty="0"/>
                  <a:t>的特征值，也就是该频率模式下奇异值的平方。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直观：</a:t>
                </a:r>
              </a:p>
              <a:p>
                <a:r>
                  <a:rPr lang="ja-JP" altLang="ja-JP" dirty="0"/>
                  <a:t>这个神经算子在不同频率上放大或压缩信息的程度。</a:t>
                </a:r>
              </a:p>
              <a:p>
                <a:r>
                  <a:rPr lang="ja-JP" altLang="ja-JP" dirty="0"/>
                  <a:t>如果某些频率上的谱值很小，那么这些模式在传播中容易丢失；如果谱值很大，则可能造成不稳定或梯度爆炸。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b="1" dirty="0"/>
                  <a:t>例子 9：MRI 中的 Fourier 采样算子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在 MRI 重建中，常见模型是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  <m:r>
                      <a:rPr lang="en-US" altLang="ja-JP"/>
                      <m:t>ℱ</m:t>
                    </m:r>
                    <m:r>
                      <a:rPr lang="ja-JP" altLang="en-US" i="1"/>
                      <m:t>𝑥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其中：</a:t>
                </a:r>
                <a14:m>
                  <m:oMath xmlns:m="http://schemas.openxmlformats.org/officeDocument/2006/math">
                    <m:r>
                      <a:rPr lang="en-US" altLang="ja-JP"/>
                      <m:t>ℱ</m:t>
                    </m:r>
                  </m:oMath>
                </a14:m>
                <a:r>
                  <a:rPr lang="ja-JP" altLang="ja-JP" dirty="0"/>
                  <a:t>是 Fourier 变换；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</m:oMath>
                </a14:m>
                <a:r>
                  <a:rPr lang="ja-JP" altLang="ja-JP" dirty="0"/>
                  <a:t>是只取部分频率的采样算子。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令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  <m:r>
                      <a:rPr lang="en-US" altLang="ja-JP"/>
                      <m:t>ℱ</m:t>
                    </m:r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ℱ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sSubSup>
                      <m:sSubSupPr>
                        <m:ctrlPr>
                          <a:rPr lang="ja-JP" altLang="en-US" i="1"/>
                        </m:ctrlPr>
                      </m:sSubSup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  <m:sup>
                        <m:r>
                          <a:rPr lang="ja-JP" altLang="en-US"/>
                          <m:t>∗</m:t>
                        </m:r>
                      </m:sup>
                    </m:sSub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  <m:r>
                      <a:rPr lang="en-US" altLang="ja-JP"/>
                      <m:t>ℱ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</m:oMath>
                </a14:m>
                <a:r>
                  <a:rPr lang="ja-JP" altLang="ja-JP" dirty="0"/>
                  <a:t>是简单的频率选择，那么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/>
                        </m:ctrlPr>
                      </m:sSubSup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  <m:sup>
                        <m:r>
                          <a:rPr lang="ja-JP" altLang="en-US"/>
                          <m:t>∗</m:t>
                        </m:r>
                      </m:sup>
                    </m:sSub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/>
                          <m:t>Ω</m:t>
                        </m:r>
                      </m:sub>
                    </m:sSub>
                  </m:oMath>
                </a14:m>
                <a:r>
                  <a:rPr lang="ja-JP" altLang="ja-JP" dirty="0"/>
                  <a:t>大致是一个频率掩码。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因此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的谱中会有很多 0 和 1：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en-US" altLang="ja-JP"/>
                      <m:t>=1</m:t>
                    </m:r>
                  </m:oMath>
                </a14:m>
                <a:r>
                  <a:rPr lang="ja-JP" altLang="ja-JP" dirty="0"/>
                  <a:t>表示被采样到的频率；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en-US" altLang="ja-JP"/>
                      <m:t>=0</m:t>
                    </m:r>
                  </m:oMath>
                </a14:m>
                <a:r>
                  <a:rPr lang="ja-JP" altLang="ja-JP" dirty="0"/>
                  <a:t>表示没有被采样到的频率。</a:t>
                </a:r>
              </a:p>
              <a:p>
                <a:r>
                  <a:rPr lang="ja-JP" altLang="ja-JP" dirty="0"/>
                  <a:t>所以 MRI 的欠采样重建为什么困难？从谱角度看，就是很多频率方向没有观测到，对应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的零谱或近零谱。</a:t>
                </a:r>
              </a:p>
              <a:p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E825B27-DC31-7A16-86D3-68BB9A8F87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580" t="-896" b="-19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829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3597-3A32-89AB-C71B-99C6F619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04144C2-FAF9-2971-5E27-9BBD02D33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谱分解就是把空间按算子的作用方式分解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74FAD8-9CDC-BE2C-8D8A-9A72AD1214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有限维中，若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有正交特征向量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，则：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于是任意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可以分解为：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⟨</m:t>
                          </m:r>
                        </m:e>
                      </m:nary>
                      <m:d>
                        <m:dPr>
                          <m:begChr m:val="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这就是按谱方向进行正交分解。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无限维中，对自伴算子可以通过谱测度或投影算子来表达类似分解。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B74FAD8-9CDC-BE2C-8D8A-9A72AD1214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264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95C0-D34A-BB26-306D-7718E1B0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ED7CFD2-5D3C-FD71-3F93-1C91A383F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投影算子值测度的直观解释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89AF390-3D6D-86B9-36FC-DA5362174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237236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sz="1600" dirty="0"/>
                  <a:t>在有限维中，一个特征值对应一个特征子空间</a:t>
                </a:r>
              </a:p>
              <a:p>
                <a:pPr marL="0" indent="0">
                  <a:buNone/>
                </a:pPr>
                <a:r>
                  <a:rPr lang="ja-JP" altLang="ja-JP" sz="1600" dirty="0"/>
                  <a:t>例如：</a:t>
                </a:r>
                <a14:m>
                  <m:oMath xmlns:m="http://schemas.openxmlformats.org/officeDocument/2006/math">
                    <m:r>
                      <a:rPr lang="ja-JP" alt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6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ja-JP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sz="16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ja-JP" alt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16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ja-JP" sz="1600" dirty="0"/>
                  <a:t> </a:t>
                </a:r>
                <a:r>
                  <a:rPr lang="ja-JP" altLang="ja-JP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600" dirty="0"/>
                  <a:t>是到特征子空间的正交投影。</a:t>
                </a:r>
              </a:p>
              <a:p>
                <a:pPr marL="0" indent="0">
                  <a:buNone/>
                </a:pPr>
                <a:r>
                  <a:rPr lang="ja-JP" altLang="ja-JP" sz="1600" dirty="0"/>
                  <a:t>无限维中，谱可能不是离散的，因此需要把“谱集合”对应到投影算子：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d>
                  </m:oMath>
                </a14:m>
                <a:r>
                  <a:rPr lang="en-US" altLang="ja-JP" sz="1600" dirty="0"/>
                  <a:t>, </a:t>
                </a:r>
                <a:r>
                  <a:rPr lang="ja-JP" altLang="ja-JP" sz="1600" dirty="0"/>
                  <a:t>其中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6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ja-JP" sz="1600" dirty="0"/>
                  <a:t>是谱上的一个集合。</a:t>
                </a:r>
              </a:p>
              <a:p>
                <a:pPr marL="0" indent="0">
                  <a:buNone/>
                </a:pPr>
                <a:r>
                  <a:rPr lang="ja-JP" altLang="ja-JP" sz="1600" dirty="0"/>
                  <a:t>直观理解：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600" dirty="0"/>
                  <a:t>选择一段频率或谱区间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600" dirty="0"/>
                  <a:t>用投影算子取出对应的空间成分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600" dirty="0"/>
                  <a:t>这就是谱投影。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89AF390-3D6D-86B9-36FC-DA5362174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2372360" cy="5440680"/>
              </a:xfrm>
              <a:blipFill>
                <a:blip r:embed="rId3"/>
                <a:stretch>
                  <a:fillRect l="-1542" t="-336" r="-2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C6837E8E-0820-1A95-4831-104074A5E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40" y="1375827"/>
            <a:ext cx="9509760" cy="478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6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09AC-7618-6189-06BA-CF48E436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F5C58CA-6B3F-9334-07C7-FA84CF164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投影算子值测度</a:t>
            </a:r>
            <a:r>
              <a:rPr lang="en-US" altLang="zh-CN" b="1" dirty="0"/>
              <a:t>PVM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6D134FA-A8B5-CE4F-A306-3B15BE3B6B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b="1" dirty="0"/>
                  <a:t>PVM 是从事件到投影的映射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ja-JP" altLang="en-US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/>
                              <m:t>Σ</m:t>
                            </m:r>
                          </m:e>
                          <m:sub>
                            <m:r>
                              <a:rPr lang="ja-JP" altLang="en-US" i="1"/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ja-JP" dirty="0"/>
                  <a:t>是一个可测空间，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 是 Hilbert 空间。一个 PVM 是映射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r>
                      <a:rPr lang="en-US" altLang="ja-JP"/>
                      <m:t>: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/>
                          <m:t>Σ</m:t>
                        </m:r>
                      </m:e>
                      <m:sub>
                        <m:r>
                          <a:rPr lang="ja-JP" altLang="en-US" i="1"/>
                          <m:t>𝑋</m:t>
                        </m:r>
                      </m:sub>
                    </m:sSub>
                    <m:r>
                      <a:rPr lang="ja-JP" altLang="en-US"/>
                      <m:t>⟶</m:t>
                    </m:r>
                    <m:r>
                      <m:rPr>
                        <m:sty m:val="p"/>
                      </m:rPr>
                      <a:rPr lang="en-US" altLang="ja-JP"/>
                      <m:t>Proj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Proj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</m:oMath>
                </a14:m>
                <a:r>
                  <a:rPr lang="ja-JP" altLang="ja-JP" dirty="0"/>
                  <a:t>是 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上的正交投影集合。PVM 的值是 self-adjoint projections，并且它在谱理论和自伴算子的 spectral theorem 中非常重要。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它满足：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/>
                          <m:t>∅</m:t>
                        </m:r>
                      </m:e>
                    </m:d>
                    <m:r>
                      <a:rPr lang="en-US" altLang="ja-JP"/>
                      <m:t>=0,</m:t>
                    </m:r>
                  </m:oMath>
                </a14:m>
                <a:endParaRPr lang="en-US" altLang="ja-JP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𝐼</m:t>
                    </m:r>
                    <m:r>
                      <a:rPr lang="en-US" altLang="ja-JP"/>
                      <m:t>,</m:t>
                    </m:r>
                  </m:oMath>
                </a14:m>
                <a:endParaRPr lang="en-US" altLang="ja-JP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𝐵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两两不交，则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nary>
                          <m:naryPr>
                            <m:chr m:val="⨆"/>
                            <m:supHide m:val="on"/>
                            <m:ctrlPr>
                              <a:rPr lang="ja-JP" altLang="en-US" i="1"/>
                            </m:ctrlPr>
                          </m:naryPr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𝐵</m:t>
                                </m:r>
                              </m:e>
                              <m:sub>
                                <m:r>
                                  <a:rPr lang="ja-JP" altLang="en-US" i="1"/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𝑖</m:t>
                        </m:r>
                      </m:sub>
                      <m:sup/>
                      <m:e>
                        <m:r>
                          <a:rPr lang="ja-JP" altLang="en-US" i="1"/>
                          <m:t>𝐸</m:t>
                        </m:r>
                      </m:e>
                    </m:nary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如果是 PVM，而不仅是 POVM</a:t>
                </a:r>
                <a:r>
                  <a:rPr lang="zh-CN" altLang="en-US" dirty="0"/>
                  <a:t>（正算子值测度）</a:t>
                </a:r>
                <a:r>
                  <a:rPr lang="ja-JP" altLang="ja-JP" dirty="0"/>
                  <a:t>，还满足投影之间的乘法关系：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  <m:r>
                          <a:rPr lang="ja-JP" altLang="en-US"/>
                          <m:t>∩</m:t>
                        </m:r>
                        <m:r>
                          <a:rPr lang="ja-JP" altLang="en-US" i="1"/>
                          <m:t>𝐶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𝐶</m:t>
                        </m:r>
                      </m:e>
                    </m:d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ja-JP" altLang="ja-JP" dirty="0"/>
                  <a:t>特别地，如果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  <m:r>
                      <a:rPr lang="ja-JP" altLang="en-US"/>
                      <m:t>∩</m:t>
                    </m:r>
                    <m:r>
                      <a:rPr lang="ja-JP" altLang="en-US" i="1"/>
                      <m:t>𝐶</m:t>
                    </m:r>
                    <m:r>
                      <a:rPr lang="en-US" altLang="ja-JP"/>
                      <m:t>=∅,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𝐶</m:t>
                        </m:r>
                      </m:e>
                    </m:d>
                    <m:r>
                      <a:rPr lang="en-US" altLang="ja-JP"/>
                      <m:t>=0.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直观上：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经典事件</m:t>
                        </m:r>
                        <m:r>
                          <m:rPr>
                            <m:nor/>
                          </m:rPr>
                          <a:rPr lang="ja-JP" altLang="en-US" b="0" i="1"/>
                          <m:t> </m:t>
                        </m:r>
                        <m:r>
                          <a:rPr lang="ja-JP" altLang="en-US" b="0" i="1"/>
                          <m:t>𝐵</m:t>
                        </m:r>
                        <m:r>
                          <a:rPr lang="ja-JP" altLang="en-US"/>
                          <m:t> ↦ </m:t>
                        </m:r>
                        <m:r>
                          <m:rPr>
                            <m:nor/>
                          </m:rPr>
                          <a:rPr lang="ja-JP" altLang="en-US"/>
                          <m:t>量子命题</m:t>
                        </m:r>
                        <m:r>
                          <m:rPr>
                            <m:nor/>
                          </m:rPr>
                          <a:rPr lang="en-US" altLang="ja-JP"/>
                          <m:t>/</m:t>
                        </m:r>
                        <m:r>
                          <m:rPr>
                            <m:nor/>
                          </m:rPr>
                          <a:rPr lang="ja-JP" altLang="en-US"/>
                          <m:t>投影 </m:t>
                        </m:r>
                        <m:r>
                          <a:rPr lang="ja-JP" altLang="en-US" i="1"/>
                          <m:t>𝐸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</m:d>
                      </m:e>
                    </m:borderBox>
                  </m:oMath>
                </a14:m>
                <a:endParaRPr lang="ja-JP" altLang="en-US" b="0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PVM 把“测量结果属于某个集合”这个经典事件，翻译成 Hilbert 空间中的一个投影算子。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6D134FA-A8B5-CE4F-A306-3B15BE3B6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  <a:blipFill>
                <a:blip r:embed="rId3"/>
                <a:stretch>
                  <a:fillRect l="-573" t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43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FBD9-FB6A-4A92-F104-C89FDCCB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460BD14-BE05-9549-B7FE-4FA9A4A67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PVM </a:t>
            </a:r>
            <a:r>
              <a:rPr lang="zh-CN" altLang="en-US" b="1" dirty="0"/>
              <a:t>构造 </a:t>
            </a:r>
            <a:r>
              <a:rPr lang="en-US" altLang="zh-CN" b="1" dirty="0"/>
              <a:t>Borel functional calculus </a:t>
            </a:r>
            <a:r>
              <a:rPr lang="zh-CN" altLang="en-US" b="1" dirty="0"/>
              <a:t>的工具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E7ED728-1F5A-E07A-82A2-7E2F3ABE4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给定一个自伴算子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，PVM </a:t>
                </a:r>
                <a:r>
                  <a:rPr lang="zh-CN" altLang="en-US" dirty="0"/>
                  <a:t>给出</a:t>
                </a:r>
                <a:r>
                  <a:rPr lang="ja-JP" altLang="ja-JP" dirty="0"/>
                  <a:t>如何把普通函数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</m:oMath>
                </a14:m>
                <a:r>
                  <a:rPr lang="ja-JP" altLang="ja-JP" dirty="0"/>
                  <a:t>作用到算子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上，从而定义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b="1" dirty="0"/>
                  <a:t>有限维情况</a:t>
                </a:r>
                <a:r>
                  <a:rPr lang="zh-CN" altLang="en-US" b="1" dirty="0"/>
                  <a:t>举例：</a:t>
                </a:r>
                <a:endParaRPr lang="ja-JP" altLang="ja-JP" b="1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假设矩阵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是 Hermitian 矩阵，也就是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那么它可以对角化：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𝜆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是特征值，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是投影到对应特征空间的正交投影。</a:t>
                </a:r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2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/>
                      <m:t>=2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+5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,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1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/>
                      <m:t>, 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如果想定义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ja-JP" altLang="ja-JP" dirty="0"/>
                  <a:t>很自然地写：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2</m:t>
                        </m:r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5</m:t>
                        </m:r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比如：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2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5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𝑒</m:t>
                        </m:r>
                      </m:e>
                      <m:sup>
                        <m:r>
                          <a:rPr lang="ja-JP" altLang="en-US" i="1"/>
                          <m:t>𝐴</m:t>
                        </m:r>
                      </m:sup>
                    </m:sSup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𝑒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𝑒</m:t>
                        </m:r>
                      </m:e>
                      <m:sup>
                        <m:r>
                          <a:rPr lang="en-US" altLang="ja-JP"/>
                          <m:t>5</m:t>
                        </m:r>
                      </m:sup>
                    </m:sSup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sin</m:t>
                        </m:r>
                      </m:fName>
                      <m:e>
                        <m:r>
                          <a:rPr lang="ja-JP" altLang="en-US" i="1"/>
                          <m:t>𝐴</m:t>
                        </m:r>
                      </m:e>
                    </m:func>
                    <m:r>
                      <a:rPr lang="en-US" altLang="ja-JP"/>
                      <m:t>=</m:t>
                    </m:r>
                    <m:r>
                      <m:rPr>
                        <m:sty m:val="p"/>
                      </m:rPr>
                      <a:rPr lang="en-US" altLang="ja-JP"/>
                      <m:t>sin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2</m:t>
                        </m:r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</m:t>
                    </m:r>
                    <m:r>
                      <m:rPr>
                        <m:sty m:val="p"/>
                      </m:rPr>
                      <a:rPr lang="en-US" altLang="ja-JP"/>
                      <m:t>sin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5</m:t>
                        </m:r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这就是最简单的 functional calculus。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</a:t>
                </a:r>
                <a:r>
                  <a:rPr lang="zh-CN" altLang="en-US" dirty="0"/>
                  <a:t>这个</a:t>
                </a:r>
                <a:r>
                  <a:rPr lang="ja-JP" altLang="ja-JP" dirty="0"/>
                  <a:t>有限维例子中，可以定义一个 PVM：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  <m:r>
                          <a:rPr lang="ja-JP" altLang="en-US"/>
                          <m:t>∈</m:t>
                        </m:r>
                        <m:r>
                          <a:rPr lang="ja-JP" altLang="en-US" i="1"/>
                          <m:t>𝐵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𝑃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  <m:r>
                      <a:rPr lang="ja-JP" altLang="en-US"/>
                      <m:t>⊂</m:t>
                    </m:r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是 Borel 集合。</a:t>
                </a:r>
              </a:p>
              <a:p>
                <a:r>
                  <a:rPr lang="ja-JP" altLang="ja-JP" dirty="0"/>
                  <a:t>意思是：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</m:oMath>
                </a14:m>
                <a:r>
                  <a:rPr lang="ja-JP" altLang="ja-JP" dirty="0"/>
                  <a:t>是投影到所有特征值落在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中的特征空间上。</a:t>
                </a:r>
              </a:p>
              <a:p>
                <a:r>
                  <a:rPr lang="ja-JP" altLang="ja-JP" dirty="0"/>
                  <a:t>例如，如果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/>
                      <m:t>𝐵</m:t>
                    </m:r>
                    <m:r>
                      <a:rPr lang="en-US" altLang="ja-JP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2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  <m:r>
                      <a:rPr lang="en-US" altLang="ja-JP"/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2</m:t>
                        </m:r>
                      </m:e>
                      <m:e>
                        <m:r>
                          <a:rPr lang="en-US" altLang="ja-JP"/>
                          <m:t>5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+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=</m:t>
                    </m:r>
                    <m:r>
                      <a:rPr lang="ja-JP" altLang="en-US" i="1"/>
                      <m:t>𝐼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  <m:r>
                      <a:rPr lang="en-US" altLang="ja-JP"/>
                      <m:t>=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3</m:t>
                        </m:r>
                      </m:e>
                      <m:e>
                        <m:r>
                          <a:rPr lang="en-US" altLang="ja-JP"/>
                          <m:t>6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那么只有 </a:t>
                </a:r>
                <a14:m>
                  <m:oMath xmlns:m="http://schemas.openxmlformats.org/officeDocument/2006/math">
                    <m:r>
                      <a:rPr lang="en-US" altLang="ja-JP"/>
                      <m:t>5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，所以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en-US" altLang="ja-JP"/>
                          <m:t>5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这样把“谱空间中的集合”变成了 Hilbert 空间上的投影。</a:t>
                </a:r>
              </a:p>
              <a:p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ja-JP" dirty="0"/>
              </a:p>
              <a:p>
                <a:pPr>
                  <a:lnSpc>
                    <a:spcPct val="120000"/>
                  </a:lnSpc>
                </a:pPr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endParaRPr lang="ja-JP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E7ED728-1F5A-E07A-82A2-7E2F3ABE4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  <a:blipFill>
                <a:blip r:embed="rId3"/>
                <a:stretch>
                  <a:fillRect l="-573" t="-336" r="-2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605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3E5A-393F-8762-685E-90F73CB4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BF853DF-9A55-CABE-60EA-5CD8EEF10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PVM </a:t>
            </a:r>
            <a:r>
              <a:rPr lang="zh-CN" altLang="en-US" b="1" dirty="0"/>
              <a:t>构造 </a:t>
            </a:r>
            <a:r>
              <a:rPr lang="en-US" altLang="zh-CN" b="1" dirty="0"/>
              <a:t>Borel functional calculus </a:t>
            </a:r>
            <a:r>
              <a:rPr lang="zh-CN" altLang="en-US" b="1" dirty="0"/>
              <a:t>的工具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D7EC250-A82B-A94C-2BA6-2D2A7D903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154" y="990600"/>
                <a:ext cx="11882121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有了 PVM 以后，函数演算可以统一写成：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a:rPr lang="ja-JP" altLang="en-US" i="1"/>
                          <m:t>𝑓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</m:d>
                        <m:r>
                          <a:rPr lang="en-US" altLang="ja-JP"/>
                          <m:t>=</m:t>
                        </m:r>
                        <m:nary>
                          <m:naryPr>
                            <m:grow m:val="on"/>
                            <m:supHide m:val="on"/>
                            <m:ctrlPr>
                              <a:rPr lang="ja-JP" altLang="en-US" i="1"/>
                            </m:ctrlPr>
                          </m:naryPr>
                          <m:sub>
                            <m:r>
                              <a:rPr lang="en-US" altLang="ja-JP"/>
                              <m:t>ℝ</m:t>
                            </m:r>
                          </m:sub>
                          <m:sup/>
                          <m:e>
                            <m:r>
                              <a:rPr lang="ja-JP" altLang="en-US" i="1"/>
                              <m:t>𝑓</m:t>
                            </m:r>
                          </m:e>
                        </m:nary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ja-JP" altLang="en-US" i="1"/>
                          <m:t> </m:t>
                        </m:r>
                        <m:r>
                          <a:rPr lang="ja-JP" altLang="en-US" i="1"/>
                          <m:t>𝑑𝐸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</m:d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在有限维中它就是：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𝑖</m:t>
                        </m:r>
                      </m:sub>
                      <m:sup/>
                      <m:e>
                        <m:r>
                          <a:rPr lang="ja-JP" altLang="en-US" i="1"/>
                          <m:t>𝑓</m:t>
                        </m:r>
                      </m:e>
                    </m:nary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 PVM 的作用是：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它把“按特征值分解”的想法推广到无限维</m:t>
                        </m:r>
                        <m:r>
                          <m:rPr>
                            <m:nor/>
                          </m:rPr>
                          <a:rPr lang="ja-JP" altLang="en-US" b="0" i="1"/>
                          <m:t> </m:t>
                        </m:r>
                        <m:r>
                          <m:rPr>
                            <m:nor/>
                          </m:rPr>
                          <a:rPr lang="en-US" altLang="ja-JP" b="0" i="1"/>
                          <m:t>Hilbert</m:t>
                        </m:r>
                        <m:r>
                          <m:rPr>
                            <m:nor/>
                          </m:rPr>
                          <a:rPr lang="en-US" altLang="ja-JP" b="0" i="1"/>
                          <m:t> </m:t>
                        </m:r>
                        <m:r>
                          <m:rPr>
                            <m:nor/>
                          </m:rPr>
                          <a:rPr lang="ja-JP" altLang="en-US" b="0" i="1"/>
                          <m:t>空间。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在无限维中，谱不一定是离散的，可能有连续谱。不能总是写成简单的求和：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/>
                        </m:ctrlPr>
                      </m:naryPr>
                      <m:sub>
                        <m:r>
                          <a:rPr lang="ja-JP" altLang="en-US" i="1"/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𝑃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所以要改用积分：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/>
                        <m:t>𝐴</m:t>
                      </m:r>
                      <m:r>
                        <a:rPr lang="en-US" altLang="ja-JP"/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i="1"/>
                          </m:ctrlPr>
                        </m:naryPr>
                        <m:sub>
                          <m:r>
                            <a:rPr lang="en-US" altLang="ja-JP"/>
                            <m:t>ℝ</m:t>
                          </m:r>
                        </m:sub>
                        <m:sup/>
                        <m:e>
                          <m:r>
                            <a:rPr lang="ja-JP" altLang="en-US" i="1"/>
                            <m:t>𝜆</m:t>
                          </m:r>
                        </m:e>
                      </m:nary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/>
                        <m:t>𝑑𝐸</m:t>
                      </m:r>
                      <m:d>
                        <m:dPr>
                          <m:ctrlPr>
                            <a:rPr lang="ja-JP" altLang="en-US" i="1"/>
                          </m:ctrlPr>
                        </m:dPr>
                        <m:e>
                          <m:r>
                            <a:rPr lang="ja-JP" altLang="en-US" i="1"/>
                            <m:t>𝜆</m:t>
                          </m:r>
                        </m:e>
                      </m:d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进一步：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en-US" altLang="ja-JP"/>
                          <m:t>ℝ</m:t>
                        </m:r>
                      </m:sub>
                      <m:sup/>
                      <m:e>
                        <m:r>
                          <a:rPr lang="ja-JP" altLang="en-US" i="1"/>
                          <m:t>𝑓</m:t>
                        </m:r>
                      </m:e>
                    </m:nary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对 Borel 集合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，指标函数是：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𝜒</m:t>
                        </m:r>
                      </m:e>
                      <m:sub>
                        <m:r>
                          <a:rPr lang="ja-JP" altLang="en-US" i="1"/>
                          <m:t>𝐵</m:t>
                        </m:r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ja-JP" alt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en-US" i="1"/>
                            </m:ctrlPr>
                          </m:mPr>
                          <m:mr>
                            <m:e>
                              <m:r>
                                <a:rPr lang="en-US" altLang="ja-JP"/>
                                <m:t>1,</m:t>
                              </m:r>
                            </m:e>
                            <m:e>
                              <m:r>
                                <a:rPr lang="ja-JP" altLang="en-US" i="1"/>
                                <m:t>𝜆</m:t>
                              </m:r>
                              <m:r>
                                <a:rPr lang="ja-JP" altLang="en-US"/>
                                <m:t>∈</m:t>
                              </m:r>
                              <m:r>
                                <a:rPr lang="ja-JP" altLang="en-US" i="1"/>
                                <m:t>𝐵</m:t>
                              </m:r>
                              <m:r>
                                <a:rPr lang="en-US" altLang="ja-JP"/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/>
                                <m:t>0,</m:t>
                              </m:r>
                            </m:e>
                            <m:e>
                              <m:r>
                                <a:rPr lang="ja-JP" altLang="en-US" i="1"/>
                                <m:t>𝜆</m:t>
                              </m:r>
                              <m:r>
                                <a:rPr lang="ja-JP" altLang="en-US"/>
                                <m:t>∉</m:t>
                              </m:r>
                              <m:r>
                                <a:rPr lang="ja-JP" altLang="en-US" i="1"/>
                                <m:t>𝐵</m:t>
                              </m:r>
                              <m:r>
                                <a:rPr lang="en-US" altLang="ja-JP"/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定义：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sSub>
                          <m:sSubPr>
                            <m:ctrlPr>
                              <a:rPr lang="ja-JP" altLang="en-US"/>
                            </m:ctrlPr>
                          </m:sSubPr>
                          <m:e>
                            <m:r>
                              <a:rPr lang="ja-JP" altLang="en-US" i="1"/>
                              <m:t>𝜒</m:t>
                            </m:r>
                          </m:e>
                          <m:sub>
                            <m:r>
                              <a:rPr lang="ja-JP" altLang="en-US" i="1"/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</m:d>
                        <m:r>
                          <a:rPr lang="en-US" altLang="ja-JP"/>
                          <m:t>=</m:t>
                        </m:r>
                        <m:r>
                          <a:rPr lang="ja-JP" altLang="en-US" i="1"/>
                          <m:t>𝐸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</m:d>
                        <m:r>
                          <a:rPr lang="en-US" altLang="ja-JP"/>
                          <m:t>.</m:t>
                        </m:r>
                      </m:e>
                    </m:borderBox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ja-JP" altLang="ja-JP" dirty="0"/>
                  <a:t>意思是：“判断谱是否落在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</m:oMath>
                </a14:m>
                <a:r>
                  <a:rPr lang="ja-JP" altLang="ja-JP" dirty="0"/>
                  <a:t>中”这个函数，对应 Hilbert 空间中的投影 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</m:oMath>
                </a14:m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𝑠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𝑘</m:t>
                        </m:r>
                        <m:r>
                          <a:rPr lang="en-US" altLang="ja-JP"/>
                          <m:t>=1</m:t>
                        </m:r>
                      </m:sub>
                      <m:sup>
                        <m:r>
                          <a:rPr lang="ja-JP" altLang="en-US" i="1"/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𝑐</m:t>
                            </m:r>
                          </m:e>
                          <m:sub>
                            <m:r>
                              <a:rPr lang="ja-JP" altLang="en-US" i="1"/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ja-JP" altLang="en-US" i="1"/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那么定义：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ja-JP" altLang="en-US" i="1"/>
                      <m:t>𝑠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𝑘</m:t>
                        </m:r>
                        <m:r>
                          <a:rPr lang="en-US" altLang="ja-JP"/>
                          <m:t>=1</m:t>
                        </m:r>
                      </m:sub>
                      <m:sup>
                        <m:r>
                          <a:rPr lang="ja-JP" altLang="en-US" i="1"/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𝑐</m:t>
                            </m:r>
                          </m:e>
                          <m:sub>
                            <m:r>
                              <a:rPr lang="ja-JP" altLang="en-US" i="1"/>
                              <m:t>𝑘</m:t>
                            </m:r>
                          </m:sub>
                        </m:sSub>
                      </m:e>
                    </m:nary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ja-JP" altLang="en-US" i="1"/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这就是把简单函数作用到算子上。</a:t>
                </a:r>
                <a:endParaRPr lang="en-US" altLang="ja-JP" i="1" dirty="0"/>
              </a:p>
              <a:p>
                <a:pPr marL="0" indent="0">
                  <a:buNone/>
                </a:pPr>
                <a:r>
                  <a:rPr lang="zh-CN" altLang="en-US" dirty="0"/>
                  <a:t>例如</a:t>
                </a:r>
                <a14:m>
                  <m:oMath xmlns:m="http://schemas.openxmlformats.org/officeDocument/2006/math">
                    <m:r>
                      <a:rPr lang="ja-JP" altLang="en-US" i="1"/>
                      <m:t>𝑠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=3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en-US" altLang="ja-JP"/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+5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en-US" altLang="ja-JP"/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𝑠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=3</m:t>
                    </m:r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en-US" altLang="ja-JP"/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/>
                      <m:t>+5</m:t>
                    </m:r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𝐵</m:t>
                            </m:r>
                          </m:e>
                          <m:sub>
                            <m:r>
                              <a:rPr lang="en-US" altLang="ja-JP"/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endParaRPr lang="ja-JP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一般的有界 Borel 函数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</m:oMath>
                </a14:m>
                <a:r>
                  <a:rPr lang="ja-JP" altLang="ja-JP" dirty="0"/>
                  <a:t>可以用简单函数逼近。如果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𝑠</m:t>
                        </m:r>
                      </m:e>
                      <m:sub>
                        <m:r>
                          <a:rPr lang="ja-JP" altLang="en-US" i="1"/>
                          <m:t>𝑛</m:t>
                        </m:r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ja-JP" altLang="en-US"/>
                      <m:t>→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就定义：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func>
                      <m:func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更正式地写，就是：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a:rPr lang="ja-JP" altLang="en-US" i="1"/>
                          <m:t>𝑓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</m:d>
                        <m:r>
                          <a:rPr lang="en-US" altLang="ja-JP"/>
                          <m:t>=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ja-JP" altLang="en-US" i="1"/>
                            </m:ctrlPr>
                          </m:naryPr>
                          <m:sub/>
                          <m:sup/>
                          <m:e>
                            <m:r>
                              <a:rPr lang="ja-JP" altLang="en-US" i="1"/>
                              <m:t>𝑓</m:t>
                            </m:r>
                          </m:e>
                        </m:nary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ja-JP" altLang="en-US" i="1"/>
                          <m:t> </m:t>
                        </m:r>
                        <m:r>
                          <a:rPr lang="ja-JP" altLang="en-US" i="1"/>
                          <m:t>𝑑𝐸</m:t>
                        </m:r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𝜆</m:t>
                            </m:r>
                          </m:e>
                        </m:d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r>
                  <a:rPr lang="ja-JP" altLang="en-US" b="0" dirty="0"/>
                  <a:t>  </a:t>
                </a:r>
                <a:r>
                  <a:rPr lang="en-US" altLang="ja-JP" b="0" dirty="0"/>
                  <a:t>-&gt;</a:t>
                </a:r>
                <a:r>
                  <a:rPr lang="ja-JP" altLang="ja-JP" dirty="0"/>
                  <a:t> Borel functional calculus。</a:t>
                </a:r>
              </a:p>
              <a:p>
                <a:pPr marL="0" indent="0">
                  <a:buNone/>
                </a:pPr>
                <a:endParaRPr lang="en-US" altLang="ja-JP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D7EC250-A82B-A94C-2BA6-2D2A7D903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154" y="990600"/>
                <a:ext cx="11882121" cy="5440680"/>
              </a:xfrm>
              <a:blipFill>
                <a:blip r:embed="rId3"/>
                <a:stretch>
                  <a:fillRect l="-564" t="-10538" r="-103" b="-223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656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0999-666D-8CF1-2FDE-E9945D14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A4DBE51-574C-E7D7-3EB4-631773964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投影算子值测度</a:t>
            </a:r>
            <a:r>
              <a:rPr lang="en-US" altLang="zh-CN" b="1" dirty="0"/>
              <a:t>PVM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420466F-75B5-3342-D5C5-77C0345FE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</p:spPr>
            <p:txBody>
              <a:bodyPr/>
              <a:lstStyle/>
              <a:p>
                <a:r>
                  <a:rPr lang="ja-JP" altLang="ja-JP" dirty="0"/>
                  <a:t>PVM 的范畴论解释是：它不是单纯的集合值测度，而是从经典事件结构到量子投影结构的保结构映射。经典事件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/>
                          <m:t>Σ</m:t>
                        </m:r>
                      </m:e>
                      <m:sub>
                        <m:r>
                          <a:rPr lang="ja-JP" altLang="en-US" i="1"/>
                          <m:t>𝑋</m:t>
                        </m:r>
                      </m:sub>
                    </m:sSub>
                  </m:oMath>
                </a14:m>
                <a:r>
                  <a:rPr lang="ja-JP" altLang="ja-JP" dirty="0"/>
                  <a:t>构成布尔 </a:t>
                </a:r>
                <a14:m>
                  <m:oMath xmlns:m="http://schemas.openxmlformats.org/officeDocument/2006/math">
                    <m:r>
                      <a:rPr lang="ja-JP" altLang="en-US" i="1"/>
                      <m:t>𝜎</m:t>
                    </m:r>
                  </m:oMath>
                </a14:m>
                <a:r>
                  <a:rPr lang="ja-JP" altLang="ja-JP" dirty="0"/>
                  <a:t>-代数，也可看成 </a:t>
                </a:r>
                <a14:m>
                  <m:oMath xmlns:m="http://schemas.openxmlformats.org/officeDocument/2006/math">
                    <m:r>
                      <a:rPr lang="ja-JP" altLang="en-US" i="1"/>
                      <m:t>𝜎</m:t>
                    </m:r>
                  </m:oMath>
                </a14:m>
                <a:r>
                  <a:rPr lang="ja-JP" altLang="ja-JP" dirty="0"/>
                  <a:t>-effect algebra；Hilbert 空间中的投影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Proj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</m:oMath>
                </a14:m>
                <a:r>
                  <a:rPr lang="ja-JP" altLang="ja-JP" dirty="0"/>
                  <a:t>构成量子命题结构。因此一个 PVM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ja-JP" altLang="en-US" i="1"/>
                      <m:t>𝐸</m:t>
                    </m:r>
                    <m:r>
                      <a:rPr lang="en-US" altLang="ja-JP"/>
                      <m:t>: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/>
                          <m:t>Σ</m:t>
                        </m:r>
                      </m:e>
                      <m:sub>
                        <m:r>
                          <a:rPr lang="ja-JP" altLang="en-US" i="1"/>
                          <m:t>𝑋</m:t>
                        </m:r>
                      </m:sub>
                    </m:sSub>
                    <m:r>
                      <a:rPr lang="ja-JP" altLang="en-US"/>
                      <m:t>→</m:t>
                    </m:r>
                    <m:r>
                      <m:rPr>
                        <m:sty m:val="p"/>
                      </m:rPr>
                      <a:rPr lang="en-US" altLang="ja-JP"/>
                      <m:t>Proj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可以理解为一个 </a:t>
                </a:r>
                <a14:m>
                  <m:oMath xmlns:m="http://schemas.openxmlformats.org/officeDocument/2006/math">
                    <m:r>
                      <a:rPr lang="ja-JP" altLang="en-US" i="1"/>
                      <m:t>𝜎</m:t>
                    </m:r>
                  </m:oMath>
                </a14:m>
                <a:r>
                  <a:rPr lang="ja-JP" altLang="ja-JP" dirty="0"/>
                  <a:t>-effect algebra morphism。它把经典事件 </a:t>
                </a:r>
                <a14:m>
                  <m:oMath xmlns:m="http://schemas.openxmlformats.org/officeDocument/2006/math">
                    <m:r>
                      <a:rPr lang="ja-JP" altLang="en-US" i="1"/>
                      <m:t>𝐵</m:t>
                    </m:r>
                    <m:r>
                      <a:rPr lang="ja-JP" altLang="en-US"/>
                      <m:t>⊆</m:t>
                    </m:r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映到量子命题 </a:t>
                </a:r>
                <a14:m>
                  <m:oMath xmlns:m="http://schemas.openxmlformats.org/officeDocument/2006/math"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</m:oMath>
                </a14:m>
                <a:r>
                  <a:rPr lang="ja-JP" altLang="ja-JP" dirty="0"/>
                  <a:t>，并保持空集、全集、补集和可数不交并。若进一步通过积分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r>
                      <a:rPr lang="ja-JP" altLang="en-US"/>
                      <m:t>↦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ja-JP" altLang="en-US" i="1"/>
                        </m:ctrlPr>
                      </m:naryPr>
                      <m:sub/>
                      <m:sup/>
                      <m:e>
                        <m:r>
                          <a:rPr lang="ja-JP" altLang="en-US" i="1"/>
                          <m:t>𝑓</m:t>
                        </m:r>
                      </m:e>
                    </m:nary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𝑑𝐸</m:t>
                    </m:r>
                  </m:oMath>
                </a14:m>
                <a:r>
                  <a:rPr lang="ja-JP" altLang="en-US" b="0" dirty="0"/>
                  <a:t> </a:t>
                </a:r>
                <a:r>
                  <a:rPr lang="ja-JP" altLang="ja-JP" dirty="0"/>
                  <a:t>扩张，则 PVM 给出了从经典函数代数到 Hilbert 空间算子代数的表示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给定 PVM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ja-JP" altLang="en-US" i="1"/>
                      <m:t>𝐸</m:t>
                    </m:r>
                    <m:r>
                      <a:rPr lang="en-US" altLang="ja-JP"/>
                      <m:t>: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/>
                          <m:t>Σ</m:t>
                        </m:r>
                      </m:e>
                      <m:sub>
                        <m:r>
                          <a:rPr lang="ja-JP" altLang="en-US" i="1"/>
                          <m:t>𝑋</m:t>
                        </m:r>
                      </m:sub>
                    </m:sSub>
                    <m:r>
                      <a:rPr lang="ja-JP" altLang="en-US"/>
                      <m:t>→</m:t>
                    </m:r>
                    <m:r>
                      <m:rPr>
                        <m:sty m:val="p"/>
                      </m:rPr>
                      <a:rPr lang="en-US" altLang="ja-JP"/>
                      <m:t>Proj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可以把指标函数映到投影：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𝜒</m:t>
                        </m:r>
                      </m:e>
                      <m:sub>
                        <m:r>
                          <a:rPr lang="ja-JP" altLang="en-US" i="1"/>
                          <m:t>𝐵</m:t>
                        </m:r>
                      </m:sub>
                    </m:sSub>
                    <m:r>
                      <a:rPr lang="ja-JP" altLang="en-US"/>
                      <m:t>↦</m:t>
                    </m:r>
                    <m:r>
                      <a:rPr lang="ja-JP" altLang="en-US" i="1"/>
                      <m:t>𝐸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𝐵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这个映射可以扩张到有界可测函数：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r>
                      <a:rPr lang="ja-JP" altLang="en-US"/>
                      <m:t>↦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𝑋</m:t>
                        </m:r>
                      </m:sub>
                      <m:sup/>
                      <m:e>
                        <m:r>
                          <a:rPr lang="ja-JP" altLang="en-US" i="1"/>
                          <m:t>𝑓</m:t>
                        </m:r>
                      </m:e>
                    </m:nary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𝑑𝐸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PVM 不只是给每个事件一个投影，还给每个可测函数一个算子。标准谱理论中，PVM 正是构造 Borel functional calculus 的工具；若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是自伴算子，则有唯一的 PVM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ja-JP" altLang="en-US" i="1"/>
                          <m:t>𝐴</m:t>
                        </m:r>
                      </m:sup>
                    </m:sSup>
                  </m:oMath>
                </a14:m>
                <a:r>
                  <a:rPr lang="ja-JP" altLang="ja-JP" dirty="0"/>
                  <a:t>，并且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en-US" altLang="ja-JP"/>
                          <m:t>ℝ</m:t>
                        </m:r>
                      </m:sub>
                      <m:sup/>
                      <m:e>
                        <m:r>
                          <a:rPr lang="ja-JP" altLang="en-US" i="1"/>
                          <m:t>𝑔</m:t>
                        </m:r>
                      </m:e>
                    </m:nary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𝜋</m:t>
                        </m:r>
                      </m:e>
                      <m:sup>
                        <m:r>
                          <a:rPr lang="ja-JP" altLang="en-US" i="1"/>
                          <m:t>𝐴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𝜆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这可以理解为：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US" altLang="ja-JP" b="0"/>
                          <m:t>PVM</m:t>
                        </m:r>
                        <m:r>
                          <m:rPr>
                            <m:nor/>
                          </m:rPr>
                          <a:rPr lang="ja-JP" altLang="en-US" b="0" i="1"/>
                          <m:t> 把经典随机变量 </m:t>
                        </m:r>
                        <m:r>
                          <a:rPr lang="ja-JP" altLang="en-US" b="0" i="1"/>
                          <m:t>𝑓</m:t>
                        </m:r>
                        <m:r>
                          <m:rPr>
                            <m:nor/>
                          </m:rPr>
                          <a:rPr lang="ja-JP" altLang="en-US" b="0" i="1"/>
                          <m:t> 翻译成量子可观测量 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ja-JP" altLang="en-US" i="1"/>
                            </m:ctrlPr>
                          </m:naryPr>
                          <m:sub/>
                          <m:sup/>
                          <m:e>
                            <m:r>
                              <a:rPr lang="ja-JP" altLang="en-US" i="1"/>
                              <m:t>𝑓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ja-JP" altLang="en-US" i="1"/>
                          <m:t> </m:t>
                        </m:r>
                        <m:r>
                          <a:rPr lang="ja-JP" altLang="en-US" i="1"/>
                          <m:t>𝑑𝐸</m:t>
                        </m:r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是紧 Hausdorff 空间，那么这常常写成一个 </a:t>
                </a:r>
                <a14:m>
                  <m:oMath xmlns:m="http://schemas.openxmlformats.org/officeDocument/2006/math">
                    <m:r>
                      <a:rPr lang="ja-JP" altLang="en-US"/>
                      <m:t>∗</m:t>
                    </m:r>
                  </m:oMath>
                </a14:m>
                <a:r>
                  <a:rPr lang="ja-JP" altLang="ja-JP" dirty="0"/>
                  <a:t>-表示：</a:t>
                </a:r>
                <a14:m>
                  <m:oMath xmlns:m="http://schemas.openxmlformats.org/officeDocument/2006/math">
                    <m:r>
                      <a:rPr lang="ja-JP" altLang="en-US" i="1"/>
                      <m:t>𝐶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</m:d>
                    <m:r>
                      <a:rPr lang="ja-JP" altLang="en-US"/>
                      <m:t>→</m:t>
                    </m:r>
                    <m:r>
                      <a:rPr lang="ja-JP" altLang="en-US" i="1"/>
                      <m:t>𝐵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𝐻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从范畴角度看，就是：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经典空间</m:t>
                    </m:r>
                    <m:r>
                      <a:rPr lang="ja-JP" altLang="en-US"/>
                      <m:t> ⇝ </m:t>
                    </m:r>
                    <m:r>
                      <m:rPr>
                        <m:nor/>
                      </m:rPr>
                      <a:rPr lang="ja-JP" altLang="en-US" i="1"/>
                      <m:t>交换代数</m:t>
                    </m:r>
                    <m:r>
                      <a:rPr lang="ja-JP" altLang="en-US"/>
                      <m:t> ⇝ </m:t>
                    </m:r>
                    <m:r>
                      <m:rPr>
                        <m:nor/>
                      </m:rPr>
                      <a:rPr lang="en-US" altLang="ja-JP" i="1"/>
                      <m:t>Hilbert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ja-JP" altLang="en-US" i="1"/>
                      <m:t>空间上的算子表示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所以 PVM 可以看成“经典测量结果空间”在量子 Hilbert 空间中的表示。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420466F-75B5-3342-D5C5-77C0345FE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79" y="1183640"/>
                <a:ext cx="11707949" cy="5440680"/>
              </a:xfrm>
              <a:blipFill>
                <a:blip r:embed="rId3"/>
                <a:stretch>
                  <a:fillRect l="-573" t="-896" b="-6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1121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6061-8FC2-A733-C424-2D9CC798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B235E-E250-FC92-629B-D976DC7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正交与投影：最小化问题的核心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09B343-E86C-2AED-A9DB-55E0270FC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08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742A-F3B0-B5FC-F001-90792E35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E0C5DE-B7CA-CE05-FCF0-107E1E9E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正交投影是最优化结构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 Hilbert 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中，如果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是闭子空间，那么对任意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，存在唯一分解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⊥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因此最小化问题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的解由正交条件决定：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=0, ∀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最优解不是通过“求导公式”得到的，而是通过“</a:t>
                </a:r>
                <a:r>
                  <a:rPr lang="ja-JP" altLang="ja-JP" dirty="0">
                    <a:solidFill>
                      <a:srgbClr val="C00000"/>
                    </a:solidFill>
                  </a:rPr>
                  <a:t>误差与允许变化方向正交</a:t>
                </a:r>
                <a:r>
                  <a:rPr lang="ja-JP" altLang="ja-JP" dirty="0"/>
                  <a:t>”得到的。</a:t>
                </a:r>
              </a:p>
              <a:p>
                <a:r>
                  <a:rPr lang="ja-JP" altLang="ja-JP" dirty="0"/>
                  <a:t>这正是变分法、最小二乘、弱形式 PDE、机器学习训练目标中的共同思想。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很多优化问题看起来是在求导，但本质上都是这个结构：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误差</m:t>
                        </m:r>
                        <m:r>
                          <a:rPr lang="ja-JP" altLang="en-US"/>
                          <m:t>⊥</m:t>
                        </m:r>
                        <m:r>
                          <m:rPr>
                            <m:nor/>
                          </m:rPr>
                          <a:rPr lang="ja-JP" altLang="en-US" i="1"/>
                          <m:t>允许变化方向</m:t>
                        </m:r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更具体地说：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ja-JP" altLang="en-US" i="1"/>
                              <m:t>误差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ja-JP" altLang="en-US" i="1"/>
                              <m:t>任意允许扰动</m:t>
                            </m:r>
                          </m:e>
                        </m:d>
                        <m:r>
                          <a:rPr lang="en-US" altLang="ja-JP"/>
                          <m:t>=0.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pPr marL="0" indent="0">
                  <a:buNone/>
                </a:pPr>
                <a:r>
                  <a:rPr lang="ja-JP" altLang="ja-JP" dirty="0"/>
                  <a:t>在不同领域中，“允许变化方向”有不同名字。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在最小二乘中，允许变化方向是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r>
                      <a:rPr lang="en-US" altLang="ja-JP" i="1"/>
                      <m:t>h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在变分法中，允许变化方向是测试函数。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在弱形式 PDE 中，允许变化方向是 test space。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在机器学习中，允许变化方向是参数扰动经过模型线性化后的输出变化。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  <a:blipFill>
                <a:blip r:embed="rId3"/>
                <a:stretch>
                  <a:fillRect l="-612" t="-1009" b="-59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483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3D98-2377-7C54-5A9C-24B3BF14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340BF1-A3D7-6FF7-855A-E70B0F9D4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例子：模糊图像恢复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6EEB48E-3106-4EC0-18CF-C266CFF25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假设：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是原图像，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 是模糊算子，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ja-JP" altLang="ja-JP" dirty="0"/>
                  <a:t> 是噪声。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直接求逆会放大噪声，因此改为：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的小奇异值方向对应难以恢复的细节； </a:t>
                </a:r>
              </a:p>
              <a:p>
                <a:r>
                  <a:rPr lang="ja-JP" altLang="ja-JP" dirty="0"/>
                  <a:t>正则化会牺牲一部分细节来换取稳定性； </a:t>
                </a:r>
              </a:p>
              <a:p>
                <a:r>
                  <a:rPr lang="ja-JP" altLang="ja-JP" dirty="0"/>
                  <a:t>这和信号处理中低通滤波非常接近。</a:t>
                </a:r>
                <a:endParaRPr lang="en-US" altLang="ja-JP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我们看到的图像不是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，而是先被模糊算子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作用，再加上噪声：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清晰图像</m:t>
                    </m:r>
                    <m:r>
                      <a:rPr lang="ja-JP" altLang="en-US"/>
                      <m:t>⟶</m:t>
                    </m:r>
                    <m:r>
                      <m:rPr>
                        <m:nor/>
                      </m:rPr>
                      <a:rPr lang="ja-JP" altLang="en-US" i="1"/>
                      <m:t>模糊</m:t>
                    </m:r>
                    <m:r>
                      <a:rPr lang="ja-JP" altLang="en-US"/>
                      <m:t>⟶</m:t>
                    </m:r>
                    <m:r>
                      <m:rPr>
                        <m:nor/>
                      </m:rPr>
                      <a:rPr lang="ja-JP" altLang="en-US" i="1"/>
                      <m:t>加噪声</m:t>
                    </m:r>
                    <m:r>
                      <a:rPr lang="ja-JP" altLang="en-US"/>
                      <m:t>⟶</m:t>
                    </m:r>
                    <m:r>
                      <m:rPr>
                        <m:nor/>
                      </m:rPr>
                      <a:rPr lang="ja-JP" altLang="en-US" i="1"/>
                      <m:t>观测图像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如果没有噪声，理想情况下可以写：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𝐴𝑢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可逆，那么似乎可以直接得到：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r>
                      <a:rPr lang="ja-JP" altLang="en-US" i="1"/>
                      <m:t>𝑦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但现实中有噪声：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𝐴𝑢</m:t>
                    </m:r>
                    <m:r>
                      <a:rPr lang="en-US" altLang="ja-JP"/>
                      <m:t>+</m:t>
                    </m:r>
                    <m:r>
                      <a:rPr lang="ja-JP" altLang="en-US" i="1"/>
                      <m:t>𝑒</m:t>
                    </m:r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如果直接求逆，就会得到：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r>
                      <a:rPr lang="ja-JP" altLang="en-US" i="1"/>
                      <m:t>𝑦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  <m:r>
                          <a:rPr lang="en-US" altLang="ja-JP"/>
                          <m:t>+</m:t>
                        </m:r>
                        <m:r>
                          <a:rPr lang="ja-JP" altLang="en-US" i="1"/>
                          <m:t>𝑒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+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r>
                      <a:rPr lang="ja-JP" altLang="en-US" i="1"/>
                      <m:t>𝑒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问题出在：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  <m:r>
                      <a:rPr lang="ja-JP" altLang="en-US" i="1"/>
                      <m:t>𝑒</m:t>
                    </m:r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即使噪声 </a:t>
                </a:r>
                <a14:m>
                  <m:oMath xmlns:m="http://schemas.openxmlformats.org/officeDocument/2006/math">
                    <m:r>
                      <a:rPr lang="ja-JP" altLang="en-US" i="1"/>
                      <m:t>𝑒</m:t>
                    </m:r>
                  </m:oMath>
                </a14:m>
                <a:r>
                  <a:rPr lang="ja-JP" altLang="ja-JP" dirty="0"/>
                  <a:t>很小，经过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−</m:t>
                        </m:r>
                        <m:r>
                          <a:rPr lang="en-US" altLang="ja-JP"/>
                          <m:t>1</m:t>
                        </m:r>
                      </m:sup>
                    </m:sSup>
                  </m:oMath>
                </a14:m>
                <a:r>
                  <a:rPr lang="ja-JP" altLang="ja-JP" dirty="0"/>
                  <a:t>以后也可能被巨大放大。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所以模糊图像恢复的困难不是单纯来自“图像模糊”，而是来自：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ja-JP" altLang="en-US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ja-JP" altLang="en-US" b="0"/>
                            <m:t>模糊算子会压缩某些信息，而求逆会把这些被压缩的方向重新放大，包括噪声。</m:t>
                          </m:r>
                        </m:e>
                      </m:borderBox>
                    </m:oMath>
                  </m:oMathPara>
                </a14:m>
                <a:endParaRPr lang="ja-JP" altLang="en-US" b="0" dirty="0"/>
              </a:p>
              <a:p>
                <a:pPr marL="0" indent="0">
                  <a:buNone/>
                </a:pPr>
                <a:br>
                  <a:rPr lang="ja-JP" altLang="ja-JP" dirty="0"/>
                </a:br>
                <a:endParaRPr lang="ja-JP" altLang="ja-JP" dirty="0"/>
              </a:p>
              <a:p>
                <a:r>
                  <a:rPr lang="ja-JP" altLang="ja-JP" b="1" dirty="0"/>
                  <a:t>2. 用奇异值理解为什么会放大噪声</a:t>
                </a:r>
              </a:p>
              <a:p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有奇异值分解：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𝑤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这里：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r>
                  <a:rPr lang="ja-JP" altLang="ja-JP" dirty="0"/>
                  <a:t>是原图像空间中的某个方向；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𝑤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r>
                  <a:rPr lang="ja-JP" altLang="ja-JP" dirty="0"/>
                  <a:t>是观测图像空间中的对应方向；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r>
                  <a:rPr lang="ja-JP" altLang="ja-JP" dirty="0"/>
                  <a:t>表示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在这个方向上的放大或压缩程度。</a:t>
                </a:r>
              </a:p>
              <a:p>
                <a:r>
                  <a:rPr lang="ja-JP" altLang="ja-JP" dirty="0"/>
                  <a:t>如果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r>
                  <a:rPr lang="ja-JP" altLang="ja-JP" dirty="0"/>
                  <a:t>很大，说明这个方向的信息容易保留下来。</a:t>
                </a:r>
              </a:p>
              <a:p>
                <a:r>
                  <a:rPr lang="ja-JP" altLang="ja-JP" dirty="0"/>
                  <a:t>如果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r>
                  <a:rPr lang="ja-JP" altLang="ja-JP" dirty="0"/>
                  <a:t>很小，说明这个方向的信息被模糊算子严重压缩。</a:t>
                </a:r>
              </a:p>
              <a:p>
                <a:r>
                  <a:rPr lang="ja-JP" altLang="ja-JP" dirty="0"/>
                  <a:t>直接求逆时，需要做：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所以如果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ja-JP" altLang="en-US"/>
                      <m:t>≈</m:t>
                    </m:r>
                    <m:r>
                      <a:rPr lang="en-US" altLang="ja-JP"/>
                      <m:t>0,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那么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ja-JP" altLang="en-US" dirty="0"/>
              </a:p>
              <a:p>
                <a:r>
                  <a:rPr lang="ja-JP" altLang="ja-JP" dirty="0"/>
                  <a:t>会非常大。</a:t>
                </a:r>
              </a:p>
              <a:p>
                <a:r>
                  <a:rPr lang="ja-JP" altLang="ja-JP" dirty="0"/>
                  <a:t>这意味着：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a:rPr lang="ja-JP" altLang="en-US" i="1"/>
                          <m:t>𝐴</m:t>
                        </m:r>
                        <m:r>
                          <m:rPr>
                            <m:nor/>
                          </m:rPr>
                          <a:rPr lang="ja-JP" altLang="en-US" i="1"/>
                          <m:t> 的小奇异值方向，就是恢复时最不稳定的方向。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r>
                  <a:rPr lang="ja-JP" altLang="ja-JP" dirty="0"/>
                  <a:t>图像中的细节、边缘、纹理、高频成分，通常就落在这些小奇异值方向上。</a:t>
                </a:r>
              </a:p>
              <a:p>
                <a:br>
                  <a:rPr lang="ja-JP" altLang="ja-JP" dirty="0"/>
                </a:br>
                <a:endParaRPr lang="ja-JP" altLang="ja-JP" dirty="0"/>
              </a:p>
              <a:p>
                <a:r>
                  <a:rPr lang="ja-JP" altLang="ja-JP" b="1" dirty="0"/>
                  <a:t>3. 为什么细节难以恢复？</a:t>
                </a:r>
              </a:p>
              <a:p>
                <a:r>
                  <a:rPr lang="ja-JP" altLang="ja-JP" dirty="0"/>
                  <a:t>模糊的本质通常类似于平均化。例如一个像素会被周围像素混合，边缘会被抹平，细小纹理会消失。</a:t>
                </a:r>
              </a:p>
              <a:p>
                <a:r>
                  <a:rPr lang="ja-JP" altLang="ja-JP" dirty="0"/>
                  <a:t>所以模糊算子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对不同频率的作用不同：</a:t>
                </a:r>
              </a:p>
              <a:p>
                <a:r>
                  <a:rPr lang="ja-JP" altLang="ja-JP" dirty="0"/>
                  <a:t>低频信息，例如大面积颜色、整体亮度、粗略轮廓，比较容易保留；</a:t>
                </a:r>
              </a:p>
              <a:p>
                <a:r>
                  <a:rPr lang="ja-JP" altLang="ja-JP" dirty="0"/>
                  <a:t>高频信息，例如边缘、细纹理、小结构，容易被削弱。</a:t>
                </a:r>
              </a:p>
              <a:p>
                <a:r>
                  <a:rPr lang="ja-JP" altLang="ja-JP" dirty="0"/>
                  <a:t>因此在频率角度看：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endParaRPr lang="ja-JP" altLang="en-US" dirty="0"/>
              </a:p>
              <a:p>
                <a:r>
                  <a:rPr lang="ja-JP" altLang="ja-JP" dirty="0"/>
                  <a:t>通常像一个低通滤波器。</a:t>
                </a:r>
              </a:p>
              <a:p>
                <a:r>
                  <a:rPr lang="ja-JP" altLang="ja-JP" dirty="0"/>
                  <a:t>它保留低频，压低高频。</a:t>
                </a:r>
              </a:p>
              <a:p>
                <a:r>
                  <a:rPr lang="ja-JP" altLang="ja-JP" dirty="0"/>
                  <a:t>所以如果要恢复原图像，就必须把高频重新放大。但高频中往往也包含噪声，于是会出现矛盾：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想恢复细节，就要放大高频；但放大高频也会放大噪声。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br>
                  <a:rPr lang="ja-JP" altLang="ja-JP" dirty="0"/>
                </a:br>
                <a:endParaRPr lang="ja-JP" altLang="ja-JP" dirty="0"/>
              </a:p>
              <a:p>
                <a:r>
                  <a:rPr lang="ja-JP" altLang="ja-JP" b="1" dirty="0"/>
                  <a:t>4. 为什么加入正则化？</a:t>
                </a:r>
              </a:p>
              <a:p>
                <a:r>
                  <a:rPr lang="ja-JP" altLang="ja-JP" dirty="0"/>
                  <a:t>因此我们不直接解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𝑦</m:t>
                    </m:r>
                    <m:r>
                      <a:rPr lang="en-US" altLang="ja-JP"/>
                      <m:t>,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而是改成最小化：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ja-JP" altLang="en-US"/>
                        </m:ctrlPr>
                      </m:limLowPr>
                      <m:e>
                        <m:func>
                          <m:funcPr>
                            <m:ctrlPr>
                              <a:rPr lang="ja-JP" altLang="en-US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/>
                              <m:t>min</m:t>
                            </m:r>
                          </m:fName>
                          <m:e/>
                        </m:func>
                      </m:e>
                      <m:lim>
                        <m:r>
                          <a:rPr lang="ja-JP" altLang="en-US" i="1"/>
                          <m:t>𝑢</m:t>
                        </m:r>
                      </m:lim>
                    </m:limLow>
                    <m:r>
                      <a:rPr lang="ja-JP" altLang="en-US"/>
                      <m:t>∥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+</m:t>
                    </m:r>
                    <m:r>
                      <a:rPr lang="ja-JP" altLang="en-US" i="1"/>
                      <m:t>𝜆</m:t>
                    </m:r>
                    <m:r>
                      <a:rPr lang="ja-JP" altLang="en-US"/>
                      <m:t>∥</m:t>
                    </m:r>
                    <m:r>
                      <a:rPr lang="ja-JP" altLang="en-US" i="1"/>
                      <m:t>𝑢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第一项：</a:t>
                </a:r>
              </a:p>
              <a:p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</m:oMath>
                </a14:m>
                <a:endParaRPr lang="ja-JP" altLang="en-US" dirty="0"/>
              </a:p>
              <a:p>
                <a:r>
                  <a:rPr lang="ja-JP" altLang="ja-JP" dirty="0"/>
                  <a:t>叫数据拟合项，意思是：</a:t>
                </a:r>
              </a:p>
              <a:p>
                <a:r>
                  <a:rPr lang="ja-JP" altLang="ja-JP" dirty="0"/>
                  <a:t>恢复出来的图像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经过模糊后，应该接近观测图像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r>
                  <a:rPr lang="ja-JP" altLang="ja-JP" dirty="0"/>
                  <a:t>第二项：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ja-JP" altLang="en-US"/>
                      <m:t>∥</m:t>
                    </m:r>
                    <m:r>
                      <a:rPr lang="ja-JP" altLang="en-US" i="1"/>
                      <m:t>𝑢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</m:oMath>
                </a14:m>
                <a:endParaRPr lang="ja-JP" altLang="en-US" dirty="0"/>
              </a:p>
              <a:p>
                <a:r>
                  <a:rPr lang="ja-JP" altLang="ja-JP" dirty="0"/>
                  <a:t>叫正则化项，意思是：</a:t>
                </a:r>
              </a:p>
              <a:p>
                <a:r>
                  <a:rPr lang="ja-JP" altLang="ja-JP" dirty="0"/>
                  <a:t>不希望恢复出来的图像太不稳定、太剧烈、太容易被噪声支配。</a:t>
                </a:r>
              </a:p>
              <a:p>
                <a:r>
                  <a:rPr lang="ja-JP" altLang="ja-JP" dirty="0"/>
                  <a:t>参数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en-US" altLang="ja-JP"/>
                      <m:t>&gt;0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控制二者的平衡。</a:t>
                </a:r>
              </a:p>
              <a:p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</m:oMath>
                </a14:m>
                <a:r>
                  <a:rPr lang="ja-JP" altLang="ja-JP" dirty="0"/>
                  <a:t>很小，就更相信数据，恢复结果可能细节多，但噪声也会被放大。</a:t>
                </a:r>
              </a:p>
              <a:p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</m:oMath>
                </a14:m>
                <a:r>
                  <a:rPr lang="ja-JP" altLang="ja-JP" dirty="0"/>
                  <a:t>很大，就更强调稳定性，结果更平滑，但细节可能被牺牲。</a:t>
                </a:r>
              </a:p>
              <a:p>
                <a:br>
                  <a:rPr lang="ja-JP" altLang="ja-JP" dirty="0"/>
                </a:br>
                <a:endParaRPr lang="ja-JP" altLang="ja-JP" dirty="0"/>
              </a:p>
              <a:p>
                <a:r>
                  <a:rPr lang="ja-JP" altLang="ja-JP" b="1" dirty="0"/>
                  <a:t>5. 正则化后的方程是什么？</a:t>
                </a:r>
              </a:p>
              <a:p>
                <a:r>
                  <a:rPr lang="ja-JP" altLang="ja-JP" dirty="0"/>
                  <a:t>目标函数为：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𝐽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𝑢</m:t>
                        </m:r>
                      </m:e>
                    </m:d>
                    <m:r>
                      <a:rPr lang="en-US" altLang="ja-JP"/>
                      <m:t>=∥</m:t>
                    </m:r>
                    <m:r>
                      <a:rPr lang="ja-JP" altLang="en-US" i="1"/>
                      <m:t>𝐴𝑢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+</m:t>
                    </m:r>
                    <m:r>
                      <a:rPr lang="ja-JP" altLang="en-US" i="1"/>
                      <m:t>𝜆</m:t>
                    </m:r>
                    <m:r>
                      <a:rPr lang="ja-JP" altLang="en-US"/>
                      <m:t>∥</m:t>
                    </m:r>
                    <m:r>
                      <a:rPr lang="ja-JP" altLang="en-US" i="1"/>
                      <m:t>𝑢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/>
                          <m:t>∥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对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求一阶最优条件：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/>
                      <m:t>∇</m:t>
                    </m:r>
                    <m:r>
                      <a:rPr lang="ja-JP" altLang="en-US" i="1"/>
                      <m:t>𝐽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𝑢</m:t>
                        </m:r>
                      </m:e>
                    </m:d>
                    <m:r>
                      <a:rPr lang="en-US" altLang="ja-JP"/>
                      <m:t>=0.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第一项的梯度是：</a:t>
                </a:r>
              </a:p>
              <a:p>
                <a14:m>
                  <m:oMath xmlns:m="http://schemas.openxmlformats.org/officeDocument/2006/math">
                    <m:r>
                      <a:rPr lang="en-US" altLang="ja-JP"/>
                      <m:t>2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  <m:r>
                          <a:rPr lang="ja-JP" altLang="en-US"/>
                          <m:t>−</m:t>
                        </m:r>
                        <m:r>
                          <a:rPr lang="ja-JP" altLang="en-US" i="1"/>
                          <m:t>𝑦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第二项的梯度是：</a:t>
                </a:r>
              </a:p>
              <a:p>
                <a14:m>
                  <m:oMath xmlns:m="http://schemas.openxmlformats.org/officeDocument/2006/math">
                    <m:r>
                      <a:rPr lang="en-US" altLang="ja-JP"/>
                      <m:t>2</m:t>
                    </m:r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所以：</a:t>
                </a:r>
              </a:p>
              <a:p>
                <a14:m>
                  <m:oMath xmlns:m="http://schemas.openxmlformats.org/officeDocument/2006/math">
                    <m:r>
                      <a:rPr lang="en-US" altLang="ja-JP"/>
                      <m:t>2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  <m:r>
                          <a:rPr lang="ja-JP" altLang="en-US"/>
                          <m:t>−</m:t>
                        </m:r>
                        <m:r>
                          <a:rPr lang="ja-JP" altLang="en-US" i="1"/>
                          <m:t>𝑦</m:t>
                        </m:r>
                      </m:e>
                    </m:d>
                    <m:r>
                      <a:rPr lang="en-US" altLang="ja-JP"/>
                      <m:t>+2</m:t>
                    </m:r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=0.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去掉因子 2：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𝐴𝑢</m:t>
                        </m:r>
                        <m:r>
                          <a:rPr lang="ja-JP" altLang="en-US"/>
                          <m:t>−</m:t>
                        </m:r>
                        <m:r>
                          <a:rPr lang="ja-JP" altLang="en-US" i="1"/>
                          <m:t>𝑦</m:t>
                        </m:r>
                      </m:e>
                    </m:d>
                    <m:r>
                      <a:rPr lang="en-US" altLang="ja-JP"/>
                      <m:t>+</m:t>
                    </m:r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=0.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整理得到：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𝐴𝑢</m:t>
                    </m:r>
                    <m:r>
                      <a:rPr lang="en-US" altLang="ja-JP"/>
                      <m:t>+</m:t>
                    </m:r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𝑢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𝑦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也就是：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d>
                          <m:dPr>
                            <m:ctrlPr>
                              <a:rPr lang="ja-JP" altLang="en-US"/>
                            </m:ctrlPr>
                          </m:dPr>
                          <m:e>
                            <m:sSup>
                              <m:sSupPr>
                                <m:ctrlPr>
                                  <a:rPr lang="ja-JP" altLang="en-US" i="1"/>
                                </m:ctrlPr>
                              </m:sSupPr>
                              <m:e>
                                <m:r>
                                  <a:rPr lang="ja-JP" altLang="en-US" i="1"/>
                                  <m:t>𝐴</m:t>
                                </m:r>
                              </m:e>
                              <m:sup>
                                <m:r>
                                  <a:rPr lang="ja-JP" altLang="en-US"/>
                                  <m:t>∗</m:t>
                                </m:r>
                              </m:sup>
                            </m:sSup>
                            <m:r>
                              <a:rPr lang="ja-JP" altLang="en-US" i="1"/>
                              <m:t>𝐴</m:t>
                            </m:r>
                            <m:r>
                              <a:rPr lang="en-US" altLang="ja-JP"/>
                              <m:t>+</m:t>
                            </m:r>
                            <m:r>
                              <a:rPr lang="ja-JP" altLang="en-US" i="1"/>
                              <m:t>𝜆</m:t>
                            </m:r>
                            <m:r>
                              <a:rPr lang="ja-JP" altLang="en-US" i="1"/>
                              <m:t>𝐼</m:t>
                            </m:r>
                          </m:e>
                        </m:d>
                        <m:r>
                          <a:rPr lang="ja-JP" altLang="en-US" i="1"/>
                          <m:t>𝑢</m:t>
                        </m:r>
                        <m:r>
                          <a:rPr lang="en-US" altLang="ja-JP"/>
                          <m:t>=</m:t>
                        </m:r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𝐴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  <m:r>
                          <a:rPr lang="ja-JP" altLang="en-US" i="1"/>
                          <m:t>𝑦</m:t>
                        </m:r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endParaRPr lang="ja-JP" altLang="en-US" dirty="0"/>
              </a:p>
              <a:p>
                <a:r>
                  <a:rPr lang="ja-JP" altLang="ja-JP" dirty="0"/>
                  <a:t>这就是带 Tikhonov 正则化的正则方程。</a:t>
                </a:r>
              </a:p>
              <a:p>
                <a:r>
                  <a:rPr lang="ja-JP" altLang="ja-JP" dirty="0"/>
                  <a:t>它和普通最小二乘的正则方程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𝐴𝑢</m:t>
                    </m:r>
                    <m:r>
                      <a:rPr lang="en-US" altLang="ja-JP"/>
                      <m:t>=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𝐴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 i="1"/>
                      <m:t>𝑦</m:t>
                    </m:r>
                  </m:oMath>
                </a14:m>
                <a:endParaRPr lang="ja-JP" altLang="en-US" dirty="0"/>
              </a:p>
              <a:p>
                <a:r>
                  <a:rPr lang="ja-JP" altLang="ja-JP" dirty="0"/>
                  <a:t>相比，多了一个稳定项：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/>
                      <m:t>𝜆</m:t>
                    </m:r>
                    <m:r>
                      <a:rPr lang="ja-JP" altLang="en-US" i="1"/>
                      <m:t>𝐼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这个项非常重要，因为它把原来可能很小甚至为零的特征值变成：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/>
                        </m:ctrlPr>
                      </m:sSubSup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+</m:t>
                    </m:r>
                    <m:r>
                      <a:rPr lang="ja-JP" altLang="en-US" i="1"/>
                      <m:t>𝜆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这样求逆时就不会除以太小的数。</a:t>
                </a:r>
              </a:p>
              <a:p>
                <a:pPr marL="0" indent="0">
                  <a:buNone/>
                </a:pPr>
                <a:endParaRPr lang="en-US" altLang="ja-JP" b="0" dirty="0"/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6EEB48E-3106-4EC0-18CF-C266CFF25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  <a:blipFill>
                <a:blip r:embed="rId3"/>
                <a:stretch>
                  <a:fillRect l="-612" t="-1009" r="-334" b="-6201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287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190E-B57F-B083-AF64-F6218169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108965C-CDE4-A2BA-9324-AFCC3C847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例子：模糊图像恢复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76FCF3-4F5C-B05E-F67B-5647031E5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sz="1800" dirty="0"/>
                  <a:t>假设：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ja-JP" sz="1800" dirty="0"/>
                  <a:t>其中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sz="1800" dirty="0"/>
                  <a:t>是原图像，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 是模糊算子，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ja-JP" altLang="ja-JP" sz="1800" dirty="0"/>
                  <a:t> 是噪声。</a:t>
                </a:r>
                <a:endParaRPr lang="en-US" altLang="ja-JP" sz="1800" b="1" dirty="0"/>
              </a:p>
              <a:p>
                <a:pPr marL="0" indent="0">
                  <a:buNone/>
                </a:pPr>
                <a:r>
                  <a:rPr lang="ja-JP" altLang="ja-JP" sz="1800" b="1" dirty="0"/>
                  <a:t>用奇异值理解为什么会放大噪声</a:t>
                </a:r>
              </a:p>
              <a:p>
                <a:r>
                  <a:rPr lang="ja-JP" altLang="ja-JP" sz="1800" dirty="0"/>
                  <a:t>设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有奇异值分解：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1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sz="1800" dirty="0"/>
                  <a:t>  </a:t>
                </a:r>
                <a:r>
                  <a:rPr lang="ja-JP" altLang="ja-JP" sz="1800" dirty="0"/>
                  <a:t>这里：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800" dirty="0"/>
                  <a:t>是原图像空间中的某个方向；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800" dirty="0"/>
                  <a:t>是观测图像空间中的对应方向；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800" dirty="0"/>
                  <a:t>表示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在这个方向上的放大或压缩程度。</a:t>
                </a:r>
              </a:p>
              <a:p>
                <a:r>
                  <a:rPr lang="ja-JP" altLang="ja-JP" sz="180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800" dirty="0"/>
                  <a:t>很大，说明这个方向的信息容易保留下来。如果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sz="1800" dirty="0"/>
                  <a:t>很小，说明这个方向的信息被模糊算子严重压缩</a:t>
                </a:r>
              </a:p>
              <a:p>
                <a:r>
                  <a:rPr lang="ja-JP" altLang="ja-JP" sz="1800" dirty="0"/>
                  <a:t>直接求逆时，需要做：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 sz="1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所以如果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ja-JP" altLang="en-US" sz="1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那么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ja-JP" altLang="ja-JP" sz="1800" dirty="0"/>
                  <a:t>会非常大。</a:t>
                </a:r>
              </a:p>
              <a:p>
                <a:r>
                  <a:rPr lang="ja-JP" altLang="ja-JP" sz="1800" dirty="0"/>
                  <a:t>这意味着：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ja-JP" altLang="en-US" sz="1800" i="1"/>
                          <m:t> 的小奇异值方向，就是恢复时最不稳定的方向。</m:t>
                        </m:r>
                      </m:e>
                    </m:borderBox>
                  </m:oMath>
                </a14:m>
                <a:endParaRPr lang="ja-JP" altLang="en-US" sz="1800" b="0" dirty="0"/>
              </a:p>
              <a:p>
                <a:r>
                  <a:rPr lang="ja-JP" altLang="ja-JP" sz="1800" dirty="0"/>
                  <a:t>图像中的细节、边缘、纹理、高频成分，通常就落在这些小奇异值方向上。</a:t>
                </a:r>
              </a:p>
              <a:p>
                <a:pPr marL="0" indent="0">
                  <a:buNone/>
                </a:pPr>
                <a:br>
                  <a:rPr lang="ja-JP" altLang="ja-JP" sz="1800" dirty="0"/>
                </a:br>
                <a:r>
                  <a:rPr lang="ja-JP" altLang="ja-JP" sz="1800" b="1" dirty="0"/>
                  <a:t>为什么细节难以恢复？</a:t>
                </a:r>
              </a:p>
              <a:p>
                <a:r>
                  <a:rPr lang="ja-JP" altLang="ja-JP" sz="1800" dirty="0"/>
                  <a:t>模糊的本质通常类似于平均化。例如一个像素会被周围像素混合，边缘会被抹平，细小纹理会消失。所以模糊算子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对不同频率的作用不同：</a:t>
                </a:r>
              </a:p>
              <a:p>
                <a:r>
                  <a:rPr lang="ja-JP" altLang="ja-JP" sz="1800" dirty="0"/>
                  <a:t>低频信息，例如大面积颜色、整体亮度、粗略轮廓，比较容易保留；</a:t>
                </a:r>
              </a:p>
              <a:p>
                <a:r>
                  <a:rPr lang="ja-JP" altLang="ja-JP" sz="1800" dirty="0"/>
                  <a:t>高频信息，例如边缘、细纹理、小结构，容易被削弱。</a:t>
                </a:r>
              </a:p>
              <a:p>
                <a:r>
                  <a:rPr lang="ja-JP" altLang="ja-JP" sz="1800" dirty="0"/>
                  <a:t>因此在频率角度看：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通常像一个低通滤波器。它保留低频，压低高频。</a:t>
                </a:r>
              </a:p>
              <a:p>
                <a:r>
                  <a:rPr lang="ja-JP" altLang="ja-JP" sz="1800" dirty="0"/>
                  <a:t>所以如果要恢复原图像，就必须把高频重新放大。但高频中往往也包含噪声，于是会出现矛盾：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sz="1800" b="0"/>
                          <m:t>想恢复细节，就要放大高频；但放大高频也会放大噪声。</m:t>
                        </m:r>
                      </m:e>
                    </m:borderBox>
                  </m:oMath>
                </a14:m>
                <a:endParaRPr lang="ja-JP" altLang="en-US" sz="1800" b="0" dirty="0"/>
              </a:p>
              <a:p>
                <a:pPr marL="0" indent="0">
                  <a:buNone/>
                </a:pPr>
                <a:endParaRPr lang="ja-JP" altLang="ja-JP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76FCF3-4F5C-B05E-F67B-5647031E5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0962640" cy="5440680"/>
              </a:xfrm>
              <a:blipFill>
                <a:blip r:embed="rId3"/>
                <a:stretch>
                  <a:fillRect l="-501" t="-1009" b="-118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097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EA18-DED6-E933-EBEA-CBC8C4E7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AE45309-F989-F3F1-B45C-BFE90A352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例子：模糊图像恢复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3047DF2-525E-8FDD-C1CD-56D321451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6535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sz="1800" dirty="0"/>
                  <a:t>假设：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ja-JP" sz="1800" dirty="0"/>
                  <a:t>其中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sz="1800" dirty="0"/>
                  <a:t>是原图像，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1800" dirty="0"/>
                  <a:t> 是模糊算子，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ja-JP" altLang="ja-JP" sz="1800" dirty="0"/>
                  <a:t> 是噪声。</a:t>
                </a:r>
                <a:endParaRPr lang="en-US" altLang="ja-JP" sz="1800" b="1" dirty="0"/>
              </a:p>
              <a:p>
                <a:pPr marL="0" indent="0">
                  <a:buNone/>
                </a:pPr>
                <a:r>
                  <a:rPr lang="ja-JP" altLang="ja-JP" sz="1800" b="1" dirty="0"/>
                  <a:t>为什么加入正则化？</a:t>
                </a:r>
              </a:p>
              <a:p>
                <a:r>
                  <a:rPr lang="ja-JP" altLang="ja-JP" sz="1800" dirty="0"/>
                  <a:t>因此我们不直接解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𝐴𝑢</m:t>
                    </m:r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𝑦</m:t>
                    </m:r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而是改成最小化：</a:t>
                </a:r>
                <a:r>
                  <a:rPr lang="ja-JP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1800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ja-JP" altLang="en-US" sz="1800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ja-JP" altLang="ja-JP" sz="18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𝐴𝑢</m:t>
                    </m:r>
                    <m:r>
                      <a:rPr lang="ja-JP" altLang="en-US" sz="1800"/>
                      <m:t>−</m:t>
                    </m:r>
                    <m:r>
                      <a:rPr lang="ja-JP" altLang="en-US" sz="1800" i="1"/>
                      <m:t>𝑦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/>
                          <m:t>∥</m:t>
                        </m:r>
                      </m:e>
                      <m:sup>
                        <m:r>
                          <a:rPr lang="en-US" altLang="ja-JP" sz="1800"/>
                          <m:t>2</m:t>
                        </m:r>
                      </m:sup>
                    </m:sSup>
                  </m:oMath>
                </a14:m>
                <a:r>
                  <a:rPr lang="ja-JP" altLang="ja-JP" sz="1800" dirty="0"/>
                  <a:t>叫数据拟合项，意思是：恢复出来的图像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经过模糊后，应该接近观测图像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𝑦</m:t>
                    </m:r>
                  </m:oMath>
                </a14:m>
                <a:r>
                  <a:rPr lang="ja-JP" altLang="ja-JP" sz="1800" dirty="0"/>
                  <a:t>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800" i="1"/>
                      <m:t>𝜆</m:t>
                    </m:r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𝑢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/>
                          <m:t>∥</m:t>
                        </m:r>
                      </m:e>
                      <m:sup>
                        <m:r>
                          <a:rPr lang="en-US" altLang="ja-JP" sz="1800"/>
                          <m:t>2</m:t>
                        </m:r>
                      </m:sup>
                    </m:sSup>
                  </m:oMath>
                </a14:m>
                <a:r>
                  <a:rPr lang="ja-JP" altLang="ja-JP" sz="1800" dirty="0"/>
                  <a:t>叫正则化项，意思是：不希望恢复出来的图像太不稳定、太剧烈、太容易被噪声支配。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800" dirty="0"/>
                  <a:t>参数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𝜆</m:t>
                    </m:r>
                    <m:r>
                      <a:rPr lang="en-US" altLang="ja-JP" sz="1800"/>
                      <m:t>&gt;0</m:t>
                    </m:r>
                  </m:oMath>
                </a14:m>
                <a:r>
                  <a:rPr lang="ja-JP" altLang="ja-JP" sz="1800" dirty="0"/>
                  <a:t>控制二者的平衡。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800" dirty="0"/>
                  <a:t>如果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𝜆</m:t>
                    </m:r>
                  </m:oMath>
                </a14:m>
                <a:r>
                  <a:rPr lang="ja-JP" altLang="ja-JP" sz="1800" dirty="0"/>
                  <a:t>很小，就更相信数据，恢复结果可能细节多，但噪声也会被放大。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sz="1800" dirty="0"/>
                  <a:t>如果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𝜆</m:t>
                    </m:r>
                  </m:oMath>
                </a14:m>
                <a:r>
                  <a:rPr lang="ja-JP" altLang="ja-JP" sz="1800" dirty="0"/>
                  <a:t>很大，就更强调稳定性，结果更平滑，但细节可能被牺牲。</a:t>
                </a:r>
                <a:br>
                  <a:rPr lang="ja-JP" altLang="ja-JP" sz="1800" dirty="0"/>
                </a:br>
                <a:endParaRPr lang="ja-JP" altLang="ja-JP" sz="1800" dirty="0"/>
              </a:p>
              <a:p>
                <a:pPr marL="0" indent="0">
                  <a:buNone/>
                </a:pPr>
                <a:r>
                  <a:rPr lang="ja-JP" altLang="ja-JP" sz="1800" b="1" dirty="0"/>
                  <a:t>正则化后的方程</a:t>
                </a:r>
              </a:p>
              <a:p>
                <a:r>
                  <a:rPr lang="ja-JP" altLang="ja-JP" sz="1800" dirty="0"/>
                  <a:t>目标函数为：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=∥</m:t>
                    </m:r>
                    <m:r>
                      <a:rPr lang="ja-JP" altLang="en-US" sz="1800" i="1"/>
                      <m:t>𝐴𝑢</m:t>
                    </m:r>
                    <m:r>
                      <a:rPr lang="ja-JP" altLang="en-US" sz="1800"/>
                      <m:t>−</m:t>
                    </m:r>
                    <m:r>
                      <a:rPr lang="ja-JP" altLang="en-US" sz="1800" i="1"/>
                      <m:t>𝑦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/>
                          <m:t>∥</m:t>
                        </m:r>
                      </m:e>
                      <m:sup>
                        <m:r>
                          <a:rPr lang="en-US" altLang="ja-JP" sz="1800"/>
                          <m:t>2</m:t>
                        </m:r>
                      </m:sup>
                    </m:sSup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𝜆</m:t>
                    </m:r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𝑢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/>
                          <m:t>∥</m:t>
                        </m:r>
                      </m:e>
                      <m:sup>
                        <m:r>
                          <a:rPr lang="en-US" altLang="ja-JP" sz="1800"/>
                          <m:t>2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对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求一阶最优条件：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=0.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第一项的梯度是：</a:t>
                </a:r>
                <a14:m>
                  <m:oMath xmlns:m="http://schemas.openxmlformats.org/officeDocument/2006/math">
                    <m:r>
                      <a:rPr lang="en-US" altLang="ja-JP" sz="1800"/>
                      <m:t>2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𝐴𝑢</m:t>
                        </m:r>
                        <m:r>
                          <a:rPr lang="ja-JP" altLang="en-US" sz="1800"/>
                          <m:t>−</m:t>
                        </m:r>
                        <m:r>
                          <a:rPr lang="ja-JP" altLang="en-US" sz="1800" i="1"/>
                          <m:t>𝑦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第二项的梯度是：</a:t>
                </a:r>
                <a14:m>
                  <m:oMath xmlns:m="http://schemas.openxmlformats.org/officeDocument/2006/math">
                    <m:r>
                      <a:rPr lang="en-US" altLang="ja-JP" sz="1800"/>
                      <m:t>2</m:t>
                    </m:r>
                    <m:r>
                      <a:rPr lang="ja-JP" altLang="en-US" sz="1800" i="1"/>
                      <m:t>𝜆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 </a:t>
                </a:r>
                <a:r>
                  <a:rPr lang="ja-JP" altLang="ja-JP" sz="1800" dirty="0"/>
                  <a:t>所以：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800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𝐴𝑢</m:t>
                        </m:r>
                        <m:r>
                          <a:rPr lang="ja-JP" altLang="en-US" sz="1800"/>
                          <m:t>−</m:t>
                        </m:r>
                        <m:r>
                          <a:rPr lang="ja-JP" altLang="en-US" sz="1800" i="1"/>
                          <m:t>𝑦</m:t>
                        </m:r>
                      </m:e>
                    </m:d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𝜆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=0.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整理得到：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800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ja-JP" altLang="en-US" sz="1800" i="1"/>
                      <m:t>𝐴𝑢</m:t>
                    </m:r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𝜆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ja-JP" altLang="en-US" sz="1800" i="1"/>
                      <m:t>𝑦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也就是：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 sz="1800"/>
                        </m:ctrlPr>
                      </m:borderBoxPr>
                      <m:e>
                        <m:d>
                          <m:dPr>
                            <m:ctrlPr>
                              <a:rPr lang="ja-JP" altLang="en-US" sz="1800"/>
                            </m:ctrlPr>
                          </m:dPr>
                          <m:e>
                            <m:sSup>
                              <m:sSupPr>
                                <m:ctrlPr>
                                  <a:rPr lang="ja-JP" altLang="en-US" sz="1800" i="1"/>
                                </m:ctrlPr>
                              </m:sSupPr>
                              <m:e>
                                <m:r>
                                  <a:rPr lang="ja-JP" altLang="en-US" sz="1800" i="1"/>
                                  <m:t>𝐴</m:t>
                                </m:r>
                              </m:e>
                              <m:sup>
                                <m:r>
                                  <a:rPr lang="ja-JP" altLang="en-US" sz="1800"/>
                                  <m:t>∗</m:t>
                                </m:r>
                              </m:sup>
                            </m:sSup>
                            <m:r>
                              <a:rPr lang="ja-JP" altLang="en-US" sz="1800" i="1"/>
                              <m:t>𝐴</m:t>
                            </m:r>
                            <m:r>
                              <a:rPr lang="en-US" altLang="ja-JP" sz="1800"/>
                              <m:t>+</m:t>
                            </m:r>
                            <m:r>
                              <a:rPr lang="ja-JP" altLang="en-US" sz="1800" i="1"/>
                              <m:t>𝜆</m:t>
                            </m:r>
                            <m:r>
                              <a:rPr lang="ja-JP" altLang="en-US" sz="1800" i="1"/>
                              <m:t>𝐼</m:t>
                            </m:r>
                          </m:e>
                        </m:d>
                        <m:r>
                          <a:rPr lang="ja-JP" altLang="en-US" sz="1800" i="1"/>
                          <m:t>𝑢</m:t>
                        </m:r>
                        <m:r>
                          <a:rPr lang="en-US" altLang="ja-JP" sz="1800"/>
                          <m:t>=</m:t>
                        </m:r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 i="1"/>
                              <m:t>𝐴</m:t>
                            </m:r>
                          </m:e>
                          <m:sup>
                            <m:r>
                              <a:rPr lang="ja-JP" altLang="en-US" sz="1800"/>
                              <m:t>∗</m:t>
                            </m:r>
                          </m:sup>
                        </m:sSup>
                        <m:r>
                          <a:rPr lang="ja-JP" altLang="en-US" sz="1800" i="1"/>
                          <m:t>𝑦</m:t>
                        </m:r>
                        <m:r>
                          <a:rPr lang="en-US" altLang="ja-JP" sz="1800"/>
                          <m:t>.</m:t>
                        </m:r>
                      </m:e>
                    </m:borderBox>
                  </m:oMath>
                </a14:m>
                <a:r>
                  <a:rPr lang="ja-JP" altLang="en-US" sz="1800" dirty="0"/>
                  <a:t> </a:t>
                </a:r>
                <a:r>
                  <a:rPr lang="ja-JP" altLang="ja-JP" sz="1800" dirty="0"/>
                  <a:t>这就是带 Tikhonov 正则化的正则方程。</a:t>
                </a:r>
              </a:p>
              <a:p>
                <a:r>
                  <a:rPr lang="ja-JP" altLang="ja-JP" sz="1800" dirty="0"/>
                  <a:t>它和普通最小二乘的正则方程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800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ja-JP" altLang="en-US" sz="1800" i="1"/>
                      <m:t>𝐴𝑢</m:t>
                    </m:r>
                    <m:r>
                      <a:rPr lang="en-US" altLang="ja-JP" sz="1800"/>
                      <m:t>=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𝐴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ja-JP" altLang="en-US" sz="1800" i="1"/>
                      <m:t>𝑦</m:t>
                    </m:r>
                  </m:oMath>
                </a14:m>
                <a:r>
                  <a:rPr lang="ja-JP" altLang="ja-JP" sz="1800" dirty="0"/>
                  <a:t>相比，多了一个稳定项：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𝜆</m:t>
                    </m:r>
                    <m:r>
                      <a:rPr lang="ja-JP" altLang="en-US" sz="1800" i="1"/>
                      <m:t>𝐼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这个项非常重要，因为它把原来可能很小甚至为零的特征值变成：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 sz="1800"/>
                        </m:ctrlPr>
                      </m:sSubSupPr>
                      <m:e>
                        <m:r>
                          <a:rPr lang="ja-JP" altLang="en-US" sz="1800" i="1"/>
                          <m:t>𝜎</m:t>
                        </m:r>
                      </m:e>
                      <m:sub>
                        <m:r>
                          <a:rPr lang="ja-JP" altLang="en-US" sz="1800" i="1"/>
                          <m:t>𝑖</m:t>
                        </m:r>
                      </m:sub>
                      <m:sup>
                        <m:r>
                          <a:rPr lang="en-US" altLang="ja-JP" sz="1800"/>
                          <m:t>2</m:t>
                        </m:r>
                      </m:sup>
                    </m:sSubSup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𝜆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这样求逆时就不会除以太小的数。</a:t>
                </a:r>
              </a:p>
              <a:p>
                <a:pPr marL="0" indent="0">
                  <a:buNone/>
                </a:pPr>
                <a:endParaRPr lang="en-US" altLang="ja-JP" sz="1800" b="0" dirty="0"/>
              </a:p>
              <a:p>
                <a:pPr marL="0" indent="0">
                  <a:buNone/>
                </a:pPr>
                <a:endParaRPr lang="ja-JP" altLang="ja-JP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3047DF2-525E-8FDD-C1CD-56D321451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653520" cy="5440680"/>
              </a:xfrm>
              <a:blipFill>
                <a:blip r:embed="rId3"/>
                <a:stretch>
                  <a:fillRect l="-471" t="-1009" b="-6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807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DE9A-2BD3-29AE-D44D-98465301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6C812AC-A6A7-E0A4-2069-3C152377E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例子：模糊图像恢复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A9C01DB-76A2-594B-4E27-0831F69F8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6535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假设：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ja-JP" dirty="0"/>
                  <a:t>其中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是原图像，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 是模糊算子，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ja-JP" altLang="ja-JP" dirty="0"/>
                  <a:t> 是噪声。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直接求逆会放大噪声，因此改为：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ja-JP" b="1" dirty="0"/>
                  <a:t>用谱分解看正则化到底做了什么</a:t>
                </a:r>
              </a:p>
              <a:p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/>
                      <m:t>𝐴</m:t>
                    </m:r>
                  </m:oMath>
                </a14:m>
                <a:r>
                  <a:rPr lang="ja-JP" altLang="ja-JP" dirty="0"/>
                  <a:t>的奇异值是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那么正则化解可以写成：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𝑢</m:t>
                        </m:r>
                      </m:e>
                      <m:sub>
                        <m:r>
                          <a:rPr lang="ja-JP" altLang="en-US" i="1"/>
                          <m:t>𝜆</m:t>
                        </m:r>
                      </m:sub>
                    </m:sSub>
                    <m:r>
                      <a:rPr lang="en-US" altLang="ja-JP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ja-JP" altLang="en-US" i="1"/>
                            </m:ctrlPr>
                          </m:fPr>
                          <m:num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𝜎</m:t>
                                </m:r>
                              </m:e>
                              <m:sub>
                                <m:r>
                                  <a:rPr lang="ja-JP" altLang="en-US" i="1"/>
                                  <m:t>𝑖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ja-JP" altLang="en-US" i="1"/>
                                </m:ctrlPr>
                              </m:sSubSupPr>
                              <m:e>
                                <m:r>
                                  <a:rPr lang="ja-JP" altLang="en-US" i="1"/>
                                  <m:t>𝜎</m:t>
                                </m:r>
                              </m:e>
                              <m:sub>
                                <m:r>
                                  <a:rPr lang="ja-JP" altLang="en-US" i="1"/>
                                  <m:t>𝑖</m:t>
                                </m:r>
                              </m:sub>
                              <m:sup>
                                <m:r>
                                  <a:rPr lang="en-US" altLang="ja-JP"/>
                                  <m:t>2</m:t>
                                </m:r>
                              </m:sup>
                            </m:sSubSup>
                            <m:r>
                              <a:rPr lang="en-US" altLang="ja-JP"/>
                              <m:t>+</m:t>
                            </m:r>
                            <m:r>
                              <a:rPr lang="ja-JP" altLang="en-US" i="1"/>
                              <m:t>𝜆</m:t>
                            </m:r>
                          </m:den>
                        </m:f>
                      </m:e>
                    </m:nary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𝑦</m:t>
                        </m:r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𝑤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𝑣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其中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sSub>
                          <m:sSubPr>
                            <m:ctrlPr>
                              <a:rPr lang="ja-JP" altLang="en-US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ja-JP" altLang="en-US" i="1"/>
                            </m:ctrlPr>
                          </m:sSubSup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bSup>
                        <m:r>
                          <a:rPr lang="en-US" altLang="ja-JP"/>
                          <m:t>+</m:t>
                        </m:r>
                        <m:r>
                          <a:rPr lang="ja-JP" altLang="en-US" i="1"/>
                          <m:t>𝜆</m:t>
                        </m:r>
                      </m:den>
                    </m:f>
                  </m:oMath>
                </a14:m>
                <a:r>
                  <a:rPr lang="ja-JP" altLang="ja-JP" dirty="0"/>
                  <a:t>叫做滤波因子。</a:t>
                </a:r>
              </a:p>
              <a:p>
                <a:r>
                  <a:rPr lang="ja-JP" altLang="ja-JP" dirty="0"/>
                  <a:t>如果没有正则化，直接逆大致对应：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很小时，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会爆炸。</a:t>
                </a:r>
              </a:p>
              <a:p>
                <a:r>
                  <a:rPr lang="ja-JP" altLang="ja-JP" dirty="0"/>
                  <a:t>但正则化后变成：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sSub>
                          <m:sSubPr>
                            <m:ctrlPr>
                              <a:rPr lang="ja-JP" altLang="en-US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ja-JP" altLang="en-US" i="1"/>
                            </m:ctrlPr>
                          </m:sSubSup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bSup>
                        <m:r>
                          <a:rPr lang="en-US" altLang="ja-JP"/>
                          <m:t>+</m:t>
                        </m:r>
                        <m:r>
                          <a:rPr lang="ja-JP" altLang="en-US" i="1"/>
                          <m:t>𝜆</m:t>
                        </m:r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很小时，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sSub>
                          <m:sSubPr>
                            <m:ctrlPr>
                              <a:rPr lang="ja-JP" altLang="en-US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ja-JP" altLang="en-US" i="1"/>
                            </m:ctrlPr>
                          </m:sSubSup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bSup>
                        <m:r>
                          <a:rPr lang="en-US" altLang="ja-JP"/>
                          <m:t>+</m:t>
                        </m:r>
                        <m:r>
                          <a:rPr lang="ja-JP" altLang="en-US" i="1"/>
                          <m:t>𝜆</m:t>
                        </m:r>
                      </m:den>
                    </m:f>
                    <m:r>
                      <a:rPr lang="ja-JP" altLang="en-US"/>
                      <m:t>≈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ja-JP" altLang="en-US" i="1"/>
                          <m:t>𝜆</m:t>
                        </m:r>
                      </m:den>
                    </m:f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不会爆炸，反而会被压制。</a:t>
                </a:r>
              </a:p>
              <a:p>
                <a:r>
                  <a:rPr lang="ja-JP" altLang="ja-JP" dirty="0"/>
                  <a:t>所以正则化的作用可以概括为：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大奇异值方向正常恢复，小奇异值方向被抑制。</m:t>
                        </m:r>
                      </m:e>
                    </m:borderBox>
                  </m:oMath>
                </a14:m>
                <a:endParaRPr lang="ja-JP" altLang="en-US" b="0" dirty="0"/>
              </a:p>
              <a:p>
                <a:r>
                  <a:rPr lang="ja-JP" altLang="ja-JP" dirty="0"/>
                  <a:t>这就是：正则化会牺牲一部分细节来换取稳定性。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A9C01DB-76A2-594B-4E27-0831F69F8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653520" cy="5440680"/>
              </a:xfrm>
              <a:blipFill>
                <a:blip r:embed="rId3"/>
                <a:stretch>
                  <a:fillRect l="-57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152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618B-1504-A473-D396-0D20F22F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4DA9EF0-154F-6D9A-0426-2B2C2E588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从投影问题到算子方程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30116F-CF4A-7315-7FCB-84EDAFB62B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更一般的问题：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H 和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是两个 Hilbert 空间。可以把它们理解为：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i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ja-JP" altLang="en-US"/>
                      <m:t>参数空间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ja-JP" altLang="en-US" i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ja-JP" altLang="en-US"/>
                      <m:t>数据空间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例如在有限维情形中，可以是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在函数空间情形中，也可以是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是我们要寻找的未知参数。在机器学习或回归问题中，可以把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理解成模型参数。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是有界线性算子，它把参数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映射成预测结果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。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ja-JP" altLang="en-US" i="1"/>
                              <m:t> 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nor/>
                              </m:rPr>
                              <a:rPr lang="ja-JP" altLang="en-US" i="1"/>
                              <m:t> </m:t>
                            </m:r>
                          </m:e>
                        </m:box>
                      </m:e>
                    </m:groupChr>
                    <m:r>
                      <a:rPr lang="ja-JP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ja-JP" dirty="0"/>
                  <a:t>有限维里，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 就是一个矩阵。例如：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 是观测数据</a:t>
                </a:r>
                <a:r>
                  <a:rPr lang="en-US" altLang="ja-JP" dirty="0"/>
                  <a:t>, </a:t>
                </a:r>
                <a:r>
                  <a:rPr lang="ja-JP" altLang="ja-JP" dirty="0"/>
                  <a:t>也就是我们希望模型预测出来的目标。如果存在某个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那就说明数据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可以被模型完全解释。但很多时候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不一定能写成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的形式，所以方程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不一定有精确解。</a:t>
                </a:r>
                <a:r>
                  <a:rPr lang="ja-JP" altLang="en-US" dirty="0"/>
                  <a:t>⇒　</a:t>
                </a: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不一定属于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，那么方程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未必有精确解。因此我们只能找一个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最接近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是预测值和真实观测值之间的误差，而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ja-JP" dirty="0"/>
                  <a:t>是在空间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中测量这个误差的大小。如果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ja-JP" altLang="ja-JP" dirty="0"/>
                  <a:t>，那么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𝐴𝑢</m:t>
                                </m:r>
                              </m:e>
                            </m:d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ja-JP" altLang="en-US" dirty="0"/>
                  <a:t>　</a:t>
                </a:r>
                <a:r>
                  <a:rPr lang="ja-JP" altLang="ja-JP" dirty="0"/>
                  <a:t>这就是普通最小二乘中的平方误差。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30116F-CF4A-7315-7FCB-84EDAFB62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  <a:blipFill>
                <a:blip r:embed="rId3"/>
                <a:stretch>
                  <a:fillRect l="-594" t="-897" r="-378" b="-17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828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B6A3-D7E1-B686-5123-BC6D285E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CDEB22C-2170-58C2-00A3-3DF4FB865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从投影问题到算子方程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E5364F7-EA76-B7EA-F573-8EC271E21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更一般的问题：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这个问题的几何解释是：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只能落在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中，所以本质上是在求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的正交投影。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𝑅𝑎𝑛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ja-JP" altLang="ja-JP" dirty="0"/>
                  <a:t>叫做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的值域，也叫像空间或 range。它表示所有可能的预测结果。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　</m:t>
                    </m:r>
                  </m:oMath>
                </a14:m>
                <a:r>
                  <a:rPr lang="ja-JP" altLang="ja-JP" dirty="0"/>
                  <a:t>如果观测数据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不属于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，那么无论怎么选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，都不可能让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因此方程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没有精确解。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既然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只能落在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中，而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可能不在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中，那么最自然的想法是：在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中找一个点，使它离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最近。要求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　</a:t>
                </a:r>
                <a:r>
                  <a:rPr lang="ja-JP" altLang="ja-JP" dirty="0"/>
                  <a:t>从几何上看，就是把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投影到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上。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有限维线性代数中，这就是把一个向量投影到矩阵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的列空间上。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最优预测值满足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Ran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acc>
                      </m:sub>
                    </m:sSub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　</a:t>
                </a:r>
                <a:r>
                  <a:rPr lang="ja-JP" altLang="ja-JP" b="1" dirty="0"/>
                  <a:t> </a:t>
                </a:r>
                <a:r>
                  <a:rPr lang="ja-JP" altLang="ja-JP" dirty="0"/>
                  <a:t>记号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Ran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acc>
                  </m:oMath>
                </a14:m>
                <a:r>
                  <a:rPr lang="ja-JP" altLang="ja-JP" dirty="0"/>
                  <a:t>表示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的闭包。</a:t>
                </a:r>
              </a:p>
              <a:p>
                <a:r>
                  <a:rPr lang="ja-JP" altLang="ja-JP" dirty="0"/>
                  <a:t>为什么要加闭包？</a:t>
                </a:r>
                <a:r>
                  <a:rPr lang="ja-JP" altLang="en-US" dirty="0"/>
                  <a:t>　</a:t>
                </a:r>
                <a:r>
                  <a:rPr lang="ja-JP" altLang="ja-JP" dirty="0"/>
                  <a:t>因为在无限维 Hilbert 空间中，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 不一定是闭子空间。</a:t>
                </a:r>
                <a:endParaRPr lang="en-US" altLang="ja-JP" dirty="0"/>
              </a:p>
              <a:p>
                <a:r>
                  <a:rPr lang="zh-CN" altLang="en-US" dirty="0"/>
                  <a:t>因此：</a:t>
                </a:r>
                <a:r>
                  <a:rPr lang="ja-JP" altLang="ja-JP" dirty="0"/>
                  <a:t>最小二乘的真正几何对象不是参数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，而是预测结果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。</a:t>
                </a:r>
                <a:endParaRPr lang="en-US" altLang="ja-JP" dirty="0"/>
              </a:p>
              <a:p>
                <a:pPr marL="400050" lvl="1" indent="0">
                  <a:buNone/>
                </a:pPr>
                <a:r>
                  <a:rPr lang="ja-JP" altLang="ja-JP" dirty="0"/>
                  <a:t>参数空间中的最优解，来自数据空间中对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的投影。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E5364F7-EA76-B7EA-F573-8EC271E21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  <a:blipFill>
                <a:blip r:embed="rId3"/>
                <a:stretch>
                  <a:fillRect l="-594" t="-673" r="-540" b="-43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D9E36F2-4C62-D847-DA52-AF98B900FAED}"/>
                  </a:ext>
                </a:extLst>
              </p:cNvPr>
              <p:cNvSpPr txBox="1"/>
              <p:nvPr/>
            </p:nvSpPr>
            <p:spPr>
              <a:xfrm>
                <a:off x="1813560" y="4828345"/>
                <a:ext cx="6106160" cy="374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ja-JP" alt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Ran</m:t>
                            </m:r>
                            <m:r>
                              <a:rPr lang="en-US" altLang="ja-JP" sz="1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ja-JP" altLang="en-US" sz="1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en-US" sz="1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acc>
                      </m:sub>
                    </m:sSub>
                    <m:r>
                      <a:rPr lang="ja-JP" altLang="en-US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sz="1600" dirty="0">
                    <a:solidFill>
                      <a:srgbClr val="C00000"/>
                    </a:solidFill>
                  </a:rPr>
                  <a:t>表示 </a:t>
                </a:r>
                <a14:m>
                  <m:oMath xmlns:m="http://schemas.openxmlformats.org/officeDocument/2006/math">
                    <m:r>
                      <a:rPr lang="ja-JP" altLang="en-US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sz="1600" dirty="0">
                    <a:solidFill>
                      <a:srgbClr val="C00000"/>
                    </a:solidFill>
                  </a:rPr>
                  <a:t>在闭子空间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ja-JP" alt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Ran</m:t>
                        </m:r>
                        <m:r>
                          <a:rPr lang="en-US" altLang="ja-JP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ja-JP" alt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acc>
                  </m:oMath>
                </a14:m>
                <a:r>
                  <a:rPr lang="ja-JP" altLang="ja-JP" sz="1600" dirty="0">
                    <a:solidFill>
                      <a:srgbClr val="C00000"/>
                    </a:solidFill>
                  </a:rPr>
                  <a:t>上的正交投影。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D9E36F2-4C62-D847-DA52-AF98B900F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560" y="4828345"/>
                <a:ext cx="6106160" cy="374013"/>
              </a:xfrm>
              <a:prstGeom prst="rect">
                <a:avLst/>
              </a:prstGeom>
              <a:blipFill>
                <a:blip r:embed="rId4"/>
                <a:stretch>
                  <a:fillRect t="-6557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608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666C-8791-5E5E-1C3E-CE459738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6C2EE0-4662-1221-87B5-D92078B11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与正规方程的关系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27ADA14-4CA6-87BF-16A4-6F0A3113B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如果最优解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存在，那么残差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应该正交于所有可能的预测方向，也就是正交于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。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⊥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Ran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　</a:t>
                </a:r>
                <a:r>
                  <a:rPr lang="ja-JP" altLang="ja-JP" dirty="0"/>
                  <a:t>等价地，对任意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𝐴𝑣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利用伴随算子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，可以写成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ja-JP" altLang="en-US" dirty="0"/>
                  <a:t>　</a:t>
                </a:r>
                <a:r>
                  <a:rPr lang="ja-JP" altLang="ja-JP" dirty="0"/>
                  <a:t>这就是 Hilbert 空间中的正规方程。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在有限维情形中，它对应熟悉的矩阵方程：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也就是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如果是复 Hilbert 空间，则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ja-JP" altLang="ja-JP" dirty="0"/>
                  <a:t>要换成共轭转置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例：</a:t>
                </a: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那么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只能落在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ja-JP" altLang="ja-JP" dirty="0"/>
                  <a:t>中由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的列向量张成的平面或直线上。如果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ja-JP" altLang="ja-JP" dirty="0"/>
                  <a:t>不在这个平面上，那么方程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无解。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但是我们可以把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垂直投影到这个平面上，得到最近点。这个最近点就是最优预测值：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Ran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sub>
                      </m:sSub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而最小误差就是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到这个平面的距离平方。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27ADA14-4CA6-87BF-16A4-6F0A3113B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  <a:blipFill>
                <a:blip r:embed="rId3"/>
                <a:stretch>
                  <a:fillRect l="-594" t="-1009" r="-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49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1071-E84E-E96A-7AEC-9FF80372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D3D8584-94DA-6B21-E363-09E473A08A2C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latin typeface="+mj-ea"/>
                  </a:rPr>
                  <a:t>正规方程：为什么会出现</a:t>
                </a:r>
                <a:r>
                  <a:rPr lang="ja-JP" altLang="ja-JP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ja-JP" altLang="en-US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D3D8584-94DA-6B21-E363-09E473A08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4CF95DC-C5CE-8EED-571C-3D223243D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是极小点，则对任意扰动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，函数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ja-JP" dirty="0"/>
                  <a:t>处取最小值。因此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𝑡𝐴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Re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𝑦𝐴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利用伴随算子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，有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𝑦𝐴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sSup>
                                    <m:sSupPr>
                                      <m:ctrlP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ja-JP" altLang="en-US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于是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是数据空间中的残差；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ja-JP" dirty="0"/>
                  <a:t>是所有可能的一阶变化方向； </a:t>
                </a:r>
              </a:p>
              <a:p>
                <a:r>
                  <a:rPr lang="ja-JP" altLang="ja-JP" dirty="0"/>
                  <a:t>最优时，残差必须和所有可达变化方向正交；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把数据空间中的误差信息拉回参数空间； </a:t>
                </a:r>
              </a:p>
              <a:p>
                <a:r>
                  <a:rPr lang="ja-JP" altLang="ja-JP" dirty="0"/>
                  <a:t>因此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ja-JP" altLang="ja-JP" dirty="0"/>
                  <a:t>可以看作 Hilbert 空间中的梯度。 </a:t>
                </a:r>
              </a:p>
              <a:p>
                <a:r>
                  <a:rPr lang="ja-JP" altLang="ja-JP" dirty="0"/>
                  <a:t>这可以自然连接到机器学习中的梯度下降：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𝜂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也就是说，最小二乘训练本质上是在 Hilbert 空间中用伴随算子把误差反传回来。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4CF95DC-C5CE-8EED-571C-3D223243D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60" y="1112520"/>
                <a:ext cx="11297920" cy="5440680"/>
              </a:xfrm>
              <a:blipFill>
                <a:blip r:embed="rId4"/>
                <a:stretch>
                  <a:fillRect l="-594" t="-897" b="-40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039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38080-4792-8E7D-F0E3-BCD16BB2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07AB3A7-6564-CD6D-E905-7417822E2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有限维例子：线性回归只是 </a:t>
            </a:r>
            <a:r>
              <a:rPr lang="en-US" altLang="zh-CN" b="1" dirty="0">
                <a:latin typeface="+mj-ea"/>
              </a:rPr>
              <a:t>Hilbert </a:t>
            </a:r>
            <a:r>
              <a:rPr lang="zh-CN" altLang="en-US" b="1" dirty="0">
                <a:latin typeface="+mj-ea"/>
              </a:rPr>
              <a:t>空间结论的特例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2EA5BDB-90AE-6C1F-AA4E-55DAAD8E3D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令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ja-JP" i="1"/>
                      <m:t>label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vector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最小二乘问题是：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ja-JP" altLang="en-US" i="1"/>
                          <m:t>𝑛</m:t>
                        </m:r>
                        <m:r>
                          <a:rPr lang="en-US" altLang="ja-JP"/>
                          <m:t>×</m:t>
                        </m:r>
                        <m:r>
                          <a:rPr lang="ja-JP" altLang="en-US" i="1"/>
                          <m:t>𝑝</m:t>
                        </m:r>
                      </m:sup>
                    </m:sSup>
                  </m:oMath>
                </a14:m>
                <a:r>
                  <a:rPr lang="ja-JP" altLang="ja-JP" dirty="0"/>
                  <a:t>是设计矩阵，</a:t>
                </a:r>
                <a14:m>
                  <m:oMath xmlns:m="http://schemas.openxmlformats.org/officeDocument/2006/math">
                    <m:r>
                      <a:rPr lang="ja-JP" altLang="en-US" i="1"/>
                      <m:t>𝑛</m:t>
                    </m:r>
                  </m:oMath>
                </a14:m>
                <a:r>
                  <a:rPr lang="ja-JP" altLang="ja-JP" dirty="0"/>
                  <a:t> 是样本数，</a:t>
                </a:r>
                <a14:m>
                  <m:oMath xmlns:m="http://schemas.openxmlformats.org/officeDocument/2006/math">
                    <m:r>
                      <a:rPr lang="ja-JP" altLang="en-US" i="1"/>
                      <m:t>𝑝</m:t>
                    </m:r>
                  </m:oMath>
                </a14:m>
                <a:r>
                  <a:rPr lang="ja-JP" altLang="ja-JP" dirty="0"/>
                  <a:t> 是特征数；</a:t>
                </a:r>
                <a14:m>
                  <m:oMath xmlns:m="http://schemas.openxmlformats.org/officeDocument/2006/math">
                    <m:r>
                      <a:rPr lang="ja-JP" altLang="en-US" i="1"/>
                      <m:t>𝛽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ja-JP" altLang="en-US" i="1"/>
                          <m:t>𝑝</m:t>
                        </m:r>
                      </m:sup>
                    </m:sSup>
                  </m:oMath>
                </a14:m>
                <a:r>
                  <a:rPr lang="ja-JP" altLang="ja-JP" dirty="0"/>
                  <a:t>是回归系数；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ja-JP" altLang="en-US" i="1"/>
                          <m:t>𝑛</m:t>
                        </m:r>
                      </m:sup>
                    </m:sSup>
                  </m:oMath>
                </a14:m>
                <a:r>
                  <a:rPr lang="ja-JP" altLang="ja-JP" dirty="0"/>
                  <a:t>是标签向量。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最小二乘的几何意义是：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的列空间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Col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</m:d>
                  </m:oMath>
                </a14:m>
                <a:r>
                  <a:rPr lang="ja-JP" altLang="ja-JP" dirty="0"/>
                  <a:t>中，找一个向量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 i="1"/>
                      <m:t>𝛽</m:t>
                    </m:r>
                  </m:oMath>
                </a14:m>
                <a:r>
                  <a:rPr lang="ja-JP" altLang="ja-JP" dirty="0"/>
                  <a:t>，使它最接近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最优时，残差必须垂直于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的列空间：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 i="1"/>
                      <m:t>𝛽</m:t>
                    </m:r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r>
                      <a:rPr lang="ja-JP" altLang="en-US"/>
                      <m:t>⊥</m:t>
                    </m:r>
                    <m:r>
                      <m:rPr>
                        <m:sty m:val="p"/>
                      </m:rPr>
                      <a:rPr lang="en-US" altLang="ja-JP"/>
                      <m:t>Col</m:t>
                    </m:r>
                    <m:r>
                      <a:rPr lang="en-US" altLang="ja-JP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正规方程变成：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可逆，则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这个公式成立的关键条件是：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rank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𝑝</m:t>
                    </m:r>
                    <m:r>
                      <a:rPr lang="en-US" altLang="ja-JP"/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也就是说，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 的所有特征列必须线性无关。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  <m:r>
                      <m:rPr>
                        <m:nor/>
                      </m:rPr>
                      <a:rPr lang="ja-JP" altLang="en-US" i="1"/>
                      <m:t> 可逆</m:t>
                    </m:r>
                    <m:r>
                      <a:rPr lang="ja-JP" altLang="en-US" i="1"/>
                      <m:t> ⟺ </m:t>
                    </m:r>
                    <m:r>
                      <a:rPr lang="ja-JP" altLang="en-US" i="1"/>
                      <m:t>𝑋</m:t>
                    </m:r>
                    <m:r>
                      <m:rPr>
                        <m:nor/>
                      </m:rPr>
                      <a:rPr lang="ja-JP" altLang="en-US" i="1"/>
                      <m:t> 的列满秩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例如，如果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有两列完全一样，或者一列是另一列的倍数，那么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就不可逆。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这只是最简单情况。真正的问题在于：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可能不可逆； </a:t>
                </a:r>
              </a:p>
              <a:p>
                <a:r>
                  <a:rPr lang="ja-JP" altLang="ja-JP" dirty="0"/>
                  <a:t>特征可能冗余； </a:t>
                </a:r>
              </a:p>
              <a:p>
                <a:r>
                  <a:rPr lang="ja-JP" altLang="ja-JP" dirty="0"/>
                  <a:t>数据有噪声； </a:t>
                </a:r>
              </a:p>
              <a:p>
                <a:r>
                  <a:rPr lang="ja-JP" altLang="ja-JP" dirty="0"/>
                  <a:t>无限维函数空间中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可能没有稳定逆； </a:t>
                </a:r>
              </a:p>
              <a:p>
                <a:r>
                  <a:rPr lang="ja-JP" altLang="ja-JP" dirty="0"/>
                  <a:t>小奇异值会放大误差。 </a:t>
                </a:r>
                <a:r>
                  <a:rPr lang="en-US" altLang="ja-JP" dirty="0"/>
                  <a:t> </a:t>
                </a:r>
                <a:r>
                  <a:rPr lang="ja-JP" altLang="ja-JP" dirty="0"/>
                  <a:t>由此自然</a:t>
                </a:r>
                <a:r>
                  <a:rPr lang="zh-CN" altLang="en-US" dirty="0"/>
                  <a:t>涉及到</a:t>
                </a:r>
                <a:r>
                  <a:rPr lang="ja-JP" altLang="ja-JP" dirty="0"/>
                  <a:t>广义逆和正则化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2EA5BDB-90AE-6C1F-AA4E-55DAAD8E3D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11297920" cy="5440680"/>
              </a:xfrm>
              <a:blipFill>
                <a:blip r:embed="rId3"/>
                <a:stretch>
                  <a:fillRect l="-540" t="-897" b="-96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067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6ED6-7A82-C192-EA9F-955B7F28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AA2720-2222-718F-B270-B2FED2C1F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有限维例子：线性回归只是 </a:t>
            </a:r>
            <a:r>
              <a:rPr lang="en-US" altLang="zh-CN" b="1" dirty="0">
                <a:latin typeface="+mj-ea"/>
              </a:rPr>
              <a:t>Hilbert </a:t>
            </a:r>
            <a:r>
              <a:rPr lang="zh-CN" altLang="en-US" b="1" dirty="0">
                <a:latin typeface="+mj-ea"/>
              </a:rPr>
              <a:t>空间结论的特例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6EE8F6-F042-25B7-26AF-627056DFFB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令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ja-JP" i="1"/>
                      <m:t>label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vector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最小二乘问题是：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特征可能冗余</a:t>
                </a:r>
                <a:r>
                  <a:rPr lang="zh-CN" altLang="en-US" dirty="0"/>
                  <a:t>：</a:t>
                </a: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𝑝</m:t>
                    </m:r>
                    <m:r>
                      <a:rPr lang="en-US" altLang="ja-JP"/>
                      <m:t>&gt;</m:t>
                    </m:r>
                    <m:r>
                      <a:rPr lang="ja-JP" altLang="en-US" i="1"/>
                      <m:t>𝑛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也就是特征数比样本数还多，那么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ja-JP" altLang="en-US" i="1"/>
                          <m:t>𝑛</m:t>
                        </m:r>
                        <m:r>
                          <a:rPr lang="en-US" altLang="ja-JP"/>
                          <m:t>×</m:t>
                        </m:r>
                        <m:r>
                          <a:rPr lang="ja-JP" altLang="en-US" i="1"/>
                          <m:t>𝑝</m:t>
                        </m:r>
                      </m:sup>
                    </m:sSup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最多只有秩 </a:t>
                </a:r>
                <a14:m>
                  <m:oMath xmlns:m="http://schemas.openxmlformats.org/officeDocument/2006/math">
                    <m:r>
                      <a:rPr lang="ja-JP" altLang="en-US" i="1"/>
                      <m:t>𝑛</m:t>
                    </m:r>
                  </m:oMath>
                </a14:m>
                <a:r>
                  <a:rPr lang="ja-JP" altLang="ja-JP" dirty="0"/>
                  <a:t>，不可能列满秩 </a:t>
                </a:r>
                <a14:m>
                  <m:oMath xmlns:m="http://schemas.openxmlformats.org/officeDocument/2006/math">
                    <m:r>
                      <a:rPr lang="ja-JP" altLang="en-US" i="1"/>
                      <m:t>𝑝</m:t>
                    </m:r>
                  </m:oMath>
                </a14:m>
                <a:r>
                  <a:rPr lang="ja-JP" altLang="ja-JP" dirty="0"/>
                  <a:t>。这在现代机器学习中很常见，尤其是高维数据、神经网络、kernel 方法中。</a:t>
                </a:r>
              </a:p>
              <a:p>
                <a:r>
                  <a:rPr lang="ja-JP" altLang="ja-JP" dirty="0"/>
                  <a:t>数据有噪声； </a:t>
                </a:r>
              </a:p>
              <a:p>
                <a:r>
                  <a:rPr lang="ja-JP" altLang="ja-JP" dirty="0"/>
                  <a:t>无限维函数空间中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可能没有稳定逆</a:t>
                </a:r>
                <a:r>
                  <a:rPr lang="zh-CN" altLang="en-US" dirty="0"/>
                  <a:t>：</a:t>
                </a:r>
                <a:r>
                  <a:rPr lang="ja-JP" altLang="ja-JP" dirty="0"/>
                  <a:t>即使没有完全线性相关，如果某些特征非常接近线性相关，那么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虽然理论上可逆，但数值上会非常不稳定。这时会出现小特征值或小奇异值。小奇异值会放大误差。 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lang="zh-CN" altLang="en-US" dirty="0"/>
                  <a:t>广义逆：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ja-JP" b="1" dirty="0"/>
                  <a:t>广义逆</a:t>
                </a:r>
                <a:r>
                  <a:rPr lang="ja-JP" altLang="ja-JP" dirty="0"/>
                  <a:t>，特别是 </a:t>
                </a:r>
                <a:r>
                  <a:rPr lang="ja-JP" altLang="ja-JP" b="1" dirty="0"/>
                  <a:t>Moore–Penrose 伪逆</a:t>
                </a:r>
                <a:r>
                  <a:rPr lang="ja-JP" altLang="ja-JP" dirty="0"/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en-US" altLang="ja-JP"/>
                          <m:t>+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它给出的最小二乘解是：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sSup>
                          <m:sSupPr>
                            <m:ctrlPr>
                              <a:rPr lang="ja-JP" altLang="en-US"/>
                            </m:ctrlPr>
                          </m:sSupPr>
                          <m:e>
                            <m:r>
                              <a:rPr lang="ja-JP" altLang="en-US" i="1"/>
                              <m:t>𝛽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  <m:r>
                          <a:rPr lang="en-US" altLang="ja-JP"/>
                          <m:t>=</m:t>
                        </m:r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𝑋</m:t>
                            </m:r>
                          </m:e>
                          <m:sup>
                            <m:r>
                              <a:rPr lang="en-US" altLang="ja-JP"/>
                              <m:t>+</m:t>
                            </m:r>
                          </m:sup>
                        </m:sSup>
                        <m:r>
                          <a:rPr lang="ja-JP" altLang="en-US" i="1"/>
                          <m:t>𝑦</m:t>
                        </m:r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这个解有两个重要性质：</a:t>
                </a:r>
              </a:p>
              <a:p>
                <a:r>
                  <a:rPr lang="ja-JP" altLang="ja-JP" dirty="0"/>
                  <a:t>第一，它是最小二乘解：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𝑋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𝛽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r>
                      <a:rPr lang="ja-JP" altLang="en-US"/>
                      <m:t>∥</m:t>
                    </m:r>
                  </m:oMath>
                </a14:m>
                <a:r>
                  <a:rPr lang="ja-JP" altLang="ja-JP" dirty="0"/>
                  <a:t>达到最小；</a:t>
                </a:r>
              </a:p>
              <a:p>
                <a:r>
                  <a:rPr lang="ja-JP" altLang="ja-JP" dirty="0"/>
                  <a:t>第二，在所有最小二乘解中，它的范数最小：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𝛽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/>
                      <m:t>∥</m:t>
                    </m:r>
                  </m:oMath>
                </a14:m>
                <a:r>
                  <a:rPr lang="ja-JP" altLang="ja-JP" dirty="0"/>
                  <a:t>最小。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en-US" altLang="ja-JP"/>
                          <m:t>+</m:t>
                        </m:r>
                      </m:sup>
                    </m:sSup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不是随便选的解，而是：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最小残差 </m:t>
                        </m:r>
                        <m:r>
                          <m:rPr>
                            <m:nor/>
                          </m:rPr>
                          <a:rPr lang="en-US" altLang="ja-JP" b="0"/>
                          <m:t>+ </m:t>
                        </m:r>
                        <m:r>
                          <m:rPr>
                            <m:nor/>
                          </m:rPr>
                          <a:rPr lang="ja-JP" altLang="en-US" b="0"/>
                          <m:t>最小参数范数</m:t>
                        </m:r>
                      </m:e>
                    </m:borderBox>
                  </m:oMath>
                </a14:m>
                <a:r>
                  <a:rPr lang="ja-JP" altLang="ja-JP" dirty="0"/>
                  <a:t>的解。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6EE8F6-F042-25B7-26AF-627056DFFB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11297920" cy="5440680"/>
              </a:xfrm>
              <a:blipFill>
                <a:blip r:embed="rId3"/>
                <a:stretch>
                  <a:fillRect l="-540" t="-897" r="-1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18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F324-B562-AF55-1D24-87B34D1E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462BFA-9CCC-D163-EB29-DA5DAB383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有限维例子：线性回归只是 </a:t>
            </a:r>
            <a:r>
              <a:rPr lang="en-US" altLang="zh-CN" b="1" dirty="0">
                <a:latin typeface="+mj-ea"/>
              </a:rPr>
              <a:t>Hilbert </a:t>
            </a:r>
            <a:r>
              <a:rPr lang="zh-CN" altLang="en-US" b="1" dirty="0">
                <a:latin typeface="+mj-ea"/>
              </a:rPr>
              <a:t>空间结论的特例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165C825-514D-F241-4D3B-4DA395F414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49960"/>
                <a:ext cx="1129792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b="1" dirty="0"/>
                  <a:t>广义逆</a:t>
                </a:r>
                <a:r>
                  <a:rPr lang="ja-JP" altLang="ja-JP" dirty="0"/>
                  <a:t>，特别是 </a:t>
                </a:r>
                <a:r>
                  <a:rPr lang="ja-JP" altLang="ja-JP" b="1" dirty="0"/>
                  <a:t>Moore–Penrose 伪逆</a:t>
                </a:r>
                <a:r>
                  <a:rPr lang="ja-JP" altLang="ja-JP" dirty="0"/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en-US" altLang="ja-JP"/>
                          <m:t>+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它给出的最小二乘解是：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sSup>
                          <m:sSupPr>
                            <m:ctrlPr>
                              <a:rPr lang="ja-JP" altLang="en-US"/>
                            </m:ctrlPr>
                          </m:sSupPr>
                          <m:e>
                            <m:r>
                              <a:rPr lang="ja-JP" altLang="en-US" i="1"/>
                              <m:t>𝛽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  <m:r>
                          <a:rPr lang="en-US" altLang="ja-JP"/>
                          <m:t>=</m:t>
                        </m:r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𝑋</m:t>
                            </m:r>
                          </m:e>
                          <m:sup>
                            <m:r>
                              <a:rPr lang="en-US" altLang="ja-JP"/>
                              <m:t>+</m:t>
                            </m:r>
                          </m:sup>
                        </m:sSup>
                        <m:r>
                          <a:rPr lang="ja-JP" altLang="en-US" i="1"/>
                          <m:t>𝑦</m:t>
                        </m:r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这个解有两个重要性质：</a:t>
                </a:r>
              </a:p>
              <a:p>
                <a:r>
                  <a:rPr lang="ja-JP" altLang="ja-JP" dirty="0"/>
                  <a:t>第一，它是最小二乘解：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𝑋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𝛽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/>
                      <m:t>−</m:t>
                    </m:r>
                    <m:r>
                      <a:rPr lang="ja-JP" altLang="en-US" i="1"/>
                      <m:t>𝑦</m:t>
                    </m:r>
                    <m:r>
                      <a:rPr lang="ja-JP" altLang="en-US"/>
                      <m:t>∥</m:t>
                    </m:r>
                  </m:oMath>
                </a14:m>
                <a:r>
                  <a:rPr lang="ja-JP" altLang="ja-JP" dirty="0"/>
                  <a:t>达到最小；</a:t>
                </a:r>
              </a:p>
              <a:p>
                <a:r>
                  <a:rPr lang="ja-JP" altLang="ja-JP" dirty="0"/>
                  <a:t>第二，在所有最小二乘解中，它的范数最小：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𝛽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/>
                      <m:t>∥</m:t>
                    </m:r>
                  </m:oMath>
                </a14:m>
                <a:r>
                  <a:rPr lang="ja-JP" altLang="ja-JP" dirty="0"/>
                  <a:t>最小。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en-US" altLang="ja-JP"/>
                          <m:t>+</m:t>
                        </m:r>
                      </m:sup>
                    </m:sSup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不是随便选的解，而是：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ja-JP" altLang="en-US" b="0"/>
                          <m:t>最小残差 </m:t>
                        </m:r>
                        <m:r>
                          <m:rPr>
                            <m:nor/>
                          </m:rPr>
                          <a:rPr lang="en-US" altLang="ja-JP" b="0"/>
                          <m:t>+ </m:t>
                        </m:r>
                        <m:r>
                          <m:rPr>
                            <m:nor/>
                          </m:rPr>
                          <a:rPr lang="ja-JP" altLang="en-US" b="0"/>
                          <m:t>最小参数范数</m:t>
                        </m:r>
                      </m:e>
                    </m:borderBox>
                  </m:oMath>
                </a14:m>
                <a:r>
                  <a:rPr lang="ja-JP" altLang="ja-JP" dirty="0"/>
                  <a:t>的解。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b="1" dirty="0"/>
                  <a:t> 用 SVD 理解广义逆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的奇异值分解为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en-US" altLang="ja-JP"/>
                      <m:t>=</m:t>
                    </m:r>
                    <m:r>
                      <a:rPr lang="ja-JP" altLang="en-US" i="1"/>
                      <m:t>𝑈</m:t>
                    </m:r>
                    <m:r>
                      <m:rPr>
                        <m:sty m:val="p"/>
                      </m:rPr>
                      <a:rPr lang="en-US" altLang="ja-JP"/>
                      <m:t>Σ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𝑉</m:t>
                        </m:r>
                      </m:e>
                      <m:sup>
                        <m:r>
                          <a:rPr lang="ja-JP" altLang="en-US" i="1"/>
                          <m:t>𝑇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Σ</m:t>
                    </m:r>
                    <m:r>
                      <a:rPr lang="en-US" altLang="ja-JP"/>
                      <m:t>=</m:t>
                    </m:r>
                    <m:r>
                      <m:rPr>
                        <m:sty m:val="p"/>
                      </m:rPr>
                      <a:rPr lang="en-US" altLang="ja-JP"/>
                      <m:t>diag</m:t>
                    </m:r>
                    <m:r>
                      <a:rPr lang="en-US" altLang="ja-JP"/>
                      <m:t>⁡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en-US" altLang="ja-JP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en-US" altLang="ja-JP"/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ja-JP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𝑟</m:t>
                            </m:r>
                          </m:sub>
                        </m:sSub>
                      </m:e>
                      <m:e>
                        <m:r>
                          <a:rPr lang="en-US" altLang="ja-JP"/>
                          <m:t>0</m:t>
                        </m:r>
                      </m:e>
                      <m:e>
                        <m:r>
                          <a:rPr lang="en-US" altLang="ja-JP"/>
                          <m:t>…</m:t>
                        </m:r>
                      </m:e>
                      <m:e>
                        <m:r>
                          <a:rPr lang="en-US" altLang="ja-JP"/>
                          <m:t>0</m:t>
                        </m:r>
                      </m:e>
                    </m:d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&gt;0</m:t>
                    </m:r>
                  </m:oMath>
                </a14:m>
                <a:r>
                  <a:rPr lang="ja-JP" altLang="ja-JP" dirty="0"/>
                  <a:t>是非零奇异值。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普通逆的想法是：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ja-JP" altLang="en-US"/>
                      <m:t>↦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广义逆就是只对非零奇异值取倒数，对零奇异值不取倒数：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/>
                            <m:t>Σ</m:t>
                          </m:r>
                        </m:e>
                        <m:sup>
                          <m:r>
                            <a:rPr lang="en-US" altLang="ja-JP"/>
                            <m:t>+</m:t>
                          </m:r>
                        </m:sup>
                      </m:sSup>
                      <m:r>
                        <a:rPr lang="en-US" altLang="ja-JP"/>
                        <m:t>=</m:t>
                      </m:r>
                      <m:func>
                        <m:funcPr>
                          <m:ctrlPr>
                            <a:rPr lang="ja-JP" altLang="en-US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/>
                            <m:t>diag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ja-JP" altLang="en-US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ja-JP" altLang="en-US" i="1"/>
                                  </m:ctrlPr>
                                </m:fPr>
                                <m:num>
                                  <m:r>
                                    <a:rPr lang="en-US" altLang="ja-JP"/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i="1"/>
                                      </m:ctrlPr>
                                    </m:sSubPr>
                                    <m:e>
                                      <m:r>
                                        <a:rPr lang="ja-JP" altLang="en-US" i="1"/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ja-JP"/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ja-JP" altLang="en-US" i="1"/>
                                  </m:ctrlPr>
                                </m:fPr>
                                <m:num>
                                  <m:r>
                                    <a:rPr lang="en-US" altLang="ja-JP"/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i="1"/>
                                      </m:ctrlPr>
                                    </m:sSubPr>
                                    <m:e>
                                      <m:r>
                                        <a:rPr lang="ja-JP" altLang="en-US" i="1"/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ja-JP"/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ja-JP"/>
                                <m:t>…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ja-JP" altLang="en-US" i="1"/>
                                  </m:ctrlPr>
                                </m:fPr>
                                <m:num>
                                  <m:r>
                                    <a:rPr lang="en-US" altLang="ja-JP"/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i="1"/>
                                      </m:ctrlPr>
                                    </m:sSubPr>
                                    <m:e>
                                      <m:r>
                                        <a:rPr lang="ja-JP" altLang="en-US" i="1"/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ja-JP" altLang="en-US" i="1"/>
                                        <m:t>𝑟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  <m:e>
                              <m:r>
                                <a:rPr lang="en-US" altLang="ja-JP"/>
                                <m:t>…</m:t>
                              </m:r>
                            </m:e>
                            <m:e>
                              <m:r>
                                <a:rPr lang="en-US" altLang="ja-JP"/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ja-JP" dirty="0"/>
                  <a:t>于是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ja-JP" altLang="en-US"/>
                        </m:ctrlPr>
                      </m:borderBoxPr>
                      <m:e>
                        <m:sSup>
                          <m:sSupPr>
                            <m:ctrlPr>
                              <a:rPr lang="ja-JP" altLang="en-US"/>
                            </m:ctrlPr>
                          </m:sSupPr>
                          <m:e>
                            <m:r>
                              <a:rPr lang="ja-JP" altLang="en-US" i="1"/>
                              <m:t>𝑋</m:t>
                            </m:r>
                          </m:e>
                          <m:sup>
                            <m:r>
                              <a:rPr lang="en-US" altLang="ja-JP"/>
                              <m:t>+</m:t>
                            </m:r>
                          </m:sup>
                        </m:sSup>
                        <m:r>
                          <a:rPr lang="en-US" altLang="ja-JP"/>
                          <m:t>=</m:t>
                        </m:r>
                        <m:r>
                          <a:rPr lang="ja-JP" altLang="en-US" i="1"/>
                          <m:t>𝑉</m:t>
                        </m:r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/>
                              <m:t>Σ</m:t>
                            </m:r>
                          </m:e>
                          <m:sup>
                            <m:r>
                              <a:rPr lang="en-US" altLang="ja-JP"/>
                              <m:t>+</m:t>
                            </m:r>
                          </m:sup>
                        </m:sSup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𝑈</m:t>
                            </m:r>
                          </m:e>
                          <m:sup>
                            <m:r>
                              <a:rPr lang="ja-JP" altLang="en-US" i="1"/>
                              <m:t>𝑇</m:t>
                            </m:r>
                          </m:sup>
                        </m:sSup>
                        <m:r>
                          <a:rPr lang="en-US" altLang="ja-JP"/>
                          <m:t>.</m:t>
                        </m:r>
                      </m:e>
                    </m:borderBox>
                  </m:oMath>
                </a14:m>
                <a:r>
                  <a:rPr lang="ja-JP" altLang="en-US" dirty="0"/>
                  <a:t>   </a:t>
                </a:r>
                <a:r>
                  <a:rPr lang="ja-JP" altLang="ja-JP" dirty="0"/>
                  <a:t>这就是 Moore–Penrose 伪逆的核心公式。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如果某个奇异值很小，比如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𝜎</m:t>
                        </m:r>
                      </m:e>
                      <m:sub>
                        <m:r>
                          <a:rPr lang="ja-JP" altLang="en-US" i="1"/>
                          <m:t>𝑖</m:t>
                        </m:r>
                      </m:sub>
                    </m:sSub>
                    <m:r>
                      <a:rPr lang="en-US" altLang="ja-JP"/>
                      <m:t>=0.001,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/>
                        </m:ctrlPr>
                      </m:fPr>
                      <m:num>
                        <m:r>
                          <a:rPr lang="en-US" altLang="ja-JP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𝜎</m:t>
                            </m:r>
                          </m:e>
                          <m:sub>
                            <m:r>
                              <a:rPr lang="ja-JP" alt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=1000.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这意味着：数据中一个很小的噪声分量，会在参数解中被放大 1000 倍</a:t>
                </a:r>
                <a:r>
                  <a:rPr lang="zh-CN" altLang="en-US" dirty="0"/>
                  <a:t>（使用广义逆或正则化避免）</a:t>
                </a:r>
                <a:endParaRPr lang="ja-JP" altLang="ja-JP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165C825-514D-F241-4D3B-4DA395F414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49960"/>
                <a:ext cx="11297920" cy="5440680"/>
              </a:xfrm>
              <a:blipFill>
                <a:blip r:embed="rId3"/>
                <a:stretch>
                  <a:fillRect l="-540" r="-540" b="-119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255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220C-262C-878C-562E-D77438ED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D652798-51F2-D49F-000E-AF383B687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Moore–Penrose </a:t>
            </a:r>
            <a:r>
              <a:rPr lang="zh-CN" altLang="en-US" b="1" dirty="0">
                <a:latin typeface="+mj-ea"/>
              </a:rPr>
              <a:t>广义逆：最小范数解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9F03F61-6D17-E472-587B-357CF688EC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r>
                  <a:rPr lang="ja-JP" altLang="ja-JP" dirty="0"/>
                  <a:t>如果正规方程有多个解，应该选哪一个？</a:t>
                </a:r>
              </a:p>
              <a:p>
                <a:r>
                  <a:rPr lang="ja-JP" altLang="ja-JP" dirty="0"/>
                  <a:t>在 Hilbert 空间中，一个自然原则是：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func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 </m:t>
                    </m:r>
                    <m:r>
                      <m:rPr>
                        <m:nor/>
                      </m:rPr>
                      <a:rPr lang="en-US" altLang="ja-JP" i="1"/>
                      <m:t>subject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to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solves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the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least</m:t>
                    </m:r>
                    <m:r>
                      <m:rPr>
                        <m:nor/>
                      </m:rPr>
                      <a:rPr lang="en-US" altLang="ja-JP" i="1"/>
                      <m:t>−</m:t>
                    </m:r>
                    <m:r>
                      <m:rPr>
                        <m:nor/>
                      </m:rPr>
                      <a:rPr lang="en-US" altLang="ja-JP" i="1"/>
                      <m:t>squares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problem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这给出最小范数最小二乘解。</a:t>
                </a:r>
              </a:p>
              <a:p>
                <a:pPr marL="400050" lvl="1" indent="0">
                  <a:buNone/>
                </a:pPr>
                <a:r>
                  <a:rPr lang="ja-JP" altLang="ja-JP" dirty="0"/>
                  <a:t>有限维中，它由 Moore–Penrose 伪逆给出：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400050" lvl="1" indent="0">
                  <a:buNone/>
                </a:pPr>
                <a:r>
                  <a:rPr lang="ja-JP" altLang="ja-JP" dirty="0"/>
                  <a:t>可以解释为：如果方程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有很多解，选范数最小的那个； </a:t>
                </a:r>
              </a:p>
              <a:p>
                <a:pPr marL="400050" lvl="1" indent="0">
                  <a:buNone/>
                </a:pPr>
                <a:r>
                  <a:rPr lang="ja-JP" altLang="ja-JP" dirty="0"/>
                  <a:t>如果方程无解，先找最接近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ja-JP" altLang="ja-JP" dirty="0"/>
                  <a:t>，再在所有对应参数中选范数最小的那个。 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参数空间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中有一族解，它们相差一个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ker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中的元素。最小范数解是这族解中与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ker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ja-JP" altLang="ja-JP" dirty="0"/>
                  <a:t>正交的那个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ker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⁡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⊥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ja-JP" dirty="0"/>
                  <a:t>这个观点对机器学习很重要，因为在过参数化模型中，很多参数给出同样的训练误差。梯度下降在某些线性情形下会偏向最小范数解，这就是 implicit bias 的一个简单数学原型。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9F03F61-6D17-E472-587B-357CF688E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194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E3D7-B53C-F2F7-DD54-B22A62C9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74337F-1FAA-53E1-6A57-8F561D94E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为什么需要正则化：投影解可能不稳定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326449C-42D6-8D37-66E8-338543CA8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即使最小二乘问题有解，解也可能对噪声非常敏感。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例如观测数据不是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，而是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如果直接求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当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有很小的奇异值时，噪声会被放大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这时可以用奇异值分解解释。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有限维中，设</a:t>
                </a:r>
                <a:endParaRPr lang="en-US" altLang="ja-JP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形式上有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⟨"/>
                                  <m:endChr m:val="⟩"/>
                                  <m:sepChr m:val=","/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如果某些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 dirty="0"/>
                  <a:t>很小，则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会非常大。即使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ja-JP" dirty="0"/>
                  <a:t>中有很小的噪声，也会被放大。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这就是逆问题和机器学习中过拟合的共同数学机制：</a:t>
                </a:r>
              </a:p>
              <a:p>
                <a:r>
                  <a:rPr lang="ja-JP" altLang="ja-JP" dirty="0"/>
                  <a:t>模型为了拟合数据中的高频噪声，会在小奇异值方向上产生巨大参数。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326449C-42D6-8D37-66E8-338543CA8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778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BEB0D-335E-EFCD-1B0A-B0E02879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AC372E2-A2D5-6A48-8CB8-A45294426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Tikhonov </a:t>
            </a:r>
            <a:r>
              <a:rPr lang="zh-CN" altLang="en-US" b="1" dirty="0">
                <a:latin typeface="+mj-ea"/>
              </a:rPr>
              <a:t>正则化：稳定化的最小化问题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1B16A1-3277-A861-A8C8-4D734CED2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引入正则化：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这里正则化参数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正规方程是：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ja-JP" dirty="0"/>
                  <a:t> 的意义：</a:t>
                </a:r>
              </a:p>
              <a:p>
                <a:r>
                  <a:rPr lang="ja-JP" altLang="ja-JP" dirty="0"/>
                  <a:t>第一项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：要求拟合数据； </a:t>
                </a:r>
              </a:p>
              <a:p>
                <a:r>
                  <a:rPr lang="ja-JP" altLang="ja-JP" dirty="0"/>
                  <a:t>第二项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：要求解不要太复杂； 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ja-JP" dirty="0"/>
                  <a:t>大：更平滑、更稳定，但偏差更大； 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ja-JP" dirty="0"/>
                  <a:t>小：更接近最小二乘，但更容易放大噪声。 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可以把它连接到机器学习中的岭回归：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正规方程为：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正则化不是“额外技巧”，而是在 Hilbert 空间中把不稳定的投影问题改造成稳定的强凸最优化问题</a:t>
                </a:r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A1B16A1-3277-A861-A8C8-4D734CED2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 b="-19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636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9477-7567-9119-FB7C-D6DB5B4F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CD04802-FB7B-ABA6-7D73-276F04E97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频域解释：正则化就是谱滤波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9E348F8-437C-5041-87E5-8E5948D3CC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有特征分解：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那么 Tikhonov 解可以写成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nary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滤波因子是：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与伪逆中的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ja-JP" altLang="ja-JP" dirty="0"/>
                  <a:t>相比，Tikhonov 正则化避免了小奇异值方向上的爆炸。</a:t>
                </a:r>
              </a:p>
              <a:p>
                <a:r>
                  <a:rPr lang="ja-JP" altLang="ja-JP" dirty="0"/>
                  <a:t>正则化本质上是在谱空间中压制不稳定方向。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这可以自然连接到：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图像去噪；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傅里叶低通滤波；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kernel ridge regression；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neural operator 中对高频误差的控制；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深度学习中的 weight decay。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9E348F8-437C-5041-87E5-8E5948D3C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460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06FE-8FB4-7059-E008-295DEA61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8A13595-1D33-BE94-BCC1-2C0B2377E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从谱滤波到 </a:t>
            </a:r>
            <a:r>
              <a:rPr lang="en-US" altLang="zh-CN" b="1" dirty="0">
                <a:latin typeface="+mj-ea"/>
              </a:rPr>
              <a:t>Fourier </a:t>
            </a:r>
            <a:r>
              <a:rPr lang="zh-CN" altLang="en-US" b="1" dirty="0">
                <a:latin typeface="+mj-ea"/>
              </a:rPr>
              <a:t>滤波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90FF443-F252-A627-002C-E991F7A95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空间中，函数可以展开为 Fourier 模式：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许多算子在 Fourier 基下变成“乘法”：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𝐴𝑓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如果某些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ja-JP" altLang="ja-JP" dirty="0"/>
                  <a:t>很小，反演时会出现：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导致高频噪声放大。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正则化则相当于对频率成分加权：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  <m: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这与前面的谱滤波完全一致。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90FF443-F252-A627-002C-E991F7A95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7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756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39A9-AC8B-DF1B-9CE4-97D00C49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DA04FE1-7B59-66E0-70E3-90FCF236C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040" y="1200247"/>
            <a:ext cx="9712960" cy="5352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E5F624A5-D2E0-ECD8-8F1C-DDA9021999A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拓展：</a:t>
                </a:r>
                <a:r>
                  <a:rPr lang="ja-JP" altLang="ja-JP" b="1" dirty="0"/>
                  <a:t>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ja-JP" alt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ja-JP" b="1" dirty="0"/>
                  <a:t>到量子力学中的算子分解</a:t>
                </a:r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E5F624A5-D2E0-ECD8-8F1C-DDA902199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B804AC-3978-9DA1-694C-A849DCD1EF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040" y="1183640"/>
                <a:ext cx="2286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在量子谐振子中Hamilton 算子可以用升降算子表示：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这和我们这里的结构很相似：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二者共同说明：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是非负自伴算子； </a:t>
                </a:r>
              </a:p>
              <a:p>
                <a:r>
                  <a:rPr lang="ja-JP" altLang="ja-JP" dirty="0"/>
                  <a:t>它的谱决定系统的重要性质</a:t>
                </a:r>
              </a:p>
              <a:p>
                <a:r>
                  <a:rPr lang="ja-JP" altLang="ja-JP" dirty="0"/>
                  <a:t>通过算子分解可以把复杂问题转化为更清晰的谱结构。 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B804AC-3978-9DA1-694C-A849DCD1E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" y="1183640"/>
                <a:ext cx="2286000" cy="5440680"/>
              </a:xfrm>
              <a:blipFill>
                <a:blip r:embed="rId5"/>
                <a:stretch>
                  <a:fillRect l="-2933" t="-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97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BF315-28E7-37FD-5E59-C4AFDE23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DC0C9BD-E9D1-35A5-73CD-B141479E6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RKHS </a:t>
            </a:r>
            <a:r>
              <a:rPr lang="zh-CN" altLang="en-US" b="1" dirty="0">
                <a:latin typeface="+mj-ea"/>
              </a:rPr>
              <a:t>中的提升：核岭回归是无限维正则化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6C505CC-3B0A-49DF-CCB3-1CF389832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线性回归中最小化：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RKHS 中最小化：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sSub>
                              <m:sSub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ℋ</m:t>
                                </m:r>
                              </m:e>
                              <m:sub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ja-JP" dirty="0"/>
                  <a:t>是核函数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对应的再生核 Hilbert 空间。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表示定理</a:t>
                </a:r>
                <a:r>
                  <a:rPr lang="zh-CN" altLang="en-US" dirty="0"/>
                  <a:t>说明</a:t>
                </a:r>
                <a:r>
                  <a:rPr lang="ja-JP" altLang="ja-JP" dirty="0"/>
                  <a:t>，虽然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ja-JP" dirty="0"/>
                  <a:t>可能是无限维的，但最优解一定可以写成：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无限维函数空间中的最优化问题，最后可以降到由训练样本张成的有限维子空间中。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得到核岭回归的矩阵形式：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和前面投影统一：</a:t>
                </a:r>
              </a:p>
              <a:p>
                <a:r>
                  <a:rPr lang="ja-JP" altLang="ja-JP" dirty="0"/>
                  <a:t>线性回归是在有限维特征空间中投影； </a:t>
                </a:r>
              </a:p>
              <a:p>
                <a:r>
                  <a:rPr lang="ja-JP" altLang="ja-JP" dirty="0"/>
                  <a:t>岭回归是在参数空间中加范数惩罚； </a:t>
                </a:r>
              </a:p>
              <a:p>
                <a:r>
                  <a:rPr lang="ja-JP" altLang="ja-JP" dirty="0"/>
                  <a:t>核岭回归是在 RKHS 中进行正则化投影； </a:t>
                </a:r>
              </a:p>
              <a:p>
                <a:r>
                  <a:rPr lang="ja-JP" altLang="ja-JP" dirty="0"/>
                  <a:t>正则化控制的是函数复杂度，而不仅是参数大小。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6C505CC-3B0A-49DF-CCB3-1CF389832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11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23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7514-2C93-F01F-0A84-7D3BB3EC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7647A18-DCDE-EFF2-3225-2CBB1A306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RKHS </a:t>
            </a:r>
            <a:r>
              <a:rPr lang="zh-CN" altLang="en-US" b="1" dirty="0">
                <a:latin typeface="+mj-ea"/>
              </a:rPr>
              <a:t>中的提升：核岭回归是无限维正则化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D3AA5FC-F233-C727-3A4B-55FD519AB6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线性回归中最小化：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RKHS 中最小化：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sSub>
                              <m:sSub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ℋ</m:t>
                                </m:r>
                              </m:e>
                              <m:sub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ja-JP" dirty="0"/>
                  <a:t>是核函数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ja-JP" dirty="0"/>
                  <a:t>对应的再生核 Hilbert 空间。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表示定理</a:t>
                </a:r>
                <a:r>
                  <a:rPr lang="zh-CN" altLang="en-US" dirty="0"/>
                  <a:t>说明</a:t>
                </a:r>
                <a:r>
                  <a:rPr lang="ja-JP" altLang="ja-JP" dirty="0"/>
                  <a:t>，虽然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ja-JP" dirty="0"/>
                  <a:t>可能是无限维的，但最优解一定可以写成：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无限维函数空间中的最优化问题，最后可以降到由训练样本张成的有限维子空间中。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得到核岭回归的矩阵形式：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和前面投影统一：</a:t>
                </a:r>
              </a:p>
              <a:p>
                <a:r>
                  <a:rPr lang="ja-JP" altLang="ja-JP" dirty="0"/>
                  <a:t>线性回归是在有限维特征空间中投影； </a:t>
                </a:r>
              </a:p>
              <a:p>
                <a:r>
                  <a:rPr lang="ja-JP" altLang="ja-JP" dirty="0"/>
                  <a:t>岭回归是在参数空间中加范数惩罚； </a:t>
                </a:r>
              </a:p>
              <a:p>
                <a:r>
                  <a:rPr lang="ja-JP" altLang="ja-JP" dirty="0"/>
                  <a:t>核岭回归是在 RKHS 中进行正则化投影； </a:t>
                </a:r>
              </a:p>
              <a:p>
                <a:r>
                  <a:rPr lang="ja-JP" altLang="ja-JP" dirty="0"/>
                  <a:t>正则化控制的是函数复杂度，而不仅是参数大小。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6C505CC-3B0A-49DF-CCB3-1CF389832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11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375A14C7-4009-E8D3-EEDA-32CD25067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0" y="86143"/>
            <a:ext cx="11800000" cy="6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9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96494</TotalTime>
  <Words>6356</Words>
  <Application>Microsoft Office PowerPoint</Application>
  <PresentationFormat>ワイド画面</PresentationFormat>
  <Paragraphs>630</Paragraphs>
  <Slides>44</Slides>
  <Notes>42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52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有限维谱理论：矩阵的特征值与特征向量</vt:lpstr>
      <vt:lpstr>Hilbert 空间中的线性算子</vt:lpstr>
      <vt:lpstr>伴随算子把误差拉回参数空间</vt:lpstr>
      <vt:lpstr>伴随算子把误差拉回参数空间</vt:lpstr>
      <vt:lpstr>伴随算子把误差拉回参数空间</vt:lpstr>
      <vt:lpstr>伴随算子把误差拉回参数空间</vt:lpstr>
      <vt:lpstr>伴随算子把误差拉回参数空间</vt:lpstr>
      <vt:lpstr>伴随算子把误差拉回参数空间</vt:lpstr>
      <vt:lpstr>伴随算子把误差拉回参数空间</vt:lpstr>
      <vt:lpstr>从最小二乘到正规方程</vt:lpstr>
      <vt:lpstr>为什么 A^∗ A特别重要</vt:lpstr>
      <vt:lpstr>关于 A^∗ A</vt:lpstr>
      <vt:lpstr>关于 A^∗ A</vt:lpstr>
      <vt:lpstr>关于 A^∗ A</vt:lpstr>
      <vt:lpstr>关于 A^∗ A</vt:lpstr>
      <vt:lpstr>谱分解就是把空间按算子的作用方式分解</vt:lpstr>
      <vt:lpstr>投影算子值测度的直观解释</vt:lpstr>
      <vt:lpstr>投影算子值测度PVM</vt:lpstr>
      <vt:lpstr>用PVM 构造 Borel functional calculus 的工具</vt:lpstr>
      <vt:lpstr>用PVM 构造 Borel functional calculus 的工具</vt:lpstr>
      <vt:lpstr>投影算子值测度PVM</vt:lpstr>
      <vt:lpstr>正交与投影：最小化问题的核心</vt:lpstr>
      <vt:lpstr>正交投影是最优化结构</vt:lpstr>
      <vt:lpstr>例子：模糊图像恢复</vt:lpstr>
      <vt:lpstr>例子：模糊图像恢复</vt:lpstr>
      <vt:lpstr>例子：模糊图像恢复</vt:lpstr>
      <vt:lpstr>例子：模糊图像恢复</vt:lpstr>
      <vt:lpstr>从投影问题到算子方程</vt:lpstr>
      <vt:lpstr>从投影问题到算子方程</vt:lpstr>
      <vt:lpstr>与正规方程的关系</vt:lpstr>
      <vt:lpstr>正规方程：为什么会出现 A^∗ Au=A^∗ y</vt:lpstr>
      <vt:lpstr>有限维例子：线性回归只是 Hilbert 空间结论的特例</vt:lpstr>
      <vt:lpstr>有限维例子：线性回归只是 Hilbert 空间结论的特例</vt:lpstr>
      <vt:lpstr>有限维例子：线性回归只是 Hilbert 空间结论的特例</vt:lpstr>
      <vt:lpstr>Moore–Penrose 广义逆：最小范数解</vt:lpstr>
      <vt:lpstr>为什么需要正则化：投影解可能不稳定</vt:lpstr>
      <vt:lpstr>Tikhonov 正则化：稳定化的最小化问题</vt:lpstr>
      <vt:lpstr>频域解释：正则化就是谱滤波</vt:lpstr>
      <vt:lpstr>从谱滤波到 Fourier 滤波</vt:lpstr>
      <vt:lpstr>拓展：从 A^∗ A到量子力学中的算子分解</vt:lpstr>
      <vt:lpstr>RKHS 中的提升：核岭回归是无限维正则化</vt:lpstr>
      <vt:lpstr>RKHS 中的提升：核岭回归是无限维正则化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4778</cp:revision>
  <dcterms:created xsi:type="dcterms:W3CDTF">2001-07-30T09:48:22Z</dcterms:created>
  <dcterms:modified xsi:type="dcterms:W3CDTF">2026-05-31T10:58:13Z</dcterms:modified>
</cp:coreProperties>
</file>