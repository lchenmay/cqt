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7" r:id="rId2"/>
    <p:sldId id="318" r:id="rId3"/>
    <p:sldId id="505" r:id="rId4"/>
    <p:sldId id="504" r:id="rId5"/>
    <p:sldId id="474" r:id="rId6"/>
    <p:sldId id="499" r:id="rId7"/>
    <p:sldId id="542" r:id="rId8"/>
    <p:sldId id="506" r:id="rId9"/>
    <p:sldId id="319" r:id="rId10"/>
    <p:sldId id="507" r:id="rId11"/>
    <p:sldId id="508" r:id="rId12"/>
    <p:sldId id="543" r:id="rId13"/>
    <p:sldId id="509" r:id="rId14"/>
    <p:sldId id="510" r:id="rId15"/>
    <p:sldId id="511" r:id="rId16"/>
    <p:sldId id="512" r:id="rId17"/>
    <p:sldId id="516" r:id="rId18"/>
    <p:sldId id="517" r:id="rId19"/>
    <p:sldId id="518" r:id="rId20"/>
    <p:sldId id="513" r:id="rId21"/>
    <p:sldId id="519" r:id="rId22"/>
    <p:sldId id="520" r:id="rId23"/>
    <p:sldId id="521" r:id="rId24"/>
    <p:sldId id="514" r:id="rId25"/>
    <p:sldId id="522" r:id="rId26"/>
    <p:sldId id="523" r:id="rId27"/>
    <p:sldId id="525" r:id="rId28"/>
    <p:sldId id="526" r:id="rId29"/>
    <p:sldId id="524" r:id="rId30"/>
    <p:sldId id="527" r:id="rId31"/>
    <p:sldId id="528" r:id="rId32"/>
    <p:sldId id="515" r:id="rId33"/>
    <p:sldId id="529" r:id="rId34"/>
    <p:sldId id="530" r:id="rId35"/>
    <p:sldId id="531" r:id="rId36"/>
    <p:sldId id="540" r:id="rId37"/>
    <p:sldId id="532" r:id="rId38"/>
    <p:sldId id="534" r:id="rId39"/>
    <p:sldId id="533" r:id="rId40"/>
    <p:sldId id="535" r:id="rId41"/>
    <p:sldId id="536" r:id="rId42"/>
    <p:sldId id="537" r:id="rId43"/>
    <p:sldId id="538" r:id="rId44"/>
    <p:sldId id="541" r:id="rId45"/>
    <p:sldId id="503" r:id="rId46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5A8"/>
    <a:srgbClr val="EDFFED"/>
    <a:srgbClr val="FFFDF0"/>
    <a:srgbClr val="F9EAEF"/>
    <a:srgbClr val="F5F2DF"/>
    <a:srgbClr val="0070C0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-8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05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E965-1545-5E46-2558-EACBC9D8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CE4B95-6A43-0491-6348-6A49EF619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7A98E1-872B-A9FA-B608-69964F36A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538598-2681-69B2-E428-B1EB1F09E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2137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7FA7-C3FF-3629-FAF6-7C9E8B24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11FC4E-50E2-FCE3-2316-89E07805E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8F38FC4-CAB5-E774-79E5-BC5A3D065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6C540F-2175-1BE2-6FF0-806A2C9E5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123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01935-44E9-085B-1A55-305ED9C5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641C1A-2437-B406-B1CA-6790988BF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58D09C5-6294-2356-2522-81EA8D21E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43917-0F6A-3CFF-9F2A-3292BB99D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6776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E5EB-22F3-EB8C-BBBE-016CA1270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894D76C-F96B-1946-B5D3-93280564F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F39AA63-6F44-3837-8540-18DDF043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36E5EE-676E-5524-B5DA-D400ED3A8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3582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ABEBD-5701-3461-0A04-B3046D6C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125776-7444-B310-5719-25BFE0104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911B74-74E8-E667-6257-A6EFCFA37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878C98-1F9B-10A5-5EE3-67E1EDC8E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283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96D5-7F45-6626-8221-8FB1C977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3C5EC5D-A92F-6A9A-D1E6-F1A34EE6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F68C29C-9DDF-4C97-7E65-F0983857C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39152C-EA8A-0C0B-1CDC-74EEFA157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456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162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E72C-6ACB-18A3-EBD6-08F58201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B7F4F93-6B26-0743-BD7F-E3452D583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8A4F5F3-BC15-3F1C-E66D-8D8E237BE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4EE177-8CC9-713C-A3C7-773B87EB6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915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F863-C053-5E76-9E8D-AEA0D41F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565F15B-99B8-7BB2-223E-C03E54DA9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F102D6-E8ED-8590-77C0-F05EE1876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295264-FD1C-0D3C-EA59-A91C2C80B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8644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16944-9F50-330E-3AC0-ACD981B1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172114-FF10-1D18-BC2D-C58D773D0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AC4F116-7010-1527-E015-7A58A8C55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29945C-4D0C-0BBD-6E67-0D39661B3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4940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E16A-4933-E9DF-EB3A-E1E19697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2A3CEC-3568-866F-21E8-2548F7095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3B7E9A-37B6-4197-D6AA-4BD830394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EAB466-BEC6-CB00-DEC7-25D131AE3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2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CC0F-1F90-23EE-BC60-4F91B2D7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3D196FC-309D-86D4-6F73-189A474B3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E043391-009D-8709-697E-AE33A2FD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6EB3D9-3771-BA2A-1E45-350A1316F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8751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5C70-2EE6-D821-F749-A38C0C46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565C87E-25DA-A6D3-FB53-EB7E869A8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4FCAA8C-DDDE-B377-D292-D9A2C9210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09E18E-9036-A189-730E-948EA9E9E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6634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9D24-F943-8EEE-C053-ED919198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B1F744-D542-6AB4-3782-93A5DC805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38BD68-45DE-80E2-2F0A-729C91B8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6E165B-0A50-3D5C-7287-B82CD006B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5826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0EA6-AC9E-58B0-0F70-D7A07C64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4C66F1-7456-9565-6D37-2BA16B69C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85AE17-CBE7-7023-6B07-1411BB16D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473955-B431-4DD9-2060-5160212B7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6671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9AA3-4DC6-4F15-6C14-E17A8F85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8DFDAC-0091-5709-B932-9BC6E928B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CB0508-3D50-833E-5157-E671FD119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4045D4-62D8-7F8F-AEFA-1FEA4D75A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1698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A2E9-B7A4-2F0B-7E7D-69E8FF9E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38E6E2-B836-89FE-FFC3-14A4B9D93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18E57F-1795-3C6B-6459-46C3D78DB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C0497-09F7-152D-570E-02B247A8F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5855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D476-453B-CFB1-E5F8-603C4159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E679F72-E495-45A8-0868-58F03D314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312AED-B614-2B4E-757F-C3CCCB95E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22E0C1-3255-E5CF-07B0-EDAF91AFD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1516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DE31-219A-66E0-1145-F30DACA3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0D30A0-4512-9F93-D3EE-CFAF0904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E7B720F-E53E-6725-C0C5-C76F0CF5E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9CC449-933D-C60E-9561-FFBDA65D3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25491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9147-8078-42C1-5D18-760D253D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1E3578-B9A4-26F1-C6D1-2074EE16F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6BD658-5EF3-8AB8-447B-27CE8E632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38FCB9-9FD5-D5AC-D9DA-61BFE1235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8493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7644-55CC-1822-EB9B-218A65AC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1BC7A8C-E8EB-E8C3-F74B-019957F21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C2A668A-040D-7E5E-39E3-B28BD83F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F2A4B1-9A45-92FD-F2DF-A617EE9D6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3309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A5FF-33EE-2DE8-9C4C-87BBCD70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C58E4A-5E81-672F-CEFD-70C2E7F1E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83588F-0626-DFAE-A8E4-60FAE1B2C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4D0CEE-8CA8-9BEF-5EB0-8EF5A2CEB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9321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126A-15F9-E9C3-02FE-438E2118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FA61EE-6865-0BA2-7361-C3D7B0A1D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2BDFC6-E028-D904-C6FD-19F14781F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839C5B-E868-131D-9EE1-63D36979A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6395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0F614-6159-56D8-CC22-79BFE1BE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CC1023C-9982-00E8-D812-924B3EFA4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941F2B-7E58-7F47-8024-D78B827E2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028A8F-498A-6FE9-E3ED-76F175290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62517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4015-200F-5FF9-AF22-867535A0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F6B9BC8-FFD5-963D-A252-07C111925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93AF7FE-298D-1392-2CB0-856EB9CB1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A5D9B6-15D2-2EE8-71AD-5A01ED503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47192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CEF3-E17E-E2E3-1704-B6C57B5D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ACFABC-FD95-5BC0-5E6D-D75EEB9C9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4D20E9C-A2CB-6B86-E7E8-7853B8370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57B773-F5EA-D7EF-C7C4-28ED479B7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191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7A8C-2E21-BCE3-84E7-B05EE1BD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498F6A-1B8C-ED38-8F13-68E2989DE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D686BC-8D54-F9EA-7B60-2A628D887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2B019E-304B-C7F4-D115-F3685523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4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EF23-CBB2-4AFD-586E-6A34BDD6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2A3C40-4584-199C-858A-FCD3DEE1D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5476980-5EDE-6486-F14B-68A0134D5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C22CA5C-B678-41CE-03D0-358C009B2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56373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1D75-81D4-E040-8507-8104550E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786A0D-8535-7BAF-9DD5-8ABF1A938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15A90E9-8C55-BB85-E5BC-1080466CD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3EC9EC-1B26-2580-1D4D-45DD8343A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3810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7C1F-7593-D849-1EDE-C2EDF2E3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D0B9F4-D2F2-C669-6B64-47A82380E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B71167-B273-B9ED-617A-5A366FC11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D8A612-02BC-1828-CFBA-7D76E6040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99799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8875-B991-69C7-5F49-1F687488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097276-C654-FDFF-F06D-27605DBD3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5C19F1-ECBC-2FDA-023C-D9FB3DD16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656083-8A5D-9A85-8FC5-1E7E72D3C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04178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9852-4E84-258C-6848-8774C2FC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990D6F-9E09-CC16-7CBF-294734FFD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74CBC0-AC86-8EAE-871A-137B8D3B4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7CC33B-C2EC-0083-9E91-162B716CE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86133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D8957-4E39-CBF3-1FE5-452E33433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335B4D-B06C-9593-8121-FE16AF278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E3854B1-51F8-4B93-00C9-AF4A0D142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3AE52C-BBA6-6034-CB7D-03FA0CC2B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23799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45723-8AEA-A5AD-CF83-3047F431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8E7DDE-F662-90BF-C00F-5413BD534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C9F6F4-989B-31D4-010C-7F926833E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4190CC-2530-4F90-0C12-A96ECFD5A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92926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B30C9-E4B4-FDF1-C82B-640EC499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67E261-2FDA-D009-ED18-D08AF509C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51187A6-EB63-551C-CCA1-4078ABC2C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972B4C-810F-5642-82F8-8A892C5D3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721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D3D9-CE09-E3CF-B923-74209E3B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3D7211E-53FE-BA54-3FAA-A9706BA44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D635149-13BB-66A7-CEBA-1F052E39A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6E4E0-9BB3-6DCD-8B82-9F8439253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23334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7087-D071-D5E1-F4C2-632BD051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0F50CD-05D5-A878-9A6F-BDE7CA8FF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CD22DE-A896-D776-6597-83DB83B81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EF3196-EFA7-345B-F5F6-9675F9F00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09142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B5ED3-CE91-F046-6CC1-F88D41EF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51F8882-0024-FFCC-44EB-5CF9944E3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DF9CA7-2D54-DA2F-8679-9A18FDF89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D8118D-56BF-D8FB-CEE2-0BFDE5177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25160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4B9E-8F68-00AB-5304-54A47103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5B15E7-01AC-B381-D002-92649B5AB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8235EC-3A7E-C993-59FE-89CCB87D4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0A3EA-9FE1-B250-0936-3335E6F4F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66144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10AD-1E5D-5EF2-A52E-8630AC27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D8EBB2-3F17-5FFD-5F0C-0FD91BECB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22F524D-DF7C-DE3B-7F8D-B9AAF39B1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D49694-C280-54C6-0702-212A0F4D8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88666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1204-6CC5-C091-A427-954C1DF2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4DA416C-B9A8-215B-ACD3-21135FC21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859586-3153-AED1-6F6F-A809833C3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4D30C3-B476-4C38-208A-892B0E9B1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34160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393D-A936-FE4B-51EC-480B7265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9E97BD-51A0-7AF8-8E9E-C680BE5FC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759591-CE03-45EA-A1BD-0B85A22AE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8983D9-5545-714F-96F7-BE629352E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909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第一讲 为什么需要无限维？</a:t>
            </a: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(1)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DB85F4-098D-4349-9D2A-FB16A97F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一个简单的例子（上）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28776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假设我们在研究一个城市中，</a:t>
                </a:r>
                <a:r>
                  <a:rPr lang="zh-CN" altLang="en-US" b="1" dirty="0">
                    <a:solidFill>
                      <a:srgbClr val="00B050"/>
                    </a:solidFill>
                  </a:rPr>
                  <a:t>房屋面积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 和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房价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/>
                  <a:t>的关系。理论上，面积越大，价格通常越高，但真实数据会有很多噪声。噪声的来源可能是：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所以我们拿到的数据不是一条光滑曲线，而是一堆散点。比如以下数据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287760" cy="4724400"/>
              </a:xfrm>
              <a:blipFill>
                <a:blip r:embed="rId3"/>
                <a:stretch>
                  <a:fillRect l="-594" t="-10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79402DF-415D-6163-6607-D7A60C7AE011}"/>
              </a:ext>
            </a:extLst>
          </p:cNvPr>
          <p:cNvGrpSpPr/>
          <p:nvPr/>
        </p:nvGrpSpPr>
        <p:grpSpPr>
          <a:xfrm>
            <a:off x="3122023" y="1833027"/>
            <a:ext cx="8810897" cy="1138773"/>
            <a:chOff x="3142343" y="2290227"/>
            <a:chExt cx="8810897" cy="1138773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A342831-5408-FC09-ABAF-1922A42E40F9}"/>
                </a:ext>
              </a:extLst>
            </p:cNvPr>
            <p:cNvSpPr txBox="1"/>
            <p:nvPr/>
          </p:nvSpPr>
          <p:spPr>
            <a:xfrm>
              <a:off x="3142343" y="2290227"/>
              <a:ext cx="6106160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FangSong" panose="02010609060101010101" pitchFamily="49" charset="-122"/>
                </a:rPr>
                <a:t>地段不同</a:t>
              </a:r>
            </a:p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FangSong" panose="02010609060101010101" pitchFamily="49" charset="-122"/>
                </a:rPr>
                <a:t>装修不同</a:t>
              </a:r>
            </a:p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FangSong" panose="02010609060101010101" pitchFamily="49" charset="-122"/>
                </a:rPr>
                <a:t>楼层不同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C4E038B-544C-2F3B-3BEF-9DCF88DD39A3}"/>
                </a:ext>
              </a:extLst>
            </p:cNvPr>
            <p:cNvSpPr txBox="1"/>
            <p:nvPr/>
          </p:nvSpPr>
          <p:spPr>
            <a:xfrm>
              <a:off x="5847080" y="2488234"/>
              <a:ext cx="610616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FangSong" panose="02010609060101010101" pitchFamily="49" charset="-122"/>
                </a:rPr>
                <a:t>采样误差</a:t>
              </a:r>
            </a:p>
            <a:p>
              <a:pPr marL="742950" marR="0" lvl="1" indent="-28575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FangSong" panose="02010609060101010101" pitchFamily="49" charset="-122"/>
                </a:rPr>
                <a:t>极端成交价</a:t>
              </a:r>
            </a:p>
          </p:txBody>
        </p:sp>
      </p:grp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5F056694-AB80-2AEB-6A26-1BB4C12B6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562079"/>
              </p:ext>
            </p:extLst>
          </p:nvPr>
        </p:nvGraphicFramePr>
        <p:xfrm>
          <a:off x="863600" y="3886201"/>
          <a:ext cx="4155440" cy="2560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231822">
                  <a:extLst>
                    <a:ext uri="{9D8B030D-6E8A-4147-A177-3AD203B41FA5}">
                      <a16:colId xmlns:a16="http://schemas.microsoft.com/office/drawing/2014/main" val="944971381"/>
                    </a:ext>
                  </a:extLst>
                </a:gridCol>
                <a:gridCol w="1923618">
                  <a:extLst>
                    <a:ext uri="{9D8B030D-6E8A-4147-A177-3AD203B41FA5}">
                      <a16:colId xmlns:a16="http://schemas.microsoft.com/office/drawing/2014/main" val="2863169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面积 </a:t>
                      </a:r>
                      <a:r>
                        <a:rPr lang="en-US" altLang="zh-CN" dirty="0"/>
                        <a:t>(x)</a:t>
                      </a:r>
                      <a:r>
                        <a:rPr lang="zh-CN" altLang="en-US" dirty="0"/>
                        <a:t>（平方米）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/>
                        <a:t>房价 (y)（万元）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1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88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205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83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dirty="0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07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265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61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74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dirty="0"/>
                        <a:t>325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8574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76CFA40D-38BF-B6BA-092C-2CD63C0714E4}"/>
                  </a:ext>
                </a:extLst>
              </p:cNvPr>
              <p:cNvSpPr txBox="1"/>
              <p:nvPr/>
            </p:nvSpPr>
            <p:spPr>
              <a:xfrm>
                <a:off x="6741160" y="4353368"/>
                <a:ext cx="484124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现在我们不满足于只看这 </a:t>
                </a:r>
                <a:r>
                  <a:rPr lang="en-US" altLang="zh-CN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6 </a:t>
                </a:r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个点。</a:t>
                </a:r>
                <a:b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</a:br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我们真正想学到的是一个预测规则 </a:t>
                </a:r>
                <a14:m>
                  <m:oMath xmlns:m="http://schemas.openxmlformats.org/officeDocument/2006/math">
                    <m:r>
                      <a:rPr lang="zh-CN" alt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FangSong" panose="02010609060101010101" pitchFamily="49" charset="-122"/>
                        <a:cs typeface="ＭＳ Ｐゴシック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FangSong" panose="02010609060101010101" pitchFamily="49" charset="-122"/>
                            <a:cs typeface="ＭＳ Ｐゴシック" charset="0"/>
                          </a:rPr>
                        </m:ctrlPr>
                      </m:dPr>
                      <m:e>
                        <m:r>
                          <a:rPr lang="zh-CN" alt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FangSong" panose="02010609060101010101" pitchFamily="49" charset="-122"/>
                            <a:cs typeface="ＭＳ Ｐゴシック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，输入房屋面积，输出预测房价。</a:t>
                </a:r>
                <a:endParaRPr lang="ja-JP" altLang="en-US" dirty="0">
                  <a:latin typeface="+mn-lt"/>
                  <a:ea typeface="FangSong" panose="02010609060101010101" pitchFamily="49" charset="-122"/>
                  <a:cs typeface="ＭＳ Ｐゴシック" charset="0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76CFA40D-38BF-B6BA-092C-2CD63C071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160" y="4353368"/>
                <a:ext cx="4841240" cy="1015663"/>
              </a:xfrm>
              <a:prstGeom prst="rect">
                <a:avLst/>
              </a:prstGeom>
              <a:blipFill>
                <a:blip r:embed="rId4"/>
                <a:stretch>
                  <a:fillRect l="-1385" t="-4790" r="-882" b="-77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47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E021-D03D-C10D-5607-0F6CA36B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F154426-1E03-0CBF-EBCC-A902DABAC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一个简单的例子（中）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3E8E409F-C0B6-6918-5DF3-E0A3CEB6E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287760" cy="4724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在机器学习中处理这个问题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机器学习目标：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B9ED69A-97F0-CF4D-892C-1A7EA65294D3}"/>
              </a:ext>
            </a:extLst>
          </p:cNvPr>
          <p:cNvSpPr txBox="1"/>
          <p:nvPr/>
        </p:nvSpPr>
        <p:spPr>
          <a:xfrm>
            <a:off x="5926183" y="1552530"/>
            <a:ext cx="61061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i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是第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个样本的面积</a:t>
            </a:r>
          </a:p>
          <a:p>
            <a:pPr marL="742950" lvl="1" indent="-285750">
              <a:spcBef>
                <a:spcPct val="20000"/>
              </a:spcBef>
              <a:buClr>
                <a:srgbClr val="3333CC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kern="0" dirty="0" err="1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y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i</a:t>
            </a:r>
            <a:r>
              <a:rPr lang="en-US" altLang="zh-CN" kern="0" baseline="-2500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​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是真实房价</a:t>
            </a:r>
          </a:p>
          <a:p>
            <a:pPr marL="742950" lvl="1" indent="-285750">
              <a:spcBef>
                <a:spcPct val="20000"/>
              </a:spcBef>
              <a:buClr>
                <a:srgbClr val="3333CC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f(x</a:t>
            </a:r>
            <a:r>
              <a:rPr lang="en-US" altLang="zh-CN" kern="0" baseline="-2500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)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是模型预测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3AC0FA-23DD-9574-C6DC-43BF5136A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880" y="1662613"/>
            <a:ext cx="2800394" cy="9883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65E940-FB47-6B61-CC88-889B0BC97830}"/>
              </a:ext>
            </a:extLst>
          </p:cNvPr>
          <p:cNvSpPr txBox="1"/>
          <p:nvPr/>
        </p:nvSpPr>
        <p:spPr>
          <a:xfrm>
            <a:off x="401320" y="2650987"/>
            <a:ext cx="610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这个式子表示：我们希望预测值尽量接近真实值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0F5A47F-7A15-9AE1-8F20-E7DC4A77962C}"/>
                  </a:ext>
                </a:extLst>
              </p:cNvPr>
              <p:cNvSpPr txBox="1"/>
              <p:nvPr/>
            </p:nvSpPr>
            <p:spPr>
              <a:xfrm>
                <a:off x="1859280" y="3127297"/>
                <a:ext cx="94589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latin typeface="+mn-lt"/>
                    <a:ea typeface="FangSong" panose="02010609060101010101" pitchFamily="49" charset="-122"/>
                  </a:rPr>
                  <a:t>这里真正要找的未知量是什么？答案不是一个数，而是一个函数 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+mn-lt"/>
                    <a:ea typeface="FangSong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0F5A47F-7A15-9AE1-8F20-E7DC4A779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280" y="3127297"/>
                <a:ext cx="9458960" cy="400110"/>
              </a:xfrm>
              <a:prstGeom prst="rect">
                <a:avLst/>
              </a:prstGeom>
              <a:blipFill>
                <a:blip r:embed="rId4"/>
                <a:stretch>
                  <a:fillRect l="-644" t="-12121" b="-212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510DC74-90B1-17E9-69E4-05E824EFFA81}"/>
              </a:ext>
            </a:extLst>
          </p:cNvPr>
          <p:cNvSpPr txBox="1"/>
          <p:nvPr/>
        </p:nvSpPr>
        <p:spPr>
          <a:xfrm>
            <a:off x="678180" y="3597474"/>
            <a:ext cx="11010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课题</a:t>
            </a:r>
            <a:r>
              <a:rPr lang="en-US" altLang="zh-CN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（过拟合）：如果只是让每个训练点误差都尽量小，有可能学到一条非常扭曲的曲线：它穿过所有样本点，但在两个样本点之间剧烈震荡。这样的模型在训练集上很好，在新样本上却很差</a:t>
            </a:r>
            <a:endParaRPr lang="ja-JP" altLang="en-US" kern="0" dirty="0">
              <a:solidFill>
                <a:srgbClr val="000000"/>
              </a:solidFill>
              <a:latin typeface="Comic Sans MS"/>
              <a:ea typeface="FangSong" panose="02010609060101010101" pitchFamily="49" charset="-122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C2594B9-10D7-E039-E97F-DB629C9ED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6" t="10610" r="8606" b="11031"/>
          <a:stretch>
            <a:fillRect/>
          </a:stretch>
        </p:blipFill>
        <p:spPr bwMode="auto">
          <a:xfrm>
            <a:off x="2958696" y="4433578"/>
            <a:ext cx="5934974" cy="204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67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20AC-578F-F607-28BD-D8FC37BA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1FFEE8-5B30-9E78-8E8A-8A91CCB6D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一个简单的例子（下）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925318F-095C-8124-485C-8AA05870A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287760" cy="4724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在机器学习中处理这个问题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机器学习优化目标：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56E2D3-F603-DE7F-CDAA-A4D050FA3AA5}"/>
              </a:ext>
            </a:extLst>
          </p:cNvPr>
          <p:cNvSpPr txBox="1"/>
          <p:nvPr/>
        </p:nvSpPr>
        <p:spPr>
          <a:xfrm>
            <a:off x="5926183" y="1552530"/>
            <a:ext cx="61061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i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是第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个样本的面积</a:t>
            </a:r>
          </a:p>
          <a:p>
            <a:pPr marL="742950" lvl="1" indent="-285750">
              <a:spcBef>
                <a:spcPct val="20000"/>
              </a:spcBef>
              <a:buClr>
                <a:srgbClr val="3333CC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kern="0" dirty="0" err="1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y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i</a:t>
            </a:r>
            <a:r>
              <a:rPr lang="en-US" altLang="zh-CN" kern="0" baseline="-2500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​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是真实房价</a:t>
            </a:r>
          </a:p>
          <a:p>
            <a:pPr marL="742950" lvl="1" indent="-285750">
              <a:spcBef>
                <a:spcPct val="20000"/>
              </a:spcBef>
              <a:buClr>
                <a:srgbClr val="3333CC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f(x</a:t>
            </a:r>
            <a:r>
              <a:rPr lang="en-US" altLang="zh-CN" kern="0" baseline="-2500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)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是模型预测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910C25-817B-AC36-D42F-B7B9A0E34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199" y="1632416"/>
            <a:ext cx="2800394" cy="988374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6FD67D7-9C93-39C6-F594-C4CED2F1D53A}"/>
              </a:ext>
            </a:extLst>
          </p:cNvPr>
          <p:cNvSpPr txBox="1"/>
          <p:nvPr/>
        </p:nvSpPr>
        <p:spPr>
          <a:xfrm>
            <a:off x="590550" y="2892857"/>
            <a:ext cx="11010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课题</a:t>
            </a:r>
            <a:r>
              <a:rPr lang="en-US" altLang="zh-CN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（过拟合）的解决 </a:t>
            </a:r>
            <a:r>
              <a:rPr lang="ja-JP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⇒</a:t>
            </a:r>
            <a:r>
              <a:rPr lang="zh-CN" altLang="en-US" kern="0" dirty="0">
                <a:solidFill>
                  <a:srgbClr val="000000"/>
                </a:solidFill>
                <a:latin typeface="Comic Sans MS"/>
                <a:ea typeface="FangSong" panose="02010609060101010101" pitchFamily="49" charset="-122"/>
              </a:rPr>
              <a:t> 引入正则化</a:t>
            </a:r>
            <a:endParaRPr lang="ja-JP" altLang="en-US" kern="0" dirty="0">
              <a:solidFill>
                <a:srgbClr val="000000"/>
              </a:solidFill>
              <a:latin typeface="Comic Sans MS"/>
              <a:ea typeface="FangSong" panose="02010609060101010101" pitchFamily="49" charset="-122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B5E04E27-BD05-D86F-34A2-6822B5DC81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6" t="10610" r="8606" b="11031"/>
          <a:stretch>
            <a:fillRect/>
          </a:stretch>
        </p:blipFill>
        <p:spPr bwMode="auto">
          <a:xfrm>
            <a:off x="310466" y="3538337"/>
            <a:ext cx="3161390" cy="10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949ACDF-5AAD-4969-E3F9-735905CF8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923" y="3565034"/>
            <a:ext cx="4427185" cy="785778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7519B09-1001-5713-F15B-0A0A5534CCB2}"/>
              </a:ext>
            </a:extLst>
          </p:cNvPr>
          <p:cNvSpPr txBox="1"/>
          <p:nvPr/>
        </p:nvSpPr>
        <p:spPr>
          <a:xfrm>
            <a:off x="7288078" y="4248660"/>
            <a:ext cx="4003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ja-JP" altLang="en-US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平滑惩罚</a:t>
            </a:r>
            <a:r>
              <a:rPr lang="zh-CN" altLang="en-US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：导数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大</a:t>
            </a:r>
            <a:r>
              <a:rPr lang="ja-JP" altLang="en-US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→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曲线陡</a:t>
            </a:r>
            <a:endParaRPr lang="en-US" altLang="ja-JP" sz="1800" kern="0" dirty="0">
              <a:solidFill>
                <a:srgbClr val="7030A0"/>
              </a:solidFill>
              <a:latin typeface="Comic Sans MS"/>
              <a:ea typeface="FangSong" panose="02010609060101010101" pitchFamily="49" charset="-122"/>
            </a:endParaRPr>
          </a:p>
          <a:p>
            <a:pPr lvl="0"/>
            <a:r>
              <a:rPr lang="zh-CN" altLang="en-US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导数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时大时小、波动厉害</a:t>
            </a:r>
            <a:r>
              <a:rPr lang="ja-JP" altLang="en-US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→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积分大</a:t>
            </a:r>
          </a:p>
          <a:p>
            <a:pPr lvl="0"/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鼓励更平滑稳定的函数</a:t>
            </a:r>
            <a:endParaRPr lang="ja-JP" altLang="en-US" sz="1800" kern="0" dirty="0">
              <a:solidFill>
                <a:srgbClr val="7030A0"/>
              </a:solidFill>
              <a:latin typeface="Comic Sans MS"/>
              <a:ea typeface="FangSong" panose="02010609060101010101" pitchFamily="49" charset="-122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C568B8A-CAA4-DC5A-FC0B-68A174419014}"/>
              </a:ext>
            </a:extLst>
          </p:cNvPr>
          <p:cNvSpPr txBox="1"/>
          <p:nvPr/>
        </p:nvSpPr>
        <p:spPr>
          <a:xfrm>
            <a:off x="6159261" y="2954509"/>
            <a:ext cx="6107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tabLst/>
            </a:pPr>
            <a:r>
              <a:rPr lang="el-GR" altLang="ja-JP" sz="1800" kern="0" dirty="0">
                <a:solidFill>
                  <a:srgbClr val="7030A0"/>
                </a:solidFill>
                <a:latin typeface="+mj-ea"/>
                <a:ea typeface="+mj-ea"/>
              </a:rPr>
              <a:t>λ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小：更在意拟合训练数据</a:t>
            </a:r>
          </a:p>
          <a:p>
            <a:pPr marL="0" marR="0" indent="0" defTabSz="914400" latinLnBrk="0">
              <a:lnSpc>
                <a:spcPct val="100000"/>
              </a:lnSpc>
              <a:buClrTx/>
              <a:buSzTx/>
              <a:tabLst/>
            </a:pPr>
            <a:r>
              <a:rPr lang="el-GR" altLang="ja-JP" sz="1800" kern="0" dirty="0">
                <a:solidFill>
                  <a:srgbClr val="7030A0"/>
                </a:solidFill>
                <a:latin typeface="+mj-ea"/>
              </a:rPr>
              <a:t>λ</a:t>
            </a:r>
            <a:r>
              <a:rPr lang="ja-JP" altLang="ja-JP" sz="1800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大：更在意曲线平滑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43E9E57-3DFD-B130-0929-807C388F4CB1}"/>
              </a:ext>
            </a:extLst>
          </p:cNvPr>
          <p:cNvSpPr txBox="1"/>
          <p:nvPr/>
        </p:nvSpPr>
        <p:spPr>
          <a:xfrm>
            <a:off x="3471856" y="3787982"/>
            <a:ext cx="1522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优化目标：</a:t>
            </a:r>
            <a:endParaRPr lang="ja-JP" altLang="en-US" dirty="0">
              <a:latin typeface="+mj-ea"/>
              <a:ea typeface="+mj-ea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EFDDE9B-776F-6079-6168-EF1D75A73B9F}"/>
              </a:ext>
            </a:extLst>
          </p:cNvPr>
          <p:cNvSpPr txBox="1"/>
          <p:nvPr/>
        </p:nvSpPr>
        <p:spPr>
          <a:xfrm>
            <a:off x="401319" y="4893798"/>
            <a:ext cx="64896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FangSong" panose="02010609060101010101" pitchFamily="49" charset="-122"/>
              </a:rPr>
              <a:t>总结这个例子：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FangSong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未知量是函数，不是参数表</a:t>
            </a:r>
            <a:endParaRPr lang="en-US" altLang="zh-CN" kern="0" dirty="0">
              <a:solidFill>
                <a:srgbClr val="C00000"/>
              </a:solidFill>
              <a:latin typeface="Comic Sans MS"/>
              <a:ea typeface="FangSong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优化目标本身是泛函</a:t>
            </a:r>
            <a:r>
              <a:rPr lang="en-US" altLang="zh-CN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J</a:t>
            </a:r>
          </a:p>
          <a:p>
            <a:r>
              <a:rPr lang="en-US" altLang="zh-CN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 (</a:t>
            </a:r>
            <a:r>
              <a:rPr lang="zh-CN" altLang="en-US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输入函数</a:t>
            </a:r>
            <a:r>
              <a:rPr lang="en-US" altLang="zh-CN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f</a:t>
            </a:r>
            <a:r>
              <a:rPr lang="zh-CN" altLang="en-US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，输出实数</a:t>
            </a:r>
            <a:r>
              <a:rPr lang="en-US" altLang="zh-CN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J[f]</a:t>
            </a:r>
            <a:r>
              <a:rPr lang="zh-CN" altLang="en-US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，对整个函数做整体评分</a:t>
            </a:r>
            <a:r>
              <a:rPr lang="en-US" altLang="zh-CN" kern="0" dirty="0">
                <a:solidFill>
                  <a:srgbClr val="C00000"/>
                </a:solidFill>
                <a:latin typeface="Comic Sans MS"/>
                <a:ea typeface="FangSong" panose="02010609060101010101" pitchFamily="49" charset="-122"/>
              </a:rPr>
              <a:t>)</a:t>
            </a:r>
            <a:endParaRPr lang="ja-JP" altLang="en-US" dirty="0">
              <a:solidFill>
                <a:srgbClr val="C00000"/>
              </a:solidFill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12C5A7C0-0695-FE8A-135A-BFE09A288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3593" y="5294546"/>
            <a:ext cx="5937300" cy="970298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546C4B4-2449-AA32-D988-0F9A0B5BD5AD}"/>
              </a:ext>
            </a:extLst>
          </p:cNvPr>
          <p:cNvSpPr txBox="1"/>
          <p:nvPr/>
        </p:nvSpPr>
        <p:spPr>
          <a:xfrm>
            <a:off x="7474789" y="6400418"/>
            <a:ext cx="35633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7030A0"/>
                </a:solidFill>
                <a:latin typeface="Comic Sans MS"/>
                <a:ea typeface="FangSong" panose="02010609060101010101" pitchFamily="49" charset="-122"/>
              </a:rPr>
              <a:t>f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</a:rPr>
              <a:t>不是任意函数，</a:t>
            </a:r>
            <a:r>
              <a:rPr lang="ja-JP" altLang="en-US" dirty="0">
                <a:solidFill>
                  <a:srgbClr val="7030A0"/>
                </a:solidFill>
                <a:latin typeface="+mj-ea"/>
                <a:ea typeface="+mj-ea"/>
              </a:rPr>
              <a:t>至少要可导</a:t>
            </a:r>
          </a:p>
        </p:txBody>
      </p:sp>
    </p:spTree>
    <p:extLst>
      <p:ext uri="{BB962C8B-B14F-4D97-AF65-F5344CB8AC3E}">
        <p14:creationId xmlns:p14="http://schemas.microsoft.com/office/powerpoint/2010/main" val="4128227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2AC9-2635-27F6-5F03-E06339C3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DF0C04D-AF94-CA39-BEAC-625DE222A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前述例子中蕴含的泛函分析的内容</a:t>
            </a:r>
            <a:endParaRPr lang="en-US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DBE575A6-0E27-40EA-94E0-435CE544A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296" y="3092521"/>
            <a:ext cx="6318607" cy="171578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f </a:t>
            </a:r>
            <a:r>
              <a:rPr lang="zh-CN" altLang="en-US" dirty="0">
                <a:latin typeface="Arial" panose="020B0604020202020204" pitchFamily="34" charset="0"/>
              </a:rPr>
              <a:t>不能取任意函数，那么</a:t>
            </a:r>
            <a:r>
              <a:rPr lang="en-US" altLang="zh-CN" dirty="0">
                <a:latin typeface="Arial" panose="020B0604020202020204" pitchFamily="34" charset="0"/>
              </a:rPr>
              <a:t>f</a:t>
            </a:r>
            <a:r>
              <a:rPr lang="ja-JP" altLang="ja-JP" dirty="0">
                <a:latin typeface="Arial" panose="020B0604020202020204" pitchFamily="34" charset="0"/>
              </a:rPr>
              <a:t>应该属于哪个函数空间？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两个候选函数如何比较？</a:t>
            </a: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这个优化问题为什么有解？</a:t>
            </a:r>
            <a:r>
              <a:rPr lang="zh-CN" altLang="en-US" dirty="0">
                <a:latin typeface="Arial" panose="020B0604020202020204" pitchFamily="34" charset="0"/>
              </a:rPr>
              <a:t>有解的条件是什么？</a:t>
            </a:r>
            <a:endParaRPr lang="ja-JP" altLang="ja-JP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为什么加了正则化以后，解会更稳定？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77DC70-FCE8-260E-C582-5AC64AD5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813" y="1844088"/>
            <a:ext cx="5937300" cy="9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5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70212-438C-4CE2-1361-3A4EE41F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B3AFE18-1BE6-6A5B-D8A8-50B8D8480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从求一个点到求一个函数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B8F63EA-4736-04DE-0ED1-BA4849998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827" y="1118319"/>
                <a:ext cx="5588002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传统有限维问题</a:t>
                </a:r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b="1" dirty="0"/>
                  <a:t>熟悉的问题：求一个点或一个向量</a:t>
                </a:r>
                <a:endParaRPr lang="zh-CN" altLang="en-US" dirty="0"/>
              </a:p>
              <a:p>
                <a:pPr marL="0" indent="0">
                  <a:buNone/>
                </a:pPr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例如：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解线性方程组：找一个向量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做最优化：找一个最优点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做几何：研究空间中的点、方向、距离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B8F63EA-4736-04DE-0ED1-BA4849998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827" y="1118319"/>
                <a:ext cx="5588002" cy="4724400"/>
              </a:xfrm>
              <a:blipFill>
                <a:blip r:embed="rId3"/>
                <a:stretch>
                  <a:fillRect l="-1201" t="-10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2">
                <a:extLst>
                  <a:ext uri="{FF2B5EF4-FFF2-40B4-BE49-F238E27FC236}">
                    <a16:creationId xmlns:a16="http://schemas.microsoft.com/office/drawing/2014/main" id="{E16CDBB8-B340-6340-C31B-5E4AA5A7FE7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993829" y="1118319"/>
                <a:ext cx="5926476" cy="4724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u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  <a:cs typeface="ＭＳ Ｐゴシック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lang="zh-CN" altLang="en-US" b="1" kern="0" dirty="0">
                    <a:solidFill>
                      <a:srgbClr val="C00000"/>
                    </a:solidFill>
                  </a:rPr>
                  <a:t>现代问题</a:t>
                </a:r>
                <a:endParaRPr lang="en-US" altLang="zh-CN" kern="0" dirty="0">
                  <a:solidFill>
                    <a:srgbClr val="C00000"/>
                  </a:solidFill>
                </a:endParaRPr>
              </a:p>
              <a:p>
                <a:endParaRPr lang="zh-CN" altLang="en-US" kern="0" dirty="0"/>
              </a:p>
              <a:p>
                <a:pPr marL="0" indent="0">
                  <a:buNone/>
                </a:pPr>
                <a:r>
                  <a:rPr lang="zh-CN" altLang="en-US" b="1" dirty="0"/>
                  <a:t>更复杂的问题：求一条曲线或一个场或一个映射</a:t>
                </a: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i="1" kern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l-PL" altLang="zh-CN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l-PL" altLang="zh-CN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i="1" ker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pl-PL" altLang="zh-CN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pl-PL" altLang="zh-CN" i="1" ker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zh-CN" altLang="en-US" kern="0" dirty="0"/>
              </a:p>
              <a:p>
                <a:pPr marL="0" indent="0">
                  <a:buFont typeface="Wingdings" pitchFamily="2" charset="2"/>
                  <a:buNone/>
                </a:pPr>
                <a:endParaRPr lang="en-US" altLang="zh-CN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lang="zh-CN" altLang="en-US" kern="0" dirty="0"/>
                  <a:t>例如：</a:t>
                </a:r>
              </a:p>
              <a:p>
                <a:pPr>
                  <a:buClr>
                    <a:srgbClr val="00B050"/>
                  </a:buClr>
                  <a:buFont typeface="Wingdings" pitchFamily="2" charset="2"/>
                  <a:buChar char="Ø"/>
                </a:pPr>
                <a:r>
                  <a:rPr lang="zh-CN" altLang="en-US" kern="0" dirty="0"/>
                  <a:t>微分方程：求解函数 </a:t>
                </a: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kern="0" dirty="0"/>
              </a:p>
              <a:p>
                <a:pPr>
                  <a:buClr>
                    <a:srgbClr val="00B050"/>
                  </a:buClr>
                  <a:buFont typeface="Wingdings" pitchFamily="2" charset="2"/>
                  <a:buChar char="Ø"/>
                </a:pPr>
                <a:r>
                  <a:rPr lang="zh-CN" altLang="en-US" kern="0" dirty="0"/>
                  <a:t>信号处理：恢复波形 𝜙</a:t>
                </a: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kern="0" dirty="0"/>
              </a:p>
              <a:p>
                <a:pPr>
                  <a:buClr>
                    <a:srgbClr val="00B050"/>
                  </a:buClr>
                  <a:buFont typeface="Wingdings" pitchFamily="2" charset="2"/>
                  <a:buChar char="Ø"/>
                </a:pPr>
                <a:r>
                  <a:rPr lang="zh-CN" altLang="en-US" kern="0" dirty="0"/>
                  <a:t>量子力学：研究波函数 </a:t>
                </a:r>
                <a14:m>
                  <m:oMath xmlns:m="http://schemas.openxmlformats.org/officeDocument/2006/math">
                    <m:r>
                      <a:rPr lang="el-GR" altLang="zh-CN" i="1" kern="0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l-GR" altLang="zh-CN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kern="0" dirty="0"/>
              </a:p>
              <a:p>
                <a:pPr>
                  <a:buClr>
                    <a:srgbClr val="00B050"/>
                  </a:buClr>
                  <a:buFont typeface="Wingdings" pitchFamily="2" charset="2"/>
                  <a:buChar char="Ø"/>
                </a:pPr>
                <a:r>
                  <a:rPr lang="zh-CN" altLang="en-US" kern="0" dirty="0"/>
                  <a:t>机器学习：学习映射</a:t>
                </a:r>
                <a14:m>
                  <m:oMath xmlns:m="http://schemas.openxmlformats.org/officeDocument/2006/math">
                    <m:r>
                      <a:rPr lang="zh-CN" altLang="en-US" i="1" kern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kern="0" dirty="0"/>
              </a:p>
            </p:txBody>
          </p:sp>
        </mc:Choice>
        <mc:Fallback xmlns="">
          <p:sp>
            <p:nvSpPr>
              <p:cNvPr id="2" name="コンテンツ プレースホルダー 2">
                <a:extLst>
                  <a:ext uri="{FF2B5EF4-FFF2-40B4-BE49-F238E27FC236}">
                    <a16:creationId xmlns:a16="http://schemas.microsoft.com/office/drawing/2014/main" id="{E16CDBB8-B340-6340-C31B-5E4AA5A7F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3829" y="1118319"/>
                <a:ext cx="5926476" cy="4724400"/>
              </a:xfrm>
              <a:prstGeom prst="rect">
                <a:avLst/>
              </a:prstGeom>
              <a:blipFill>
                <a:blip r:embed="rId4"/>
                <a:stretch>
                  <a:fillRect l="-1029" t="-10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9A060EF-6F9F-27DF-F91D-DCC22F99C00C}"/>
                  </a:ext>
                </a:extLst>
              </p:cNvPr>
              <p:cNvSpPr txBox="1"/>
              <p:nvPr/>
            </p:nvSpPr>
            <p:spPr>
              <a:xfrm>
                <a:off x="405827" y="5442027"/>
                <a:ext cx="1138034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b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</a:br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问题的对象已经从‘有限维点’变成了‘函数’。</a:t>
                </a:r>
                <a:endParaRPr lang="en-US" altLang="zh-CN" dirty="0">
                  <a:latin typeface="+mn-lt"/>
                  <a:ea typeface="FangSong" panose="02010609060101010101" pitchFamily="49" charset="-122"/>
                  <a:cs typeface="ＭＳ Ｐゴシック" charset="0"/>
                </a:endParaRPr>
              </a:p>
              <a:p>
                <a:pPr algn="ctr"/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看似只是把未知量写成了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  <a:ea typeface="FangSong" panose="02010609060101010101" pitchFamily="49" charset="-122"/>
                        <a:cs typeface="ＭＳ Ｐゴシック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  <a:cs typeface="ＭＳ Ｐゴシック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  <a:ea typeface="FangSong" panose="02010609060101010101" pitchFamily="49" charset="-122"/>
                            <a:cs typeface="ＭＳ Ｐゴシック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+mn-lt"/>
                    <a:ea typeface="FangSong" panose="02010609060101010101" pitchFamily="49" charset="-122"/>
                    <a:cs typeface="ＭＳ Ｐゴシック" charset="0"/>
                  </a:rPr>
                  <a:t>，其实背后发生的是维度结构的变化。</a:t>
                </a:r>
                <a:endParaRPr lang="ja-JP" altLang="en-US" dirty="0">
                  <a:latin typeface="+mn-lt"/>
                  <a:ea typeface="FangSong" panose="02010609060101010101" pitchFamily="49" charset="-122"/>
                  <a:cs typeface="ＭＳ Ｐゴシック" charset="0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9A060EF-6F9F-27DF-F91D-DCC22F99C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27" y="5442027"/>
                <a:ext cx="11380346" cy="1015663"/>
              </a:xfrm>
              <a:prstGeom prst="rect">
                <a:avLst/>
              </a:prstGeom>
              <a:blipFill>
                <a:blip r:embed="rId5"/>
                <a:stretch>
                  <a:fillRect b="-84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40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37EB-8E2D-7974-457A-9607FE10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85F3D74-95AE-9C27-A27D-AB36EE44E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哪些问题的解本来就是函数？</a:t>
            </a:r>
            <a:endParaRPr lang="en-US" b="1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E56DBF73-D8D6-B36A-B347-3FD21081A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827" y="1118319"/>
            <a:ext cx="11347558" cy="4724400"/>
          </a:xfrm>
        </p:spPr>
        <p:txBody>
          <a:bodyPr/>
          <a:lstStyle/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dirty="0">
                <a:latin typeface="Arial" panose="020B0604020202020204" pitchFamily="34" charset="0"/>
              </a:rPr>
              <a:t>例如：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en-US" altLang="ja-JP" dirty="0">
              <a:latin typeface="Arial" panose="020B0604020202020204" pitchFamily="34" charset="0"/>
            </a:endParaRP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解微分方程：未知量通常是函数 u(x) 或 u(x,t)</a:t>
            </a: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积分方程：未知量出现在积分号内，本身也是函数 </a:t>
            </a: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信号分解：把一个信号写成基函数的线性组合 </a:t>
            </a: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最小二乘：在函数空间里找“最接近数据”的函数 </a:t>
            </a:r>
          </a:p>
          <a:p>
            <a:pPr marL="457200" lvl="0" indent="-457200">
              <a:lnSpc>
                <a:spcPct val="12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ja-JP" altLang="ja-JP" dirty="0">
                <a:latin typeface="Arial" panose="020B0604020202020204" pitchFamily="34" charset="0"/>
              </a:rPr>
              <a:t>量子态是‘向量’：波函数属于 Hilbert 空间，可当作无限维向量 </a:t>
            </a:r>
          </a:p>
        </p:txBody>
      </p:sp>
    </p:spTree>
    <p:extLst>
      <p:ext uri="{BB962C8B-B14F-4D97-AF65-F5344CB8AC3E}">
        <p14:creationId xmlns:p14="http://schemas.microsoft.com/office/powerpoint/2010/main" val="37748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958B-C91B-F96B-82D5-C44F5F45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E0A9DF-3140-916D-1279-E15B30F75F38}"/>
              </a:ext>
            </a:extLst>
          </p:cNvPr>
          <p:cNvSpPr txBox="1"/>
          <p:nvPr/>
        </p:nvSpPr>
        <p:spPr>
          <a:xfrm>
            <a:off x="3347720" y="4041745"/>
            <a:ext cx="61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+mj-ea"/>
                <a:ea typeface="+mj-ea"/>
              </a:rPr>
              <a:t>1. </a:t>
            </a:r>
            <a:r>
              <a:rPr lang="zh-CN" altLang="en-US" sz="3600" b="1" dirty="0">
                <a:latin typeface="+mj-ea"/>
                <a:ea typeface="+mj-ea"/>
              </a:rPr>
              <a:t>函数到底属于哪个空间</a:t>
            </a:r>
            <a:endParaRPr lang="ja-JP" altLang="en-US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9232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DB85F4-098D-4349-9D2A-FB16A97F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/>
              <a:t>函数到底属于哪个空间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泛函分析中，需要区分（之后的讨论方向不同）：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有的函数连续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有的函数可导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有的函数不可导但可以积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有的函数还要满足边界条件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有的函数值是实数，有的函数值是向量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连续函数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如果关心曲线形状是否平滑、点值是否有意义，那么可能需要函数是连续的：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zh-CN" altLang="en-US" dirty="0"/>
                  <a:t>表示区间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dirty="0"/>
                  <a:t> 上所有连续函数的集合。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这样的函数适合讨论：图像形状，点值，一致逼近，</a:t>
                </a:r>
                <a:r>
                  <a:rPr lang="ja-JP" altLang="en-US" dirty="0"/>
                  <a:t>最大误差</a:t>
                </a:r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9CD83A0-827F-E52E-C9FA-65620D5D76FA}"/>
                  </a:ext>
                </a:extLst>
              </p:cNvPr>
              <p:cNvSpPr txBox="1"/>
              <p:nvPr/>
            </p:nvSpPr>
            <p:spPr>
              <a:xfrm>
                <a:off x="3097373" y="5585191"/>
                <a:ext cx="8586627" cy="723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:r>
                  <a:rPr lang="ja-JP" altLang="en-US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如果函数在紧区间上连续，比如 </a:t>
                </a:r>
                <a14:m>
                  <m:oMath xmlns:m="http://schemas.openxmlformats.org/officeDocument/2006/math">
                    <m:r>
                      <a:rPr lang="ja-JP" altLang="en-US" sz="18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r>
                      <a:rPr lang="en-US" altLang="ja-JP" sz="1800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ja-JP" altLang="en-US" sz="18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r>
                      <a:rPr lang="ja-JP" altLang="en-US" sz="1800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∈</m:t>
                    </m:r>
                    <m:r>
                      <a:rPr lang="ja-JP" altLang="en-US" sz="18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𝐶</m:t>
                    </m:r>
                    <m:d>
                      <m:dPr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[</m:t>
                        </m:r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, </m:t>
                        </m:r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𝑏</m:t>
                        </m:r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ar-AE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，</a:t>
                </a:r>
                <a:r>
                  <a:rPr lang="ja-JP" altLang="en-US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那：</a:t>
                </a:r>
                <a14:m>
                  <m:oMath xmlns:m="http://schemas.openxmlformats.org/officeDocument/2006/math">
                    <m:r>
                      <a:rPr lang="ja-JP" altLang="en-US" sz="1800" b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∣</m:t>
                    </m:r>
                    <m:r>
                      <a:rPr lang="ja-JP" altLang="en-US" sz="18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𝑓</m:t>
                    </m:r>
                    <m:d>
                      <m:dPr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ja-JP" altLang="ar-AE" sz="1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</m:d>
                    <m:r>
                      <a:rPr lang="ar-AE" altLang="ja-JP" sz="1800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ja-JP" altLang="ar-AE" sz="18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𝑔</m:t>
                    </m:r>
                    <m:d>
                      <m:dPr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ja-JP" altLang="ar-AE" sz="1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</m:d>
                    <m:r>
                      <a:rPr lang="ar-AE" altLang="ja-JP" sz="1800" b="0" i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∣</m:t>
                    </m:r>
                  </m:oMath>
                </a14:m>
                <a:endParaRPr lang="ar-AE" altLang="ja-JP" sz="180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20000"/>
                  </a:lnSpc>
                  <a:buNone/>
                </a:pPr>
                <a:r>
                  <a:rPr lang="ja-JP" altLang="en-US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也是连续函数，而连续函数在紧集</a:t>
                </a:r>
                <a14:m>
                  <m:oMath xmlns:m="http://schemas.openxmlformats.org/officeDocument/2006/math">
                    <m:r>
                      <a:rPr lang="en-US" altLang="ja-JP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上一定能取到最大值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9CD83A0-827F-E52E-C9FA-65620D5D7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373" y="5585191"/>
                <a:ext cx="8586627" cy="723147"/>
              </a:xfrm>
              <a:prstGeom prst="rect">
                <a:avLst/>
              </a:prstGeom>
              <a:blipFill>
                <a:blip r:embed="rId4"/>
                <a:stretch>
                  <a:fillRect l="-568" t="-2521" b="-109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466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0A10-3CC4-69FD-651E-82FA399F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29420F2-E9FF-F1C5-8485-AA93207B8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/>
              <a:t>函数到底属于哪个空间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7556548-68B1-E3FA-5A71-BD28EAB20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泛函分析中，需要区分（之后的讨论方向不同）：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有的函数连续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有的函数可导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有的函数不可导但可以积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有的函数还要满足边界条件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有的函数值是实数，有的函数值是向量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可导函数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模型本身含有导数：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l-GR" altLang="ja-JP" i="1" dirty="0">
                        <a:latin typeface="Cambria Math" panose="02040503050406030204" pitchFamily="18" charset="0"/>
                      </a:rPr>
                      <m:t>𝜅</m:t>
                    </m:r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ja-JP" altLang="en-US" dirty="0">
                    <a:latin typeface="+mn-ea"/>
                    <a:ea typeface="+mn-ea"/>
                  </a:rPr>
                  <a:t> </a:t>
                </a:r>
                <a:endParaRPr lang="en-US" altLang="ja-JP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热传导方程，</a:t>
                </a:r>
                <a:r>
                  <a:rPr lang="ja-JP" altLang="en-US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ja-JP" altLang="en-US" dirty="0"/>
                  <a:t>表示位置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、时间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/>
                  <a:t>的温度</a:t>
                </a:r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每个时刻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，系统状态是一整条函数曲线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ea"/>
                    <a:ea typeface="+mn-ea"/>
                  </a:rPr>
                  <a:t>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温度的变化速度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热量流入流出的净效果；而热流又由温度差驱动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局部高值会向周围扩散，整体分布逐渐平滑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类比机器学习：</a:t>
                </a:r>
                <a:r>
                  <a:rPr lang="zh-CN" altLang="en-US" dirty="0"/>
                  <a:t>机器学习里研究一个函数如何逐步变平滑、逐步传播信息；图像平滑；</a:t>
                </a:r>
                <a:r>
                  <a:rPr lang="en-US" altLang="zh-CN" dirty="0"/>
                  <a:t>diffusion models </a:t>
                </a:r>
                <a:r>
                  <a:rPr lang="zh-CN" altLang="en-US" dirty="0"/>
                  <a:t>的“扩散”直觉；图上的信息传播；正则化带来的平滑效应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7556548-68B1-E3FA-5A71-BD28EAB20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 b="-29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B8A166-4EBC-D9B4-211F-0DF05C943778}"/>
              </a:ext>
            </a:extLst>
          </p:cNvPr>
          <p:cNvSpPr txBox="1"/>
          <p:nvPr/>
        </p:nvSpPr>
        <p:spPr>
          <a:xfrm>
            <a:off x="3571240" y="3766820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7030A0"/>
                </a:solidFill>
                <a:latin typeface="+mn-ea"/>
                <a:ea typeface="+mn-ea"/>
              </a:rPr>
              <a:t>温度曲线的弯曲程度</a:t>
            </a:r>
            <a:endParaRPr lang="ja-JP" altLang="en-US" sz="18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思考の吹き出し: 雲形 9">
                <a:extLst>
                  <a:ext uri="{FF2B5EF4-FFF2-40B4-BE49-F238E27FC236}">
                    <a16:creationId xmlns:a16="http://schemas.microsoft.com/office/drawing/2014/main" id="{22500499-59CC-8AD1-6115-DDC7DF734CF4}"/>
                  </a:ext>
                </a:extLst>
              </p:cNvPr>
              <p:cNvSpPr/>
              <p:nvPr/>
            </p:nvSpPr>
            <p:spPr bwMode="auto">
              <a:xfrm>
                <a:off x="6517269" y="1959331"/>
                <a:ext cx="5674731" cy="2263698"/>
              </a:xfrm>
              <a:prstGeom prst="cloudCallout">
                <a:avLst>
                  <a:gd name="adj1" fmla="val -33115"/>
                  <a:gd name="adj2" fmla="val 83682"/>
                </a:avLst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r>
                  <a:rPr lang="ja-JP" altLang="ja-JP" dirty="0">
                    <a:latin typeface="+mj-ea"/>
                  </a:rPr>
                  <a:t>微分方程里，未知量常常不是一个数，而是函数 </a:t>
                </a: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ja-JP" dirty="0">
                    <a:latin typeface="+mj-ea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latin typeface="+mj-ea"/>
                </a:endParaRPr>
              </a:p>
              <a:p>
                <a:pPr lvl="0"/>
                <a:r>
                  <a:rPr lang="ja-JP" altLang="ja-JP" dirty="0">
                    <a:latin typeface="+mj-ea"/>
                  </a:rPr>
                  <a:t>因为方程中出现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ja-JP" altLang="ja-JP" dirty="0">
                    <a:latin typeface="+mj-ea"/>
                  </a:rPr>
                  <a:t>等导数，所以解至少要属于某种可导函数空间或 Sobolev 空间 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ja-JP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charset="0"/>
                  <a:ea typeface="ＭＳ Ｐゴシック" charset="0"/>
                </a:endParaRPr>
              </a:p>
            </p:txBody>
          </p:sp>
        </mc:Choice>
        <mc:Fallback xmlns="">
          <p:sp>
            <p:nvSpPr>
              <p:cNvPr id="10" name="思考の吹き出し: 雲形 9">
                <a:extLst>
                  <a:ext uri="{FF2B5EF4-FFF2-40B4-BE49-F238E27FC236}">
                    <a16:creationId xmlns:a16="http://schemas.microsoft.com/office/drawing/2014/main" id="{22500499-59CC-8AD1-6115-DDC7DF734C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7269" y="1959331"/>
                <a:ext cx="5674731" cy="2263698"/>
              </a:xfrm>
              <a:prstGeom prst="cloudCallout">
                <a:avLst>
                  <a:gd name="adj1" fmla="val -33115"/>
                  <a:gd name="adj2" fmla="val 83682"/>
                </a:avLst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18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C241-EF26-363B-C1B0-48DFCC33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6468C89-62BE-2E28-3DB9-345150B02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/>
              <a:t>函数到底属于哪个空间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2D127E8-3E5D-CC1E-1DAA-53A8B8F78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泛函分析中，需要区分（之后的讨论方向不同）：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有的函数连续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有的函数可导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有的函数不可导但可以积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有的函数还要满足边界条件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有的函数值是实数，有的函数值是向量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可积函数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需要计算总量，平均，或在误差分析中关心整体误差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一个需要平方可积的例子：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∫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​∣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)∣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可以被解释为：信号能量；波函数的平方模积分；状态的整体强度；模型输出的二次代价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2D127E8-3E5D-CC1E-1DAA-53A8B8F78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59BE103-7FF9-EC2F-2316-89B4C2E8DD81}"/>
                  </a:ext>
                </a:extLst>
              </p:cNvPr>
              <p:cNvSpPr txBox="1"/>
              <p:nvPr/>
            </p:nvSpPr>
            <p:spPr>
              <a:xfrm>
                <a:off x="304800" y="5213290"/>
                <a:ext cx="6106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18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rgbClr val="7030A0"/>
                    </a:solidFill>
                    <a:latin typeface="+mn-ea"/>
                    <a:ea typeface="+mn-ea"/>
                  </a:rPr>
                  <a:t>表示一个随时间变化的信号</a:t>
                </a:r>
                <a:endParaRPr lang="ja-JP" altLang="en-US" sz="180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259BE103-7FF9-EC2F-2316-89B4C2E8D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213290"/>
                <a:ext cx="6106160" cy="369332"/>
              </a:xfrm>
              <a:prstGeom prst="rect">
                <a:avLst/>
              </a:prstGeom>
              <a:blipFill>
                <a:blip r:embed="rId4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FB773AD-8579-4057-7A13-652A8C3AF1E5}"/>
                  </a:ext>
                </a:extLst>
              </p:cNvPr>
              <p:cNvSpPr txBox="1"/>
              <p:nvPr/>
            </p:nvSpPr>
            <p:spPr>
              <a:xfrm>
                <a:off x="2346960" y="5582622"/>
                <a:ext cx="3840480" cy="929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800" dirty="0">
                    <a:solidFill>
                      <a:schemeClr val="accent5">
                        <a:lumMod val="50000"/>
                      </a:schemeClr>
                    </a:solidFill>
                    <a:latin typeface="+mn-ea"/>
                    <a:ea typeface="+mn-ea"/>
                  </a:rPr>
                  <a:t>量子力学里，</a:t>
                </a:r>
                <a14:m>
                  <m:oMath xmlns:m="http://schemas.openxmlformats.org/officeDocument/2006/math">
                    <m:r>
                      <a:rPr lang="ja-JP" altLang="en-US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∣</m:t>
                    </m:r>
                    <m:r>
                      <a:rPr lang="ja-JP" altLang="en-US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𝜓</m:t>
                    </m:r>
                    <m:d>
                      <m:dPr>
                        <m:ctrlPr>
                          <a:rPr lang="ar-AE" altLang="ja-JP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ja-JP" altLang="ar-AE" sz="180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altLang="ja-JP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ar-AE" altLang="ja-JP" sz="180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</m:e>
                      <m:sup>
                        <m:r>
                          <a:rPr lang="ar-AE" altLang="ja-JP" sz="180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800" dirty="0">
                    <a:solidFill>
                      <a:schemeClr val="accent5">
                        <a:lumMod val="50000"/>
                      </a:schemeClr>
                    </a:solidFill>
                    <a:latin typeface="+mn-ea"/>
                    <a:ea typeface="+mn-ea"/>
                  </a:rPr>
                  <a:t>表示粒子出现在位置 </a:t>
                </a:r>
                <a14:m>
                  <m:oMath xmlns:m="http://schemas.openxmlformats.org/officeDocument/2006/math">
                    <m:r>
                      <a:rPr lang="ja-JP" altLang="en-US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</m:oMath>
                </a14:m>
                <a:r>
                  <a:rPr lang="ja-JP" altLang="en-US" sz="1800" dirty="0">
                    <a:solidFill>
                      <a:schemeClr val="accent5">
                        <a:lumMod val="50000"/>
                      </a:schemeClr>
                    </a:solidFill>
                    <a:latin typeface="+mn-ea"/>
                    <a:ea typeface="+mn-ea"/>
                  </a:rPr>
                  <a:t>附近的概率密度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  <a:latin typeface="+mn-ea"/>
                    <a:ea typeface="+mn-ea"/>
                  </a:rPr>
                  <a:t>；上述积分表示粒子出现在区域 </a:t>
                </a:r>
                <a14:m>
                  <m:oMath xmlns:m="http://schemas.openxmlformats.org/officeDocument/2006/math">
                    <m:r>
                      <a:rPr lang="zh-CN" altLang="en-US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𝐷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  <a:latin typeface="+mn-ea"/>
                    <a:ea typeface="+mn-ea"/>
                  </a:rPr>
                  <a:t>中的概率</a:t>
                </a:r>
                <a:endParaRPr lang="ja-JP" alt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FB773AD-8579-4057-7A13-652A8C3AF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960" y="5582622"/>
                <a:ext cx="3840480" cy="929550"/>
              </a:xfrm>
              <a:prstGeom prst="rect">
                <a:avLst/>
              </a:prstGeom>
              <a:blipFill>
                <a:blip r:embed="rId5"/>
                <a:stretch>
                  <a:fillRect l="-1270" t="-4605" b="-7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955377F-F4B6-4EB0-9C7F-88D80D89272B}"/>
                  </a:ext>
                </a:extLst>
              </p:cNvPr>
              <p:cNvSpPr txBox="1"/>
              <p:nvPr/>
            </p:nvSpPr>
            <p:spPr>
              <a:xfrm>
                <a:off x="6096000" y="5149914"/>
                <a:ext cx="610616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en-US" sz="1800" smtClean="0">
                        <a:solidFill>
                          <a:srgbClr val="1E35A8"/>
                        </a:solidFill>
                        <a:latin typeface="Cambria Math" panose="02040503050406030204" pitchFamily="18" charset="0"/>
                        <a:ea typeface="+mn-ea"/>
                      </a:rPr>
                      <m:t>𝑢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rgbClr val="1E35A8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1800">
                            <a:solidFill>
                              <a:srgbClr val="1E35A8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表示某种系统状态，比如：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某个区域上的浓度分布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某种激活程度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某个连续介质中的状态变量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某个机器学习表示中的响应强度</a:t>
                </a:r>
                <a:endParaRPr lang="en-US" altLang="zh-CN" sz="1800" dirty="0">
                  <a:solidFill>
                    <a:srgbClr val="1E35A8"/>
                  </a:solidFill>
                  <a:latin typeface="+mn-ea"/>
                  <a:ea typeface="+mn-ea"/>
                </a:endParaRPr>
              </a:p>
              <a:p>
                <a:r>
                  <a:rPr lang="zh-CN" altLang="en-US" sz="1800" dirty="0">
                    <a:solidFill>
                      <a:srgbClr val="1E35A8"/>
                    </a:solidFill>
                    <a:latin typeface="+mn-ea"/>
                    <a:ea typeface="+mn-ea"/>
                  </a:rPr>
                  <a:t>该式确保不会正负抵消</a:t>
                </a: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955377F-F4B6-4EB0-9C7F-88D80D89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49914"/>
                <a:ext cx="6106160" cy="1754326"/>
              </a:xfrm>
              <a:prstGeom prst="rect">
                <a:avLst/>
              </a:prstGeom>
              <a:blipFill>
                <a:blip r:embed="rId6"/>
                <a:stretch>
                  <a:fillRect l="-798" t="-2778" b="-45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E28AB4B-D353-83E7-E46B-016EB3B08698}"/>
                  </a:ext>
                </a:extLst>
              </p:cNvPr>
              <p:cNvSpPr txBox="1"/>
              <p:nvPr/>
            </p:nvSpPr>
            <p:spPr>
              <a:xfrm>
                <a:off x="5450840" y="2868141"/>
                <a:ext cx="6751320" cy="1121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如果模型输出太大、变化太剧烈，意味着</a:t>
                </a:r>
                <a:endParaRPr lang="en-US" altLang="ja-JP" sz="1600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不稳定</a:t>
                </a:r>
                <a:r>
                  <a:rPr lang="en-US" altLang="ja-JP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;</a:t>
                </a: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过拟合</a:t>
                </a:r>
                <a:r>
                  <a:rPr lang="en-US" altLang="ja-JP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;</a:t>
                </a: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控制代价高</a:t>
                </a:r>
                <a:r>
                  <a:rPr lang="en-US" altLang="ja-JP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;</a:t>
                </a: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不够平滑</a:t>
                </a:r>
              </a:p>
              <a:p>
                <a:pPr>
                  <a:buNone/>
                </a:pPr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在目标函数里加入类似项：</a:t>
                </a:r>
                <a:endParaRPr lang="en-US" altLang="ja-JP" sz="1600" i="1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ja-JP" altLang="en-US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𝐽</m:t>
                    </m:r>
                    <m:d>
                      <m:dPr>
                        <m:begChr m:val="["/>
                        <m:endChr m:val="]"/>
                        <m:ctrlPr>
                          <a:rPr lang="ar-AE" altLang="ja-JP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d>
                    <m:r>
                      <a:rPr lang="ar-AE" altLang="ja-JP" sz="1600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m:rPr>
                        <m:nor/>
                      </m:rPr>
                      <a:rPr lang="ja-JP" altLang="en-US" sz="1600" b="0" i="1">
                        <a:solidFill>
                          <a:srgbClr val="C00000"/>
                        </a:solidFill>
                        <a:latin typeface="+mj-ea"/>
                        <a:ea typeface="+mj-ea"/>
                      </a:rPr>
                      <m:t>拟合误差</m:t>
                    </m:r>
                    <m:r>
                      <a:rPr lang="en-US" altLang="ja-JP" sz="1600" b="0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ja-JP" altLang="en-US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𝜆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ja-JP" altLang="ar-AE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𝐷</m:t>
                        </m:r>
                      </m:sub>
                      <m:sup/>
                      <m:e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∣</m:t>
                        </m:r>
                      </m:e>
                    </m:nary>
                    <m:r>
                      <a:rPr lang="ja-JP" altLang="ar-AE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𝑢</m:t>
                    </m:r>
                    <m:d>
                      <m:dPr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∣</m:t>
                        </m:r>
                      </m:e>
                      <m:sup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  <m:r>
                      <a:rPr lang="ja-JP" altLang="ar-AE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𝑑𝑥</m:t>
                    </m:r>
                  </m:oMath>
                </a14:m>
                <a:r>
                  <a:rPr lang="ja-JP" altLang="en-US" sz="1600" dirty="0">
                    <a:solidFill>
                      <a:srgbClr val="C00000"/>
                    </a:solidFill>
                    <a:latin typeface="+mj-ea"/>
                    <a:ea typeface="+mj-ea"/>
                  </a:rPr>
                  <a:t> 或</a:t>
                </a:r>
                <a14:m>
                  <m:oMath xmlns:m="http://schemas.openxmlformats.org/officeDocument/2006/math">
                    <m:r>
                      <a:rPr lang="en-US" altLang="ja-JP" sz="16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ja-JP" altLang="en-US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𝐽</m:t>
                    </m:r>
                    <m:d>
                      <m:dPr>
                        <m:begChr m:val="["/>
                        <m:endChr m:val="]"/>
                        <m:ctrlPr>
                          <a:rPr lang="ar-AE" altLang="ja-JP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𝑢</m:t>
                        </m:r>
                      </m:e>
                    </m:d>
                    <m:r>
                      <a:rPr lang="ar-AE" altLang="ja-JP" sz="1600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m:rPr>
                        <m:nor/>
                      </m:rPr>
                      <a:rPr lang="ja-JP" altLang="en-US" sz="1600" b="0" i="1">
                        <a:solidFill>
                          <a:srgbClr val="C00000"/>
                        </a:solidFill>
                        <a:latin typeface="+mj-ea"/>
                        <a:ea typeface="+mj-ea"/>
                      </a:rPr>
                      <m:t>拟合误差</m:t>
                    </m:r>
                    <m:r>
                      <a:rPr lang="en-US" altLang="ja-JP" sz="1600" b="0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ja-JP" altLang="en-US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𝜆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ja-JP" altLang="ar-AE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𝐷</m:t>
                        </m:r>
                      </m:sub>
                      <m:sup/>
                      <m:e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∣</m:t>
                        </m:r>
                      </m:e>
                    </m:nary>
                    <m:r>
                      <m:rPr>
                        <m:sty m:val="p"/>
                      </m:rP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u</m:t>
                    </m:r>
                    <m:r>
                      <a:rPr lang="zh-CN" altLang="en-US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‘</m:t>
                    </m:r>
                    <m:d>
                      <m:dPr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altLang="ja-JP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∣</m:t>
                        </m:r>
                      </m:e>
                      <m:sup>
                        <m:r>
                          <a:rPr lang="ar-AE" altLang="ja-JP" sz="1600" b="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  <m:r>
                      <a:rPr lang="ja-JP" altLang="ar-AE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+mj-ea"/>
                      </a:rPr>
                      <m:t>𝑑𝑥</m:t>
                    </m:r>
                  </m:oMath>
                </a14:m>
                <a:endParaRPr lang="ar-AE" altLang="ja-JP" sz="1600" b="0" dirty="0">
                  <a:solidFill>
                    <a:srgbClr val="C0000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E28AB4B-D353-83E7-E46B-016EB3B08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840" y="2868141"/>
                <a:ext cx="6751320" cy="1121717"/>
              </a:xfrm>
              <a:prstGeom prst="rect">
                <a:avLst/>
              </a:prstGeom>
              <a:blipFill>
                <a:blip r:embed="rId7"/>
                <a:stretch>
                  <a:fillRect l="-451" t="-1622" b="-6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E7357D8-4DF4-C8E5-5DDD-A866D16EDEC0}"/>
              </a:ext>
            </a:extLst>
          </p:cNvPr>
          <p:cNvCxnSpPr/>
          <p:nvPr/>
        </p:nvCxnSpPr>
        <p:spPr bwMode="auto">
          <a:xfrm flipH="1" flipV="1">
            <a:off x="9469120" y="4023360"/>
            <a:ext cx="304800" cy="7924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6150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F31A-FE9E-EBB9-114A-1B12DFD0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F439D4D-C4D4-270D-85C0-050546D61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补充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2C4852B-EC81-BB48-7208-401ADFD70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例子：积分方程</a:t>
                </a:r>
                <a:r>
                  <a:rPr lang="en-US" altLang="zh-CN" dirty="0">
                    <a:latin typeface="+mn-ea"/>
                    <a:ea typeface="+mn-ea"/>
                  </a:rPr>
                  <a:t>---</a:t>
                </a:r>
                <a:r>
                  <a:rPr lang="zh-CN" altLang="en-US" dirty="0"/>
                  <a:t>未知函数出现在积分号里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未知量是函数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，不是一个数 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右边含有对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的积分，所以至少要能谈“可积” 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可把它看成算子方程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𝑇𝑓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2C4852B-EC81-BB48-7208-401ADFD70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35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3D19-AB6C-85BC-197D-1D932615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6A18D07-F192-4974-A6BA-685852071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/>
              <a:t>函数到底属于哪个空间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F6203AB-02C2-1FE5-A933-7659331C5B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泛函分析中，需要区分（之后的讨论方向不同）：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有的函数连续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有的函数可导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有的函数不可导但可以积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有的函数还要满足边界条件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有的函数值是实数，有的函数值是向量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满足边界条件的函数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有物理意义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在变分法和最优化中，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常用例如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​</m:t>
                    </m:r>
                    <m:nary>
                      <m:nary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.   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不是在所有函数里最小化，而是在满足端点条件的函数里最小化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如果不加端点条件，常数函数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就会让导数为 </a:t>
                </a:r>
                <a:r>
                  <a:rPr lang="en-US" altLang="zh-CN" dirty="0">
                    <a:latin typeface="+mj-ea"/>
                    <a:ea typeface="+mj-ea"/>
                  </a:rPr>
                  <a:t>0</a:t>
                </a:r>
                <a:r>
                  <a:rPr lang="zh-CN" altLang="en-US" dirty="0"/>
                  <a:t>，积分最小。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F6203AB-02C2-1FE5-A933-7659331C5B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22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37CF-42D2-BF67-C2A8-476A77F9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B098F36-8335-367D-DE15-091B0A78A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/>
              <a:t>函数到底属于哪个空间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C6B5978-B3C0-A342-0CC6-647106BA2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10920"/>
                <a:ext cx="1156208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泛函分析中，需要区分（之后的讨论方向不同）：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有的函数连续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有的函数可导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有的函数不可导但可以积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有的函数还要满足边界条件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+mn-ea"/>
                    <a:ea typeface="+mn-ea"/>
                  </a:rPr>
                  <a:t>有的函数值是实数，有的函数值是向量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5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函数值是向量的函数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每个位置上有多个量要同时描述（描述场的一点的方向和大小）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机器学习中多输出函数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分类任务：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dirty="0"/>
                  <a:t>类分类器常输出一个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dirty="0"/>
                  <a:t>维分数向量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b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zh-CN" altLang="en-US" dirty="0"/>
                  <a:t>，每个分量对应一个类别的 </a:t>
                </a:r>
                <a:r>
                  <a:rPr lang="en-US" altLang="zh-CN" dirty="0"/>
                  <a:t>score </a:t>
                </a:r>
                <a:r>
                  <a:rPr lang="zh-CN" altLang="en-US" dirty="0"/>
                  <a:t>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多任务学习：如果一个模型同时预测：年龄，收入，风险分数等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表示学习：神经网络某一层的 </a:t>
                </a:r>
                <a:r>
                  <a:rPr lang="en-US" altLang="zh-CN" dirty="0"/>
                  <a:t>embedding </a:t>
                </a:r>
                <a:r>
                  <a:rPr lang="zh-CN" altLang="en-US" dirty="0"/>
                  <a:t>常是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b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dirty="0"/>
                  <a:t>，是向量值函数。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+mj-ea"/>
                    <a:ea typeface="+mj-ea"/>
                  </a:rPr>
                  <a:t>PDE</a:t>
                </a:r>
                <a:r>
                  <a:rPr lang="zh-CN" altLang="en-US" dirty="0"/>
                  <a:t>本身是一个“方程组”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b="1" dirty="0"/>
                  <a:t>反应扩散系统</a:t>
                </a:r>
                <a:r>
                  <a:rPr lang="en-US" altLang="ja-JP" b="1" dirty="0"/>
                  <a:t>: </a:t>
                </a:r>
                <a:r>
                  <a:rPr lang="ja-JP" altLang="en-US" dirty="0"/>
                  <a:t>如果两个物种浓度同时演化</a:t>
                </a:r>
                <a14:m>
                  <m:oMath xmlns:m="http://schemas.openxmlformats.org/officeDocument/2006/math">
                    <m:r>
                      <a:rPr lang="en-US" altLang="ja-JP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可以合在一起写成：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C6B5978-B3C0-A342-0CC6-647106BA2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10920"/>
                <a:ext cx="11562080" cy="5440680"/>
              </a:xfrm>
              <a:blipFill>
                <a:blip r:embed="rId3"/>
                <a:stretch>
                  <a:fillRect l="-527" t="-448" b="-87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334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A406-F0CC-7E98-D8EE-9FB62CCD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4A9447-9E2C-B321-E1B1-870B5C205DC3}"/>
              </a:ext>
            </a:extLst>
          </p:cNvPr>
          <p:cNvSpPr txBox="1"/>
          <p:nvPr/>
        </p:nvSpPr>
        <p:spPr>
          <a:xfrm>
            <a:off x="3347720" y="4041745"/>
            <a:ext cx="61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+mj-ea"/>
                <a:ea typeface="+mj-ea"/>
              </a:rPr>
              <a:t>2.</a:t>
            </a:r>
            <a:r>
              <a:rPr lang="zh-CN" altLang="en-US" sz="3600" b="1" dirty="0">
                <a:latin typeface="+mj-ea"/>
                <a:ea typeface="+mj-ea"/>
              </a:rPr>
              <a:t>谈距离、收敛与稳定性</a:t>
            </a:r>
            <a:endParaRPr lang="ja-JP" altLang="en-US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068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A742A-F3B0-B5FC-F001-90792E35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E0C5DE-B7CA-CE05-FCF0-107E1E9E8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每点都接近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最大误差小（不管看哪个点，误差都不会超过某个上界）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最直观的想法，常用</a:t>
                </a:r>
                <a:r>
                  <a:rPr lang="en-US" altLang="zh-CN" dirty="0"/>
                  <a:t>sup</a:t>
                </a:r>
                <a:r>
                  <a:rPr lang="zh-CN" altLang="en-US" dirty="0"/>
                  <a:t>距离或是一致距离：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r>
                  <a:rPr lang="ja-JP" altLang="en-US" dirty="0"/>
                  <a:t>在区间 </a:t>
                </a:r>
                <a:r>
                  <a:rPr lang="en-US" altLang="ja-JP" dirty="0"/>
                  <a:t>[0, 1] </a:t>
                </a:r>
                <a:r>
                  <a:rPr lang="ja-JP" altLang="en-US" dirty="0"/>
                  <a:t>上</a:t>
                </a:r>
                <a:r>
                  <a:rPr lang="zh-CN" altLang="en-US" dirty="0"/>
                  <a:t>，考虑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对每个固定的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dirty="0"/>
                  <a:t>，有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并且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，但每个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都连续，而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不连续。因此每点接近不保证“整体都接近”，也不保证极限函数保持连续。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类比</a:t>
                </a:r>
                <a:r>
                  <a:rPr lang="ja-JP" altLang="en-US" dirty="0"/>
                  <a:t>过拟合</a:t>
                </a:r>
                <a:r>
                  <a:rPr lang="zh-CN" altLang="en-US" dirty="0"/>
                  <a:t>：有限训练样本点上预测都很接近真实值；但在样本之间的区域，函数可能差很多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一致距离关心：最坏位置的误差；整个函数图像是否整体贴近。机器学习中对应鲁棒性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最坏情形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  <a:p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23FAC7C-7CD3-DCD3-16E6-99C6C0886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582400" cy="5440680"/>
              </a:xfrm>
              <a:blipFill>
                <a:blip r:embed="rId3"/>
                <a:stretch>
                  <a:fillRect l="-526" t="-1009" b="-23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55DCAE06-31BB-D18A-E7CB-9F45EE39F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211" y="3983770"/>
            <a:ext cx="5174193" cy="98447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F3E5D18-8297-9026-3B7D-29C376755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199" y="2885707"/>
            <a:ext cx="4059783" cy="6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3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F46-1375-9D08-D112-44369C6C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DC0B792-A19D-0358-B10F-5CBE3DFA8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4799CF-97C9-61FD-BAFB-3D9056DBB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平均误差小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定义：</a:t>
                </a:r>
                <a:r>
                  <a:rPr lang="ja-JP" altLang="en-US" dirty="0"/>
                  <a:t>在定义域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ja-JP" altLang="en-US" dirty="0"/>
                  <a:t>上</a:t>
                </a:r>
                <a:r>
                  <a:rPr lang="zh-CN" altLang="en-US" dirty="0"/>
                  <a:t>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），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距离，表示平均绝对误差；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距离，表示均方误差的平方根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ja-JP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机器学习中，对应经验风险最小化里常见的损失，关心总体误差。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 L</a:t>
                </a:r>
                <a:r>
                  <a:rPr lang="en-US" altLang="zh-CN" baseline="30000" dirty="0"/>
                  <a:t>1</a:t>
                </a:r>
                <a:r>
                  <a:rPr lang="zh-CN" altLang="en-US" dirty="0"/>
                  <a:t>对应 </a:t>
                </a:r>
                <a:r>
                  <a:rPr lang="en-US" altLang="zh-CN" dirty="0"/>
                  <a:t>MAE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比如概率分布上的函数：如果输入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函数接近：在数据分布下，平均预测误差小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4799CF-97C9-61FD-BAFB-3D9056DBB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7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995CC29-C51B-6675-487D-96227551D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0" y="2967347"/>
            <a:ext cx="4327565" cy="8655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78DDB16-AF19-CA5B-C093-322B100B3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278" y="5745480"/>
            <a:ext cx="4271551" cy="55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0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3EBE-4635-C92B-E3CE-5A9E2F34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4585F6-FA7D-7AA3-18E9-916E534D6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AF1C1C-AC5F-83BB-1A65-CFFEB73F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每一点都接近？平均误差小？最大误差小？导数也要接近？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导数接近：</a:t>
                </a:r>
                <a:r>
                  <a:rPr lang="en-US" altLang="ja-JP" dirty="0"/>
                  <a:t> </a:t>
                </a: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距离、</a:t>
                </a:r>
                <a:r>
                  <a:rPr lang="en-US" altLang="ja-JP" dirty="0"/>
                  <a:t>Sobolev </a:t>
                </a:r>
                <a:r>
                  <a:rPr lang="ja-JP" altLang="en-US" dirty="0"/>
                  <a:t>距离</a:t>
                </a:r>
                <a:endParaRPr lang="zh-CN" altLang="en-US" b="1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C</a:t>
                </a:r>
                <a:r>
                  <a:rPr lang="en-US" altLang="zh-CN" baseline="30000" dirty="0"/>
                  <a:t>1</a:t>
                </a:r>
                <a:r>
                  <a:rPr lang="ja-JP" altLang="en-US" dirty="0"/>
                  <a:t>距离</a:t>
                </a:r>
                <a:r>
                  <a:rPr lang="zh-CN" altLang="en-US" dirty="0"/>
                  <a:t>：若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可微，可定义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ja-JP" sz="1000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要求：函数值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接近；导数也</a:t>
                </a:r>
                <a:r>
                  <a:rPr lang="zh-CN" altLang="en-US" dirty="0"/>
                  <a:t>处处</a:t>
                </a:r>
                <a:r>
                  <a:rPr lang="ja-JP" altLang="en-US" dirty="0"/>
                  <a:t>接近。</a:t>
                </a:r>
                <a:endParaRPr lang="en-US" altLang="ja-JP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机器学习中，有时两个模型在输出值上很接近；但一个模型对输入特别敏感，梯度很大；这会影响稳定性、可解释性、鲁棒性。比如在深度学习里，有时希望控制输入梯度：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不要太大。这是在控制“导数意义上的接近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平滑”。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Sobolev </a:t>
                </a:r>
                <a:r>
                  <a:rPr lang="zh-CN" altLang="en-US" dirty="0"/>
                  <a:t>距离：平均意义下连导数也一起控制，</a:t>
                </a:r>
                <a:r>
                  <a:rPr lang="ja-JP" altLang="en-US" dirty="0"/>
                  <a:t>一维</a:t>
                </a:r>
                <a:r>
                  <a:rPr lang="zh-CN" altLang="en-US" dirty="0"/>
                  <a:t>时范数：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由此定义距离：                                          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表示：函数值平均上接近；导数平均上也接近。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>
                    <a:latin typeface="+mj-ea"/>
                    <a:ea typeface="+mj-ea"/>
                  </a:rPr>
                  <a:t>和机器学习中的</a:t>
                </a:r>
                <a:r>
                  <a:rPr lang="en-US" altLang="zh-CN" dirty="0">
                    <a:latin typeface="+mj-ea"/>
                    <a:ea typeface="+mj-ea"/>
                  </a:rPr>
                  <a:t>Sobolev training</a:t>
                </a:r>
                <a:r>
                  <a:rPr lang="zh-CN" altLang="en-US" dirty="0"/>
                  <a:t>、梯度匹配、物理约束学习（</a:t>
                </a:r>
                <a:r>
                  <a:rPr lang="en-US" altLang="ja-JP" dirty="0">
                    <a:latin typeface="+mj-ea"/>
                    <a:ea typeface="+mj-ea"/>
                  </a:rPr>
                  <a:t>Physics-Informed N</a:t>
                </a:r>
                <a:r>
                  <a:rPr lang="en-US" altLang="zh-CN" dirty="0">
                    <a:latin typeface="+mj-ea"/>
                    <a:ea typeface="+mj-ea"/>
                  </a:rPr>
                  <a:t>Ns</a:t>
                </a:r>
                <a:r>
                  <a:rPr lang="zh-CN" altLang="en-US" dirty="0"/>
                  <a:t>）有关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AF1C1C-AC5F-83BB-1A65-CFFEB73F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082040"/>
                <a:ext cx="11521440" cy="5440680"/>
              </a:xfrm>
              <a:blipFill>
                <a:blip r:embed="rId3"/>
                <a:stretch>
                  <a:fillRect l="-529" t="-1009" r="-212" b="-73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DB1001A-6E20-8D53-7A24-C09D05579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329" y="2425464"/>
            <a:ext cx="6449082" cy="56665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DFBA27F-80BF-BBD6-3FC9-3AE8A5343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210" y="4846169"/>
            <a:ext cx="4469870" cy="685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4F93BE9-E7F3-4CB7-22A6-0874C98F7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761" y="5634503"/>
            <a:ext cx="3020568" cy="4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91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B2D8-9B21-1336-9D3B-61E32233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38CA915-A7E3-E43F-7794-EC6C342AE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A78561B-D2BF-1B3F-5748-A6414FD5FF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距离与范数：两个函数怎样算“接近”？</a:t>
                </a:r>
              </a:p>
              <a:p>
                <a:pPr marL="0" indent="0"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范畴上看：                    </a:t>
                </a:r>
                <a:r>
                  <a:rPr lang="zh-CN" altLang="en-US" b="1" dirty="0"/>
                  <a:t>最基本的层次：对象 </a:t>
                </a:r>
                <a:r>
                  <a:rPr lang="en-US" altLang="zh-CN" b="1" dirty="0"/>
                  <a:t>+ </a:t>
                </a:r>
                <a:r>
                  <a:rPr lang="zh-CN" altLang="en-US" b="1" dirty="0"/>
                  <a:t>结构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可以把不同的函数空间看成不同的“对象”：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：连续函数空间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：平方可积函数空间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：一阶连续可导函数空间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：</a:t>
                </a:r>
                <a:r>
                  <a:rPr lang="en-US" altLang="zh-CN" dirty="0"/>
                  <a:t>Sobolev </a:t>
                </a:r>
                <a:r>
                  <a:rPr lang="zh-CN" altLang="en-US" dirty="0"/>
                  <a:t>空间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它们不只是“集合”，还带着额外结构：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范数，距离，线性结构，拓扑，内积等等， 所以可视为不同范畴中的对象，例如：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Met</a:t>
                </a:r>
                <a:r>
                  <a:rPr lang="zh-CN" altLang="en-US" dirty="0"/>
                  <a:t>：度量空间与 </a:t>
                </a:r>
                <a:r>
                  <a:rPr lang="en-US" altLang="zh-CN" dirty="0"/>
                  <a:t>1-Lipschitz </a:t>
                </a:r>
                <a:r>
                  <a:rPr lang="zh-CN" altLang="en-US" dirty="0"/>
                  <a:t>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 err="1">
                    <a:solidFill>
                      <a:srgbClr val="C00000"/>
                    </a:solidFill>
                  </a:rPr>
                  <a:t>NormedVect</a:t>
                </a:r>
                <a:r>
                  <a:rPr lang="zh-CN" altLang="en-US" dirty="0"/>
                  <a:t>：赋范线性空间与连续线性映射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Hilb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空间与有界线性算子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Ban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空间与有界线性算子                           （在后续课程中会出现）</a:t>
                </a:r>
              </a:p>
              <a:p>
                <a:pPr marL="0" indent="0"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A78561B-D2BF-1B3F-5748-A6414FD5F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 b="-61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69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3C554-55B8-8407-AFF1-26D4B426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2ECC36-EACD-7BC2-F68E-8C4D22D61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565B8B-3D56-C243-699F-595B814A57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对数列来说，“收敛”通常只有一种直观理解；但对函数列来说，“收敛”有很多种，因为函数可以从不同角度比较。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是每个点都趋近吗？是整个图像整体贴近吗？是平均误差变小吗？</a:t>
                </a:r>
              </a:p>
              <a:p>
                <a:pPr marL="0" indent="0">
                  <a:spcBef>
                    <a:spcPct val="0"/>
                  </a:spcBef>
                  <a:buClrTx/>
                  <a:buNone/>
                </a:pP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逐点收敛（在“每一个单独点上”检查收敛）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ja-JP" altLang="en-US" dirty="0"/>
                  <a:t>是一列函数，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 b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l-GR" altLang="ja-JP" dirty="0"/>
                  <a:t> </a:t>
                </a:r>
                <a:r>
                  <a:rPr lang="ja-JP" altLang="en-US" dirty="0"/>
                  <a:t>是一个函数。若对每个固定的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l-GR" altLang="ja-JP" b="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ja-JP" altLang="el-GR" dirty="0"/>
                  <a:t>，</a:t>
                </a:r>
                <a:r>
                  <a:rPr lang="ja-JP" altLang="en-US" dirty="0"/>
                  <a:t>都有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ar-AE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ar-AE" altLang="ja-JP" b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ar-AE" altLang="ja-JP" b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    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逐点收敛到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每个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都是连续函数，但极限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却不是连续函数。说明逐点收敛不能保证连续性被保留下来。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机器学习的过拟合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6565B8B-3D56-C243-699F-595B814A5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r="-375" b="-38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E9AE4A5B-3439-19D7-2F38-5DC49A7CD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493" y="5098767"/>
            <a:ext cx="1533333" cy="56190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C787180-21DD-3BCE-B3AF-0382A4A94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657" y="4942896"/>
            <a:ext cx="3114286" cy="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36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47E3-02BC-76FE-BD66-582FEF74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8DBC4A-178B-BB62-E8FC-1F0705B85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9423C7-1D19-1202-10CD-0524822DF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一致收敛（整个函数图像整体接近）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dirty="0"/>
                  <a:t>存在同一个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，使得当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时，所有点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的误差都同时很小。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机器学习直觉：不只是平均预测好，而是对整个输入空间都控制住误差。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如果模型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一致收敛到真函数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，则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 marL="457200" lvl="1" indent="0">
                  <a:buNone/>
                </a:pPr>
                <a:r>
                  <a:rPr lang="zh-CN" altLang="en-US" dirty="0"/>
                  <a:t>    所有输入点都越来越准。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情形</a:t>
                </a:r>
                <a:r>
                  <a:rPr lang="en-US" altLang="zh-CN" dirty="0">
                    <a:latin typeface="+mn-ea"/>
                    <a:ea typeface="+mn-ea"/>
                  </a:rPr>
                  <a:t>2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ja-JP" altLang="en-US" dirty="0"/>
                  <a:t>统计学习理论中的 </a:t>
                </a:r>
                <a:r>
                  <a:rPr lang="en-US" altLang="ja-JP" dirty="0">
                    <a:solidFill>
                      <a:srgbClr val="C00000"/>
                    </a:solidFill>
                    <a:latin typeface="+mj-ea"/>
                    <a:ea typeface="+mj-ea"/>
                  </a:rPr>
                  <a:t>uniform convergence</a:t>
                </a:r>
                <a:r>
                  <a:rPr lang="zh-CN" altLang="en-US" dirty="0"/>
                  <a:t>（不是对某个单独函数控制，而是对整个范围同时控制。 ）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9423C7-1D19-1202-10CD-0524822DF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A6B323FB-311C-102E-FE36-2E0CEBDBA2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80"/>
          <a:stretch>
            <a:fillRect/>
          </a:stretch>
        </p:blipFill>
        <p:spPr>
          <a:xfrm>
            <a:off x="1862188" y="2933405"/>
            <a:ext cx="3092983" cy="67713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AFE5395-28DC-6743-215E-E68D3D727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222" y="4331208"/>
            <a:ext cx="3031131" cy="60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80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18F1-F0D1-0B1E-5433-B3E14E8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424B488-30FF-A051-6779-66F1934EF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4397B46-6D44-55A0-4CAE-D89EA1620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3397144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1" dirty="0"/>
                  <a:t>收敛（平方误差的整体平均越来越小）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dirty="0"/>
                  <a:t>要求“总体能量意义下”误差消失。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定义：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机器学习：最常见的回归损失 </a:t>
                </a:r>
                <a:r>
                  <a:rPr lang="en-US" altLang="zh-CN" dirty="0"/>
                  <a:t>MSE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  <a:p>
                <a:pPr>
                  <a:buNone/>
                </a:pPr>
                <a:r>
                  <a:rPr lang="zh-CN" altLang="en-US" dirty="0"/>
                  <a:t>比逐点收敛更贴近实际数据分析，因为实际中我们常关心的是：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在数据分布下平均表现好不好；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总体误差能量是否足够小。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ja-JP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4397B46-6D44-55A0-4CAE-D89EA1620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3397144"/>
              </a:xfrm>
              <a:blipFill>
                <a:blip r:embed="rId3"/>
                <a:stretch>
                  <a:fillRect l="-536" t="-1436" b="-626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D06551F7-66AD-A50C-0E8A-DE9745BB6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2939566"/>
            <a:ext cx="5037953" cy="753004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7B2D1E9-9625-76D0-F46D-7A882377CF19}"/>
              </a:ext>
            </a:extLst>
          </p:cNvPr>
          <p:cNvGrpSpPr/>
          <p:nvPr/>
        </p:nvGrpSpPr>
        <p:grpSpPr>
          <a:xfrm>
            <a:off x="1035170" y="4440656"/>
            <a:ext cx="8936291" cy="888315"/>
            <a:chOff x="1035170" y="4509664"/>
            <a:chExt cx="8936291" cy="88831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E724F58-0C36-6C4B-593B-B123ADCE2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49570" y="4509664"/>
              <a:ext cx="2343005" cy="888315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9FE5FB8-FAC5-BF6A-A962-8368EE07B69D}"/>
                </a:ext>
              </a:extLst>
            </p:cNvPr>
            <p:cNvSpPr txBox="1"/>
            <p:nvPr/>
          </p:nvSpPr>
          <p:spPr>
            <a:xfrm>
              <a:off x="1035170" y="4753766"/>
              <a:ext cx="7677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+mj-ea"/>
                  <a:ea typeface="+mj-ea"/>
                </a:rPr>
                <a:t>离散</a:t>
              </a:r>
              <a:endParaRPr lang="ja-JP" altLang="en-US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5E70746-B461-74C5-D566-9A597E13BFA7}"/>
                </a:ext>
              </a:extLst>
            </p:cNvPr>
            <p:cNvSpPr txBox="1"/>
            <p:nvPr/>
          </p:nvSpPr>
          <p:spPr>
            <a:xfrm>
              <a:off x="6397925" y="4753766"/>
              <a:ext cx="7677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+mj-ea"/>
                  <a:ea typeface="+mj-ea"/>
                </a:rPr>
                <a:t>连续</a:t>
              </a:r>
              <a:endParaRPr lang="ja-JP" altLang="en-US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70C03F83-62ED-DDB6-DBE3-CDFD4E106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59101" y="4710636"/>
              <a:ext cx="2512360" cy="624902"/>
            </a:xfrm>
            <a:prstGeom prst="rect">
              <a:avLst/>
            </a:prstGeom>
          </p:spPr>
        </p:pic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EB2EC8E-8F68-A149-63FA-9A7BAB332CEC}"/>
              </a:ext>
            </a:extLst>
          </p:cNvPr>
          <p:cNvGrpSpPr/>
          <p:nvPr/>
        </p:nvGrpSpPr>
        <p:grpSpPr>
          <a:xfrm>
            <a:off x="8968724" y="5398494"/>
            <a:ext cx="2988483" cy="1374953"/>
            <a:chOff x="7459101" y="5441152"/>
            <a:chExt cx="2988483" cy="1374953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E6210A43-6213-33B5-78CB-04E65807CC9A}"/>
                </a:ext>
              </a:extLst>
            </p:cNvPr>
            <p:cNvSpPr txBox="1"/>
            <p:nvPr/>
          </p:nvSpPr>
          <p:spPr>
            <a:xfrm>
              <a:off x="7459101" y="6015885"/>
              <a:ext cx="13169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一致收敛</a:t>
              </a:r>
              <a:endParaRPr lang="ja-JP" altLang="en-US" dirty="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57584B0-6E03-7069-B9B2-FA818FD82680}"/>
                </a:ext>
              </a:extLst>
            </p:cNvPr>
            <p:cNvSpPr txBox="1"/>
            <p:nvPr/>
          </p:nvSpPr>
          <p:spPr>
            <a:xfrm>
              <a:off x="9100868" y="5441152"/>
              <a:ext cx="12388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逐点收敛</a:t>
              </a:r>
              <a:endParaRPr lang="ja-JP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D20D490-2502-F6AD-4BAE-6F6FC95A434E}"/>
                    </a:ext>
                  </a:extLst>
                </p:cNvPr>
                <p:cNvSpPr txBox="1"/>
                <p:nvPr/>
              </p:nvSpPr>
              <p:spPr>
                <a:xfrm>
                  <a:off x="9208760" y="6415995"/>
                  <a:ext cx="123882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zh-CN" altLang="en-US" dirty="0"/>
                    <a:t>收敛</a:t>
                  </a:r>
                  <a:endParaRPr lang="ja-JP" altLang="en-US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0D20D490-2502-F6AD-4BAE-6F6FC95A4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8760" y="6415995"/>
                  <a:ext cx="1238824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12121" b="-2575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矢印: 右 21">
              <a:extLst>
                <a:ext uri="{FF2B5EF4-FFF2-40B4-BE49-F238E27FC236}">
                  <a16:creationId xmlns:a16="http://schemas.microsoft.com/office/drawing/2014/main" id="{9DA6125D-A40B-E3C0-8778-F8D77905BBC5}"/>
                </a:ext>
              </a:extLst>
            </p:cNvPr>
            <p:cNvSpPr/>
            <p:nvPr/>
          </p:nvSpPr>
          <p:spPr bwMode="auto">
            <a:xfrm rot="19847395">
              <a:off x="8607389" y="5806471"/>
              <a:ext cx="566742" cy="289593"/>
            </a:xfrm>
            <a:prstGeom prst="rightArrow">
              <a:avLst>
                <a:gd name="adj1" fmla="val 34401"/>
                <a:gd name="adj2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3" name="矢印: 右 22">
              <a:extLst>
                <a:ext uri="{FF2B5EF4-FFF2-40B4-BE49-F238E27FC236}">
                  <a16:creationId xmlns:a16="http://schemas.microsoft.com/office/drawing/2014/main" id="{4949F265-2504-6ABC-3C86-E00F10A5B06E}"/>
                </a:ext>
              </a:extLst>
            </p:cNvPr>
            <p:cNvSpPr/>
            <p:nvPr/>
          </p:nvSpPr>
          <p:spPr bwMode="auto">
            <a:xfrm rot="1752605" flipV="1">
              <a:off x="8607390" y="6299252"/>
              <a:ext cx="566742" cy="289593"/>
            </a:xfrm>
            <a:prstGeom prst="rightArrow">
              <a:avLst>
                <a:gd name="adj1" fmla="val 34401"/>
                <a:gd name="adj2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4777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D4FC-71E2-2DE1-7148-5F3BEB13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AF39AAD-D83A-C136-1F26-2043B3619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464A177-DCEB-EC1F-856F-0CBB334749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收敛性：一列函数怎样算“收敛”？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逐点收敛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r>
                  <a:rPr lang="ja-JP" altLang="ja-JP" dirty="0">
                    <a:latin typeface="Arial" panose="020B0604020202020204" pitchFamily="34" charset="0"/>
                  </a:rPr>
                  <a:t>一致收敛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收敛</a:t>
                </a:r>
                <a:r>
                  <a:rPr lang="zh-CN" altLang="en-US" dirty="0">
                    <a:latin typeface="Arial" panose="020B0604020202020204" pitchFamily="34" charset="0"/>
                  </a:rPr>
                  <a:t>？</a:t>
                </a:r>
                <a:endParaRPr lang="ja-JP" altLang="ja-JP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范畴上理解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: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不同收敛来自不同结构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en-US" dirty="0"/>
                  <a:t>上配 </a:t>
                </a:r>
                <a:r>
                  <a:rPr lang="en-US" altLang="ja-JP" dirty="0"/>
                  <a:t>sup </a:t>
                </a:r>
                <a:r>
                  <a:rPr lang="ja-JP" altLang="en-US" dirty="0"/>
                  <a:t>范数</a:t>
                </a:r>
                <a:r>
                  <a:rPr lang="zh-CN" altLang="en-US" dirty="0"/>
                  <a:t>得到一致收敛                                      该范数诱导</a:t>
                </a:r>
                <a:r>
                  <a:rPr lang="ja-JP" altLang="en-US" dirty="0"/>
                  <a:t>度量拓扑</a:t>
                </a:r>
                <a:endParaRPr lang="en-US" altLang="zh-CN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ja-JP" altLang="en-US" dirty="0"/>
                  <a:t>上配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范数</a:t>
                </a:r>
                <a:r>
                  <a:rPr lang="zh-CN" altLang="en-US" dirty="0"/>
                  <a:t>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收敛。                                        </a:t>
                </a:r>
                <a:r>
                  <a:rPr lang="zh-CN" altLang="en-US" dirty="0"/>
                  <a:t>由内积诱导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逐点收敛可看作乘积拓扑下的收敛函数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可以看成坐标族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br>
                  <a:rPr lang="zh-CN" altLang="en-US" dirty="0"/>
                </a:br>
                <a:r>
                  <a:rPr lang="zh-CN" altLang="en-US" dirty="0"/>
                  <a:t>逐点收敛就是这个乘积空间中的坐标逐点收敛。</a:t>
                </a: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事实上，</a:t>
                </a:r>
                <a:r>
                  <a:rPr lang="ja-JP" altLang="en-US" dirty="0"/>
                  <a:t> </a:t>
                </a:r>
                <a:r>
                  <a:rPr lang="zh-CN" altLang="en-US" dirty="0"/>
                  <a:t>收敛”可理解为范畴对象中由范数或拓扑所定义的收敛</a:t>
                </a:r>
                <a:endParaRPr lang="en-US" altLang="zh-CN" dirty="0"/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Ban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空间范畴）中的对象</a:t>
                </a:r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dirty="0"/>
                  <a:t>是 </a:t>
                </a:r>
                <a:r>
                  <a:rPr lang="en-US" altLang="zh-CN" dirty="0"/>
                  <a:t>Hilb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空间范畴）中的对象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464A177-DCEB-EC1F-856F-0CBB334749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b="-15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BDD7CF5-C616-A8B9-0D1E-A0CB8F947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696" y="2813827"/>
            <a:ext cx="2443980" cy="45824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735E6B7-B9EB-489E-103C-8E6BE37F3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14" y="3393994"/>
            <a:ext cx="2634031" cy="69442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3955095-2B81-5882-4FBB-AFD97DD0CF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560" y="4250800"/>
            <a:ext cx="1643463" cy="80168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1F54264-ED6E-73BE-F348-9CD3637C92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492" y="3405011"/>
            <a:ext cx="2864298" cy="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8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71F8-3520-9DB3-2F25-F4DB6E5D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D16FD09-24E8-9E1F-C208-91161C7E7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FBE4378-C2AF-09DD-A58B-62E2D8D9C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稳定性：极限与最优解会不会跑掉？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解是否存在？逼近是否稳定？迭代会不会发散？</a:t>
                </a:r>
              </a:p>
              <a:p>
                <a:pPr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endParaRPr lang="ja-JP" altLang="ja-JP" dirty="0">
                  <a:latin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解是否存在（对应泛函分析中的存在性问题）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泛函分析中，很多问题可以抽象成              ， </a:t>
                </a:r>
                <a:r>
                  <a:rPr lang="ja-JP" altLang="ja-JP" i="1" dirty="0">
                    <a:latin typeface="Arial" panose="020B0604020202020204" pitchFamily="34" charset="0"/>
                  </a:rPr>
                  <a:t>X</a:t>
                </a:r>
                <a:r>
                  <a:rPr lang="ja-JP" altLang="ja-JP" dirty="0">
                    <a:latin typeface="Arial" panose="020B0604020202020204" pitchFamily="34" charset="0"/>
                  </a:rPr>
                  <a:t>是函数空间</a:t>
                </a:r>
                <a:r>
                  <a:rPr lang="zh-CN" altLang="en-US" dirty="0">
                    <a:latin typeface="Arial" panose="020B0604020202020204" pitchFamily="34" charset="0"/>
                  </a:rPr>
                  <a:t>， </a:t>
                </a:r>
                <a:r>
                  <a:rPr lang="en-US" altLang="zh-CN" i="1" dirty="0">
                    <a:latin typeface="Arial" panose="020B0604020202020204" pitchFamily="34" charset="0"/>
                  </a:rPr>
                  <a:t>J</a:t>
                </a:r>
                <a:r>
                  <a:rPr lang="ja-JP" altLang="ja-JP" dirty="0">
                    <a:latin typeface="Arial" panose="020B0604020202020204" pitchFamily="34" charset="0"/>
                  </a:rPr>
                  <a:t>是目标泛函</a:t>
                </a:r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关心</a:t>
                </a:r>
                <a:r>
                  <a:rPr lang="ja-JP" altLang="en-US" dirty="0"/>
                  <a:t>是否存在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使得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反例：空间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/>
                      <m:t>上的某类函数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b="0" dirty="0"/>
                  <a:t>”, </a:t>
                </a:r>
                <a:r>
                  <a:rPr lang="zh-CN" altLang="en-US" b="0" dirty="0"/>
                  <a:t>考虑                     ，</a:t>
                </a:r>
                <a:r>
                  <a:rPr lang="ja-JP" altLang="en-US" dirty="0"/>
                  <a:t>下确界是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，但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不属于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所以</a:t>
                </a:r>
                <a:r>
                  <a:rPr lang="ja-JP" altLang="en-US" b="1" dirty="0"/>
                  <a:t>最优解不存在</a:t>
                </a:r>
                <a:r>
                  <a:rPr lang="ja-JP" altLang="en-US" dirty="0"/>
                  <a:t>。</a:t>
                </a:r>
                <a:endParaRPr lang="zh-CN" altLang="en-US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要保证解存在，通常需要某些条件，例如：可行集是闭的；目标泛函是下半连续的（没有向下突降）；有某种紧性或“有界子列可抽出收敛子列”。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机器学习中：经验风险最小化有时有解，有时没有（利用正则化解决）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FBE4378-C2AF-09DD-A58B-62E2D8D9C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r="-536" b="-6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5E7F0ADE-B311-1F71-AF95-93C31D558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229" y="2734937"/>
            <a:ext cx="1266666" cy="60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E9A2B2A-7D67-4E88-E1BD-7A3243A1B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086" y="3429000"/>
            <a:ext cx="2514286" cy="62857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B7643E0-3485-FF72-8A92-EB1B183D0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858" y="4198190"/>
            <a:ext cx="1171429" cy="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88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8BDB-47A1-AFB7-EFC2-1048D7A8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17D55CA-C1C0-7F9B-831C-F3B79EF38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1F0BECA-32FA-CB0C-5CBD-3D87415A3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机器学习中：经验风险最小化有时有解，有时没有（利用正则化解决）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  <a:latin typeface="+mn-ea"/>
                    <a:ea typeface="+mn-ea"/>
                  </a:rPr>
                  <a:t>例</a:t>
                </a:r>
                <a:r>
                  <a:rPr lang="en-US" altLang="zh-CN" dirty="0">
                    <a:solidFill>
                      <a:srgbClr val="7030A0"/>
                    </a:solidFill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solidFill>
                      <a:srgbClr val="7030A0"/>
                    </a:solidFill>
                    <a:latin typeface="+mn-ea"/>
                    <a:ea typeface="+mn-ea"/>
                  </a:rPr>
                  <a:t>：</a:t>
                </a:r>
                <a:r>
                  <a:rPr lang="zh-CN" altLang="en-US" b="1" dirty="0"/>
                  <a:t>线性回归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</m:func>
                      </m:e>
                      <m:li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lim>
                    </m:limLow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𝑋𝑤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在有限维空间里，如果目标函数连续，且 </a:t>
                </a:r>
                <a:r>
                  <a:rPr lang="en-US" altLang="zh-CN" dirty="0"/>
                  <a:t>coercive</a:t>
                </a:r>
                <a:r>
                  <a:rPr lang="zh-CN" altLang="en-US" dirty="0"/>
                  <a:t>（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∥→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时目标函数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），则最小值通常存在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2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：</a:t>
                </a:r>
                <a:r>
                  <a:rPr lang="zh-CN" altLang="en-US" dirty="0"/>
                  <a:t>对于线性可分数据，逻辑回归损失可以不断下降，但参数范数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∥→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，却</a:t>
                </a:r>
                <a:r>
                  <a:rPr lang="zh-CN" altLang="en-US" b="1" dirty="0"/>
                  <a:t>没有有限的最优解</a:t>
                </a:r>
                <a:r>
                  <a:rPr lang="zh-CN" altLang="en-US" dirty="0"/>
                  <a:t>。</a:t>
                </a:r>
                <a:r>
                  <a:rPr lang="pt-BR" altLang="zh-CN" dirty="0"/>
                  <a:t>infimum </a:t>
                </a:r>
                <a:r>
                  <a:rPr lang="zh-CN" altLang="pt-BR" dirty="0"/>
                  <a:t>存在但 </a:t>
                </a:r>
                <a:r>
                  <a:rPr lang="pt-BR" altLang="zh-CN" dirty="0"/>
                  <a:t>minimizer </a:t>
                </a:r>
                <a:r>
                  <a:rPr lang="zh-CN" altLang="pt-BR" dirty="0"/>
                  <a:t>不存在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3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：</a:t>
                </a:r>
                <a:r>
                  <a:rPr lang="zh-CN" altLang="en-US" dirty="0"/>
                  <a:t>对例</a:t>
                </a:r>
                <a:r>
                  <a:rPr lang="en-US" altLang="zh-CN" dirty="0"/>
                  <a:t>2</a:t>
                </a:r>
                <a:r>
                  <a:rPr lang="ja-JP" altLang="en-US" dirty="0"/>
                  <a:t>加上正则化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加入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后，目标在远处会变大，参数不容易逃走，于是更容易保证解存在。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说明正则化不仅帮助泛化，也帮助</a:t>
                </a:r>
                <a:r>
                  <a:rPr lang="zh-CN" altLang="en-US" b="1" dirty="0"/>
                  <a:t>存在性与稳定性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pt-BR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1F0BECA-32FA-CB0C-5CBD-3D87415A3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522" t="-1009" r="-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0EFBA51-2642-1056-1F76-C0D18B554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576" y="4112046"/>
            <a:ext cx="2585714" cy="51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45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B67F-3F6F-293D-B500-B40433FA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BD36961-3266-C06F-0E57-745B854E4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53635DF-3901-37B4-EA84-1BAD3DD14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稳定性：极限与最优解会不会跑掉？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解是否存在？逼近是否稳定？迭代会不会发散？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逼近是否稳定（连续依赖，稳定性）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理解：</a:t>
                </a:r>
                <a:r>
                  <a:rPr lang="zh-CN" altLang="en-US" b="1" dirty="0"/>
                  <a:t> </a:t>
                </a:r>
                <a:r>
                  <a:rPr lang="zh-CN" altLang="en-US" dirty="0"/>
                  <a:t>输入稍微变一点，解会不会剧烈变化</a:t>
                </a:r>
                <a:endParaRPr lang="en-US" altLang="zh-CN" dirty="0"/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，若右端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稍微扰动成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，解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会不会只小幅变化</a:t>
                </a:r>
                <a:endParaRPr lang="en-US" altLang="zh-CN" dirty="0"/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例</a:t>
                </a:r>
                <a:r>
                  <a:rPr lang="en-US" altLang="zh-CN" dirty="0">
                    <a:latin typeface="+mn-ea"/>
                    <a:ea typeface="+mn-ea"/>
                  </a:rPr>
                  <a:t>1</a:t>
                </a:r>
                <a:r>
                  <a:rPr lang="zh-CN" altLang="en-US" dirty="0">
                    <a:latin typeface="+mn-ea"/>
                    <a:ea typeface="+mn-ea"/>
                  </a:rPr>
                  <a:t>：</a:t>
                </a:r>
                <a:r>
                  <a:rPr lang="zh-CN" altLang="en-US" dirty="0"/>
                  <a:t>线性方程的稳定性：逆算子是否连续</a:t>
                </a: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对于线性方程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，若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存在且连续，则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̃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zh-CN" altLang="en-US" dirty="0"/>
                  <a:t>，这表示小扰动只引起小变化。如果逆算子不连续，那么问题就是</a:t>
                </a:r>
                <a:r>
                  <a:rPr lang="zh-CN" altLang="en-US" b="1" dirty="0"/>
                  <a:t>病态</a:t>
                </a:r>
                <a:r>
                  <a:rPr lang="zh-CN" altLang="en-US" dirty="0"/>
                  <a:t>的。</a:t>
                </a:r>
                <a:endParaRPr lang="en-US" altLang="zh-CN" dirty="0"/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反例：微分与积分的逆问题，定义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则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是积分算子。“求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”相当于对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𝑇𝑓</m:t>
                    </m:r>
                  </m:oMath>
                </a14:m>
                <a:r>
                  <a:rPr lang="zh-CN" altLang="en-US" dirty="0"/>
                  <a:t>求导：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，但求导对噪声非常敏感。如果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中含有高频小噪声，导数会把它放大很多。所以积分是平滑操作，反过来的微分恢复往往不稳定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机器学习问题：去模糊；去噪；</a:t>
                </a:r>
                <a:r>
                  <a:rPr lang="en-US" altLang="zh-CN" dirty="0"/>
                  <a:t>CT / MRI </a:t>
                </a:r>
                <a:r>
                  <a:rPr lang="zh-CN" altLang="en-US" dirty="0"/>
                  <a:t>重建；超分辨率；从观测反推出潜变量或真实信号</a:t>
                </a:r>
              </a:p>
              <a:p>
                <a:pPr lvl="1"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问题本质：从一个被平滑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压缩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投影过的观测中恢复原对象。往往病态，因此必须加正则化。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53635DF-3901-37B4-EA84-1BAD3DD14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r="-428" b="-76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B22AF105-899A-11B9-C0E6-3C16EBF07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180" y="4513328"/>
            <a:ext cx="2887566" cy="78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81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8D60-0395-1794-4E45-B0200CDD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2A8C595-87AA-9826-7A15-64BB47A4B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D320F28-1466-7A43-0D4B-BC508FD6D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机器学习问题：去模糊；去噪；</a:t>
                </a:r>
                <a:r>
                  <a:rPr lang="en-US" altLang="zh-CN" dirty="0"/>
                  <a:t>CT / MRI </a:t>
                </a:r>
                <a:r>
                  <a:rPr lang="zh-CN" altLang="en-US" dirty="0"/>
                  <a:t>重建；超分辨率；从观测反推出潜变量或真实信号</a:t>
                </a:r>
              </a:p>
              <a:p>
                <a:pPr marL="457200" lvl="1" indent="0">
                  <a:buNone/>
                </a:pPr>
                <a:r>
                  <a:rPr lang="zh-CN" altLang="en-US" dirty="0"/>
                  <a:t>问题本质：从一个被平滑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压缩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投影过的观测中恢复原对象。往往病态，因此必须加正则化。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  <a:latin typeface="+mn-ea"/>
                    <a:ea typeface="+mn-ea"/>
                  </a:rPr>
                  <a:t>例：</a:t>
                </a:r>
                <a:r>
                  <a:rPr lang="en-US" altLang="ja-JP" dirty="0"/>
                  <a:t>Tikhonov </a:t>
                </a:r>
                <a:r>
                  <a:rPr lang="ja-JP" altLang="en-US" dirty="0"/>
                  <a:t>正则化</a:t>
                </a:r>
                <a:r>
                  <a:rPr lang="zh-CN" altLang="en-US" dirty="0"/>
                  <a:t>：</a:t>
                </a:r>
                <a:r>
                  <a:rPr lang="ja-JP" altLang="en-US" dirty="0"/>
                  <a:t>把求解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𝑇𝑓</m:t>
                    </m:r>
                    <m:r>
                      <a:rPr lang="en-US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改为最小化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𝑇𝑓</m:t>
                    </m:r>
                    <m:r>
                      <a:rPr lang="ja-JP" alt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altLang="ja-JP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ar-AE" altLang="ja-JP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altLang="ja-JP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作用是不仅要求拟合数据，还惩罚过大、过于振荡的解。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于是解更容易存在；对噪声更稳定；不会因为数据里一点点高频扰动就爆炸。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D320F28-1466-7A43-0D4B-BC508FD6D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522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014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68E2-0A12-105E-CBB5-91677500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0DB77B-3A2F-28B0-BFFF-6E080FF08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78BE8D-6F99-BEF1-955A-3310BD402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稳定性：极限与最优解会不会跑掉？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解是否存在？逼近是否稳定？迭代会不会发散？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5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/>
                  <a:t>逼近是否稳定（连续依赖，稳定性）</a:t>
                </a:r>
              </a:p>
              <a:p>
                <a:pPr lvl="0">
                  <a:lnSpc>
                    <a:spcPct val="120000"/>
                  </a:lnSpc>
                  <a:spcBef>
                    <a:spcPct val="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关于近似解：通常解不了原问题，只能解近似问题。关系近似问题的解是否真的收敛到原问题的解</a:t>
                </a:r>
                <a:endParaRPr lang="en-US" altLang="zh-CN" dirty="0"/>
              </a:p>
              <a:p>
                <a:pPr marL="400050" lvl="1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原问题：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  <m:lim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lim>
                    </m:limLow>
                    <m:r>
                      <a:rPr lang="ja-JP" altLang="ar-AE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r>
                  <a:rPr lang="ja-JP" altLang="en-US" dirty="0"/>
                  <a:t>近似问题：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func>
                          <m:func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  <m:lim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lim>
                    </m:limLow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en-US" dirty="0"/>
                  <a:t>， </a:t>
                </a:r>
                <a:r>
                  <a:rPr lang="ja-JP" altLang="en-US" dirty="0"/>
                  <a:t>其中：</a:t>
                </a:r>
                <a:endParaRPr lang="en-US" altLang="ja-JP" dirty="0"/>
              </a:p>
              <a:p>
                <a:pPr marL="400050" lvl="1" indent="0">
                  <a:lnSpc>
                    <a:spcPct val="120000"/>
                  </a:lnSpc>
                  <a:buNone/>
                </a:pPr>
                <a:endParaRPr lang="ja-JP" altLang="en-US" sz="5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是离散模型类、有限维子空间、神经网络类等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en-US" dirty="0"/>
                  <a:t>是经验风险、离散损失、采样近似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想知道：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ar-AE" altLang="ja-JP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机器学习中，</a:t>
                </a:r>
                <a:r>
                  <a:rPr lang="zh-CN" altLang="en-US" dirty="0"/>
                  <a:t>常见的是：真实目标：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en-US" dirty="0"/>
                  <a:t>，实际优化：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grow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>
                  <a:latin typeface="+mn-ea"/>
                  <a:ea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/>
                  <a:t>模型容量可能逐步增大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>
                  <a:buClr>
                    <a:srgbClr val="7030A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比如多项式逼近阶数越来越高；基函数越来越多；神经网络宽度深度增大；特征空间越来越丰富</a:t>
                </a:r>
                <a:endParaRPr lang="en-US" altLang="zh-CN" dirty="0"/>
              </a:p>
              <a:p>
                <a:pPr>
                  <a:buClr>
                    <a:srgbClr val="7030A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如果模型类的并足够稠密，理论上可以逼近更多目标函数</a:t>
                </a:r>
                <a:endParaRPr lang="en-US" altLang="zh-CN" dirty="0"/>
              </a:p>
              <a:p>
                <a:pPr>
                  <a:buClr>
                    <a:srgbClr val="7030A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但问题存在于：虽然表达能力增强了，训练是否稳定？泛化是否仍好？能逼近不等于训练可行</a:t>
                </a:r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>
                    <a:srgbClr val="C00000"/>
                  </a:buClr>
                  <a:buNone/>
                </a:pP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78BE8D-6F99-BEF1-955A-3310BD402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522" t="-897" b="-65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515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5AE2-911A-E9F8-11EE-442023C5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E7B696-4169-BDA8-1D1F-257BF21DA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j-ea"/>
              </a:rPr>
              <a:t>2.</a:t>
            </a:r>
            <a:r>
              <a:rPr lang="zh-CN" altLang="en-US" b="1" dirty="0">
                <a:latin typeface="+mj-ea"/>
              </a:rPr>
              <a:t>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F8DC6CC-1131-53E0-BCA9-DF743AAF2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稳定性：极限与最优解会不会跑掉？</a:t>
                </a:r>
              </a:p>
              <a:p>
                <a:pPr lvl="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解是否存在？逼近是否稳定？迭代会不会发散？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480"/>
                  </a:spcAft>
                  <a:buNone/>
                </a:pPr>
                <a:endParaRPr lang="en-US" altLang="ja-JP" sz="1000" dirty="0">
                  <a:latin typeface="+mn-ea"/>
                  <a:ea typeface="+mn-ea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迭代会不会发散（算法本身稳不稳定）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实际中通</a:t>
                </a:r>
                <a:r>
                  <a:rPr lang="ja-JP" altLang="en-US" dirty="0"/>
                  <a:t>常不直接写出解，而是用迭代法：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 或梯度下降：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ar-AE" altLang="ja-JP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dirty="0"/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关心会不会收敛</a:t>
                </a:r>
                <a:r>
                  <a:rPr lang="zh-CN" altLang="en-US" dirty="0"/>
                  <a:t>，震荡与发散。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迭代收敛一定稳定的情形：</a:t>
                </a:r>
                <a:r>
                  <a:rPr lang="ja-JP" altLang="en-US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满足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∥≤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∥,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则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是压缩映射。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由</a:t>
                </a:r>
                <a:r>
                  <a:rPr lang="en-US" altLang="ja-JP" dirty="0"/>
                  <a:t>Banach </a:t>
                </a:r>
                <a:r>
                  <a:rPr lang="ja-JP" altLang="en-US" dirty="0"/>
                  <a:t>不动点定理</a:t>
                </a:r>
                <a:r>
                  <a:rPr lang="zh-CN" altLang="en-US" dirty="0"/>
                  <a:t>，</a:t>
                </a:r>
                <a:r>
                  <a:rPr lang="ja-JP" altLang="en-US" dirty="0"/>
                  <a:t>存在唯一不动点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迭代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从任意初值出发都收敛到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+mn-ea"/>
                    <a:ea typeface="+mn-ea"/>
                  </a:rPr>
                  <a:t>机器学习</a:t>
                </a:r>
                <a:r>
                  <a:rPr lang="ja-JP" altLang="en-US" b="1" dirty="0"/>
                  <a:t>梯度下降的泛函分析视角</a:t>
                </a:r>
                <a:r>
                  <a:rPr lang="zh-CN" altLang="en-US" b="1" dirty="0"/>
                  <a:t>：</a:t>
                </a:r>
                <a:endParaRPr lang="en-US" altLang="zh-CN" b="1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对二次函数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ja-JP" altLang="ar-AE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梯度下降为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altLang="ja-JP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误差满足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/>
                  <a:t>所以收敛取决于算子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dirty="0"/>
                  <a:t>是否会缩小误差。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若步长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ja-JP" altLang="en-US" dirty="0"/>
                  <a:t>太大，就会震荡甚至发散。</a:t>
                </a:r>
                <a:r>
                  <a:rPr lang="zh-CN" altLang="en-US" dirty="0"/>
                  <a:t>（不能学习率太大）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F8DC6CC-1131-53E0-BCA9-DF743AAF2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522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583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E61D-3135-C54A-57A6-83722DCE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79BD5B6-7E60-F9D3-5834-5920649AF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</a:t>
            </a:r>
            <a:r>
              <a:rPr lang="en-US" altLang="zh-CN" b="1" dirty="0">
                <a:latin typeface="+mj-ea"/>
              </a:rPr>
              <a:t>Hilbert</a:t>
            </a:r>
            <a:r>
              <a:rPr lang="zh-CN" altLang="en-US" b="1" dirty="0">
                <a:latin typeface="+mj-ea"/>
              </a:rPr>
              <a:t>空间的重要性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D779583-0B69-312D-2ABE-9F860E9CBF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Hilbert </a:t>
                </a:r>
                <a:r>
                  <a:rPr lang="zh-CN" altLang="en-US" dirty="0"/>
                  <a:t>空间（如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）之所以特别好，是因为它常常同时给出：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b="1" dirty="0"/>
                  <a:t>存在性：</a:t>
                </a:r>
                <a:r>
                  <a:rPr lang="zh-CN" altLang="en-US" dirty="0"/>
                  <a:t>闭凸集合上投影存在且唯一。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b="1" dirty="0"/>
                  <a:t>稳定性：</a:t>
                </a:r>
                <a:r>
                  <a:rPr lang="zh-CN" altLang="en-US" dirty="0"/>
                  <a:t>投影算子是连续的，数据小变化不会让解乱跳。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b="1" dirty="0"/>
                  <a:t>迭代性：</a:t>
                </a:r>
                <a:r>
                  <a:rPr lang="zh-CN" altLang="en-US" dirty="0"/>
                  <a:t>很多迭代法在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空间中容易分析收敛。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b="1" dirty="0"/>
                  <a:t>几何解释：</a:t>
                </a:r>
                <a:r>
                  <a:rPr lang="zh-CN" altLang="en-US" dirty="0"/>
                  <a:t>可以用正交、最短距离、能量最小化来理解。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                       </a:t>
                </a:r>
                <a:r>
                  <a:rPr lang="zh-CN" altLang="en-US" dirty="0"/>
                  <a:t>这和机器学习中的最小二乘、核方法、表示学习都联系很深。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7030A0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例子：信号分解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---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把函数看成向量后，就能谈基与投影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dirty="0"/>
                  <a:t>信号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可以看成函数空间中的一个向量 ，用一组基函数展开：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>
                  <a:lnSpc>
                    <a:spcPct val="130000"/>
                  </a:lnSpc>
                </a:pPr>
                <a:r>
                  <a:rPr lang="en-US" altLang="zh-CN" dirty="0"/>
                  <a:t>Fourier </a:t>
                </a:r>
                <a:r>
                  <a:rPr lang="zh-CN" altLang="en-US" dirty="0"/>
                  <a:t>展开、小波展开、</a:t>
                </a:r>
                <a:r>
                  <a:rPr lang="en-US" altLang="zh-CN" dirty="0"/>
                  <a:t>PCA </a:t>
                </a:r>
                <a:r>
                  <a:rPr lang="zh-CN" altLang="en-US" dirty="0"/>
                  <a:t>的连续版本，本质上都和“分解到基上”有关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这和“把数据投影到特征方向上”是同一种线性代数思想，只是对象从有限维向量变成了函数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D779583-0B69-312D-2ABE-9F860E9CBF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730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228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7EF08-9084-6C2C-0584-9F3633B6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D21278A-4538-68C9-5DBE-1D6383BAC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范畴上：谈距离、收敛与稳定性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9E9BB1C-18D3-5CE5-0FB6-24DD138927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</p:spPr>
            <p:txBody>
              <a:bodyPr/>
              <a:lstStyle/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1800" b="1" dirty="0"/>
                  <a:t>问题不是单独的函数，而是“结构化对象”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一个优化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求解问题可以看成以下，于是“存在性、稳定性、迭代性”都变成关于这些态射的结构性质</a:t>
                </a:r>
              </a:p>
              <a:p>
                <a:pPr marL="400050" lvl="1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一个对象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：状态空间、函数空间；一个泛函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groupChr>
                      <m:groupChrPr>
                        <m:chr m:val="‾"/>
                        <m:pos m:val="top"/>
                        <m:vertJc m:val="bot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groupCh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∪{−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800" dirty="0"/>
                  <a:t>；或一个算子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sz="1800" b="1" dirty="0"/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2"/>
                </a:pPr>
                <a:r>
                  <a:rPr lang="zh-CN" altLang="en-US" sz="1800" b="1" dirty="0"/>
                  <a:t>稳定性 </a:t>
                </a:r>
                <a:r>
                  <a:rPr lang="en-US" altLang="zh-CN" sz="1800" b="1" dirty="0"/>
                  <a:t>= </a:t>
                </a:r>
                <a:r>
                  <a:rPr lang="zh-CN" altLang="en-US" sz="1800" b="1" dirty="0"/>
                  <a:t>态射的连续性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若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1800" dirty="0"/>
                  <a:t>是态射，“解对数据稳定”大体上对应于：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800" dirty="0"/>
                  <a:t>连续；要求逆稳定，则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800" dirty="0"/>
                  <a:t>在适当意义下连续，即：小扰动在态射下不会被无限放大。在 </a:t>
                </a:r>
                <a:r>
                  <a:rPr lang="en-US" altLang="zh-CN" sz="1800" dirty="0"/>
                  <a:t>Top</a:t>
                </a:r>
                <a:r>
                  <a:rPr lang="zh-CN" altLang="en-US" sz="1800" dirty="0"/>
                  <a:t>（拓扑空间范畴）、</a:t>
                </a:r>
                <a:r>
                  <a:rPr lang="en-US" altLang="zh-CN" sz="1800" dirty="0"/>
                  <a:t>Met</a:t>
                </a:r>
                <a:r>
                  <a:rPr lang="zh-CN" altLang="en-US" sz="1800" dirty="0"/>
                  <a:t>（度量空间范畴）、</a:t>
                </a:r>
                <a:r>
                  <a:rPr lang="en-US" altLang="zh-CN" sz="1800" dirty="0"/>
                  <a:t>Ban</a:t>
                </a:r>
                <a:r>
                  <a:rPr lang="zh-CN" altLang="en-US" sz="1800" dirty="0"/>
                  <a:t>、</a:t>
                </a:r>
                <a:r>
                  <a:rPr lang="en-US" altLang="zh-CN" sz="1800" dirty="0"/>
                  <a:t>Hilb</a:t>
                </a:r>
                <a:r>
                  <a:rPr lang="zh-CN" altLang="en-US" sz="1800" dirty="0"/>
                  <a:t> 中都可以这样理解。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3"/>
                </a:pPr>
                <a:r>
                  <a:rPr lang="zh-CN" altLang="en-US" sz="1800" b="1" dirty="0"/>
                  <a:t>存在性 </a:t>
                </a:r>
                <a:r>
                  <a:rPr lang="en-US" altLang="zh-CN" sz="1800" b="1" dirty="0"/>
                  <a:t>= </a:t>
                </a:r>
                <a:r>
                  <a:rPr lang="zh-CN" altLang="en-US" sz="1800" b="1" dirty="0"/>
                  <a:t>极限能否在对象内实现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设有近似最优序列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/>
                  <a:t>，如果对象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在所选结构下足够“完备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紧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闭”，就有希望把极限留在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内。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范畴化视角：需要某类极限存在；还需要目标泛函与这些极限兼容（如下半连续）。泛函分析研究的许多存在性问题，本质上是在问：某种逼近过程形成的极限，能否在当前对象中被实现。</a:t>
                </a: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4"/>
                </a:pPr>
                <a:r>
                  <a:rPr lang="zh-CN" altLang="en-US" sz="1800" b="1" dirty="0"/>
                  <a:t>迭代 </a:t>
                </a:r>
                <a:r>
                  <a:rPr lang="en-US" altLang="zh-CN" sz="1800" b="1" dirty="0"/>
                  <a:t>= </a:t>
                </a:r>
                <a:r>
                  <a:rPr lang="zh-CN" altLang="en-US" sz="1800" b="1" dirty="0"/>
                  <a:t>自态射反复作用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1800" dirty="0"/>
                  <a:t>迭代法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/>
                  <a:t>就是对象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上的一个自态射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/>
                  <a:t>反复复合：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/>
                  <a:t>，于是：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收敛到不动点 </a:t>
                </a:r>
                <a:r>
                  <a:rPr lang="en-US" altLang="zh-CN" sz="1800" dirty="0"/>
                  <a:t>= </a:t>
                </a:r>
                <a:r>
                  <a:rPr lang="zh-CN" altLang="en-US" sz="1800" dirty="0"/>
                  <a:t>自态射迭代的长期行为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压缩映射 </a:t>
                </a:r>
                <a:r>
                  <a:rPr lang="en-US" altLang="zh-CN" sz="1800" dirty="0"/>
                  <a:t>= </a:t>
                </a:r>
                <a:r>
                  <a:rPr lang="zh-CN" altLang="en-US" sz="1800" dirty="0"/>
                  <a:t>某种“距离缩小”的端态射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dirty="0"/>
                  <a:t>稳定训练 </a:t>
                </a:r>
                <a:r>
                  <a:rPr lang="en-US" altLang="zh-CN" sz="1800" dirty="0"/>
                  <a:t>= </a:t>
                </a:r>
                <a:r>
                  <a:rPr lang="zh-CN" altLang="en-US" sz="1800" dirty="0"/>
                  <a:t>重复应用更新算子不把误差放大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9E9BB1C-18D3-5CE5-0FB6-24DD13892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684000" cy="5440680"/>
              </a:xfrm>
              <a:blipFill>
                <a:blip r:embed="rId3"/>
                <a:stretch>
                  <a:fillRect l="-626" t="-897" b="-59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912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EF46-2AEB-4220-A304-0BCEDAD7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74AFB0F-6DD3-6A27-CA67-85EDF15B9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回到最初的问题：为什么需要无限维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3FF1F28-E8D0-81C3-BF10-A3FA8EE9D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“如果未知量只是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里的点，我们已经很习惯坐标、距离、极限这些语言。</a:t>
                </a:r>
                <a:br>
                  <a:rPr lang="zh-CN" altLang="en-US" dirty="0"/>
                </a:br>
                <a:r>
                  <a:rPr lang="zh-CN" altLang="en-US" dirty="0"/>
                  <a:t>但一旦未知量变成函数，很多原本默认的东西都不再理所当然。</a:t>
                </a:r>
                <a:br>
                  <a:rPr lang="zh-CN" altLang="en-US" dirty="0"/>
                </a:br>
                <a:r>
                  <a:rPr lang="zh-CN" altLang="en-US" dirty="0"/>
                  <a:t>我们必须重新回答：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这些函数属于什么集合？（函数空间）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这个集合有没有线性结构等等？（函数空间上的代数结构）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两个函数的差异到底怎么衡量？（距离，拓扑）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一列近似函数收敛到哪里？极限还在不在这个空间里？（收敛性，谈完备）</a:t>
                </a: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br>
                  <a:rPr lang="zh-CN" altLang="en-US" dirty="0"/>
                </a:br>
                <a:r>
                  <a:rPr lang="zh-CN" altLang="en-US" dirty="0"/>
                  <a:t>所以问题一旦进入函数层面，数学语言就必须升级，不能只依赖有限维直觉。</a:t>
                </a:r>
                <a:endParaRPr lang="ja-JP" altLang="en-US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3FF1F28-E8D0-81C3-BF10-A3FA8EE9D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100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58787-E9ED-219F-386C-AEB73928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6975D8-F0EB-F4EC-FA3A-DD0E7D049FB5}"/>
              </a:ext>
            </a:extLst>
          </p:cNvPr>
          <p:cNvSpPr txBox="1"/>
          <p:nvPr/>
        </p:nvSpPr>
        <p:spPr>
          <a:xfrm>
            <a:off x="3347720" y="4041745"/>
            <a:ext cx="610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+mj-ea"/>
                <a:ea typeface="+mj-ea"/>
              </a:rPr>
              <a:t>3.</a:t>
            </a:r>
            <a:r>
              <a:rPr lang="zh-CN" altLang="en-US" sz="3600" b="1" dirty="0">
                <a:latin typeface="+mj-ea"/>
                <a:ea typeface="+mj-ea"/>
              </a:rPr>
              <a:t>为什么函数也能当向量</a:t>
            </a:r>
            <a:endParaRPr lang="ja-JP" altLang="en-US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7293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5ED23-077A-44A4-5D9F-32F560B91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F830360-8E36-6314-0330-8118F1A68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函数为什么也可以看成向量？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C4C6BA5-B48C-D166-0A99-15A7B774DE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向量空间最核心的运算只有两个：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altLang="zh-CN" b="1" dirty="0"/>
                  <a:t>1. </a:t>
                </a:r>
                <a:r>
                  <a:rPr lang="zh-CN" altLang="en-US" b="1" dirty="0"/>
                  <a:t>加法</a:t>
                </a:r>
                <a:r>
                  <a:rPr lang="zh-CN" altLang="en-US" dirty="0"/>
                  <a:t>     </a:t>
                </a:r>
                <a:r>
                  <a:rPr lang="en-US" altLang="zh-CN" dirty="0"/>
                  <a:t>2. </a:t>
                </a:r>
                <a:r>
                  <a:rPr lang="zh-CN" altLang="en-US" b="1" dirty="0"/>
                  <a:t>数乘</a:t>
                </a:r>
                <a:r>
                  <a:rPr lang="zh-CN" alt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对于定义在同一集合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上的两个函数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，可以逐点定义： 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加法：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数乘：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只要一类函数对这两种运算封闭，它们就能构成一个向量空间。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C4C6BA5-B48C-D166-0A99-15A7B774DE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945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2BDD-257D-C06B-3F76-9BB990D1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29F54FC-F5C5-9D27-3A96-76CFE1512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例子：常见的函数向量空间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28C2D5A-7125-60BB-00C6-677815EF7D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ja-JP" b="1" dirty="0"/>
                  <a:t>1. </a:t>
                </a:r>
                <a:r>
                  <a:rPr lang="ja-JP" altLang="en-US" b="1" dirty="0"/>
                  <a:t>连续函数空间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]→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 i="1"/>
                          <m:t>连续</m:t>
                        </m:r>
                      </m:e>
                    </m:d>
                  </m:oMath>
                </a14:m>
                <a:endParaRPr lang="ar-AE" altLang="ja-JP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则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且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</a:p>
              <a:p>
                <a:pPr marL="0" indent="0">
                  <a:buNone/>
                </a:pPr>
                <a:endParaRPr lang="ja-JP" altLang="ar-AE" dirty="0"/>
              </a:p>
              <a:p>
                <a:pPr marL="0" indent="0">
                  <a:buNone/>
                </a:pPr>
                <a:r>
                  <a:rPr lang="en-US" altLang="ja-JP" b="1" dirty="0"/>
                  <a:t>2.</a:t>
                </a:r>
                <a:r>
                  <a:rPr lang="ar-AE" altLang="ja-JP" b="1" dirty="0"/>
                  <a:t> </a:t>
                </a:r>
                <a:r>
                  <a:rPr lang="ja-JP" altLang="en-US" b="1" dirty="0"/>
                  <a:t>可导函数空间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ja-JP" b="0" i="0" smtClean="0">
                            <a:latin typeface="Cambria Math" panose="02040503050406030204" pitchFamily="18" charset="0"/>
                          </a:rPr>
                          <m:t>]→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ar-AE" altLang="ja-JP" i="1"/>
                          <m:t> </m:t>
                        </m:r>
                        <m:r>
                          <m:rPr>
                            <m:nor/>
                          </m:rPr>
                          <a:rPr lang="ja-JP" altLang="en-US" i="1"/>
                          <m:t>可导且 </m:t>
                        </m:r>
                        <m:sSup>
                          <m:sSup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ja-JP" altLang="en-US" i="1"/>
                          <m:t>连续</m:t>
                        </m:r>
                      </m:e>
                    </m:d>
                  </m:oMath>
                </a14:m>
                <a:endParaRPr lang="ar-AE" altLang="ja-JP" b="0" dirty="0"/>
              </a:p>
              <a:p>
                <a:pPr marL="0" indent="0">
                  <a:buNone/>
                </a:pPr>
                <a:endParaRPr lang="ar-AE" altLang="ja-JP" dirty="0"/>
              </a:p>
              <a:p>
                <a:pPr marL="0" indent="0">
                  <a:buNone/>
                </a:pPr>
                <a:r>
                  <a:rPr lang="en-US" altLang="ja-JP" b="1" dirty="0"/>
                  <a:t>3. </a:t>
                </a:r>
                <a:r>
                  <a:rPr lang="ja-JP" altLang="en-US" b="1" dirty="0"/>
                  <a:t>平方可积函数空间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ℝ</m:t>
                    </m:r>
                    <m:r>
                      <m:rPr>
                        <m:nor/>
                      </m:rPr>
                      <a:rPr lang="el-GR" altLang="ja-JP" i="1"/>
                      <m:t> </m:t>
                    </m:r>
                    <m:r>
                      <m:rPr>
                        <m:nor/>
                      </m:rPr>
                      <a:rPr lang="en-US" altLang="ja-JP" b="0" smtClean="0"/>
                      <m:t>|</m:t>
                    </m:r>
                    <m:r>
                      <m:rPr>
                        <m:nor/>
                      </m:rPr>
                      <a:rPr lang="el-GR" altLang="ja-JP" i="1"/>
                      <m:t>   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&lt;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altLang="ja-JP" b="0" dirty="0"/>
              </a:p>
              <a:p>
                <a:pPr marL="0" indent="0">
                  <a:buNone/>
                </a:pPr>
                <a:endParaRPr lang="ar-AE" altLang="ja-JP" dirty="0"/>
              </a:p>
              <a:p>
                <a:pPr marL="0" indent="0">
                  <a:buNone/>
                </a:pPr>
                <a:r>
                  <a:rPr lang="en-US" altLang="ja-JP" b="1" dirty="0"/>
                  <a:t>4.</a:t>
                </a:r>
                <a:r>
                  <a:rPr lang="ar-AE" altLang="ja-JP" b="1" dirty="0"/>
                  <a:t> </a:t>
                </a:r>
                <a:r>
                  <a:rPr lang="ja-JP" altLang="en-US" b="1" dirty="0"/>
                  <a:t>满足边界条件的函数空间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ar-AE" altLang="ja-JP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28C2D5A-7125-60BB-00C6-677815EF7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DED394A-B76F-B479-D844-B0939080AEF5}"/>
                  </a:ext>
                </a:extLst>
              </p:cNvPr>
              <p:cNvSpPr txBox="1"/>
              <p:nvPr/>
            </p:nvSpPr>
            <p:spPr>
              <a:xfrm>
                <a:off x="1266939" y="6150114"/>
                <a:ext cx="10065089" cy="473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b="1" dirty="0">
                    <a:solidFill>
                      <a:schemeClr val="accent5">
                        <a:lumMod val="50000"/>
                      </a:schemeClr>
                    </a:solidFill>
                    <a:latin typeface="+mj-ea"/>
                    <a:ea typeface="+mj-ea"/>
                  </a:rPr>
                  <a:t>从</a:t>
                </a:r>
                <a:r>
                  <a:rPr lang="ja-JP" altLang="en-US" b="1" dirty="0">
                    <a:solidFill>
                      <a:schemeClr val="accent5">
                        <a:lumMod val="50000"/>
                      </a:schemeClr>
                    </a:solidFill>
                    <a:latin typeface="+mj-ea"/>
                    <a:ea typeface="+mj-ea"/>
                  </a:rPr>
                  <a:t>有限维线性代数走向无限维函数空间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           </m:t>
                    </m:r>
                    <m:sSup>
                      <m:sSupPr>
                        <m:ctrlPr>
                          <a:rPr lang="ar-AE" altLang="ja-JP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ar-AE" altLang="ja-JP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ℝ</m:t>
                        </m:r>
                      </m:e>
                      <m:sup>
                        <m:r>
                          <a:rPr lang="ja-JP" altLang="ar-AE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𝑛</m:t>
                        </m:r>
                      </m:sup>
                    </m:sSup>
                    <m:r>
                      <a:rPr lang="ar-AE" altLang="ja-JP" i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ja-JP" b="0" i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                     </m:t>
                    </m:r>
                    <m:r>
                      <a:rPr lang="ar-AE" altLang="ja-JP" i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ja-JP" altLang="ar-AE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altLang="ja-JP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𝑎</m:t>
                            </m:r>
                          </m:e>
                          <m:e>
                            <m:r>
                              <a:rPr lang="ja-JP" altLang="ar-AE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ar-AE" altLang="ja-JP" i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m:rPr>
                        <m:nor/>
                      </m:rPr>
                      <a:rPr lang="ar-AE" altLang="ja-JP" b="0" i="1">
                        <a:solidFill>
                          <a:schemeClr val="accent5">
                            <a:lumMod val="50000"/>
                          </a:schemeClr>
                        </a:solidFill>
                        <a:latin typeface="+mj-ea"/>
                        <a:ea typeface="+mj-ea"/>
                      </a:rPr>
                      <m:t>  </m:t>
                    </m:r>
                    <m:sSup>
                      <m:sSupPr>
                        <m:ctrlPr>
                          <a:rPr lang="ar-AE" altLang="ja-JP" b="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ja-JP" altLang="ar-AE" b="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𝐿</m:t>
                        </m:r>
                      </m:e>
                      <m:sup>
                        <m:r>
                          <a:rPr lang="ar-AE" altLang="ja-JP" b="0" i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b="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ja-JP" b="0" i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Ω</m:t>
                        </m:r>
                      </m:e>
                    </m:d>
                    <m:r>
                      <a:rPr lang="zh-CN" alt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等</m:t>
                    </m:r>
                  </m:oMath>
                </a14:m>
                <a:endParaRPr lang="ar-AE" altLang="ja-JP" b="0" dirty="0">
                  <a:solidFill>
                    <a:schemeClr val="accent5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DED394A-B76F-B479-D844-B0939080A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939" y="6150114"/>
                <a:ext cx="10065089" cy="473463"/>
              </a:xfrm>
              <a:prstGeom prst="rect">
                <a:avLst/>
              </a:prstGeom>
              <a:blipFill>
                <a:blip r:embed="rId4"/>
                <a:stretch>
                  <a:fillRect l="-666" b="-179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矢印: 右 3">
            <a:extLst>
              <a:ext uri="{FF2B5EF4-FFF2-40B4-BE49-F238E27FC236}">
                <a16:creationId xmlns:a16="http://schemas.microsoft.com/office/drawing/2014/main" id="{A1AB8071-1735-8082-B3DF-7BD26D4F30A4}"/>
              </a:ext>
            </a:extLst>
          </p:cNvPr>
          <p:cNvSpPr/>
          <p:nvPr/>
        </p:nvSpPr>
        <p:spPr bwMode="auto">
          <a:xfrm flipV="1">
            <a:off x="7049849" y="6313646"/>
            <a:ext cx="668024" cy="239554"/>
          </a:xfrm>
          <a:prstGeom prst="rightArrow">
            <a:avLst>
              <a:gd name="adj1" fmla="val 25286"/>
              <a:gd name="adj2" fmla="val 7265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34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FCD3-ADDC-385B-D1DF-C0F2E563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E2C8B59-3DD7-B636-DE03-082668B1F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从有限维线性代数走向无限维函数空间 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D00D666-C9EA-F933-1E8C-C4CEBC2A8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5223727" cy="54406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b="1" dirty="0"/>
                  <a:t>：有限维向量空间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b="1" dirty="0"/>
                  <a:t>特点</a:t>
                </a:r>
                <a:endParaRPr lang="zh-CN" altLang="en-US" dirty="0"/>
              </a:p>
              <a:p>
                <a:r>
                  <a:rPr lang="zh-CN" altLang="en-US" dirty="0"/>
                  <a:t>只有有限个坐标 </a:t>
                </a:r>
              </a:p>
              <a:p>
                <a:r>
                  <a:rPr lang="zh-CN" altLang="en-US" dirty="0"/>
                  <a:t>适合表示固定长度的数据 </a:t>
                </a:r>
              </a:p>
              <a:p>
                <a:r>
                  <a:rPr lang="zh-CN" altLang="en-US" dirty="0"/>
                  <a:t>线性代数中的经典对象 </a:t>
                </a:r>
              </a:p>
              <a:p>
                <a:pPr marL="0" indent="0">
                  <a:buNone/>
                </a:pPr>
                <a:endParaRPr lang="en-US" altLang="zh-CN" sz="1000" b="1" dirty="0"/>
              </a:p>
              <a:p>
                <a:pPr marL="0" indent="0">
                  <a:buNone/>
                </a:pPr>
                <a:r>
                  <a:rPr lang="zh-CN" altLang="en-US" b="1" dirty="0"/>
                  <a:t>适合描述</a:t>
                </a:r>
                <a:endParaRPr lang="zh-CN" altLang="en-US" dirty="0"/>
              </a:p>
              <a:p>
                <a:r>
                  <a:rPr lang="zh-CN" altLang="en-US" dirty="0"/>
                  <a:t>一条样本的特征向量 </a:t>
                </a:r>
              </a:p>
              <a:p>
                <a:r>
                  <a:rPr lang="zh-CN" altLang="en-US" dirty="0"/>
                  <a:t>有限个参数 </a:t>
                </a:r>
              </a:p>
              <a:p>
                <a:r>
                  <a:rPr lang="zh-CN" altLang="en-US" dirty="0"/>
                  <a:t>表格数据 </a:t>
                </a:r>
              </a:p>
              <a:p>
                <a:r>
                  <a:rPr lang="zh-CN" altLang="en-US" dirty="0"/>
                  <a:t>低维几何中的点和箭头 </a:t>
                </a:r>
              </a:p>
              <a:p>
                <a:pPr marL="0" indent="0">
                  <a:buNone/>
                </a:pPr>
                <a:endParaRPr lang="en-US" altLang="zh-CN" sz="1000" b="1" dirty="0"/>
              </a:p>
              <a:p>
                <a:pPr marL="0" indent="0">
                  <a:buNone/>
                </a:pPr>
                <a:r>
                  <a:rPr lang="zh-CN" altLang="en-US" b="1" dirty="0"/>
                  <a:t>局限</a:t>
                </a:r>
                <a:endParaRPr lang="zh-CN" altLang="en-US" dirty="0"/>
              </a:p>
              <a:p>
                <a:r>
                  <a:rPr lang="zh-CN" altLang="en-US" dirty="0"/>
                  <a:t>不能自然表达“整个函数” </a:t>
                </a:r>
              </a:p>
              <a:p>
                <a:r>
                  <a:rPr lang="zh-CN" altLang="en-US" dirty="0"/>
                  <a:t>难以直接编码连续性、可导性、可积性 </a:t>
                </a:r>
              </a:p>
              <a:p>
                <a:r>
                  <a:rPr lang="zh-CN" altLang="en-US" dirty="0"/>
                  <a:t>不适合讨论函数列收敛与函数逼近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D00D666-C9EA-F933-1E8C-C4CEBC2A8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5223727" cy="5440680"/>
              </a:xfrm>
              <a:blipFill>
                <a:blip r:embed="rId3"/>
                <a:stretch>
                  <a:fillRect l="-1167" t="-1009" b="-31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2">
                <a:extLst>
                  <a:ext uri="{FF2B5EF4-FFF2-40B4-BE49-F238E27FC236}">
                    <a16:creationId xmlns:a16="http://schemas.microsoft.com/office/drawing/2014/main" id="{1C77C781-4E2B-E533-4E43-A7765068FCB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31727" y="1112520"/>
                <a:ext cx="6460273" cy="54406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u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  <a:cs typeface="ＭＳ Ｐゴシック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/>
                  <a:t>函数空间：无限维“向量空间”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b="1" dirty="0"/>
                  <a:t>特点</a:t>
                </a:r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一个元素本身就是一个函数 </a:t>
                </a:r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在每个输入点上都有函数值 </a:t>
                </a:r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能描述整体性质与极限行为 </a:t>
                </a:r>
              </a:p>
              <a:p>
                <a:pPr marL="0" indent="0">
                  <a:buNone/>
                </a:pPr>
                <a:endParaRPr lang="en-US" altLang="zh-CN" sz="1000" b="1" dirty="0"/>
              </a:p>
              <a:p>
                <a:pPr marL="0" indent="0">
                  <a:buNone/>
                </a:pPr>
                <a:r>
                  <a:rPr lang="zh-CN" altLang="en-US" b="1" dirty="0"/>
                  <a:t>适合描述</a:t>
                </a:r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温度随时间变化的曲线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图像灰度分布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概率密度函数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机器学习中的模型函数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endParaRPr lang="en-US" altLang="zh-CN" sz="1000" b="1" dirty="0"/>
              </a:p>
              <a:p>
                <a:pPr marL="0" indent="0">
                  <a:buNone/>
                </a:pPr>
                <a:r>
                  <a:rPr lang="zh-CN" altLang="en-US" b="1" dirty="0"/>
                  <a:t>优势</a:t>
                </a:r>
                <a:endParaRPr lang="zh-CN" altLang="en-US" dirty="0"/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可以讨论连续、可导、可积 </a:t>
                </a:r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可以定义距离与收敛 </a:t>
                </a:r>
              </a:p>
              <a:p>
                <a:pPr>
                  <a:buClr>
                    <a:srgbClr val="00B05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dirty="0"/>
                  <a:t>可以研究最优逼近与算子</a:t>
                </a:r>
              </a:p>
            </p:txBody>
          </p:sp>
        </mc:Choice>
        <mc:Fallback xmlns="">
          <p:sp>
            <p:nvSpPr>
              <p:cNvPr id="2" name="コンテンツ プレースホルダー 2">
                <a:extLst>
                  <a:ext uri="{FF2B5EF4-FFF2-40B4-BE49-F238E27FC236}">
                    <a16:creationId xmlns:a16="http://schemas.microsoft.com/office/drawing/2014/main" id="{1C77C781-4E2B-E533-4E43-A7765068F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1727" y="1112520"/>
                <a:ext cx="6460273" cy="5440680"/>
              </a:xfrm>
              <a:prstGeom prst="rect">
                <a:avLst/>
              </a:prstGeom>
              <a:blipFill>
                <a:blip r:embed="rId4"/>
                <a:stretch>
                  <a:fillRect l="-943" t="-1009" b="-31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69BA982-F710-B986-0E79-B9F2C3D27E10}"/>
              </a:ext>
            </a:extLst>
          </p:cNvPr>
          <p:cNvCxnSpPr/>
          <p:nvPr/>
        </p:nvCxnSpPr>
        <p:spPr bwMode="auto">
          <a:xfrm>
            <a:off x="5508703" y="1112520"/>
            <a:ext cx="0" cy="55447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00990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EF14-F1C1-6834-4777-F2C5A5D7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2AEBBBC-19EF-F651-8CF0-C92B1A903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反例：无法构成向量空间的函数集合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E9CF70B-DEA3-8A34-6D3A-D718F6D893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不是每类函数都能构成向量空间</a:t>
                </a:r>
              </a:p>
              <a:p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反例 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：正函数集合</a:t>
                </a:r>
              </a:p>
              <a:p>
                <a:pPr lvl="1">
                  <a:buClr>
                    <a:srgbClr val="7030A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]→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∣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i="1"/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b="0" dirty="0"/>
              </a:p>
              <a:p>
                <a:pPr lvl="1">
                  <a:buClr>
                    <a:srgbClr val="7030A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，则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，所以它不是向量空间。</a:t>
                </a:r>
              </a:p>
              <a:p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反例 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：概率密度函数集合</a:t>
                </a:r>
              </a:p>
              <a:p>
                <a:pPr lvl="1">
                  <a:buClr>
                    <a:srgbClr val="7030A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概率密度函数满足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CN" altLang="en-US" b="0" dirty="0"/>
              </a:p>
              <a:p>
                <a:pPr lvl="1">
                  <a:buClr>
                    <a:srgbClr val="7030A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但两个密度函数相加后积分一般不再等于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，因此不封闭。</a:t>
                </a:r>
              </a:p>
              <a:p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不是“函数”就自动能当向量，而是“对线性运算封闭的函数类”才能构成向量空间。</a:t>
                </a:r>
              </a:p>
              <a:p>
                <a:r>
                  <a:rPr lang="zh-CN" altLang="en-US" dirty="0"/>
                  <a:t>注意概率密度函数虽然不是向量空间，但通常是一个</a:t>
                </a:r>
                <a:r>
                  <a:rPr lang="zh-CN" altLang="en-US" b="1" dirty="0"/>
                  <a:t>凸集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E9CF70B-DEA3-8A34-6D3A-D718F6D89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10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887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88E7-FB77-7A0B-14AE-68E81072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FC7AC92-872F-79CE-436E-CC1FC7D4F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在函数向量空间上可以进行的讨论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D8F3BF-5C08-AC4E-B828-380C3370E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一旦函数成了向量，就能搬来线性代数的语言。</a:t>
                </a:r>
                <a:r>
                  <a:rPr lang="ja-JP" altLang="en-US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dirty="0"/>
                  <a:t>是一个函数空间，则可以讨论：</a:t>
                </a:r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Char char="ü"/>
                </a:pPr>
                <a:r>
                  <a:rPr lang="ja-JP" altLang="en-US" b="1" dirty="0"/>
                  <a:t>线性组合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ar-AE" altLang="ja-JP" dirty="0"/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Char char="ü"/>
                </a:pPr>
                <a:r>
                  <a:rPr lang="ja-JP" altLang="en-US" b="1" dirty="0"/>
                  <a:t>张成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altLang="ja-JP" dirty="0"/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Char char="ü"/>
                </a:pPr>
                <a:r>
                  <a:rPr lang="ja-JP" altLang="en-US" b="1" dirty="0"/>
                  <a:t>基</a:t>
                </a:r>
                <a:r>
                  <a:rPr lang="ja-JP" altLang="en-US" dirty="0"/>
                  <a:t> </a:t>
                </a:r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Char char="ü"/>
                </a:pPr>
                <a:r>
                  <a:rPr lang="ja-JP" altLang="en-US" b="1" dirty="0"/>
                  <a:t>维数</a:t>
                </a:r>
                <a:r>
                  <a:rPr lang="ja-JP" altLang="en-US" dirty="0"/>
                  <a:t> </a:t>
                </a:r>
              </a:p>
              <a:p>
                <a:pPr lvl="2">
                  <a:lnSpc>
                    <a:spcPct val="110000"/>
                  </a:lnSpc>
                  <a:buFont typeface="Wingdings" panose="05000000000000000000" pitchFamily="2" charset="2"/>
                  <a:buChar char="ü"/>
                </a:pPr>
                <a:r>
                  <a:rPr lang="ja-JP" altLang="en-US" b="1" dirty="0"/>
                  <a:t>线性映射</a:t>
                </a:r>
                <a:r>
                  <a:rPr lang="ja-JP" alt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altLang="zh-CN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b="1" dirty="0"/>
                  <a:t>例：</a:t>
                </a:r>
                <a:r>
                  <a:rPr lang="en-US" altLang="ja-JP" b="1" dirty="0"/>
                  <a:t>1. </a:t>
                </a:r>
                <a:r>
                  <a:rPr lang="ja-JP" altLang="en-US" b="1" dirty="0"/>
                  <a:t>多项式空间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span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ar-AE" altLang="ja-JP" dirty="0"/>
              </a:p>
              <a:p>
                <a:pPr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ja-JP" altLang="en-US" dirty="0"/>
                  <a:t>任意元素都写成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altLang="ja-JP" dirty="0"/>
              </a:p>
              <a:p>
                <a:pPr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ja-JP" altLang="en-US" dirty="0"/>
                  <a:t>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dirty="0"/>
                  <a:t>的一组基，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ja-JP" altLang="ar-AE" dirty="0"/>
                  <a:t>。</a:t>
                </a: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ja-JP" b="1" dirty="0"/>
                  <a:t>2. </a:t>
                </a:r>
                <a:r>
                  <a:rPr lang="ja-JP" altLang="en-US" b="1" dirty="0"/>
                  <a:t>基函数回归</a:t>
                </a:r>
                <a:r>
                  <a:rPr lang="en-US" altLang="ja-JP" b="1" dirty="0"/>
                  <a:t>: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/>
                  <a:t>这里模型属于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这是一个有限维函数空间。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ja-JP" b="1" dirty="0"/>
                  <a:t>3. </a:t>
                </a:r>
                <a:r>
                  <a:rPr lang="ja-JP" altLang="en-US" b="1" dirty="0"/>
                  <a:t>核方法</a:t>
                </a:r>
                <a:r>
                  <a:rPr lang="en-US" altLang="ja-JP" b="1" dirty="0"/>
                  <a:t>: </a:t>
                </a:r>
                <a:r>
                  <a:rPr lang="en-US" altLang="ja-JP" dirty="0"/>
                  <a:t>RKHS </a:t>
                </a:r>
                <a:r>
                  <a:rPr lang="ja-JP" altLang="en-US" dirty="0"/>
                  <a:t>是由函数组成的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空间。</a:t>
                </a:r>
                <a:endParaRPr lang="en-US" altLang="ja-JP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机器学习可以理解为：在某个函数空间中做逼近和优化。</a:t>
                </a:r>
                <a:endParaRPr lang="ja-JP" altLang="en-US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7D8F3BF-5C08-AC4E-B828-380C3370E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897" b="-63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371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A642-B387-7F3C-E5C1-8945BB38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4A93947-CC76-0F86-27CD-CAD4A2C9E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在函数向量空间上可以进行的讨论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76CFF1-AC66-B313-4819-B7D746B556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一旦函数组成向量空间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，就自然可以讨论它的</a:t>
                </a:r>
                <a:r>
                  <a:rPr lang="zh-CN" altLang="en-US" b="1" dirty="0"/>
                  <a:t>对偶空间</a:t>
                </a:r>
                <a:r>
                  <a:rPr lang="zh-CN" altLang="en-US" dirty="0"/>
                  <a:t>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zh-CN" altLang="en-US" i="1"/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/>
                            <m:t>线性</m:t>
                          </m:r>
                        </m:e>
                      </m:d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𝐻𝑜𝑚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这里的元素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zh-CN" altLang="en-US" dirty="0"/>
                  <a:t>叫做：线性泛函 ；对偶向量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类比地说，也可以看作函数空间中的 </a:t>
                </a:r>
                <a:r>
                  <a:rPr lang="en-US" altLang="zh-CN" b="1" dirty="0"/>
                  <a:t>convector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在这里，函数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/>
                  <a:t>vector </a:t>
                </a:r>
                <a:r>
                  <a:rPr lang="zh-CN" altLang="en-US" dirty="0"/>
                  <a:t>；</a:t>
                </a:r>
                <a:r>
                  <a:rPr lang="ja-JP" altLang="en-US" dirty="0"/>
                  <a:t>作用在函数上的线性泛函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altLang="ja-JP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en-US" dirty="0"/>
                  <a:t>是 </a:t>
                </a:r>
                <a:r>
                  <a:rPr lang="en-US" altLang="ja-JP" dirty="0" err="1"/>
                  <a:t>covector</a:t>
                </a:r>
                <a:r>
                  <a:rPr lang="en-US" altLang="ja-JP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⇒　这和微分流形里的 </a:t>
                </a:r>
                <a:r>
                  <a:rPr lang="en-US" altLang="ja-JP" dirty="0"/>
                  <a:t>vector/</a:t>
                </a:r>
                <a:r>
                  <a:rPr lang="en-US" altLang="ja-JP" dirty="0" err="1"/>
                  <a:t>covector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语言非常相似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在微分流形里，点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en-US" dirty="0"/>
                  <a:t>处有：</a:t>
                </a:r>
                <a:endParaRPr lang="en-US" altLang="ja-JP" dirty="0"/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切空间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ja-JP" altLang="ar-AE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：</a:t>
                </a:r>
                <a:r>
                  <a:rPr lang="ja-JP" altLang="en-US" dirty="0"/>
                  <a:t>其中元素是 </a:t>
                </a:r>
                <a:r>
                  <a:rPr lang="en-US" altLang="ja-JP" dirty="0"/>
                  <a:t>vector</a:t>
                </a:r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余切空间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ja-JP" altLang="ar-AE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Hom</m:t>
                    </m:r>
                    <m:r>
                      <a:rPr lang="ar-AE" altLang="ja-JP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其中元素是 </a:t>
                </a:r>
                <a:r>
                  <a:rPr lang="en-US" altLang="ja-JP" dirty="0" err="1"/>
                  <a:t>covector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76CFF1-AC66-B313-4819-B7D746B556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0" y="1112520"/>
                <a:ext cx="11379200" cy="5440680"/>
              </a:xfrm>
              <a:blipFill>
                <a:blip r:embed="rId3"/>
                <a:stretch>
                  <a:fillRect l="-536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926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BFBD-295F-5373-53A1-6CEDE81E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324272E-F14B-8A61-F9ED-74F9942A6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函数空间中的 </a:t>
            </a:r>
            <a:r>
              <a:rPr lang="en-US" altLang="ja-JP" b="1" dirty="0" err="1"/>
              <a:t>covector</a:t>
            </a:r>
            <a:r>
              <a:rPr lang="zh-CN" altLang="en-US" b="1" dirty="0"/>
              <a:t>例子：</a:t>
            </a:r>
            <a:r>
              <a:rPr lang="ja-JP" altLang="en-US" b="1" dirty="0"/>
              <a:t>点值映射 </a:t>
            </a:r>
            <a:r>
              <a:rPr lang="zh-CN" altLang="en-US" b="1" dirty="0"/>
              <a:t>和积分泛函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2C9B991-55AF-5B21-2261-BB56A79505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>
                    <a:solidFill>
                      <a:srgbClr val="7030A0"/>
                    </a:solidFill>
                  </a:rPr>
                  <a:t>1.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点值映射</a:t>
                </a:r>
                <a:endParaRPr lang="en-US" altLang="ja-JP" dirty="0">
                  <a:solidFill>
                    <a:srgbClr val="7030A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/>
                  <a:t>对固定的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定义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ℝ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这是一个线性泛函，因为：</a:t>
                </a:r>
              </a:p>
              <a:p>
                <a:pPr marL="457200" lvl="1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  ；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altLang="ja-JP" dirty="0"/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  <a:r>
                  <a:rPr lang="ja-JP" altLang="ja-JP" dirty="0">
                    <a:latin typeface="Arial" panose="020B0604020202020204" pitchFamily="34" charset="0"/>
                  </a:rPr>
                  <a:t>是函数空间中的 vector </a:t>
                </a:r>
                <a:r>
                  <a:rPr lang="en-US" altLang="ja-JP" dirty="0">
                    <a:latin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是对应的 covector </a:t>
                </a:r>
                <a:r>
                  <a:rPr lang="zh-CN" altLang="en-US" dirty="0">
                    <a:latin typeface="Arial" panose="020B0604020202020204" pitchFamily="34" charset="0"/>
                  </a:rPr>
                  <a:t>，</a:t>
                </a:r>
                <a:r>
                  <a:rPr lang="ja-JP" altLang="ja-JP" dirty="0">
                    <a:latin typeface="Arial" panose="020B0604020202020204" pitchFamily="34" charset="0"/>
                  </a:rPr>
                  <a:t>它“读取”函数在一点的值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solidFill>
                      <a:srgbClr val="7030A0"/>
                    </a:solidFill>
                  </a:rPr>
                  <a:t>2.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积分泛函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en-US" dirty="0"/>
                  <a:t>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定义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这</a:t>
                </a:r>
                <a:r>
                  <a:rPr lang="zh-CN" altLang="en-US" dirty="0"/>
                  <a:t>也</a:t>
                </a:r>
                <a:r>
                  <a:rPr lang="ja-JP" altLang="en-US" dirty="0"/>
                  <a:t>是一个线性泛函：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r>
                        <a:rPr lang="ar-AE" altLang="ja-JP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l-GR" altLang="ja-JP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ar-AE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grow m:val="on"/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</m:oMath>
                  </m:oMathPara>
                </a14:m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还有</a:t>
                </a:r>
                <a:r>
                  <a:rPr lang="ja-JP" altLang="en-US" b="1" dirty="0"/>
                  <a:t>更一般的加权积分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ja-JP" alt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ja-JP" b="0" dirty="0"/>
              </a:p>
              <a:p>
                <a:r>
                  <a:rPr lang="zh-CN" altLang="en-US" dirty="0"/>
                  <a:t>点值映射读取“局部信息”，积分泛函读取“整体信息” ，两者都是对函数这个 </a:t>
                </a:r>
                <a:r>
                  <a:rPr lang="en-US" altLang="zh-CN" dirty="0"/>
                  <a:t>vector </a:t>
                </a:r>
                <a:r>
                  <a:rPr lang="zh-CN" altLang="en-US" dirty="0"/>
                  <a:t>的线性观测</a:t>
                </a:r>
                <a:endParaRPr lang="ar-AE" altLang="ja-JP" b="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endParaRPr lang="ar-AE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2C9B991-55AF-5B21-2261-BB56A7950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  <a:blipFill>
                <a:blip r:embed="rId3"/>
                <a:stretch>
                  <a:fillRect l="-574" t="-336" r="-1200" b="-31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D1CEEFB-0DA3-5431-59A4-DDECF006EE70}"/>
                  </a:ext>
                </a:extLst>
              </p:cNvPr>
              <p:cNvSpPr txBox="1"/>
              <p:nvPr/>
            </p:nvSpPr>
            <p:spPr>
              <a:xfrm>
                <a:off x="6610120" y="1068452"/>
                <a:ext cx="6103344" cy="463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en-US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zh-CN" alt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zh-CN" altLang="en-US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  <m:r>
                            <a:rPr lang="en-US" altLang="zh-CN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m:t>线性</m:t>
                          </m:r>
                        </m:e>
                      </m:d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𝐻𝑜𝑚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ja-JP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D1CEEFB-0DA3-5431-59A4-DDECF006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120" y="1068452"/>
                <a:ext cx="6103344" cy="463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498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16E-A1D5-A6D7-DB22-1DECA69F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36A4556-A77B-7F0F-6A82-86CFF54F8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泛函分析中的“泛函”是什么意思？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55E7D9-9895-9670-A1DE-136897F5F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普通函数：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，输入是点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。</a:t>
                </a: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泛函：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，输入是函数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。</a:t>
                </a: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所以：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泛函就是“以函数为输入的函数”。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如果它还是线性的，那么它就是函数空间中的一个 </a:t>
                </a:r>
                <a:r>
                  <a:rPr lang="en-US" altLang="zh-CN" dirty="0" err="1"/>
                  <a:t>covector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范畴上看：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在实向量空间范畴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Vect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zh-CN" altLang="en-US" dirty="0"/>
                  <a:t>中：对象：实向量空间 ；态射：线性映射 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若函数类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对加法和数乘封闭，则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是一个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Vect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</m:sub>
                    </m:sSub>
                  </m:oMath>
                </a14:m>
                <a:r>
                  <a:rPr lang="zh-CN" altLang="en-US" dirty="0"/>
                  <a:t>的对象。它的对偶空间写作：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Hom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r>
                  <a:rPr lang="zh-CN" altLang="en-US" dirty="0"/>
                  <a:t>对偶空间由所有到标量域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的线性态射组成。</a:t>
                </a:r>
              </a:p>
              <a:p>
                <a:r>
                  <a:rPr lang="zh-CN" altLang="en-US" dirty="0"/>
                  <a:t>与微分几何平行地：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ja-JP" altLang="ar-AE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Hom</m:t>
                    </m:r>
                    <m:r>
                      <a:rPr lang="ar-AE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  <a:p>
                <a:r>
                  <a:rPr lang="zh-CN" altLang="en-US" dirty="0"/>
                  <a:t>对偶空间不是额外发明出来的 ，它就是 </a:t>
                </a:r>
                <a:r>
                  <a:rPr lang="en-US" altLang="zh-CN" dirty="0"/>
                  <a:t>Hom </a:t>
                </a:r>
                <a:r>
                  <a:rPr lang="zh-CN" altLang="en-US" dirty="0"/>
                  <a:t>到标量对象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的集合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55E7D9-9895-9670-A1DE-136897F5F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  <a:blipFill>
                <a:blip r:embed="rId3"/>
                <a:stretch>
                  <a:fillRect l="-574" t="-896" b="-16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403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EF40-0738-C8AF-D148-522332E1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FB1F1B4-0B9B-CE86-DD21-53F61508B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Hilbert</a:t>
            </a:r>
            <a:r>
              <a:rPr lang="zh-CN" altLang="en-US" b="1" dirty="0"/>
              <a:t>空间里的</a:t>
            </a:r>
            <a:r>
              <a:rPr lang="en-US" altLang="zh-CN" b="1" dirty="0"/>
              <a:t>vector</a:t>
            </a:r>
            <a:r>
              <a:rPr lang="zh-CN" altLang="en-US" b="1" dirty="0"/>
              <a:t>和</a:t>
            </a:r>
            <a:r>
              <a:rPr lang="en-US" altLang="zh-CN" b="1" dirty="0" err="1"/>
              <a:t>covector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231326F-3837-C9FF-1EF8-42610F32A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在 </a:t>
                </a:r>
                <a:r>
                  <a:rPr lang="en-US" altLang="ja-JP" dirty="0"/>
                  <a:t>Hilbert </a:t>
                </a:r>
                <a:r>
                  <a:rPr lang="ja-JP" altLang="en-US" dirty="0"/>
                  <a:t>空间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en-US" dirty="0"/>
                  <a:t>中，内积可以把向量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en-US" dirty="0"/>
                  <a:t>变成一个线性泛函：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例如在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ja-JP" altLang="en-US" dirty="0"/>
                  <a:t>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ja-JP" alt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endParaRPr lang="en-US" altLang="zh-CN" sz="1500" dirty="0"/>
              </a:p>
              <a:p>
                <a:pPr marL="0" indent="0">
                  <a:buNone/>
                </a:pPr>
                <a:r>
                  <a:rPr lang="zh-CN" altLang="en-US" dirty="0"/>
                  <a:t>每个向量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都诱导一个 </a:t>
                </a:r>
                <a:r>
                  <a:rPr lang="en-US" altLang="zh-CN" dirty="0" err="1"/>
                  <a:t>covector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ja-JP" altLang="en-US" dirty="0"/>
                  <a:t>⇒　</a:t>
                </a:r>
                <a:r>
                  <a:rPr lang="zh-CN" altLang="en-US" dirty="0"/>
                  <a:t>与微分几何中“度量把 </a:t>
                </a:r>
                <a:r>
                  <a:rPr lang="en-US" altLang="zh-CN" dirty="0"/>
                  <a:t>vector </a:t>
                </a:r>
                <a:r>
                  <a:rPr lang="zh-CN" altLang="en-US" dirty="0"/>
                  <a:t>与 </a:t>
                </a:r>
                <a:r>
                  <a:rPr lang="en-US" altLang="zh-CN" dirty="0" err="1"/>
                  <a:t>covector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联系起来”的思想非常类似。</a:t>
                </a:r>
              </a:p>
              <a:p>
                <a:pPr marL="0" indent="0">
                  <a:buNone/>
                </a:pPr>
                <a:endParaRPr lang="en-US" altLang="zh-CN" sz="1500" dirty="0"/>
              </a:p>
              <a:p>
                <a:pPr marL="0" indent="0">
                  <a:buNone/>
                </a:pPr>
                <a:r>
                  <a:rPr lang="zh-CN" altLang="en-US" dirty="0"/>
                  <a:t>在一般向量空间里，</a:t>
                </a:r>
                <a:r>
                  <a:rPr lang="en-US" altLang="zh-CN" dirty="0"/>
                  <a:t>vector </a:t>
                </a:r>
                <a:r>
                  <a:rPr lang="zh-CN" altLang="en-US" dirty="0"/>
                  <a:t>和 </a:t>
                </a:r>
                <a:r>
                  <a:rPr lang="en-US" altLang="zh-CN" dirty="0" err="1"/>
                  <a:t>covector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是不同对象 </a:t>
                </a:r>
              </a:p>
              <a:p>
                <a:r>
                  <a:rPr lang="zh-CN" altLang="en-US" dirty="0"/>
                  <a:t>但在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空间里，通过内积可以把它们联系起来 </a:t>
                </a:r>
                <a:endParaRPr lang="en-US" altLang="zh-CN" dirty="0"/>
              </a:p>
              <a:p>
                <a:r>
                  <a:rPr lang="zh-CN" altLang="en-US" dirty="0"/>
                  <a:t>这和流形上 </a:t>
                </a:r>
                <a:r>
                  <a:rPr lang="en-US" altLang="zh-CN" dirty="0"/>
                  <a:t>metric </a:t>
                </a:r>
                <a:r>
                  <a:rPr lang="zh-CN" altLang="en-US" dirty="0"/>
                  <a:t>的作用很类似。</a:t>
                </a:r>
              </a:p>
              <a:p>
                <a:pPr marL="0" indent="0">
                  <a:buNone/>
                </a:pPr>
                <a:endParaRPr lang="en-US" altLang="ja-JP" b="0" dirty="0"/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7030A0"/>
                    </a:solidFill>
                  </a:rPr>
                  <a:t>补充：量子态为什么也叫向量？</a:t>
                </a:r>
                <a:endParaRPr lang="zh-CN" altLang="en-US" dirty="0">
                  <a:solidFill>
                    <a:srgbClr val="7030A0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量子态常用波函数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表示 ；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zh-CN" altLang="en-US" dirty="0"/>
                  <a:t>不是普通几何箭头，而是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空间中的向量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其长度与内积有物理意义：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acc>
                      <m:accPr>
                        <m:chr m:val="̅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acc>
                    <m:r>
                      <m:rPr>
                        <m:nor/>
                      </m:rPr>
                      <a:rPr lang="zh-CN" altLang="en-US" i="1"/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zh-CN" altLang="en-US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观测量可看成作用在态上的算子 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量子态是向量 ，它属于一个 </a:t>
                </a:r>
                <a:r>
                  <a:rPr lang="en-US" altLang="zh-CN" dirty="0"/>
                  <a:t>Hilbert </a:t>
                </a:r>
                <a:r>
                  <a:rPr lang="zh-CN" altLang="en-US" dirty="0"/>
                  <a:t>空间</a:t>
                </a:r>
              </a:p>
              <a:p>
                <a:pPr marL="0" indent="0">
                  <a:buNone/>
                </a:pPr>
                <a:endParaRPr lang="ar-AE" altLang="ja-JP" b="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231326F-3837-C9FF-1EF8-42610F32A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  <a:blipFill>
                <a:blip r:embed="rId3"/>
                <a:stretch>
                  <a:fillRect l="-574" t="-896" b="-117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568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1C39-468B-A32B-BACA-3F077281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AF9381C-443C-6DAB-0352-AED04C6AF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机器学习中的</a:t>
            </a:r>
            <a:r>
              <a:rPr lang="en-US" altLang="zh-CN" b="1" dirty="0"/>
              <a:t>vector, </a:t>
            </a:r>
            <a:r>
              <a:rPr lang="en-US" altLang="zh-CN" b="1" dirty="0" err="1"/>
              <a:t>covector</a:t>
            </a:r>
            <a:r>
              <a:rPr lang="zh-CN" altLang="en-US" b="1" dirty="0"/>
              <a:t>对偶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9278BFB-8B74-06D2-2B8A-2264283AD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en-US" dirty="0"/>
                  <a:t>很多机器学习与逆问题中，观测可以写成：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其中：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en-US" dirty="0"/>
                  <a:t> </a:t>
                </a:r>
                <a:r>
                  <a:rPr lang="zh-CN" altLang="en-US" dirty="0"/>
                  <a:t>为</a:t>
                </a:r>
                <a:r>
                  <a:rPr lang="ja-JP" altLang="en-US" dirty="0"/>
                  <a:t>未知函数（</a:t>
                </a:r>
                <a:r>
                  <a:rPr lang="en-US" altLang="ja-JP" dirty="0"/>
                  <a:t>vector</a:t>
                </a:r>
                <a:r>
                  <a:rPr lang="ja-JP" altLang="en-US" dirty="0"/>
                  <a:t>） </a:t>
                </a:r>
                <a:r>
                  <a:rPr lang="zh-CN" altLang="en-US" dirty="0"/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ja-JP" altLang="en-US" dirty="0"/>
                  <a:t>线性观测（</a:t>
                </a:r>
                <a:r>
                  <a:rPr lang="en-US" altLang="ja-JP" dirty="0" err="1"/>
                  <a:t>covector</a:t>
                </a:r>
                <a:r>
                  <a:rPr lang="ja-JP" altLang="en-US" dirty="0"/>
                  <a:t>） </a:t>
                </a:r>
                <a:r>
                  <a:rPr lang="zh-CN" altLang="en-US" dirty="0"/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ja-JP" altLang="en-US" dirty="0"/>
                  <a:t>噪声 </a:t>
                </a:r>
              </a:p>
              <a:p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en-US" b="1" dirty="0"/>
                  <a:t>例</a:t>
                </a:r>
              </a:p>
              <a:p>
                <a:r>
                  <a:rPr lang="ja-JP" altLang="en-US" dirty="0"/>
                  <a:t>点采样：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altLang="ja-JP" dirty="0"/>
              </a:p>
              <a:p>
                <a:r>
                  <a:rPr lang="ja-JP" altLang="en-US" dirty="0"/>
                  <a:t>区域平均：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ar-AE" altLang="ja-JP" b="0" dirty="0"/>
              </a:p>
              <a:p>
                <a:r>
                  <a:rPr lang="ja-JP" altLang="en-US" dirty="0"/>
                  <a:t>投影测量：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ja-JP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ar-AE" altLang="ja-JP" b="0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总结：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ja-JP" altLang="en-US" dirty="0"/>
                  <a:t>数据本质上常常是“对未知函数做若干线性读出”。所以对偶空间不是抽象摆设，而是观测方式的空间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9278BFB-8B74-06D2-2B8A-2264283AD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610" y="1068452"/>
                <a:ext cx="11684000" cy="5440680"/>
              </a:xfrm>
              <a:blipFill>
                <a:blip r:embed="rId3"/>
                <a:stretch>
                  <a:fillRect l="-574" t="-7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3875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AA51-59E3-865F-A825-57235EDE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7395D01-D6DB-6875-5BBE-CFF90CC7A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总结：函数、向量、对偶、泛函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08DC367-E255-201C-2F19-6098EAD36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1. </a:t>
                </a:r>
                <a:r>
                  <a:rPr lang="zh-CN" altLang="en-US" b="1" dirty="0"/>
                  <a:t>函数可以是向量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只要一类函数对加法和数乘封闭，它们就构成向量空间。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sz="1000" dirty="0"/>
              </a:p>
              <a:p>
                <a:pPr marL="0" indent="0">
                  <a:buNone/>
                </a:pPr>
                <a:r>
                  <a:rPr lang="en-US" altLang="zh-CN" b="1" dirty="0"/>
                  <a:t>2. </a:t>
                </a:r>
                <a:r>
                  <a:rPr lang="zh-CN" altLang="en-US" b="1" dirty="0"/>
                  <a:t>一旦有向量空间，就自然有对偶空间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Hom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sz="1000" dirty="0"/>
              </a:p>
              <a:p>
                <a:pPr marL="0" indent="0">
                  <a:buNone/>
                </a:pPr>
                <a:r>
                  <a:rPr lang="en-US" altLang="zh-CN" b="1" dirty="0"/>
                  <a:t>3. </a:t>
                </a:r>
                <a:r>
                  <a:rPr lang="zh-CN" altLang="en-US" b="1" dirty="0"/>
                  <a:t>对偶空间中的元素就是线性泛函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它们可看作函数空间中的 </a:t>
                </a:r>
                <a:r>
                  <a:rPr lang="en-US" altLang="zh-CN" dirty="0" err="1"/>
                  <a:t>covector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sz="1000" dirty="0"/>
              </a:p>
              <a:p>
                <a:pPr marL="0" indent="0">
                  <a:buNone/>
                </a:pPr>
                <a:r>
                  <a:rPr lang="en-US" altLang="zh-CN" b="1" dirty="0"/>
                  <a:t>4. </a:t>
                </a:r>
                <a:r>
                  <a:rPr lang="zh-CN" altLang="en-US" b="1" dirty="0"/>
                  <a:t>与微分几何的结构平行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Hom</m:t>
                      </m:r>
                      <m:r>
                        <a:rPr lang="ar-AE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altLang="ja-JP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sz="1000" dirty="0"/>
              </a:p>
              <a:p>
                <a:pPr marL="0" indent="0">
                  <a:buNone/>
                </a:pPr>
                <a:r>
                  <a:rPr lang="en-US" altLang="zh-CN" b="1" dirty="0"/>
                  <a:t>5. </a:t>
                </a:r>
                <a:r>
                  <a:rPr lang="zh-CN" altLang="en-US" b="1" dirty="0"/>
                  <a:t>机器学习中常见的观测、本质上就是泛函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例如点值、积分、内积读出。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在函数空间里，函数是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vector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，线性泛函是 </a:t>
                </a:r>
                <a:r>
                  <a:rPr lang="en-US" altLang="zh-CN" dirty="0" err="1">
                    <a:solidFill>
                      <a:srgbClr val="C00000"/>
                    </a:solidFill>
                  </a:rPr>
                  <a:t>covector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；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这使得线性代数、微分几何、泛函分析和机器学习可以用同一种结构语言联系起来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08DC367-E255-201C-2F19-6098EAD36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  <a:blipFill>
                <a:blip r:embed="rId3"/>
                <a:stretch>
                  <a:fillRect l="-524" t="-896" b="-12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138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84341</TotalTime>
  <Words>4428</Words>
  <Application>Microsoft Office PowerPoint</Application>
  <PresentationFormat>ワイド画面</PresentationFormat>
  <Paragraphs>648</Paragraphs>
  <Slides>45</Slides>
  <Notes>44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3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一个简单的例子（上）</vt:lpstr>
      <vt:lpstr>一个简单的例子（中）</vt:lpstr>
      <vt:lpstr>一个简单的例子（下）</vt:lpstr>
      <vt:lpstr>前述例子中蕴含的泛函分析的内容</vt:lpstr>
      <vt:lpstr>从求一个点到求一个函数</vt:lpstr>
      <vt:lpstr>哪些问题的解本来就是函数？</vt:lpstr>
      <vt:lpstr>PowerPoint プレゼンテーション</vt:lpstr>
      <vt:lpstr>1. 函数到底属于哪个空间</vt:lpstr>
      <vt:lpstr>1. 函数到底属于哪个空间</vt:lpstr>
      <vt:lpstr>1. 函数到底属于哪个空间</vt:lpstr>
      <vt:lpstr>补充</vt:lpstr>
      <vt:lpstr>1. 函数到底属于哪个空间</vt:lpstr>
      <vt:lpstr>1. 函数到底属于哪个空间</vt:lpstr>
      <vt:lpstr>PowerPoint プレゼンテーション</vt:lpstr>
      <vt:lpstr>2.谈距离、收敛与稳定性</vt:lpstr>
      <vt:lpstr>2.谈距离、收敛与稳定性</vt:lpstr>
      <vt:lpstr>2.谈距离、收敛与稳定性</vt:lpstr>
      <vt:lpstr>2.谈距离、收敛与稳定性</vt:lpstr>
      <vt:lpstr>2.谈距离、收敛与稳定性</vt:lpstr>
      <vt:lpstr>2.谈距离、收敛与稳定性</vt:lpstr>
      <vt:lpstr>2.谈距离、收敛与稳定性</vt:lpstr>
      <vt:lpstr>2.谈距离、收敛与稳定性</vt:lpstr>
      <vt:lpstr>2.谈距离、收敛与稳定性</vt:lpstr>
      <vt:lpstr>补充</vt:lpstr>
      <vt:lpstr>2.谈距离、收敛与稳定性</vt:lpstr>
      <vt:lpstr>补充</vt:lpstr>
      <vt:lpstr>2.谈距离、收敛与稳定性</vt:lpstr>
      <vt:lpstr>2.谈距离、收敛与稳定性</vt:lpstr>
      <vt:lpstr>补充：Hilbert空间的重要性</vt:lpstr>
      <vt:lpstr>范畴上：谈距离、收敛与稳定性</vt:lpstr>
      <vt:lpstr>回到最初的问题：为什么需要无限维</vt:lpstr>
      <vt:lpstr>PowerPoint プレゼンテーション</vt:lpstr>
      <vt:lpstr>函数为什么也可以看成向量？</vt:lpstr>
      <vt:lpstr>例子：常见的函数向量空间</vt:lpstr>
      <vt:lpstr>从有限维线性代数走向无限维函数空间 </vt:lpstr>
      <vt:lpstr>反例：无法构成向量空间的函数集合</vt:lpstr>
      <vt:lpstr>在函数向量空间上可以进行的讨论</vt:lpstr>
      <vt:lpstr>在函数向量空间上可以进行的讨论</vt:lpstr>
      <vt:lpstr>函数空间中的 covector例子：点值映射 和积分泛函</vt:lpstr>
      <vt:lpstr>泛函分析中的“泛函”是什么意思？</vt:lpstr>
      <vt:lpstr>Hilbert空间里的vector和covector</vt:lpstr>
      <vt:lpstr>机器学习中的vector, covector对偶</vt:lpstr>
      <vt:lpstr>总结：函数、向量、对偶、泛函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4128</cp:revision>
  <dcterms:created xsi:type="dcterms:W3CDTF">2001-07-30T09:48:22Z</dcterms:created>
  <dcterms:modified xsi:type="dcterms:W3CDTF">2026-03-29T10:38:54Z</dcterms:modified>
</cp:coreProperties>
</file>